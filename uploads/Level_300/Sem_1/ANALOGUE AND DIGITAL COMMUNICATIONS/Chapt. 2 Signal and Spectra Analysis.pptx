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sldIdLst>
    <p:sldId id="257" r:id="rId2"/>
    <p:sldId id="258" r:id="rId3"/>
    <p:sldId id="260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8" r:id="rId18"/>
    <p:sldId id="280" r:id="rId19"/>
    <p:sldId id="281" r:id="rId20"/>
    <p:sldId id="282" r:id="rId21"/>
    <p:sldId id="277" r:id="rId22"/>
    <p:sldId id="283" r:id="rId23"/>
    <p:sldId id="284" r:id="rId24"/>
    <p:sldId id="279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4" r:id="rId34"/>
    <p:sldId id="293" r:id="rId35"/>
    <p:sldId id="295" r:id="rId36"/>
    <p:sldId id="296" r:id="rId37"/>
    <p:sldId id="29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46" autoAdjust="0"/>
    <p:restoredTop sz="71233" autoAdjust="0"/>
  </p:normalViewPr>
  <p:slideViewPr>
    <p:cSldViewPr snapToGrid="0">
      <p:cViewPr varScale="1">
        <p:scale>
          <a:sx n="57" d="100"/>
          <a:sy n="57" d="100"/>
        </p:scale>
        <p:origin x="7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1FC38-7837-4199-B91F-C0993FE2441D}" type="datetimeFigureOut">
              <a:rPr lang="en-US" smtClean="0"/>
              <a:t>8/26/2016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693511-7C56-4288-99AA-80753B886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8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AD89D2A-0E16-49BE-8EA8-9D2461F27A06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82063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569B4D-2B65-4B26-A854-D8AEC28F7E7B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8179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016CE2-E59E-4A9F-B022-55D079DA2D35}" type="slidenum"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82068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95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09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Periodic function is expressed as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en-US" sz="1200" i="1" kern="12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𝑓</m:t>
                    </m:r>
                    <m:d>
                      <m:dPr>
                        <m:ctrlP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𝑓</m:t>
                        </m:r>
                        <m:r>
                          <a:rPr lang="en-US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</m:d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r>
                      <a:rPr lang="en-US" sz="1200" b="0" i="0" kern="1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   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−∞&lt;</m:t>
                    </m:r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&lt;+∞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repeats its pattern over a period is called periodic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does not repeats its pattern over a period is called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aperiodic 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or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 periodic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Periodic function is expressed as</a:t>
                </a:r>
                <a:r>
                  <a:rPr lang="en-US" baseline="0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)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=𝑓(𝑓+𝑇),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   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−∞&lt;𝑡&lt;+∞</a:t>
                </a:r>
                <a:endParaRPr lang="en-US" dirty="0"/>
              </a:p>
              <a:p>
                <a:endParaRPr lang="en-US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repeats its pattern over a period is called periodic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endParaRPr lang="en-US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that does not repeats its pattern over a period is called </a:t>
                </a:r>
                <a:r>
                  <a:rPr lang="en-US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aperiodic signal</a:t>
                </a:r>
                <a:r>
                  <a:rPr lang="en-US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or </a:t>
                </a:r>
                <a:r>
                  <a:rPr lang="en-US" sz="1200" b="1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non periodic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25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Where A is amplitude, phase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in radians and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Where A is amplitude, phase </a:t>
                </a:r>
                <a:r>
                  <a:rPr lang="en-US" i="0">
                    <a:latin typeface="Cambria Math" panose="02040503050406030204" pitchFamily="18" charset="0"/>
                  </a:rPr>
                  <a:t>𝜃</a:t>
                </a:r>
                <a:r>
                  <a:rPr lang="en-US" dirty="0"/>
                  <a:t> in radians and frequency </a:t>
                </a:r>
                <a:r>
                  <a:rPr lang="en-US" i="0">
                    <a:latin typeface="Cambria Math" panose="02040503050406030204" pitchFamily="18" charset="0"/>
                  </a:rPr>
                  <a:t>𝜔_𝑜</a:t>
                </a:r>
                <a:r>
                  <a:rPr lang="en-US" dirty="0"/>
                  <a:t>.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66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sSub>
                        <m:sSub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𝑓=−𝑓_𝑜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82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𝑤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)=7−10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cos</m:t>
                      </m:r>
                      <m:d>
                        <m:d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40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𝜋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60</m:t>
                              </m:r>
                            </m:e>
                            <m:sup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𝑜</m:t>
                              </m:r>
                            </m:sup>
                          </m:sSup>
                        </m:e>
                      </m:d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+4</m:t>
                      </m:r>
                      <m:r>
                        <m:rPr>
                          <m:sty m:val="p"/>
                        </m:rP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sin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120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𝜋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𝑤(𝑡)=7−10cos(40𝜋𝑡−〖60〗^𝑜 )+4sin120𝜋𝑡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33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49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1987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41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4037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marR="0" lvl="1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is fundamental freq.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, a</a:t>
                </a:r>
                <a:r>
                  <a:rPr lang="en-US" sz="2400" baseline="-25000" dirty="0"/>
                  <a:t>n</a:t>
                </a:r>
                <a:r>
                  <a:rPr lang="en-US" sz="2400" dirty="0"/>
                  <a:t> and </a:t>
                </a:r>
                <a:r>
                  <a:rPr lang="en-US" sz="2400" dirty="0" err="1"/>
                  <a:t>b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 represent amplitude of cosine and sine components</a:t>
                </a:r>
              </a:p>
              <a:p>
                <a:pPr marL="171450" marR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200" dirty="0"/>
                  <a:t>Fourier series allows signals to be decomposed into an infinite sum of sinusoids that highlights on the frequency components of signals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dirty="0"/>
                  <a:t>A periodic signal, x(t), with period T can be decomposed into a weighted sum of complex sinusoids with frequencies that are an integer multiple of the fundamental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GB" dirty="0"/>
              </a:p>
              <a:p>
                <a:r>
                  <a:rPr lang="en-US" b="1" dirty="0"/>
                  <a:t>Read</a:t>
                </a:r>
                <a:r>
                  <a:rPr lang="en-US" b="1" baseline="0" dirty="0"/>
                  <a:t> Fourier properties from handout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periodic signal, x(t), with period T can be decomposed into a weighted sum of complex sinusoids with frequencies that are an integer multiple of the fundamental frequency </a:t>
                </a:r>
                <a:r>
                  <a:rPr lang="en-GB" i="0">
                    <a:latin typeface="Cambria Math" panose="02040503050406030204" pitchFamily="18" charset="0"/>
                  </a:rPr>
                  <a:t>𝑓</a:t>
                </a:r>
                <a:r>
                  <a:rPr lang="en-GB" i="0" smtClean="0">
                    <a:latin typeface="Cambria Math" panose="02040503050406030204" pitchFamily="18" charset="0"/>
                  </a:rPr>
                  <a:t>_</a:t>
                </a:r>
                <a:r>
                  <a:rPr lang="en-GB" i="0">
                    <a:latin typeface="Cambria Math" panose="02040503050406030204" pitchFamily="18" charset="0"/>
                  </a:rPr>
                  <a:t>0=1/𝑇_0 </a:t>
                </a:r>
                <a:endParaRPr lang="en-GB" dirty="0" smtClean="0"/>
              </a:p>
              <a:p>
                <a:r>
                  <a:rPr lang="en-US" b="1" dirty="0" smtClean="0"/>
                  <a:t>Read</a:t>
                </a:r>
                <a:r>
                  <a:rPr lang="en-US" b="1" baseline="0" dirty="0" smtClean="0"/>
                  <a:t> Fourier properties from handout</a:t>
                </a:r>
                <a:endParaRPr lang="en-US" b="1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16CE2-E59E-4A9F-B022-55D079DA2D35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4633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393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b="1" dirty="0"/>
                  <a:t>Cn</a:t>
                </a:r>
                <a:r>
                  <a:rPr lang="en-US" b="1" baseline="0" dirty="0"/>
                  <a:t> is the magnitude,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1" dirty="0"/>
                  <a:t> is the phase</a:t>
                </a:r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lang="en-US" b="1" dirty="0"/>
              </a:p>
              <a:p>
                <a:pPr marL="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b="1" dirty="0"/>
                  <a:t>Check handout for spectral diagram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A periodic signal, x(t), with period T can be decomposed into a weighted sum of complex sinusoids with frequencies that are an integer multiple of the fundamental frequency </a:t>
                </a:r>
                <a:r>
                  <a:rPr lang="en-GB" i="0">
                    <a:latin typeface="Cambria Math" panose="02040503050406030204" pitchFamily="18" charset="0"/>
                  </a:rPr>
                  <a:t>𝑓</a:t>
                </a:r>
                <a:r>
                  <a:rPr lang="en-GB" i="0" smtClean="0">
                    <a:latin typeface="Cambria Math" panose="02040503050406030204" pitchFamily="18" charset="0"/>
                  </a:rPr>
                  <a:t>_</a:t>
                </a:r>
                <a:r>
                  <a:rPr lang="en-GB" i="0">
                    <a:latin typeface="Cambria Math" panose="02040503050406030204" pitchFamily="18" charset="0"/>
                  </a:rPr>
                  <a:t>0=1/𝑇_0 </a:t>
                </a:r>
                <a:endParaRPr lang="en-GB" dirty="0" smtClean="0"/>
              </a:p>
              <a:p>
                <a:r>
                  <a:rPr lang="en-US" b="1" dirty="0" smtClean="0"/>
                  <a:t>Read</a:t>
                </a:r>
                <a:r>
                  <a:rPr lang="en-US" b="1" baseline="0" dirty="0" smtClean="0"/>
                  <a:t> Fourier properties from handout</a:t>
                </a:r>
                <a:endParaRPr lang="en-US" b="1" dirty="0" smtClean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16CE2-E59E-4A9F-B022-55D079DA2D35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090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kern="12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sub>
                      </m:sSub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Sup>
                        <m:sSubSup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e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</m:t>
                          </m:r>
                        </m:sub>
                        <m:sup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bSup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f>
                        <m:fPr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𝑃_𝑔=𝐶_𝑜^2+1/2 ∑129_(𝑛=1)^∞▒𝐶_𝑛^2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4848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86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1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16CE2-E59E-4A9F-B022-55D079DA2D3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939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𝑣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−∞</m:t>
                          </m:r>
                        </m:sub>
                        <m:sup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𝑣(𝑡)=∫130_(−∞)^∞▒〖𝑉(𝑓)𝑒^𝑗2𝜋𝑓𝑡 𝑑𝑓〗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80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894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−∞</m:t>
                          </m:r>
                        </m:sub>
                        <m:sup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𝑀(𝑓)=∫130_(−∞)^∞▒〖𝑚(𝑡)𝑒^(−𝑗2𝜋𝑓𝑡) 𝑑𝑡〗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24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𝑀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−∞</m:t>
                          </m:r>
                        </m:sub>
                        <m:sup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∞</m:t>
                          </m:r>
                        </m:sup>
                        <m:e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lang="en-US" sz="1200" i="0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𝑗</m:t>
                              </m:r>
                              <m:r>
                                <a:rPr lang="en-US" sz="1200" i="0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𝜋</m:t>
                              </m:r>
                              <m:r>
                                <a:rPr lang="en-US" sz="1200" i="1" kern="12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sz="1200" i="1" kern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𝑀(𝑓)=∫130_(−∞)^∞▒〖𝑚(𝑡)𝑒^(−𝑗2𝜋𝑓𝑡) 𝑑𝑡〗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152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591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16CE2-E59E-4A9F-B022-55D079DA2D3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830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585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Check handout</a:t>
                </a:r>
                <a:r>
                  <a:rPr lang="en-US" baseline="0" dirty="0"/>
                  <a:t> for why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is</a:t>
                </a:r>
                <a:r>
                  <a:rPr lang="en-US" baseline="0" dirty="0"/>
                  <a:t> in the expression</a:t>
                </a:r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Check handout</a:t>
                </a:r>
                <a:r>
                  <a:rPr lang="en-US" baseline="0" dirty="0"/>
                  <a:t> for why 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</a:t>
                </a:r>
                <a:r>
                  <a:rPr lang="en-US" dirty="0"/>
                  <a:t> is</a:t>
                </a:r>
                <a:r>
                  <a:rPr lang="en-US" baseline="0" dirty="0"/>
                  <a:t> in the expression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693511-7C56-4288-99AA-80753B8864A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222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5D87C4-1ACF-43E4-B981-5289D2FD0812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8/26/2016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03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33DF6EE-7FA4-46BA-A5DA-F3D93772C470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8/26/2016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" y="6416514"/>
            <a:ext cx="264310" cy="299623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-64294" y="6665118"/>
            <a:ext cx="516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UENR</a:t>
            </a:r>
            <a:endParaRPr kumimoji="0" lang="en-GB" sz="9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862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27F3B7-A41D-41DD-9DAD-446C1C18E6AF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8/26/2016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1426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83361" y="6459786"/>
            <a:ext cx="1854203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F351D4F-6A12-4D21-99A8-197E08B34999}" type="datetime1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8/26/2016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1239" y="6459786"/>
            <a:ext cx="3617103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68432" y="6450261"/>
            <a:ext cx="984019" cy="365125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" y="6416514"/>
            <a:ext cx="264310" cy="299623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-64294" y="6665118"/>
            <a:ext cx="5167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UENR</a:t>
            </a:r>
            <a:endParaRPr kumimoji="0" lang="en-GB" sz="9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395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538" y="132520"/>
            <a:ext cx="8613913" cy="8000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538" y="1099930"/>
            <a:ext cx="8613913" cy="476916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defTabSz="457200"/>
            <a:fld id="{7E568439-A370-4C0B-97EF-B1CEBC00DA49}" type="datetime1">
              <a:rPr lang="en-US" smtClean="0"/>
              <a:pPr defTabSz="457200"/>
              <a:t>8/26/2016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defTabSz="45720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defTabSz="457200"/>
            <a:fld id="{48F63A3B-78C7-47BE-AE5E-E10140E04643}" type="slidenum">
              <a:rPr lang="en-US" smtClean="0"/>
              <a:pPr defTabSz="45720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" y="93440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59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6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5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3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isat.ac.in/wp-content/uploads/2013/06/e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8" y="747239"/>
            <a:ext cx="8864547" cy="3250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8" y="28439"/>
            <a:ext cx="1408952" cy="15971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391" y="115346"/>
            <a:ext cx="1053924" cy="1053924"/>
          </a:xfrm>
          <a:prstGeom prst="rect">
            <a:avLst/>
          </a:prstGeom>
        </p:spPr>
      </p:pic>
      <p:pic>
        <p:nvPicPr>
          <p:cNvPr id="1028" name="Picture 4" descr="https://www.cubic.com/portals/0/Images/Solutions/Communications-Electronics/banner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8" y="3905209"/>
            <a:ext cx="6338888" cy="2462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://s3.amazonaws.com/minglebox-photo/717bcb981318663626918.8a0af24f.m_ec6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689" y="3905209"/>
            <a:ext cx="3681626" cy="2439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97018" y="1895352"/>
            <a:ext cx="4461164" cy="954107"/>
          </a:xfrm>
          <a:prstGeom prst="rect">
            <a:avLst/>
          </a:prstGeom>
          <a:solidFill>
            <a:srgbClr val="ADBED8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ELNG 307 – ANALOG AND DIGITAL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671456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4010" y="438149"/>
            <a:ext cx="8154450" cy="502977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/>
              <a:t>University of Energy and Natural Resources, Sunyani</a:t>
            </a:r>
            <a:br>
              <a:rPr lang="en-US" sz="3600"/>
            </a:br>
            <a:br>
              <a:rPr lang="en-US" sz="3600"/>
            </a:br>
            <a:br>
              <a:rPr lang="en-US" sz="3600"/>
            </a:br>
            <a:r>
              <a:rPr lang="en-US" sz="3600"/>
              <a:t>Dept. of Computer &amp; Electrical Eng.</a:t>
            </a:r>
            <a:br>
              <a:rPr lang="en-US" sz="3600"/>
            </a:br>
            <a:br>
              <a:rPr lang="en-US" sz="3600"/>
            </a:br>
            <a:br>
              <a:rPr lang="en-US" sz="3600"/>
            </a:br>
            <a:r>
              <a:rPr lang="en-US" sz="3600" b="1"/>
              <a:t>ELNG 307 – ANALOG AND DIGITAL COMMUNICATIONS</a:t>
            </a:r>
            <a:endParaRPr lang="en-GB" sz="36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1" y="5615074"/>
            <a:ext cx="6686549" cy="844712"/>
          </a:xfrm>
        </p:spPr>
        <p:txBody>
          <a:bodyPr>
            <a:normAutofit/>
          </a:bodyPr>
          <a:lstStyle/>
          <a:p>
            <a:r>
              <a:rPr lang="en-US"/>
              <a:t>Tweneboah-Koduah 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" y="1123906"/>
            <a:ext cx="1467901" cy="166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5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CHAPTER 2 – Introduction to Signals and  Spectra Analysis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4088" y="1338986"/>
            <a:ext cx="776967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/>
            <a:r>
              <a:rPr kumimoji="0" lang="en-US" sz="1800" b="1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Quote: </a:t>
            </a:r>
            <a:r>
              <a:rPr lang="en-US"/>
              <a:t>Some books are to be tasted, others to be swallowed, and some few to be chewed and digested </a:t>
            </a:r>
            <a:br>
              <a:rPr lang="en-US"/>
            </a:br>
            <a:endParaRPr kumimoji="0" lang="en-US" sz="18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lvl="0" algn="ctr" defTabSz="914400"/>
            <a:r>
              <a:rPr kumimoji="0" lang="en-US" sz="2000" b="0" i="1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– </a:t>
            </a:r>
            <a:r>
              <a:rPr lang="en-US"/>
              <a:t>Francis Bacon</a:t>
            </a:r>
            <a:r>
              <a:rPr lang="en-US" sz="2000"/>
              <a:t> </a:t>
            </a:r>
            <a:endParaRPr kumimoji="0" lang="en-US" sz="20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7522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476" y="1961322"/>
            <a:ext cx="6067947" cy="29851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09" y="530089"/>
            <a:ext cx="2313633" cy="60330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22" y="1285461"/>
            <a:ext cx="2841576" cy="4956313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Consider a sine wave of amplitude </a:t>
            </a:r>
            <a:r>
              <a:rPr lang="en-US" sz="1800" b="1">
                <a:solidFill>
                  <a:srgbClr val="FFFFFF"/>
                </a:solidFill>
              </a:rPr>
              <a:t>V</a:t>
            </a:r>
          </a:p>
          <a:p>
            <a:pPr lvl="1"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The frequency of the curve is cycles per second measured in Hertz (Hz)</a:t>
            </a:r>
          </a:p>
          <a:p>
            <a:pPr lvl="1"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Amplitude is distance above a reference line</a:t>
            </a:r>
          </a:p>
          <a:p>
            <a:pPr lvl="1"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A </a:t>
            </a:r>
            <a:r>
              <a:rPr lang="en-US" sz="1800" b="1">
                <a:solidFill>
                  <a:srgbClr val="FFFFFF"/>
                </a:solidFill>
              </a:rPr>
              <a:t>cycle</a:t>
            </a:r>
            <a:r>
              <a:rPr lang="en-US" sz="1800">
                <a:solidFill>
                  <a:srgbClr val="FFFFFF"/>
                </a:solidFill>
              </a:rPr>
              <a:t> is one complete wave</a:t>
            </a:r>
          </a:p>
          <a:p>
            <a:pPr lvl="1"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Frequency spectrum defines the bandwidth for different analog communication</a:t>
            </a:r>
          </a:p>
          <a:p>
            <a:pPr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Analog signals should be digitized for computer processing</a:t>
            </a:r>
          </a:p>
          <a:p>
            <a:pPr lvl="1"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The digitized signal is presented in binary form</a:t>
            </a:r>
          </a:p>
          <a:p>
            <a:pPr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Continuous – time signals</a:t>
            </a:r>
          </a:p>
          <a:p>
            <a:pPr>
              <a:lnSpc>
                <a:spcPct val="70000"/>
              </a:lnSpc>
            </a:pPr>
            <a:r>
              <a:rPr lang="en-US" sz="1800">
                <a:solidFill>
                  <a:srgbClr val="FFFFFF"/>
                </a:solidFill>
              </a:rPr>
              <a:t>Discrete – time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425344" y="6459786"/>
            <a:ext cx="984019" cy="365125"/>
          </a:xfrm>
        </p:spPr>
        <p:txBody>
          <a:bodyPr>
            <a:normAutofit/>
          </a:bodyPr>
          <a:lstStyle/>
          <a:p>
            <a:pPr defTabSz="914400">
              <a:defRPr/>
            </a:pPr>
            <a:fld id="{48F63A3B-78C7-47BE-AE5E-E10140E04643}" type="slidenum">
              <a:rPr kumimoji="0" lang="en-US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pPr defTabSz="914400">
                <a:defRPr/>
              </a:pPr>
              <a:t>4</a:t>
            </a:fld>
            <a:endParaRPr lang="en-US" ker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41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Classifications of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Signals in engineering systems are typically described with the mathematical classifications 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/>
              <a:t>Continuous Time or Discrete Time (and Analog or Digital)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/>
              <a:t>Periodic or Aperiodic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/>
              <a:t>Deterministic or Random</a:t>
            </a:r>
          </a:p>
          <a:p>
            <a:pPr marL="806958" lvl="1" indent="-514350">
              <a:buFont typeface="+mj-lt"/>
              <a:buAutoNum type="arabicPeriod"/>
            </a:pPr>
            <a:r>
              <a:rPr lang="en-US"/>
              <a:t>Energy or Power 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70105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Continuous / Discrete time signal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0263" y="1535023"/>
            <a:ext cx="4259732" cy="338496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 descr="C:\Users\Bonnua\Documents\TK Private Doc\signals4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94" y="1248782"/>
            <a:ext cx="3744290" cy="36712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8333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Periodic / Aperiodic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078" y="1099930"/>
            <a:ext cx="6082832" cy="4866266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178751"/>
              </p:ext>
            </p:extLst>
          </p:nvPr>
        </p:nvGraphicFramePr>
        <p:xfrm>
          <a:off x="5591923" y="2576001"/>
          <a:ext cx="2627757" cy="307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5" imgW="2171520" imgH="253800" progId="Equation.DSMT4">
                  <p:embed/>
                </p:oleObj>
              </mc:Choice>
              <mc:Fallback>
                <p:oleObj name="Equation" r:id="rId5" imgW="21715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91923" y="2576001"/>
                        <a:ext cx="2627757" cy="3073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99866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Phasor signal and spectra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A periodic signal in general is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sup>
                      </m:sSup>
                      <m:r>
                        <a:rPr lang="en-US">
                          <a:latin typeface="Cambria Math" panose="02040503050406030204" pitchFamily="18" charset="0"/>
                        </a:rPr>
                        <m:t>,−∞&lt;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&lt;+∞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can related to a real sinusoidal signal,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in two ways</a:t>
                </a:r>
              </a:p>
              <a:p>
                <a:pPr marL="715518" lvl="1" indent="-514350">
                  <a:buFont typeface="+mj-lt"/>
                  <a:buAutoNum type="arabicPeriod"/>
                </a:pPr>
                <a:r>
                  <a:rPr lang="en-US" dirty="0"/>
                  <a:t>Getting the real part as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Re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715518" lvl="1" indent="-514350">
                  <a:buFont typeface="+mj-lt"/>
                  <a:buAutoNum type="arabicPeriod" startAt="2"/>
                </a:pPr>
                <a:r>
                  <a:rPr lang="en-US" dirty="0"/>
                  <a:t>The second is taking one-half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its complex conjugate as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acc>
                              <m:accPr>
                                <m:chr m:val="̃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)+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mr>
                        <m:m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</m:sup>
                            </m:sSup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715518" lvl="1" indent="-51435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45" t="-3321" r="-20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45194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Phasor signal and spectra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30" y="1099930"/>
            <a:ext cx="8312727" cy="3014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8538" y="4128352"/>
                <a:ext cx="8613913" cy="2123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000000"/>
                    </a:solidFill>
                    <a:latin typeface="NimbusRomNo9L-Regu"/>
                  </a:rPr>
                  <a:t>The lines at the negative frequency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NimbusRomNo9L-Regu"/>
                  </a:rPr>
                  <a:t> exist precisely because it is necessary to add complex conjugate (or oppositely rotating) phasor signals to obtain the real signal,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br>
                  <a:rPr lang="en-US" dirty="0"/>
                </a:br>
                <a:r>
                  <a:rPr lang="en-US" sz="2000" dirty="0"/>
                  <a:t>The amplitude spectrum has even symmetry and that the phase spectrum has odd symmetry about </a:t>
                </a:r>
                <a:r>
                  <a:rPr lang="en-US" sz="2000" i="1" dirty="0"/>
                  <a:t>f </a:t>
                </a:r>
                <a:r>
                  <a:rPr lang="en-US" sz="2000" dirty="0"/>
                  <a:t>= 0. This symmetry is again a consequence of </a:t>
                </a:r>
                <a:r>
                  <a:rPr lang="en-US" sz="2000" i="1" dirty="0"/>
                  <a:t>x</a:t>
                </a:r>
                <a:r>
                  <a:rPr lang="en-US" sz="2000" dirty="0"/>
                  <a:t>(</a:t>
                </a:r>
                <a:r>
                  <a:rPr lang="en-US" sz="2000" i="1" dirty="0"/>
                  <a:t>t</a:t>
                </a:r>
                <a:r>
                  <a:rPr lang="en-US" sz="2000" dirty="0"/>
                  <a:t>) being a real signal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8" y="4128352"/>
                <a:ext cx="8613913" cy="2123658"/>
              </a:xfrm>
              <a:prstGeom prst="rect">
                <a:avLst/>
              </a:prstGeom>
              <a:blipFill>
                <a:blip r:embed="rId4"/>
                <a:stretch>
                  <a:fillRect l="-708" t="-1433" r="-425" b="-4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091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Phasor signal and spectra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2.1</a:t>
                </a:r>
              </a:p>
              <a:p>
                <a:r>
                  <a:rPr lang="en-US" dirty="0"/>
                  <a:t>Find the phase and spectrum representation of the signal in </a:t>
                </a:r>
                <a:r>
                  <a:rPr lang="en-US" i="1" dirty="0"/>
                  <a:t>Figure </a:t>
                </a:r>
                <a:r>
                  <a:rPr lang="en-US" dirty="0"/>
                  <a:t>2.5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)=7−10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p>
                        </m:sSup>
                      </m:e>
                    </m:d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 r="-2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335" y="3242404"/>
            <a:ext cx="4692318" cy="252214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431774" y="5948409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NimbusRomNo9L-Regu"/>
              </a:rPr>
              <a:t>Figure 2.5: Complex waveform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8035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Deterministic / Random signal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814" y="3424173"/>
            <a:ext cx="6471657" cy="1922033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31" y="1044769"/>
            <a:ext cx="6722361" cy="1379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/>
              <p:cNvSpPr txBox="1">
                <a:spLocks/>
              </p:cNvSpPr>
              <p:nvPr/>
            </p:nvSpPr>
            <p:spPr>
              <a:xfrm>
                <a:off x="344554" y="2404527"/>
                <a:ext cx="8348871" cy="736238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 fontScale="77500" lnSpcReduction="20000"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3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Deterministic Signal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𝐴𝑐𝑜𝑠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where </a:t>
                </a:r>
                <a:r>
                  <a:rPr lang="en-US" i="1" dirty="0"/>
                  <a:t>A</a:t>
                </a:r>
                <a:r>
                  <a:rPr lang="en-US" dirty="0"/>
                  <a:t>, </a:t>
                </a:r>
                <a:r>
                  <a:rPr lang="el-GR" dirty="0"/>
                  <a:t>ω</a:t>
                </a:r>
                <a:r>
                  <a:rPr lang="en-US" baseline="-25000" dirty="0"/>
                  <a:t>0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are known constants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7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554" y="2404527"/>
                <a:ext cx="8348871" cy="736238"/>
              </a:xfrm>
              <a:prstGeom prst="rect">
                <a:avLst/>
              </a:prstGeom>
              <a:blipFill>
                <a:blip r:embed="rId4"/>
                <a:stretch>
                  <a:fillRect l="-1242" t="-19008" b="-6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152907" y="5512904"/>
            <a:ext cx="23214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Random signal</a:t>
            </a:r>
          </a:p>
        </p:txBody>
      </p:sp>
    </p:spTree>
    <p:extLst>
      <p:ext uri="{BB962C8B-B14F-4D97-AF65-F5344CB8AC3E}">
        <p14:creationId xmlns:p14="http://schemas.microsoft.com/office/powerpoint/2010/main" val="305127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Energy</a:t>
            </a:r>
            <a:r>
              <a:rPr lang="en-US" dirty="0"/>
              <a:t> / Power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size of any entity is a number that indicates the largeness or strength of that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31" y="2505813"/>
            <a:ext cx="8133326" cy="1957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8538" y="4552703"/>
                <a:ext cx="861391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2388" lvl="1"/>
                <a:r>
                  <a:rPr lang="en-US" sz="2400" dirty="0"/>
                  <a:t>A signal is energy type or energy signal if 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&lt;∞,</m:t>
                    </m:r>
                    <m:r>
                      <m:rPr>
                        <m:nor/>
                      </m:rPr>
                      <a:rPr lang="en-GB" sz="2400"/>
                      <m:t> </m:t>
                    </m:r>
                    <m:r>
                      <m:rPr>
                        <m:nor/>
                      </m:rPr>
                      <a:rPr lang="en-GB" sz="2400"/>
                      <m:t>where</m:t>
                    </m:r>
                    <m:r>
                      <m:rPr>
                        <m:nor/>
                      </m:rPr>
                      <a:rPr lang="en-GB" sz="2400"/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2400" dirty="0"/>
              </a:p>
              <a:p>
                <a:pPr marL="342892" lvl="1" indent="0">
                  <a:buNone/>
                </a:pPr>
                <a:r>
                  <a:rPr lang="en-US" sz="2400" dirty="0"/>
                  <a:t>	</a:t>
                </a:r>
                <a:r>
                  <a:rPr lang="en-US" sz="2400" dirty="0">
                    <a:sym typeface="Wingdings" panose="05000000000000000000" pitchFamily="2" charset="2"/>
                  </a:rPr>
                  <a:t></a:t>
                </a:r>
                <a:r>
                  <a:rPr lang="en-US" sz="2400" dirty="0"/>
                  <a:t>Simply the signal amplitude → 0 as |t| → </a:t>
                </a:r>
                <a14:m>
                  <m:oMath xmlns:m="http://schemas.openxmlformats.org/officeDocument/2006/math">
                    <m:r>
                      <a:rPr lang="en-GB" sz="24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marL="342892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8" y="4552703"/>
                <a:ext cx="8613913" cy="1200329"/>
              </a:xfrm>
              <a:prstGeom prst="rect">
                <a:avLst/>
              </a:prstGeom>
              <a:blipFill>
                <a:blip r:embed="rId4"/>
                <a:stretch>
                  <a:fillRect l="-425" t="-4061" r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199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/ </a:t>
            </a:r>
            <a:r>
              <a:rPr lang="en-US" b="1" dirty="0"/>
              <a:t>Power</a:t>
            </a:r>
            <a:r>
              <a:rPr lang="en-US" dirty="0"/>
              <a:t>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size of any entity is a number that indicates the largeness or strength of that entity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36" y="2203298"/>
            <a:ext cx="7808116" cy="21015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238538" y="4508787"/>
                <a:ext cx="8613913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/>
                <a:r>
                  <a:rPr lang="en-US" sz="2000" dirty="0"/>
                  <a:t>f(t) is power type or power signal if and only if </a:t>
                </a:r>
                <a14:m>
                  <m:oMath xmlns:m="http://schemas.openxmlformats.org/officeDocument/2006/math">
                    <m:r>
                      <a:rPr lang="en-GB" sz="200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 The energy is infinite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8" y="4508787"/>
                <a:ext cx="8613913" cy="707886"/>
              </a:xfrm>
              <a:prstGeom prst="rect">
                <a:avLst/>
              </a:prstGeom>
              <a:blipFill>
                <a:blip r:embed="rId4"/>
                <a:stretch>
                  <a:fillRect l="-708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537" y="5300341"/>
            <a:ext cx="8229600" cy="34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1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/ Power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2.2</a:t>
                </a:r>
              </a:p>
              <a:p>
                <a:r>
                  <a:rPr lang="en-US" dirty="0"/>
                  <a:t>Computer the average power of the signal below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2990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operations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987" y="1099930"/>
            <a:ext cx="5243014" cy="515156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shifting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38537" y="2700995"/>
                <a:ext cx="194777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7" y="2700995"/>
                <a:ext cx="1947777" cy="400110"/>
              </a:xfrm>
              <a:prstGeom prst="rect">
                <a:avLst/>
              </a:prstGeom>
              <a:blipFill>
                <a:blip r:embed="rId4"/>
                <a:stretch>
                  <a:fillRect t="-125758" r="-30000" b="-18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8537" y="4500174"/>
                <a:ext cx="194777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537" y="4500174"/>
                <a:ext cx="1947777" cy="400110"/>
              </a:xfrm>
              <a:prstGeom prst="rect">
                <a:avLst/>
              </a:prstGeom>
              <a:blipFill>
                <a:blip r:embed="rId5"/>
                <a:stretch>
                  <a:fillRect t="-125758" r="-30000" b="-189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7844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2.1</a:t>
            </a:r>
          </a:p>
          <a:p>
            <a:r>
              <a:rPr lang="en-US" dirty="0"/>
              <a:t>Consider a triangularly shaped signal having piece wise continuous definition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operations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280" y="4230412"/>
            <a:ext cx="6194306" cy="1962213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763467"/>
              </p:ext>
            </p:extLst>
          </p:nvPr>
        </p:nvGraphicFramePr>
        <p:xfrm>
          <a:off x="2462789" y="2668907"/>
          <a:ext cx="4165410" cy="1631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Equation" r:id="rId4" imgW="1815840" imgH="711000" progId="Equation.DSMT4">
                  <p:embed/>
                </p:oleObj>
              </mc:Choice>
              <mc:Fallback>
                <p:oleObj name="Equation" r:id="rId4" imgW="1815840" imgH="7110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62789" y="2668907"/>
                        <a:ext cx="4165410" cy="1631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4116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4071" y="1378225"/>
                <a:ext cx="8262730" cy="1394955"/>
              </a:xfrm>
            </p:spPr>
            <p:txBody>
              <a:bodyPr/>
              <a:lstStyle/>
              <a:p>
                <a:r>
                  <a:rPr lang="en-US" dirty="0"/>
                  <a:t>Using the equation below, calculate and plot the result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4071" y="1378225"/>
                <a:ext cx="8262730" cy="1394955"/>
              </a:xfrm>
              <a:blipFill rotWithShape="0">
                <a:blip r:embed="rId3"/>
                <a:stretch>
                  <a:fillRect l="-1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489323" y="2797623"/>
          <a:ext cx="6067948" cy="2376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4" imgW="1815840" imgH="711000" progId="Equation.DSMT4">
                  <p:embed/>
                </p:oleObj>
              </mc:Choice>
              <mc:Fallback>
                <p:oleObj name="Equation" r:id="rId4" imgW="1815840" imgH="71100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89323" y="2797623"/>
                        <a:ext cx="6067948" cy="2376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380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271" y="165652"/>
            <a:ext cx="8567530" cy="703283"/>
          </a:xfrm>
        </p:spPr>
        <p:txBody>
          <a:bodyPr>
            <a:normAutofit fontScale="90000"/>
          </a:bodyPr>
          <a:lstStyle/>
          <a:p>
            <a:r>
              <a:rPr lang="en-US" dirty="0"/>
              <a:t>Fourier series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9271" y="868935"/>
                <a:ext cx="8886242" cy="3082078"/>
              </a:xfrm>
            </p:spPr>
            <p:txBody>
              <a:bodyPr>
                <a:noAutofit/>
              </a:bodyPr>
              <a:lstStyle/>
              <a:p>
                <a:r>
                  <a:rPr lang="en-US" sz="2800" dirty="0"/>
                  <a:t>Consider  periodic signal </a:t>
                </a:r>
                <a:r>
                  <a:rPr lang="en-US" sz="2800" i="1" dirty="0"/>
                  <a:t>x(t) </a:t>
                </a:r>
                <a:r>
                  <a:rPr lang="en-US" sz="2800" dirty="0"/>
                  <a:t>with period </a:t>
                </a:r>
                <a:r>
                  <a:rPr lang="en-US" sz="2800" i="1" dirty="0"/>
                  <a:t>T</a:t>
                </a:r>
                <a:r>
                  <a:rPr lang="en-US" sz="2800" dirty="0"/>
                  <a:t> , can be </a:t>
                </a:r>
                <a:r>
                  <a:rPr lang="en-US" sz="2800" dirty="0" err="1"/>
                  <a:t>epressed</a:t>
                </a:r>
                <a:r>
                  <a:rPr lang="en-US" sz="2800" dirty="0"/>
                  <a:t> into infinite sine and cosine terms</a:t>
                </a:r>
              </a:p>
              <a:p>
                <a:pPr marL="34289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2800" b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b="1" i="1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GB" sz="2800" b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GB" sz="2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2800" b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GB" sz="28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GB" sz="2800" b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GB" sz="2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GB" sz="2800" b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"/>
                                  <m:ctrlP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b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𝐜𝐨𝐬</m:t>
                                  </m:r>
                                  <m:r>
                                    <a:rPr lang="en-GB" sz="2800" b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sSub>
                                    <m:sSubPr>
                                      <m:ctrlP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  <m:r>
                                    <a:rPr lang="en-GB" sz="2800" b="1"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sSub>
                                    <m:sSubPr>
                                      <m:ctrlP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b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sub>
                                  </m:sSub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𝒔𝒊𝒏</m:t>
                                  </m:r>
                                  <m:r>
                                    <a:rPr lang="en-GB" sz="2800" b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  <m:sSub>
                                    <m:sSubPr>
                                      <m:ctrlP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𝒇</m:t>
                                      </m:r>
                                    </m:e>
                                    <m:sub>
                                      <m:r>
                                        <a:rPr lang="en-GB" sz="2800" b="1" i="1">
                                          <a:latin typeface="Cambria Math" panose="02040503050406030204" pitchFamily="18" charset="0"/>
                                        </a:rPr>
                                        <m:t>𝟎</m:t>
                                      </m:r>
                                    </m:sub>
                                  </m:sSub>
                                  <m:r>
                                    <a:rPr lang="en-GB" sz="2800" b="1" i="1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271" y="868935"/>
                <a:ext cx="8886242" cy="3082078"/>
              </a:xfrm>
              <a:blipFill>
                <a:blip r:embed="rId4"/>
                <a:stretch>
                  <a:fillRect l="-1441" t="-3366" r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928813" y="2597944"/>
          <a:ext cx="85725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8813" y="2597944"/>
                        <a:ext cx="85725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6921280"/>
              </p:ext>
            </p:extLst>
          </p:nvPr>
        </p:nvGraphicFramePr>
        <p:xfrm>
          <a:off x="327546" y="3652323"/>
          <a:ext cx="8524905" cy="2003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Equation" r:id="rId7" imgW="5029200" imgH="1015920" progId="Equation.DSMT4">
                  <p:embed/>
                </p:oleObj>
              </mc:Choice>
              <mc:Fallback>
                <p:oleObj name="Equation" r:id="rId7" imgW="5029200" imgH="1015920" progId="Equation.DSMT4">
                  <p:embed/>
                  <p:pic>
                    <p:nvPicPr>
                      <p:cNvPr id="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46" y="3652323"/>
                        <a:ext cx="8524905" cy="2003946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7711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dirty="0"/>
              <a:t>Synthesis – basically </a:t>
            </a:r>
          </a:p>
        </p:txBody>
      </p:sp>
      <p:graphicFrame>
        <p:nvGraphicFramePr>
          <p:cNvPr id="106496" name="Object 2048"/>
          <p:cNvGraphicFramePr>
            <a:graphicFrameLocks noChangeAspect="1"/>
          </p:cNvGraphicFramePr>
          <p:nvPr>
            <p:extLst/>
          </p:nvPr>
        </p:nvGraphicFramePr>
        <p:xfrm>
          <a:off x="1179513" y="1374118"/>
          <a:ext cx="6934200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Equation" r:id="rId4" imgW="2616120" imgH="431640" progId="Equation.3">
                  <p:embed/>
                </p:oleObj>
              </mc:Choice>
              <mc:Fallback>
                <p:oleObj name="Equation" r:id="rId4" imgW="2616120" imgH="431640" progId="Equation.3">
                  <p:embed/>
                  <p:pic>
                    <p:nvPicPr>
                      <p:cNvPr id="106496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1374118"/>
                        <a:ext cx="6934200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AutoShape 7"/>
          <p:cNvSpPr>
            <a:spLocks/>
          </p:cNvSpPr>
          <p:nvPr/>
        </p:nvSpPr>
        <p:spPr bwMode="auto">
          <a:xfrm rot="5400000">
            <a:off x="2514600" y="2400300"/>
            <a:ext cx="152400" cy="457200"/>
          </a:xfrm>
          <a:prstGeom prst="righ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r>
              <a:rPr lang="en-US" altLang="zh-TW" dirty="0">
                <a:solidFill>
                  <a:srgbClr val="FF3300"/>
                </a:solidFill>
              </a:rPr>
              <a:t>DC Part</a:t>
            </a:r>
          </a:p>
        </p:txBody>
      </p:sp>
      <p:sp>
        <p:nvSpPr>
          <p:cNvPr id="5128" name="AutoShape 8"/>
          <p:cNvSpPr>
            <a:spLocks/>
          </p:cNvSpPr>
          <p:nvPr/>
        </p:nvSpPr>
        <p:spPr bwMode="auto">
          <a:xfrm rot="5400000">
            <a:off x="4229100" y="1524000"/>
            <a:ext cx="152400" cy="2209800"/>
          </a:xfrm>
          <a:prstGeom prst="rightBrace">
            <a:avLst>
              <a:gd name="adj1" fmla="val 120833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r>
              <a:rPr lang="en-US" altLang="zh-TW" dirty="0">
                <a:solidFill>
                  <a:srgbClr val="FF3300"/>
                </a:solidFill>
              </a:rPr>
              <a:t>Even Part</a:t>
            </a:r>
          </a:p>
        </p:txBody>
      </p:sp>
      <p:sp>
        <p:nvSpPr>
          <p:cNvPr id="5129" name="AutoShape 9"/>
          <p:cNvSpPr>
            <a:spLocks/>
          </p:cNvSpPr>
          <p:nvPr/>
        </p:nvSpPr>
        <p:spPr bwMode="auto">
          <a:xfrm rot="5400000">
            <a:off x="6819900" y="1524000"/>
            <a:ext cx="152400" cy="2209800"/>
          </a:xfrm>
          <a:prstGeom prst="rightBrace">
            <a:avLst>
              <a:gd name="adj1" fmla="val 120833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r>
              <a:rPr lang="en-US" altLang="zh-TW" dirty="0">
                <a:solidFill>
                  <a:srgbClr val="FF3300"/>
                </a:solidFill>
              </a:rPr>
              <a:t>Odd Part</a:t>
            </a:r>
          </a:p>
        </p:txBody>
      </p:sp>
      <p:sp>
        <p:nvSpPr>
          <p:cNvPr id="5130" name="AutoShape 10"/>
          <p:cNvSpPr>
            <a:spLocks/>
          </p:cNvSpPr>
          <p:nvPr/>
        </p:nvSpPr>
        <p:spPr bwMode="auto">
          <a:xfrm rot="5400000">
            <a:off x="5067300" y="453888"/>
            <a:ext cx="304800" cy="5715000"/>
          </a:xfrm>
          <a:prstGeom prst="rightBrace">
            <a:avLst>
              <a:gd name="adj1" fmla="val 156250"/>
              <a:gd name="adj2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anchor="ctr"/>
          <a:lstStyle/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endParaRPr lang="en-US" altLang="zh-TW" dirty="0">
              <a:solidFill>
                <a:srgbClr val="FF3300"/>
              </a:solidFill>
            </a:endParaRPr>
          </a:p>
          <a:p>
            <a:pPr algn="ctr"/>
            <a:r>
              <a:rPr lang="en-US" altLang="zh-TW" i="1" dirty="0">
                <a:solidFill>
                  <a:srgbClr val="FF3300"/>
                </a:solidFill>
              </a:rPr>
              <a:t>T</a:t>
            </a:r>
            <a:r>
              <a:rPr lang="en-US" altLang="zh-TW" dirty="0">
                <a:solidFill>
                  <a:srgbClr val="FF3300"/>
                </a:solidFill>
              </a:rPr>
              <a:t> is a period of all the above signals</a:t>
            </a:r>
          </a:p>
        </p:txBody>
      </p:sp>
      <p:graphicFrame>
        <p:nvGraphicFramePr>
          <p:cNvPr id="106497" name="Object 20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504966"/>
              </p:ext>
            </p:extLst>
          </p:nvPr>
        </p:nvGraphicFramePr>
        <p:xfrm>
          <a:off x="1179513" y="5053944"/>
          <a:ext cx="7202487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Equation" r:id="rId6" imgW="2717640" imgH="431640" progId="Equation.3">
                  <p:embed/>
                </p:oleObj>
              </mc:Choice>
              <mc:Fallback>
                <p:oleObj name="Equation" r:id="rId6" imgW="2717640" imgH="431640" progId="Equation.3">
                  <p:embed/>
                  <p:pic>
                    <p:nvPicPr>
                      <p:cNvPr id="106497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5053944"/>
                        <a:ext cx="7202487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722244" y="4295256"/>
            <a:ext cx="2667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3600" dirty="0"/>
              <a:t>Let </a:t>
            </a:r>
            <a:r>
              <a:rPr lang="en-US" altLang="zh-TW" sz="3600" dirty="0">
                <a:sym typeface="Symbol" pitchFamily="18" charset="2"/>
              </a:rPr>
              <a:t></a:t>
            </a:r>
            <a:r>
              <a:rPr lang="en-US" altLang="zh-TW" sz="3600" baseline="-25000" dirty="0">
                <a:sym typeface="Symbol" pitchFamily="18" charset="2"/>
              </a:rPr>
              <a:t>0</a:t>
            </a:r>
            <a:r>
              <a:rPr lang="en-US" altLang="zh-TW" sz="3600" dirty="0">
                <a:sym typeface="Symbol" pitchFamily="18" charset="2"/>
              </a:rPr>
              <a:t>=2/</a:t>
            </a:r>
            <a:r>
              <a:rPr lang="en-US" altLang="zh-TW" sz="3600" i="1" dirty="0">
                <a:sym typeface="Symbol" pitchFamily="18" charset="2"/>
              </a:rPr>
              <a:t>T.</a:t>
            </a:r>
            <a:endParaRPr lang="en-US" altLang="zh-TW" sz="3600" dirty="0"/>
          </a:p>
        </p:txBody>
      </p:sp>
    </p:spTree>
    <p:extLst>
      <p:ext uri="{BB962C8B-B14F-4D97-AF65-F5344CB8AC3E}">
        <p14:creationId xmlns:p14="http://schemas.microsoft.com/office/powerpoint/2010/main" val="244419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6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7" grpId="0" animBg="1" autoUpdateAnimBg="0"/>
      <p:bldP spid="5128" grpId="0" animBg="1" autoUpdateAnimBg="0"/>
      <p:bldP spid="5129" grpId="0" animBg="1" autoUpdateAnimBg="0"/>
      <p:bldP spid="5130" grpId="0" animBg="1" autoUpdateAnimBg="0"/>
      <p:bldP spid="513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165652"/>
            <a:ext cx="7704667" cy="703283"/>
          </a:xfrm>
        </p:spPr>
        <p:txBody>
          <a:bodyPr>
            <a:normAutofit fontScale="90000"/>
          </a:bodyPr>
          <a:lstStyle/>
          <a:p>
            <a:r>
              <a:rPr lang="en-US" dirty="0"/>
              <a:t>Fourier series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928813" y="2597944"/>
          <a:ext cx="85725" cy="13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4" imgW="114120" imgH="177480" progId="Equation.DSMT4">
                  <p:embed/>
                </p:oleObj>
              </mc:Choice>
              <mc:Fallback>
                <p:oleObj name="Equation" r:id="rId4" imgW="114120" imgH="177480" progId="Equation.DSMT4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28813" y="2597944"/>
                        <a:ext cx="85725" cy="13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117167" y="1331359"/>
                <a:ext cx="5138266" cy="13999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167" y="1331359"/>
                <a:ext cx="5138266" cy="13999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91502" y="958949"/>
            <a:ext cx="22352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Alternative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6728" y="3016155"/>
                <a:ext cx="65485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Where </a:t>
                </a:r>
                <a:r>
                  <a:rPr lang="en-US" i="1" dirty="0"/>
                  <a:t>Co, Cn </a:t>
                </a:r>
                <a:r>
                  <a:rPr lang="en-US" dirty="0"/>
                  <a:t>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related to </a:t>
                </a:r>
                <a:r>
                  <a:rPr lang="en-US" i="1" dirty="0" err="1"/>
                  <a:t>Ao</a:t>
                </a:r>
                <a:r>
                  <a:rPr lang="en-US" i="1" dirty="0"/>
                  <a:t>, An</a:t>
                </a:r>
                <a:r>
                  <a:rPr lang="en-US" dirty="0"/>
                  <a:t>, and </a:t>
                </a:r>
                <a:r>
                  <a:rPr lang="en-US" i="1" dirty="0" err="1"/>
                  <a:t>Bn</a:t>
                </a:r>
                <a:r>
                  <a:rPr lang="en-US" dirty="0"/>
                  <a:t> by the equation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728" y="3016155"/>
                <a:ext cx="6548524" cy="369332"/>
              </a:xfrm>
              <a:prstGeom prst="rect">
                <a:avLst/>
              </a:prstGeom>
              <a:blipFill>
                <a:blip r:embed="rId7"/>
                <a:stretch>
                  <a:fillRect l="-838" t="-10000" r="-27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90118" y="3670348"/>
                <a:ext cx="2642775" cy="23426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sz="28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ra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800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US" sz="2800" i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f>
                              <m:f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den>
                            </m:f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18" y="3670348"/>
                <a:ext cx="2642775" cy="2342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4445574" y="3980414"/>
                <a:ext cx="4241226" cy="14913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800" dirty="0"/>
                  <a:t>Spectral amplitude  at </a:t>
                </a:r>
                <a:r>
                  <a:rPr lang="en-US" sz="2800" i="1" dirty="0" err="1"/>
                  <a:t>nf</a:t>
                </a:r>
                <a:r>
                  <a:rPr lang="en-US" sz="2800" i="1" baseline="-25000" dirty="0" err="1"/>
                  <a:t>o</a:t>
                </a:r>
                <a:r>
                  <a:rPr lang="en-US" sz="2800" dirty="0"/>
                  <a:t> is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𝑛𝑡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574" y="3980414"/>
                <a:ext cx="4241226" cy="1491370"/>
              </a:xfrm>
              <a:prstGeom prst="rect">
                <a:avLst/>
              </a:prstGeom>
              <a:blipFill>
                <a:blip r:embed="rId9"/>
                <a:stretch>
                  <a:fillRect l="-2874" t="-4082" r="-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448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 – </a:t>
            </a:r>
            <a:r>
              <a:rPr lang="en-US" dirty="0" err="1"/>
              <a:t>Parseval’s</a:t>
            </a:r>
            <a:r>
              <a:rPr lang="en-US" dirty="0"/>
              <a:t>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Every term of the Fourier series of a periodic signal is also power signal as the signal itself.</a:t>
            </a:r>
          </a:p>
          <a:p>
            <a:r>
              <a:rPr lang="en-US" dirty="0"/>
              <a:t>The Fourier series of periodic signal consists of terms that are mutually orthogonal over one period</a:t>
            </a:r>
          </a:p>
          <a:p>
            <a:pPr lvl="1"/>
            <a:r>
              <a:rPr lang="en-US" dirty="0"/>
              <a:t>the power of the series is equal to the sum of the powers of its Fourier components. This forms what is called the </a:t>
            </a:r>
            <a:r>
              <a:rPr lang="en-US" dirty="0" err="1"/>
              <a:t>Parseval’s</a:t>
            </a:r>
            <a:r>
              <a:rPr lang="en-US" dirty="0"/>
              <a:t> theorem </a:t>
            </a:r>
          </a:p>
          <a:p>
            <a:r>
              <a:rPr lang="en-US" dirty="0"/>
              <a:t>The squared magnitude of the Fourier Series coefficients indicates power at corresponding frequencies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70266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 – </a:t>
            </a:r>
            <a:r>
              <a:rPr lang="en-US" dirty="0" err="1"/>
              <a:t>Parseval’s</a:t>
            </a:r>
            <a:r>
              <a:rPr lang="en-US" dirty="0"/>
              <a:t>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squared magnitude of the Fourier Series coefficients indicates power at corresponding frequencies</a:t>
                </a:r>
              </a:p>
              <a:p>
                <a:r>
                  <a:rPr lang="en-US" dirty="0"/>
                  <a:t>Consider the trig. Fourier series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power of </a:t>
                </a:r>
                <a:r>
                  <a:rPr lang="en-US" i="1" dirty="0"/>
                  <a:t>g(t)</a:t>
                </a:r>
                <a:r>
                  <a:rPr lang="en-US" dirty="0"/>
                  <a:t>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28" t="-3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6381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series – </a:t>
            </a:r>
            <a:r>
              <a:rPr lang="en-US" dirty="0" err="1"/>
              <a:t>Parseval’s</a:t>
            </a:r>
            <a:r>
              <a:rPr lang="en-US" dirty="0"/>
              <a:t>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power content of a periodic signal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defined as the </a:t>
                </a:r>
                <a:r>
                  <a:rPr lang="en-US" b="1" dirty="0"/>
                  <a:t>mean square value </a:t>
                </a:r>
                <a:r>
                  <a:rPr lang="en-US" dirty="0"/>
                  <a:t>over a period. </a:t>
                </a:r>
              </a:p>
              <a:p>
                <a:r>
                  <a:rPr lang="en-US" dirty="0" err="1"/>
                  <a:t>Parseval's</a:t>
                </a:r>
                <a:r>
                  <a:rPr lang="en-US" dirty="0"/>
                  <a:t> theorem for Fourier series states that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a periodic signal with period,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, then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"/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74957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2.1 </a:t>
            </a:r>
            <a:r>
              <a:rPr lang="en-US" dirty="0" err="1"/>
              <a:t>pg</a:t>
            </a:r>
            <a:r>
              <a:rPr lang="en-US" dirty="0"/>
              <a:t> 39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Find the complex exponential Fourier series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68696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15614"/>
            <a:ext cx="8229600" cy="868346"/>
          </a:xfrm>
          <a:noFill/>
        </p:spPr>
        <p:txBody>
          <a:bodyPr/>
          <a:lstStyle/>
          <a:p>
            <a:pPr eaLnBrk="1" hangingPunct="1"/>
            <a:r>
              <a:rPr lang="en-US" altLang="zh-TW" sz="4800" dirty="0"/>
              <a:t>Example (</a:t>
            </a:r>
            <a:r>
              <a:rPr lang="en-US" altLang="zh-TW" dirty="0"/>
              <a:t>Square</a:t>
            </a:r>
            <a:r>
              <a:rPr lang="en-US" altLang="zh-TW" sz="4800" dirty="0"/>
              <a:t> Wave)</a:t>
            </a:r>
          </a:p>
        </p:txBody>
      </p:sp>
      <p:graphicFrame>
        <p:nvGraphicFramePr>
          <p:cNvPr id="113664" name="Object 2048"/>
          <p:cNvGraphicFramePr>
            <a:graphicFrameLocks noChangeAspect="1"/>
          </p:cNvGraphicFramePr>
          <p:nvPr/>
        </p:nvGraphicFramePr>
        <p:xfrm>
          <a:off x="928662" y="2714620"/>
          <a:ext cx="1851025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Equation" r:id="rId4" imgW="1066680" imgH="393480" progId="Equation.3">
                  <p:embed/>
                </p:oleObj>
              </mc:Choice>
              <mc:Fallback>
                <p:oleObj name="Equation" r:id="rId4" imgW="1066680" imgH="393480" progId="Equation.3">
                  <p:embed/>
                  <p:pic>
                    <p:nvPicPr>
                      <p:cNvPr id="113664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2714620"/>
                        <a:ext cx="1851025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5" name="Object 2049"/>
          <p:cNvGraphicFramePr>
            <a:graphicFrameLocks noChangeAspect="1"/>
          </p:cNvGraphicFramePr>
          <p:nvPr/>
        </p:nvGraphicFramePr>
        <p:xfrm>
          <a:off x="928662" y="3500438"/>
          <a:ext cx="514985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quation" r:id="rId6" imgW="2971800" imgH="393480" progId="Equation.3">
                  <p:embed/>
                </p:oleObj>
              </mc:Choice>
              <mc:Fallback>
                <p:oleObj name="Equation" r:id="rId6" imgW="2971800" imgH="393480" progId="Equation.3">
                  <p:embed/>
                  <p:pic>
                    <p:nvPicPr>
                      <p:cNvPr id="113665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62" y="3500438"/>
                        <a:ext cx="514985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6" name="Object 2050"/>
          <p:cNvGraphicFramePr>
            <a:graphicFrameLocks noChangeAspect="1"/>
          </p:cNvGraphicFramePr>
          <p:nvPr/>
        </p:nvGraphicFramePr>
        <p:xfrm>
          <a:off x="785786" y="4286256"/>
          <a:ext cx="7802592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Equation" r:id="rId8" imgW="4749480" imgH="457200" progId="Equation.3">
                  <p:embed/>
                </p:oleObj>
              </mc:Choice>
              <mc:Fallback>
                <p:oleObj name="Equation" r:id="rId8" imgW="4749480" imgH="457200" progId="Equation.3">
                  <p:embed/>
                  <p:pic>
                    <p:nvPicPr>
                      <p:cNvPr id="113666" name="Object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786" y="4286256"/>
                        <a:ext cx="7802592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5"/>
          <p:cNvGrpSpPr>
            <a:grpSpLocks/>
          </p:cNvGrpSpPr>
          <p:nvPr/>
        </p:nvGrpSpPr>
        <p:grpSpPr bwMode="auto">
          <a:xfrm>
            <a:off x="928662" y="1142984"/>
            <a:ext cx="7358114" cy="1285884"/>
            <a:chOff x="672" y="1488"/>
            <a:chExt cx="4128" cy="912"/>
          </a:xfrm>
        </p:grpSpPr>
        <p:sp>
          <p:nvSpPr>
            <p:cNvPr id="8256" name="Rectangle 64"/>
            <p:cNvSpPr>
              <a:spLocks noChangeArrowheads="1"/>
            </p:cNvSpPr>
            <p:nvPr/>
          </p:nvSpPr>
          <p:spPr bwMode="auto">
            <a:xfrm>
              <a:off x="672" y="1488"/>
              <a:ext cx="4128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IN"/>
            </a:p>
          </p:txBody>
        </p:sp>
        <p:grpSp>
          <p:nvGrpSpPr>
            <p:cNvPr id="13320" name="Group 63"/>
            <p:cNvGrpSpPr>
              <a:grpSpLocks/>
            </p:cNvGrpSpPr>
            <p:nvPr/>
          </p:nvGrpSpPr>
          <p:grpSpPr bwMode="auto">
            <a:xfrm>
              <a:off x="816" y="1536"/>
              <a:ext cx="3888" cy="816"/>
              <a:chOff x="816" y="1536"/>
              <a:chExt cx="3888" cy="816"/>
            </a:xfrm>
          </p:grpSpPr>
          <p:sp>
            <p:nvSpPr>
              <p:cNvPr id="13321" name="Line 11"/>
              <p:cNvSpPr>
                <a:spLocks noChangeShapeType="1"/>
              </p:cNvSpPr>
              <p:nvPr/>
            </p:nvSpPr>
            <p:spPr bwMode="auto">
              <a:xfrm flipV="1">
                <a:off x="2640" y="1536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322" name="Rectangle 12"/>
              <p:cNvSpPr>
                <a:spLocks noChangeArrowheads="1"/>
              </p:cNvSpPr>
              <p:nvPr/>
            </p:nvSpPr>
            <p:spPr bwMode="auto">
              <a:xfrm>
                <a:off x="2640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3" name="Rectangle 14"/>
              <p:cNvSpPr>
                <a:spLocks noChangeArrowheads="1"/>
              </p:cNvSpPr>
              <p:nvPr/>
            </p:nvSpPr>
            <p:spPr bwMode="auto">
              <a:xfrm>
                <a:off x="3216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4" name="Rectangle 16"/>
              <p:cNvSpPr>
                <a:spLocks noChangeArrowheads="1"/>
              </p:cNvSpPr>
              <p:nvPr/>
            </p:nvSpPr>
            <p:spPr bwMode="auto">
              <a:xfrm>
                <a:off x="3792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5" name="Rectangle 20"/>
              <p:cNvSpPr>
                <a:spLocks noChangeArrowheads="1"/>
              </p:cNvSpPr>
              <p:nvPr/>
            </p:nvSpPr>
            <p:spPr bwMode="auto">
              <a:xfrm>
                <a:off x="2064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6" name="Rectangle 22"/>
              <p:cNvSpPr>
                <a:spLocks noChangeArrowheads="1"/>
              </p:cNvSpPr>
              <p:nvPr/>
            </p:nvSpPr>
            <p:spPr bwMode="auto">
              <a:xfrm>
                <a:off x="1488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7" name="Rectangle 24"/>
              <p:cNvSpPr>
                <a:spLocks noChangeArrowheads="1"/>
              </p:cNvSpPr>
              <p:nvPr/>
            </p:nvSpPr>
            <p:spPr bwMode="auto">
              <a:xfrm>
                <a:off x="912" y="1872"/>
                <a:ext cx="288" cy="288"/>
              </a:xfrm>
              <a:prstGeom prst="rect">
                <a:avLst/>
              </a:prstGeom>
              <a:noFill/>
              <a:ln w="9525">
                <a:solidFill>
                  <a:srgbClr val="FF33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328" name="Line 9"/>
              <p:cNvSpPr>
                <a:spLocks noChangeShapeType="1"/>
              </p:cNvSpPr>
              <p:nvPr/>
            </p:nvSpPr>
            <p:spPr bwMode="auto">
              <a:xfrm>
                <a:off x="816" y="216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IN"/>
              </a:p>
            </p:txBody>
          </p:sp>
          <p:sp>
            <p:nvSpPr>
              <p:cNvPr id="13329" name="Text Box 25"/>
              <p:cNvSpPr txBox="1">
                <a:spLocks noChangeArrowheads="1"/>
              </p:cNvSpPr>
              <p:nvPr/>
            </p:nvSpPr>
            <p:spPr bwMode="auto">
              <a:xfrm>
                <a:off x="2822" y="2112"/>
                <a:ext cx="19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</a:t>
                </a:r>
                <a:endParaRPr lang="en-US" altLang="zh-TW" sz="1800"/>
              </a:p>
            </p:txBody>
          </p:sp>
          <p:sp>
            <p:nvSpPr>
              <p:cNvPr id="13330" name="Text Box 26"/>
              <p:cNvSpPr txBox="1">
                <a:spLocks noChangeArrowheads="1"/>
              </p:cNvSpPr>
              <p:nvPr/>
            </p:nvSpPr>
            <p:spPr bwMode="auto">
              <a:xfrm>
                <a:off x="3024" y="2112"/>
                <a:ext cx="3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 2</a:t>
                </a:r>
                <a:endParaRPr lang="en-US" altLang="zh-TW" sz="1800"/>
              </a:p>
            </p:txBody>
          </p:sp>
          <p:sp>
            <p:nvSpPr>
              <p:cNvPr id="13331" name="Text Box 27"/>
              <p:cNvSpPr txBox="1">
                <a:spLocks noChangeArrowheads="1"/>
              </p:cNvSpPr>
              <p:nvPr/>
            </p:nvSpPr>
            <p:spPr bwMode="auto">
              <a:xfrm>
                <a:off x="3312" y="2112"/>
                <a:ext cx="3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 3</a:t>
                </a:r>
                <a:endParaRPr lang="en-US" altLang="zh-TW" sz="1800"/>
              </a:p>
            </p:txBody>
          </p:sp>
          <p:sp>
            <p:nvSpPr>
              <p:cNvPr id="13332" name="Text Box 28"/>
              <p:cNvSpPr txBox="1">
                <a:spLocks noChangeArrowheads="1"/>
              </p:cNvSpPr>
              <p:nvPr/>
            </p:nvSpPr>
            <p:spPr bwMode="auto">
              <a:xfrm>
                <a:off x="3633" y="2112"/>
                <a:ext cx="3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 4</a:t>
                </a:r>
                <a:endParaRPr lang="en-US" altLang="zh-TW" sz="1800"/>
              </a:p>
            </p:txBody>
          </p:sp>
          <p:sp>
            <p:nvSpPr>
              <p:cNvPr id="13333" name="Text Box 29"/>
              <p:cNvSpPr txBox="1">
                <a:spLocks noChangeArrowheads="1"/>
              </p:cNvSpPr>
              <p:nvPr/>
            </p:nvSpPr>
            <p:spPr bwMode="auto">
              <a:xfrm>
                <a:off x="3921" y="2112"/>
                <a:ext cx="30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 5</a:t>
                </a:r>
                <a:endParaRPr lang="en-US" altLang="zh-TW" sz="1800"/>
              </a:p>
            </p:txBody>
          </p:sp>
          <p:sp>
            <p:nvSpPr>
              <p:cNvPr id="13334" name="Text Box 30"/>
              <p:cNvSpPr txBox="1">
                <a:spLocks noChangeArrowheads="1"/>
              </p:cNvSpPr>
              <p:nvPr/>
            </p:nvSpPr>
            <p:spPr bwMode="auto">
              <a:xfrm>
                <a:off x="2256" y="2112"/>
                <a:ext cx="243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-</a:t>
                </a:r>
                <a:endParaRPr lang="en-US" altLang="zh-TW" sz="1800"/>
              </a:p>
            </p:txBody>
          </p:sp>
          <p:sp>
            <p:nvSpPr>
              <p:cNvPr id="13335" name="Text Box 31"/>
              <p:cNvSpPr txBox="1">
                <a:spLocks noChangeArrowheads="1"/>
              </p:cNvSpPr>
              <p:nvPr/>
            </p:nvSpPr>
            <p:spPr bwMode="auto">
              <a:xfrm>
                <a:off x="1968" y="2112"/>
                <a:ext cx="3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-2</a:t>
                </a:r>
                <a:endParaRPr lang="en-US" altLang="zh-TW" sz="1800"/>
              </a:p>
            </p:txBody>
          </p:sp>
          <p:sp>
            <p:nvSpPr>
              <p:cNvPr id="13336" name="Text Box 32"/>
              <p:cNvSpPr txBox="1">
                <a:spLocks noChangeArrowheads="1"/>
              </p:cNvSpPr>
              <p:nvPr/>
            </p:nvSpPr>
            <p:spPr bwMode="auto">
              <a:xfrm>
                <a:off x="1680" y="2112"/>
                <a:ext cx="3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-3</a:t>
                </a:r>
                <a:endParaRPr lang="en-US" altLang="zh-TW" sz="1800"/>
              </a:p>
            </p:txBody>
          </p:sp>
          <p:sp>
            <p:nvSpPr>
              <p:cNvPr id="13337" name="Text Box 33"/>
              <p:cNvSpPr txBox="1">
                <a:spLocks noChangeArrowheads="1"/>
              </p:cNvSpPr>
              <p:nvPr/>
            </p:nvSpPr>
            <p:spPr bwMode="auto">
              <a:xfrm>
                <a:off x="1392" y="2112"/>
                <a:ext cx="3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-4</a:t>
                </a:r>
                <a:endParaRPr lang="en-US" altLang="zh-TW" sz="1800"/>
              </a:p>
            </p:txBody>
          </p:sp>
          <p:sp>
            <p:nvSpPr>
              <p:cNvPr id="13338" name="Text Box 34"/>
              <p:cNvSpPr txBox="1">
                <a:spLocks noChangeArrowheads="1"/>
              </p:cNvSpPr>
              <p:nvPr/>
            </p:nvSpPr>
            <p:spPr bwMode="auto">
              <a:xfrm>
                <a:off x="1104" y="2112"/>
                <a:ext cx="3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-5</a:t>
                </a:r>
                <a:endParaRPr lang="en-US" altLang="zh-TW" sz="1800"/>
              </a:p>
            </p:txBody>
          </p:sp>
          <p:sp>
            <p:nvSpPr>
              <p:cNvPr id="13339" name="Text Box 35"/>
              <p:cNvSpPr txBox="1">
                <a:spLocks noChangeArrowheads="1"/>
              </p:cNvSpPr>
              <p:nvPr/>
            </p:nvSpPr>
            <p:spPr bwMode="auto">
              <a:xfrm>
                <a:off x="816" y="2112"/>
                <a:ext cx="315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800">
                    <a:sym typeface="Symbol" pitchFamily="18" charset="2"/>
                  </a:rPr>
                  <a:t>-6</a:t>
                </a:r>
                <a:endParaRPr lang="en-US" altLang="zh-TW" sz="1800"/>
              </a:p>
            </p:txBody>
          </p:sp>
          <p:sp>
            <p:nvSpPr>
              <p:cNvPr id="13340" name="Text Box 61"/>
              <p:cNvSpPr txBox="1">
                <a:spLocks noChangeArrowheads="1"/>
              </p:cNvSpPr>
              <p:nvPr/>
            </p:nvSpPr>
            <p:spPr bwMode="auto">
              <a:xfrm>
                <a:off x="2294" y="1545"/>
                <a:ext cx="31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2000" i="1"/>
                  <a:t>f</a:t>
                </a:r>
                <a:r>
                  <a:rPr lang="en-US" altLang="zh-TW" sz="2000"/>
                  <a:t>(</a:t>
                </a:r>
                <a:r>
                  <a:rPr lang="en-US" altLang="zh-TW" sz="2000" i="1"/>
                  <a:t>t</a:t>
                </a:r>
                <a:r>
                  <a:rPr lang="en-US" altLang="zh-TW" sz="2000"/>
                  <a:t>)</a:t>
                </a:r>
              </a:p>
            </p:txBody>
          </p:sp>
          <p:sp>
            <p:nvSpPr>
              <p:cNvPr id="13341" name="Text Box 62"/>
              <p:cNvSpPr txBox="1">
                <a:spLocks noChangeArrowheads="1"/>
              </p:cNvSpPr>
              <p:nvPr/>
            </p:nvSpPr>
            <p:spPr bwMode="auto">
              <a:xfrm>
                <a:off x="2496" y="1756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TW" sz="1600"/>
                  <a:t>1</a:t>
                </a:r>
              </a:p>
            </p:txBody>
          </p:sp>
        </p:grpSp>
      </p:grpSp>
      <p:graphicFrame>
        <p:nvGraphicFramePr>
          <p:cNvPr id="114688" name="Object 2048"/>
          <p:cNvGraphicFramePr>
            <a:graphicFrameLocks noChangeAspect="1"/>
          </p:cNvGraphicFramePr>
          <p:nvPr/>
        </p:nvGraphicFramePr>
        <p:xfrm>
          <a:off x="642910" y="5143512"/>
          <a:ext cx="7786688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10" imgW="2616120" imgH="431640" progId="Equation.3">
                  <p:embed/>
                </p:oleObj>
              </mc:Choice>
              <mc:Fallback>
                <p:oleObj name="Equation" r:id="rId10" imgW="2616120" imgH="431640" progId="Equation.3">
                  <p:embed/>
                  <p:pic>
                    <p:nvPicPr>
                      <p:cNvPr id="114688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10" y="5143512"/>
                        <a:ext cx="7786688" cy="11239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4984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3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3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3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4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2.2 </a:t>
            </a:r>
            <a:r>
              <a:rPr lang="en-US" dirty="0" err="1"/>
              <a:t>pg</a:t>
            </a:r>
            <a:r>
              <a:rPr lang="en-US" dirty="0"/>
              <a:t>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fundamental frequency and Fourier series coefficients of the following signal (Hint:</a:t>
            </a:r>
            <a:br>
              <a:rPr lang="en-US" dirty="0"/>
            </a:br>
            <a:r>
              <a:rPr lang="en-US" dirty="0"/>
              <a:t>You don’t need to calculate any integral!)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315815" y="2880918"/>
                <a:ext cx="4459357" cy="2811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)=10</m:t>
                          </m:r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(20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)+2</m:t>
                          </m:r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(40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)+0.5</m:t>
                          </m:r>
                          <m:r>
                            <m:rPr>
                              <m:sty m:val="p"/>
                            </m:rPr>
                            <a:rPr lang="en-US" sz="3600" i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(80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type m:val="lin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815" y="2880918"/>
                <a:ext cx="4459357" cy="28112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72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Fourier series deals with periodic signals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Fourier transform deals generally with aperiodic signal.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Communication signals are often non-periodic.</a:t>
                </a:r>
              </a:p>
              <a:p>
                <a:pPr>
                  <a:buFont typeface="Wingdings" panose="05000000000000000000" pitchFamily="2" charset="2"/>
                  <a:buChar char="§"/>
                </a:pPr>
                <a:r>
                  <a:rPr lang="en-US" dirty="0"/>
                  <a:t>Consider a periodic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Fourier series in freq. domain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𝑓𝑡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 f) </a:t>
                </a:r>
                <a:r>
                  <a:rPr lang="en-US" dirty="0"/>
                  <a:t>is called the </a:t>
                </a:r>
                <a:r>
                  <a:rPr lang="en-US" i="1" dirty="0"/>
                  <a:t>amplitude spectral density </a:t>
                </a:r>
                <a:r>
                  <a:rPr lang="en-US" dirty="0"/>
                  <a:t>or generally </a:t>
                </a:r>
                <a:r>
                  <a:rPr lang="en-US" b="1" dirty="0"/>
                  <a:t>Fourier transform </a:t>
                </a:r>
                <a:r>
                  <a:rPr lang="en-US" dirty="0"/>
                  <a:t>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v(t)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2194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14551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transform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Fourier transform is then given by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𝑓𝑡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b>
                      <m:sup>
                        <m:f>
                          <m:fPr>
                            <m:type m:val="li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The inverse Fourier transform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symbolized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, is defined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</m:e>
                      </m:d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𝑛𝑓𝑡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 r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10056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2.1 </a:t>
            </a:r>
            <a:r>
              <a:rPr lang="en-US" dirty="0" err="1"/>
              <a:t>pg</a:t>
            </a:r>
            <a:r>
              <a:rPr lang="en-US" dirty="0"/>
              <a:t> 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4400" dirty="0"/>
                  <a:t>If </a:t>
                </a:r>
                <a14:m>
                  <m:oMath xmlns:m="http://schemas.openxmlformats.org/officeDocument/2006/math">
                    <m:r>
                      <a:rPr lang="en-US" sz="4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440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4400">
                        <a:latin typeface="Cambria Math" panose="02040503050406030204" pitchFamily="18" charset="0"/>
                      </a:rPr>
                      <m:t>cos</m:t>
                    </m:r>
                    <m:sSub>
                      <m:sSubPr>
                        <m:ctrlPr>
                          <a:rPr lang="en-US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440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4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4400" dirty="0"/>
                  <a:t>, </a:t>
                </a:r>
                <a14:m>
                  <m:oMath xmlns:m="http://schemas.openxmlformats.org/officeDocument/2006/math">
                    <m:r>
                      <a:rPr lang="en-US" sz="4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4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4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400" dirty="0"/>
              </a:p>
              <a:p>
                <a:r>
                  <a:rPr lang="en-US" sz="4400" dirty="0">
                    <a:solidFill>
                      <a:srgbClr val="00B050"/>
                    </a:solidFill>
                  </a:rPr>
                  <a:t>Solution on the board</a:t>
                </a:r>
              </a:p>
              <a:p>
                <a:br>
                  <a:rPr lang="en-US" sz="4400" dirty="0"/>
                </a:br>
                <a:endParaRPr lang="en-US" sz="4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06" t="-3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86484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2.2 </a:t>
            </a:r>
            <a:r>
              <a:rPr lang="en-US" dirty="0" err="1"/>
              <a:t>pg</a:t>
            </a:r>
            <a:r>
              <a:rPr lang="en-US" dirty="0"/>
              <a:t> 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signal </a:t>
                </a:r>
                <a:r>
                  <a:rPr lang="en-US" i="1" dirty="0"/>
                  <a:t>m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is multiplied by a sinusoidal waveform of frequency, </a:t>
                </a:r>
                <a:r>
                  <a:rPr lang="en-US" i="1" dirty="0"/>
                  <a:t>fc</a:t>
                </a:r>
                <a:r>
                  <a:rPr lang="en-US" dirty="0"/>
                  <a:t>. The resulting signal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 Fourier transform of </a:t>
                </a:r>
                <a:r>
                  <a:rPr lang="en-US" i="1" dirty="0"/>
                  <a:t>m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is </a:t>
                </a:r>
                <a:r>
                  <a:rPr lang="en-US" i="1" dirty="0"/>
                  <a:t>M</a:t>
                </a:r>
                <a:r>
                  <a:rPr lang="en-US" dirty="0"/>
                  <a:t>( </a:t>
                </a:r>
                <a:r>
                  <a:rPr lang="en-US" i="1" dirty="0"/>
                  <a:t>f</a:t>
                </a:r>
                <a:r>
                  <a:rPr lang="en-US" dirty="0"/>
                  <a:t>), that is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𝑓𝑡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Then find the Fourier transform of x(t)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 r="-3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04203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2.2 </a:t>
            </a:r>
            <a:r>
              <a:rPr lang="en-US" dirty="0" err="1"/>
              <a:t>pg</a:t>
            </a:r>
            <a:r>
              <a:rPr lang="en-US" dirty="0"/>
              <a:t> 46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signal </a:t>
                </a:r>
                <a:r>
                  <a:rPr lang="en-US" i="1" dirty="0"/>
                  <a:t>m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is multiplied by a sinusoidal waveform of frequency, </a:t>
                </a:r>
                <a:r>
                  <a:rPr lang="en-US" i="1" dirty="0"/>
                  <a:t>fc</a:t>
                </a:r>
                <a:r>
                  <a:rPr lang="en-US" dirty="0"/>
                  <a:t>. The resulting signal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 the Fourier transform of </a:t>
                </a:r>
                <a:r>
                  <a:rPr lang="en-US" i="1" dirty="0"/>
                  <a:t>m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/>
                  <a:t>) is </a:t>
                </a:r>
                <a:r>
                  <a:rPr lang="en-US" i="1" dirty="0"/>
                  <a:t>M</a:t>
                </a:r>
                <a:r>
                  <a:rPr lang="en-US" dirty="0"/>
                  <a:t>( </a:t>
                </a:r>
                <a:r>
                  <a:rPr lang="en-US" i="1" dirty="0"/>
                  <a:t>f</a:t>
                </a:r>
                <a:r>
                  <a:rPr lang="en-US" dirty="0"/>
                  <a:t>), that is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𝑓𝑡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Then find the Fourier transform of x(t)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69" t="-2682" r="-31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5120"/>
            <a:ext cx="9144000" cy="448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802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Densities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Energy spectral density (ESD)</a:t>
                </a:r>
              </a:p>
              <a:p>
                <a:r>
                  <a:rPr lang="en-US" dirty="0"/>
                  <a:t>Using </a:t>
                </a:r>
                <a:r>
                  <a:rPr lang="en-US" dirty="0" err="1"/>
                  <a:t>Parseval’s</a:t>
                </a:r>
                <a:r>
                  <a:rPr lang="en-US" dirty="0"/>
                  <a:t> theorem, ESD of x(t) can be found from the following analysis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Fourier transform of x(t).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The total energy of x(t)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>
                            <a:solidFill>
                              <a:schemeClr val="tx1"/>
                            </a:solidFill>
                          </a:rPr>
                          <m:t>x</m:t>
                        </m:r>
                      </m:sub>
                    </m:sSub>
                  </m:oMath>
                </a14:m>
                <a:r>
                  <a:rPr lang="en-US" dirty="0"/>
                  <a:t> is the ESD of x(t).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>
                                  <a:solidFill>
                                    <a:schemeClr val="tx1"/>
                                  </a:solidFill>
                                </a:rPr>
                                <m:t>x</m:t>
                              </m:r>
                            </m:sub>
                          </m:sSub>
                        </m:e>
                      </m:nary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32" t="-2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301456" y="5851764"/>
                <a:ext cx="48425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Making use of symmetry i.e.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is an even </a:t>
                </a:r>
                <a:r>
                  <a:rPr lang="en-US" dirty="0" err="1"/>
                  <a:t>fxn</a:t>
                </a: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456" y="5851764"/>
                <a:ext cx="4842544" cy="369332"/>
              </a:xfrm>
              <a:prstGeom prst="rect">
                <a:avLst/>
              </a:prstGeom>
              <a:blipFill>
                <a:blip r:embed="rId4"/>
                <a:stretch>
                  <a:fillRect l="-1134" t="-119672" r="-126" b="-183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0202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8539" y="1378225"/>
            <a:ext cx="8660532" cy="494637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sz="4000" dirty="0"/>
              <a:t>Power Spectral Density (PSD) is the frequency response of a random or periodic signal. It tells us where the average power is distributed as a function of frequency.</a:t>
            </a:r>
          </a:p>
          <a:p>
            <a:r>
              <a:rPr lang="en-US" altLang="en-US" sz="4000" dirty="0"/>
              <a:t>The power spectral density (PSD) </a:t>
            </a:r>
            <a:r>
              <a:rPr lang="en-US" altLang="en-US" sz="4000" i="1" dirty="0" err="1"/>
              <a:t>S</a:t>
            </a:r>
            <a:r>
              <a:rPr lang="en-US" altLang="en-US" sz="4000" i="1" baseline="-25000" dirty="0" err="1"/>
              <a:t>x</a:t>
            </a:r>
            <a:r>
              <a:rPr lang="en-US" altLang="en-US" sz="4000" i="1" dirty="0"/>
              <a:t>(f)</a:t>
            </a:r>
            <a:r>
              <a:rPr lang="en-US" altLang="en-US" sz="4000" dirty="0"/>
              <a:t> for a signal is a measure of its power distribution as a function of frequency</a:t>
            </a:r>
          </a:p>
          <a:p>
            <a:endParaRPr lang="en-US" altLang="en-US" sz="4000" dirty="0"/>
          </a:p>
          <a:p>
            <a:r>
              <a:rPr lang="en-US" altLang="en-US" sz="4000" dirty="0"/>
              <a:t>It is a useful concept which allows us to determine the bandwidth required of a transmission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Densities </a:t>
            </a:r>
          </a:p>
        </p:txBody>
      </p:sp>
    </p:spTree>
    <p:extLst>
      <p:ext uri="{BB962C8B-B14F-4D97-AF65-F5344CB8AC3E}">
        <p14:creationId xmlns:p14="http://schemas.microsoft.com/office/powerpoint/2010/main" val="2434635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en-US" dirty="0"/>
                  <a:t>The power spectral density of a periodic, x(t)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average power of x(t) from the PSD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𝑑𝑓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Using </a:t>
                </a:r>
                <a:r>
                  <a:rPr lang="en-US" dirty="0" err="1"/>
                  <a:t>Parseval’s</a:t>
                </a:r>
                <a:r>
                  <a:rPr lang="en-US" dirty="0"/>
                  <a:t> theorem, we can obtain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limLoc m:val="subSup"/>
                        <m:grow m:val="on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en-US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subSup"/>
                            <m:grow m:val="on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limLow>
                                  <m:limLow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lim</m:t>
                                    </m:r>
                                  </m:e>
                                  <m:lim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→∞</m:t>
                                    </m:r>
                                  </m:lim>
                                </m:limLow>
                                <m:f>
                                  <m:f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d>
                                          <m:dPr>
                                            <m:begChr m:val=""/>
                                            <m:ctrlP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𝑇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</m:d>
                                        <m:r>
                                          <a:rPr lang="en-US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</m:e>
                                      <m:sup>
                                        <m:r>
                                          <a:rPr lang="en-US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𝑑𝑓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45" t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Spectral Densities </a:t>
            </a:r>
          </a:p>
        </p:txBody>
      </p:sp>
    </p:spTree>
    <p:extLst>
      <p:ext uri="{BB962C8B-B14F-4D97-AF65-F5344CB8AC3E}">
        <p14:creationId xmlns:p14="http://schemas.microsoft.com/office/powerpoint/2010/main" val="17015002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of signals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38538" y="1099930"/>
                <a:ext cx="8613913" cy="51816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Correlation determines or measures the degree of similarities between signals. Correlation = 1 for identical signal, otherwise 0. Application is radar system.</a:t>
                </a:r>
              </a:p>
              <a:p>
                <a:r>
                  <a:rPr lang="en-US" dirty="0"/>
                  <a:t>Now the correlation between x1(t) and x2(t) or </a:t>
                </a:r>
                <a:r>
                  <a:rPr lang="en-US" i="1" dirty="0"/>
                  <a:t>the average cross correlation </a:t>
                </a:r>
                <a:r>
                  <a:rPr lang="en-US" dirty="0"/>
                  <a:t>is given by R</a:t>
                </a:r>
                <a:r>
                  <a:rPr lang="en-US" dirty="0">
                    <a:latin typeface="Symbol" panose="05050102010706020507" pitchFamily="18" charset="2"/>
                  </a:rPr>
                  <a:t>12(t)</a:t>
                </a:r>
                <a:r>
                  <a:rPr lang="en-US" dirty="0"/>
                  <a:t>,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Low>
                        <m:limLow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type m:val="li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a periodic signal the average cross correlation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nary>
                        <m:naryPr>
                          <m:limLoc m:val="subSup"/>
                          <m:grow m:val="on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 baseline="-25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b>
                        <m:sup>
                          <m:f>
                            <m:fPr>
                              <m:type m:val="lin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i="1" baseline="-25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num>
                            <m:den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limits of this integration is take to infinity for non-periodic signals.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538" y="1099930"/>
                <a:ext cx="8613913" cy="5181600"/>
              </a:xfrm>
              <a:blipFill>
                <a:blip r:embed="rId3"/>
                <a:stretch>
                  <a:fillRect l="-1345" t="-2353" b="-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48380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Autocorrelation refers to the matching of signal with a delayed version of itself.</a:t>
            </a:r>
          </a:p>
          <a:p>
            <a:r>
              <a:rPr lang="en-US" dirty="0"/>
              <a:t>Autocorrelation of Energy signal</a:t>
            </a:r>
          </a:p>
          <a:p>
            <a:r>
              <a:rPr lang="en-US" dirty="0"/>
              <a:t>Autocorrelation of Power signal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394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2.1 </a:t>
            </a:r>
            <a:r>
              <a:rPr lang="en-US" dirty="0" err="1"/>
              <a:t>pg</a:t>
            </a:r>
            <a:r>
              <a:rPr lang="en-US" dirty="0"/>
              <a:t>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PSD of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2620119" y="1839604"/>
                <a:ext cx="3436903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m:rPr>
                          <m:sty m:val="p"/>
                        </m:rPr>
                        <a:rPr lang="en-US" sz="3600" i="0"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119" y="1839604"/>
                <a:ext cx="3436903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0431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5629</TotalTime>
  <Words>1110</Words>
  <Application>Microsoft Office PowerPoint</Application>
  <PresentationFormat>On-screen Show (4:3)</PresentationFormat>
  <Paragraphs>274</Paragraphs>
  <Slides>37</Slides>
  <Notes>28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8" baseType="lpstr">
      <vt:lpstr>NimbusRomNo9L-Regu</vt:lpstr>
      <vt:lpstr>新細明體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Retrospect</vt:lpstr>
      <vt:lpstr>Equation</vt:lpstr>
      <vt:lpstr>PowerPoint Presentation</vt:lpstr>
      <vt:lpstr>University of Energy and Natural Resources, Sunyani   Dept. of Computer &amp; Electrical Eng.   ELNG 307 – ANALOG AND DIGITAL COMMUNICATIONS</vt:lpstr>
      <vt:lpstr>CHAPTER 2 – Introduction to Signals and  Spectra Analysis</vt:lpstr>
      <vt:lpstr>Signals</vt:lpstr>
      <vt:lpstr>Classifications of signals</vt:lpstr>
      <vt:lpstr>Continuous / Discrete time signal</vt:lpstr>
      <vt:lpstr>Periodic / Aperiodic signal</vt:lpstr>
      <vt:lpstr>Phasor signal and spectra</vt:lpstr>
      <vt:lpstr>Phasor signal and spectra</vt:lpstr>
      <vt:lpstr>Phasor signal and spectra</vt:lpstr>
      <vt:lpstr>Deterministic / Random signal</vt:lpstr>
      <vt:lpstr>Energy / Power signal</vt:lpstr>
      <vt:lpstr>Energy / Power signal</vt:lpstr>
      <vt:lpstr>Energy / Power signal</vt:lpstr>
      <vt:lpstr>Signal operations</vt:lpstr>
      <vt:lpstr>Signal operations</vt:lpstr>
      <vt:lpstr>Self check</vt:lpstr>
      <vt:lpstr>Fourier series</vt:lpstr>
      <vt:lpstr>Synthesis – basically </vt:lpstr>
      <vt:lpstr>Fourier series</vt:lpstr>
      <vt:lpstr>Fourier series – Parseval’s theorem</vt:lpstr>
      <vt:lpstr>Fourier series – Parseval’s theorem</vt:lpstr>
      <vt:lpstr>Fourier series – Parseval’s theorem</vt:lpstr>
      <vt:lpstr>Example 2.1 pg 39</vt:lpstr>
      <vt:lpstr>Example (Square Wave)</vt:lpstr>
      <vt:lpstr>Example 2.2 pg 39</vt:lpstr>
      <vt:lpstr>Fourier transform</vt:lpstr>
      <vt:lpstr>Fourier transform</vt:lpstr>
      <vt:lpstr>Example 2.1 pg 46</vt:lpstr>
      <vt:lpstr>Example 2.2 pg 46</vt:lpstr>
      <vt:lpstr>Example 2.2 pg 46</vt:lpstr>
      <vt:lpstr>Spectral Densities </vt:lpstr>
      <vt:lpstr>Spectral Densities </vt:lpstr>
      <vt:lpstr>Spectral Densities </vt:lpstr>
      <vt:lpstr>Correlation of signals</vt:lpstr>
      <vt:lpstr>Autocorrelation</vt:lpstr>
      <vt:lpstr>Example 2.1 pg 51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Tweneboah-Koduah</dc:creator>
  <cp:lastModifiedBy>Samuel Tweneboah-Koduah</cp:lastModifiedBy>
  <cp:revision>58</cp:revision>
  <dcterms:created xsi:type="dcterms:W3CDTF">2016-08-20T18:42:10Z</dcterms:created>
  <dcterms:modified xsi:type="dcterms:W3CDTF">2016-08-27T16:28:05Z</dcterms:modified>
</cp:coreProperties>
</file>