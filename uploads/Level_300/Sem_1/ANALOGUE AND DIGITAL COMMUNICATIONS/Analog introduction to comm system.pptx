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sldIdLst>
    <p:sldId id="257" r:id="rId2"/>
    <p:sldId id="258" r:id="rId3"/>
    <p:sldId id="259" r:id="rId4"/>
    <p:sldId id="262" r:id="rId5"/>
    <p:sldId id="263" r:id="rId6"/>
    <p:sldId id="264" r:id="rId7"/>
    <p:sldId id="265" r:id="rId8"/>
    <p:sldId id="266" r:id="rId9"/>
    <p:sldId id="267" r:id="rId10"/>
    <p:sldId id="268" r:id="rId11"/>
    <p:sldId id="269" r:id="rId12"/>
    <p:sldId id="270" r:id="rId13"/>
    <p:sldId id="261" r:id="rId14"/>
    <p:sldId id="271" r:id="rId15"/>
    <p:sldId id="272" r:id="rId16"/>
    <p:sldId id="273" r:id="rId17"/>
    <p:sldId id="274" r:id="rId18"/>
    <p:sldId id="275" r:id="rId19"/>
    <p:sldId id="276" r:id="rId20"/>
    <p:sldId id="277" r:id="rId21"/>
    <p:sldId id="278" r:id="rId22"/>
    <p:sldId id="280" r:id="rId23"/>
    <p:sldId id="279" r:id="rId24"/>
    <p:sldId id="283" r:id="rId25"/>
    <p:sldId id="281" r:id="rId26"/>
    <p:sldId id="282" r:id="rId27"/>
    <p:sldId id="284" r:id="rId28"/>
    <p:sldId id="285" r:id="rId29"/>
    <p:sldId id="286" r:id="rId30"/>
    <p:sldId id="287"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DBE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77833" autoAdjust="0"/>
  </p:normalViewPr>
  <p:slideViewPr>
    <p:cSldViewPr snapToGrid="0">
      <p:cViewPr varScale="1">
        <p:scale>
          <a:sx n="64" d="100"/>
          <a:sy n="64" d="100"/>
        </p:scale>
        <p:origin x="195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EB163F-4AD4-4B58-8E1F-D14D6F5A2669}" type="datetimeFigureOut">
              <a:rPr lang="en-US" smtClean="0"/>
              <a:t>9/14/2016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D89D2A-0E16-49BE-8EA8-9D2461F27A06}" type="slidenum">
              <a:rPr lang="en-US" smtClean="0"/>
              <a:t>‹#›</a:t>
            </a:fld>
            <a:endParaRPr lang="en-US"/>
          </a:p>
        </p:txBody>
      </p:sp>
    </p:spTree>
    <p:extLst>
      <p:ext uri="{BB962C8B-B14F-4D97-AF65-F5344CB8AC3E}">
        <p14:creationId xmlns:p14="http://schemas.microsoft.com/office/powerpoint/2010/main" val="2634092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89D2A-0E16-49BE-8EA8-9D2461F27A06}" type="slidenum">
              <a:rPr lang="en-US" smtClean="0"/>
              <a:t>1</a:t>
            </a:fld>
            <a:endParaRPr lang="en-US"/>
          </a:p>
        </p:txBody>
      </p:sp>
    </p:spTree>
    <p:extLst>
      <p:ext uri="{BB962C8B-B14F-4D97-AF65-F5344CB8AC3E}">
        <p14:creationId xmlns:p14="http://schemas.microsoft.com/office/powerpoint/2010/main" val="4249909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E7569B4D-2B65-4B26-A854-D8AEC28F7E7B}" type="slidenum">
              <a:rPr kumimoji="0" lang="en-GB" sz="1800" b="0" i="0" u="none" strike="noStrike" kern="0" cap="none" spc="0" normalizeH="0" baseline="0" noProof="0" smtClean="0">
                <a:ln>
                  <a:noFill/>
                </a:ln>
                <a:solidFill>
                  <a:prstClr val="black"/>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a:t>
            </a:fld>
            <a:endParaRPr kumimoji="0" lang="en-GB"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3920589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89D2A-0E16-49BE-8EA8-9D2461F27A06}" type="slidenum">
              <a:rPr lang="en-US" smtClean="0"/>
              <a:t>3</a:t>
            </a:fld>
            <a:endParaRPr lang="en-US"/>
          </a:p>
        </p:txBody>
      </p:sp>
    </p:spTree>
    <p:extLst>
      <p:ext uri="{BB962C8B-B14F-4D97-AF65-F5344CB8AC3E}">
        <p14:creationId xmlns:p14="http://schemas.microsoft.com/office/powerpoint/2010/main" val="255054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4</a:t>
            </a:fld>
            <a:endParaRPr lang="en-GB"/>
          </a:p>
        </p:txBody>
      </p:sp>
    </p:spTree>
    <p:extLst>
      <p:ext uri="{BB962C8B-B14F-4D97-AF65-F5344CB8AC3E}">
        <p14:creationId xmlns:p14="http://schemas.microsoft.com/office/powerpoint/2010/main" val="619711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5</a:t>
            </a:fld>
            <a:endParaRPr lang="en-GB"/>
          </a:p>
        </p:txBody>
      </p:sp>
    </p:spTree>
    <p:extLst>
      <p:ext uri="{BB962C8B-B14F-4D97-AF65-F5344CB8AC3E}">
        <p14:creationId xmlns:p14="http://schemas.microsoft.com/office/powerpoint/2010/main" val="2832690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6</a:t>
            </a:fld>
            <a:endParaRPr lang="en-GB"/>
          </a:p>
        </p:txBody>
      </p:sp>
    </p:spTree>
    <p:extLst>
      <p:ext uri="{BB962C8B-B14F-4D97-AF65-F5344CB8AC3E}">
        <p14:creationId xmlns:p14="http://schemas.microsoft.com/office/powerpoint/2010/main" val="250138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7</a:t>
            </a:fld>
            <a:endParaRPr lang="en-GB"/>
          </a:p>
        </p:txBody>
      </p:sp>
    </p:spTree>
    <p:extLst>
      <p:ext uri="{BB962C8B-B14F-4D97-AF65-F5344CB8AC3E}">
        <p14:creationId xmlns:p14="http://schemas.microsoft.com/office/powerpoint/2010/main" val="8985184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342900" indent="-342900" eaLnBrk="1" hangingPunct="1">
              <a:spcBef>
                <a:spcPct val="20000"/>
              </a:spcBef>
              <a:buClr>
                <a:schemeClr val="accent1"/>
              </a:buClr>
              <a:buSzPct val="85000"/>
              <a:buFont typeface="Wingdings" pitchFamily="2" charset="2"/>
              <a:buChar char="o"/>
            </a:pPr>
            <a:r>
              <a:rPr lang="en-AU" sz="1200" b="1" dirty="0">
                <a:solidFill>
                  <a:schemeClr val="tx2"/>
                </a:solidFill>
              </a:rPr>
              <a:t>Beats drum to attract people’s attention, then pass on mayor’s message to the city</a:t>
            </a:r>
          </a:p>
          <a:p>
            <a:pPr marL="342900" marR="0" indent="-342900" algn="l" defTabSz="914400" rtl="0" eaLnBrk="1" fontAlgn="auto" latinLnBrk="0" hangingPunct="1">
              <a:lnSpc>
                <a:spcPct val="100000"/>
              </a:lnSpc>
              <a:spcBef>
                <a:spcPct val="20000"/>
              </a:spcBef>
              <a:spcAft>
                <a:spcPts val="0"/>
              </a:spcAft>
              <a:buClr>
                <a:schemeClr val="accent1"/>
              </a:buClr>
              <a:buSzPct val="85000"/>
              <a:buFont typeface="Wingdings" pitchFamily="2" charset="2"/>
              <a:buChar char="o"/>
              <a:tabLst/>
              <a:defRPr/>
            </a:pPr>
            <a:r>
              <a:rPr lang="en-AU" sz="1200" dirty="0"/>
              <a:t>Put a bait on an envelope containing message to entice a bird to carry it to another geographical place</a:t>
            </a:r>
          </a:p>
          <a:p>
            <a:pPr marL="342900" marR="0" indent="-342900" algn="l" defTabSz="914400" rtl="0" eaLnBrk="1" fontAlgn="auto" latinLnBrk="0" hangingPunct="1">
              <a:lnSpc>
                <a:spcPct val="100000"/>
              </a:lnSpc>
              <a:spcBef>
                <a:spcPct val="20000"/>
              </a:spcBef>
              <a:spcAft>
                <a:spcPts val="0"/>
              </a:spcAft>
              <a:buClr>
                <a:schemeClr val="accent1"/>
              </a:buClr>
              <a:buSzPct val="85000"/>
              <a:buFont typeface="Wingdings" pitchFamily="2" charset="2"/>
              <a:buChar char="o"/>
              <a:tabLst/>
              <a:defRPr/>
            </a:pPr>
            <a:r>
              <a:rPr lang="en-AU" sz="1200" dirty="0"/>
              <a:t>A line of shouting men standing on heights conveys king’s messages from the</a:t>
            </a:r>
            <a:r>
              <a:rPr lang="en-AU" sz="1200" baseline="0" dirty="0"/>
              <a:t> </a:t>
            </a:r>
            <a:r>
              <a:rPr lang="en-AU" sz="1200" dirty="0"/>
              <a:t>capital to remote provinces of the empire</a:t>
            </a:r>
          </a:p>
          <a:p>
            <a:pPr marL="342900" marR="0" indent="-342900" algn="l" defTabSz="914400" rtl="0" eaLnBrk="1" fontAlgn="auto" latinLnBrk="0" hangingPunct="1">
              <a:lnSpc>
                <a:spcPct val="100000"/>
              </a:lnSpc>
              <a:spcBef>
                <a:spcPct val="20000"/>
              </a:spcBef>
              <a:spcAft>
                <a:spcPts val="0"/>
              </a:spcAft>
              <a:buClr>
                <a:schemeClr val="accent1"/>
              </a:buClr>
              <a:buSzPct val="85000"/>
              <a:buFont typeface="Wingdings" pitchFamily="2" charset="2"/>
              <a:buChar char="o"/>
              <a:tabLst/>
              <a:defRPr/>
            </a:pPr>
            <a:endParaRPr lang="en-US" sz="1200" dirty="0"/>
          </a:p>
          <a:p>
            <a:pPr marL="342900" indent="-342900" eaLnBrk="1" hangingPunct="1">
              <a:spcBef>
                <a:spcPct val="20000"/>
              </a:spcBef>
              <a:buClr>
                <a:schemeClr val="accent1"/>
              </a:buClr>
              <a:buSzPct val="85000"/>
              <a:buFont typeface="Wingdings" pitchFamily="2" charset="2"/>
              <a:buChar char="o"/>
            </a:pPr>
            <a:endParaRPr lang="en-US" sz="1200" b="1" dirty="0">
              <a:solidFill>
                <a:schemeClr val="tx2"/>
              </a:solidFill>
            </a:endParaRPr>
          </a:p>
          <a:p>
            <a:endParaRPr lang="en-GB" dirty="0"/>
          </a:p>
        </p:txBody>
      </p:sp>
      <p:sp>
        <p:nvSpPr>
          <p:cNvPr id="4" name="Slide Number Placeholder 3"/>
          <p:cNvSpPr>
            <a:spLocks noGrp="1"/>
          </p:cNvSpPr>
          <p:nvPr>
            <p:ph type="sldNum" sz="quarter" idx="10"/>
          </p:nvPr>
        </p:nvSpPr>
        <p:spPr/>
        <p:txBody>
          <a:bodyPr/>
          <a:lstStyle/>
          <a:p>
            <a:fld id="{DD016CE2-E59E-4A9F-B022-55D079DA2D35}" type="slidenum">
              <a:rPr lang="en-GB" smtClean="0"/>
              <a:t>8</a:t>
            </a:fld>
            <a:endParaRPr lang="en-GB"/>
          </a:p>
        </p:txBody>
      </p:sp>
    </p:spTree>
    <p:extLst>
      <p:ext uri="{BB962C8B-B14F-4D97-AF65-F5344CB8AC3E}">
        <p14:creationId xmlns:p14="http://schemas.microsoft.com/office/powerpoint/2010/main" val="25266982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200" kern="1200" dirty="0">
                <a:solidFill>
                  <a:schemeClr val="tx1"/>
                </a:solidFill>
                <a:effectLst/>
                <a:latin typeface="+mn-lt"/>
                <a:ea typeface="+mn-ea"/>
                <a:cs typeface="+mn-cs"/>
              </a:rPr>
              <a:t>Communication systems are distinctly different from electric energy. </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200" kern="1200" dirty="0">
                <a:solidFill>
                  <a:schemeClr val="tx1"/>
                </a:solidFill>
                <a:effectLst/>
                <a:latin typeface="+mn-lt"/>
                <a:ea typeface="+mn-ea"/>
                <a:cs typeface="+mn-cs"/>
              </a:rPr>
              <a:t>In electric energy, the waveforms are usually known and electrical engineer is concerned with designing system for minimum energy loss. </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200" kern="1200" dirty="0">
                <a:solidFill>
                  <a:schemeClr val="tx1"/>
                </a:solidFill>
                <a:effectLst/>
                <a:latin typeface="+mn-lt"/>
                <a:ea typeface="+mn-ea"/>
                <a:cs typeface="+mn-cs"/>
              </a:rPr>
              <a:t>Whereas in communication systems, the signal present at the sink is unknown until it is received at the sink. </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DD016CE2-E59E-4A9F-B022-55D079DA2D35}" type="slidenum">
              <a:rPr lang="en-GB" smtClean="0"/>
              <a:t>9</a:t>
            </a:fld>
            <a:endParaRPr lang="en-GB"/>
          </a:p>
        </p:txBody>
      </p:sp>
    </p:spTree>
    <p:extLst>
      <p:ext uri="{BB962C8B-B14F-4D97-AF65-F5344CB8AC3E}">
        <p14:creationId xmlns:p14="http://schemas.microsoft.com/office/powerpoint/2010/main" val="15391902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10</a:t>
            </a:fld>
            <a:endParaRPr lang="en-GB"/>
          </a:p>
        </p:txBody>
      </p:sp>
    </p:spTree>
    <p:extLst>
      <p:ext uri="{BB962C8B-B14F-4D97-AF65-F5344CB8AC3E}">
        <p14:creationId xmlns:p14="http://schemas.microsoft.com/office/powerpoint/2010/main" val="22034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133DB4-F424-4F4F-AC4B-220E6FAB2C71}" type="slidenum">
              <a:rPr lang="en-US" altLang="en-US"/>
              <a:pPr/>
              <a:t>11</a:t>
            </a:fld>
            <a:endParaRPr lang="en-US" altLang="en-US"/>
          </a:p>
        </p:txBody>
      </p:sp>
      <p:sp>
        <p:nvSpPr>
          <p:cNvPr id="273410" name="Rectangle 2"/>
          <p:cNvSpPr>
            <a:spLocks noGrp="1" noRot="1" noChangeAspect="1" noChangeArrowheads="1" noTextEdit="1"/>
          </p:cNvSpPr>
          <p:nvPr>
            <p:ph type="sldImg"/>
          </p:nvPr>
        </p:nvSpPr>
        <p:spPr>
          <a:xfrm>
            <a:off x="1371600" y="1143000"/>
            <a:ext cx="4114800" cy="3086100"/>
          </a:xfrm>
          <a:ln/>
        </p:spPr>
      </p:sp>
      <p:sp>
        <p:nvSpPr>
          <p:cNvPr id="273411" name="Rectangle 3"/>
          <p:cNvSpPr>
            <a:spLocks noGrp="1" noChangeArrowheads="1"/>
          </p:cNvSpPr>
          <p:nvPr>
            <p:ph type="body" idx="1"/>
          </p:nvPr>
        </p:nvSpPr>
        <p:spPr>
          <a:xfrm>
            <a:off x="914400" y="6262688"/>
            <a:ext cx="1200150" cy="274637"/>
          </a:xfrm>
        </p:spPr>
        <p:txBody>
          <a:bodyPr/>
          <a:lstStyle/>
          <a:p>
            <a:endParaRPr lang="en-US" altLang="en-US"/>
          </a:p>
        </p:txBody>
      </p:sp>
    </p:spTree>
    <p:extLst>
      <p:ext uri="{BB962C8B-B14F-4D97-AF65-F5344CB8AC3E}">
        <p14:creationId xmlns:p14="http://schemas.microsoft.com/office/powerpoint/2010/main" val="75501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Modulation </a:t>
            </a:r>
            <a:r>
              <a:rPr lang="en-US" sz="1200" kern="1200" dirty="0">
                <a:solidFill>
                  <a:schemeClr val="tx1"/>
                </a:solidFill>
                <a:effectLst/>
                <a:latin typeface="+mn-lt"/>
                <a:ea typeface="+mn-ea"/>
                <a:cs typeface="+mn-cs"/>
                <a:sym typeface="Wingdings" panose="05000000000000000000" pitchFamily="2" charset="2"/>
              </a:rPr>
              <a:t></a:t>
            </a:r>
            <a:r>
              <a:rPr lang="en-US" sz="1200" kern="1200" dirty="0">
                <a:solidFill>
                  <a:schemeClr val="tx1"/>
                </a:solidFill>
                <a:effectLst/>
                <a:latin typeface="+mn-lt"/>
                <a:ea typeface="+mn-ea"/>
                <a:cs typeface="+mn-cs"/>
              </a:rPr>
              <a:t> is the process of changing some characteristics such as amplitude, frequency and/or phase of a carrier wave in accordance with the instantaneous value of the modulating signal. </a:t>
            </a:r>
            <a:endParaRPr lang="en-GB" sz="1200" kern="1200" dirty="0">
              <a:solidFill>
                <a:schemeClr val="tx1"/>
              </a:solidFill>
              <a:effectLst/>
              <a:latin typeface="+mn-lt"/>
              <a:ea typeface="+mn-ea"/>
              <a:cs typeface="+mn-cs"/>
            </a:endParaRPr>
          </a:p>
          <a:p>
            <a:r>
              <a:rPr lang="en-US" dirty="0">
                <a:sym typeface="Wingdings" panose="05000000000000000000" pitchFamily="2" charset="2"/>
              </a:rPr>
              <a:t></a:t>
            </a:r>
            <a:r>
              <a:rPr lang="en-US" dirty="0"/>
              <a:t>Transmitter is made up of oscillators, amplifiers, tuned circuits and filters, modulators, frequency mixers, frequency synthesizers, and other circuits</a:t>
            </a:r>
          </a:p>
          <a:p>
            <a:r>
              <a:rPr lang="en-US" dirty="0">
                <a:sym typeface="Wingdings" panose="05000000000000000000" pitchFamily="2" charset="2"/>
              </a:rPr>
              <a:t>Receivers contain amplifiers, oscillators, mixers, tuned circuits and filters, and a demodulator or detector that recovers the original intelligence signal from the modulated carrier</a:t>
            </a:r>
            <a:endParaRPr lang="en-GB" dirty="0"/>
          </a:p>
        </p:txBody>
      </p:sp>
      <p:sp>
        <p:nvSpPr>
          <p:cNvPr id="4" name="Slide Number Placeholder 3"/>
          <p:cNvSpPr>
            <a:spLocks noGrp="1"/>
          </p:cNvSpPr>
          <p:nvPr>
            <p:ph type="sldNum" sz="quarter" idx="10"/>
          </p:nvPr>
        </p:nvSpPr>
        <p:spPr/>
        <p:txBody>
          <a:bodyPr/>
          <a:lstStyle/>
          <a:p>
            <a:fld id="{DD016CE2-E59E-4A9F-B022-55D079DA2D35}" type="slidenum">
              <a:rPr lang="en-GB" smtClean="0"/>
              <a:t>12</a:t>
            </a:fld>
            <a:endParaRPr lang="en-GB"/>
          </a:p>
        </p:txBody>
      </p:sp>
    </p:spTree>
    <p:extLst>
      <p:ext uri="{BB962C8B-B14F-4D97-AF65-F5344CB8AC3E}">
        <p14:creationId xmlns:p14="http://schemas.microsoft.com/office/powerpoint/2010/main" val="22578609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AD89D2A-0E16-49BE-8EA8-9D2461F27A06}" type="slidenum">
              <a:rPr lang="en-US" smtClean="0"/>
              <a:t>14</a:t>
            </a:fld>
            <a:endParaRPr lang="en-US"/>
          </a:p>
        </p:txBody>
      </p:sp>
    </p:spTree>
    <p:extLst>
      <p:ext uri="{BB962C8B-B14F-4D97-AF65-F5344CB8AC3E}">
        <p14:creationId xmlns:p14="http://schemas.microsoft.com/office/powerpoint/2010/main" val="1771415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200" b="0" i="0" kern="1200" dirty="0">
                <a:solidFill>
                  <a:schemeClr val="tx1"/>
                </a:solidFill>
                <a:effectLst/>
                <a:latin typeface="+mn-lt"/>
                <a:ea typeface="+mn-ea"/>
                <a:cs typeface="+mn-cs"/>
              </a:rPr>
              <a:t>The channel:</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It acts partly as a filter to attenuate the signal and distort the waveform.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attenuation increases with the length and property of the channel.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distortion occurs due to different amount of attenuation and phase shift suffered by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different frequency components of the signal.</a:t>
            </a:r>
            <a:r>
              <a:rPr lang="en-US" dirty="0"/>
              <a:t> </a:t>
            </a:r>
          </a:p>
          <a:p>
            <a:pPr marL="0" indent="0">
              <a:buFont typeface="Arial" panose="020B0604020202020204" pitchFamily="34" charset="0"/>
              <a:buNone/>
            </a:pPr>
            <a:r>
              <a:rPr lang="en-US" sz="1200" b="0" i="0" kern="1200" dirty="0">
                <a:solidFill>
                  <a:schemeClr val="tx1"/>
                </a:solidFill>
                <a:effectLst/>
                <a:latin typeface="+mn-lt"/>
                <a:ea typeface="+mn-ea"/>
                <a:cs typeface="+mn-cs"/>
              </a:rPr>
              <a:t>Additive noise (or</a:t>
            </a:r>
            <a:r>
              <a:rPr lang="en-US" sz="1200" b="0" i="0" kern="1200" baseline="0" dirty="0">
                <a:solidFill>
                  <a:schemeClr val="tx1"/>
                </a:solidFill>
                <a:effectLst/>
                <a:latin typeface="+mn-lt"/>
                <a:ea typeface="+mn-ea"/>
                <a:cs typeface="+mn-cs"/>
              </a:rPr>
              <a:t> thermal noises) </a:t>
            </a:r>
            <a:r>
              <a:rPr lang="en-US" sz="1200" b="0" i="0" kern="1200" dirty="0">
                <a:solidFill>
                  <a:schemeClr val="tx1"/>
                </a:solidFill>
                <a:effectLst/>
                <a:latin typeface="+mn-lt"/>
                <a:ea typeface="+mn-ea"/>
                <a:cs typeface="+mn-cs"/>
              </a:rPr>
              <a:t>generated at the front end of the receiver, where signal amplification is performed.</a:t>
            </a:r>
            <a:endParaRPr lang="en-US" dirty="0"/>
          </a:p>
        </p:txBody>
      </p:sp>
      <p:sp>
        <p:nvSpPr>
          <p:cNvPr id="4" name="Slide Number Placeholder 3"/>
          <p:cNvSpPr>
            <a:spLocks noGrp="1"/>
          </p:cNvSpPr>
          <p:nvPr>
            <p:ph type="sldNum" sz="quarter" idx="10"/>
          </p:nvPr>
        </p:nvSpPr>
        <p:spPr/>
        <p:txBody>
          <a:bodyPr/>
          <a:lstStyle/>
          <a:p>
            <a:fld id="{6AD89D2A-0E16-49BE-8EA8-9D2461F27A06}" type="slidenum">
              <a:rPr lang="en-US" smtClean="0"/>
              <a:t>16</a:t>
            </a:fld>
            <a:endParaRPr lang="en-US"/>
          </a:p>
        </p:txBody>
      </p:sp>
    </p:spTree>
    <p:extLst>
      <p:ext uri="{BB962C8B-B14F-4D97-AF65-F5344CB8AC3E}">
        <p14:creationId xmlns:p14="http://schemas.microsoft.com/office/powerpoint/2010/main" val="37248264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AD89D2A-0E16-49BE-8EA8-9D2461F27A06}" type="slidenum">
              <a:rPr lang="en-US" smtClean="0"/>
              <a:t>19</a:t>
            </a:fld>
            <a:endParaRPr lang="en-US"/>
          </a:p>
        </p:txBody>
      </p:sp>
    </p:spTree>
    <p:extLst>
      <p:ext uri="{BB962C8B-B14F-4D97-AF65-F5344CB8AC3E}">
        <p14:creationId xmlns:p14="http://schemas.microsoft.com/office/powerpoint/2010/main" val="1484036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physical size and the configuration of the antenna depend primarily on the frequency of operation</a:t>
            </a:r>
            <a:r>
              <a:rPr lang="en-US" dirty="0"/>
              <a:t>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To obtain efficient radiation of electromagnetic energy, the antenna must be longer than 1/10 of the wavelength</a:t>
            </a:r>
            <a:r>
              <a:rPr lang="en-US" dirty="0"/>
              <a:t> </a:t>
            </a:r>
            <a:br>
              <a:rPr lang="en-US" dirty="0"/>
            </a:br>
            <a:endParaRPr lang="en-US" dirty="0"/>
          </a:p>
        </p:txBody>
      </p:sp>
      <p:sp>
        <p:nvSpPr>
          <p:cNvPr id="4" name="Slide Number Placeholder 3"/>
          <p:cNvSpPr>
            <a:spLocks noGrp="1"/>
          </p:cNvSpPr>
          <p:nvPr>
            <p:ph type="sldNum" sz="quarter" idx="10"/>
          </p:nvPr>
        </p:nvSpPr>
        <p:spPr/>
        <p:txBody>
          <a:bodyPr/>
          <a:lstStyle/>
          <a:p>
            <a:fld id="{6AD89D2A-0E16-49BE-8EA8-9D2461F27A06}" type="slidenum">
              <a:rPr lang="en-US" smtClean="0"/>
              <a:t>21</a:t>
            </a:fld>
            <a:endParaRPr lang="en-US"/>
          </a:p>
        </p:txBody>
      </p:sp>
    </p:spTree>
    <p:extLst>
      <p:ext uri="{BB962C8B-B14F-4D97-AF65-F5344CB8AC3E}">
        <p14:creationId xmlns:p14="http://schemas.microsoft.com/office/powerpoint/2010/main" val="1240015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Ionosphere</a:t>
            </a:r>
            <a:r>
              <a:rPr lang="en-US" baseline="0" dirty="0"/>
              <a:t> </a:t>
            </a:r>
            <a:r>
              <a:rPr lang="en-US" dirty="0"/>
              <a:t>consists of several layers of charged particles ranging in altitude from 30</a:t>
            </a:r>
            <a:br>
              <a:rPr lang="en-US" dirty="0"/>
            </a:br>
            <a:r>
              <a:rPr lang="en-US" dirty="0"/>
              <a:t>to 250 miles above the surface of the earth </a:t>
            </a:r>
          </a:p>
        </p:txBody>
      </p:sp>
      <p:sp>
        <p:nvSpPr>
          <p:cNvPr id="4" name="Slide Number Placeholder 3"/>
          <p:cNvSpPr>
            <a:spLocks noGrp="1"/>
          </p:cNvSpPr>
          <p:nvPr>
            <p:ph type="sldNum" sz="quarter" idx="10"/>
          </p:nvPr>
        </p:nvSpPr>
        <p:spPr/>
        <p:txBody>
          <a:bodyPr/>
          <a:lstStyle/>
          <a:p>
            <a:fld id="{6AD89D2A-0E16-49BE-8EA8-9D2461F27A06}" type="slidenum">
              <a:rPr lang="en-US" smtClean="0"/>
              <a:t>22</a:t>
            </a:fld>
            <a:endParaRPr lang="en-US"/>
          </a:p>
        </p:txBody>
      </p:sp>
    </p:spTree>
    <p:extLst>
      <p:ext uri="{BB962C8B-B14F-4D97-AF65-F5344CB8AC3E}">
        <p14:creationId xmlns:p14="http://schemas.microsoft.com/office/powerpoint/2010/main" val="396257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24</a:t>
            </a:fld>
            <a:endParaRPr lang="en-GB"/>
          </a:p>
        </p:txBody>
      </p:sp>
    </p:spTree>
    <p:extLst>
      <p:ext uri="{BB962C8B-B14F-4D97-AF65-F5344CB8AC3E}">
        <p14:creationId xmlns:p14="http://schemas.microsoft.com/office/powerpoint/2010/main" val="36009684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27</a:t>
            </a:fld>
            <a:endParaRPr lang="en-GB"/>
          </a:p>
        </p:txBody>
      </p:sp>
    </p:spTree>
    <p:extLst>
      <p:ext uri="{BB962C8B-B14F-4D97-AF65-F5344CB8AC3E}">
        <p14:creationId xmlns:p14="http://schemas.microsoft.com/office/powerpoint/2010/main" val="2983282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sym typeface="Wingdings" panose="05000000000000000000" pitchFamily="2" charset="2"/>
              </a:rPr>
              <a:t> SNR2 = SNR1^(B1/B2). </a:t>
            </a:r>
            <a:r>
              <a:rPr lang="en-US" sz="1200" kern="1200" dirty="0">
                <a:solidFill>
                  <a:schemeClr val="tx1"/>
                </a:solidFill>
                <a:effectLst/>
                <a:latin typeface="+mn-lt"/>
                <a:ea typeface="+mn-ea"/>
                <a:cs typeface="+mn-cs"/>
              </a:rPr>
              <a:t>Thus, if a given rate of information transmission requires a channel bandwidth </a:t>
            </a:r>
            <a:r>
              <a:rPr lang="en-US" sz="1200" i="1" kern="1200" dirty="0">
                <a:solidFill>
                  <a:schemeClr val="tx1"/>
                </a:solidFill>
                <a:effectLst/>
                <a:latin typeface="+mn-lt"/>
                <a:ea typeface="+mn-ea"/>
                <a:cs typeface="+mn-cs"/>
              </a:rPr>
              <a:t>B</a:t>
            </a:r>
            <a:r>
              <a:rPr lang="en-US" sz="1200" i="1"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and a signal-to-noise ratio </a:t>
            </a:r>
            <a:r>
              <a:rPr lang="en-US" sz="1200" i="1" kern="1200" dirty="0">
                <a:solidFill>
                  <a:schemeClr val="tx1"/>
                </a:solidFill>
                <a:effectLst/>
                <a:latin typeface="+mn-lt"/>
                <a:ea typeface="+mn-ea"/>
                <a:cs typeface="+mn-cs"/>
              </a:rPr>
              <a:t>SNR</a:t>
            </a:r>
            <a:r>
              <a:rPr lang="en-US" sz="1200" i="1"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then it is possible to transmit the same information over a channel bandwidth </a:t>
            </a:r>
            <a:r>
              <a:rPr lang="en-US" sz="1200" i="1" kern="1200" dirty="0">
                <a:solidFill>
                  <a:schemeClr val="tx1"/>
                </a:solidFill>
                <a:effectLst/>
                <a:latin typeface="+mn-lt"/>
                <a:ea typeface="+mn-ea"/>
                <a:cs typeface="+mn-cs"/>
              </a:rPr>
              <a:t>B</a:t>
            </a:r>
            <a:r>
              <a:rPr lang="en-US" sz="1200" i="1"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and a signal-to-noise ratio </a:t>
            </a:r>
            <a:r>
              <a:rPr lang="en-US" sz="1200" i="1" kern="1200" dirty="0">
                <a:solidFill>
                  <a:schemeClr val="tx1"/>
                </a:solidFill>
                <a:effectLst/>
                <a:latin typeface="+mn-lt"/>
                <a:ea typeface="+mn-ea"/>
                <a:cs typeface="+mn-cs"/>
              </a:rPr>
              <a:t>SNR</a:t>
            </a:r>
            <a:r>
              <a:rPr lang="en-US" sz="1200" i="1" kern="1200" baseline="-25000" dirty="0">
                <a:solidFill>
                  <a:schemeClr val="tx1"/>
                </a:solidFill>
                <a:effectLst/>
                <a:latin typeface="+mn-lt"/>
                <a:ea typeface="+mn-ea"/>
                <a:cs typeface="+mn-cs"/>
              </a:rPr>
              <a:t>2</a:t>
            </a:r>
            <a:endParaRPr lang="en-GB" dirty="0"/>
          </a:p>
        </p:txBody>
      </p:sp>
      <p:sp>
        <p:nvSpPr>
          <p:cNvPr id="4" name="Slide Number Placeholder 3"/>
          <p:cNvSpPr>
            <a:spLocks noGrp="1"/>
          </p:cNvSpPr>
          <p:nvPr>
            <p:ph type="sldNum" sz="quarter" idx="10"/>
          </p:nvPr>
        </p:nvSpPr>
        <p:spPr/>
        <p:txBody>
          <a:bodyPr/>
          <a:lstStyle/>
          <a:p>
            <a:fld id="{DD016CE2-E59E-4A9F-B022-55D079DA2D35}" type="slidenum">
              <a:rPr lang="en-GB" smtClean="0"/>
              <a:t>28</a:t>
            </a:fld>
            <a:endParaRPr lang="en-GB"/>
          </a:p>
        </p:txBody>
      </p:sp>
    </p:spTree>
    <p:extLst>
      <p:ext uri="{BB962C8B-B14F-4D97-AF65-F5344CB8AC3E}">
        <p14:creationId xmlns:p14="http://schemas.microsoft.com/office/powerpoint/2010/main" val="2811830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29</a:t>
            </a:fld>
            <a:endParaRPr lang="en-GB"/>
          </a:p>
        </p:txBody>
      </p:sp>
    </p:spTree>
    <p:extLst>
      <p:ext uri="{BB962C8B-B14F-4D97-AF65-F5344CB8AC3E}">
        <p14:creationId xmlns:p14="http://schemas.microsoft.com/office/powerpoint/2010/main" val="16032130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DD016CE2-E59E-4A9F-B022-55D079DA2D35}" type="slidenum">
              <a:rPr lang="en-GB" smtClean="0"/>
              <a:t>30</a:t>
            </a:fld>
            <a:endParaRPr lang="en-GB"/>
          </a:p>
        </p:txBody>
      </p:sp>
    </p:spTree>
    <p:extLst>
      <p:ext uri="{BB962C8B-B14F-4D97-AF65-F5344CB8AC3E}">
        <p14:creationId xmlns:p14="http://schemas.microsoft.com/office/powerpoint/2010/main" val="4199742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25D87C4-1ACF-43E4-B981-5289D2FD0812}" type="datetime1">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9/14/2016</a:t>
            </a:fld>
            <a:endParaRPr kumimoji="0" lang="en-US" sz="1800" b="0" i="0" u="none" strike="noStrike" kern="0" cap="none" spc="0" normalizeH="0" baseline="0" noProof="0" dirty="0">
              <a:ln>
                <a:noFill/>
              </a:ln>
              <a:solidFill>
                <a:sysClr val="windowText" lastClr="000000"/>
              </a:solidFill>
              <a:effectLst/>
              <a:uLnTx/>
              <a:uFillTx/>
            </a:endParaRPr>
          </a:p>
        </p:txBody>
      </p:sp>
      <p:sp>
        <p:nvSpPr>
          <p:cNvPr id="8" name="Footer Placeholder 7"/>
          <p:cNvSpPr>
            <a:spLocks noGrp="1"/>
          </p:cNvSpPr>
          <p:nvPr>
            <p:ph type="ftr" sz="quarter" idx="11"/>
          </p:nvPr>
        </p:nvSpPr>
        <p:spPr/>
        <p:txBody>
          <a:bodyPr/>
          <a:lstStyle>
            <a:lvl1pPr>
              <a:defRPr>
                <a:solidFill>
                  <a:srgbClr val="FFFFFF"/>
                </a:solidFill>
              </a:defRPr>
            </a:lvl1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endParaRPr>
          </a:p>
        </p:txBody>
      </p:sp>
      <p:sp>
        <p:nvSpPr>
          <p:cNvPr id="9" name="Slide Number Placeholder 8"/>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876085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A33DF6EE-7FA4-46BA-A5DA-F3D93772C470}" type="datetime1">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9/14/2016</a:t>
            </a:fld>
            <a:endParaRPr kumimoji="0" lang="en-US" sz="1800" b="0" i="0" u="none" strike="noStrike" kern="0" cap="none" spc="0" normalizeH="0" baseline="0" noProof="0" dirty="0">
              <a:ln>
                <a:noFill/>
              </a:ln>
              <a:solidFill>
                <a:sysClr val="windowText" lastClr="000000"/>
              </a:solidFill>
              <a:effectLst/>
              <a:uLnTx/>
              <a:uFillTx/>
            </a:endParaRPr>
          </a:p>
        </p:txBody>
      </p:sp>
      <p:sp>
        <p:nvSpPr>
          <p:cNvPr id="5" name="Footer Placeholder 4"/>
          <p:cNvSpPr>
            <a:spLocks noGrp="1"/>
          </p:cNvSpPr>
          <p:nvPr>
            <p:ph type="ftr" sz="quarter" idx="1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6" name="Slide Number Placeholder 5"/>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800" b="0" i="0" u="none" strike="noStrike" kern="0" cap="none" spc="0" normalizeH="0" baseline="0" noProof="0" dirty="0">
              <a:ln>
                <a:noFill/>
              </a:ln>
              <a:solidFill>
                <a:sysClr val="windowText" lastClr="000000"/>
              </a:solidFill>
              <a:effectLst/>
              <a:uLnTx/>
              <a:uFillTx/>
            </a:endParaRPr>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963" y="6416514"/>
            <a:ext cx="264310" cy="299623"/>
          </a:xfrm>
          <a:prstGeom prst="rect">
            <a:avLst/>
          </a:prstGeom>
        </p:spPr>
      </p:pic>
      <p:sp>
        <p:nvSpPr>
          <p:cNvPr id="12" name="TextBox 11"/>
          <p:cNvSpPr txBox="1"/>
          <p:nvPr userDrawn="1"/>
        </p:nvSpPr>
        <p:spPr>
          <a:xfrm>
            <a:off x="-64294" y="6665118"/>
            <a:ext cx="516730" cy="2308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rPr>
              <a:t>UENR</a:t>
            </a:r>
            <a:endParaRPr kumimoji="0" lang="en-GB" sz="900"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708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483361" y="6459786"/>
            <a:ext cx="1854203" cy="365125"/>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5F351D4F-6A12-4D21-99A8-197E08B34999}" type="datetime1">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9/14/2016</a:t>
            </a:fld>
            <a:endParaRPr kumimoji="0" lang="en-US" sz="1800" b="0" i="0" u="none" strike="noStrike" kern="0" cap="none" spc="0" normalizeH="0" baseline="0" noProof="0" dirty="0">
              <a:ln>
                <a:noFill/>
              </a:ln>
              <a:solidFill>
                <a:sysClr val="windowText" lastClr="000000"/>
              </a:solidFill>
              <a:effectLst/>
              <a:uLnTx/>
              <a:uFillTx/>
            </a:endParaRPr>
          </a:p>
        </p:txBody>
      </p:sp>
      <p:sp>
        <p:nvSpPr>
          <p:cNvPr id="5" name="Footer Placeholder 4"/>
          <p:cNvSpPr>
            <a:spLocks noGrp="1"/>
          </p:cNvSpPr>
          <p:nvPr>
            <p:ph type="ftr" sz="quarter" idx="11"/>
          </p:nvPr>
        </p:nvSpPr>
        <p:spPr>
          <a:xfrm>
            <a:off x="3501239" y="6459786"/>
            <a:ext cx="3617103" cy="365125"/>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6" name="Slide Number Placeholder 5"/>
          <p:cNvSpPr>
            <a:spLocks noGrp="1"/>
          </p:cNvSpPr>
          <p:nvPr>
            <p:ph type="sldNum" sz="quarter" idx="12"/>
          </p:nvPr>
        </p:nvSpPr>
        <p:spPr>
          <a:xfrm>
            <a:off x="7868432" y="6450261"/>
            <a:ext cx="984019" cy="365125"/>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800" b="0" i="0" u="none" strike="noStrike" kern="0" cap="none" spc="0" normalizeH="0" baseline="0" noProof="0" dirty="0">
              <a:ln>
                <a:noFill/>
              </a:ln>
              <a:solidFill>
                <a:sysClr val="windowText" lastClr="000000"/>
              </a:solidFill>
              <a:effectLst/>
              <a:uLnTx/>
              <a:uFillTx/>
            </a:endParaRPr>
          </a:p>
        </p:txBody>
      </p:sp>
      <p:pic>
        <p:nvPicPr>
          <p:cNvPr id="7" name="Picture 6"/>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963" y="6416514"/>
            <a:ext cx="264310" cy="299623"/>
          </a:xfrm>
          <a:prstGeom prst="rect">
            <a:avLst/>
          </a:prstGeom>
        </p:spPr>
      </p:pic>
      <p:sp>
        <p:nvSpPr>
          <p:cNvPr id="8" name="TextBox 7"/>
          <p:cNvSpPr txBox="1"/>
          <p:nvPr userDrawn="1"/>
        </p:nvSpPr>
        <p:spPr>
          <a:xfrm>
            <a:off x="-64294" y="6665118"/>
            <a:ext cx="516730" cy="2308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rPr>
              <a:t>UENR</a:t>
            </a:r>
            <a:endParaRPr kumimoji="0" lang="en-GB" sz="900" b="0"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6263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27F3B7-A41D-41DD-9DAD-446C1C18E6AF}" type="datetime1">
              <a:rPr lang="en-US" smtClean="0"/>
              <a:t>9/14/2016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273317" y="6116070"/>
            <a:ext cx="413483"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668179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38538" y="132520"/>
            <a:ext cx="8613913" cy="80007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38538" y="1099930"/>
            <a:ext cx="8613913" cy="4769164"/>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defTabSz="457200"/>
            <a:fld id="{7E568439-A370-4C0B-97EF-B1CEBC00DA49}" type="datetime1">
              <a:rPr lang="en-US" smtClean="0"/>
              <a:pPr defTabSz="457200"/>
              <a:t>9/14/2016</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defTabSz="457200"/>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defTabSz="457200"/>
            <a:fld id="{48F63A3B-78C7-47BE-AE5E-E10140E04643}" type="slidenum">
              <a:rPr lang="en-US" smtClean="0"/>
              <a:pPr defTabSz="457200"/>
              <a:t>‹#›</a:t>
            </a:fld>
            <a:endParaRPr lang="en-US" dirty="0"/>
          </a:p>
        </p:txBody>
      </p:sp>
      <p:cxnSp>
        <p:nvCxnSpPr>
          <p:cNvPr id="10" name="Straight Connector 9"/>
          <p:cNvCxnSpPr/>
          <p:nvPr/>
        </p:nvCxnSpPr>
        <p:spPr>
          <a:xfrm>
            <a:off x="891540" y="93440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6377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wmf"/><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22.emf"/><Relationship Id="rId5" Type="http://schemas.openxmlformats.org/officeDocument/2006/relationships/image" Target="../media/image21.wmf"/><Relationship Id="rId4"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23.wmf"/><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25.png"/><Relationship Id="rId5" Type="http://schemas.openxmlformats.org/officeDocument/2006/relationships/image" Target="../media/image24.wmf"/><Relationship Id="rId4" Type="http://schemas.openxmlformats.org/officeDocument/2006/relationships/oleObject" Target="../embeddings/oleObject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aisat.ac.in/wp-content/uploads/2013/06/ec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8" y="747239"/>
            <a:ext cx="8864547" cy="325033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a:t>
            </a:fld>
            <a:endParaRPr kumimoji="0" lang="en-US" sz="1800" b="0" i="0" u="none" strike="noStrike" kern="0" cap="none" spc="0" normalizeH="0" baseline="0" noProof="0" dirty="0">
              <a:ln>
                <a:noFill/>
              </a:ln>
              <a:solidFill>
                <a:sysClr val="windowText" lastClr="000000"/>
              </a:solidFill>
              <a:effectLst/>
              <a:uLnTx/>
              <a:uFillTx/>
            </a:endParaRPr>
          </a:p>
        </p:txBody>
      </p:sp>
      <p:pic>
        <p:nvPicPr>
          <p:cNvPr id="4" name="Picture 3"/>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1768" y="28439"/>
            <a:ext cx="1408952" cy="15971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42391" y="115346"/>
            <a:ext cx="1053924" cy="1053924"/>
          </a:xfrm>
          <a:prstGeom prst="rect">
            <a:avLst/>
          </a:prstGeom>
        </p:spPr>
      </p:pic>
      <p:pic>
        <p:nvPicPr>
          <p:cNvPr id="1028" name="Picture 4" descr="https://www.cubic.com/portals/0/Images/Solutions/Communications-Electronics/banner.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1768" y="3905209"/>
            <a:ext cx="6338888" cy="24622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3.amazonaws.com/minglebox-photo/717bcb981318663626918.8a0af24f.m_ec6.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14689" y="3905209"/>
            <a:ext cx="3681626" cy="24390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97018" y="1895352"/>
            <a:ext cx="4461164" cy="954107"/>
          </a:xfrm>
          <a:prstGeom prst="rect">
            <a:avLst/>
          </a:prstGeom>
          <a:solidFill>
            <a:srgbClr val="ADBED8"/>
          </a:solidFill>
        </p:spPr>
        <p:txBody>
          <a:bodyPr wrap="square" rtlCol="0">
            <a:spAutoFit/>
          </a:bodyPr>
          <a:lstStyle/>
          <a:p>
            <a:pPr algn="ctr"/>
            <a:r>
              <a:rPr lang="en-US" sz="2800" b="1" dirty="0"/>
              <a:t>ELNG 307 – ANALOG AND DIGITAL COMMUNICATIONS</a:t>
            </a:r>
          </a:p>
        </p:txBody>
      </p:sp>
    </p:spTree>
    <p:extLst>
      <p:ext uri="{BB962C8B-B14F-4D97-AF65-F5344CB8AC3E}">
        <p14:creationId xmlns:p14="http://schemas.microsoft.com/office/powerpoint/2010/main" val="1577035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4010" y="438149"/>
            <a:ext cx="8154450" cy="5029778"/>
          </a:xfrm>
        </p:spPr>
        <p:txBody>
          <a:bodyPr>
            <a:noAutofit/>
          </a:bodyPr>
          <a:lstStyle/>
          <a:p>
            <a:pPr algn="ctr">
              <a:lnSpc>
                <a:spcPct val="100000"/>
              </a:lnSpc>
            </a:pPr>
            <a:r>
              <a:rPr lang="en-US" sz="3600" dirty="0"/>
              <a:t>University of Energy and Natural Resources, Sunyani</a:t>
            </a:r>
            <a:br>
              <a:rPr lang="en-US" sz="3600" dirty="0"/>
            </a:br>
            <a:br>
              <a:rPr lang="en-US" sz="3600" dirty="0"/>
            </a:br>
            <a:br>
              <a:rPr lang="en-US" sz="3600" dirty="0"/>
            </a:br>
            <a:r>
              <a:rPr lang="en-US" sz="3600" dirty="0"/>
              <a:t>Dept. of Computer &amp; Electrical Eng.</a:t>
            </a:r>
            <a:br>
              <a:rPr lang="en-US" sz="3600" dirty="0"/>
            </a:br>
            <a:br>
              <a:rPr lang="en-US" sz="3600" dirty="0"/>
            </a:br>
            <a:br>
              <a:rPr lang="en-US" sz="3600" dirty="0"/>
            </a:br>
            <a:r>
              <a:rPr lang="en-US" sz="3600" b="1" dirty="0"/>
              <a:t>ELNG 307 – ANALOG AND DIGITAL COMMUNICATIONS</a:t>
            </a:r>
            <a:endParaRPr lang="en-GB" sz="3600" b="1" dirty="0"/>
          </a:p>
        </p:txBody>
      </p:sp>
      <p:sp>
        <p:nvSpPr>
          <p:cNvPr id="3" name="Subtitle 2"/>
          <p:cNvSpPr>
            <a:spLocks noGrp="1"/>
          </p:cNvSpPr>
          <p:nvPr>
            <p:ph type="subTitle" idx="1"/>
          </p:nvPr>
        </p:nvSpPr>
        <p:spPr>
          <a:xfrm>
            <a:off x="1941911" y="5615074"/>
            <a:ext cx="6686549" cy="844712"/>
          </a:xfrm>
        </p:spPr>
        <p:txBody>
          <a:bodyPr>
            <a:normAutofit/>
          </a:bodyPr>
          <a:lstStyle/>
          <a:p>
            <a:r>
              <a:rPr lang="en-US" dirty="0"/>
              <a:t>Tweneboah-Koduah S.</a:t>
            </a:r>
            <a:endParaRPr lang="en-GB"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a:t>
            </a:fld>
            <a:endParaRPr kumimoji="0" lang="en-US" sz="1800" b="0" i="0" u="none" strike="noStrike" kern="0" cap="none" spc="0" normalizeH="0" baseline="0" noProof="0" dirty="0">
              <a:ln>
                <a:noFill/>
              </a:ln>
              <a:solidFill>
                <a:sysClr val="windowText" lastClr="000000"/>
              </a:solidFill>
              <a:effectLst/>
              <a:uLnTx/>
              <a:uFillTx/>
            </a:endParaRPr>
          </a:p>
        </p:txBody>
      </p:sp>
      <p:pic>
        <p:nvPicPr>
          <p:cNvPr id="6" name="Picture 5"/>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7150" y="1123906"/>
            <a:ext cx="1467901" cy="1664017"/>
          </a:xfrm>
          <a:prstGeom prst="rect">
            <a:avLst/>
          </a:prstGeom>
        </p:spPr>
      </p:pic>
    </p:spTree>
    <p:extLst>
      <p:ext uri="{BB962C8B-B14F-4D97-AF65-F5344CB8AC3E}">
        <p14:creationId xmlns:p14="http://schemas.microsoft.com/office/powerpoint/2010/main" val="4076966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Chapter 0 – Overview of course</a:t>
            </a:r>
          </a:p>
        </p:txBody>
      </p:sp>
      <p:sp>
        <p:nvSpPr>
          <p:cNvPr id="3" name="Subtitle 2"/>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3</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916074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Outline</a:t>
            </a:r>
            <a:endParaRPr lang="en-GB" dirty="0"/>
          </a:p>
        </p:txBody>
      </p:sp>
      <p:sp>
        <p:nvSpPr>
          <p:cNvPr id="3" name="Content Placeholder 2"/>
          <p:cNvSpPr>
            <a:spLocks noGrp="1"/>
          </p:cNvSpPr>
          <p:nvPr>
            <p:ph idx="1"/>
          </p:nvPr>
        </p:nvSpPr>
        <p:spPr>
          <a:xfrm>
            <a:off x="979884" y="1164921"/>
            <a:ext cx="4087418" cy="4351415"/>
          </a:xfrm>
        </p:spPr>
        <p:txBody>
          <a:bodyPr>
            <a:normAutofit/>
          </a:bodyPr>
          <a:lstStyle/>
          <a:p>
            <a:r>
              <a:rPr lang="en-GB" sz="2400" dirty="0"/>
              <a:t>Introduction to Communications Systems</a:t>
            </a:r>
          </a:p>
          <a:p>
            <a:r>
              <a:rPr lang="en-GB" sz="2400" dirty="0"/>
              <a:t>Probability and random processes</a:t>
            </a:r>
          </a:p>
          <a:p>
            <a:r>
              <a:rPr lang="en-GB" sz="2400" dirty="0"/>
              <a:t>Noise and Linear system analysis</a:t>
            </a:r>
          </a:p>
          <a:p>
            <a:r>
              <a:rPr lang="en-GB" sz="2400" dirty="0"/>
              <a:t>Amplitude Modulation</a:t>
            </a:r>
          </a:p>
          <a:p>
            <a:r>
              <a:rPr lang="en-GB" sz="2400" dirty="0"/>
              <a:t>Single-Sideband Techniques</a:t>
            </a:r>
          </a:p>
          <a:p>
            <a:r>
              <a:rPr lang="en-US" sz="2400" dirty="0"/>
              <a:t>Double-Sideband Techniques</a:t>
            </a:r>
            <a:endParaRPr lang="en-GB" sz="2400"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4</a:t>
            </a:fld>
            <a:endParaRPr lang="en-US" dirty="0"/>
          </a:p>
        </p:txBody>
      </p:sp>
      <p:sp>
        <p:nvSpPr>
          <p:cNvPr id="4" name="Content Placeholder 2"/>
          <p:cNvSpPr txBox="1">
            <a:spLocks/>
          </p:cNvSpPr>
          <p:nvPr/>
        </p:nvSpPr>
        <p:spPr>
          <a:xfrm>
            <a:off x="4866085" y="1164921"/>
            <a:ext cx="4087418" cy="4308555"/>
          </a:xfrm>
          <a:prstGeom prst="rect">
            <a:avLst/>
          </a:prstGeom>
        </p:spPr>
        <p:txBody>
          <a:bodyPr vert="horz" lIns="68580" tIns="34290" rIns="68580" bIns="3429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GB" dirty="0"/>
              <a:t>Linear Modulation</a:t>
            </a:r>
          </a:p>
          <a:p>
            <a:r>
              <a:rPr lang="en-US" dirty="0"/>
              <a:t>Angle Modulation</a:t>
            </a:r>
          </a:p>
          <a:p>
            <a:r>
              <a:rPr lang="en-GB" dirty="0"/>
              <a:t>Pulse Modulation</a:t>
            </a:r>
            <a:endParaRPr lang="en-US" dirty="0"/>
          </a:p>
          <a:p>
            <a:r>
              <a:rPr lang="en-US" dirty="0"/>
              <a:t>Effect of Noise in Communication Systems</a:t>
            </a:r>
            <a:endParaRPr lang="en-GB" dirty="0"/>
          </a:p>
          <a:p>
            <a:r>
              <a:rPr lang="en-GB" dirty="0"/>
              <a:t>Analogue Radio Receivers</a:t>
            </a:r>
            <a:endParaRPr lang="en-GB" dirty="0">
              <a:solidFill>
                <a:srgbClr val="FF0000"/>
              </a:solidFill>
            </a:endParaRPr>
          </a:p>
          <a:p>
            <a:r>
              <a:rPr lang="en-GB" dirty="0">
                <a:solidFill>
                  <a:srgbClr val="FF0000"/>
                </a:solidFill>
              </a:rPr>
              <a:t>Digital Modulation</a:t>
            </a:r>
          </a:p>
          <a:p>
            <a:r>
              <a:rPr lang="en-GB" dirty="0">
                <a:solidFill>
                  <a:srgbClr val="FF0000"/>
                </a:solidFill>
              </a:rPr>
              <a:t>Telecommunication, Communication Systems</a:t>
            </a:r>
          </a:p>
        </p:txBody>
      </p:sp>
    </p:spTree>
    <p:extLst>
      <p:ext uri="{BB962C8B-B14F-4D97-AF65-F5344CB8AC3E}">
        <p14:creationId xmlns:p14="http://schemas.microsoft.com/office/powerpoint/2010/main" val="222527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Objectives</a:t>
            </a:r>
            <a:endParaRPr lang="en-GB" dirty="0"/>
          </a:p>
        </p:txBody>
      </p:sp>
      <p:sp>
        <p:nvSpPr>
          <p:cNvPr id="3" name="Content Placeholder 2"/>
          <p:cNvSpPr>
            <a:spLocks noGrp="1"/>
          </p:cNvSpPr>
          <p:nvPr>
            <p:ph idx="1"/>
          </p:nvPr>
        </p:nvSpPr>
        <p:spPr>
          <a:xfrm>
            <a:off x="1113235" y="1139868"/>
            <a:ext cx="7514035" cy="2674897"/>
          </a:xfrm>
        </p:spPr>
        <p:txBody>
          <a:bodyPr>
            <a:normAutofit fontScale="62500" lnSpcReduction="20000"/>
          </a:bodyPr>
          <a:lstStyle/>
          <a:p>
            <a:r>
              <a:rPr lang="en-US" dirty="0"/>
              <a:t>Demonstrate knowledge and understanding in basic concept in analogue and digital communication</a:t>
            </a:r>
          </a:p>
          <a:p>
            <a:r>
              <a:rPr lang="en-US" dirty="0"/>
              <a:t>Understand the basic requirements of communication systems</a:t>
            </a:r>
          </a:p>
          <a:p>
            <a:r>
              <a:rPr lang="en-US" dirty="0"/>
              <a:t>Understand communication terminology and impairment of effective communication</a:t>
            </a:r>
          </a:p>
          <a:p>
            <a:r>
              <a:rPr lang="en-US" dirty="0"/>
              <a:t>Understand the implementation and limitations of modulation techniques</a:t>
            </a:r>
          </a:p>
          <a:p>
            <a:r>
              <a:rPr lang="en-US" dirty="0"/>
              <a:t>Future of electronic communication systems, etc.</a:t>
            </a:r>
            <a:endParaRPr lang="en-GB"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5</a:t>
            </a:fld>
            <a:endParaRPr lang="en-US" dirty="0"/>
          </a:p>
        </p:txBody>
      </p:sp>
      <p:sp>
        <p:nvSpPr>
          <p:cNvPr id="4" name="Content Placeholder 2"/>
          <p:cNvSpPr txBox="1">
            <a:spLocks/>
          </p:cNvSpPr>
          <p:nvPr/>
        </p:nvSpPr>
        <p:spPr>
          <a:xfrm>
            <a:off x="2371131" y="3829052"/>
            <a:ext cx="4998242" cy="2071688"/>
          </a:xfrm>
          <a:prstGeom prst="rect">
            <a:avLst/>
          </a:prstGeom>
          <a:solidFill>
            <a:schemeClr val="accent2">
              <a:lumMod val="75000"/>
            </a:schemeClr>
          </a:solidFill>
        </p:spPr>
        <p:txBody>
          <a:bodyPr vert="horz" lIns="68580" tIns="34290" rIns="68580" bIns="34290" rtlCol="0" anchor="ctr">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US" sz="1800" b="1" dirty="0">
                <a:solidFill>
                  <a:schemeClr val="bg1"/>
                </a:solidFill>
              </a:rPr>
              <a:t>Part I: Intro to communication systems</a:t>
            </a:r>
          </a:p>
          <a:p>
            <a:r>
              <a:rPr lang="en-US" sz="1800" b="1" dirty="0">
                <a:solidFill>
                  <a:schemeClr val="bg1"/>
                </a:solidFill>
              </a:rPr>
              <a:t>Part II: Signal sampling and spectral analysis</a:t>
            </a:r>
          </a:p>
          <a:p>
            <a:r>
              <a:rPr lang="en-US" sz="1800" b="1" dirty="0">
                <a:solidFill>
                  <a:schemeClr val="bg1"/>
                </a:solidFill>
              </a:rPr>
              <a:t>Part III: Modulation techniques</a:t>
            </a:r>
          </a:p>
          <a:p>
            <a:r>
              <a:rPr lang="en-US" sz="1800" b="1" dirty="0">
                <a:solidFill>
                  <a:schemeClr val="bg1"/>
                </a:solidFill>
              </a:rPr>
              <a:t>Part IV: Noise in communication systems</a:t>
            </a:r>
          </a:p>
          <a:p>
            <a:r>
              <a:rPr lang="en-US" sz="1800" b="1" dirty="0">
                <a:solidFill>
                  <a:schemeClr val="bg1"/>
                </a:solidFill>
              </a:rPr>
              <a:t>Part V: Analogue radio receivers</a:t>
            </a:r>
            <a:endParaRPr lang="en-GB" sz="1800" b="1" dirty="0">
              <a:solidFill>
                <a:schemeClr val="bg1"/>
              </a:solidFill>
            </a:endParaRPr>
          </a:p>
        </p:txBody>
      </p:sp>
    </p:spTree>
    <p:extLst>
      <p:ext uri="{BB962C8B-B14F-4D97-AF65-F5344CB8AC3E}">
        <p14:creationId xmlns:p14="http://schemas.microsoft.com/office/powerpoint/2010/main" val="2366878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endParaRPr lang="en-GB" dirty="0"/>
          </a:p>
        </p:txBody>
      </p:sp>
      <p:sp>
        <p:nvSpPr>
          <p:cNvPr id="3" name="Content Placeholder 2"/>
          <p:cNvSpPr>
            <a:spLocks noGrp="1"/>
          </p:cNvSpPr>
          <p:nvPr>
            <p:ph idx="1"/>
          </p:nvPr>
        </p:nvSpPr>
        <p:spPr>
          <a:solidFill>
            <a:schemeClr val="accent2">
              <a:lumMod val="75000"/>
            </a:schemeClr>
          </a:solidFill>
        </p:spPr>
        <p:txBody>
          <a:bodyPr>
            <a:normAutofit fontScale="85000" lnSpcReduction="20000"/>
          </a:bodyPr>
          <a:lstStyle/>
          <a:p>
            <a:r>
              <a:rPr lang="en-US" dirty="0">
                <a:solidFill>
                  <a:schemeClr val="bg1"/>
                </a:solidFill>
                <a:latin typeface="Calibri" panose="020F0502020204030204" pitchFamily="34" charset="0"/>
                <a:cs typeface="Arial" panose="020B0604020202020204" pitchFamily="34" charset="0"/>
              </a:rPr>
              <a:t>All contents or materials found in this booklet not limited to images or figures can be found in the following recommended textbooks</a:t>
            </a:r>
          </a:p>
          <a:p>
            <a:endParaRPr lang="en-GB" dirty="0">
              <a:solidFill>
                <a:schemeClr val="bg1"/>
              </a:solidFill>
              <a:latin typeface="Calibri" panose="020F0502020204030204" pitchFamily="34" charset="0"/>
              <a:cs typeface="Arial" panose="020B0604020202020204" pitchFamily="34" charset="0"/>
            </a:endParaRPr>
          </a:p>
          <a:p>
            <a:pPr lvl="1"/>
            <a:r>
              <a:rPr lang="en-US" dirty="0" err="1">
                <a:solidFill>
                  <a:schemeClr val="bg1"/>
                </a:solidFill>
                <a:latin typeface="Calibri" panose="020F0502020204030204" pitchFamily="34" charset="0"/>
                <a:cs typeface="Arial" panose="020B0604020202020204" pitchFamily="34" charset="0"/>
              </a:rPr>
              <a:t>Lathi</a:t>
            </a:r>
            <a:r>
              <a:rPr lang="en-US" dirty="0">
                <a:solidFill>
                  <a:schemeClr val="bg1"/>
                </a:solidFill>
                <a:latin typeface="Calibri" panose="020F0502020204030204" pitchFamily="34" charset="0"/>
                <a:cs typeface="Arial" panose="020B0604020202020204" pitchFamily="34" charset="0"/>
              </a:rPr>
              <a:t>, B.P. and Ding, </a:t>
            </a:r>
            <a:r>
              <a:rPr lang="en-US" dirty="0" err="1">
                <a:solidFill>
                  <a:schemeClr val="bg1"/>
                </a:solidFill>
                <a:latin typeface="Calibri" panose="020F0502020204030204" pitchFamily="34" charset="0"/>
                <a:cs typeface="Arial" panose="020B0604020202020204" pitchFamily="34" charset="0"/>
              </a:rPr>
              <a:t>Zhi</a:t>
            </a:r>
            <a:r>
              <a:rPr lang="en-US" dirty="0">
                <a:solidFill>
                  <a:schemeClr val="bg1"/>
                </a:solidFill>
                <a:latin typeface="Calibri" panose="020F0502020204030204" pitchFamily="34" charset="0"/>
                <a:cs typeface="Arial" panose="020B0604020202020204" pitchFamily="34" charset="0"/>
              </a:rPr>
              <a:t>, Modem Digital and Analog Communication Systems, Oxford University Press, Fourth Edition, 2009</a:t>
            </a:r>
            <a:endParaRPr lang="en-GB" dirty="0">
              <a:solidFill>
                <a:schemeClr val="bg1"/>
              </a:solidFill>
              <a:latin typeface="Calibri" panose="020F0502020204030204" pitchFamily="34" charset="0"/>
              <a:cs typeface="Arial" panose="020B0604020202020204" pitchFamily="34" charset="0"/>
            </a:endParaRPr>
          </a:p>
          <a:p>
            <a:pPr lvl="1"/>
            <a:r>
              <a:rPr lang="en-US" dirty="0" err="1">
                <a:solidFill>
                  <a:schemeClr val="bg1"/>
                </a:solidFill>
                <a:latin typeface="Calibri" panose="020F0502020204030204" pitchFamily="34" charset="0"/>
                <a:cs typeface="Arial" panose="020B0604020202020204" pitchFamily="34" charset="0"/>
              </a:rPr>
              <a:t>Proakis</a:t>
            </a:r>
            <a:r>
              <a:rPr lang="en-US" dirty="0">
                <a:solidFill>
                  <a:schemeClr val="bg1"/>
                </a:solidFill>
                <a:latin typeface="Calibri" panose="020F0502020204030204" pitchFamily="34" charset="0"/>
                <a:cs typeface="Arial" panose="020B0604020202020204" pitchFamily="34" charset="0"/>
              </a:rPr>
              <a:t>, John G. Digital Communications. 4th ed. New York, NY: McGraw-Hill, 2000. ISBN: 9780072321111.</a:t>
            </a:r>
            <a:endParaRPr lang="en-GB" dirty="0">
              <a:solidFill>
                <a:schemeClr val="bg1"/>
              </a:solidFill>
              <a:latin typeface="Calibri" panose="020F0502020204030204" pitchFamily="34" charset="0"/>
              <a:cs typeface="Arial" panose="020B0604020202020204" pitchFamily="34" charset="0"/>
            </a:endParaRPr>
          </a:p>
          <a:p>
            <a:pPr lvl="1"/>
            <a:r>
              <a:rPr lang="en-US" dirty="0" err="1">
                <a:solidFill>
                  <a:schemeClr val="bg1"/>
                </a:solidFill>
                <a:latin typeface="Calibri" panose="020F0502020204030204" pitchFamily="34" charset="0"/>
                <a:cs typeface="Arial" panose="020B0604020202020204" pitchFamily="34" charset="0"/>
              </a:rPr>
              <a:t>Proakis</a:t>
            </a:r>
            <a:r>
              <a:rPr lang="en-US" dirty="0">
                <a:solidFill>
                  <a:schemeClr val="bg1"/>
                </a:solidFill>
                <a:latin typeface="Calibri" panose="020F0502020204030204" pitchFamily="34" charset="0"/>
                <a:cs typeface="Arial" panose="020B0604020202020204" pitchFamily="34" charset="0"/>
              </a:rPr>
              <a:t>, John G. and </a:t>
            </a:r>
            <a:r>
              <a:rPr lang="en-US" dirty="0" err="1">
                <a:solidFill>
                  <a:schemeClr val="bg1"/>
                </a:solidFill>
                <a:latin typeface="Calibri" panose="020F0502020204030204" pitchFamily="34" charset="0"/>
                <a:cs typeface="Arial" panose="020B0604020202020204" pitchFamily="34" charset="0"/>
              </a:rPr>
              <a:t>Masoud</a:t>
            </a:r>
            <a:r>
              <a:rPr lang="en-US" dirty="0">
                <a:solidFill>
                  <a:schemeClr val="bg1"/>
                </a:solidFill>
                <a:latin typeface="Calibri" panose="020F0502020204030204" pitchFamily="34" charset="0"/>
                <a:cs typeface="Arial" panose="020B0604020202020204" pitchFamily="34" charset="0"/>
              </a:rPr>
              <a:t> </a:t>
            </a:r>
            <a:r>
              <a:rPr lang="en-US" dirty="0" err="1">
                <a:solidFill>
                  <a:schemeClr val="bg1"/>
                </a:solidFill>
                <a:latin typeface="Calibri" panose="020F0502020204030204" pitchFamily="34" charset="0"/>
                <a:cs typeface="Arial" panose="020B0604020202020204" pitchFamily="34" charset="0"/>
              </a:rPr>
              <a:t>Salehi</a:t>
            </a:r>
            <a:r>
              <a:rPr lang="en-US" dirty="0">
                <a:solidFill>
                  <a:schemeClr val="bg1"/>
                </a:solidFill>
                <a:latin typeface="Calibri" panose="020F0502020204030204" pitchFamily="34" charset="0"/>
                <a:cs typeface="Arial" panose="020B0604020202020204" pitchFamily="34" charset="0"/>
              </a:rPr>
              <a:t> Communications System </a:t>
            </a:r>
            <a:r>
              <a:rPr lang="en-US" dirty="0" err="1">
                <a:solidFill>
                  <a:schemeClr val="bg1"/>
                </a:solidFill>
                <a:latin typeface="Calibri" panose="020F0502020204030204" pitchFamily="34" charset="0"/>
                <a:cs typeface="Arial" panose="020B0604020202020204" pitchFamily="34" charset="0"/>
              </a:rPr>
              <a:t>Engieering</a:t>
            </a:r>
            <a:r>
              <a:rPr lang="en-US" dirty="0">
                <a:solidFill>
                  <a:schemeClr val="bg1"/>
                </a:solidFill>
                <a:latin typeface="Calibri" panose="020F0502020204030204" pitchFamily="34" charset="0"/>
                <a:cs typeface="Arial" panose="020B0604020202020204" pitchFamily="34" charset="0"/>
              </a:rPr>
              <a:t>. 2nd ed. Upper Saddle River, NJ: Prentice Hall, 2001. ISBN: 9780130617934</a:t>
            </a:r>
            <a:endParaRPr lang="en-GB" dirty="0">
              <a:solidFill>
                <a:schemeClr val="bg1"/>
              </a:solidFill>
              <a:latin typeface="Calibri" panose="020F0502020204030204" pitchFamily="34" charset="0"/>
              <a:cs typeface="Arial" panose="020B0604020202020204" pitchFamily="34" charset="0"/>
            </a:endParaRPr>
          </a:p>
          <a:p>
            <a:pPr lvl="1"/>
            <a:r>
              <a:rPr lang="en-US" dirty="0">
                <a:solidFill>
                  <a:schemeClr val="bg1"/>
                </a:solidFill>
                <a:latin typeface="Calibri" panose="020F0502020204030204" pitchFamily="34" charset="0"/>
                <a:cs typeface="Arial" panose="020B0604020202020204" pitchFamily="34" charset="0"/>
              </a:rPr>
              <a:t>S. </a:t>
            </a:r>
            <a:r>
              <a:rPr lang="en-US" dirty="0" err="1">
                <a:solidFill>
                  <a:schemeClr val="bg1"/>
                </a:solidFill>
                <a:latin typeface="Calibri" panose="020F0502020204030204" pitchFamily="34" charset="0"/>
                <a:cs typeface="Arial" panose="020B0604020202020204" pitchFamily="34" charset="0"/>
              </a:rPr>
              <a:t>Haykin</a:t>
            </a:r>
            <a:r>
              <a:rPr lang="en-US" dirty="0">
                <a:solidFill>
                  <a:schemeClr val="bg1"/>
                </a:solidFill>
                <a:latin typeface="Calibri" panose="020F0502020204030204" pitchFamily="34" charset="0"/>
                <a:cs typeface="Arial" panose="020B0604020202020204" pitchFamily="34" charset="0"/>
              </a:rPr>
              <a:t>, Communication Systems, Wiley, 2001</a:t>
            </a:r>
            <a:endParaRPr lang="en-GB" dirty="0">
              <a:solidFill>
                <a:schemeClr val="bg1"/>
              </a:solidFill>
              <a:latin typeface="Calibri" panose="020F0502020204030204" pitchFamily="34" charset="0"/>
              <a:cs typeface="Arial" panose="020B0604020202020204" pitchFamily="34" charset="0"/>
            </a:endParaRPr>
          </a:p>
          <a:p>
            <a:pPr lvl="1"/>
            <a:r>
              <a:rPr lang="en-US" dirty="0">
                <a:solidFill>
                  <a:schemeClr val="bg1"/>
                </a:solidFill>
                <a:latin typeface="Calibri" panose="020F0502020204030204" pitchFamily="34" charset="0"/>
                <a:cs typeface="Arial" panose="020B0604020202020204" pitchFamily="34" charset="0"/>
              </a:rPr>
              <a:t>L.W. Couch II, Digital and Analog Communication Systems,</a:t>
            </a:r>
            <a:r>
              <a:rPr lang="en-GB" dirty="0">
                <a:solidFill>
                  <a:schemeClr val="bg1"/>
                </a:solidFill>
                <a:latin typeface="Calibri" panose="020F0502020204030204" pitchFamily="34" charset="0"/>
                <a:cs typeface="Arial" panose="020B0604020202020204" pitchFamily="34" charset="0"/>
              </a:rPr>
              <a:t> </a:t>
            </a:r>
            <a:r>
              <a:rPr lang="en-US" dirty="0">
                <a:solidFill>
                  <a:schemeClr val="bg1"/>
                </a:solidFill>
                <a:latin typeface="Calibri" panose="020F0502020204030204" pitchFamily="34" charset="0"/>
                <a:cs typeface="Arial" panose="020B0604020202020204" pitchFamily="34" charset="0"/>
              </a:rPr>
              <a:t>Prentice-Hall, 2001</a:t>
            </a:r>
            <a:endParaRPr lang="en-GB" dirty="0">
              <a:solidFill>
                <a:schemeClr val="bg1"/>
              </a:solidFill>
              <a:latin typeface="Calibri" panose="020F050202020403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1099841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 ONE – Introduction to Communication Systems</a:t>
            </a:r>
            <a:endParaRPr lang="en-GB" dirty="0"/>
          </a:p>
        </p:txBody>
      </p:sp>
      <p:sp>
        <p:nvSpPr>
          <p:cNvPr id="3" name="Text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7</a:t>
            </a:fld>
            <a:endParaRPr lang="en-US" dirty="0"/>
          </a:p>
        </p:txBody>
      </p:sp>
      <p:sp>
        <p:nvSpPr>
          <p:cNvPr id="6" name="Rectangle 5"/>
          <p:cNvSpPr/>
          <p:nvPr/>
        </p:nvSpPr>
        <p:spPr>
          <a:xfrm>
            <a:off x="764088" y="1338986"/>
            <a:ext cx="7769676" cy="954107"/>
          </a:xfrm>
          <a:prstGeom prst="rect">
            <a:avLst/>
          </a:prstGeom>
        </p:spPr>
        <p:txBody>
          <a:bodyPr wrap="square">
            <a:spAutoFit/>
          </a:bodyPr>
          <a:lstStyle/>
          <a:p>
            <a:r>
              <a:rPr lang="en-US" b="1" i="1" dirty="0"/>
              <a:t>Quote: </a:t>
            </a:r>
            <a:r>
              <a:rPr lang="en-US" i="1" dirty="0"/>
              <a:t>This mind is not an empty vessel to be filled but a powerhouse to be ignited</a:t>
            </a:r>
          </a:p>
          <a:p>
            <a:pPr algn="ctr"/>
            <a:r>
              <a:rPr lang="en-US" sz="2000" i="1" dirty="0"/>
              <a:t>– Plutarch</a:t>
            </a:r>
          </a:p>
        </p:txBody>
      </p:sp>
    </p:spTree>
    <p:extLst>
      <p:ext uri="{BB962C8B-B14F-4D97-AF65-F5344CB8AC3E}">
        <p14:creationId xmlns:p14="http://schemas.microsoft.com/office/powerpoint/2010/main" val="3806890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r>
              <a:rPr lang="en-US" sz="4000" dirty="0"/>
              <a:t>Introduction to Communication Systems</a:t>
            </a:r>
            <a:endParaRPr lang="en-GB" sz="4000" dirty="0"/>
          </a:p>
        </p:txBody>
      </p:sp>
      <p:sp>
        <p:nvSpPr>
          <p:cNvPr id="2" name="Slide Number Placeholder 1"/>
          <p:cNvSpPr>
            <a:spLocks noGrp="1"/>
          </p:cNvSpPr>
          <p:nvPr>
            <p:ph type="sldNum" sz="quarter" idx="12"/>
          </p:nvPr>
        </p:nvSpPr>
        <p:spPr/>
        <p:txBody>
          <a:bodyPr/>
          <a:lstStyle/>
          <a:p>
            <a:fld id="{D57F1E4F-1CFF-5643-939E-217C01CDF565}" type="slidenum">
              <a:rPr lang="en-US" smtClean="0"/>
              <a:pPr/>
              <a:t>8</a:t>
            </a:fld>
            <a:endParaRPr lang="en-US" dirty="0"/>
          </a:p>
        </p:txBody>
      </p:sp>
      <p:pic>
        <p:nvPicPr>
          <p:cNvPr id="5" name="Picture 4"/>
          <p:cNvPicPr>
            <a:picLocks noChangeAspect="1"/>
          </p:cNvPicPr>
          <p:nvPr/>
        </p:nvPicPr>
        <p:blipFill>
          <a:blip r:embed="rId3"/>
          <a:stretch>
            <a:fillRect/>
          </a:stretch>
        </p:blipFill>
        <p:spPr>
          <a:xfrm>
            <a:off x="884542" y="3236557"/>
            <a:ext cx="946023" cy="1403459"/>
          </a:xfrm>
          <a:prstGeom prst="rect">
            <a:avLst/>
          </a:prstGeom>
        </p:spPr>
      </p:pic>
      <p:sp>
        <p:nvSpPr>
          <p:cNvPr id="7" name="Rectangle 6"/>
          <p:cNvSpPr/>
          <p:nvPr/>
        </p:nvSpPr>
        <p:spPr>
          <a:xfrm>
            <a:off x="1925554" y="2529923"/>
            <a:ext cx="1207008" cy="178308"/>
          </a:xfrm>
          <a:prstGeom prst="rect">
            <a:avLst/>
          </a:prstGeom>
        </p:spPr>
        <p:txBody>
          <a:bodyPr wrap="none" lIns="0" tIns="0" rIns="0" bIns="0">
            <a:noAutofit/>
          </a:bodyPr>
          <a:lstStyle/>
          <a:p>
            <a:r>
              <a:rPr lang="en-US" sz="1875" dirty="0">
                <a:solidFill>
                  <a:srgbClr val="3A3D3A"/>
                </a:solidFill>
                <a:latin typeface="Arial"/>
              </a:rPr>
              <a:t>Tribal</a:t>
            </a:r>
          </a:p>
          <a:p>
            <a:r>
              <a:rPr lang="en-US" sz="1875" dirty="0">
                <a:solidFill>
                  <a:srgbClr val="3A3D3A"/>
                </a:solidFill>
                <a:latin typeface="Arial"/>
              </a:rPr>
              <a:t>Drum</a:t>
            </a:r>
          </a:p>
        </p:txBody>
      </p:sp>
      <p:sp>
        <p:nvSpPr>
          <p:cNvPr id="8" name="Rectangle 7"/>
          <p:cNvSpPr/>
          <p:nvPr/>
        </p:nvSpPr>
        <p:spPr>
          <a:xfrm>
            <a:off x="7197857" y="2557133"/>
            <a:ext cx="1417320" cy="205740"/>
          </a:xfrm>
          <a:prstGeom prst="rect">
            <a:avLst/>
          </a:prstGeom>
        </p:spPr>
        <p:txBody>
          <a:bodyPr wrap="none" lIns="0" tIns="0" rIns="0" bIns="0">
            <a:noAutofit/>
          </a:bodyPr>
          <a:lstStyle/>
          <a:p>
            <a:r>
              <a:rPr lang="en-US" sz="1875" dirty="0">
                <a:solidFill>
                  <a:srgbClr val="3A3D3A"/>
                </a:solidFill>
                <a:latin typeface="Arial"/>
              </a:rPr>
              <a:t>Morse Code</a:t>
            </a:r>
          </a:p>
        </p:txBody>
      </p:sp>
      <p:sp>
        <p:nvSpPr>
          <p:cNvPr id="9" name="Rectangle 8"/>
          <p:cNvSpPr/>
          <p:nvPr/>
        </p:nvSpPr>
        <p:spPr>
          <a:xfrm>
            <a:off x="1038707" y="2518271"/>
            <a:ext cx="1469898" cy="244602"/>
          </a:xfrm>
          <a:prstGeom prst="rect">
            <a:avLst/>
          </a:prstGeom>
        </p:spPr>
        <p:txBody>
          <a:bodyPr wrap="none" lIns="0" tIns="0" rIns="0" bIns="0">
            <a:noAutofit/>
          </a:bodyPr>
          <a:lstStyle/>
          <a:p>
            <a:r>
              <a:rPr lang="en-US" sz="1875" dirty="0">
                <a:solidFill>
                  <a:srgbClr val="3A3D3A"/>
                </a:solidFill>
                <a:latin typeface="Arial"/>
              </a:rPr>
              <a:t>Smoke</a:t>
            </a:r>
          </a:p>
          <a:p>
            <a:r>
              <a:rPr lang="en-US" sz="1875" dirty="0">
                <a:solidFill>
                  <a:srgbClr val="3A3D3A"/>
                </a:solidFill>
                <a:latin typeface="Arial"/>
              </a:rPr>
              <a:t>Signal</a:t>
            </a:r>
          </a:p>
        </p:txBody>
      </p:sp>
      <p:pic>
        <p:nvPicPr>
          <p:cNvPr id="10" name="Picture 9"/>
          <p:cNvPicPr>
            <a:picLocks noChangeAspect="1"/>
          </p:cNvPicPr>
          <p:nvPr/>
        </p:nvPicPr>
        <p:blipFill rotWithShape="1">
          <a:blip r:embed="rId4"/>
          <a:srcRect l="38384" r="41638" b="27288"/>
          <a:stretch/>
        </p:blipFill>
        <p:spPr>
          <a:xfrm>
            <a:off x="1917024" y="3236559"/>
            <a:ext cx="826064" cy="1403459"/>
          </a:xfrm>
          <a:prstGeom prst="rect">
            <a:avLst/>
          </a:prstGeom>
        </p:spPr>
      </p:pic>
      <p:pic>
        <p:nvPicPr>
          <p:cNvPr id="12" name="Picture 31" descr="MCj02873220000[1]"/>
          <p:cNvPicPr>
            <a:picLocks noChangeAspect="1" noChangeArrowheads="1"/>
          </p:cNvPicPr>
          <p:nvPr/>
        </p:nvPicPr>
        <p:blipFill>
          <a:blip r:embed="rId5"/>
          <a:srcRect/>
          <a:stretch>
            <a:fillRect/>
          </a:stretch>
        </p:blipFill>
        <p:spPr bwMode="auto">
          <a:xfrm>
            <a:off x="2904796" y="3510458"/>
            <a:ext cx="1791422" cy="783858"/>
          </a:xfrm>
          <a:prstGeom prst="rect">
            <a:avLst/>
          </a:prstGeom>
          <a:noFill/>
          <a:ln w="9525">
            <a:noFill/>
            <a:miter lim="800000"/>
            <a:headEnd/>
            <a:tailEnd/>
          </a:ln>
          <a:effectLst/>
        </p:spPr>
      </p:pic>
      <p:grpSp>
        <p:nvGrpSpPr>
          <p:cNvPr id="20" name="Group 37"/>
          <p:cNvGrpSpPr>
            <a:grpSpLocks/>
          </p:cNvGrpSpPr>
          <p:nvPr/>
        </p:nvGrpSpPr>
        <p:grpSpPr bwMode="auto">
          <a:xfrm>
            <a:off x="4971641" y="3383542"/>
            <a:ext cx="2090799" cy="729299"/>
            <a:chOff x="575" y="2183"/>
            <a:chExt cx="4697" cy="1666"/>
          </a:xfrm>
        </p:grpSpPr>
        <p:pic>
          <p:nvPicPr>
            <p:cNvPr id="21" name="Picture 38"/>
            <p:cNvPicPr>
              <a:picLocks noChangeAspect="1" noChangeArrowheads="1"/>
            </p:cNvPicPr>
            <p:nvPr/>
          </p:nvPicPr>
          <p:blipFill>
            <a:blip r:embed="rId6"/>
            <a:srcRect/>
            <a:stretch>
              <a:fillRect/>
            </a:stretch>
          </p:blipFill>
          <p:spPr bwMode="auto">
            <a:xfrm>
              <a:off x="575" y="2492"/>
              <a:ext cx="721" cy="659"/>
            </a:xfrm>
            <a:prstGeom prst="rect">
              <a:avLst/>
            </a:prstGeom>
            <a:noFill/>
          </p:spPr>
        </p:pic>
        <p:pic>
          <p:nvPicPr>
            <p:cNvPr id="22" name="Picture 39"/>
            <p:cNvPicPr>
              <a:picLocks noChangeAspect="1" noChangeArrowheads="1"/>
            </p:cNvPicPr>
            <p:nvPr/>
          </p:nvPicPr>
          <p:blipFill>
            <a:blip r:embed="rId6"/>
            <a:srcRect/>
            <a:stretch>
              <a:fillRect/>
            </a:stretch>
          </p:blipFill>
          <p:spPr bwMode="auto">
            <a:xfrm>
              <a:off x="4551" y="3148"/>
              <a:ext cx="721" cy="659"/>
            </a:xfrm>
            <a:prstGeom prst="rect">
              <a:avLst/>
            </a:prstGeom>
            <a:noFill/>
          </p:spPr>
        </p:pic>
        <p:grpSp>
          <p:nvGrpSpPr>
            <p:cNvPr id="23" name="Group 40"/>
            <p:cNvGrpSpPr>
              <a:grpSpLocks/>
            </p:cNvGrpSpPr>
            <p:nvPr/>
          </p:nvGrpSpPr>
          <p:grpSpPr bwMode="auto">
            <a:xfrm>
              <a:off x="1295" y="2183"/>
              <a:ext cx="3556" cy="1666"/>
              <a:chOff x="1695" y="2167"/>
              <a:chExt cx="3556" cy="1666"/>
            </a:xfrm>
          </p:grpSpPr>
          <p:grpSp>
            <p:nvGrpSpPr>
              <p:cNvPr id="24" name="Group 41"/>
              <p:cNvGrpSpPr>
                <a:grpSpLocks/>
              </p:cNvGrpSpPr>
              <p:nvPr/>
            </p:nvGrpSpPr>
            <p:grpSpPr bwMode="auto">
              <a:xfrm>
                <a:off x="4039" y="2167"/>
                <a:ext cx="1212" cy="1658"/>
                <a:chOff x="1263" y="2047"/>
                <a:chExt cx="1212" cy="1658"/>
              </a:xfrm>
            </p:grpSpPr>
            <p:pic>
              <p:nvPicPr>
                <p:cNvPr id="35" name="Picture 42" descr="pe01832_"/>
                <p:cNvPicPr>
                  <a:picLocks noChangeAspect="1" noChangeArrowheads="1"/>
                </p:cNvPicPr>
                <p:nvPr/>
              </p:nvPicPr>
              <p:blipFill>
                <a:blip r:embed="rId7"/>
                <a:srcRect/>
                <a:stretch>
                  <a:fillRect/>
                </a:stretch>
              </p:blipFill>
              <p:spPr bwMode="auto">
                <a:xfrm>
                  <a:off x="1263" y="2047"/>
                  <a:ext cx="1212" cy="1108"/>
                </a:xfrm>
                <a:prstGeom prst="rect">
                  <a:avLst/>
                </a:prstGeom>
                <a:noFill/>
                <a:ln w="9525">
                  <a:noFill/>
                  <a:miter lim="800000"/>
                  <a:headEnd/>
                  <a:tailEnd/>
                </a:ln>
                <a:effectLst/>
              </p:spPr>
            </p:pic>
            <p:sp>
              <p:nvSpPr>
                <p:cNvPr id="36" name="Firewall"/>
                <p:cNvSpPr>
                  <a:spLocks noEditPoints="1" noChangeArrowheads="1"/>
                </p:cNvSpPr>
                <p:nvPr/>
              </p:nvSpPr>
              <p:spPr bwMode="auto">
                <a:xfrm>
                  <a:off x="1539" y="3135"/>
                  <a:ext cx="461" cy="570"/>
                </a:xfrm>
                <a:custGeom>
                  <a:avLst/>
                  <a:gdLst>
                    <a:gd name="T0" fmla="*/ 0 w 21600"/>
                    <a:gd name="T1" fmla="*/ 0 h 21600"/>
                    <a:gd name="T2" fmla="*/ 10800 w 21600"/>
                    <a:gd name="T3" fmla="*/ 0 h 21600"/>
                    <a:gd name="T4" fmla="*/ 21600 w 21600"/>
                    <a:gd name="T5" fmla="*/ 0 h 21600"/>
                    <a:gd name="T6" fmla="*/ 21060 w 21600"/>
                    <a:gd name="T7" fmla="*/ 10800 h 21600"/>
                    <a:gd name="T8" fmla="*/ 21060 w 21600"/>
                    <a:gd name="T9" fmla="*/ 21600 h 21600"/>
                    <a:gd name="T10" fmla="*/ 10800 w 21600"/>
                    <a:gd name="T11" fmla="*/ 21600 h 21600"/>
                    <a:gd name="T12" fmla="*/ 540 w 21600"/>
                    <a:gd name="T13" fmla="*/ 21600 h 21600"/>
                    <a:gd name="T14" fmla="*/ 540 w 21600"/>
                    <a:gd name="T15" fmla="*/ 10800 h 21600"/>
                    <a:gd name="T16" fmla="*/ 761 w 21600"/>
                    <a:gd name="T17" fmla="*/ 22454 h 21600"/>
                    <a:gd name="T18" fmla="*/ 21069 w 21600"/>
                    <a:gd name="T19" fmla="*/ 32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headEnd/>
                  <a:tailEnd/>
                </a:ln>
                <a:effectLst/>
              </p:spPr>
              <p:txBody>
                <a:bodyPr/>
                <a:lstStyle/>
                <a:p>
                  <a:endParaRPr lang="en-US" sz="1350"/>
                </a:p>
              </p:txBody>
            </p:sp>
          </p:grpSp>
          <p:grpSp>
            <p:nvGrpSpPr>
              <p:cNvPr id="25" name="Group 44"/>
              <p:cNvGrpSpPr>
                <a:grpSpLocks/>
              </p:cNvGrpSpPr>
              <p:nvPr/>
            </p:nvGrpSpPr>
            <p:grpSpPr bwMode="auto">
              <a:xfrm>
                <a:off x="3007" y="2175"/>
                <a:ext cx="1212" cy="1658"/>
                <a:chOff x="1263" y="2047"/>
                <a:chExt cx="1212" cy="1658"/>
              </a:xfrm>
            </p:grpSpPr>
            <p:pic>
              <p:nvPicPr>
                <p:cNvPr id="33" name="Picture 45" descr="pe01832_"/>
                <p:cNvPicPr>
                  <a:picLocks noChangeAspect="1" noChangeArrowheads="1"/>
                </p:cNvPicPr>
                <p:nvPr/>
              </p:nvPicPr>
              <p:blipFill>
                <a:blip r:embed="rId7"/>
                <a:srcRect/>
                <a:stretch>
                  <a:fillRect/>
                </a:stretch>
              </p:blipFill>
              <p:spPr bwMode="auto">
                <a:xfrm>
                  <a:off x="1263" y="2047"/>
                  <a:ext cx="1212" cy="1108"/>
                </a:xfrm>
                <a:prstGeom prst="rect">
                  <a:avLst/>
                </a:prstGeom>
                <a:noFill/>
                <a:ln w="9525">
                  <a:noFill/>
                  <a:miter lim="800000"/>
                  <a:headEnd/>
                  <a:tailEnd/>
                </a:ln>
                <a:effectLst/>
              </p:spPr>
            </p:pic>
            <p:sp>
              <p:nvSpPr>
                <p:cNvPr id="34" name="Firewall"/>
                <p:cNvSpPr>
                  <a:spLocks noEditPoints="1" noChangeArrowheads="1"/>
                </p:cNvSpPr>
                <p:nvPr/>
              </p:nvSpPr>
              <p:spPr bwMode="auto">
                <a:xfrm>
                  <a:off x="1539" y="3135"/>
                  <a:ext cx="461" cy="570"/>
                </a:xfrm>
                <a:custGeom>
                  <a:avLst/>
                  <a:gdLst>
                    <a:gd name="T0" fmla="*/ 0 w 21600"/>
                    <a:gd name="T1" fmla="*/ 0 h 21600"/>
                    <a:gd name="T2" fmla="*/ 10800 w 21600"/>
                    <a:gd name="T3" fmla="*/ 0 h 21600"/>
                    <a:gd name="T4" fmla="*/ 21600 w 21600"/>
                    <a:gd name="T5" fmla="*/ 0 h 21600"/>
                    <a:gd name="T6" fmla="*/ 21060 w 21600"/>
                    <a:gd name="T7" fmla="*/ 10800 h 21600"/>
                    <a:gd name="T8" fmla="*/ 21060 w 21600"/>
                    <a:gd name="T9" fmla="*/ 21600 h 21600"/>
                    <a:gd name="T10" fmla="*/ 10800 w 21600"/>
                    <a:gd name="T11" fmla="*/ 21600 h 21600"/>
                    <a:gd name="T12" fmla="*/ 540 w 21600"/>
                    <a:gd name="T13" fmla="*/ 21600 h 21600"/>
                    <a:gd name="T14" fmla="*/ 540 w 21600"/>
                    <a:gd name="T15" fmla="*/ 10800 h 21600"/>
                    <a:gd name="T16" fmla="*/ 761 w 21600"/>
                    <a:gd name="T17" fmla="*/ 22454 h 21600"/>
                    <a:gd name="T18" fmla="*/ 21069 w 21600"/>
                    <a:gd name="T19" fmla="*/ 32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headEnd/>
                  <a:tailEnd/>
                </a:ln>
                <a:effectLst/>
              </p:spPr>
              <p:txBody>
                <a:bodyPr/>
                <a:lstStyle/>
                <a:p>
                  <a:endParaRPr lang="en-US" sz="1350"/>
                </a:p>
              </p:txBody>
            </p:sp>
          </p:grpSp>
          <p:grpSp>
            <p:nvGrpSpPr>
              <p:cNvPr id="26" name="Group 47"/>
              <p:cNvGrpSpPr>
                <a:grpSpLocks/>
              </p:cNvGrpSpPr>
              <p:nvPr/>
            </p:nvGrpSpPr>
            <p:grpSpPr bwMode="auto">
              <a:xfrm>
                <a:off x="1695" y="2167"/>
                <a:ext cx="1212" cy="1658"/>
                <a:chOff x="1263" y="2047"/>
                <a:chExt cx="1212" cy="1658"/>
              </a:xfrm>
            </p:grpSpPr>
            <p:pic>
              <p:nvPicPr>
                <p:cNvPr id="31" name="Picture 48" descr="pe01832_"/>
                <p:cNvPicPr>
                  <a:picLocks noChangeAspect="1" noChangeArrowheads="1"/>
                </p:cNvPicPr>
                <p:nvPr/>
              </p:nvPicPr>
              <p:blipFill>
                <a:blip r:embed="rId7"/>
                <a:srcRect/>
                <a:stretch>
                  <a:fillRect/>
                </a:stretch>
              </p:blipFill>
              <p:spPr bwMode="auto">
                <a:xfrm>
                  <a:off x="1263" y="2047"/>
                  <a:ext cx="1212" cy="1108"/>
                </a:xfrm>
                <a:prstGeom prst="rect">
                  <a:avLst/>
                </a:prstGeom>
                <a:noFill/>
                <a:ln w="9525">
                  <a:noFill/>
                  <a:miter lim="800000"/>
                  <a:headEnd/>
                  <a:tailEnd/>
                </a:ln>
                <a:effectLst/>
              </p:spPr>
            </p:pic>
            <p:sp>
              <p:nvSpPr>
                <p:cNvPr id="32" name="Firewall"/>
                <p:cNvSpPr>
                  <a:spLocks noEditPoints="1" noChangeArrowheads="1"/>
                </p:cNvSpPr>
                <p:nvPr/>
              </p:nvSpPr>
              <p:spPr bwMode="auto">
                <a:xfrm>
                  <a:off x="1539" y="3135"/>
                  <a:ext cx="461" cy="570"/>
                </a:xfrm>
                <a:custGeom>
                  <a:avLst/>
                  <a:gdLst>
                    <a:gd name="T0" fmla="*/ 0 w 21600"/>
                    <a:gd name="T1" fmla="*/ 0 h 21600"/>
                    <a:gd name="T2" fmla="*/ 10800 w 21600"/>
                    <a:gd name="T3" fmla="*/ 0 h 21600"/>
                    <a:gd name="T4" fmla="*/ 21600 w 21600"/>
                    <a:gd name="T5" fmla="*/ 0 h 21600"/>
                    <a:gd name="T6" fmla="*/ 21060 w 21600"/>
                    <a:gd name="T7" fmla="*/ 10800 h 21600"/>
                    <a:gd name="T8" fmla="*/ 21060 w 21600"/>
                    <a:gd name="T9" fmla="*/ 21600 h 21600"/>
                    <a:gd name="T10" fmla="*/ 10800 w 21600"/>
                    <a:gd name="T11" fmla="*/ 21600 h 21600"/>
                    <a:gd name="T12" fmla="*/ 540 w 21600"/>
                    <a:gd name="T13" fmla="*/ 21600 h 21600"/>
                    <a:gd name="T14" fmla="*/ 540 w 21600"/>
                    <a:gd name="T15" fmla="*/ 10800 h 21600"/>
                    <a:gd name="T16" fmla="*/ 761 w 21600"/>
                    <a:gd name="T17" fmla="*/ 22454 h 21600"/>
                    <a:gd name="T18" fmla="*/ 21069 w 21600"/>
                    <a:gd name="T19" fmla="*/ 32282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540" y="4628"/>
                      </a:moveTo>
                      <a:lnTo>
                        <a:pt x="0" y="4628"/>
                      </a:lnTo>
                      <a:lnTo>
                        <a:pt x="0" y="0"/>
                      </a:lnTo>
                      <a:lnTo>
                        <a:pt x="21600" y="0"/>
                      </a:lnTo>
                      <a:lnTo>
                        <a:pt x="21600" y="4628"/>
                      </a:lnTo>
                      <a:lnTo>
                        <a:pt x="21060" y="4628"/>
                      </a:lnTo>
                      <a:lnTo>
                        <a:pt x="21060" y="21600"/>
                      </a:lnTo>
                      <a:lnTo>
                        <a:pt x="540" y="21600"/>
                      </a:lnTo>
                      <a:lnTo>
                        <a:pt x="540" y="4628"/>
                      </a:lnTo>
                      <a:close/>
                    </a:path>
                    <a:path w="21600" h="21600" extrusionOk="0">
                      <a:moveTo>
                        <a:pt x="540" y="4628"/>
                      </a:moveTo>
                      <a:lnTo>
                        <a:pt x="540" y="6171"/>
                      </a:lnTo>
                      <a:lnTo>
                        <a:pt x="2700" y="6171"/>
                      </a:lnTo>
                      <a:lnTo>
                        <a:pt x="2700" y="4628"/>
                      </a:lnTo>
                      <a:lnTo>
                        <a:pt x="540" y="4628"/>
                      </a:lnTo>
                      <a:close/>
                    </a:path>
                    <a:path w="21600" h="21600" extrusionOk="0">
                      <a:moveTo>
                        <a:pt x="2700" y="4628"/>
                      </a:moveTo>
                      <a:lnTo>
                        <a:pt x="2700" y="6171"/>
                      </a:lnTo>
                      <a:lnTo>
                        <a:pt x="4860" y="6171"/>
                      </a:lnTo>
                      <a:lnTo>
                        <a:pt x="4860" y="4628"/>
                      </a:lnTo>
                      <a:lnTo>
                        <a:pt x="2700" y="4628"/>
                      </a:lnTo>
                      <a:close/>
                    </a:path>
                    <a:path w="21600" h="21600" extrusionOk="0">
                      <a:moveTo>
                        <a:pt x="4860" y="4628"/>
                      </a:moveTo>
                      <a:lnTo>
                        <a:pt x="4860" y="6171"/>
                      </a:lnTo>
                      <a:lnTo>
                        <a:pt x="7020" y="6171"/>
                      </a:lnTo>
                      <a:lnTo>
                        <a:pt x="7020" y="4628"/>
                      </a:lnTo>
                      <a:lnTo>
                        <a:pt x="4860" y="4628"/>
                      </a:lnTo>
                      <a:close/>
                    </a:path>
                    <a:path w="21600" h="21600" extrusionOk="0">
                      <a:moveTo>
                        <a:pt x="7020" y="4628"/>
                      </a:moveTo>
                      <a:lnTo>
                        <a:pt x="7020" y="6171"/>
                      </a:lnTo>
                      <a:lnTo>
                        <a:pt x="9180" y="6171"/>
                      </a:lnTo>
                      <a:lnTo>
                        <a:pt x="9180" y="4628"/>
                      </a:lnTo>
                      <a:lnTo>
                        <a:pt x="7020" y="4628"/>
                      </a:lnTo>
                      <a:close/>
                    </a:path>
                    <a:path w="21600" h="21600" extrusionOk="0">
                      <a:moveTo>
                        <a:pt x="9180" y="4628"/>
                      </a:moveTo>
                      <a:lnTo>
                        <a:pt x="9180" y="6171"/>
                      </a:lnTo>
                      <a:lnTo>
                        <a:pt x="11340" y="6171"/>
                      </a:lnTo>
                      <a:lnTo>
                        <a:pt x="11340" y="4628"/>
                      </a:lnTo>
                      <a:lnTo>
                        <a:pt x="9180" y="4628"/>
                      </a:lnTo>
                      <a:close/>
                    </a:path>
                    <a:path w="21600" h="21600" extrusionOk="0">
                      <a:moveTo>
                        <a:pt x="11340" y="4628"/>
                      </a:moveTo>
                      <a:lnTo>
                        <a:pt x="11340" y="6171"/>
                      </a:lnTo>
                      <a:lnTo>
                        <a:pt x="13500" y="6171"/>
                      </a:lnTo>
                      <a:lnTo>
                        <a:pt x="13500" y="4628"/>
                      </a:lnTo>
                      <a:lnTo>
                        <a:pt x="11340" y="4628"/>
                      </a:lnTo>
                      <a:close/>
                    </a:path>
                    <a:path w="21600" h="21600" extrusionOk="0">
                      <a:moveTo>
                        <a:pt x="13500" y="4628"/>
                      </a:moveTo>
                      <a:lnTo>
                        <a:pt x="13500" y="6171"/>
                      </a:lnTo>
                      <a:lnTo>
                        <a:pt x="15660" y="6171"/>
                      </a:lnTo>
                      <a:lnTo>
                        <a:pt x="15660" y="4628"/>
                      </a:lnTo>
                      <a:lnTo>
                        <a:pt x="13500" y="4628"/>
                      </a:lnTo>
                      <a:close/>
                    </a:path>
                    <a:path w="21600" h="21600" extrusionOk="0">
                      <a:moveTo>
                        <a:pt x="15660" y="4628"/>
                      </a:moveTo>
                      <a:lnTo>
                        <a:pt x="15660" y="6171"/>
                      </a:lnTo>
                      <a:lnTo>
                        <a:pt x="17820" y="6171"/>
                      </a:lnTo>
                      <a:lnTo>
                        <a:pt x="17820" y="4628"/>
                      </a:lnTo>
                      <a:lnTo>
                        <a:pt x="15660" y="4628"/>
                      </a:lnTo>
                      <a:close/>
                    </a:path>
                    <a:path w="21600" h="21600" extrusionOk="0">
                      <a:moveTo>
                        <a:pt x="17820" y="4628"/>
                      </a:moveTo>
                      <a:lnTo>
                        <a:pt x="17820" y="6171"/>
                      </a:lnTo>
                      <a:lnTo>
                        <a:pt x="19980" y="6171"/>
                      </a:lnTo>
                      <a:lnTo>
                        <a:pt x="19980" y="4628"/>
                      </a:lnTo>
                      <a:lnTo>
                        <a:pt x="17820" y="4628"/>
                      </a:lnTo>
                      <a:close/>
                    </a:path>
                    <a:path w="21600" h="21600" extrusionOk="0">
                      <a:moveTo>
                        <a:pt x="1620" y="6171"/>
                      </a:moveTo>
                      <a:lnTo>
                        <a:pt x="1620" y="7714"/>
                      </a:lnTo>
                      <a:lnTo>
                        <a:pt x="3779" y="7714"/>
                      </a:lnTo>
                      <a:lnTo>
                        <a:pt x="3779" y="6171"/>
                      </a:lnTo>
                      <a:lnTo>
                        <a:pt x="1620" y="6171"/>
                      </a:lnTo>
                      <a:close/>
                    </a:path>
                    <a:path w="21600" h="21600" extrusionOk="0">
                      <a:moveTo>
                        <a:pt x="3779" y="6171"/>
                      </a:moveTo>
                      <a:lnTo>
                        <a:pt x="3779" y="7714"/>
                      </a:lnTo>
                      <a:lnTo>
                        <a:pt x="5940" y="7714"/>
                      </a:lnTo>
                      <a:lnTo>
                        <a:pt x="5940" y="6171"/>
                      </a:lnTo>
                      <a:lnTo>
                        <a:pt x="3779" y="6171"/>
                      </a:lnTo>
                      <a:close/>
                    </a:path>
                    <a:path w="21600" h="21600" extrusionOk="0">
                      <a:moveTo>
                        <a:pt x="5940" y="6171"/>
                      </a:moveTo>
                      <a:lnTo>
                        <a:pt x="5940" y="7714"/>
                      </a:lnTo>
                      <a:lnTo>
                        <a:pt x="8100" y="7714"/>
                      </a:lnTo>
                      <a:lnTo>
                        <a:pt x="8100" y="6171"/>
                      </a:lnTo>
                      <a:lnTo>
                        <a:pt x="5940" y="6171"/>
                      </a:lnTo>
                      <a:close/>
                    </a:path>
                    <a:path w="21600" h="21600" extrusionOk="0">
                      <a:moveTo>
                        <a:pt x="8100" y="6171"/>
                      </a:moveTo>
                      <a:lnTo>
                        <a:pt x="8100" y="7714"/>
                      </a:lnTo>
                      <a:lnTo>
                        <a:pt x="10260" y="7714"/>
                      </a:lnTo>
                      <a:lnTo>
                        <a:pt x="10260" y="6171"/>
                      </a:lnTo>
                      <a:lnTo>
                        <a:pt x="8100" y="6171"/>
                      </a:lnTo>
                      <a:close/>
                    </a:path>
                    <a:path w="21600" h="21600" extrusionOk="0">
                      <a:moveTo>
                        <a:pt x="10260" y="6171"/>
                      </a:moveTo>
                      <a:lnTo>
                        <a:pt x="10260" y="7714"/>
                      </a:lnTo>
                      <a:lnTo>
                        <a:pt x="12419" y="7714"/>
                      </a:lnTo>
                      <a:lnTo>
                        <a:pt x="12419" y="6171"/>
                      </a:lnTo>
                      <a:lnTo>
                        <a:pt x="10260" y="6171"/>
                      </a:lnTo>
                      <a:close/>
                    </a:path>
                    <a:path w="21600" h="21600" extrusionOk="0">
                      <a:moveTo>
                        <a:pt x="12419" y="6171"/>
                      </a:moveTo>
                      <a:lnTo>
                        <a:pt x="12419" y="7714"/>
                      </a:lnTo>
                      <a:lnTo>
                        <a:pt x="14580" y="7714"/>
                      </a:lnTo>
                      <a:lnTo>
                        <a:pt x="14580" y="6171"/>
                      </a:lnTo>
                      <a:lnTo>
                        <a:pt x="12419" y="6171"/>
                      </a:lnTo>
                      <a:close/>
                    </a:path>
                    <a:path w="21600" h="21600" extrusionOk="0">
                      <a:moveTo>
                        <a:pt x="14580" y="6171"/>
                      </a:moveTo>
                      <a:lnTo>
                        <a:pt x="14580" y="7714"/>
                      </a:lnTo>
                      <a:lnTo>
                        <a:pt x="16740" y="7714"/>
                      </a:lnTo>
                      <a:lnTo>
                        <a:pt x="16740" y="6171"/>
                      </a:lnTo>
                      <a:lnTo>
                        <a:pt x="14580" y="6171"/>
                      </a:lnTo>
                      <a:close/>
                    </a:path>
                    <a:path w="21600" h="21600" extrusionOk="0">
                      <a:moveTo>
                        <a:pt x="16740" y="6171"/>
                      </a:moveTo>
                      <a:lnTo>
                        <a:pt x="16740" y="7714"/>
                      </a:lnTo>
                      <a:lnTo>
                        <a:pt x="18900" y="7714"/>
                      </a:lnTo>
                      <a:lnTo>
                        <a:pt x="18900" y="6171"/>
                      </a:lnTo>
                      <a:lnTo>
                        <a:pt x="16740" y="6171"/>
                      </a:lnTo>
                      <a:close/>
                    </a:path>
                    <a:path w="21600" h="21600" extrusionOk="0">
                      <a:moveTo>
                        <a:pt x="18900" y="6171"/>
                      </a:moveTo>
                      <a:lnTo>
                        <a:pt x="18900" y="7714"/>
                      </a:lnTo>
                      <a:lnTo>
                        <a:pt x="21060" y="7714"/>
                      </a:lnTo>
                      <a:lnTo>
                        <a:pt x="21060" y="6171"/>
                      </a:lnTo>
                      <a:lnTo>
                        <a:pt x="18900" y="6171"/>
                      </a:lnTo>
                      <a:close/>
                    </a:path>
                    <a:path w="21600" h="21600" extrusionOk="0">
                      <a:moveTo>
                        <a:pt x="540" y="7714"/>
                      </a:moveTo>
                      <a:lnTo>
                        <a:pt x="540" y="9257"/>
                      </a:lnTo>
                      <a:lnTo>
                        <a:pt x="2700" y="9257"/>
                      </a:lnTo>
                      <a:lnTo>
                        <a:pt x="2700" y="7714"/>
                      </a:lnTo>
                      <a:lnTo>
                        <a:pt x="540" y="7714"/>
                      </a:lnTo>
                      <a:close/>
                    </a:path>
                    <a:path w="21600" h="21600" extrusionOk="0">
                      <a:moveTo>
                        <a:pt x="2700" y="7714"/>
                      </a:moveTo>
                      <a:lnTo>
                        <a:pt x="2700" y="9257"/>
                      </a:lnTo>
                      <a:lnTo>
                        <a:pt x="4860" y="9257"/>
                      </a:lnTo>
                      <a:lnTo>
                        <a:pt x="4860" y="7714"/>
                      </a:lnTo>
                      <a:lnTo>
                        <a:pt x="2700" y="7714"/>
                      </a:lnTo>
                      <a:close/>
                    </a:path>
                    <a:path w="21600" h="21600" extrusionOk="0">
                      <a:moveTo>
                        <a:pt x="4860" y="7714"/>
                      </a:moveTo>
                      <a:lnTo>
                        <a:pt x="4860" y="9257"/>
                      </a:lnTo>
                      <a:lnTo>
                        <a:pt x="7020" y="9257"/>
                      </a:lnTo>
                      <a:lnTo>
                        <a:pt x="7020" y="7714"/>
                      </a:lnTo>
                      <a:lnTo>
                        <a:pt x="4860" y="7714"/>
                      </a:lnTo>
                      <a:close/>
                    </a:path>
                    <a:path w="21600" h="21600" extrusionOk="0">
                      <a:moveTo>
                        <a:pt x="7020" y="7714"/>
                      </a:moveTo>
                      <a:lnTo>
                        <a:pt x="7020" y="9257"/>
                      </a:lnTo>
                      <a:lnTo>
                        <a:pt x="9180" y="9257"/>
                      </a:lnTo>
                      <a:lnTo>
                        <a:pt x="9180" y="7714"/>
                      </a:lnTo>
                      <a:lnTo>
                        <a:pt x="7020" y="7714"/>
                      </a:lnTo>
                      <a:close/>
                    </a:path>
                    <a:path w="21600" h="21600" extrusionOk="0">
                      <a:moveTo>
                        <a:pt x="9180" y="7714"/>
                      </a:moveTo>
                      <a:lnTo>
                        <a:pt x="9180" y="9257"/>
                      </a:lnTo>
                      <a:lnTo>
                        <a:pt x="11340" y="9257"/>
                      </a:lnTo>
                      <a:lnTo>
                        <a:pt x="11340" y="7714"/>
                      </a:lnTo>
                      <a:lnTo>
                        <a:pt x="9180" y="7714"/>
                      </a:lnTo>
                      <a:close/>
                    </a:path>
                    <a:path w="21600" h="21600" extrusionOk="0">
                      <a:moveTo>
                        <a:pt x="11340" y="7714"/>
                      </a:moveTo>
                      <a:lnTo>
                        <a:pt x="11340" y="9257"/>
                      </a:lnTo>
                      <a:lnTo>
                        <a:pt x="13500" y="9257"/>
                      </a:lnTo>
                      <a:lnTo>
                        <a:pt x="13500" y="7714"/>
                      </a:lnTo>
                      <a:lnTo>
                        <a:pt x="11340" y="7714"/>
                      </a:lnTo>
                      <a:close/>
                    </a:path>
                    <a:path w="21600" h="21600" extrusionOk="0">
                      <a:moveTo>
                        <a:pt x="13500" y="7714"/>
                      </a:moveTo>
                      <a:lnTo>
                        <a:pt x="13500" y="9257"/>
                      </a:lnTo>
                      <a:lnTo>
                        <a:pt x="15660" y="9257"/>
                      </a:lnTo>
                      <a:lnTo>
                        <a:pt x="15660" y="7714"/>
                      </a:lnTo>
                      <a:lnTo>
                        <a:pt x="13500" y="7714"/>
                      </a:lnTo>
                      <a:close/>
                    </a:path>
                    <a:path w="21600" h="21600" extrusionOk="0">
                      <a:moveTo>
                        <a:pt x="15660" y="7714"/>
                      </a:moveTo>
                      <a:lnTo>
                        <a:pt x="15660" y="9257"/>
                      </a:lnTo>
                      <a:lnTo>
                        <a:pt x="17820" y="9257"/>
                      </a:lnTo>
                      <a:lnTo>
                        <a:pt x="17820" y="7714"/>
                      </a:lnTo>
                      <a:lnTo>
                        <a:pt x="15660" y="7714"/>
                      </a:lnTo>
                      <a:close/>
                    </a:path>
                    <a:path w="21600" h="21600" extrusionOk="0">
                      <a:moveTo>
                        <a:pt x="17820" y="7714"/>
                      </a:moveTo>
                      <a:lnTo>
                        <a:pt x="17820" y="9257"/>
                      </a:lnTo>
                      <a:lnTo>
                        <a:pt x="19980" y="9257"/>
                      </a:lnTo>
                      <a:lnTo>
                        <a:pt x="19980" y="7714"/>
                      </a:lnTo>
                      <a:lnTo>
                        <a:pt x="17820" y="7714"/>
                      </a:lnTo>
                      <a:close/>
                    </a:path>
                    <a:path w="21600" h="21600" extrusionOk="0">
                      <a:moveTo>
                        <a:pt x="1620" y="9257"/>
                      </a:moveTo>
                      <a:lnTo>
                        <a:pt x="1620" y="10800"/>
                      </a:lnTo>
                      <a:lnTo>
                        <a:pt x="3779" y="10800"/>
                      </a:lnTo>
                      <a:lnTo>
                        <a:pt x="3779" y="9257"/>
                      </a:lnTo>
                      <a:lnTo>
                        <a:pt x="1620" y="9257"/>
                      </a:lnTo>
                      <a:close/>
                    </a:path>
                    <a:path w="21600" h="21600" extrusionOk="0">
                      <a:moveTo>
                        <a:pt x="3779" y="9257"/>
                      </a:moveTo>
                      <a:lnTo>
                        <a:pt x="3779" y="10800"/>
                      </a:lnTo>
                      <a:lnTo>
                        <a:pt x="5940" y="10800"/>
                      </a:lnTo>
                      <a:lnTo>
                        <a:pt x="5940" y="9257"/>
                      </a:lnTo>
                      <a:lnTo>
                        <a:pt x="3779" y="9257"/>
                      </a:lnTo>
                      <a:close/>
                    </a:path>
                    <a:path w="21600" h="21600" extrusionOk="0">
                      <a:moveTo>
                        <a:pt x="5940" y="9257"/>
                      </a:moveTo>
                      <a:lnTo>
                        <a:pt x="5940" y="10800"/>
                      </a:lnTo>
                      <a:lnTo>
                        <a:pt x="8100" y="10800"/>
                      </a:lnTo>
                      <a:lnTo>
                        <a:pt x="8100" y="9257"/>
                      </a:lnTo>
                      <a:lnTo>
                        <a:pt x="5940" y="9257"/>
                      </a:lnTo>
                      <a:close/>
                    </a:path>
                    <a:path w="21600" h="21600" extrusionOk="0">
                      <a:moveTo>
                        <a:pt x="8100" y="9257"/>
                      </a:moveTo>
                      <a:lnTo>
                        <a:pt x="8100" y="10800"/>
                      </a:lnTo>
                      <a:lnTo>
                        <a:pt x="10260" y="10800"/>
                      </a:lnTo>
                      <a:lnTo>
                        <a:pt x="10260" y="9257"/>
                      </a:lnTo>
                      <a:lnTo>
                        <a:pt x="8100" y="9257"/>
                      </a:lnTo>
                      <a:close/>
                    </a:path>
                    <a:path w="21600" h="21600" extrusionOk="0">
                      <a:moveTo>
                        <a:pt x="10260" y="9257"/>
                      </a:moveTo>
                      <a:lnTo>
                        <a:pt x="10260" y="10800"/>
                      </a:lnTo>
                      <a:lnTo>
                        <a:pt x="12419" y="10800"/>
                      </a:lnTo>
                      <a:lnTo>
                        <a:pt x="12419" y="9257"/>
                      </a:lnTo>
                      <a:lnTo>
                        <a:pt x="10260" y="9257"/>
                      </a:lnTo>
                      <a:close/>
                    </a:path>
                    <a:path w="21600" h="21600" extrusionOk="0">
                      <a:moveTo>
                        <a:pt x="12419" y="9257"/>
                      </a:moveTo>
                      <a:lnTo>
                        <a:pt x="12419" y="10800"/>
                      </a:lnTo>
                      <a:lnTo>
                        <a:pt x="14580" y="10800"/>
                      </a:lnTo>
                      <a:lnTo>
                        <a:pt x="14580" y="9257"/>
                      </a:lnTo>
                      <a:lnTo>
                        <a:pt x="12419" y="9257"/>
                      </a:lnTo>
                      <a:close/>
                    </a:path>
                    <a:path w="21600" h="21600" extrusionOk="0">
                      <a:moveTo>
                        <a:pt x="14580" y="9257"/>
                      </a:moveTo>
                      <a:lnTo>
                        <a:pt x="14580" y="10800"/>
                      </a:lnTo>
                      <a:lnTo>
                        <a:pt x="16740" y="10800"/>
                      </a:lnTo>
                      <a:lnTo>
                        <a:pt x="16740" y="9257"/>
                      </a:lnTo>
                      <a:lnTo>
                        <a:pt x="14580" y="9257"/>
                      </a:lnTo>
                      <a:close/>
                    </a:path>
                    <a:path w="21600" h="21600" extrusionOk="0">
                      <a:moveTo>
                        <a:pt x="16740" y="9257"/>
                      </a:moveTo>
                      <a:lnTo>
                        <a:pt x="16740" y="10800"/>
                      </a:lnTo>
                      <a:lnTo>
                        <a:pt x="18900" y="10800"/>
                      </a:lnTo>
                      <a:lnTo>
                        <a:pt x="18900" y="9257"/>
                      </a:lnTo>
                      <a:lnTo>
                        <a:pt x="16740" y="9257"/>
                      </a:lnTo>
                      <a:close/>
                    </a:path>
                    <a:path w="21600" h="21600" extrusionOk="0">
                      <a:moveTo>
                        <a:pt x="18900" y="9257"/>
                      </a:moveTo>
                      <a:lnTo>
                        <a:pt x="18900" y="10800"/>
                      </a:lnTo>
                      <a:lnTo>
                        <a:pt x="21060" y="10800"/>
                      </a:lnTo>
                      <a:lnTo>
                        <a:pt x="21060" y="9257"/>
                      </a:lnTo>
                      <a:lnTo>
                        <a:pt x="18900" y="9257"/>
                      </a:lnTo>
                      <a:close/>
                    </a:path>
                    <a:path w="21600" h="21600" extrusionOk="0">
                      <a:moveTo>
                        <a:pt x="540" y="10800"/>
                      </a:moveTo>
                      <a:lnTo>
                        <a:pt x="540" y="12342"/>
                      </a:lnTo>
                      <a:lnTo>
                        <a:pt x="2700" y="12342"/>
                      </a:lnTo>
                      <a:lnTo>
                        <a:pt x="2700" y="10800"/>
                      </a:lnTo>
                      <a:lnTo>
                        <a:pt x="540" y="10800"/>
                      </a:lnTo>
                      <a:close/>
                    </a:path>
                    <a:path w="21600" h="21600" extrusionOk="0">
                      <a:moveTo>
                        <a:pt x="2700" y="10800"/>
                      </a:moveTo>
                      <a:lnTo>
                        <a:pt x="2700" y="12342"/>
                      </a:lnTo>
                      <a:lnTo>
                        <a:pt x="4860" y="12342"/>
                      </a:lnTo>
                      <a:lnTo>
                        <a:pt x="4860" y="10800"/>
                      </a:lnTo>
                      <a:lnTo>
                        <a:pt x="2700" y="10800"/>
                      </a:lnTo>
                      <a:close/>
                    </a:path>
                    <a:path w="21600" h="21600" extrusionOk="0">
                      <a:moveTo>
                        <a:pt x="4860" y="10800"/>
                      </a:moveTo>
                      <a:lnTo>
                        <a:pt x="4860" y="12342"/>
                      </a:lnTo>
                      <a:lnTo>
                        <a:pt x="7020" y="12342"/>
                      </a:lnTo>
                      <a:lnTo>
                        <a:pt x="7020" y="10800"/>
                      </a:lnTo>
                      <a:lnTo>
                        <a:pt x="4860" y="10800"/>
                      </a:lnTo>
                      <a:close/>
                    </a:path>
                    <a:path w="21600" h="21600" extrusionOk="0">
                      <a:moveTo>
                        <a:pt x="7020" y="10800"/>
                      </a:moveTo>
                      <a:lnTo>
                        <a:pt x="7020" y="12342"/>
                      </a:lnTo>
                      <a:lnTo>
                        <a:pt x="9180" y="12342"/>
                      </a:lnTo>
                      <a:lnTo>
                        <a:pt x="9180" y="10800"/>
                      </a:lnTo>
                      <a:lnTo>
                        <a:pt x="7020" y="10800"/>
                      </a:lnTo>
                      <a:close/>
                    </a:path>
                    <a:path w="21600" h="21600" extrusionOk="0">
                      <a:moveTo>
                        <a:pt x="9180" y="10800"/>
                      </a:moveTo>
                      <a:lnTo>
                        <a:pt x="9180" y="12342"/>
                      </a:lnTo>
                      <a:lnTo>
                        <a:pt x="11340" y="12342"/>
                      </a:lnTo>
                      <a:lnTo>
                        <a:pt x="11340" y="10800"/>
                      </a:lnTo>
                      <a:lnTo>
                        <a:pt x="9180" y="10800"/>
                      </a:lnTo>
                      <a:close/>
                    </a:path>
                    <a:path w="21600" h="21600" extrusionOk="0">
                      <a:moveTo>
                        <a:pt x="11340" y="10800"/>
                      </a:moveTo>
                      <a:lnTo>
                        <a:pt x="11340" y="12342"/>
                      </a:lnTo>
                      <a:lnTo>
                        <a:pt x="13500" y="12342"/>
                      </a:lnTo>
                      <a:lnTo>
                        <a:pt x="13500" y="10800"/>
                      </a:lnTo>
                      <a:lnTo>
                        <a:pt x="11340" y="10800"/>
                      </a:lnTo>
                      <a:close/>
                    </a:path>
                    <a:path w="21600" h="21600" extrusionOk="0">
                      <a:moveTo>
                        <a:pt x="13500" y="10800"/>
                      </a:moveTo>
                      <a:lnTo>
                        <a:pt x="13500" y="12342"/>
                      </a:lnTo>
                      <a:lnTo>
                        <a:pt x="15660" y="12342"/>
                      </a:lnTo>
                      <a:lnTo>
                        <a:pt x="15660" y="10800"/>
                      </a:lnTo>
                      <a:lnTo>
                        <a:pt x="13500" y="10800"/>
                      </a:lnTo>
                      <a:close/>
                    </a:path>
                    <a:path w="21600" h="21600" extrusionOk="0">
                      <a:moveTo>
                        <a:pt x="15660" y="10800"/>
                      </a:moveTo>
                      <a:lnTo>
                        <a:pt x="15660" y="12342"/>
                      </a:lnTo>
                      <a:lnTo>
                        <a:pt x="17820" y="12342"/>
                      </a:lnTo>
                      <a:lnTo>
                        <a:pt x="17820" y="10800"/>
                      </a:lnTo>
                      <a:lnTo>
                        <a:pt x="15660" y="10800"/>
                      </a:lnTo>
                      <a:close/>
                    </a:path>
                    <a:path w="21600" h="21600" extrusionOk="0">
                      <a:moveTo>
                        <a:pt x="17820" y="10800"/>
                      </a:moveTo>
                      <a:lnTo>
                        <a:pt x="17820" y="12342"/>
                      </a:lnTo>
                      <a:lnTo>
                        <a:pt x="19980" y="12342"/>
                      </a:lnTo>
                      <a:lnTo>
                        <a:pt x="19980" y="10800"/>
                      </a:lnTo>
                      <a:lnTo>
                        <a:pt x="17820" y="10800"/>
                      </a:lnTo>
                      <a:close/>
                    </a:path>
                    <a:path w="21600" h="21600" extrusionOk="0">
                      <a:moveTo>
                        <a:pt x="1620" y="12342"/>
                      </a:moveTo>
                      <a:lnTo>
                        <a:pt x="1620" y="13885"/>
                      </a:lnTo>
                      <a:lnTo>
                        <a:pt x="3779" y="13885"/>
                      </a:lnTo>
                      <a:lnTo>
                        <a:pt x="3779" y="12342"/>
                      </a:lnTo>
                      <a:lnTo>
                        <a:pt x="1620" y="12342"/>
                      </a:lnTo>
                      <a:close/>
                    </a:path>
                    <a:path w="21600" h="21600" extrusionOk="0">
                      <a:moveTo>
                        <a:pt x="3779" y="12342"/>
                      </a:moveTo>
                      <a:lnTo>
                        <a:pt x="3779" y="13885"/>
                      </a:lnTo>
                      <a:lnTo>
                        <a:pt x="5940" y="13885"/>
                      </a:lnTo>
                      <a:lnTo>
                        <a:pt x="5940" y="12342"/>
                      </a:lnTo>
                      <a:lnTo>
                        <a:pt x="3779" y="12342"/>
                      </a:lnTo>
                      <a:close/>
                    </a:path>
                    <a:path w="21600" h="21600" extrusionOk="0">
                      <a:moveTo>
                        <a:pt x="5940" y="12342"/>
                      </a:moveTo>
                      <a:lnTo>
                        <a:pt x="5940" y="13885"/>
                      </a:lnTo>
                      <a:lnTo>
                        <a:pt x="8100" y="13885"/>
                      </a:lnTo>
                      <a:lnTo>
                        <a:pt x="8100" y="12342"/>
                      </a:lnTo>
                      <a:lnTo>
                        <a:pt x="5940" y="12342"/>
                      </a:lnTo>
                      <a:close/>
                    </a:path>
                    <a:path w="21600" h="21600" extrusionOk="0">
                      <a:moveTo>
                        <a:pt x="8100" y="12342"/>
                      </a:moveTo>
                      <a:lnTo>
                        <a:pt x="8100" y="13885"/>
                      </a:lnTo>
                      <a:lnTo>
                        <a:pt x="10260" y="13885"/>
                      </a:lnTo>
                      <a:lnTo>
                        <a:pt x="10260" y="12342"/>
                      </a:lnTo>
                      <a:lnTo>
                        <a:pt x="8100" y="12342"/>
                      </a:lnTo>
                      <a:close/>
                    </a:path>
                    <a:path w="21600" h="21600" extrusionOk="0">
                      <a:moveTo>
                        <a:pt x="10260" y="12342"/>
                      </a:moveTo>
                      <a:lnTo>
                        <a:pt x="10260" y="13885"/>
                      </a:lnTo>
                      <a:lnTo>
                        <a:pt x="12419" y="13885"/>
                      </a:lnTo>
                      <a:lnTo>
                        <a:pt x="12419" y="12342"/>
                      </a:lnTo>
                      <a:lnTo>
                        <a:pt x="10260" y="12342"/>
                      </a:lnTo>
                      <a:close/>
                    </a:path>
                    <a:path w="21600" h="21600" extrusionOk="0">
                      <a:moveTo>
                        <a:pt x="12419" y="12342"/>
                      </a:moveTo>
                      <a:lnTo>
                        <a:pt x="12419" y="13885"/>
                      </a:lnTo>
                      <a:lnTo>
                        <a:pt x="14580" y="13885"/>
                      </a:lnTo>
                      <a:lnTo>
                        <a:pt x="14580" y="12342"/>
                      </a:lnTo>
                      <a:lnTo>
                        <a:pt x="12419" y="12342"/>
                      </a:lnTo>
                      <a:close/>
                    </a:path>
                    <a:path w="21600" h="21600" extrusionOk="0">
                      <a:moveTo>
                        <a:pt x="14580" y="12342"/>
                      </a:moveTo>
                      <a:lnTo>
                        <a:pt x="14580" y="13885"/>
                      </a:lnTo>
                      <a:lnTo>
                        <a:pt x="16740" y="13885"/>
                      </a:lnTo>
                      <a:lnTo>
                        <a:pt x="16740" y="12342"/>
                      </a:lnTo>
                      <a:lnTo>
                        <a:pt x="14580" y="12342"/>
                      </a:lnTo>
                      <a:close/>
                    </a:path>
                    <a:path w="21600" h="21600" extrusionOk="0">
                      <a:moveTo>
                        <a:pt x="16740" y="12342"/>
                      </a:moveTo>
                      <a:lnTo>
                        <a:pt x="16740" y="13885"/>
                      </a:lnTo>
                      <a:lnTo>
                        <a:pt x="18900" y="13885"/>
                      </a:lnTo>
                      <a:lnTo>
                        <a:pt x="18900" y="12342"/>
                      </a:lnTo>
                      <a:lnTo>
                        <a:pt x="16740" y="12342"/>
                      </a:lnTo>
                      <a:close/>
                    </a:path>
                    <a:path w="21600" h="21600" extrusionOk="0">
                      <a:moveTo>
                        <a:pt x="18900" y="12342"/>
                      </a:moveTo>
                      <a:lnTo>
                        <a:pt x="18900" y="13885"/>
                      </a:lnTo>
                      <a:lnTo>
                        <a:pt x="21060" y="13885"/>
                      </a:lnTo>
                      <a:lnTo>
                        <a:pt x="21060" y="12342"/>
                      </a:lnTo>
                      <a:lnTo>
                        <a:pt x="18900" y="12342"/>
                      </a:lnTo>
                      <a:close/>
                    </a:path>
                    <a:path w="21600" h="21600" extrusionOk="0">
                      <a:moveTo>
                        <a:pt x="540" y="13885"/>
                      </a:moveTo>
                      <a:lnTo>
                        <a:pt x="540" y="15428"/>
                      </a:lnTo>
                      <a:lnTo>
                        <a:pt x="2700" y="15428"/>
                      </a:lnTo>
                      <a:lnTo>
                        <a:pt x="2700" y="13885"/>
                      </a:lnTo>
                      <a:lnTo>
                        <a:pt x="540" y="13885"/>
                      </a:lnTo>
                      <a:close/>
                    </a:path>
                    <a:path w="21600" h="21600" extrusionOk="0">
                      <a:moveTo>
                        <a:pt x="2700" y="13885"/>
                      </a:moveTo>
                      <a:lnTo>
                        <a:pt x="2700" y="15428"/>
                      </a:lnTo>
                      <a:lnTo>
                        <a:pt x="4860" y="15428"/>
                      </a:lnTo>
                      <a:lnTo>
                        <a:pt x="4860" y="13885"/>
                      </a:lnTo>
                      <a:lnTo>
                        <a:pt x="2700" y="13885"/>
                      </a:lnTo>
                      <a:close/>
                    </a:path>
                    <a:path w="21600" h="21600" extrusionOk="0">
                      <a:moveTo>
                        <a:pt x="4860" y="13885"/>
                      </a:moveTo>
                      <a:lnTo>
                        <a:pt x="4860" y="15428"/>
                      </a:lnTo>
                      <a:lnTo>
                        <a:pt x="7020" y="15428"/>
                      </a:lnTo>
                      <a:lnTo>
                        <a:pt x="7020" y="13885"/>
                      </a:lnTo>
                      <a:lnTo>
                        <a:pt x="4860" y="13885"/>
                      </a:lnTo>
                      <a:close/>
                    </a:path>
                    <a:path w="21600" h="21600" extrusionOk="0">
                      <a:moveTo>
                        <a:pt x="7020" y="13885"/>
                      </a:moveTo>
                      <a:lnTo>
                        <a:pt x="7020" y="15428"/>
                      </a:lnTo>
                      <a:lnTo>
                        <a:pt x="9180" y="15428"/>
                      </a:lnTo>
                      <a:lnTo>
                        <a:pt x="9180" y="13885"/>
                      </a:lnTo>
                      <a:lnTo>
                        <a:pt x="7020" y="13885"/>
                      </a:lnTo>
                      <a:close/>
                    </a:path>
                    <a:path w="21600" h="21600" extrusionOk="0">
                      <a:moveTo>
                        <a:pt x="9180" y="13885"/>
                      </a:moveTo>
                      <a:lnTo>
                        <a:pt x="9180" y="15428"/>
                      </a:lnTo>
                      <a:lnTo>
                        <a:pt x="11340" y="15428"/>
                      </a:lnTo>
                      <a:lnTo>
                        <a:pt x="11340" y="13885"/>
                      </a:lnTo>
                      <a:lnTo>
                        <a:pt x="9180" y="13885"/>
                      </a:lnTo>
                      <a:close/>
                    </a:path>
                    <a:path w="21600" h="21600" extrusionOk="0">
                      <a:moveTo>
                        <a:pt x="11340" y="13885"/>
                      </a:moveTo>
                      <a:lnTo>
                        <a:pt x="11340" y="15428"/>
                      </a:lnTo>
                      <a:lnTo>
                        <a:pt x="13500" y="15428"/>
                      </a:lnTo>
                      <a:lnTo>
                        <a:pt x="13500" y="13885"/>
                      </a:lnTo>
                      <a:lnTo>
                        <a:pt x="11340" y="13885"/>
                      </a:lnTo>
                      <a:close/>
                    </a:path>
                    <a:path w="21600" h="21600" extrusionOk="0">
                      <a:moveTo>
                        <a:pt x="13500" y="13885"/>
                      </a:moveTo>
                      <a:lnTo>
                        <a:pt x="13500" y="15428"/>
                      </a:lnTo>
                      <a:lnTo>
                        <a:pt x="15660" y="15428"/>
                      </a:lnTo>
                      <a:lnTo>
                        <a:pt x="15660" y="13885"/>
                      </a:lnTo>
                      <a:lnTo>
                        <a:pt x="13500" y="13885"/>
                      </a:lnTo>
                      <a:close/>
                    </a:path>
                    <a:path w="21600" h="21600" extrusionOk="0">
                      <a:moveTo>
                        <a:pt x="15660" y="13885"/>
                      </a:moveTo>
                      <a:lnTo>
                        <a:pt x="15660" y="15428"/>
                      </a:lnTo>
                      <a:lnTo>
                        <a:pt x="17820" y="15428"/>
                      </a:lnTo>
                      <a:lnTo>
                        <a:pt x="17820" y="13885"/>
                      </a:lnTo>
                      <a:lnTo>
                        <a:pt x="15660" y="13885"/>
                      </a:lnTo>
                      <a:close/>
                    </a:path>
                    <a:path w="21600" h="21600" extrusionOk="0">
                      <a:moveTo>
                        <a:pt x="17820" y="13885"/>
                      </a:moveTo>
                      <a:lnTo>
                        <a:pt x="17820" y="15428"/>
                      </a:lnTo>
                      <a:lnTo>
                        <a:pt x="19980" y="15428"/>
                      </a:lnTo>
                      <a:lnTo>
                        <a:pt x="19980" y="13885"/>
                      </a:lnTo>
                      <a:lnTo>
                        <a:pt x="17820" y="13885"/>
                      </a:lnTo>
                      <a:close/>
                    </a:path>
                    <a:path w="21600" h="21600" extrusionOk="0">
                      <a:moveTo>
                        <a:pt x="1620" y="15428"/>
                      </a:moveTo>
                      <a:lnTo>
                        <a:pt x="1620" y="16971"/>
                      </a:lnTo>
                      <a:lnTo>
                        <a:pt x="3779" y="16971"/>
                      </a:lnTo>
                      <a:lnTo>
                        <a:pt x="3779" y="15428"/>
                      </a:lnTo>
                      <a:lnTo>
                        <a:pt x="1620" y="15428"/>
                      </a:lnTo>
                      <a:close/>
                    </a:path>
                    <a:path w="21600" h="21600" extrusionOk="0">
                      <a:moveTo>
                        <a:pt x="3779" y="15428"/>
                      </a:moveTo>
                      <a:lnTo>
                        <a:pt x="3779" y="16971"/>
                      </a:lnTo>
                      <a:lnTo>
                        <a:pt x="5940" y="16971"/>
                      </a:lnTo>
                      <a:lnTo>
                        <a:pt x="5940" y="15428"/>
                      </a:lnTo>
                      <a:lnTo>
                        <a:pt x="3779" y="15428"/>
                      </a:lnTo>
                      <a:close/>
                    </a:path>
                    <a:path w="21600" h="21600" extrusionOk="0">
                      <a:moveTo>
                        <a:pt x="5940" y="15428"/>
                      </a:moveTo>
                      <a:lnTo>
                        <a:pt x="5940" y="16971"/>
                      </a:lnTo>
                      <a:lnTo>
                        <a:pt x="8100" y="16971"/>
                      </a:lnTo>
                      <a:lnTo>
                        <a:pt x="8100" y="15428"/>
                      </a:lnTo>
                      <a:lnTo>
                        <a:pt x="5940" y="15428"/>
                      </a:lnTo>
                      <a:close/>
                    </a:path>
                    <a:path w="21600" h="21600" extrusionOk="0">
                      <a:moveTo>
                        <a:pt x="8100" y="15428"/>
                      </a:moveTo>
                      <a:lnTo>
                        <a:pt x="8100" y="16971"/>
                      </a:lnTo>
                      <a:lnTo>
                        <a:pt x="10260" y="16971"/>
                      </a:lnTo>
                      <a:lnTo>
                        <a:pt x="10260" y="15428"/>
                      </a:lnTo>
                      <a:lnTo>
                        <a:pt x="8100" y="15428"/>
                      </a:lnTo>
                      <a:close/>
                    </a:path>
                    <a:path w="21600" h="21600" extrusionOk="0">
                      <a:moveTo>
                        <a:pt x="10260" y="15428"/>
                      </a:moveTo>
                      <a:lnTo>
                        <a:pt x="10260" y="16971"/>
                      </a:lnTo>
                      <a:lnTo>
                        <a:pt x="12419" y="16971"/>
                      </a:lnTo>
                      <a:lnTo>
                        <a:pt x="12419" y="15428"/>
                      </a:lnTo>
                      <a:lnTo>
                        <a:pt x="10260" y="15428"/>
                      </a:lnTo>
                      <a:close/>
                    </a:path>
                    <a:path w="21600" h="21600" extrusionOk="0">
                      <a:moveTo>
                        <a:pt x="12419" y="15428"/>
                      </a:moveTo>
                      <a:lnTo>
                        <a:pt x="12419" y="16971"/>
                      </a:lnTo>
                      <a:lnTo>
                        <a:pt x="14580" y="16971"/>
                      </a:lnTo>
                      <a:lnTo>
                        <a:pt x="14580" y="15428"/>
                      </a:lnTo>
                      <a:lnTo>
                        <a:pt x="12419" y="15428"/>
                      </a:lnTo>
                      <a:close/>
                    </a:path>
                    <a:path w="21600" h="21600" extrusionOk="0">
                      <a:moveTo>
                        <a:pt x="14580" y="15428"/>
                      </a:moveTo>
                      <a:lnTo>
                        <a:pt x="14580" y="16971"/>
                      </a:lnTo>
                      <a:lnTo>
                        <a:pt x="16740" y="16971"/>
                      </a:lnTo>
                      <a:lnTo>
                        <a:pt x="16740" y="15428"/>
                      </a:lnTo>
                      <a:lnTo>
                        <a:pt x="14580" y="15428"/>
                      </a:lnTo>
                      <a:close/>
                    </a:path>
                    <a:path w="21600" h="21600" extrusionOk="0">
                      <a:moveTo>
                        <a:pt x="16740" y="15428"/>
                      </a:moveTo>
                      <a:lnTo>
                        <a:pt x="16740" y="16971"/>
                      </a:lnTo>
                      <a:lnTo>
                        <a:pt x="18900" y="16971"/>
                      </a:lnTo>
                      <a:lnTo>
                        <a:pt x="18900" y="15428"/>
                      </a:lnTo>
                      <a:lnTo>
                        <a:pt x="16740" y="15428"/>
                      </a:lnTo>
                      <a:close/>
                    </a:path>
                    <a:path w="21600" h="21600" extrusionOk="0">
                      <a:moveTo>
                        <a:pt x="18900" y="15428"/>
                      </a:moveTo>
                      <a:lnTo>
                        <a:pt x="18900" y="16971"/>
                      </a:lnTo>
                      <a:lnTo>
                        <a:pt x="21060" y="16971"/>
                      </a:lnTo>
                      <a:lnTo>
                        <a:pt x="21060" y="15428"/>
                      </a:lnTo>
                      <a:lnTo>
                        <a:pt x="18900" y="15428"/>
                      </a:lnTo>
                      <a:close/>
                    </a:path>
                    <a:path w="21600" h="21600" extrusionOk="0">
                      <a:moveTo>
                        <a:pt x="540" y="16971"/>
                      </a:moveTo>
                      <a:lnTo>
                        <a:pt x="540" y="18514"/>
                      </a:lnTo>
                      <a:lnTo>
                        <a:pt x="2700" y="18514"/>
                      </a:lnTo>
                      <a:lnTo>
                        <a:pt x="2700" y="16971"/>
                      </a:lnTo>
                      <a:lnTo>
                        <a:pt x="540" y="16971"/>
                      </a:lnTo>
                      <a:close/>
                    </a:path>
                    <a:path w="21600" h="21600" extrusionOk="0">
                      <a:moveTo>
                        <a:pt x="2700" y="16971"/>
                      </a:moveTo>
                      <a:lnTo>
                        <a:pt x="2700" y="18514"/>
                      </a:lnTo>
                      <a:lnTo>
                        <a:pt x="4860" y="18514"/>
                      </a:lnTo>
                      <a:lnTo>
                        <a:pt x="4860" y="16971"/>
                      </a:lnTo>
                      <a:lnTo>
                        <a:pt x="2700" y="16971"/>
                      </a:lnTo>
                      <a:close/>
                    </a:path>
                    <a:path w="21600" h="21600" extrusionOk="0">
                      <a:moveTo>
                        <a:pt x="4860" y="16971"/>
                      </a:moveTo>
                      <a:lnTo>
                        <a:pt x="4860" y="18514"/>
                      </a:lnTo>
                      <a:lnTo>
                        <a:pt x="7020" y="18514"/>
                      </a:lnTo>
                      <a:lnTo>
                        <a:pt x="7020" y="16971"/>
                      </a:lnTo>
                      <a:lnTo>
                        <a:pt x="4860" y="16971"/>
                      </a:lnTo>
                      <a:close/>
                    </a:path>
                    <a:path w="21600" h="21600" extrusionOk="0">
                      <a:moveTo>
                        <a:pt x="7020" y="16971"/>
                      </a:moveTo>
                      <a:lnTo>
                        <a:pt x="7020" y="18514"/>
                      </a:lnTo>
                      <a:lnTo>
                        <a:pt x="9180" y="18514"/>
                      </a:lnTo>
                      <a:lnTo>
                        <a:pt x="9180" y="16971"/>
                      </a:lnTo>
                      <a:lnTo>
                        <a:pt x="7020" y="16971"/>
                      </a:lnTo>
                      <a:close/>
                    </a:path>
                    <a:path w="21600" h="21600" extrusionOk="0">
                      <a:moveTo>
                        <a:pt x="9180" y="16971"/>
                      </a:moveTo>
                      <a:lnTo>
                        <a:pt x="9180" y="18514"/>
                      </a:lnTo>
                      <a:lnTo>
                        <a:pt x="11340" y="18514"/>
                      </a:lnTo>
                      <a:lnTo>
                        <a:pt x="11340" y="16971"/>
                      </a:lnTo>
                      <a:lnTo>
                        <a:pt x="9180" y="16971"/>
                      </a:lnTo>
                      <a:close/>
                    </a:path>
                    <a:path w="21600" h="21600" extrusionOk="0">
                      <a:moveTo>
                        <a:pt x="11340" y="16971"/>
                      </a:moveTo>
                      <a:lnTo>
                        <a:pt x="11340" y="18514"/>
                      </a:lnTo>
                      <a:lnTo>
                        <a:pt x="13500" y="18514"/>
                      </a:lnTo>
                      <a:lnTo>
                        <a:pt x="13500" y="16971"/>
                      </a:lnTo>
                      <a:lnTo>
                        <a:pt x="11340" y="16971"/>
                      </a:lnTo>
                      <a:close/>
                    </a:path>
                    <a:path w="21600" h="21600" extrusionOk="0">
                      <a:moveTo>
                        <a:pt x="13500" y="16971"/>
                      </a:moveTo>
                      <a:lnTo>
                        <a:pt x="13500" y="18514"/>
                      </a:lnTo>
                      <a:lnTo>
                        <a:pt x="15660" y="18514"/>
                      </a:lnTo>
                      <a:lnTo>
                        <a:pt x="15660" y="16971"/>
                      </a:lnTo>
                      <a:lnTo>
                        <a:pt x="13500" y="16971"/>
                      </a:lnTo>
                      <a:close/>
                    </a:path>
                    <a:path w="21600" h="21600" extrusionOk="0">
                      <a:moveTo>
                        <a:pt x="15660" y="16971"/>
                      </a:moveTo>
                      <a:lnTo>
                        <a:pt x="15660" y="18514"/>
                      </a:lnTo>
                      <a:lnTo>
                        <a:pt x="17820" y="18514"/>
                      </a:lnTo>
                      <a:lnTo>
                        <a:pt x="17820" y="16971"/>
                      </a:lnTo>
                      <a:lnTo>
                        <a:pt x="15660" y="16971"/>
                      </a:lnTo>
                      <a:close/>
                    </a:path>
                    <a:path w="21600" h="21600" extrusionOk="0">
                      <a:moveTo>
                        <a:pt x="17820" y="16971"/>
                      </a:moveTo>
                      <a:lnTo>
                        <a:pt x="17820" y="18514"/>
                      </a:lnTo>
                      <a:lnTo>
                        <a:pt x="19980" y="18514"/>
                      </a:lnTo>
                      <a:lnTo>
                        <a:pt x="19980" y="16971"/>
                      </a:lnTo>
                      <a:lnTo>
                        <a:pt x="17820" y="16971"/>
                      </a:lnTo>
                      <a:close/>
                    </a:path>
                    <a:path w="21600" h="21600" extrusionOk="0">
                      <a:moveTo>
                        <a:pt x="1620" y="18514"/>
                      </a:moveTo>
                      <a:lnTo>
                        <a:pt x="1620" y="20057"/>
                      </a:lnTo>
                      <a:lnTo>
                        <a:pt x="3779" y="20057"/>
                      </a:lnTo>
                      <a:lnTo>
                        <a:pt x="3779" y="18514"/>
                      </a:lnTo>
                      <a:lnTo>
                        <a:pt x="1620" y="18514"/>
                      </a:lnTo>
                      <a:close/>
                    </a:path>
                    <a:path w="21600" h="21600" extrusionOk="0">
                      <a:moveTo>
                        <a:pt x="3779" y="18514"/>
                      </a:moveTo>
                      <a:lnTo>
                        <a:pt x="3779" y="20057"/>
                      </a:lnTo>
                      <a:lnTo>
                        <a:pt x="5940" y="20057"/>
                      </a:lnTo>
                      <a:lnTo>
                        <a:pt x="5940" y="18514"/>
                      </a:lnTo>
                      <a:lnTo>
                        <a:pt x="3779" y="18514"/>
                      </a:lnTo>
                      <a:close/>
                    </a:path>
                    <a:path w="21600" h="21600" extrusionOk="0">
                      <a:moveTo>
                        <a:pt x="5940" y="18514"/>
                      </a:moveTo>
                      <a:lnTo>
                        <a:pt x="5940" y="20057"/>
                      </a:lnTo>
                      <a:lnTo>
                        <a:pt x="8100" y="20057"/>
                      </a:lnTo>
                      <a:lnTo>
                        <a:pt x="8100" y="18514"/>
                      </a:lnTo>
                      <a:lnTo>
                        <a:pt x="5940" y="18514"/>
                      </a:lnTo>
                      <a:close/>
                    </a:path>
                    <a:path w="21600" h="21600" extrusionOk="0">
                      <a:moveTo>
                        <a:pt x="8100" y="18514"/>
                      </a:moveTo>
                      <a:lnTo>
                        <a:pt x="8100" y="20057"/>
                      </a:lnTo>
                      <a:lnTo>
                        <a:pt x="10260" y="20057"/>
                      </a:lnTo>
                      <a:lnTo>
                        <a:pt x="10260" y="18514"/>
                      </a:lnTo>
                      <a:lnTo>
                        <a:pt x="8100" y="18514"/>
                      </a:lnTo>
                      <a:close/>
                    </a:path>
                    <a:path w="21600" h="21600" extrusionOk="0">
                      <a:moveTo>
                        <a:pt x="10260" y="18514"/>
                      </a:moveTo>
                      <a:lnTo>
                        <a:pt x="10260" y="20057"/>
                      </a:lnTo>
                      <a:lnTo>
                        <a:pt x="12419" y="20057"/>
                      </a:lnTo>
                      <a:lnTo>
                        <a:pt x="12419" y="18514"/>
                      </a:lnTo>
                      <a:lnTo>
                        <a:pt x="10260" y="18514"/>
                      </a:lnTo>
                      <a:close/>
                    </a:path>
                    <a:path w="21600" h="21600" extrusionOk="0">
                      <a:moveTo>
                        <a:pt x="12419" y="18514"/>
                      </a:moveTo>
                      <a:lnTo>
                        <a:pt x="12419" y="20057"/>
                      </a:lnTo>
                      <a:lnTo>
                        <a:pt x="14580" y="20057"/>
                      </a:lnTo>
                      <a:lnTo>
                        <a:pt x="14580" y="18514"/>
                      </a:lnTo>
                      <a:lnTo>
                        <a:pt x="12419" y="18514"/>
                      </a:lnTo>
                      <a:close/>
                    </a:path>
                    <a:path w="21600" h="21600" extrusionOk="0">
                      <a:moveTo>
                        <a:pt x="14580" y="18514"/>
                      </a:moveTo>
                      <a:lnTo>
                        <a:pt x="14580" y="20057"/>
                      </a:lnTo>
                      <a:lnTo>
                        <a:pt x="16740" y="20057"/>
                      </a:lnTo>
                      <a:lnTo>
                        <a:pt x="16740" y="18514"/>
                      </a:lnTo>
                      <a:lnTo>
                        <a:pt x="14580" y="18514"/>
                      </a:lnTo>
                      <a:close/>
                    </a:path>
                    <a:path w="21600" h="21600" extrusionOk="0">
                      <a:moveTo>
                        <a:pt x="16740" y="18514"/>
                      </a:moveTo>
                      <a:lnTo>
                        <a:pt x="16740" y="20057"/>
                      </a:lnTo>
                      <a:lnTo>
                        <a:pt x="18900" y="20057"/>
                      </a:lnTo>
                      <a:lnTo>
                        <a:pt x="18900" y="18514"/>
                      </a:lnTo>
                      <a:lnTo>
                        <a:pt x="16740" y="18514"/>
                      </a:lnTo>
                      <a:close/>
                    </a:path>
                    <a:path w="21600" h="21600" extrusionOk="0">
                      <a:moveTo>
                        <a:pt x="18900" y="18514"/>
                      </a:moveTo>
                      <a:lnTo>
                        <a:pt x="18900" y="20057"/>
                      </a:lnTo>
                      <a:lnTo>
                        <a:pt x="21060" y="20057"/>
                      </a:lnTo>
                      <a:lnTo>
                        <a:pt x="21060" y="18514"/>
                      </a:lnTo>
                      <a:lnTo>
                        <a:pt x="18900" y="18514"/>
                      </a:lnTo>
                      <a:close/>
                    </a:path>
                    <a:path w="21600" h="21600" extrusionOk="0">
                      <a:moveTo>
                        <a:pt x="540" y="20057"/>
                      </a:moveTo>
                      <a:lnTo>
                        <a:pt x="540" y="21600"/>
                      </a:lnTo>
                      <a:lnTo>
                        <a:pt x="2700" y="21600"/>
                      </a:lnTo>
                      <a:lnTo>
                        <a:pt x="2700" y="20057"/>
                      </a:lnTo>
                      <a:lnTo>
                        <a:pt x="540" y="20057"/>
                      </a:lnTo>
                      <a:close/>
                    </a:path>
                    <a:path w="21600" h="21600" extrusionOk="0">
                      <a:moveTo>
                        <a:pt x="2700" y="20057"/>
                      </a:moveTo>
                      <a:lnTo>
                        <a:pt x="2700" y="21600"/>
                      </a:lnTo>
                      <a:lnTo>
                        <a:pt x="4860" y="21600"/>
                      </a:lnTo>
                      <a:lnTo>
                        <a:pt x="4860" y="20057"/>
                      </a:lnTo>
                      <a:lnTo>
                        <a:pt x="2700" y="20057"/>
                      </a:lnTo>
                      <a:close/>
                    </a:path>
                    <a:path w="21600" h="21600" extrusionOk="0">
                      <a:moveTo>
                        <a:pt x="4860" y="20057"/>
                      </a:moveTo>
                      <a:lnTo>
                        <a:pt x="4860" y="21600"/>
                      </a:lnTo>
                      <a:lnTo>
                        <a:pt x="7020" y="21600"/>
                      </a:lnTo>
                      <a:lnTo>
                        <a:pt x="7020" y="20057"/>
                      </a:lnTo>
                      <a:lnTo>
                        <a:pt x="4860" y="20057"/>
                      </a:lnTo>
                      <a:close/>
                    </a:path>
                    <a:path w="21600" h="21600" extrusionOk="0">
                      <a:moveTo>
                        <a:pt x="7020" y="20057"/>
                      </a:moveTo>
                      <a:lnTo>
                        <a:pt x="7020" y="21600"/>
                      </a:lnTo>
                      <a:lnTo>
                        <a:pt x="9180" y="21600"/>
                      </a:lnTo>
                      <a:lnTo>
                        <a:pt x="9180" y="20057"/>
                      </a:lnTo>
                      <a:lnTo>
                        <a:pt x="7020" y="20057"/>
                      </a:lnTo>
                      <a:close/>
                    </a:path>
                    <a:path w="21600" h="21600" extrusionOk="0">
                      <a:moveTo>
                        <a:pt x="9180" y="20057"/>
                      </a:moveTo>
                      <a:lnTo>
                        <a:pt x="9180" y="21600"/>
                      </a:lnTo>
                      <a:lnTo>
                        <a:pt x="11340" y="21600"/>
                      </a:lnTo>
                      <a:lnTo>
                        <a:pt x="11340" y="20057"/>
                      </a:lnTo>
                      <a:lnTo>
                        <a:pt x="9180" y="20057"/>
                      </a:lnTo>
                      <a:close/>
                    </a:path>
                    <a:path w="21600" h="21600" extrusionOk="0">
                      <a:moveTo>
                        <a:pt x="11340" y="20057"/>
                      </a:moveTo>
                      <a:lnTo>
                        <a:pt x="11340" y="21600"/>
                      </a:lnTo>
                      <a:lnTo>
                        <a:pt x="13500" y="21600"/>
                      </a:lnTo>
                      <a:lnTo>
                        <a:pt x="13500" y="20057"/>
                      </a:lnTo>
                      <a:lnTo>
                        <a:pt x="11340" y="20057"/>
                      </a:lnTo>
                      <a:close/>
                    </a:path>
                    <a:path w="21600" h="21600" extrusionOk="0">
                      <a:moveTo>
                        <a:pt x="13500" y="20057"/>
                      </a:moveTo>
                      <a:lnTo>
                        <a:pt x="13500" y="21600"/>
                      </a:lnTo>
                      <a:lnTo>
                        <a:pt x="15660" y="21600"/>
                      </a:lnTo>
                      <a:lnTo>
                        <a:pt x="15660" y="20057"/>
                      </a:lnTo>
                      <a:lnTo>
                        <a:pt x="13500" y="20057"/>
                      </a:lnTo>
                      <a:close/>
                    </a:path>
                    <a:path w="21600" h="21600" extrusionOk="0">
                      <a:moveTo>
                        <a:pt x="15660" y="20057"/>
                      </a:moveTo>
                      <a:lnTo>
                        <a:pt x="15660" y="21600"/>
                      </a:lnTo>
                      <a:lnTo>
                        <a:pt x="17820" y="21600"/>
                      </a:lnTo>
                      <a:lnTo>
                        <a:pt x="17820" y="20057"/>
                      </a:lnTo>
                      <a:lnTo>
                        <a:pt x="15660" y="20057"/>
                      </a:lnTo>
                      <a:close/>
                    </a:path>
                    <a:path w="21600" h="21600" extrusionOk="0">
                      <a:moveTo>
                        <a:pt x="17820" y="20057"/>
                      </a:moveTo>
                      <a:lnTo>
                        <a:pt x="17820" y="21600"/>
                      </a:lnTo>
                      <a:lnTo>
                        <a:pt x="19980" y="21600"/>
                      </a:lnTo>
                      <a:lnTo>
                        <a:pt x="19980" y="20057"/>
                      </a:lnTo>
                      <a:lnTo>
                        <a:pt x="17820" y="20057"/>
                      </a:lnTo>
                      <a:close/>
                    </a:path>
                    <a:path w="21600" h="21600" extrusionOk="0">
                      <a:moveTo>
                        <a:pt x="19980" y="4628"/>
                      </a:moveTo>
                      <a:lnTo>
                        <a:pt x="21060" y="4628"/>
                      </a:lnTo>
                      <a:lnTo>
                        <a:pt x="21060" y="6171"/>
                      </a:lnTo>
                      <a:lnTo>
                        <a:pt x="19980" y="6171"/>
                      </a:lnTo>
                      <a:lnTo>
                        <a:pt x="19980" y="4628"/>
                      </a:lnTo>
                      <a:close/>
                    </a:path>
                  </a:pathLst>
                </a:custGeom>
                <a:solidFill>
                  <a:srgbClr val="996633"/>
                </a:solidFill>
                <a:ln w="9525">
                  <a:solidFill>
                    <a:srgbClr val="000000"/>
                  </a:solidFill>
                  <a:miter lim="800000"/>
                  <a:headEnd/>
                  <a:tailEnd/>
                </a:ln>
                <a:effectLst/>
              </p:spPr>
              <p:txBody>
                <a:bodyPr/>
                <a:lstStyle/>
                <a:p>
                  <a:endParaRPr lang="en-US" sz="1350"/>
                </a:p>
              </p:txBody>
            </p:sp>
          </p:grpSp>
          <p:grpSp>
            <p:nvGrpSpPr>
              <p:cNvPr id="27" name="Group 50"/>
              <p:cNvGrpSpPr>
                <a:grpSpLocks/>
              </p:cNvGrpSpPr>
              <p:nvPr/>
            </p:nvGrpSpPr>
            <p:grpSpPr bwMode="auto">
              <a:xfrm>
                <a:off x="2640" y="3504"/>
                <a:ext cx="368" cy="104"/>
                <a:chOff x="2272" y="3344"/>
                <a:chExt cx="368" cy="104"/>
              </a:xfrm>
            </p:grpSpPr>
            <p:sp>
              <p:nvSpPr>
                <p:cNvPr id="28" name="Oval 51"/>
                <p:cNvSpPr>
                  <a:spLocks noChangeArrowheads="1"/>
                </p:cNvSpPr>
                <p:nvPr/>
              </p:nvSpPr>
              <p:spPr bwMode="auto">
                <a:xfrm>
                  <a:off x="2272" y="3344"/>
                  <a:ext cx="120" cy="104"/>
                </a:xfrm>
                <a:prstGeom prst="ellipse">
                  <a:avLst/>
                </a:prstGeom>
                <a:solidFill>
                  <a:srgbClr val="CC3300"/>
                </a:solidFill>
                <a:ln w="12700">
                  <a:solidFill>
                    <a:srgbClr val="008000"/>
                  </a:solidFill>
                  <a:round/>
                  <a:headEnd/>
                  <a:tailEnd/>
                </a:ln>
                <a:effectLst/>
              </p:spPr>
              <p:txBody>
                <a:bodyPr wrap="none" anchor="ctr"/>
                <a:lstStyle/>
                <a:p>
                  <a:endParaRPr lang="en-US" sz="1350"/>
                </a:p>
              </p:txBody>
            </p:sp>
            <p:sp>
              <p:nvSpPr>
                <p:cNvPr id="29" name="Oval 52"/>
                <p:cNvSpPr>
                  <a:spLocks noChangeArrowheads="1"/>
                </p:cNvSpPr>
                <p:nvPr/>
              </p:nvSpPr>
              <p:spPr bwMode="auto">
                <a:xfrm>
                  <a:off x="2392" y="3344"/>
                  <a:ext cx="120" cy="104"/>
                </a:xfrm>
                <a:prstGeom prst="ellipse">
                  <a:avLst/>
                </a:prstGeom>
                <a:solidFill>
                  <a:srgbClr val="CC3300"/>
                </a:solidFill>
                <a:ln w="12700">
                  <a:solidFill>
                    <a:srgbClr val="008000"/>
                  </a:solidFill>
                  <a:round/>
                  <a:headEnd/>
                  <a:tailEnd/>
                </a:ln>
                <a:effectLst/>
              </p:spPr>
              <p:txBody>
                <a:bodyPr wrap="none" anchor="ctr"/>
                <a:lstStyle/>
                <a:p>
                  <a:endParaRPr lang="en-US" sz="1350"/>
                </a:p>
              </p:txBody>
            </p:sp>
            <p:sp>
              <p:nvSpPr>
                <p:cNvPr id="30" name="Oval 53"/>
                <p:cNvSpPr>
                  <a:spLocks noChangeArrowheads="1"/>
                </p:cNvSpPr>
                <p:nvPr/>
              </p:nvSpPr>
              <p:spPr bwMode="auto">
                <a:xfrm>
                  <a:off x="2520" y="3344"/>
                  <a:ext cx="120" cy="104"/>
                </a:xfrm>
                <a:prstGeom prst="ellipse">
                  <a:avLst/>
                </a:prstGeom>
                <a:solidFill>
                  <a:srgbClr val="CC3300"/>
                </a:solidFill>
                <a:ln w="12700">
                  <a:solidFill>
                    <a:srgbClr val="008000"/>
                  </a:solidFill>
                  <a:round/>
                  <a:headEnd/>
                  <a:tailEnd/>
                </a:ln>
                <a:effectLst/>
              </p:spPr>
              <p:txBody>
                <a:bodyPr wrap="none" anchor="ctr"/>
                <a:lstStyle/>
                <a:p>
                  <a:endParaRPr lang="en-US" sz="1350"/>
                </a:p>
              </p:txBody>
            </p:sp>
          </p:grpSp>
        </p:grpSp>
      </p:grpSp>
      <p:sp>
        <p:nvSpPr>
          <p:cNvPr id="37" name="Rectangle 36"/>
          <p:cNvSpPr/>
          <p:nvPr/>
        </p:nvSpPr>
        <p:spPr>
          <a:xfrm>
            <a:off x="2969581" y="2529923"/>
            <a:ext cx="1207008" cy="178308"/>
          </a:xfrm>
          <a:prstGeom prst="rect">
            <a:avLst/>
          </a:prstGeom>
        </p:spPr>
        <p:txBody>
          <a:bodyPr wrap="none" lIns="0" tIns="0" rIns="0" bIns="0">
            <a:noAutofit/>
          </a:bodyPr>
          <a:lstStyle/>
          <a:p>
            <a:r>
              <a:rPr lang="en-US" sz="1875" dirty="0">
                <a:solidFill>
                  <a:srgbClr val="3A3D3A"/>
                </a:solidFill>
                <a:latin typeface="Arial"/>
              </a:rPr>
              <a:t>Bird</a:t>
            </a:r>
          </a:p>
          <a:p>
            <a:r>
              <a:rPr lang="en-US" sz="1875" dirty="0">
                <a:solidFill>
                  <a:srgbClr val="3A3D3A"/>
                </a:solidFill>
                <a:latin typeface="Arial"/>
              </a:rPr>
              <a:t>Communication</a:t>
            </a:r>
          </a:p>
        </p:txBody>
      </p:sp>
      <p:sp>
        <p:nvSpPr>
          <p:cNvPr id="38" name="Rectangle 37"/>
          <p:cNvSpPr/>
          <p:nvPr/>
        </p:nvSpPr>
        <p:spPr>
          <a:xfrm>
            <a:off x="4958387" y="2543354"/>
            <a:ext cx="1207008" cy="178308"/>
          </a:xfrm>
          <a:prstGeom prst="rect">
            <a:avLst/>
          </a:prstGeom>
        </p:spPr>
        <p:txBody>
          <a:bodyPr wrap="none" lIns="0" tIns="0" rIns="0" bIns="0">
            <a:noAutofit/>
          </a:bodyPr>
          <a:lstStyle/>
          <a:p>
            <a:r>
              <a:rPr lang="en-US" sz="1875" dirty="0">
                <a:solidFill>
                  <a:srgbClr val="3A3D3A"/>
                </a:solidFill>
                <a:latin typeface="Arial"/>
              </a:rPr>
              <a:t>Multi-hop</a:t>
            </a:r>
          </a:p>
          <a:p>
            <a:r>
              <a:rPr lang="en-US" sz="1875" dirty="0">
                <a:solidFill>
                  <a:srgbClr val="3A3D3A"/>
                </a:solidFill>
                <a:latin typeface="Arial"/>
              </a:rPr>
              <a:t>Ad Hoc</a:t>
            </a:r>
          </a:p>
        </p:txBody>
      </p:sp>
      <p:sp>
        <p:nvSpPr>
          <p:cNvPr id="39" name="Rounded Rectangle 38"/>
          <p:cNvSpPr/>
          <p:nvPr/>
        </p:nvSpPr>
        <p:spPr>
          <a:xfrm>
            <a:off x="7281584" y="2922385"/>
            <a:ext cx="225435" cy="1186955"/>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0" name="Rounded Rectangle 39"/>
          <p:cNvSpPr/>
          <p:nvPr/>
        </p:nvSpPr>
        <p:spPr>
          <a:xfrm rot="5400000">
            <a:off x="8062268" y="3403142"/>
            <a:ext cx="225435" cy="1186955"/>
          </a:xfrm>
          <a:prstGeom prst="roundRect">
            <a:avLst>
              <a:gd name="adj" fmla="val 50000"/>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1" name="Right Arrow 40"/>
          <p:cNvSpPr/>
          <p:nvPr/>
        </p:nvSpPr>
        <p:spPr>
          <a:xfrm>
            <a:off x="884543" y="5270943"/>
            <a:ext cx="7082841" cy="200040"/>
          </a:xfrm>
          <a:prstGeom prst="rightArrow">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2" name="Rectangle 41"/>
          <p:cNvSpPr/>
          <p:nvPr/>
        </p:nvSpPr>
        <p:spPr>
          <a:xfrm>
            <a:off x="8128748" y="5285040"/>
            <a:ext cx="90768" cy="142187"/>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3" name="Rectangle 42"/>
          <p:cNvSpPr/>
          <p:nvPr/>
        </p:nvSpPr>
        <p:spPr>
          <a:xfrm>
            <a:off x="8332624" y="5285040"/>
            <a:ext cx="90768" cy="142187"/>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4" name="Rectangle 43"/>
          <p:cNvSpPr/>
          <p:nvPr/>
        </p:nvSpPr>
        <p:spPr>
          <a:xfrm>
            <a:off x="8536500" y="5285040"/>
            <a:ext cx="90768" cy="142187"/>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45" name="TextBox 44"/>
          <p:cNvSpPr txBox="1"/>
          <p:nvPr/>
        </p:nvSpPr>
        <p:spPr>
          <a:xfrm>
            <a:off x="1260355" y="4960753"/>
            <a:ext cx="6028343" cy="369332"/>
          </a:xfrm>
          <a:prstGeom prst="rect">
            <a:avLst/>
          </a:prstGeom>
          <a:solidFill>
            <a:schemeClr val="bg1"/>
          </a:solidFill>
        </p:spPr>
        <p:txBody>
          <a:bodyPr wrap="square" rtlCol="0">
            <a:spAutoFit/>
          </a:bodyPr>
          <a:lstStyle/>
          <a:p>
            <a:pPr algn="ctr"/>
            <a:r>
              <a:rPr lang="en-US" dirty="0"/>
              <a:t>…………………………Timeline…………………………</a:t>
            </a:r>
            <a:endParaRPr lang="en-GB" dirty="0"/>
          </a:p>
        </p:txBody>
      </p:sp>
      <p:sp>
        <p:nvSpPr>
          <p:cNvPr id="46" name="TextBox 45"/>
          <p:cNvSpPr txBox="1"/>
          <p:nvPr/>
        </p:nvSpPr>
        <p:spPr>
          <a:xfrm>
            <a:off x="894626" y="4960752"/>
            <a:ext cx="412292" cy="323165"/>
          </a:xfrm>
          <a:prstGeom prst="rect">
            <a:avLst/>
          </a:prstGeom>
          <a:solidFill>
            <a:schemeClr val="bg1"/>
          </a:solidFill>
        </p:spPr>
        <p:txBody>
          <a:bodyPr wrap="none" rtlCol="0">
            <a:spAutoFit/>
          </a:bodyPr>
          <a:lstStyle/>
          <a:p>
            <a:r>
              <a:rPr lang="en-US" sz="1500" dirty="0"/>
              <a:t>BC</a:t>
            </a:r>
            <a:endParaRPr lang="en-GB" sz="1500" dirty="0"/>
          </a:p>
        </p:txBody>
      </p:sp>
      <p:sp>
        <p:nvSpPr>
          <p:cNvPr id="47" name="TextBox 46"/>
          <p:cNvSpPr txBox="1"/>
          <p:nvPr/>
        </p:nvSpPr>
        <p:spPr>
          <a:xfrm>
            <a:off x="7288699" y="4960752"/>
            <a:ext cx="464740" cy="323165"/>
          </a:xfrm>
          <a:prstGeom prst="rect">
            <a:avLst/>
          </a:prstGeom>
          <a:solidFill>
            <a:schemeClr val="bg1"/>
          </a:solidFill>
        </p:spPr>
        <p:txBody>
          <a:bodyPr wrap="square" rtlCol="0">
            <a:spAutoFit/>
          </a:bodyPr>
          <a:lstStyle/>
          <a:p>
            <a:r>
              <a:rPr lang="en-US" sz="1500" dirty="0"/>
              <a:t>AD</a:t>
            </a:r>
            <a:endParaRPr lang="en-GB" sz="1500" dirty="0"/>
          </a:p>
        </p:txBody>
      </p:sp>
      <p:sp>
        <p:nvSpPr>
          <p:cNvPr id="48" name="TextBox 47"/>
          <p:cNvSpPr txBox="1"/>
          <p:nvPr/>
        </p:nvSpPr>
        <p:spPr>
          <a:xfrm>
            <a:off x="7743354" y="4967359"/>
            <a:ext cx="1263166" cy="323165"/>
          </a:xfrm>
          <a:prstGeom prst="rect">
            <a:avLst/>
          </a:prstGeom>
          <a:noFill/>
        </p:spPr>
        <p:txBody>
          <a:bodyPr wrap="none" rtlCol="0">
            <a:spAutoFit/>
          </a:bodyPr>
          <a:lstStyle/>
          <a:p>
            <a:r>
              <a:rPr lang="en-US" sz="1500" b="1" dirty="0">
                <a:solidFill>
                  <a:srgbClr val="FF0000"/>
                </a:solidFill>
              </a:rPr>
              <a:t>Current Time</a:t>
            </a:r>
            <a:endParaRPr lang="en-GB" sz="1500" b="1" dirty="0">
              <a:solidFill>
                <a:srgbClr val="FF0000"/>
              </a:solidFill>
            </a:endParaRPr>
          </a:p>
        </p:txBody>
      </p:sp>
      <p:sp>
        <p:nvSpPr>
          <p:cNvPr id="49" name="Rectangle 48"/>
          <p:cNvSpPr/>
          <p:nvPr/>
        </p:nvSpPr>
        <p:spPr>
          <a:xfrm>
            <a:off x="894626" y="1170598"/>
            <a:ext cx="7658647" cy="830997"/>
          </a:xfrm>
          <a:prstGeom prst="rect">
            <a:avLst/>
          </a:prstGeom>
        </p:spPr>
        <p:txBody>
          <a:bodyPr wrap="square">
            <a:spAutoFit/>
          </a:bodyPr>
          <a:lstStyle/>
          <a:p>
            <a:r>
              <a:rPr lang="en-US" sz="2400" dirty="0"/>
              <a:t>Communication systems are designed to transmit information from one place to another</a:t>
            </a:r>
          </a:p>
        </p:txBody>
      </p:sp>
    </p:spTree>
    <p:extLst>
      <p:ext uri="{BB962C8B-B14F-4D97-AF65-F5344CB8AC3E}">
        <p14:creationId xmlns:p14="http://schemas.microsoft.com/office/powerpoint/2010/main" val="2491469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13486" y="132520"/>
            <a:ext cx="8613913" cy="800074"/>
          </a:xfrm>
        </p:spPr>
        <p:txBody>
          <a:bodyPr>
            <a:normAutofit/>
          </a:bodyPr>
          <a:lstStyle/>
          <a:p>
            <a:r>
              <a:rPr lang="en-US" sz="4000" dirty="0"/>
              <a:t>Introduction to Communication Systems</a:t>
            </a:r>
            <a:endParaRPr lang="en-GB" sz="4000" dirty="0"/>
          </a:p>
        </p:txBody>
      </p:sp>
      <p:sp>
        <p:nvSpPr>
          <p:cNvPr id="3" name="Content Placeholder 2"/>
          <p:cNvSpPr>
            <a:spLocks noGrp="1"/>
          </p:cNvSpPr>
          <p:nvPr>
            <p:ph idx="1"/>
          </p:nvPr>
        </p:nvSpPr>
        <p:spPr/>
        <p:txBody>
          <a:bodyPr>
            <a:normAutofit fontScale="92500" lnSpcReduction="20000"/>
          </a:bodyPr>
          <a:lstStyle/>
          <a:p>
            <a:r>
              <a:rPr lang="en-US" dirty="0"/>
              <a:t>What are communication systems?</a:t>
            </a:r>
          </a:p>
          <a:p>
            <a:pPr lvl="1">
              <a:buFont typeface="Wingdings" panose="05000000000000000000" pitchFamily="2" charset="2"/>
              <a:buChar char="ü"/>
            </a:pPr>
            <a:r>
              <a:rPr lang="en-US" dirty="0"/>
              <a:t>systems designed for the purpose of transmission and reception of information</a:t>
            </a:r>
          </a:p>
          <a:p>
            <a:r>
              <a:rPr lang="en-US" dirty="0"/>
              <a:t>Electrical engineer is concern about solving communication and electric energy problems such as computers, electrical and electronic circuits, electronic devices, photonics, electromagnetics, etc.</a:t>
            </a:r>
          </a:p>
          <a:p>
            <a:r>
              <a:rPr lang="en-US" dirty="0"/>
              <a:t>Areas of application – Analog communication</a:t>
            </a:r>
          </a:p>
          <a:p>
            <a:pPr lvl="1">
              <a:buFont typeface="Wingdings" panose="05000000000000000000" pitchFamily="2" charset="2"/>
              <a:buChar char="ü"/>
            </a:pPr>
            <a:r>
              <a:rPr lang="en-US" altLang="en-US" dirty="0"/>
              <a:t>Old telephone networks</a:t>
            </a:r>
          </a:p>
          <a:p>
            <a:pPr lvl="1">
              <a:buFont typeface="Wingdings" panose="05000000000000000000" pitchFamily="2" charset="2"/>
              <a:buChar char="ü"/>
            </a:pPr>
            <a:r>
              <a:rPr lang="en-US" altLang="en-US" dirty="0"/>
              <a:t>Most television broadcasting at present</a:t>
            </a:r>
          </a:p>
          <a:p>
            <a:pPr lvl="1">
              <a:buFont typeface="Wingdings" panose="05000000000000000000" pitchFamily="2" charset="2"/>
              <a:buChar char="ü"/>
            </a:pPr>
            <a:r>
              <a:rPr lang="en-US" altLang="en-US" dirty="0"/>
              <a:t>Radio broadcasting</a:t>
            </a:r>
          </a:p>
          <a:p>
            <a:pPr lvl="1">
              <a:buFont typeface="Wingdings" panose="05000000000000000000" pitchFamily="2" charset="2"/>
              <a:buChar char="ü"/>
            </a:pPr>
            <a:r>
              <a:rPr lang="en-US" dirty="0"/>
              <a:t>Digital data transmission – analog channel</a:t>
            </a:r>
          </a:p>
        </p:txBody>
      </p:sp>
      <p:sp>
        <p:nvSpPr>
          <p:cNvPr id="2" name="Slide Number Placeholder 1"/>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7" name="Picture 6"/>
          <p:cNvPicPr>
            <a:picLocks noChangeAspect="1"/>
          </p:cNvPicPr>
          <p:nvPr/>
        </p:nvPicPr>
        <p:blipFill>
          <a:blip r:embed="rId3">
            <a:lum bright="-40000" contrast="20000"/>
          </a:blip>
          <a:stretch>
            <a:fillRect/>
          </a:stretch>
        </p:blipFill>
        <p:spPr>
          <a:xfrm flipH="1">
            <a:off x="6215350" y="3132466"/>
            <a:ext cx="2577845" cy="2383871"/>
          </a:xfrm>
          <a:prstGeom prst="rect">
            <a:avLst/>
          </a:prstGeom>
        </p:spPr>
      </p:pic>
    </p:spTree>
    <p:extLst>
      <p:ext uri="{BB962C8B-B14F-4D97-AF65-F5344CB8AC3E}">
        <p14:creationId xmlns:p14="http://schemas.microsoft.com/office/powerpoint/2010/main" val="563908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Types of Communication Systems and Sources</a:t>
            </a:r>
            <a:endParaRPr lang="en-GB" sz="3600" dirty="0"/>
          </a:p>
        </p:txBody>
      </p:sp>
      <p:sp>
        <p:nvSpPr>
          <p:cNvPr id="3" name="Content Placeholder 2"/>
          <p:cNvSpPr>
            <a:spLocks noGrp="1"/>
          </p:cNvSpPr>
          <p:nvPr>
            <p:ph idx="1"/>
          </p:nvPr>
        </p:nvSpPr>
        <p:spPr>
          <a:xfrm>
            <a:off x="338203" y="1358292"/>
            <a:ext cx="4207291" cy="3502478"/>
          </a:xfrm>
        </p:spPr>
        <p:txBody>
          <a:bodyPr>
            <a:noAutofit/>
          </a:bodyPr>
          <a:lstStyle/>
          <a:p>
            <a:r>
              <a:rPr lang="en-US" sz="2400" dirty="0"/>
              <a:t>Communication Systems are classified based on the type of signal sent on the Channel</a:t>
            </a:r>
          </a:p>
          <a:p>
            <a:r>
              <a:rPr lang="en-US" sz="2400" dirty="0"/>
              <a:t>Analog Source</a:t>
            </a:r>
          </a:p>
          <a:p>
            <a:pPr lvl="1"/>
            <a:r>
              <a:rPr lang="en-US" sz="2400" dirty="0"/>
              <a:t>information source produces messages that are defined within a continuum. i.e. analog messages are characterized by data whole value vary over continuous range</a:t>
            </a:r>
          </a:p>
          <a:p>
            <a:r>
              <a:rPr lang="en-US" sz="2400" dirty="0"/>
              <a:t>A digital source of information produces a finite set of possible messages</a:t>
            </a:r>
            <a:endParaRPr lang="en-GB" sz="2400"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4" name="Picture 3"/>
          <p:cNvPicPr>
            <a:picLocks noChangeAspect="1"/>
          </p:cNvPicPr>
          <p:nvPr/>
        </p:nvPicPr>
        <p:blipFill>
          <a:blip r:embed="rId3"/>
          <a:stretch>
            <a:fillRect/>
          </a:stretch>
        </p:blipFill>
        <p:spPr>
          <a:xfrm>
            <a:off x="4545494" y="1358292"/>
            <a:ext cx="4407694" cy="3502478"/>
          </a:xfrm>
          <a:prstGeom prst="rect">
            <a:avLst/>
          </a:prstGeom>
        </p:spPr>
      </p:pic>
    </p:spTree>
    <p:extLst>
      <p:ext uri="{BB962C8B-B14F-4D97-AF65-F5344CB8AC3E}">
        <p14:creationId xmlns:p14="http://schemas.microsoft.com/office/powerpoint/2010/main" val="2707454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32029" y="278376"/>
            <a:ext cx="7704667" cy="531772"/>
          </a:xfrm>
        </p:spPr>
        <p:txBody>
          <a:bodyPr>
            <a:normAutofit fontScale="90000"/>
          </a:bodyPr>
          <a:lstStyle/>
          <a:p>
            <a:r>
              <a:rPr lang="en-US" altLang="en-US" dirty="0"/>
              <a:t>Transmission Modes</a:t>
            </a:r>
          </a:p>
        </p:txBody>
      </p:sp>
      <p:sp>
        <p:nvSpPr>
          <p:cNvPr id="13315" name="Rectangle 3"/>
          <p:cNvSpPr>
            <a:spLocks noGrp="1" noChangeArrowheads="1"/>
          </p:cNvSpPr>
          <p:nvPr>
            <p:ph idx="1"/>
          </p:nvPr>
        </p:nvSpPr>
        <p:spPr>
          <a:xfrm>
            <a:off x="352367" y="972344"/>
            <a:ext cx="8500084" cy="5315721"/>
          </a:xfrm>
        </p:spPr>
        <p:txBody>
          <a:bodyPr>
            <a:noAutofit/>
          </a:bodyPr>
          <a:lstStyle/>
          <a:p>
            <a:pPr>
              <a:buFont typeface="Arial" panose="020B0604020202020204" pitchFamily="34" charset="0"/>
              <a:buChar char="•"/>
            </a:pPr>
            <a:r>
              <a:rPr lang="en-US" altLang="en-US" sz="2800" dirty="0"/>
              <a:t>Simplex (SX) – one direction only, i.e. </a:t>
            </a:r>
            <a:r>
              <a:rPr lang="en-US" sz="2800" dirty="0"/>
              <a:t>the receiver only receives without sending back acknowledgement </a:t>
            </a:r>
            <a:r>
              <a:rPr lang="en-US" altLang="en-US" sz="2800" dirty="0"/>
              <a:t>e.g. TV</a:t>
            </a:r>
          </a:p>
          <a:p>
            <a:pPr>
              <a:buFont typeface="Arial" panose="020B0604020202020204" pitchFamily="34" charset="0"/>
              <a:buChar char="•"/>
            </a:pPr>
            <a:r>
              <a:rPr lang="en-US" altLang="en-US" sz="2800" dirty="0"/>
              <a:t>Half Duplex (HDX) – both directions but not at the same time. </a:t>
            </a:r>
            <a:r>
              <a:rPr lang="en-US" sz="2800" dirty="0"/>
              <a:t>At a point in time the transmitter becomes the receiver and vice versa</a:t>
            </a:r>
            <a:r>
              <a:rPr lang="en-US" altLang="en-US" sz="2800" dirty="0"/>
              <a:t> e.g. walkie-talkie</a:t>
            </a:r>
          </a:p>
          <a:p>
            <a:pPr>
              <a:buFont typeface="Arial" panose="020B0604020202020204" pitchFamily="34" charset="0"/>
              <a:buChar char="•"/>
            </a:pPr>
            <a:r>
              <a:rPr lang="en-US" altLang="en-US" sz="2800" dirty="0"/>
              <a:t>Full Duplex (FDX) – transmit and receive simultaneously between two stations at same time. No need to switch modes as HDX. e.g. standard telephone system</a:t>
            </a:r>
          </a:p>
          <a:p>
            <a:pPr>
              <a:buFont typeface="Arial" panose="020B0604020202020204" pitchFamily="34" charset="0"/>
              <a:buChar char="•"/>
            </a:pPr>
            <a:r>
              <a:rPr lang="en-US" altLang="en-US" sz="2800" dirty="0"/>
              <a:t>Full/Full Duplex (F/FDX) - transmit and receive simultaneously but not necessarily just between two stations, e.g. data communications circuits</a:t>
            </a:r>
          </a:p>
        </p:txBody>
      </p:sp>
      <p:sp>
        <p:nvSpPr>
          <p:cNvPr id="2" name="Slide Number Placeholder 1"/>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3402735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Basic Structure of Communication System</a:t>
            </a:r>
            <a:endParaRPr lang="en-GB" sz="4000" dirty="0"/>
          </a:p>
        </p:txBody>
      </p:sp>
      <p:sp>
        <p:nvSpPr>
          <p:cNvPr id="3" name="Content Placeholder 2"/>
          <p:cNvSpPr>
            <a:spLocks noGrp="1"/>
          </p:cNvSpPr>
          <p:nvPr>
            <p:ph idx="1"/>
          </p:nvPr>
        </p:nvSpPr>
        <p:spPr>
          <a:xfrm>
            <a:off x="413359" y="3889780"/>
            <a:ext cx="8213911" cy="2085135"/>
          </a:xfrm>
        </p:spPr>
        <p:txBody>
          <a:bodyPr>
            <a:noAutofit/>
          </a:bodyPr>
          <a:lstStyle/>
          <a:p>
            <a:pPr indent="0" algn="just">
              <a:spcAft>
                <a:spcPts val="472"/>
              </a:spcAft>
            </a:pPr>
            <a:r>
              <a:rPr lang="en-US" sz="1800" b="1" dirty="0">
                <a:latin typeface="Arial"/>
              </a:rPr>
              <a:t>Three</a:t>
            </a:r>
            <a:r>
              <a:rPr lang="en-US" sz="1400" b="1" dirty="0">
                <a:latin typeface="Arial"/>
              </a:rPr>
              <a:t> basic elements</a:t>
            </a:r>
          </a:p>
          <a:p>
            <a:pPr marL="598155" indent="-257168">
              <a:lnSpc>
                <a:spcPts val="1620"/>
              </a:lnSpc>
              <a:spcAft>
                <a:spcPts val="158"/>
              </a:spcAft>
              <a:buFont typeface="Wingdings" panose="05000000000000000000" pitchFamily="2" charset="2"/>
              <a:buChar char="ü"/>
            </a:pPr>
            <a:r>
              <a:rPr lang="en-US" sz="2000" b="1" dirty="0">
                <a:solidFill>
                  <a:srgbClr val="006500"/>
                </a:solidFill>
                <a:latin typeface="Arial"/>
              </a:rPr>
              <a:t>Transmitter</a:t>
            </a:r>
            <a:r>
              <a:rPr lang="en-US" sz="2000" dirty="0">
                <a:solidFill>
                  <a:srgbClr val="33339A"/>
                </a:solidFill>
                <a:latin typeface="Arial"/>
              </a:rPr>
              <a:t>: converts message into a form suitable for transmission. </a:t>
            </a:r>
          </a:p>
          <a:p>
            <a:pPr marL="598155" indent="-257168">
              <a:lnSpc>
                <a:spcPts val="1620"/>
              </a:lnSpc>
              <a:spcAft>
                <a:spcPts val="158"/>
              </a:spcAft>
              <a:buFont typeface="Wingdings" panose="05000000000000000000" pitchFamily="2" charset="2"/>
              <a:buChar char="ü"/>
            </a:pPr>
            <a:r>
              <a:rPr lang="en-US" sz="2000" b="1" dirty="0">
                <a:solidFill>
                  <a:srgbClr val="006500"/>
                </a:solidFill>
                <a:latin typeface="Arial"/>
              </a:rPr>
              <a:t>Channel</a:t>
            </a:r>
            <a:r>
              <a:rPr lang="en-US" sz="2000" dirty="0">
                <a:solidFill>
                  <a:srgbClr val="33339A"/>
                </a:solidFill>
                <a:latin typeface="Arial"/>
              </a:rPr>
              <a:t>: the physical medium, introduces distortion, noise, interference, etc.</a:t>
            </a:r>
          </a:p>
          <a:p>
            <a:pPr marL="598155" indent="-257168">
              <a:lnSpc>
                <a:spcPts val="1620"/>
              </a:lnSpc>
              <a:spcAft>
                <a:spcPts val="158"/>
              </a:spcAft>
              <a:buFont typeface="Wingdings" panose="05000000000000000000" pitchFamily="2" charset="2"/>
              <a:buChar char="ü"/>
            </a:pPr>
            <a:r>
              <a:rPr lang="en-US" sz="2000" b="1" dirty="0">
                <a:solidFill>
                  <a:srgbClr val="006500"/>
                </a:solidFill>
                <a:latin typeface="Arial"/>
              </a:rPr>
              <a:t>Receiver</a:t>
            </a:r>
            <a:r>
              <a:rPr lang="en-US" sz="2000" dirty="0">
                <a:solidFill>
                  <a:srgbClr val="33339A"/>
                </a:solidFill>
                <a:latin typeface="Arial"/>
              </a:rPr>
              <a:t>: reconstruct a recognizable form of the message</a:t>
            </a:r>
          </a:p>
          <a:p>
            <a:endParaRPr lang="en-GB" sz="2000"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12</a:t>
            </a:fld>
            <a:endParaRPr lang="en-US" dirty="0"/>
          </a:p>
        </p:txBody>
      </p:sp>
      <p:pic>
        <p:nvPicPr>
          <p:cNvPr id="7" name="Picture 6"/>
          <p:cNvPicPr>
            <a:picLocks noChangeAspect="1"/>
          </p:cNvPicPr>
          <p:nvPr/>
        </p:nvPicPr>
        <p:blipFill>
          <a:blip r:embed="rId3"/>
          <a:stretch>
            <a:fillRect/>
          </a:stretch>
        </p:blipFill>
        <p:spPr>
          <a:xfrm>
            <a:off x="207817" y="1553285"/>
            <a:ext cx="8936185" cy="2336496"/>
          </a:xfrm>
          <a:prstGeom prst="rect">
            <a:avLst/>
          </a:prstGeom>
        </p:spPr>
      </p:pic>
    </p:spTree>
    <p:extLst>
      <p:ext uri="{BB962C8B-B14F-4D97-AF65-F5344CB8AC3E}">
        <p14:creationId xmlns:p14="http://schemas.microsoft.com/office/powerpoint/2010/main" val="3256616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Basic Structure of Communication System</a:t>
            </a:r>
          </a:p>
        </p:txBody>
      </p:sp>
      <p:sp>
        <p:nvSpPr>
          <p:cNvPr id="3" name="Content Placeholder 2"/>
          <p:cNvSpPr>
            <a:spLocks noGrp="1"/>
          </p:cNvSpPr>
          <p:nvPr>
            <p:ph idx="1"/>
          </p:nvPr>
        </p:nvSpPr>
        <p:spPr>
          <a:xfrm>
            <a:off x="338203" y="1099930"/>
            <a:ext cx="8514248" cy="4769164"/>
          </a:xfrm>
        </p:spPr>
        <p:txBody>
          <a:bodyPr>
            <a:normAutofit fontScale="92500" lnSpcReduction="10000"/>
          </a:bodyPr>
          <a:lstStyle/>
          <a:p>
            <a:pPr marL="0" indent="0">
              <a:buNone/>
            </a:pPr>
            <a:r>
              <a:rPr lang="en-US" sz="3900" b="1" dirty="0"/>
              <a:t>Transmitter</a:t>
            </a:r>
          </a:p>
          <a:p>
            <a:pPr>
              <a:buFont typeface="Wingdings" panose="05000000000000000000" pitchFamily="2" charset="2"/>
              <a:buChar char="§"/>
            </a:pPr>
            <a:r>
              <a:rPr lang="en-US" dirty="0"/>
              <a:t>Collection of electronic circuits designed converts electrical signal into a form suitable for transmission based on the characteristics of the transmission channel.</a:t>
            </a:r>
          </a:p>
          <a:p>
            <a:pPr>
              <a:buFont typeface="Wingdings" panose="05000000000000000000" pitchFamily="2" charset="2"/>
              <a:buChar char="§"/>
            </a:pPr>
            <a:r>
              <a:rPr lang="en-US" dirty="0"/>
              <a:t>The transmitter performs matching of message signal to the channel in a process called </a:t>
            </a:r>
            <a:r>
              <a:rPr lang="en-US" b="1" dirty="0"/>
              <a:t>modulation</a:t>
            </a:r>
            <a:r>
              <a:rPr lang="en-US" dirty="0"/>
              <a:t>.</a:t>
            </a:r>
          </a:p>
          <a:p>
            <a:pPr>
              <a:buFont typeface="Wingdings" panose="05000000000000000000" pitchFamily="2" charset="2"/>
              <a:buChar char="§"/>
            </a:pPr>
            <a:r>
              <a:rPr lang="en-US" dirty="0"/>
              <a:t>The modulation process translates the information signal to frequencies that match the allocation of the channel. </a:t>
            </a:r>
            <a:br>
              <a:rPr lang="en-US" dirty="0"/>
            </a:br>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13</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18136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Transmitter</a:t>
            </a:r>
          </a:p>
        </p:txBody>
      </p:sp>
      <p:sp>
        <p:nvSpPr>
          <p:cNvPr id="3" name="Content Placeholder 2"/>
          <p:cNvSpPr>
            <a:spLocks noGrp="1"/>
          </p:cNvSpPr>
          <p:nvPr>
            <p:ph idx="1"/>
          </p:nvPr>
        </p:nvSpPr>
        <p:spPr/>
        <p:txBody>
          <a:bodyPr>
            <a:normAutofit/>
          </a:bodyPr>
          <a:lstStyle/>
          <a:p>
            <a:r>
              <a:rPr lang="en-US" sz="3600" dirty="0"/>
              <a:t>What factors influence the choice of modulation, FM, AM, </a:t>
            </a:r>
            <a:r>
              <a:rPr lang="en-US" sz="3600" dirty="0" err="1"/>
              <a:t>etc</a:t>
            </a:r>
            <a:r>
              <a:rPr lang="en-US" sz="3600" dirty="0"/>
              <a:t>?</a:t>
            </a:r>
          </a:p>
          <a:p>
            <a:pPr>
              <a:buFont typeface="Wingdings" panose="05000000000000000000" pitchFamily="2" charset="2"/>
              <a:buChar char="§"/>
            </a:pPr>
            <a:r>
              <a:rPr lang="en-US" sz="3600" dirty="0"/>
              <a:t>The amount of bandwidth allocated</a:t>
            </a:r>
          </a:p>
          <a:p>
            <a:pPr>
              <a:buFont typeface="Wingdings" panose="05000000000000000000" pitchFamily="2" charset="2"/>
              <a:buChar char="§"/>
            </a:pPr>
            <a:r>
              <a:rPr lang="en-US" sz="3600" dirty="0"/>
              <a:t>The types of noise and interference that the signal encounters in transmission</a:t>
            </a:r>
          </a:p>
          <a:p>
            <a:pPr>
              <a:buFont typeface="Wingdings" panose="05000000000000000000" pitchFamily="2" charset="2"/>
              <a:buChar char="§"/>
            </a:pPr>
            <a:r>
              <a:rPr lang="en-US" sz="3600" dirty="0"/>
              <a:t>Transmitter / Receiver type </a:t>
            </a:r>
            <a:br>
              <a:rPr lang="en-US" sz="3600" dirty="0"/>
            </a:br>
            <a:endParaRPr lang="en-US" sz="3600"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14</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42277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 Channel</a:t>
            </a:r>
          </a:p>
        </p:txBody>
      </p:sp>
      <p:sp>
        <p:nvSpPr>
          <p:cNvPr id="3" name="Content Placeholder 2"/>
          <p:cNvSpPr>
            <a:spLocks noGrp="1"/>
          </p:cNvSpPr>
          <p:nvPr>
            <p:ph idx="1"/>
          </p:nvPr>
        </p:nvSpPr>
        <p:spPr/>
        <p:txBody>
          <a:bodyPr>
            <a:normAutofit lnSpcReduction="10000"/>
          </a:bodyPr>
          <a:lstStyle/>
          <a:p>
            <a:r>
              <a:rPr lang="en-US" dirty="0"/>
              <a:t>The channel is central to the operation of a communication system</a:t>
            </a:r>
          </a:p>
          <a:p>
            <a:pPr lvl="1"/>
            <a:r>
              <a:rPr lang="en-US" dirty="0"/>
              <a:t>Linear (e.g., mobile radio) or nonlinear (e.g., satellite)</a:t>
            </a:r>
          </a:p>
          <a:p>
            <a:pPr lvl="1"/>
            <a:r>
              <a:rPr lang="en-US" dirty="0"/>
              <a:t>Time invariant (e.g., fiber) or time varying (e.g., mobile radio)</a:t>
            </a:r>
          </a:p>
          <a:p>
            <a:r>
              <a:rPr lang="en-US" dirty="0"/>
              <a:t>Pursuit for wider bandwidth</a:t>
            </a:r>
          </a:p>
          <a:p>
            <a:pPr lvl="1"/>
            <a:r>
              <a:rPr lang="en-US" dirty="0"/>
              <a:t>Copper wire: 1 MHz</a:t>
            </a:r>
          </a:p>
          <a:p>
            <a:pPr lvl="1"/>
            <a:r>
              <a:rPr lang="en-US" dirty="0"/>
              <a:t>Coaxial cable: 100 MHz</a:t>
            </a:r>
          </a:p>
          <a:p>
            <a:pPr lvl="1"/>
            <a:r>
              <a:rPr lang="en-US" dirty="0"/>
              <a:t>Microwave: GHz</a:t>
            </a:r>
          </a:p>
          <a:p>
            <a:pPr lvl="1"/>
            <a:r>
              <a:rPr lang="en-US" dirty="0"/>
              <a:t>Optical fiber: THz</a:t>
            </a:r>
          </a:p>
          <a:p>
            <a:pPr lvl="2"/>
            <a:r>
              <a:rPr lang="en-US" dirty="0"/>
              <a:t>Highest capacity among all practical signals</a:t>
            </a:r>
          </a:p>
          <a:p>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15</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778607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 Channels</a:t>
            </a:r>
          </a:p>
        </p:txBody>
      </p:sp>
      <p:sp>
        <p:nvSpPr>
          <p:cNvPr id="3" name="Content Placeholder 2"/>
          <p:cNvSpPr>
            <a:spLocks noGrp="1"/>
          </p:cNvSpPr>
          <p:nvPr>
            <p:ph idx="1"/>
          </p:nvPr>
        </p:nvSpPr>
        <p:spPr/>
        <p:txBody>
          <a:bodyPr>
            <a:noAutofit/>
          </a:bodyPr>
          <a:lstStyle/>
          <a:p>
            <a:pPr>
              <a:buFont typeface="Wingdings" panose="05000000000000000000" pitchFamily="2" charset="2"/>
              <a:buChar char="§"/>
            </a:pPr>
            <a:r>
              <a:rPr lang="en-US" dirty="0"/>
              <a:t>The communication medium possesses a serious challenge such as distortion, interference, and noise to the transmitted signal</a:t>
            </a:r>
          </a:p>
          <a:p>
            <a:pPr>
              <a:buFont typeface="Wingdings" panose="05000000000000000000" pitchFamily="2" charset="2"/>
              <a:buChar char="§"/>
            </a:pPr>
            <a:r>
              <a:rPr lang="en-US" dirty="0"/>
              <a:t>Transmitted signal get corrupted in a random manner by a variety of ways (additive noise ) as they pass through the channel</a:t>
            </a:r>
          </a:p>
          <a:p>
            <a:pPr>
              <a:buFont typeface="Wingdings" panose="05000000000000000000" pitchFamily="2" charset="2"/>
              <a:buChar char="§"/>
            </a:pPr>
            <a:r>
              <a:rPr lang="en-US" dirty="0"/>
              <a:t>In the design of a communication system, the system designer works with mathematical models</a:t>
            </a:r>
            <a:br>
              <a:rPr lang="en-US" dirty="0"/>
            </a:br>
            <a:r>
              <a:rPr lang="en-US" dirty="0"/>
              <a:t>that statistically characterize the signal distortion encountered on physical channels. </a:t>
            </a:r>
            <a:br>
              <a:rPr lang="en-US" dirty="0"/>
            </a:br>
            <a:br>
              <a:rPr lang="en-US" dirty="0"/>
            </a:br>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16</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754048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538" y="132520"/>
            <a:ext cx="8613913" cy="800074"/>
          </a:xfrm>
        </p:spPr>
        <p:txBody>
          <a:bodyPr/>
          <a:lstStyle/>
          <a:p>
            <a:r>
              <a:rPr lang="en-US" dirty="0"/>
              <a:t>Types of communication channels</a:t>
            </a:r>
          </a:p>
        </p:txBody>
      </p:sp>
      <p:sp>
        <p:nvSpPr>
          <p:cNvPr id="3" name="Content Placeholder 2"/>
          <p:cNvSpPr>
            <a:spLocks noGrp="1"/>
          </p:cNvSpPr>
          <p:nvPr>
            <p:ph idx="1"/>
          </p:nvPr>
        </p:nvSpPr>
        <p:spPr>
          <a:xfrm>
            <a:off x="238538" y="1099930"/>
            <a:ext cx="8613913" cy="4769164"/>
          </a:xfrm>
        </p:spPr>
        <p:txBody>
          <a:bodyPr/>
          <a:lstStyle/>
          <a:p>
            <a:r>
              <a:rPr lang="en-US" dirty="0"/>
              <a:t>Conducting pair of wires</a:t>
            </a:r>
          </a:p>
          <a:p>
            <a:pPr lvl="1"/>
            <a:r>
              <a:rPr lang="en-US" dirty="0"/>
              <a:t>Commonly use in telephony and telegraphy – transmitter and receiver is physical wired to each other.</a:t>
            </a:r>
          </a:p>
          <a:p>
            <a:r>
              <a:rPr lang="en-US" dirty="0"/>
              <a:t>Coaxial cables</a:t>
            </a:r>
          </a:p>
          <a:p>
            <a:pPr lvl="1"/>
            <a:r>
              <a:rPr lang="en-US" dirty="0"/>
              <a:t>Provide greater bandwidth, lower losses and minimal crosstalk</a:t>
            </a:r>
          </a:p>
          <a:p>
            <a:pPr lvl="1"/>
            <a:br>
              <a:rPr lang="en-US" dirty="0"/>
            </a:br>
            <a:endParaRPr lang="en-US" dirty="0"/>
          </a:p>
        </p:txBody>
      </p:sp>
      <p:sp>
        <p:nvSpPr>
          <p:cNvPr id="4" name="Slide Number Placeholder 3"/>
          <p:cNvSpPr>
            <a:spLocks noGrp="1"/>
          </p:cNvSpPr>
          <p:nvPr>
            <p:ph type="sldNum" sz="quarter" idx="12"/>
          </p:nvPr>
        </p:nvSpPr>
        <p:spPr>
          <a:xfrm>
            <a:off x="7868432" y="6450261"/>
            <a:ext cx="984019" cy="365125"/>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17</a:t>
            </a:fld>
            <a:endParaRPr lang="en-US" sz="1800" kern="0" dirty="0">
              <a:solidFill>
                <a:sysClr val="windowText" lastClr="000000"/>
              </a:solidFill>
            </a:endParaRPr>
          </a:p>
        </p:txBody>
      </p:sp>
      <p:pic>
        <p:nvPicPr>
          <p:cNvPr id="5" name="Picture 4"/>
          <p:cNvPicPr>
            <a:picLocks noChangeAspect="1"/>
          </p:cNvPicPr>
          <p:nvPr/>
        </p:nvPicPr>
        <p:blipFill>
          <a:blip r:embed="rId2"/>
          <a:stretch>
            <a:fillRect/>
          </a:stretch>
        </p:blipFill>
        <p:spPr>
          <a:xfrm>
            <a:off x="2227702" y="3733011"/>
            <a:ext cx="5311988" cy="2573589"/>
          </a:xfrm>
          <a:prstGeom prst="rect">
            <a:avLst/>
          </a:prstGeom>
        </p:spPr>
      </p:pic>
    </p:spTree>
    <p:extLst>
      <p:ext uri="{BB962C8B-B14F-4D97-AF65-F5344CB8AC3E}">
        <p14:creationId xmlns:p14="http://schemas.microsoft.com/office/powerpoint/2010/main" val="1544389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www.online-sciences.com/wp-content/uploads/2015/03/optical-fibre.jpg"/>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5062123" y="2399514"/>
            <a:ext cx="3956819" cy="23543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302927" y="250000"/>
            <a:ext cx="8239823" cy="753056"/>
          </a:xfrm>
        </p:spPr>
        <p:txBody>
          <a:bodyPr>
            <a:noAutofit/>
          </a:bodyPr>
          <a:lstStyle/>
          <a:p>
            <a:r>
              <a:rPr lang="en-US" sz="4400" dirty="0"/>
              <a:t>Types of communication channels</a:t>
            </a:r>
          </a:p>
        </p:txBody>
      </p:sp>
      <p:sp>
        <p:nvSpPr>
          <p:cNvPr id="3" name="Content Placeholder 2"/>
          <p:cNvSpPr>
            <a:spLocks noGrp="1"/>
          </p:cNvSpPr>
          <p:nvPr>
            <p:ph idx="1"/>
          </p:nvPr>
        </p:nvSpPr>
        <p:spPr>
          <a:xfrm>
            <a:off x="302928" y="1106699"/>
            <a:ext cx="4793015" cy="4830638"/>
          </a:xfrm>
        </p:spPr>
        <p:txBody>
          <a:bodyPr>
            <a:noAutofit/>
          </a:bodyPr>
          <a:lstStyle/>
          <a:p>
            <a:pPr>
              <a:lnSpc>
                <a:spcPct val="70000"/>
              </a:lnSpc>
            </a:pPr>
            <a:r>
              <a:rPr lang="en-US" sz="2400" dirty="0"/>
              <a:t>Fiber-optic cables</a:t>
            </a:r>
          </a:p>
          <a:p>
            <a:pPr lvl="1">
              <a:lnSpc>
                <a:spcPct val="70000"/>
              </a:lnSpc>
            </a:pPr>
            <a:r>
              <a:rPr lang="en-US" sz="2400" dirty="0"/>
              <a:t>Transmission of information using light pulses</a:t>
            </a:r>
          </a:p>
          <a:p>
            <a:pPr lvl="1">
              <a:lnSpc>
                <a:spcPct val="70000"/>
              </a:lnSpc>
            </a:pPr>
            <a:r>
              <a:rPr lang="en-US" sz="2400" dirty="0"/>
              <a:t>The main advantage of these cables is that they provide large bandwidth </a:t>
            </a:r>
          </a:p>
          <a:p>
            <a:pPr lvl="1">
              <a:lnSpc>
                <a:spcPct val="70000"/>
              </a:lnSpc>
            </a:pPr>
            <a:r>
              <a:rPr lang="en-US" sz="2400" dirty="0"/>
              <a:t>The </a:t>
            </a:r>
            <a:r>
              <a:rPr lang="en-US" sz="2400" dirty="0" err="1"/>
              <a:t>fibre</a:t>
            </a:r>
            <a:r>
              <a:rPr lang="en-US" sz="2400" dirty="0"/>
              <a:t>-optic cable can carry information such as voice, video and computer data </a:t>
            </a:r>
          </a:p>
          <a:p>
            <a:pPr lvl="1">
              <a:lnSpc>
                <a:spcPct val="70000"/>
              </a:lnSpc>
            </a:pPr>
            <a:r>
              <a:rPr lang="en-US" sz="2400" dirty="0"/>
              <a:t>The two most commonly used light sources in </a:t>
            </a:r>
            <a:r>
              <a:rPr lang="en-US" sz="2400" dirty="0" err="1"/>
              <a:t>fibre</a:t>
            </a:r>
            <a:r>
              <a:rPr lang="en-US" sz="2400" dirty="0"/>
              <a:t> optic</a:t>
            </a:r>
            <a:br>
              <a:rPr lang="en-US" sz="2400" dirty="0"/>
            </a:br>
            <a:r>
              <a:rPr lang="en-US" sz="2400" dirty="0"/>
              <a:t>systems are LEDs and semiconductor lasers</a:t>
            </a:r>
          </a:p>
          <a:p>
            <a:pPr lvl="1">
              <a:lnSpc>
                <a:spcPct val="70000"/>
              </a:lnSpc>
            </a:pPr>
            <a:r>
              <a:rPr lang="en-US" sz="2400" dirty="0"/>
              <a:t>Communication system with </a:t>
            </a:r>
            <a:r>
              <a:rPr lang="en-US" sz="2400" dirty="0" err="1"/>
              <a:t>fibre</a:t>
            </a:r>
            <a:r>
              <a:rPr lang="en-US" sz="2400" dirty="0"/>
              <a:t> optic cables are free from interference, unlike coaxial cables </a:t>
            </a:r>
            <a:br>
              <a:rPr lang="en-US" sz="2400" dirty="0"/>
            </a:br>
            <a:br>
              <a:rPr lang="en-US" sz="2400" dirty="0"/>
            </a:br>
            <a:endParaRPr lang="en-US" sz="2400" dirty="0"/>
          </a:p>
        </p:txBody>
      </p:sp>
      <p:sp>
        <p:nvSpPr>
          <p:cNvPr id="4" name="Slide Number Placeholder 3"/>
          <p:cNvSpPr>
            <a:spLocks noGrp="1"/>
          </p:cNvSpPr>
          <p:nvPr>
            <p:ph type="sldNum" sz="quarter" idx="12"/>
          </p:nvPr>
        </p:nvSpPr>
        <p:spPr>
          <a:xfrm>
            <a:off x="7425344" y="6459786"/>
            <a:ext cx="984019" cy="365125"/>
          </a:xfrm>
        </p:spPr>
        <p:txBody>
          <a:bodyPr>
            <a:normAutofit/>
          </a:bodyPr>
          <a:lstStyle/>
          <a:p>
            <a:pPr defTabSz="914400">
              <a:defRPr/>
            </a:pPr>
            <a:fld id="{48F63A3B-78C7-47BE-AE5E-E10140E04643}" type="slidenum">
              <a:rPr kumimoji="0" lang="en-US" b="0" i="0" u="none" strike="noStrike" kern="0" cap="none" spc="0" normalizeH="0" baseline="0" noProof="0" smtClean="0">
                <a:ln>
                  <a:noFill/>
                </a:ln>
                <a:effectLst/>
                <a:uLnTx/>
                <a:uFillTx/>
              </a:rPr>
              <a:pPr defTabSz="914400">
                <a:defRPr/>
              </a:pPr>
              <a:t>18</a:t>
            </a:fld>
            <a:endParaRPr lang="en-US" kern="0"/>
          </a:p>
        </p:txBody>
      </p:sp>
      <p:sp>
        <p:nvSpPr>
          <p:cNvPr id="6" name="Rectangle 5"/>
          <p:cNvSpPr/>
          <p:nvPr/>
        </p:nvSpPr>
        <p:spPr>
          <a:xfrm>
            <a:off x="302927" y="5716173"/>
            <a:ext cx="8620057" cy="923330"/>
          </a:xfrm>
          <a:prstGeom prst="rect">
            <a:avLst/>
          </a:prstGeom>
        </p:spPr>
        <p:txBody>
          <a:bodyPr wrap="square">
            <a:spAutoFit/>
          </a:bodyPr>
          <a:lstStyle/>
          <a:p>
            <a:r>
              <a:rPr lang="en-US" b="1" dirty="0">
                <a:solidFill>
                  <a:srgbClr val="000000"/>
                </a:solidFill>
                <a:latin typeface="NimbusRomNo9L-Medi"/>
              </a:rPr>
              <a:t>Benefits of </a:t>
            </a:r>
            <a:r>
              <a:rPr lang="en-US" b="1" dirty="0" err="1">
                <a:solidFill>
                  <a:srgbClr val="000000"/>
                </a:solidFill>
                <a:latin typeface="NimbusRomNo9L-Medi"/>
              </a:rPr>
              <a:t>fibre</a:t>
            </a:r>
            <a:r>
              <a:rPr lang="en-US" b="1" dirty="0">
                <a:solidFill>
                  <a:srgbClr val="000000"/>
                </a:solidFill>
                <a:latin typeface="NimbusRomNo9L-Medi"/>
              </a:rPr>
              <a:t>-optic cables over conventional electrical cables </a:t>
            </a:r>
            <a:r>
              <a:rPr lang="en-US" b="1" dirty="0">
                <a:solidFill>
                  <a:srgbClr val="000000"/>
                </a:solidFill>
                <a:latin typeface="NimbusRomNo9L-Medi"/>
                <a:sym typeface="Wingdings" panose="05000000000000000000" pitchFamily="2" charset="2"/>
              </a:rPr>
              <a:t> check handout</a:t>
            </a:r>
            <a:r>
              <a:rPr lang="en-US" dirty="0"/>
              <a:t> </a:t>
            </a:r>
            <a:br>
              <a:rPr lang="en-US" dirty="0"/>
            </a:br>
            <a:endParaRPr lang="en-US" dirty="0"/>
          </a:p>
        </p:txBody>
      </p:sp>
    </p:spTree>
    <p:extLst>
      <p:ext uri="{BB962C8B-B14F-4D97-AF65-F5344CB8AC3E}">
        <p14:creationId xmlns:p14="http://schemas.microsoft.com/office/powerpoint/2010/main" val="90006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538" y="132520"/>
            <a:ext cx="8613913" cy="800074"/>
          </a:xfrm>
        </p:spPr>
        <p:txBody>
          <a:bodyPr/>
          <a:lstStyle/>
          <a:p>
            <a:r>
              <a:rPr lang="en-US" dirty="0"/>
              <a:t>Types of communication channels</a:t>
            </a:r>
          </a:p>
        </p:txBody>
      </p:sp>
      <p:sp>
        <p:nvSpPr>
          <p:cNvPr id="3" name="Content Placeholder 2"/>
          <p:cNvSpPr>
            <a:spLocks noGrp="1"/>
          </p:cNvSpPr>
          <p:nvPr>
            <p:ph idx="1"/>
          </p:nvPr>
        </p:nvSpPr>
        <p:spPr>
          <a:xfrm>
            <a:off x="238538" y="932594"/>
            <a:ext cx="4956917" cy="5367998"/>
          </a:xfrm>
        </p:spPr>
        <p:txBody>
          <a:bodyPr>
            <a:normAutofit fontScale="92500"/>
          </a:bodyPr>
          <a:lstStyle/>
          <a:p>
            <a:r>
              <a:rPr lang="en-US" dirty="0"/>
              <a:t>Transmission lines</a:t>
            </a:r>
          </a:p>
          <a:p>
            <a:pPr lvl="1"/>
            <a:r>
              <a:rPr lang="en-US" dirty="0"/>
              <a:t>The practical examples of the electric waves, which are transmitted along the transmission lines are the electrical power signals and the telephone messages </a:t>
            </a:r>
          </a:p>
          <a:p>
            <a:pPr lvl="1"/>
            <a:endParaRPr lang="en-US" dirty="0"/>
          </a:p>
          <a:p>
            <a:pPr lvl="1"/>
            <a:r>
              <a:rPr lang="en-US" dirty="0"/>
              <a:t>Transmission lines and waveguides serve as</a:t>
            </a:r>
            <a:br>
              <a:rPr lang="en-US" dirty="0"/>
            </a:br>
            <a:r>
              <a:rPr lang="en-US" dirty="0"/>
              <a:t>guided structure used to guide the propagation or transmission of energy from the source</a:t>
            </a:r>
            <a:br>
              <a:rPr lang="en-US" dirty="0"/>
            </a:br>
            <a:r>
              <a:rPr lang="en-US" dirty="0"/>
              <a:t>to the load</a:t>
            </a:r>
          </a:p>
        </p:txBody>
      </p:sp>
      <p:sp>
        <p:nvSpPr>
          <p:cNvPr id="4" name="Slide Number Placeholder 3"/>
          <p:cNvSpPr>
            <a:spLocks noGrp="1"/>
          </p:cNvSpPr>
          <p:nvPr>
            <p:ph type="sldNum" sz="quarter" idx="12"/>
          </p:nvPr>
        </p:nvSpPr>
        <p:spPr>
          <a:xfrm>
            <a:off x="7868432" y="6450261"/>
            <a:ext cx="984019" cy="365125"/>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19</a:t>
            </a:fld>
            <a:endParaRPr lang="en-US" sz="1800" kern="0" dirty="0">
              <a:solidFill>
                <a:sysClr val="windowText" lastClr="000000"/>
              </a:solidFill>
            </a:endParaRPr>
          </a:p>
        </p:txBody>
      </p:sp>
      <p:pic>
        <p:nvPicPr>
          <p:cNvPr id="6" name="Picture 5"/>
          <p:cNvPicPr>
            <a:picLocks noChangeAspect="1"/>
          </p:cNvPicPr>
          <p:nvPr/>
        </p:nvPicPr>
        <p:blipFill rotWithShape="1">
          <a:blip r:embed="rId3"/>
          <a:srcRect r="4306"/>
          <a:stretch/>
        </p:blipFill>
        <p:spPr>
          <a:xfrm>
            <a:off x="5063406" y="1922840"/>
            <a:ext cx="3970407" cy="3123343"/>
          </a:xfrm>
          <a:prstGeom prst="rect">
            <a:avLst/>
          </a:prstGeom>
        </p:spPr>
      </p:pic>
      <p:sp>
        <p:nvSpPr>
          <p:cNvPr id="12" name="TextBox 11"/>
          <p:cNvSpPr txBox="1"/>
          <p:nvPr/>
        </p:nvSpPr>
        <p:spPr>
          <a:xfrm>
            <a:off x="5195455" y="5119389"/>
            <a:ext cx="3838358" cy="369332"/>
          </a:xfrm>
          <a:prstGeom prst="rect">
            <a:avLst/>
          </a:prstGeom>
          <a:noFill/>
        </p:spPr>
        <p:txBody>
          <a:bodyPr wrap="none" rtlCol="0">
            <a:spAutoFit/>
          </a:bodyPr>
          <a:lstStyle/>
          <a:p>
            <a:r>
              <a:rPr lang="en-US" dirty="0"/>
              <a:t>Figure 1.3: Open wire transmission line</a:t>
            </a:r>
          </a:p>
        </p:txBody>
      </p:sp>
    </p:spTree>
    <p:extLst>
      <p:ext uri="{BB962C8B-B14F-4D97-AF65-F5344CB8AC3E}">
        <p14:creationId xmlns:p14="http://schemas.microsoft.com/office/powerpoint/2010/main" val="3400518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communication channels</a:t>
            </a:r>
          </a:p>
        </p:txBody>
      </p:sp>
      <p:sp>
        <p:nvSpPr>
          <p:cNvPr id="3" name="Content Placeholder 2"/>
          <p:cNvSpPr>
            <a:spLocks noGrp="1"/>
          </p:cNvSpPr>
          <p:nvPr>
            <p:ph idx="1"/>
          </p:nvPr>
        </p:nvSpPr>
        <p:spPr>
          <a:xfrm>
            <a:off x="238538" y="1099930"/>
            <a:ext cx="8613913" cy="5132428"/>
          </a:xfrm>
        </p:spPr>
        <p:txBody>
          <a:bodyPr>
            <a:normAutofit fontScale="92500" lnSpcReduction="10000"/>
          </a:bodyPr>
          <a:lstStyle/>
          <a:p>
            <a:r>
              <a:rPr lang="en-US" dirty="0"/>
              <a:t>Radio communication</a:t>
            </a:r>
          </a:p>
          <a:p>
            <a:pPr lvl="1"/>
            <a:r>
              <a:rPr lang="en-US" dirty="0"/>
              <a:t>Radio communication is a wireless communication, requiring no physical wires between transmitter and receiver to carry the signal</a:t>
            </a:r>
          </a:p>
          <a:p>
            <a:pPr lvl="1"/>
            <a:r>
              <a:rPr lang="en-US" dirty="0"/>
              <a:t>Have frequencies ranging from 300 GHz to as low as</a:t>
            </a:r>
            <a:br>
              <a:rPr lang="en-US" dirty="0"/>
            </a:br>
            <a:r>
              <a:rPr lang="en-US" dirty="0"/>
              <a:t>3kHz, and corresponding wavelengths from 1 millimeter to 100 kilometers</a:t>
            </a:r>
          </a:p>
          <a:p>
            <a:pPr lvl="1"/>
            <a:r>
              <a:rPr lang="en-US" dirty="0"/>
              <a:t>Requires two antennas – transmitter and receiver</a:t>
            </a:r>
          </a:p>
          <a:p>
            <a:pPr lvl="1"/>
            <a:r>
              <a:rPr lang="en-US" dirty="0"/>
              <a:t>The medium attenuates the signal and causes it to</a:t>
            </a:r>
            <a:br>
              <a:rPr lang="en-US" dirty="0"/>
            </a:br>
            <a:r>
              <a:rPr lang="en-US" dirty="0"/>
              <a:t>appear much lower in amplitude at the receiver </a:t>
            </a:r>
          </a:p>
          <a:p>
            <a:pPr lvl="1"/>
            <a:r>
              <a:rPr lang="en-US" dirty="0"/>
              <a:t>Radio communication makes it possible to communication over very long distances, even from earth</a:t>
            </a:r>
            <a:br>
              <a:rPr lang="en-US" dirty="0"/>
            </a:br>
            <a:r>
              <a:rPr lang="en-US" dirty="0"/>
              <a:t>to moon. </a:t>
            </a:r>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20</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626110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0" name="Straight Connector 9"/>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33055" y="2086188"/>
            <a:ext cx="338328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a:stretch>
            <a:fillRect/>
          </a:stretch>
        </p:blipFill>
        <p:spPr>
          <a:xfrm>
            <a:off x="277959" y="1672335"/>
            <a:ext cx="4497592" cy="3193290"/>
          </a:xfrm>
          <a:prstGeom prst="rect">
            <a:avLst/>
          </a:prstGeom>
        </p:spPr>
      </p:pic>
      <p:sp>
        <p:nvSpPr>
          <p:cNvPr id="2" name="Title 1"/>
          <p:cNvSpPr>
            <a:spLocks noGrp="1"/>
          </p:cNvSpPr>
          <p:nvPr>
            <p:ph type="title"/>
          </p:nvPr>
        </p:nvSpPr>
        <p:spPr>
          <a:xfrm>
            <a:off x="4891154" y="634947"/>
            <a:ext cx="3762987" cy="1450757"/>
          </a:xfrm>
        </p:spPr>
        <p:txBody>
          <a:bodyPr>
            <a:normAutofit/>
          </a:bodyPr>
          <a:lstStyle/>
          <a:p>
            <a:pPr>
              <a:lnSpc>
                <a:spcPct val="65000"/>
              </a:lnSpc>
            </a:pPr>
            <a:r>
              <a:rPr lang="en-US" sz="4400" dirty="0"/>
              <a:t>Electromagnetic wave propagation</a:t>
            </a:r>
          </a:p>
        </p:txBody>
      </p:sp>
      <p:sp>
        <p:nvSpPr>
          <p:cNvPr id="3" name="Content Placeholder 2"/>
          <p:cNvSpPr>
            <a:spLocks noGrp="1"/>
          </p:cNvSpPr>
          <p:nvPr>
            <p:ph idx="1"/>
          </p:nvPr>
        </p:nvSpPr>
        <p:spPr>
          <a:xfrm>
            <a:off x="4891154" y="2198914"/>
            <a:ext cx="3762988" cy="4076416"/>
          </a:xfrm>
        </p:spPr>
        <p:txBody>
          <a:bodyPr>
            <a:normAutofit fontScale="85000" lnSpcReduction="20000"/>
          </a:bodyPr>
          <a:lstStyle/>
          <a:p>
            <a:pPr>
              <a:buFont typeface="Wingdings" panose="05000000000000000000" pitchFamily="2" charset="2"/>
              <a:buChar char="§"/>
            </a:pPr>
            <a:r>
              <a:rPr lang="en-US" dirty="0"/>
              <a:t>Electromagnetic energy is coupled to the propagation medium by an antenna which serves as the radiator </a:t>
            </a:r>
          </a:p>
          <a:p>
            <a:pPr>
              <a:buFont typeface="Wingdings" panose="05000000000000000000" pitchFamily="2" charset="2"/>
              <a:buChar char="§"/>
            </a:pPr>
            <a:r>
              <a:rPr lang="en-US" dirty="0"/>
              <a:t>Propagation mode is grouped into </a:t>
            </a:r>
          </a:p>
          <a:p>
            <a:pPr lvl="1">
              <a:buFont typeface="Arial" panose="020B0604020202020204" pitchFamily="34" charset="0"/>
              <a:buChar char="•"/>
            </a:pPr>
            <a:r>
              <a:rPr lang="en-US" dirty="0"/>
              <a:t>ground-wave propagation</a:t>
            </a:r>
          </a:p>
          <a:p>
            <a:pPr lvl="1">
              <a:buFont typeface="Arial" panose="020B0604020202020204" pitchFamily="34" charset="0"/>
              <a:buChar char="•"/>
            </a:pPr>
            <a:r>
              <a:rPr lang="en-US" dirty="0"/>
              <a:t>sky-wave propagation</a:t>
            </a:r>
          </a:p>
          <a:p>
            <a:pPr lvl="1">
              <a:buFont typeface="Arial" panose="020B0604020202020204" pitchFamily="34" charset="0"/>
              <a:buChar char="•"/>
            </a:pPr>
            <a:r>
              <a:rPr lang="en-US" dirty="0"/>
              <a:t>line-of-sight (LOS) propagation as indicated in </a:t>
            </a:r>
            <a:r>
              <a:rPr lang="en-US" i="1" dirty="0"/>
              <a:t>Figure </a:t>
            </a:r>
            <a:r>
              <a:rPr lang="en-US" dirty="0"/>
              <a:t>1.4 </a:t>
            </a:r>
          </a:p>
        </p:txBody>
      </p:sp>
      <p:sp>
        <p:nvSpPr>
          <p:cNvPr id="4" name="Slide Number Placeholder 3"/>
          <p:cNvSpPr>
            <a:spLocks noGrp="1"/>
          </p:cNvSpPr>
          <p:nvPr>
            <p:ph type="sldNum" sz="quarter" idx="12"/>
          </p:nvPr>
        </p:nvSpPr>
        <p:spPr>
          <a:xfrm>
            <a:off x="7425344" y="6459786"/>
            <a:ext cx="984019" cy="365125"/>
          </a:xfrm>
        </p:spPr>
        <p:txBody>
          <a:bodyPr>
            <a:normAutofit/>
          </a:bodyPr>
          <a:lstStyle/>
          <a:p>
            <a:pPr defTabSz="914400">
              <a:defRPr/>
            </a:pPr>
            <a:fld id="{48F63A3B-78C7-47BE-AE5E-E10140E04643}" type="slidenum">
              <a:rPr kumimoji="0" lang="en-US" b="0" i="0" u="none" strike="noStrike" kern="0" cap="none" spc="0" normalizeH="0" baseline="0" noProof="0" smtClean="0">
                <a:ln>
                  <a:noFill/>
                </a:ln>
                <a:effectLst/>
                <a:uLnTx/>
                <a:uFillTx/>
              </a:rPr>
              <a:pPr defTabSz="914400">
                <a:defRPr/>
              </a:pPr>
              <a:t>21</a:t>
            </a:fld>
            <a:endParaRPr lang="en-US" kern="0"/>
          </a:p>
        </p:txBody>
      </p:sp>
    </p:spTree>
    <p:extLst>
      <p:ext uri="{BB962C8B-B14F-4D97-AF65-F5344CB8AC3E}">
        <p14:creationId xmlns:p14="http://schemas.microsoft.com/office/powerpoint/2010/main" val="1464513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8" name="Rectangle 7"/>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Picture 4"/>
          <p:cNvPicPr/>
          <p:nvPr/>
        </p:nvPicPr>
        <p:blipFill>
          <a:blip r:embed="rId3"/>
          <a:stretch>
            <a:fillRect/>
          </a:stretch>
        </p:blipFill>
        <p:spPr>
          <a:xfrm>
            <a:off x="3995803" y="175364"/>
            <a:ext cx="4296427" cy="6334526"/>
          </a:xfrm>
          <a:prstGeom prst="rect">
            <a:avLst/>
          </a:prstGeom>
        </p:spPr>
      </p:pic>
      <p:sp>
        <p:nvSpPr>
          <p:cNvPr id="2" name="Title 1"/>
          <p:cNvSpPr>
            <a:spLocks noGrp="1"/>
          </p:cNvSpPr>
          <p:nvPr>
            <p:ph type="title"/>
          </p:nvPr>
        </p:nvSpPr>
        <p:spPr>
          <a:xfrm>
            <a:off x="252664" y="516836"/>
            <a:ext cx="2430248" cy="1059301"/>
          </a:xfrm>
        </p:spPr>
        <p:txBody>
          <a:bodyPr>
            <a:normAutofit/>
          </a:bodyPr>
          <a:lstStyle/>
          <a:p>
            <a:r>
              <a:rPr lang="en-US" sz="3300" dirty="0">
                <a:solidFill>
                  <a:srgbClr val="FFFFFF"/>
                </a:solidFill>
              </a:rPr>
              <a:t>Propagation mode</a:t>
            </a:r>
          </a:p>
        </p:txBody>
      </p:sp>
      <p:sp>
        <p:nvSpPr>
          <p:cNvPr id="3" name="Content Placeholder 2"/>
          <p:cNvSpPr>
            <a:spLocks noGrp="1"/>
          </p:cNvSpPr>
          <p:nvPr>
            <p:ph idx="1"/>
          </p:nvPr>
        </p:nvSpPr>
        <p:spPr>
          <a:xfrm>
            <a:off x="252664" y="1684421"/>
            <a:ext cx="2721434" cy="4825469"/>
          </a:xfrm>
        </p:spPr>
        <p:txBody>
          <a:bodyPr>
            <a:noAutofit/>
          </a:bodyPr>
          <a:lstStyle/>
          <a:p>
            <a:pPr>
              <a:lnSpc>
                <a:spcPct val="70000"/>
              </a:lnSpc>
            </a:pPr>
            <a:r>
              <a:rPr lang="en-US" sz="1800" dirty="0">
                <a:solidFill>
                  <a:srgbClr val="FFFFFF"/>
                </a:solidFill>
              </a:rPr>
              <a:t>Ground-wave</a:t>
            </a:r>
          </a:p>
          <a:p>
            <a:pPr lvl="1">
              <a:lnSpc>
                <a:spcPct val="70000"/>
              </a:lnSpc>
            </a:pPr>
            <a:r>
              <a:rPr lang="en-US" sz="1800" dirty="0">
                <a:solidFill>
                  <a:srgbClr val="FFFFFF"/>
                </a:solidFill>
              </a:rPr>
              <a:t>Frequency range in MF band (0.3 to 3 MHz)</a:t>
            </a:r>
          </a:p>
          <a:p>
            <a:pPr lvl="1">
              <a:lnSpc>
                <a:spcPct val="70000"/>
              </a:lnSpc>
            </a:pPr>
            <a:r>
              <a:rPr lang="en-US" sz="1800" dirty="0">
                <a:solidFill>
                  <a:srgbClr val="FFFFFF"/>
                </a:solidFill>
              </a:rPr>
              <a:t>Typical application is AM and maritime radio broadcasting</a:t>
            </a:r>
          </a:p>
          <a:p>
            <a:pPr>
              <a:lnSpc>
                <a:spcPct val="70000"/>
              </a:lnSpc>
            </a:pPr>
            <a:r>
              <a:rPr lang="en-US" sz="1800" dirty="0">
                <a:solidFill>
                  <a:srgbClr val="FFFFFF"/>
                </a:solidFill>
              </a:rPr>
              <a:t>Sky-wave</a:t>
            </a:r>
          </a:p>
          <a:p>
            <a:pPr lvl="1">
              <a:lnSpc>
                <a:spcPct val="70000"/>
              </a:lnSpc>
            </a:pPr>
            <a:r>
              <a:rPr lang="en-US" sz="1800" dirty="0">
                <a:solidFill>
                  <a:srgbClr val="FFFFFF"/>
                </a:solidFill>
              </a:rPr>
              <a:t>Results from transmitted signals being reflected or refracted from the ionosphere. </a:t>
            </a:r>
          </a:p>
          <a:p>
            <a:pPr>
              <a:lnSpc>
                <a:spcPct val="70000"/>
              </a:lnSpc>
            </a:pPr>
            <a:r>
              <a:rPr lang="en-US" sz="1800" dirty="0">
                <a:solidFill>
                  <a:srgbClr val="FFFFFF"/>
                </a:solidFill>
              </a:rPr>
              <a:t>Line-of-sight (LOS)</a:t>
            </a:r>
          </a:p>
          <a:p>
            <a:pPr lvl="1">
              <a:lnSpc>
                <a:spcPct val="70000"/>
              </a:lnSpc>
            </a:pPr>
            <a:r>
              <a:rPr lang="en-US" sz="1800" dirty="0">
                <a:solidFill>
                  <a:srgbClr val="FFFFFF"/>
                </a:solidFill>
              </a:rPr>
              <a:t>Terrestrial communication </a:t>
            </a:r>
          </a:p>
          <a:p>
            <a:pPr lvl="1">
              <a:lnSpc>
                <a:spcPct val="70000"/>
              </a:lnSpc>
            </a:pPr>
            <a:r>
              <a:rPr lang="en-US" sz="1800" dirty="0">
                <a:solidFill>
                  <a:srgbClr val="FFFFFF"/>
                </a:solidFill>
              </a:rPr>
              <a:t>VHF and UHF frequency bands</a:t>
            </a:r>
          </a:p>
          <a:p>
            <a:pPr lvl="1">
              <a:lnSpc>
                <a:spcPct val="70000"/>
              </a:lnSpc>
            </a:pPr>
            <a:r>
              <a:rPr lang="en-US" sz="1800" dirty="0">
                <a:solidFill>
                  <a:srgbClr val="FFFFFF"/>
                </a:solidFill>
              </a:rPr>
              <a:t>Attenuate is a worrying factor in LOS communication</a:t>
            </a:r>
          </a:p>
        </p:txBody>
      </p:sp>
      <p:sp>
        <p:nvSpPr>
          <p:cNvPr id="4" name="Slide Number Placeholder 3"/>
          <p:cNvSpPr>
            <a:spLocks noGrp="1"/>
          </p:cNvSpPr>
          <p:nvPr>
            <p:ph type="sldNum" sz="quarter" idx="12"/>
          </p:nvPr>
        </p:nvSpPr>
        <p:spPr>
          <a:xfrm>
            <a:off x="7425344" y="6459786"/>
            <a:ext cx="984019" cy="365125"/>
          </a:xfrm>
        </p:spPr>
        <p:txBody>
          <a:bodyPr>
            <a:normAutofit/>
          </a:bodyPr>
          <a:lstStyle/>
          <a:p>
            <a:pPr defTabSz="914400">
              <a:defRPr/>
            </a:pPr>
            <a:fld id="{48F63A3B-78C7-47BE-AE5E-E10140E04643}" type="slidenum">
              <a:rPr kumimoji="0" lang="en-US" b="0" i="0" u="none" strike="noStrike" kern="0" cap="none" spc="0" normalizeH="0" baseline="0" noProof="0" smtClean="0">
                <a:ln>
                  <a:noFill/>
                </a:ln>
                <a:solidFill>
                  <a:schemeClr val="tx2"/>
                </a:solidFill>
                <a:effectLst/>
                <a:uLnTx/>
                <a:uFillTx/>
              </a:rPr>
              <a:pPr defTabSz="914400">
                <a:defRPr/>
              </a:pPr>
              <a:t>22</a:t>
            </a:fld>
            <a:endParaRPr lang="en-US" kern="0">
              <a:solidFill>
                <a:schemeClr val="tx2"/>
              </a:solidFill>
            </a:endParaRPr>
          </a:p>
        </p:txBody>
      </p:sp>
    </p:spTree>
    <p:extLst>
      <p:ext uri="{BB962C8B-B14F-4D97-AF65-F5344CB8AC3E}">
        <p14:creationId xmlns:p14="http://schemas.microsoft.com/office/powerpoint/2010/main" val="3085892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Noise in Communication Channel</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dirty="0"/>
              <a:t>Noise is random, undesirable electric energy that enters the communication system via the</a:t>
            </a:r>
            <a:br>
              <a:rPr lang="en-US" dirty="0"/>
            </a:br>
            <a:r>
              <a:rPr lang="en-US" dirty="0"/>
              <a:t>medium and interferes with the transmitted message. </a:t>
            </a:r>
          </a:p>
          <a:p>
            <a:pPr>
              <a:buFont typeface="Wingdings" panose="05000000000000000000" pitchFamily="2" charset="2"/>
              <a:buChar char="§"/>
            </a:pPr>
            <a:r>
              <a:rPr lang="en-US" dirty="0"/>
              <a:t>Noise is one of the serious problems of electronic</a:t>
            </a:r>
            <a:br>
              <a:rPr lang="en-US" dirty="0"/>
            </a:br>
            <a:r>
              <a:rPr lang="en-US" dirty="0"/>
              <a:t>communication but can be controlled</a:t>
            </a:r>
          </a:p>
          <a:p>
            <a:pPr>
              <a:buFont typeface="Wingdings" panose="05000000000000000000" pitchFamily="2" charset="2"/>
              <a:buChar char="§"/>
            </a:pPr>
            <a:r>
              <a:rPr lang="en-US" dirty="0"/>
              <a:t>There are ways to deal with noise, and reduce the possibility of degradation of signal due to noise. </a:t>
            </a:r>
            <a:br>
              <a:rPr lang="en-US" dirty="0"/>
            </a:br>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23</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5095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Noise in Communication Channel</a:t>
            </a:r>
            <a:endParaRPr lang="en-GB" dirty="0"/>
          </a:p>
        </p:txBody>
      </p:sp>
      <p:sp>
        <p:nvSpPr>
          <p:cNvPr id="3" name="Content Placeholder 2"/>
          <p:cNvSpPr>
            <a:spLocks noGrp="1"/>
          </p:cNvSpPr>
          <p:nvPr>
            <p:ph idx="1"/>
          </p:nvPr>
        </p:nvSpPr>
        <p:spPr>
          <a:xfrm>
            <a:off x="238538" y="1099930"/>
            <a:ext cx="8613913" cy="5112980"/>
          </a:xfrm>
        </p:spPr>
        <p:txBody>
          <a:bodyPr>
            <a:normAutofit fontScale="92500" lnSpcReduction="10000"/>
          </a:bodyPr>
          <a:lstStyle/>
          <a:p>
            <a:r>
              <a:rPr lang="en-US" sz="2800" dirty="0"/>
              <a:t>Unavoidable presence of noise in the channel</a:t>
            </a:r>
          </a:p>
          <a:p>
            <a:pPr lvl="1">
              <a:buFont typeface="Wingdings" panose="05000000000000000000" pitchFamily="2" charset="2"/>
              <a:buChar char="ü"/>
            </a:pPr>
            <a:r>
              <a:rPr lang="en-US" sz="2400" dirty="0"/>
              <a:t>Noise refers to unwanted waves that disturb communications</a:t>
            </a:r>
          </a:p>
          <a:p>
            <a:pPr lvl="1">
              <a:buFont typeface="Wingdings" panose="05000000000000000000" pitchFamily="2" charset="2"/>
              <a:buChar char="ü"/>
            </a:pPr>
            <a:r>
              <a:rPr lang="en-US" sz="2400" dirty="0"/>
              <a:t>Signal is contaminated by noise along the path.</a:t>
            </a:r>
          </a:p>
          <a:p>
            <a:r>
              <a:rPr lang="en-US" sz="2800" dirty="0"/>
              <a:t>External noise: interference from nearby channels, man made noise, natural noise...</a:t>
            </a:r>
          </a:p>
          <a:p>
            <a:r>
              <a:rPr lang="en-US" sz="2800" dirty="0"/>
              <a:t>Internal noise: thermal noise, random emission... in electronic devices.</a:t>
            </a:r>
          </a:p>
          <a:p>
            <a:r>
              <a:rPr lang="en-US" sz="2800" dirty="0"/>
              <a:t>Noise is one of the basic factors that set limits on communications.</a:t>
            </a:r>
          </a:p>
          <a:p>
            <a:r>
              <a:rPr lang="en-US" sz="2800" dirty="0"/>
              <a:t>We shall look at </a:t>
            </a:r>
          </a:p>
          <a:p>
            <a:pPr lvl="1">
              <a:buFont typeface="Wingdings" panose="05000000000000000000" pitchFamily="2" charset="2"/>
              <a:buChar char="ü"/>
            </a:pPr>
            <a:r>
              <a:rPr lang="en-US" sz="2400" dirty="0"/>
              <a:t>Addictive noise channel</a:t>
            </a:r>
          </a:p>
          <a:p>
            <a:pPr lvl="1">
              <a:buFont typeface="Wingdings" panose="05000000000000000000" pitchFamily="2" charset="2"/>
              <a:buChar char="ü"/>
            </a:pPr>
            <a:r>
              <a:rPr lang="en-US" sz="2400" dirty="0"/>
              <a:t>Linear filter channel</a:t>
            </a:r>
          </a:p>
          <a:p>
            <a:pPr lvl="1">
              <a:buFont typeface="Wingdings" panose="05000000000000000000" pitchFamily="2" charset="2"/>
              <a:buChar char="ü"/>
            </a:pPr>
            <a:r>
              <a:rPr lang="en-US" sz="2400" dirty="0"/>
              <a:t>Linear time-variant channel</a:t>
            </a:r>
          </a:p>
          <a:p>
            <a:endParaRPr lang="en-GB" sz="2800"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24</a:t>
            </a:fld>
            <a:endParaRPr lang="en-US" dirty="0"/>
          </a:p>
        </p:txBody>
      </p:sp>
    </p:spTree>
    <p:extLst>
      <p:ext uri="{BB962C8B-B14F-4D97-AF65-F5344CB8AC3E}">
        <p14:creationId xmlns:p14="http://schemas.microsoft.com/office/powerpoint/2010/main" val="13060810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Receiver</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
            </a:pPr>
            <a:r>
              <a:rPr lang="en-US" dirty="0"/>
              <a:t>A receiver is a collection of electronic circuits designed to convert the signal from the channel</a:t>
            </a:r>
            <a:br>
              <a:rPr lang="en-US" dirty="0"/>
            </a:br>
            <a:r>
              <a:rPr lang="en-US" dirty="0"/>
              <a:t>back to the original information. </a:t>
            </a:r>
          </a:p>
          <a:p>
            <a:pPr>
              <a:buFont typeface="Wingdings" panose="05000000000000000000" pitchFamily="2" charset="2"/>
              <a:buChar char="§"/>
            </a:pPr>
            <a:r>
              <a:rPr lang="en-US" dirty="0"/>
              <a:t>It consists of amplifier, detector, mixer, oscillator, transducer, tuned circuits, filters and so on. </a:t>
            </a:r>
          </a:p>
          <a:p>
            <a:pPr>
              <a:buFont typeface="Wingdings" panose="05000000000000000000" pitchFamily="2" charset="2"/>
              <a:buChar char="§"/>
            </a:pPr>
            <a:r>
              <a:rPr lang="en-US" dirty="0"/>
              <a:t>Its operations include amplification to compensate for transmission loss, and demodulation, decoding and filtering to reverse the signal-processing</a:t>
            </a:r>
            <a:br>
              <a:rPr lang="en-US" dirty="0"/>
            </a:br>
            <a:r>
              <a:rPr lang="en-US" dirty="0"/>
              <a:t>performed at the transmitter. </a:t>
            </a:r>
            <a:br>
              <a:rPr lang="en-US" dirty="0"/>
            </a:br>
            <a:endParaRPr lang="en-US" dirty="0"/>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25</a:t>
            </a:fld>
            <a:endParaRPr kumimoji="0" 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530161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t>Mathematical Models of Communication Channels</a:t>
            </a:r>
            <a:r>
              <a:rPr lang="en-US" sz="3200" dirty="0"/>
              <a:t> </a:t>
            </a:r>
          </a:p>
        </p:txBody>
      </p:sp>
      <p:sp>
        <p:nvSpPr>
          <p:cNvPr id="3" name="Content Placeholder 2"/>
          <p:cNvSpPr>
            <a:spLocks noGrp="1"/>
          </p:cNvSpPr>
          <p:nvPr>
            <p:ph idx="1"/>
          </p:nvPr>
        </p:nvSpPr>
        <p:spPr/>
        <p:txBody>
          <a:bodyPr/>
          <a:lstStyle/>
          <a:p>
            <a:r>
              <a:rPr lang="en-US" dirty="0"/>
              <a:t>Additive noise channel model</a:t>
            </a:r>
          </a:p>
        </p:txBody>
      </p:sp>
      <p:sp>
        <p:nvSpPr>
          <p:cNvPr id="4" name="Slide Number Placeholder 3"/>
          <p:cNvSpPr>
            <a:spLocks noGrp="1"/>
          </p:cNvSpPr>
          <p:nvPr>
            <p:ph type="sldNum" sz="quarter" idx="12"/>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48F63A3B-78C7-47BE-AE5E-E10140E04643}"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26</a:t>
            </a:fld>
            <a:endParaRPr kumimoji="0" lang="en-US" sz="1800" b="0" i="0" u="none" strike="noStrike" kern="0" cap="none" spc="0" normalizeH="0" baseline="0" noProof="0" dirty="0">
              <a:ln>
                <a:noFill/>
              </a:ln>
              <a:solidFill>
                <a:sysClr val="windowText" lastClr="000000"/>
              </a:solidFill>
              <a:effectLst/>
              <a:uLnTx/>
              <a:uFillTx/>
            </a:endParaRPr>
          </a:p>
        </p:txBody>
      </p:sp>
      <p:pic>
        <p:nvPicPr>
          <p:cNvPr id="5" name="Picture 4"/>
          <p:cNvPicPr>
            <a:picLocks noChangeAspect="1"/>
          </p:cNvPicPr>
          <p:nvPr/>
        </p:nvPicPr>
        <p:blipFill>
          <a:blip r:embed="rId2"/>
          <a:stretch>
            <a:fillRect/>
          </a:stretch>
        </p:blipFill>
        <p:spPr>
          <a:xfrm>
            <a:off x="1516544" y="1808112"/>
            <a:ext cx="6057900" cy="3352800"/>
          </a:xfrm>
          <a:prstGeom prst="rect">
            <a:avLst/>
          </a:prstGeom>
        </p:spPr>
      </p:pic>
    </p:spTree>
    <p:extLst>
      <p:ext uri="{BB962C8B-B14F-4D97-AF65-F5344CB8AC3E}">
        <p14:creationId xmlns:p14="http://schemas.microsoft.com/office/powerpoint/2010/main" val="73985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Autofit/>
          </a:bodyPr>
          <a:lstStyle/>
          <a:p>
            <a:r>
              <a:rPr lang="en-US" sz="3200" dirty="0"/>
              <a:t>Mathematical Models of Communication Channels </a:t>
            </a:r>
            <a:endParaRPr lang="en-GB" sz="3200" dirty="0"/>
          </a:p>
        </p:txBody>
      </p:sp>
      <p:sp>
        <p:nvSpPr>
          <p:cNvPr id="3" name="Content Placeholder 2"/>
          <p:cNvSpPr>
            <a:spLocks noGrp="1"/>
          </p:cNvSpPr>
          <p:nvPr>
            <p:ph idx="1"/>
          </p:nvPr>
        </p:nvSpPr>
        <p:spPr>
          <a:xfrm>
            <a:off x="238538" y="977563"/>
            <a:ext cx="8268754" cy="2283438"/>
          </a:xfrm>
        </p:spPr>
        <p:txBody>
          <a:bodyPr>
            <a:noAutofit/>
          </a:bodyPr>
          <a:lstStyle/>
          <a:p>
            <a:r>
              <a:rPr lang="en-US" sz="2400" dirty="0"/>
              <a:t>The linear filter channel</a:t>
            </a:r>
          </a:p>
          <a:p>
            <a:pPr lvl="1">
              <a:buFont typeface="Wingdings" panose="05000000000000000000" pitchFamily="2" charset="2"/>
              <a:buChar char="ü"/>
            </a:pPr>
            <a:r>
              <a:rPr lang="en-US" sz="2400" dirty="0"/>
              <a:t>In some physical channels such as wireline telephone channels, filters are used to ensure that the transmitted signals do not exceed specified bandwidth limitations and, thus, do not interfere with one another. </a:t>
            </a:r>
          </a:p>
          <a:p>
            <a:pPr lvl="1">
              <a:buFont typeface="Wingdings" panose="05000000000000000000" pitchFamily="2" charset="2"/>
              <a:buChar char="ü"/>
            </a:pPr>
            <a:r>
              <a:rPr lang="en-US" sz="2400" dirty="0"/>
              <a:t>Such channels are generally characterized mathematically as linear filter channels with additive noise</a:t>
            </a:r>
            <a:endParaRPr lang="en-GB" sz="2400" dirty="0"/>
          </a:p>
        </p:txBody>
      </p:sp>
      <p:sp>
        <p:nvSpPr>
          <p:cNvPr id="2" name="Slide Number Placeholder 1"/>
          <p:cNvSpPr>
            <a:spLocks noGrp="1"/>
          </p:cNvSpPr>
          <p:nvPr>
            <p:ph type="sldNum" sz="quarter" idx="12"/>
          </p:nvPr>
        </p:nvSpPr>
        <p:spPr/>
        <p:txBody>
          <a:bodyPr/>
          <a:lstStyle/>
          <a:p>
            <a:fld id="{D57F1E4F-1CFF-5643-939E-217C01CDF565}" type="slidenum">
              <a:rPr lang="en-US" smtClean="0"/>
              <a:pPr/>
              <a:t>27</a:t>
            </a:fld>
            <a:endParaRPr lang="en-US" dirty="0"/>
          </a:p>
        </p:txBody>
      </p:sp>
      <p:sp>
        <p:nvSpPr>
          <p:cNvPr id="5" name="Rectangle 2"/>
          <p:cNvSpPr>
            <a:spLocks noChangeArrowheads="1"/>
          </p:cNvSpPr>
          <p:nvPr/>
        </p:nvSpPr>
        <p:spPr bwMode="auto">
          <a:xfrm>
            <a:off x="1" y="718752"/>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GB" sz="1350"/>
          </a:p>
        </p:txBody>
      </p:sp>
      <p:graphicFrame>
        <p:nvGraphicFramePr>
          <p:cNvPr id="6" name="Object 5"/>
          <p:cNvGraphicFramePr>
            <a:graphicFrameLocks noChangeAspect="1"/>
          </p:cNvGraphicFramePr>
          <p:nvPr>
            <p:extLst>
              <p:ext uri="{D42A27DB-BD31-4B8C-83A1-F6EECF244321}">
                <p14:modId xmlns:p14="http://schemas.microsoft.com/office/powerpoint/2010/main" val="2066578532"/>
              </p:ext>
            </p:extLst>
          </p:nvPr>
        </p:nvGraphicFramePr>
        <p:xfrm>
          <a:off x="2070088" y="3575448"/>
          <a:ext cx="5798344" cy="988219"/>
        </p:xfrm>
        <a:graphic>
          <a:graphicData uri="http://schemas.openxmlformats.org/presentationml/2006/ole">
            <mc:AlternateContent xmlns:mc="http://schemas.openxmlformats.org/markup-compatibility/2006">
              <mc:Choice xmlns:v="urn:schemas-microsoft-com:vml" Requires="v">
                <p:oleObj spid="_x0000_s3083" name="Equation" r:id="rId4" imgW="4305300" imgH="774700" progId="Equation.DSMT4">
                  <p:embed/>
                </p:oleObj>
              </mc:Choice>
              <mc:Fallback>
                <p:oleObj name="Equation" r:id="rId4" imgW="4305300" imgH="774700" progId="Equation.DSMT4">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0088" y="3575448"/>
                        <a:ext cx="5798344" cy="988219"/>
                      </a:xfrm>
                      <a:prstGeom prst="rect">
                        <a:avLst/>
                      </a:prstGeom>
                      <a:noFill/>
                    </p:spPr>
                  </p:pic>
                </p:oleObj>
              </mc:Fallback>
            </mc:AlternateContent>
          </a:graphicData>
        </a:graphic>
      </p:graphicFrame>
      <p:pic>
        <p:nvPicPr>
          <p:cNvPr id="8" name="Picture 7"/>
          <p:cNvPicPr>
            <a:picLocks noChangeAspect="1"/>
          </p:cNvPicPr>
          <p:nvPr/>
        </p:nvPicPr>
        <p:blipFill>
          <a:blip r:embed="rId6"/>
          <a:stretch>
            <a:fillRect/>
          </a:stretch>
        </p:blipFill>
        <p:spPr>
          <a:xfrm>
            <a:off x="2383836" y="4709372"/>
            <a:ext cx="4323315" cy="1595183"/>
          </a:xfrm>
          <a:prstGeom prst="rect">
            <a:avLst/>
          </a:prstGeom>
        </p:spPr>
      </p:pic>
    </p:spTree>
    <p:extLst>
      <p:ext uri="{BB962C8B-B14F-4D97-AF65-F5344CB8AC3E}">
        <p14:creationId xmlns:p14="http://schemas.microsoft.com/office/powerpoint/2010/main" val="38056663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Channel Bandwidth and Info. Capacity</a:t>
            </a:r>
            <a:endParaRPr lang="en-GB" dirty="0"/>
          </a:p>
        </p:txBody>
      </p:sp>
      <p:sp>
        <p:nvSpPr>
          <p:cNvPr id="3" name="Content Placeholder 2"/>
          <p:cNvSpPr>
            <a:spLocks noGrp="1"/>
          </p:cNvSpPr>
          <p:nvPr>
            <p:ph idx="1"/>
          </p:nvPr>
        </p:nvSpPr>
        <p:spPr>
          <a:xfrm>
            <a:off x="424071" y="995751"/>
            <a:ext cx="8262730" cy="4618233"/>
          </a:xfrm>
        </p:spPr>
        <p:txBody>
          <a:bodyPr>
            <a:normAutofit fontScale="92500"/>
          </a:bodyPr>
          <a:lstStyle/>
          <a:p>
            <a:r>
              <a:rPr lang="en-US" sz="2800" dirty="0"/>
              <a:t>The fundamental parameters that control the rate and quality of information transmission are the channel bandwidth </a:t>
            </a:r>
            <a:r>
              <a:rPr lang="en-US" sz="2800" b="1" dirty="0"/>
              <a:t>B</a:t>
            </a:r>
            <a:r>
              <a:rPr lang="en-US" sz="2800" dirty="0"/>
              <a:t> and the signal power </a:t>
            </a:r>
            <a:r>
              <a:rPr lang="en-US" sz="2800" b="1" dirty="0"/>
              <a:t>S</a:t>
            </a:r>
          </a:p>
          <a:p>
            <a:r>
              <a:rPr lang="en-US" sz="2800" dirty="0"/>
              <a:t>The  bandwidth  o f  a  channel  is  the  range  of frequencies  that  it  can  transmit  with reasonable fidelity</a:t>
            </a:r>
          </a:p>
          <a:p>
            <a:r>
              <a:rPr lang="en-US" sz="2800" dirty="0"/>
              <a:t>Signal power </a:t>
            </a:r>
            <a:r>
              <a:rPr lang="en-US" sz="2800" b="1" dirty="0"/>
              <a:t>S</a:t>
            </a:r>
            <a:r>
              <a:rPr lang="en-US" sz="2800" dirty="0"/>
              <a:t> relate to </a:t>
            </a:r>
          </a:p>
          <a:p>
            <a:pPr lvl="1">
              <a:buFont typeface="Wingdings" panose="05000000000000000000" pitchFamily="2" charset="2"/>
              <a:buChar char="ü"/>
            </a:pPr>
            <a:r>
              <a:rPr lang="en-US" sz="2400" dirty="0"/>
              <a:t>Quality of information </a:t>
            </a:r>
            <a:r>
              <a:rPr lang="en-US" sz="2400" dirty="0">
                <a:sym typeface="Wingdings" panose="05000000000000000000" pitchFamily="2" charset="2"/>
              </a:rPr>
              <a:t> Increasing S, reduces the effect of channel  noise.</a:t>
            </a:r>
          </a:p>
          <a:p>
            <a:pPr lvl="1">
              <a:buFont typeface="Wingdings" panose="05000000000000000000" pitchFamily="2" charset="2"/>
              <a:buChar char="ü"/>
            </a:pPr>
            <a:r>
              <a:rPr lang="en-US" sz="2400" dirty="0">
                <a:sym typeface="Wingdings" panose="05000000000000000000" pitchFamily="2" charset="2"/>
              </a:rPr>
              <a:t>Bandwidth </a:t>
            </a:r>
            <a:r>
              <a:rPr lang="en-US" sz="2400" b="1" dirty="0">
                <a:sym typeface="Wingdings" panose="05000000000000000000" pitchFamily="2" charset="2"/>
              </a:rPr>
              <a:t>B,</a:t>
            </a:r>
            <a:r>
              <a:rPr lang="en-US" sz="2400" dirty="0">
                <a:sym typeface="Wingdings" panose="05000000000000000000" pitchFamily="2" charset="2"/>
              </a:rPr>
              <a:t>   </a:t>
            </a:r>
            <a:r>
              <a:rPr lang="en-US" sz="2400" b="1" dirty="0">
                <a:sym typeface="Wingdings" panose="05000000000000000000" pitchFamily="2" charset="2"/>
              </a:rPr>
              <a:t>S</a:t>
            </a:r>
            <a:r>
              <a:rPr lang="en-US" sz="2400" dirty="0">
                <a:sym typeface="Wingdings" panose="05000000000000000000" pitchFamily="2" charset="2"/>
              </a:rPr>
              <a:t> and </a:t>
            </a:r>
            <a:r>
              <a:rPr lang="en-US" sz="2400" b="1" dirty="0">
                <a:sym typeface="Wingdings" panose="05000000000000000000" pitchFamily="2" charset="2"/>
              </a:rPr>
              <a:t>B</a:t>
            </a:r>
            <a:r>
              <a:rPr lang="en-US" sz="2400" dirty="0">
                <a:sym typeface="Wingdings" panose="05000000000000000000" pitchFamily="2" charset="2"/>
              </a:rPr>
              <a:t> are exchangeable i.e. increasing one  (may) reduces the other </a:t>
            </a:r>
          </a:p>
          <a:p>
            <a:r>
              <a:rPr lang="en-US" sz="2800" dirty="0"/>
              <a:t>SNR is proportional to </a:t>
            </a:r>
            <a:r>
              <a:rPr lang="en-US" sz="2800" b="1" dirty="0"/>
              <a:t>S</a:t>
            </a:r>
            <a:r>
              <a:rPr lang="en-US" sz="2800" dirty="0"/>
              <a:t> </a:t>
            </a:r>
            <a:r>
              <a:rPr lang="en-US" sz="2800" dirty="0">
                <a:sym typeface="Wingdings" panose="05000000000000000000" pitchFamily="2" charset="2"/>
              </a:rPr>
              <a:t> </a:t>
            </a:r>
            <a:r>
              <a:rPr lang="en-US" sz="2800" b="1" dirty="0">
                <a:sym typeface="Wingdings" panose="05000000000000000000" pitchFamily="2" charset="2"/>
              </a:rPr>
              <a:t>SNR</a:t>
            </a:r>
            <a:r>
              <a:rPr lang="en-US" sz="2800" dirty="0">
                <a:sym typeface="Wingdings" panose="05000000000000000000" pitchFamily="2" charset="2"/>
              </a:rPr>
              <a:t> are interchangeable</a:t>
            </a:r>
          </a:p>
        </p:txBody>
      </p:sp>
      <p:sp>
        <p:nvSpPr>
          <p:cNvPr id="6" name="Slide Number Placeholder 5"/>
          <p:cNvSpPr>
            <a:spLocks noGrp="1"/>
          </p:cNvSpPr>
          <p:nvPr>
            <p:ph type="sldNum" sz="quarter" idx="12"/>
          </p:nvPr>
        </p:nvSpPr>
        <p:spPr/>
        <p:txBody>
          <a:bodyPr/>
          <a:lstStyle/>
          <a:p>
            <a:fld id="{D57F1E4F-1CFF-5643-939E-217C01CDF565}" type="slidenum">
              <a:rPr lang="en-US" smtClean="0"/>
              <a:pPr/>
              <a:t>28</a:t>
            </a:fld>
            <a:endParaRPr lang="en-US" dirty="0"/>
          </a:p>
        </p:txBody>
      </p:sp>
      <p:sp>
        <p:nvSpPr>
          <p:cNvPr id="4" name="Rectangle 2"/>
          <p:cNvSpPr>
            <a:spLocks noChangeArrowheads="1"/>
          </p:cNvSpPr>
          <p:nvPr/>
        </p:nvSpPr>
        <p:spPr bwMode="auto">
          <a:xfrm>
            <a:off x="1" y="718752"/>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GB" sz="1350"/>
          </a:p>
        </p:txBody>
      </p:sp>
      <p:graphicFrame>
        <p:nvGraphicFramePr>
          <p:cNvPr id="5" name="Object 4"/>
          <p:cNvGraphicFramePr>
            <a:graphicFrameLocks noChangeAspect="1"/>
          </p:cNvGraphicFramePr>
          <p:nvPr>
            <p:extLst>
              <p:ext uri="{D42A27DB-BD31-4B8C-83A1-F6EECF244321}">
                <p14:modId xmlns:p14="http://schemas.microsoft.com/office/powerpoint/2010/main" val="937442409"/>
              </p:ext>
            </p:extLst>
          </p:nvPr>
        </p:nvGraphicFramePr>
        <p:xfrm>
          <a:off x="3475049" y="5412649"/>
          <a:ext cx="2160774" cy="795002"/>
        </p:xfrm>
        <a:graphic>
          <a:graphicData uri="http://schemas.openxmlformats.org/presentationml/2006/ole">
            <mc:AlternateContent xmlns:mc="http://schemas.openxmlformats.org/markup-compatibility/2006">
              <mc:Choice xmlns:v="urn:schemas-microsoft-com:vml" Requires="v">
                <p:oleObj spid="_x0000_s4103" name="Equation" r:id="rId4" imgW="1028700" imgH="330200" progId="Equation.DSMT4">
                  <p:embed/>
                </p:oleObj>
              </mc:Choice>
              <mc:Fallback>
                <p:oleObj name="Equation" r:id="rId4" imgW="1028700" imgH="330200" progId="Equation.DSMT4">
                  <p:embed/>
                  <p:pic>
                    <p:nvPicPr>
                      <p:cNvPr id="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5049" y="5412649"/>
                        <a:ext cx="2160774" cy="795002"/>
                      </a:xfrm>
                      <a:prstGeom prst="rect">
                        <a:avLst/>
                      </a:prstGeom>
                      <a:noFill/>
                    </p:spPr>
                  </p:pic>
                </p:oleObj>
              </mc:Fallback>
            </mc:AlternateContent>
          </a:graphicData>
        </a:graphic>
      </p:graphicFrame>
    </p:spTree>
    <p:extLst>
      <p:ext uri="{BB962C8B-B14F-4D97-AF65-F5344CB8AC3E}">
        <p14:creationId xmlns:p14="http://schemas.microsoft.com/office/powerpoint/2010/main" val="2942294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Autofit/>
          </a:bodyPr>
          <a:lstStyle/>
          <a:p>
            <a:r>
              <a:rPr lang="en-US" sz="3600" dirty="0"/>
              <a:t>Channel Bandwidth and Info. Capacity cont’d</a:t>
            </a:r>
            <a:endParaRPr lang="en-GB" sz="3600" dirty="0"/>
          </a:p>
        </p:txBody>
      </p:sp>
      <p:sp>
        <p:nvSpPr>
          <p:cNvPr id="3" name="Content Placeholder 2"/>
          <p:cNvSpPr>
            <a:spLocks noGrp="1"/>
          </p:cNvSpPr>
          <p:nvPr>
            <p:ph idx="1"/>
          </p:nvPr>
        </p:nvSpPr>
        <p:spPr/>
        <p:txBody>
          <a:bodyPr>
            <a:normAutofit fontScale="92500" lnSpcReduction="10000"/>
          </a:bodyPr>
          <a:lstStyle/>
          <a:p>
            <a:r>
              <a:rPr lang="en-US" dirty="0"/>
              <a:t>Thus, if we double the channel bandwidth, the required SNR is just a square root of the former SNR, and tripling the channel bandwidth reduces the corresponding SNR to just a cube root of the former SNR</a:t>
            </a:r>
          </a:p>
          <a:p>
            <a:pPr lvl="1">
              <a:buFont typeface="Wingdings" panose="05000000000000000000" pitchFamily="2" charset="2"/>
              <a:buChar char="ü"/>
            </a:pPr>
            <a:r>
              <a:rPr lang="en-US" dirty="0"/>
              <a:t>small increase in channel bandwidth  has greater advantage in terms of reduced transmission power whereas  large increase in transmitted power has marginal effect on situation where bandwidth has been reduced</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Hence, in practice, the exchange between </a:t>
            </a:r>
            <a:r>
              <a:rPr lang="en-US" b="1" dirty="0"/>
              <a:t>B</a:t>
            </a:r>
            <a:r>
              <a:rPr lang="en-US" dirty="0"/>
              <a:t> and </a:t>
            </a:r>
            <a:r>
              <a:rPr lang="en-US" b="1" dirty="0"/>
              <a:t>SNR</a:t>
            </a:r>
            <a:r>
              <a:rPr lang="en-US" dirty="0"/>
              <a:t> is usually in the sense of increasing </a:t>
            </a:r>
            <a:r>
              <a:rPr lang="en-US" b="1" dirty="0"/>
              <a:t>B</a:t>
            </a:r>
            <a:r>
              <a:rPr lang="en-US" dirty="0"/>
              <a:t> to reduce transmitted power, and rarely the other way around.</a:t>
            </a:r>
            <a:endParaRPr lang="en-GB" dirty="0"/>
          </a:p>
          <a:p>
            <a:pPr lvl="1"/>
            <a:endParaRPr lang="en-GB" dirty="0"/>
          </a:p>
        </p:txBody>
      </p:sp>
      <p:sp>
        <p:nvSpPr>
          <p:cNvPr id="2" name="Slide Number Placeholder 1"/>
          <p:cNvSpPr>
            <a:spLocks noGrp="1"/>
          </p:cNvSpPr>
          <p:nvPr>
            <p:ph type="sldNum" sz="quarter" idx="12"/>
          </p:nvPr>
        </p:nvSpPr>
        <p:spPr/>
        <p:txBody>
          <a:bodyPr/>
          <a:lstStyle/>
          <a:p>
            <a:fld id="{D57F1E4F-1CFF-5643-939E-217C01CDF565}" type="slidenum">
              <a:rPr lang="en-US" smtClean="0"/>
              <a:pPr/>
              <a:t>29</a:t>
            </a:fld>
            <a:endParaRPr lang="en-US" dirty="0"/>
          </a:p>
        </p:txBody>
      </p:sp>
    </p:spTree>
    <p:extLst>
      <p:ext uri="{BB962C8B-B14F-4D97-AF65-F5344CB8AC3E}">
        <p14:creationId xmlns:p14="http://schemas.microsoft.com/office/powerpoint/2010/main" val="7730833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Autofit/>
          </a:bodyPr>
          <a:lstStyle/>
          <a:p>
            <a:r>
              <a:rPr lang="en-US" sz="4000" dirty="0"/>
              <a:t>Channel Bandwidth and Info. Capacity</a:t>
            </a:r>
            <a:endParaRPr lang="en-GB" sz="4000" dirty="0"/>
          </a:p>
        </p:txBody>
      </p:sp>
      <p:sp>
        <p:nvSpPr>
          <p:cNvPr id="3" name="Content Placeholder 2"/>
          <p:cNvSpPr>
            <a:spLocks noGrp="1"/>
          </p:cNvSpPr>
          <p:nvPr>
            <p:ph idx="1"/>
          </p:nvPr>
        </p:nvSpPr>
        <p:spPr>
          <a:xfrm>
            <a:off x="788476" y="1026210"/>
            <a:ext cx="7838794" cy="741612"/>
          </a:xfrm>
        </p:spPr>
        <p:txBody>
          <a:bodyPr>
            <a:noAutofit/>
          </a:bodyPr>
          <a:lstStyle/>
          <a:p>
            <a:r>
              <a:rPr lang="en-US" sz="2400" dirty="0"/>
              <a:t>Information capacity, </a:t>
            </a:r>
            <a:r>
              <a:rPr lang="en-US" sz="2400" i="1" dirty="0"/>
              <a:t>C</a:t>
            </a:r>
            <a:r>
              <a:rPr lang="en-US" sz="2400" dirty="0"/>
              <a:t> of a channel is given by the Shannon’s equation</a:t>
            </a:r>
          </a:p>
        </p:txBody>
      </p:sp>
      <p:sp>
        <p:nvSpPr>
          <p:cNvPr id="2" name="Slide Number Placeholder 1"/>
          <p:cNvSpPr>
            <a:spLocks noGrp="1"/>
          </p:cNvSpPr>
          <p:nvPr>
            <p:ph type="sldNum" sz="quarter" idx="12"/>
          </p:nvPr>
        </p:nvSpPr>
        <p:spPr/>
        <p:txBody>
          <a:bodyPr/>
          <a:lstStyle/>
          <a:p>
            <a:fld id="{D57F1E4F-1CFF-5643-939E-217C01CDF565}" type="slidenum">
              <a:rPr lang="en-US" smtClean="0"/>
              <a:pPr/>
              <a:t>30</a:t>
            </a:fld>
            <a:endParaRPr lang="en-US" dirty="0"/>
          </a:p>
        </p:txBody>
      </p:sp>
      <p:sp>
        <p:nvSpPr>
          <p:cNvPr id="6" name="Rectangle 2"/>
          <p:cNvSpPr>
            <a:spLocks noChangeArrowheads="1"/>
          </p:cNvSpPr>
          <p:nvPr/>
        </p:nvSpPr>
        <p:spPr bwMode="auto">
          <a:xfrm>
            <a:off x="2391035" y="3647303"/>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GB" sz="1350"/>
          </a:p>
        </p:txBody>
      </p:sp>
      <p:graphicFrame>
        <p:nvGraphicFramePr>
          <p:cNvPr id="7" name="Object 6"/>
          <p:cNvGraphicFramePr>
            <a:graphicFrameLocks noChangeAspect="1"/>
          </p:cNvGraphicFramePr>
          <p:nvPr>
            <p:extLst>
              <p:ext uri="{D42A27DB-BD31-4B8C-83A1-F6EECF244321}">
                <p14:modId xmlns:p14="http://schemas.microsoft.com/office/powerpoint/2010/main" val="892977497"/>
              </p:ext>
            </p:extLst>
          </p:nvPr>
        </p:nvGraphicFramePr>
        <p:xfrm>
          <a:off x="3049296" y="1767822"/>
          <a:ext cx="3317153" cy="556055"/>
        </p:xfrm>
        <a:graphic>
          <a:graphicData uri="http://schemas.openxmlformats.org/presentationml/2006/ole">
            <mc:AlternateContent xmlns:mc="http://schemas.openxmlformats.org/markup-compatibility/2006">
              <mc:Choice xmlns:v="urn:schemas-microsoft-com:vml" Requires="v">
                <p:oleObj spid="_x0000_s5127" name="Equation" r:id="rId4" imgW="1651000" imgH="254000" progId="Equation.DSMT4">
                  <p:embed/>
                </p:oleObj>
              </mc:Choice>
              <mc:Fallback>
                <p:oleObj name="Equation" r:id="rId4" imgW="1651000" imgH="254000" progId="Equation.DSMT4">
                  <p:embed/>
                  <p:pic>
                    <p:nvPicPr>
                      <p:cNvPr id="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9296" y="1767822"/>
                        <a:ext cx="3317153" cy="556055"/>
                      </a:xfrm>
                      <a:prstGeom prst="rect">
                        <a:avLst/>
                      </a:prstGeom>
                      <a:noFill/>
                    </p:spPr>
                  </p:pic>
                </p:oleObj>
              </mc:Fallback>
            </mc:AlternateContent>
          </a:graphicData>
        </a:graphic>
      </p:graphicFrame>
      <p:sp>
        <p:nvSpPr>
          <p:cNvPr id="9" name="TextBox 8"/>
          <p:cNvSpPr txBox="1"/>
          <p:nvPr/>
        </p:nvSpPr>
        <p:spPr>
          <a:xfrm>
            <a:off x="788476" y="2405113"/>
            <a:ext cx="7838794" cy="830997"/>
          </a:xfrm>
          <a:prstGeom prst="rect">
            <a:avLst/>
          </a:prstGeom>
          <a:noFill/>
        </p:spPr>
        <p:txBody>
          <a:bodyPr wrap="square" rtlCol="0">
            <a:spAutoFit/>
          </a:bodyPr>
          <a:lstStyle/>
          <a:p>
            <a:pPr marL="257168" indent="-257168">
              <a:buFont typeface="Wingdings" panose="05000000000000000000" pitchFamily="2" charset="2"/>
              <a:buChar char="ü"/>
            </a:pPr>
            <a:r>
              <a:rPr lang="en-US" sz="2400" i="1" dirty="0">
                <a:solidFill>
                  <a:srgbClr val="002060"/>
                </a:solidFill>
              </a:rPr>
              <a:t>C</a:t>
            </a:r>
            <a:r>
              <a:rPr lang="en-US" sz="2400" dirty="0">
                <a:solidFill>
                  <a:srgbClr val="002060"/>
                </a:solidFill>
              </a:rPr>
              <a:t> describes the limitations imposed  on communication by channel bandwidth and SNR</a:t>
            </a:r>
            <a:endParaRPr lang="en-GB" sz="2400" dirty="0">
              <a:solidFill>
                <a:srgbClr val="002060"/>
              </a:solidFill>
            </a:endParaRPr>
          </a:p>
        </p:txBody>
      </p:sp>
      <p:sp>
        <p:nvSpPr>
          <p:cNvPr id="10" name="TextBox 9"/>
          <p:cNvSpPr txBox="1"/>
          <p:nvPr/>
        </p:nvSpPr>
        <p:spPr>
          <a:xfrm>
            <a:off x="788477" y="3424753"/>
            <a:ext cx="7337608" cy="830997"/>
          </a:xfrm>
          <a:prstGeom prst="rect">
            <a:avLst/>
          </a:prstGeom>
          <a:noFill/>
        </p:spPr>
        <p:txBody>
          <a:bodyPr wrap="square" rtlCol="0">
            <a:spAutoFit/>
          </a:bodyPr>
          <a:lstStyle/>
          <a:p>
            <a:pPr marL="257168" indent="-257168">
              <a:buFont typeface="Wingdings" panose="05000000000000000000" pitchFamily="2" charset="2"/>
              <a:buChar char="ü"/>
            </a:pPr>
            <a:r>
              <a:rPr lang="en-US" sz="2400" dirty="0">
                <a:solidFill>
                  <a:srgbClr val="FF0000"/>
                </a:solidFill>
              </a:rPr>
              <a:t>Defined as the maximum rate at which information can be transmitted across the channel without error</a:t>
            </a:r>
            <a:endParaRPr lang="en-GB" sz="2400" dirty="0">
              <a:solidFill>
                <a:srgbClr val="FF0000"/>
              </a:solidFill>
            </a:endParaRPr>
          </a:p>
        </p:txBody>
      </p:sp>
      <mc:AlternateContent xmlns:mc="http://schemas.openxmlformats.org/markup-compatibility/2006" xmlns:a14="http://schemas.microsoft.com/office/drawing/2010/main">
        <mc:Choice Requires="a14">
          <p:sp>
            <p:nvSpPr>
              <p:cNvPr id="8" name="TextBox 7"/>
              <p:cNvSpPr txBox="1"/>
              <p:nvPr/>
            </p:nvSpPr>
            <p:spPr>
              <a:xfrm>
                <a:off x="788476" y="4615013"/>
                <a:ext cx="7329270" cy="1631216"/>
              </a:xfrm>
              <a:prstGeom prst="rect">
                <a:avLst/>
              </a:prstGeom>
              <a:noFill/>
            </p:spPr>
            <p:txBody>
              <a:bodyPr wrap="square" rtlCol="0">
                <a:spAutoFit/>
              </a:bodyPr>
              <a:lstStyle/>
              <a:p>
                <a:pPr marL="257168" indent="-257168">
                  <a:buFont typeface="Wingdings" panose="05000000000000000000" pitchFamily="2" charset="2"/>
                  <a:buChar char="ü"/>
                </a:pPr>
                <a:r>
                  <a:rPr lang="en-US" sz="2000" dirty="0"/>
                  <a:t>Bandwidth required by a modulated signal depends on the baseband frequency range (or data rate) and the modulation scheme.</a:t>
                </a:r>
              </a:p>
              <a:p>
                <a:pPr marL="257168" indent="-257168">
                  <a:buFont typeface="Wingdings" panose="05000000000000000000" pitchFamily="2" charset="2"/>
                  <a:buChar char="ü"/>
                </a:pPr>
                <a:r>
                  <a:rPr lang="en-US" sz="2000" dirty="0"/>
                  <a:t>Hartley’s Law: </a:t>
                </a:r>
                <a14:m>
                  <m:oMath xmlns:m="http://schemas.openxmlformats.org/officeDocument/2006/math">
                    <m:r>
                      <a:rPr lang="en-US" sz="2000" b="1" i="1" dirty="0">
                        <a:latin typeface="Cambria Math" panose="02040503050406030204" pitchFamily="18" charset="0"/>
                      </a:rPr>
                      <m:t>𝑰</m:t>
                    </m:r>
                    <m:r>
                      <a:rPr lang="en-US" sz="2000" b="1" i="1" dirty="0">
                        <a:latin typeface="Cambria Math" panose="02040503050406030204" pitchFamily="18" charset="0"/>
                      </a:rPr>
                      <m:t> = </m:t>
                    </m:r>
                    <m:r>
                      <a:rPr lang="en-US" sz="2000" b="1" i="1" dirty="0">
                        <a:latin typeface="Cambria Math" panose="02040503050406030204" pitchFamily="18" charset="0"/>
                      </a:rPr>
                      <m:t>𝒌</m:t>
                    </m:r>
                    <m:r>
                      <a:rPr lang="en-US" sz="2000" b="1" i="1" dirty="0">
                        <a:latin typeface="Cambria Math" panose="02040503050406030204" pitchFamily="18" charset="0"/>
                      </a:rPr>
                      <m:t> </m:t>
                    </m:r>
                    <m:r>
                      <a:rPr lang="en-US" sz="2000" b="1" i="1" dirty="0">
                        <a:latin typeface="Cambria Math" panose="02040503050406030204" pitchFamily="18" charset="0"/>
                      </a:rPr>
                      <m:t>𝒕</m:t>
                    </m:r>
                    <m:r>
                      <a:rPr lang="en-US" sz="2000" b="1" i="1" dirty="0">
                        <a:latin typeface="Cambria Math" panose="02040503050406030204" pitchFamily="18" charset="0"/>
                      </a:rPr>
                      <m:t> </m:t>
                    </m:r>
                    <m:r>
                      <a:rPr lang="en-US" sz="2000" b="1" i="1" dirty="0">
                        <a:latin typeface="Cambria Math" panose="02040503050406030204" pitchFamily="18" charset="0"/>
                      </a:rPr>
                      <m:t>𝑩</m:t>
                    </m:r>
                  </m:oMath>
                </a14:m>
                <a:r>
                  <a:rPr lang="en-US" sz="2000" dirty="0"/>
                  <a:t> where   I = amount of information; k = system constant; t = time available; B = channel bandwidth</a:t>
                </a:r>
              </a:p>
            </p:txBody>
          </p:sp>
        </mc:Choice>
        <mc:Fallback xmlns="">
          <p:sp>
            <p:nvSpPr>
              <p:cNvPr id="8" name="TextBox 7"/>
              <p:cNvSpPr txBox="1">
                <a:spLocks noRot="1" noChangeAspect="1" noMove="1" noResize="1" noEditPoints="1" noAdjustHandles="1" noChangeArrowheads="1" noChangeShapeType="1" noTextEdit="1"/>
              </p:cNvSpPr>
              <p:nvPr/>
            </p:nvSpPr>
            <p:spPr>
              <a:xfrm>
                <a:off x="788476" y="4615013"/>
                <a:ext cx="7329270" cy="1631216"/>
              </a:xfrm>
              <a:prstGeom prst="rect">
                <a:avLst/>
              </a:prstGeom>
              <a:blipFill>
                <a:blip r:embed="rId6"/>
                <a:stretch>
                  <a:fillRect l="-748" t="-1866" b="-5597"/>
                </a:stretch>
              </a:blipFill>
            </p:spPr>
            <p:txBody>
              <a:bodyPr/>
              <a:lstStyle/>
              <a:p>
                <a:r>
                  <a:rPr lang="en-US">
                    <a:noFill/>
                  </a:rPr>
                  <a:t> </a:t>
                </a:r>
              </a:p>
            </p:txBody>
          </p:sp>
        </mc:Fallback>
      </mc:AlternateContent>
    </p:spTree>
    <p:extLst>
      <p:ext uri="{BB962C8B-B14F-4D97-AF65-F5344CB8AC3E}">
        <p14:creationId xmlns:p14="http://schemas.microsoft.com/office/powerpoint/2010/main" val="120049353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1279</TotalTime>
  <Words>1995</Words>
  <Application>Microsoft Office PowerPoint</Application>
  <PresentationFormat>On-screen Show (4:3)</PresentationFormat>
  <Paragraphs>260</Paragraphs>
  <Slides>30</Slides>
  <Notes>22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8" baseType="lpstr">
      <vt:lpstr>NimbusRomNo9L-Medi</vt:lpstr>
      <vt:lpstr>Arial</vt:lpstr>
      <vt:lpstr>Calibri</vt:lpstr>
      <vt:lpstr>Calibri Light</vt:lpstr>
      <vt:lpstr>Cambria Math</vt:lpstr>
      <vt:lpstr>Wingdings</vt:lpstr>
      <vt:lpstr>Retrospect</vt:lpstr>
      <vt:lpstr>Equation</vt:lpstr>
      <vt:lpstr>PowerPoint Presentation</vt:lpstr>
      <vt:lpstr>University of Energy and Natural Resources, Sunyani   Dept. of Computer &amp; Electrical Eng.   ELNG 307 – ANALOG AND DIGITAL COMMUNICATIONS</vt:lpstr>
      <vt:lpstr>Chapter 0 – Overview of course</vt:lpstr>
      <vt:lpstr>Course Outline</vt:lpstr>
      <vt:lpstr>Course Objectives</vt:lpstr>
      <vt:lpstr>References</vt:lpstr>
      <vt:lpstr>PART ONE – Introduction to Communication Systems</vt:lpstr>
      <vt:lpstr>Introduction to Communication Systems</vt:lpstr>
      <vt:lpstr>Introduction to Communication Systems</vt:lpstr>
      <vt:lpstr>Types of Communication Systems and Sources</vt:lpstr>
      <vt:lpstr>Transmission Modes</vt:lpstr>
      <vt:lpstr>Basic Structure of Communication System</vt:lpstr>
      <vt:lpstr>Basic Structure of Communication System</vt:lpstr>
      <vt:lpstr>Transmitter</vt:lpstr>
      <vt:lpstr>Communication Channel</vt:lpstr>
      <vt:lpstr>Communication Channels</vt:lpstr>
      <vt:lpstr>Types of communication channels</vt:lpstr>
      <vt:lpstr>Types of communication channels</vt:lpstr>
      <vt:lpstr>Types of communication channels</vt:lpstr>
      <vt:lpstr>Types of communication channels</vt:lpstr>
      <vt:lpstr>Electromagnetic wave propagation</vt:lpstr>
      <vt:lpstr>Propagation mode</vt:lpstr>
      <vt:lpstr>Noise in Communication Channel</vt:lpstr>
      <vt:lpstr>Noise in Communication Channel</vt:lpstr>
      <vt:lpstr>Receiver</vt:lpstr>
      <vt:lpstr>Mathematical Models of Communication Channels </vt:lpstr>
      <vt:lpstr>Mathematical Models of Communication Channels </vt:lpstr>
      <vt:lpstr>Channel Bandwidth and Info. Capacity</vt:lpstr>
      <vt:lpstr>Channel Bandwidth and Info. Capacity cont’d</vt:lpstr>
      <vt:lpstr>Channel Bandwidth and Info. Capacity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Samuel Tweneboah-Koduah</dc:creator>
  <cp:lastModifiedBy>Samuel Tweneboah-Koduah</cp:lastModifiedBy>
  <cp:revision>27</cp:revision>
  <dcterms:created xsi:type="dcterms:W3CDTF">2016-08-19T18:23:08Z</dcterms:created>
  <dcterms:modified xsi:type="dcterms:W3CDTF">2016-09-14T22:32:11Z</dcterms:modified>
</cp:coreProperties>
</file>