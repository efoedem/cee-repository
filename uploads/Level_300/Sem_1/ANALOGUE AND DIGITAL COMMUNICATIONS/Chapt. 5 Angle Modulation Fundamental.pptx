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257" r:id="rId2"/>
    <p:sldId id="258" r:id="rId3"/>
    <p:sldId id="259" r:id="rId4"/>
    <p:sldId id="261" r:id="rId5"/>
    <p:sldId id="262" r:id="rId6"/>
    <p:sldId id="263" r:id="rId7"/>
    <p:sldId id="264" r:id="rId8"/>
    <p:sldId id="266" r:id="rId9"/>
    <p:sldId id="265" r:id="rId10"/>
    <p:sldId id="267" r:id="rId11"/>
    <p:sldId id="271" r:id="rId12"/>
    <p:sldId id="284" r:id="rId13"/>
    <p:sldId id="285" r:id="rId14"/>
    <p:sldId id="270" r:id="rId15"/>
    <p:sldId id="291" r:id="rId16"/>
    <p:sldId id="292" r:id="rId17"/>
    <p:sldId id="272" r:id="rId18"/>
    <p:sldId id="273" r:id="rId19"/>
    <p:sldId id="274" r:id="rId20"/>
    <p:sldId id="275" r:id="rId21"/>
    <p:sldId id="286" r:id="rId22"/>
    <p:sldId id="287" r:id="rId23"/>
    <p:sldId id="276" r:id="rId24"/>
    <p:sldId id="277" r:id="rId25"/>
    <p:sldId id="288" r:id="rId26"/>
    <p:sldId id="289" r:id="rId27"/>
    <p:sldId id="290" r:id="rId28"/>
    <p:sldId id="279" r:id="rId29"/>
    <p:sldId id="278" r:id="rId30"/>
    <p:sldId id="280" r:id="rId31"/>
    <p:sldId id="281" r:id="rId32"/>
    <p:sldId id="282" r:id="rId33"/>
    <p:sldId id="283"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2" autoAdjust="0"/>
    <p:restoredTop sz="81071" autoAdjust="0"/>
  </p:normalViewPr>
  <p:slideViewPr>
    <p:cSldViewPr snapToGrid="0">
      <p:cViewPr varScale="1">
        <p:scale>
          <a:sx n="57" d="100"/>
          <a:sy n="57" d="100"/>
        </p:scale>
        <p:origin x="72" y="4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B6674-DB5D-4790-AC6F-6C80832DC01F}" type="datetimeFigureOut">
              <a:rPr lang="en-US" smtClean="0"/>
              <a:t>10/26/2016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0CB2-9CE9-4AC3-B9CF-AC7FE5E227E7}" type="slidenum">
              <a:rPr lang="en-US" smtClean="0"/>
              <a:t>‹#›</a:t>
            </a:fld>
            <a:endParaRPr lang="en-US"/>
          </a:p>
        </p:txBody>
      </p:sp>
    </p:spTree>
    <p:extLst>
      <p:ext uri="{BB962C8B-B14F-4D97-AF65-F5344CB8AC3E}">
        <p14:creationId xmlns:p14="http://schemas.microsoft.com/office/powerpoint/2010/main" val="551669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AD89D2A-0E16-49BE-8EA8-9D2461F27A0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54476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7569B4D-2B65-4B26-A854-D8AEC28F7E7B}" type="slidenum">
              <a:rPr kumimoji="0" lang="en-GB"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GB"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521623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6AD89D2A-0E16-49BE-8EA8-9D2461F27A06}"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813437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𝑠</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r>
                        <m:rPr>
                          <m:sty m:val="p"/>
                        </m:rPr>
                        <a:rPr lang="en-US" sz="1200" i="0" kern="1200">
                          <a:solidFill>
                            <a:schemeClr val="tx1"/>
                          </a:solidFill>
                          <a:latin typeface="Cambria Math" panose="02040503050406030204" pitchFamily="18" charset="0"/>
                          <a:ea typeface="+mn-ea"/>
                          <a:cs typeface="+mn-cs"/>
                        </a:rPr>
                        <m:t>cos</m:t>
                      </m:r>
                      <m:d>
                        <m:dPr>
                          <m:begChr m:val="["/>
                          <m:endChr m:val="]"/>
                          <m:ctrlPr>
                            <a:rPr lang="en-US" sz="1200" i="1" kern="1200">
                              <a:solidFill>
                                <a:schemeClr val="tx1"/>
                              </a:solidFill>
                              <a:latin typeface="Cambria Math" panose="02040503050406030204" pitchFamily="18" charset="0"/>
                              <a:ea typeface="+mn-ea"/>
                              <a:cs typeface="+mn-cs"/>
                            </a:rPr>
                          </m:ctrlPr>
                        </m:dPr>
                        <m:e>
                          <m:d>
                            <m:dPr>
                              <m:begChr m:val=""/>
                              <m:ctrlPr>
                                <a:rPr lang="en-US" sz="1200" i="1" kern="1200">
                                  <a:solidFill>
                                    <a:schemeClr val="tx1"/>
                                  </a:solidFill>
                                  <a:latin typeface="Cambria Math" panose="02040503050406030204" pitchFamily="18" charset="0"/>
                                  <a:ea typeface="+mn-ea"/>
                                  <a:cs typeface="+mn-cs"/>
                                </a:rPr>
                              </m:ctrlPr>
                            </m:dPr>
                            <m:e>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𝜃</m:t>
                                  </m:r>
                                </m:e>
                                <m:sub>
                                  <m:r>
                                    <a:rPr lang="en-US" sz="1200" i="1" kern="1200">
                                      <a:solidFill>
                                        <a:schemeClr val="tx1"/>
                                      </a:solidFill>
                                      <a:latin typeface="Cambria Math" panose="02040503050406030204" pitchFamily="18" charset="0"/>
                                      <a:ea typeface="+mn-ea"/>
                                      <a:cs typeface="+mn-cs"/>
                                    </a:rPr>
                                    <m:t>𝑖</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e>
                          </m:d>
                        </m:e>
                      </m:d>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𝑠</a:t>
                </a:r>
                <a:r>
                  <a:rPr lang="en-US" sz="1200" i="0" kern="1200">
                    <a:solidFill>
                      <a:schemeClr val="tx1"/>
                    </a:solidFill>
                    <a:latin typeface="+mn-lt"/>
                    <a:ea typeface="+mn-ea"/>
                    <a:cs typeface="+mn-cs"/>
                  </a:rPr>
                  <a:t>(𝑡)=𝐴_𝑐 cos[├ 𝜃_𝑖 (𝑡)]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5</a:t>
            </a:fld>
            <a:endParaRPr lang="en-US"/>
          </a:p>
        </p:txBody>
      </p:sp>
    </p:spTree>
    <p:extLst>
      <p:ext uri="{BB962C8B-B14F-4D97-AF65-F5344CB8AC3E}">
        <p14:creationId xmlns:p14="http://schemas.microsoft.com/office/powerpoint/2010/main" val="3500753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sz="1200" i="0" kern="1200">
                    <a:solidFill>
                      <a:schemeClr val="tx1"/>
                    </a:solidFill>
                    <a:latin typeface="+mn-lt"/>
                    <a:ea typeface="+mn-ea"/>
                    <a:cs typeface="+mn-cs"/>
                  </a:rPr>
                  <a:t>𝑓</a:t>
                </a:r>
                <a:r>
                  <a:rPr lang="en-US" sz="1200" i="0" kern="1200" smtClean="0">
                    <a:solidFill>
                      <a:schemeClr val="tx1"/>
                    </a:solidFill>
                    <a:latin typeface="+mn-lt"/>
                    <a:ea typeface="+mn-ea"/>
                    <a:cs typeface="+mn-cs"/>
                  </a:rPr>
                  <a:t>_</a:t>
                </a:r>
                <a:r>
                  <a:rPr lang="en-US" sz="1200" i="0" kern="1200">
                    <a:solidFill>
                      <a:schemeClr val="tx1"/>
                    </a:solidFill>
                    <a:latin typeface="+mn-lt"/>
                    <a:ea typeface="+mn-ea"/>
                    <a:cs typeface="+mn-cs"/>
                  </a:rPr>
                  <a:t>𝑖 (𝑡)=1/2𝜋  ├ 𝑑𝜃_𝑖 (𝑡)/𝑑𝑡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6</a:t>
            </a:fld>
            <a:endParaRPr lang="en-US"/>
          </a:p>
        </p:txBody>
      </p:sp>
    </p:spTree>
    <p:extLst>
      <p:ext uri="{BB962C8B-B14F-4D97-AF65-F5344CB8AC3E}">
        <p14:creationId xmlns:p14="http://schemas.microsoft.com/office/powerpoint/2010/main" val="1943511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Here FM is varying carrier freq.</a:t>
                </a:r>
              </a:p>
            </p:txBody>
          </p:sp>
        </mc:Choice>
        <mc:Fallback xmlns="">
          <p:sp>
            <p:nvSpPr>
              <p:cNvPr id="3" name="Notes Placeholder 2"/>
              <p:cNvSpPr>
                <a:spLocks noGrp="1"/>
              </p:cNvSpPr>
              <p:nvPr>
                <p:ph type="body" idx="1"/>
              </p:nvPr>
            </p:nvSpPr>
            <p:spPr/>
            <p:txBody>
              <a:bodyPr/>
              <a:lstStyle/>
              <a:p>
                <a:r>
                  <a:rPr lang="en-US" sz="1200" i="0" kern="1200">
                    <a:solidFill>
                      <a:schemeClr val="tx1"/>
                    </a:solidFill>
                    <a:latin typeface="+mn-lt"/>
                    <a:ea typeface="+mn-ea"/>
                    <a:cs typeface="+mn-cs"/>
                  </a:rPr>
                  <a:t>𝑓</a:t>
                </a:r>
                <a:r>
                  <a:rPr lang="en-US" sz="1200" i="0" kern="1200" smtClean="0">
                    <a:solidFill>
                      <a:schemeClr val="tx1"/>
                    </a:solidFill>
                    <a:latin typeface="+mn-lt"/>
                    <a:ea typeface="+mn-ea"/>
                    <a:cs typeface="+mn-cs"/>
                  </a:rPr>
                  <a:t>_</a:t>
                </a:r>
                <a:r>
                  <a:rPr lang="en-US" sz="1200" i="0" kern="1200">
                    <a:solidFill>
                      <a:schemeClr val="tx1"/>
                    </a:solidFill>
                    <a:latin typeface="+mn-lt"/>
                    <a:ea typeface="+mn-ea"/>
                    <a:cs typeface="+mn-cs"/>
                  </a:rPr>
                  <a:t>𝑖 (𝑡)=1/2𝜋  ├ 𝑑𝜃_𝑖 (𝑡)/𝑑𝑡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7</a:t>
            </a:fld>
            <a:endParaRPr lang="en-US"/>
          </a:p>
        </p:txBody>
      </p:sp>
    </p:spTree>
    <p:extLst>
      <p:ext uri="{BB962C8B-B14F-4D97-AF65-F5344CB8AC3E}">
        <p14:creationId xmlns:p14="http://schemas.microsoft.com/office/powerpoint/2010/main" val="3088270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14:m>
                  <m:oMath xmlns:m="http://schemas.openxmlformats.org/officeDocument/2006/math">
                    <m:r>
                      <a:rPr lang="en-US" sz="1200" i="1" kern="1200" smtClean="0">
                        <a:solidFill>
                          <a:schemeClr val="tx1"/>
                        </a:solidFill>
                        <a:latin typeface="Cambria Math" panose="02040503050406030204" pitchFamily="18" charset="0"/>
                        <a:ea typeface="+mn-ea"/>
                        <a:cs typeface="+mn-cs"/>
                      </a:rPr>
                      <m:t>𝜙</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b="0" i="1" kern="1200" smtClean="0">
                        <a:solidFill>
                          <a:schemeClr val="tx1"/>
                        </a:solidFill>
                        <a:latin typeface="Cambria Math" panose="02040503050406030204" pitchFamily="18" charset="0"/>
                        <a:ea typeface="+mn-ea"/>
                        <a:cs typeface="+mn-cs"/>
                      </a:rPr>
                      <m:t>)</m:t>
                    </m:r>
                  </m:oMath>
                </a14:m>
                <a:r>
                  <a:rPr lang="en-US" dirty="0"/>
                  <a:t> is the phase of the signal</a:t>
                </a:r>
              </a:p>
              <a:p>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𝜙</a:t>
                </a:r>
                <a:r>
                  <a:rPr lang="en-US" sz="1200" i="0" kern="1200">
                    <a:solidFill>
                      <a:schemeClr val="tx1"/>
                    </a:solidFill>
                    <a:latin typeface="+mn-lt"/>
                    <a:ea typeface="+mn-ea"/>
                    <a:cs typeface="+mn-cs"/>
                  </a:rPr>
                  <a:t>(𝑡</a:t>
                </a:r>
                <a:r>
                  <a:rPr lang="en-US" sz="1200" b="0" i="0" kern="1200" smtClean="0">
                    <a:solidFill>
                      <a:schemeClr val="tx1"/>
                    </a:solidFill>
                    <a:latin typeface="Cambria Math" panose="02040503050406030204" pitchFamily="18" charset="0"/>
                    <a:ea typeface="+mn-ea"/>
                    <a:cs typeface="+mn-cs"/>
                  </a:rPr>
                  <a:t>)</a:t>
                </a:r>
                <a:r>
                  <a:rPr lang="en-US" dirty="0" smtClean="0"/>
                  <a:t> is the phase of the signal</a:t>
                </a:r>
              </a:p>
              <a:p>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8</a:t>
            </a:fld>
            <a:endParaRPr lang="en-US"/>
          </a:p>
        </p:txBody>
      </p:sp>
    </p:spTree>
    <p:extLst>
      <p:ext uri="{BB962C8B-B14F-4D97-AF65-F5344CB8AC3E}">
        <p14:creationId xmlns:p14="http://schemas.microsoft.com/office/powerpoint/2010/main" val="2344107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endParaRPr lang="en-US" dirty="0"/>
              </a:p>
            </p:txBody>
          </p:sp>
        </mc:Choice>
        <mc:Fallback xmlns="">
          <p:sp>
            <p:nvSpPr>
              <p:cNvPr id="3" name="Notes Placeholder 2"/>
              <p:cNvSpPr>
                <a:spLocks noGrp="1"/>
              </p:cNvSpPr>
              <p:nvPr>
                <p:ph type="body" idx="1"/>
              </p:nvPr>
            </p:nvSpPr>
            <p:spPr/>
            <p:txBody>
              <a:bodyPr/>
              <a:lstStyle/>
              <a:p>
                <a:r>
                  <a:rPr lang="en-US" sz="1200" i="0" kern="1200">
                    <a:solidFill>
                      <a:schemeClr val="tx1"/>
                    </a:solidFill>
                    <a:latin typeface="+mn-lt"/>
                    <a:ea typeface="+mn-ea"/>
                    <a:cs typeface="+mn-cs"/>
                  </a:rPr>
                  <a:t>𝑠_𝐹𝑀 (𝑡)=𝐴_𝑐 cos[2𝜋𝑓_𝑐 𝑡+2𝜋𝑘_𝑓 ∫130_0^𝑡▒〖𝑚(𝜏)𝑑𝜏〗]</a:t>
                </a:r>
                <a:endParaRPr lang="en-US" dirty="0"/>
              </a:p>
            </p:txBody>
          </p:sp>
        </mc:Fallback>
      </mc:AlternateContent>
      <p:sp>
        <p:nvSpPr>
          <p:cNvPr id="4" name="Slide Number Placeholder 3"/>
          <p:cNvSpPr>
            <a:spLocks noGrp="1"/>
          </p:cNvSpPr>
          <p:nvPr>
            <p:ph type="sldNum" sz="quarter" idx="10"/>
          </p:nvPr>
        </p:nvSpPr>
        <p:spPr/>
        <p:txBody>
          <a:bodyPr/>
          <a:lstStyle/>
          <a:p>
            <a:fld id="{4AED0CB2-9CE9-4AC3-B9CF-AC7FE5E227E7}" type="slidenum">
              <a:rPr lang="en-US" smtClean="0"/>
              <a:t>9</a:t>
            </a:fld>
            <a:endParaRPr lang="en-US"/>
          </a:p>
        </p:txBody>
      </p:sp>
    </p:spTree>
    <p:extLst>
      <p:ext uri="{BB962C8B-B14F-4D97-AF65-F5344CB8AC3E}">
        <p14:creationId xmlns:p14="http://schemas.microsoft.com/office/powerpoint/2010/main" val="3385359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ED0CB2-9CE9-4AC3-B9CF-AC7FE5E227E7}" type="slidenum">
              <a:rPr lang="en-US" smtClean="0"/>
              <a:t>10</a:t>
            </a:fld>
            <a:endParaRPr lang="en-US"/>
          </a:p>
        </p:txBody>
      </p:sp>
    </p:spTree>
    <p:extLst>
      <p:ext uri="{BB962C8B-B14F-4D97-AF65-F5344CB8AC3E}">
        <p14:creationId xmlns:p14="http://schemas.microsoft.com/office/powerpoint/2010/main" val="326913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f_i</a:t>
            </a:r>
            <a:r>
              <a:rPr lang="en-US" dirty="0"/>
              <a:t> swing up and down either side of </a:t>
            </a:r>
            <a:r>
              <a:rPr lang="en-US" dirty="0" err="1"/>
              <a:t>f_c</a:t>
            </a:r>
            <a:r>
              <a:rPr lang="en-US" dirty="0"/>
              <a:t> over range of + or - </a:t>
            </a:r>
            <a:r>
              <a:rPr lang="en-US" dirty="0" err="1"/>
              <a:t>k</a:t>
            </a:r>
            <a:r>
              <a:rPr lang="en-US" baseline="-25000" dirty="0" err="1"/>
              <a:t>f</a:t>
            </a:r>
            <a:r>
              <a:rPr lang="en-US" dirty="0" err="1"/>
              <a:t>Am</a:t>
            </a:r>
            <a:endParaRPr lang="en-US" dirty="0"/>
          </a:p>
        </p:txBody>
      </p:sp>
      <p:sp>
        <p:nvSpPr>
          <p:cNvPr id="4" name="Slide Number Placeholder 3"/>
          <p:cNvSpPr>
            <a:spLocks noGrp="1"/>
          </p:cNvSpPr>
          <p:nvPr>
            <p:ph type="sldNum" sz="quarter" idx="10"/>
          </p:nvPr>
        </p:nvSpPr>
        <p:spPr/>
        <p:txBody>
          <a:bodyPr/>
          <a:lstStyle/>
          <a:p>
            <a:fld id="{4AED0CB2-9CE9-4AC3-B9CF-AC7FE5E227E7}" type="slidenum">
              <a:rPr lang="en-US" smtClean="0"/>
              <a:t>12</a:t>
            </a:fld>
            <a:endParaRPr lang="en-US"/>
          </a:p>
        </p:txBody>
      </p:sp>
    </p:spTree>
    <p:extLst>
      <p:ext uri="{BB962C8B-B14F-4D97-AF65-F5344CB8AC3E}">
        <p14:creationId xmlns:p14="http://schemas.microsoft.com/office/powerpoint/2010/main" val="4149609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f_i</a:t>
            </a:r>
            <a:r>
              <a:rPr lang="en-US" dirty="0"/>
              <a:t> swing up and down either side of </a:t>
            </a:r>
            <a:r>
              <a:rPr lang="en-US" dirty="0" err="1"/>
              <a:t>f_c</a:t>
            </a:r>
            <a:r>
              <a:rPr lang="en-US" dirty="0"/>
              <a:t> over range of + or - </a:t>
            </a:r>
            <a:r>
              <a:rPr lang="en-US" dirty="0" err="1"/>
              <a:t>k</a:t>
            </a:r>
            <a:r>
              <a:rPr lang="en-US" baseline="-25000" dirty="0" err="1"/>
              <a:t>f</a:t>
            </a:r>
            <a:r>
              <a:rPr lang="en-US" dirty="0" err="1"/>
              <a:t>Am</a:t>
            </a:r>
            <a:endParaRPr lang="en-US" dirty="0"/>
          </a:p>
        </p:txBody>
      </p:sp>
      <p:sp>
        <p:nvSpPr>
          <p:cNvPr id="4" name="Slide Number Placeholder 3"/>
          <p:cNvSpPr>
            <a:spLocks noGrp="1"/>
          </p:cNvSpPr>
          <p:nvPr>
            <p:ph type="sldNum" sz="quarter" idx="10"/>
          </p:nvPr>
        </p:nvSpPr>
        <p:spPr/>
        <p:txBody>
          <a:bodyPr/>
          <a:lstStyle/>
          <a:p>
            <a:fld id="{4AED0CB2-9CE9-4AC3-B9CF-AC7FE5E227E7}" type="slidenum">
              <a:rPr lang="en-US" smtClean="0"/>
              <a:t>13</a:t>
            </a:fld>
            <a:endParaRPr lang="en-US"/>
          </a:p>
        </p:txBody>
      </p:sp>
    </p:spTree>
    <p:extLst>
      <p:ext uri="{BB962C8B-B14F-4D97-AF65-F5344CB8AC3E}">
        <p14:creationId xmlns:p14="http://schemas.microsoft.com/office/powerpoint/2010/main" val="213717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𝑠</a:t>
                </a:r>
                <a:r>
                  <a:rPr lang="en-US" sz="1200" i="0" kern="1200">
                    <a:solidFill>
                      <a:schemeClr val="tx1"/>
                    </a:solidFill>
                    <a:latin typeface="+mn-lt"/>
                    <a:ea typeface="+mn-ea"/>
                    <a:cs typeface="+mn-cs"/>
                  </a:rPr>
                  <a:t>(𝑡)=𝐴_𝑐 cos[├ 2𝜋𝑓_𝑐 𝑡+𝛽sin(2𝜋𝑓_𝑚 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14</a:t>
            </a:fld>
            <a:endParaRPr lang="en-US"/>
          </a:p>
        </p:txBody>
      </p:sp>
    </p:spTree>
    <p:extLst>
      <p:ext uri="{BB962C8B-B14F-4D97-AF65-F5344CB8AC3E}">
        <p14:creationId xmlns:p14="http://schemas.microsoft.com/office/powerpoint/2010/main" val="2848372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d>
                        <m:dPr>
                          <m:begChr m:val=""/>
                          <m:ctrlPr>
                            <a:rPr lang="en-US" sz="1200" i="1" kern="1200" smtClean="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𝑠</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r>
                            <m:rPr>
                              <m:sty m:val="p"/>
                            </m:rPr>
                            <a:rPr lang="en-US" sz="1200" i="0" kern="1200">
                              <a:solidFill>
                                <a:schemeClr val="tx1"/>
                              </a:solidFill>
                              <a:latin typeface="Cambria Math" panose="02040503050406030204" pitchFamily="18" charset="0"/>
                              <a:ea typeface="+mn-ea"/>
                              <a:cs typeface="+mn-cs"/>
                            </a:rPr>
                            <m:t>cos</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𝛽</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r>
                            <m:rPr>
                              <m:sty m:val="p"/>
                            </m:rPr>
                            <a:rPr lang="en-US" sz="1200" i="0" kern="1200">
                              <a:solidFill>
                                <a:schemeClr val="tx1"/>
                              </a:solidFill>
                              <a:latin typeface="Cambria Math" panose="02040503050406030204" pitchFamily="18" charset="0"/>
                              <a:ea typeface="+mn-ea"/>
                              <a:cs typeface="+mn-cs"/>
                            </a:rPr>
                            <m:t>sin</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sin</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1" kern="1200">
                              <a:solidFill>
                                <a:schemeClr val="tx1"/>
                              </a:solidFill>
                              <a:latin typeface="Cambria Math" panose="02040503050406030204" pitchFamily="18" charset="0"/>
                              <a:ea typeface="+mn-ea"/>
                              <a:cs typeface="+mn-cs"/>
                            </a:rPr>
                            <m:t>𝑡</m:t>
                          </m:r>
                        </m:e>
                      </m:d>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 </a:t>
                </a:r>
                <a:r>
                  <a:rPr lang="en-US" sz="1200" i="0" kern="1200">
                    <a:solidFill>
                      <a:schemeClr val="tx1"/>
                    </a:solidFill>
                    <a:latin typeface="+mn-lt"/>
                    <a:ea typeface="+mn-ea"/>
                    <a:cs typeface="+mn-cs"/>
                  </a:rPr>
                  <a:t>𝑠(𝑡)=𝐴_𝑐 cos2𝜋𝑓_𝑐 𝑡−𝛽𝐴_𝑐 sin(2𝜋𝑓_𝑐 𝑡)sin(2𝜋𝑓_𝑚 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17</a:t>
            </a:fld>
            <a:endParaRPr lang="en-US"/>
          </a:p>
        </p:txBody>
      </p:sp>
    </p:spTree>
    <p:extLst>
      <p:ext uri="{BB962C8B-B14F-4D97-AF65-F5344CB8AC3E}">
        <p14:creationId xmlns:p14="http://schemas.microsoft.com/office/powerpoint/2010/main" val="2844904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𝑠</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r>
                        <m:rPr>
                          <m:sty m:val="p"/>
                        </m:rPr>
                        <a:rPr lang="en-US" sz="1200" i="0" kern="1200">
                          <a:solidFill>
                            <a:schemeClr val="tx1"/>
                          </a:solidFill>
                          <a:latin typeface="Cambria Math" panose="02040503050406030204" pitchFamily="18" charset="0"/>
                          <a:ea typeface="+mn-ea"/>
                          <a:cs typeface="+mn-cs"/>
                        </a:rPr>
                        <m:t>cos</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f>
                        <m:fPr>
                          <m:ctrlPr>
                            <a:rPr lang="en-US" sz="1200" i="1" kern="1200">
                              <a:solidFill>
                                <a:schemeClr val="tx1"/>
                              </a:solidFill>
                              <a:latin typeface="Cambria Math" panose="02040503050406030204" pitchFamily="18" charset="0"/>
                              <a:ea typeface="+mn-ea"/>
                              <a:cs typeface="+mn-cs"/>
                            </a:rPr>
                          </m:ctrlPr>
                        </m:fPr>
                        <m:num>
                          <m:r>
                            <a:rPr lang="en-US" sz="1200" i="1" kern="1200">
                              <a:solidFill>
                                <a:schemeClr val="tx1"/>
                              </a:solidFill>
                              <a:latin typeface="Cambria Math" panose="02040503050406030204" pitchFamily="18" charset="0"/>
                              <a:ea typeface="+mn-ea"/>
                              <a:cs typeface="+mn-cs"/>
                            </a:rPr>
                            <m:t>𝛽</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num>
                        <m:den>
                          <m:r>
                            <a:rPr lang="en-US" sz="1200" i="0" kern="1200">
                              <a:solidFill>
                                <a:schemeClr val="tx1"/>
                              </a:solidFill>
                              <a:latin typeface="Cambria Math" panose="02040503050406030204" pitchFamily="18" charset="0"/>
                              <a:ea typeface="+mn-ea"/>
                              <a:cs typeface="+mn-cs"/>
                            </a:rPr>
                            <m:t>2</m:t>
                          </m:r>
                        </m:den>
                      </m:f>
                      <m:d>
                        <m:dPr>
                          <m:begChr m:val="["/>
                          <m:endChr m:val="]"/>
                          <m:ctrlPr>
                            <a:rPr lang="en-US" sz="1200" i="1" kern="1200">
                              <a:solidFill>
                                <a:schemeClr val="tx1"/>
                              </a:solidFill>
                              <a:latin typeface="Cambria Math" panose="02040503050406030204" pitchFamily="18" charset="0"/>
                              <a:ea typeface="+mn-ea"/>
                              <a:cs typeface="+mn-cs"/>
                            </a:rPr>
                          </m:ctrlPr>
                        </m:dPr>
                        <m:e>
                          <m:r>
                            <m:rPr>
                              <m:sty m:val="p"/>
                            </m:rPr>
                            <a:rPr lang="en-US" sz="1200" i="0" kern="1200">
                              <a:solidFill>
                                <a:schemeClr val="tx1"/>
                              </a:solidFill>
                              <a:latin typeface="Cambria Math" panose="02040503050406030204" pitchFamily="18" charset="0"/>
                              <a:ea typeface="+mn-ea"/>
                              <a:cs typeface="+mn-cs"/>
                            </a:rPr>
                            <m:t>cos</m:t>
                          </m:r>
                          <m:d>
                            <m:dPr>
                              <m:ctrlPr>
                                <a:rPr lang="en-US" sz="1200" i="1"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e>
                          </m:d>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cos</m:t>
                          </m:r>
                          <m:d>
                            <m:dPr>
                              <m:ctrlPr>
                                <a:rPr lang="en-US" sz="1200" i="1"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e>
                          </m:d>
                        </m:e>
                      </m:d>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𝑠</a:t>
                </a:r>
                <a:r>
                  <a:rPr lang="en-US" sz="1200" i="0" kern="1200">
                    <a:solidFill>
                      <a:schemeClr val="tx1"/>
                    </a:solidFill>
                    <a:latin typeface="+mn-lt"/>
                    <a:ea typeface="+mn-ea"/>
                    <a:cs typeface="+mn-cs"/>
                  </a:rPr>
                  <a:t>(𝑡)=𝐴_𝑐 cos2𝜋𝑓_𝑐 𝑡+(𝛽𝐴_𝑐)/2 [cos(2𝜋(𝑓_𝑐+𝑓_𝑚)𝑡)−cos(2𝜋(𝑓_𝑐−𝑓_𝑚)𝑡)]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18</a:t>
            </a:fld>
            <a:endParaRPr lang="en-US"/>
          </a:p>
        </p:txBody>
      </p:sp>
    </p:spTree>
    <p:extLst>
      <p:ext uri="{BB962C8B-B14F-4D97-AF65-F5344CB8AC3E}">
        <p14:creationId xmlns:p14="http://schemas.microsoft.com/office/powerpoint/2010/main" val="3498051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𝑠</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r>
                        <m:rPr>
                          <m:sty m:val="p"/>
                        </m:rPr>
                        <a:rPr lang="en-US" sz="1200" i="0" kern="1200">
                          <a:solidFill>
                            <a:schemeClr val="tx1"/>
                          </a:solidFill>
                          <a:latin typeface="Cambria Math" panose="02040503050406030204" pitchFamily="18" charset="0"/>
                          <a:ea typeface="+mn-ea"/>
                          <a:cs typeface="+mn-cs"/>
                        </a:rPr>
                        <m:t>cos</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f>
                        <m:fPr>
                          <m:ctrlPr>
                            <a:rPr lang="en-US" sz="1200" i="1" kern="1200">
                              <a:solidFill>
                                <a:schemeClr val="tx1"/>
                              </a:solidFill>
                              <a:latin typeface="Cambria Math" panose="02040503050406030204" pitchFamily="18" charset="0"/>
                              <a:ea typeface="+mn-ea"/>
                              <a:cs typeface="+mn-cs"/>
                            </a:rPr>
                          </m:ctrlPr>
                        </m:fPr>
                        <m:num>
                          <m:r>
                            <a:rPr lang="en-US" sz="1200" i="1" kern="1200">
                              <a:solidFill>
                                <a:schemeClr val="tx1"/>
                              </a:solidFill>
                              <a:latin typeface="Cambria Math" panose="02040503050406030204" pitchFamily="18" charset="0"/>
                              <a:ea typeface="+mn-ea"/>
                              <a:cs typeface="+mn-cs"/>
                            </a:rPr>
                            <m:t>𝛽</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num>
                        <m:den>
                          <m:r>
                            <a:rPr lang="en-US" sz="1200" i="0" kern="1200">
                              <a:solidFill>
                                <a:schemeClr val="tx1"/>
                              </a:solidFill>
                              <a:latin typeface="Cambria Math" panose="02040503050406030204" pitchFamily="18" charset="0"/>
                              <a:ea typeface="+mn-ea"/>
                              <a:cs typeface="+mn-cs"/>
                            </a:rPr>
                            <m:t>2</m:t>
                          </m:r>
                        </m:den>
                      </m:f>
                      <m:d>
                        <m:dPr>
                          <m:begChr m:val="["/>
                          <m:endChr m:val="]"/>
                          <m:ctrlPr>
                            <a:rPr lang="en-US" sz="1200" i="1" kern="1200">
                              <a:solidFill>
                                <a:schemeClr val="tx1"/>
                              </a:solidFill>
                              <a:latin typeface="Cambria Math" panose="02040503050406030204" pitchFamily="18" charset="0"/>
                              <a:ea typeface="+mn-ea"/>
                              <a:cs typeface="+mn-cs"/>
                            </a:rPr>
                          </m:ctrlPr>
                        </m:dPr>
                        <m:e>
                          <m:r>
                            <m:rPr>
                              <m:sty m:val="p"/>
                            </m:rPr>
                            <a:rPr lang="en-US" sz="1200" i="0" kern="1200">
                              <a:solidFill>
                                <a:schemeClr val="tx1"/>
                              </a:solidFill>
                              <a:latin typeface="Cambria Math" panose="02040503050406030204" pitchFamily="18" charset="0"/>
                              <a:ea typeface="+mn-ea"/>
                              <a:cs typeface="+mn-cs"/>
                            </a:rPr>
                            <m:t>cos</m:t>
                          </m:r>
                          <m:d>
                            <m:dPr>
                              <m:ctrlPr>
                                <a:rPr lang="en-US" sz="1200" i="1"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e>
                          </m:d>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cos</m:t>
                          </m:r>
                          <m:d>
                            <m:dPr>
                              <m:ctrlPr>
                                <a:rPr lang="en-US" sz="1200" i="1"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𝑐</m:t>
                                  </m:r>
                                </m:sub>
                              </m:sSub>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e>
                          </m:d>
                        </m:e>
                      </m:d>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𝑠</a:t>
                </a:r>
                <a:r>
                  <a:rPr lang="en-US" sz="1200" i="0" kern="1200">
                    <a:solidFill>
                      <a:schemeClr val="tx1"/>
                    </a:solidFill>
                    <a:latin typeface="+mn-lt"/>
                    <a:ea typeface="+mn-ea"/>
                    <a:cs typeface="+mn-cs"/>
                  </a:rPr>
                  <a:t>(𝑡)=𝐴_𝑐 cos2𝜋𝑓_𝑐 𝑡+(𝛽𝐴_𝑐)/2 [cos(2𝜋(𝑓_𝑐+𝑓_𝑚)𝑡)−cos(2𝜋(𝑓_𝑐−𝑓_𝑚)𝑡)]</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19</a:t>
            </a:fld>
            <a:endParaRPr lang="en-US"/>
          </a:p>
        </p:txBody>
      </p:sp>
    </p:spTree>
    <p:extLst>
      <p:ext uri="{BB962C8B-B14F-4D97-AF65-F5344CB8AC3E}">
        <p14:creationId xmlns:p14="http://schemas.microsoft.com/office/powerpoint/2010/main" val="2339844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𝑛</m:t>
                      </m:r>
                      <m:r>
                        <a:rPr lang="en-US" sz="1200" i="0" kern="1200">
                          <a:solidFill>
                            <a:schemeClr val="tx1"/>
                          </a:solidFill>
                          <a:latin typeface="Cambria Math" panose="02040503050406030204" pitchFamily="18" charset="0"/>
                          <a:ea typeface="+mn-ea"/>
                          <a:cs typeface="+mn-cs"/>
                        </a:rPr>
                        <m:t>=0,±1,±2,...</m:t>
                      </m:r>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𝑛</a:t>
                </a:r>
                <a:r>
                  <a:rPr lang="en-US" sz="1200" i="0" kern="1200">
                    <a:solidFill>
                      <a:schemeClr val="tx1"/>
                    </a:solidFill>
                    <a:latin typeface="+mn-lt"/>
                    <a:ea typeface="+mn-ea"/>
                    <a:cs typeface="+mn-cs"/>
                  </a:rPr>
                  <a:t>=0,±1,±2,...</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20</a:t>
            </a:fld>
            <a:endParaRPr lang="en-US"/>
          </a:p>
        </p:txBody>
      </p:sp>
    </p:spTree>
    <p:extLst>
      <p:ext uri="{BB962C8B-B14F-4D97-AF65-F5344CB8AC3E}">
        <p14:creationId xmlns:p14="http://schemas.microsoft.com/office/powerpoint/2010/main" val="1038909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𝑛</m:t>
                      </m:r>
                      <m:r>
                        <a:rPr lang="en-US" sz="1200" i="0" kern="1200">
                          <a:solidFill>
                            <a:schemeClr val="tx1"/>
                          </a:solidFill>
                          <a:latin typeface="Cambria Math" panose="02040503050406030204" pitchFamily="18" charset="0"/>
                          <a:ea typeface="+mn-ea"/>
                          <a:cs typeface="+mn-cs"/>
                        </a:rPr>
                        <m:t>=0,±1,±2,...</m:t>
                      </m:r>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𝑛</a:t>
                </a:r>
                <a:r>
                  <a:rPr lang="en-US" sz="1200" i="0" kern="1200">
                    <a:solidFill>
                      <a:schemeClr val="tx1"/>
                    </a:solidFill>
                    <a:latin typeface="+mn-lt"/>
                    <a:ea typeface="+mn-ea"/>
                    <a:cs typeface="+mn-cs"/>
                  </a:rPr>
                  <a:t>=0,±1,±2,...</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21</a:t>
            </a:fld>
            <a:endParaRPr lang="en-US"/>
          </a:p>
        </p:txBody>
      </p:sp>
    </p:spTree>
    <p:extLst>
      <p:ext uri="{BB962C8B-B14F-4D97-AF65-F5344CB8AC3E}">
        <p14:creationId xmlns:p14="http://schemas.microsoft.com/office/powerpoint/2010/main" val="4178551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US" sz="1200" i="1" kern="1200" smtClean="0">
                          <a:solidFill>
                            <a:schemeClr val="tx1"/>
                          </a:solidFill>
                          <a:latin typeface="Cambria Math" panose="02040503050406030204" pitchFamily="18" charset="0"/>
                          <a:ea typeface="+mn-ea"/>
                          <a:cs typeface="+mn-cs"/>
                        </a:rPr>
                        <m:t>𝑛</m:t>
                      </m:r>
                      <m:r>
                        <a:rPr lang="en-US" sz="1200" i="0" kern="1200">
                          <a:solidFill>
                            <a:schemeClr val="tx1"/>
                          </a:solidFill>
                          <a:latin typeface="Cambria Math" panose="02040503050406030204" pitchFamily="18" charset="0"/>
                          <a:ea typeface="+mn-ea"/>
                          <a:cs typeface="+mn-cs"/>
                        </a:rPr>
                        <m:t>=0,±1,±2,...</m:t>
                      </m:r>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smtClean="0">
                    <a:solidFill>
                      <a:schemeClr val="tx1"/>
                    </a:solidFill>
                    <a:latin typeface="+mn-lt"/>
                    <a:ea typeface="+mn-ea"/>
                    <a:cs typeface="+mn-cs"/>
                  </a:rPr>
                  <a:t>𝑛</a:t>
                </a:r>
                <a:r>
                  <a:rPr lang="en-US" sz="1200" i="0" kern="1200">
                    <a:solidFill>
                      <a:schemeClr val="tx1"/>
                    </a:solidFill>
                    <a:latin typeface="+mn-lt"/>
                    <a:ea typeface="+mn-ea"/>
                    <a:cs typeface="+mn-cs"/>
                  </a:rPr>
                  <a:t>=0,±1,±2,...</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22</a:t>
            </a:fld>
            <a:endParaRPr lang="en-US"/>
          </a:p>
        </p:txBody>
      </p:sp>
    </p:spTree>
    <p:extLst>
      <p:ext uri="{BB962C8B-B14F-4D97-AF65-F5344CB8AC3E}">
        <p14:creationId xmlns:p14="http://schemas.microsoft.com/office/powerpoint/2010/main" val="1556407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202027-3D3C-40BE-86EA-46FEF78F751F}" type="slidenum">
              <a:rPr lang="en-US" smtClean="0"/>
              <a:t>23</a:t>
            </a:fld>
            <a:endParaRPr lang="en-US"/>
          </a:p>
        </p:txBody>
      </p:sp>
    </p:spTree>
    <p:extLst>
      <p:ext uri="{BB962C8B-B14F-4D97-AF65-F5344CB8AC3E}">
        <p14:creationId xmlns:p14="http://schemas.microsoft.com/office/powerpoint/2010/main" val="2811911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acc>
                        <m:accPr>
                          <m:chr m:val="̃"/>
                          <m:ctrlPr>
                            <a:rPr lang="en-US" sz="1200" i="1" kern="1200" smtClean="0">
                              <a:solidFill>
                                <a:schemeClr val="tx1"/>
                              </a:solidFill>
                              <a:latin typeface="Cambria Math" panose="02040503050406030204" pitchFamily="18" charset="0"/>
                              <a:ea typeface="+mn-ea"/>
                              <a:cs typeface="+mn-cs"/>
                            </a:rPr>
                          </m:ctrlPr>
                        </m:accPr>
                        <m:e>
                          <m:r>
                            <a:rPr lang="en-US" sz="1200" i="1" kern="1200">
                              <a:solidFill>
                                <a:schemeClr val="tx1"/>
                              </a:solidFill>
                              <a:latin typeface="Cambria Math" panose="02040503050406030204" pitchFamily="18" charset="0"/>
                              <a:ea typeface="+mn-ea"/>
                              <a:cs typeface="+mn-cs"/>
                            </a:rPr>
                            <m:t>𝑠</m:t>
                          </m:r>
                        </m:e>
                      </m:acc>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𝑡</m:t>
                      </m:r>
                      <m:r>
                        <a:rPr lang="en-US" sz="1200" i="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𝐴</m:t>
                          </m:r>
                        </m:e>
                        <m:sub>
                          <m:r>
                            <a:rPr lang="en-US" sz="1200" i="1" kern="1200">
                              <a:solidFill>
                                <a:schemeClr val="tx1"/>
                              </a:solidFill>
                              <a:latin typeface="Cambria Math" panose="02040503050406030204" pitchFamily="18" charset="0"/>
                              <a:ea typeface="+mn-ea"/>
                              <a:cs typeface="+mn-cs"/>
                            </a:rPr>
                            <m:t>𝑐</m:t>
                          </m:r>
                        </m:sub>
                      </m:sSub>
                      <m:nary>
                        <m:naryPr>
                          <m:chr m:val="∑"/>
                          <m:limLoc m:val="undOvr"/>
                          <m:grow m:val="on"/>
                          <m:ctrlPr>
                            <a:rPr lang="en-US" sz="1200" i="1" kern="1200">
                              <a:solidFill>
                                <a:schemeClr val="tx1"/>
                              </a:solidFill>
                              <a:latin typeface="Cambria Math" panose="02040503050406030204" pitchFamily="18" charset="0"/>
                              <a:ea typeface="+mn-ea"/>
                              <a:cs typeface="+mn-cs"/>
                            </a:rPr>
                          </m:ctrlPr>
                        </m:naryPr>
                        <m:sub>
                          <m:r>
                            <a:rPr lang="en-US" sz="1200" i="1" kern="1200">
                              <a:solidFill>
                                <a:schemeClr val="tx1"/>
                              </a:solidFill>
                              <a:latin typeface="Cambria Math" panose="02040503050406030204" pitchFamily="18" charset="0"/>
                              <a:ea typeface="+mn-ea"/>
                              <a:cs typeface="+mn-cs"/>
                            </a:rPr>
                            <m:t>𝑛</m:t>
                          </m:r>
                          <m:r>
                            <a:rPr lang="en-US" sz="1200" i="0" kern="1200">
                              <a:solidFill>
                                <a:schemeClr val="tx1"/>
                              </a:solidFill>
                              <a:latin typeface="Cambria Math" panose="02040503050406030204" pitchFamily="18" charset="0"/>
                              <a:ea typeface="+mn-ea"/>
                              <a:cs typeface="+mn-cs"/>
                            </a:rPr>
                            <m:t>=−∞</m:t>
                          </m:r>
                        </m:sub>
                        <m:sup>
                          <m:r>
                            <a:rPr lang="en-US" sz="1200" i="0" kern="1200">
                              <a:solidFill>
                                <a:schemeClr val="tx1"/>
                              </a:solidFill>
                              <a:latin typeface="Cambria Math" panose="02040503050406030204" pitchFamily="18" charset="0"/>
                              <a:ea typeface="+mn-ea"/>
                              <a:cs typeface="+mn-cs"/>
                            </a:rPr>
                            <m:t>∞</m:t>
                          </m:r>
                        </m:sup>
                        <m:e>
                          <m:d>
                            <m:dPr>
                              <m:begChr m:val=""/>
                              <m:ctrlPr>
                                <a:rPr lang="en-US" sz="1200" i="1" kern="1200">
                                  <a:solidFill>
                                    <a:schemeClr val="tx1"/>
                                  </a:solidFill>
                                  <a:latin typeface="Cambria Math" panose="02040503050406030204" pitchFamily="18" charset="0"/>
                                  <a:ea typeface="+mn-ea"/>
                                  <a:cs typeface="+mn-cs"/>
                                </a:rPr>
                              </m:ctrlPr>
                            </m:dPr>
                            <m:e>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𝐽</m:t>
                                  </m:r>
                                </m:e>
                                <m:sub>
                                  <m:r>
                                    <a:rPr lang="en-US" sz="1200" i="1" kern="1200">
                                      <a:solidFill>
                                        <a:schemeClr val="tx1"/>
                                      </a:solidFill>
                                      <a:latin typeface="Cambria Math" panose="02040503050406030204" pitchFamily="18" charset="0"/>
                                      <a:ea typeface="+mn-ea"/>
                                      <a:cs typeface="+mn-cs"/>
                                    </a:rPr>
                                    <m:t>𝑛</m:t>
                                  </m:r>
                                </m:sub>
                              </m:sSub>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𝛽</m:t>
                              </m:r>
                              <m:r>
                                <a:rPr lang="en-US"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exp</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𝑗</m:t>
                              </m:r>
                              <m:r>
                                <a:rPr lang="en-US" sz="1200" i="0" kern="1200">
                                  <a:solidFill>
                                    <a:schemeClr val="tx1"/>
                                  </a:solidFill>
                                  <a:latin typeface="Cambria Math" panose="02040503050406030204" pitchFamily="18" charset="0"/>
                                  <a:ea typeface="+mn-ea"/>
                                  <a:cs typeface="+mn-cs"/>
                                </a:rPr>
                                <m:t>2</m:t>
                              </m:r>
                              <m:r>
                                <a:rPr lang="en-US" sz="1200" i="1" kern="1200">
                                  <a:solidFill>
                                    <a:schemeClr val="tx1"/>
                                  </a:solidFill>
                                  <a:latin typeface="Cambria Math" panose="02040503050406030204" pitchFamily="18" charset="0"/>
                                  <a:ea typeface="+mn-ea"/>
                                  <a:cs typeface="+mn-cs"/>
                                </a:rPr>
                                <m:t>𝜋</m:t>
                              </m:r>
                              <m:r>
                                <a:rPr lang="en-US" sz="1200" i="1" kern="1200">
                                  <a:solidFill>
                                    <a:schemeClr val="tx1"/>
                                  </a:solidFill>
                                  <a:latin typeface="Cambria Math" panose="02040503050406030204" pitchFamily="18" charset="0"/>
                                  <a:ea typeface="+mn-ea"/>
                                  <a:cs typeface="+mn-cs"/>
                                </a:rPr>
                                <m:t>𝑛</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𝑚</m:t>
                                  </m:r>
                                </m:sub>
                              </m:sSub>
                              <m:r>
                                <a:rPr lang="en-US" sz="1200" i="1" kern="1200">
                                  <a:solidFill>
                                    <a:schemeClr val="tx1"/>
                                  </a:solidFill>
                                  <a:latin typeface="Cambria Math" panose="02040503050406030204" pitchFamily="18" charset="0"/>
                                  <a:ea typeface="+mn-ea"/>
                                  <a:cs typeface="+mn-cs"/>
                                </a:rPr>
                                <m:t>𝑡</m:t>
                              </m:r>
                            </m:e>
                          </m:d>
                        </m:e>
                      </m:nary>
                    </m:oMath>
                  </m:oMathPara>
                </a14:m>
                <a:endParaRPr lang="en-US" dirty="0"/>
              </a:p>
            </p:txBody>
          </p:sp>
        </mc:Choice>
        <mc:Fallback xmlns="">
          <p:sp>
            <p:nvSpPr>
              <p:cNvPr id="3" name="Notes Placeholder 2"/>
              <p:cNvSpPr>
                <a:spLocks noGrp="1"/>
              </p:cNvSpPr>
              <p:nvPr>
                <p:ph type="body" idx="1"/>
              </p:nvPr>
            </p:nvSpPr>
            <p:spPr/>
            <p:txBody>
              <a:bodyPr/>
              <a:lstStyle/>
              <a:p>
                <a:r>
                  <a:rPr lang="en-US" sz="1200" i="0" kern="1200">
                    <a:solidFill>
                      <a:schemeClr val="tx1"/>
                    </a:solidFill>
                    <a:latin typeface="+mn-lt"/>
                    <a:ea typeface="+mn-ea"/>
                    <a:cs typeface="+mn-cs"/>
                  </a:rPr>
                  <a:t>𝑠</a:t>
                </a:r>
                <a:r>
                  <a:rPr lang="en-US" sz="1200" i="0" kern="1200" smtClean="0">
                    <a:solidFill>
                      <a:schemeClr val="tx1"/>
                    </a:solidFill>
                    <a:latin typeface="+mn-lt"/>
                    <a:ea typeface="+mn-ea"/>
                    <a:cs typeface="+mn-cs"/>
                  </a:rPr>
                  <a:t> ̃</a:t>
                </a:r>
                <a:r>
                  <a:rPr lang="en-US" sz="1200" i="0" kern="1200">
                    <a:solidFill>
                      <a:schemeClr val="tx1"/>
                    </a:solidFill>
                    <a:latin typeface="+mn-lt"/>
                    <a:ea typeface="+mn-ea"/>
                    <a:cs typeface="+mn-cs"/>
                  </a:rPr>
                  <a:t>(𝑡)=𝐴_𝑐 ∑129_(𝑛=−∞)^∞▒├ 𝐽_𝑛 (𝛽)exp(𝑗2𝜋𝑛𝑓_𝑚 𝑡) </a:t>
                </a:r>
                <a:endParaRPr lang="en-US" dirty="0"/>
              </a:p>
            </p:txBody>
          </p:sp>
        </mc:Fallback>
      </mc:AlternateContent>
      <p:sp>
        <p:nvSpPr>
          <p:cNvPr id="4" name="Slide Number Placeholder 3"/>
          <p:cNvSpPr>
            <a:spLocks noGrp="1"/>
          </p:cNvSpPr>
          <p:nvPr>
            <p:ph type="sldNum" sz="quarter" idx="10"/>
          </p:nvPr>
        </p:nvSpPr>
        <p:spPr/>
        <p:txBody>
          <a:bodyPr/>
          <a:lstStyle/>
          <a:p>
            <a:fld id="{E0202027-3D3C-40BE-86EA-46FEF78F751F}" type="slidenum">
              <a:rPr lang="en-US" smtClean="0"/>
              <a:t>24</a:t>
            </a:fld>
            <a:endParaRPr lang="en-US"/>
          </a:p>
        </p:txBody>
      </p:sp>
    </p:spTree>
    <p:extLst>
      <p:ext uri="{BB962C8B-B14F-4D97-AF65-F5344CB8AC3E}">
        <p14:creationId xmlns:p14="http://schemas.microsoft.com/office/powerpoint/2010/main" val="3417479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theory, an FM signal contains an infinite number of side frequencies so that the bandwidth required to transmit such a signal is similarly infinite in extent. In practice, however, we find that the FM signal is effectively limited to a finite number of significant side frequencies compatible with a specified amount of distortion. </a:t>
            </a:r>
          </a:p>
          <a:p>
            <a:endParaRPr lang="en-US" dirty="0"/>
          </a:p>
          <a:p>
            <a:r>
              <a:rPr lang="en-US" dirty="0"/>
              <a:t>We may therefore specify an effective bandwidth required for the transmission of an FM signal. </a:t>
            </a:r>
          </a:p>
        </p:txBody>
      </p:sp>
      <p:sp>
        <p:nvSpPr>
          <p:cNvPr id="4" name="Slide Number Placeholder 3"/>
          <p:cNvSpPr>
            <a:spLocks noGrp="1"/>
          </p:cNvSpPr>
          <p:nvPr>
            <p:ph type="sldNum" sz="quarter" idx="10"/>
          </p:nvPr>
        </p:nvSpPr>
        <p:spPr/>
        <p:txBody>
          <a:bodyPr/>
          <a:lstStyle/>
          <a:p>
            <a:fld id="{E0202027-3D3C-40BE-86EA-46FEF78F751F}" type="slidenum">
              <a:rPr lang="en-US" smtClean="0"/>
              <a:t>28</a:t>
            </a:fld>
            <a:endParaRPr lang="en-US"/>
          </a:p>
        </p:txBody>
      </p:sp>
    </p:spTree>
    <p:extLst>
      <p:ext uri="{BB962C8B-B14F-4D97-AF65-F5344CB8AC3E}">
        <p14:creationId xmlns:p14="http://schemas.microsoft.com/office/powerpoint/2010/main" val="2410984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a:t>
            </a:r>
            <a:r>
              <a:rPr lang="en-US" baseline="0" dirty="0"/>
              <a:t> small value of B (beta) the function goes to 1</a:t>
            </a:r>
            <a:endParaRPr lang="en-US" dirty="0"/>
          </a:p>
        </p:txBody>
      </p:sp>
      <p:sp>
        <p:nvSpPr>
          <p:cNvPr id="4" name="Slide Number Placeholder 3"/>
          <p:cNvSpPr>
            <a:spLocks noGrp="1"/>
          </p:cNvSpPr>
          <p:nvPr>
            <p:ph type="sldNum" sz="quarter" idx="10"/>
          </p:nvPr>
        </p:nvSpPr>
        <p:spPr/>
        <p:txBody>
          <a:bodyPr/>
          <a:lstStyle/>
          <a:p>
            <a:fld id="{E0202027-3D3C-40BE-86EA-46FEF78F751F}" type="slidenum">
              <a:rPr lang="en-US" smtClean="0"/>
              <a:t>29</a:t>
            </a:fld>
            <a:endParaRPr lang="en-US"/>
          </a:p>
        </p:txBody>
      </p:sp>
    </p:spTree>
    <p:extLst>
      <p:ext uri="{BB962C8B-B14F-4D97-AF65-F5344CB8AC3E}">
        <p14:creationId xmlns:p14="http://schemas.microsoft.com/office/powerpoint/2010/main" val="16009170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Pulse to explain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Note: The bandwidth is 1000 Hz, the highest freq. in m(t)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solidFill>
                <a:srgbClr val="FF0000"/>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The two sinusoidal you get after derivative could add up at</a:t>
            </a:r>
            <a:r>
              <a:rPr lang="en-US" baseline="0" dirty="0">
                <a:solidFill>
                  <a:srgbClr val="FF0000"/>
                </a:solidFill>
              </a:rPr>
              <a:t> some point in time </a:t>
            </a:r>
            <a:r>
              <a:rPr lang="en-US" baseline="0" dirty="0">
                <a:solidFill>
                  <a:srgbClr val="FF0000"/>
                </a:solidFill>
                <a:sym typeface="Wingdings" panose="05000000000000000000" pitchFamily="2" charset="2"/>
              </a:rPr>
              <a:t> we take their amplitude and add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solidFill>
                <a:srgbClr val="FF0000"/>
              </a:solidFill>
              <a:sym typeface="Wingdings" panose="05000000000000000000" pitchFamily="2" charset="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solidFill>
                  <a:srgbClr val="FF0000"/>
                </a:solidFill>
                <a:sym typeface="Wingdings" panose="05000000000000000000" pitchFamily="2" charset="2"/>
              </a:rPr>
              <a:t>The sum of the amplitudes of the sinusoid gives the phase deviation</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fld id="{E0202027-3D3C-40BE-86EA-46FEF78F751F}" type="slidenum">
              <a:rPr lang="en-US" smtClean="0"/>
              <a:t>31</a:t>
            </a:fld>
            <a:endParaRPr lang="en-US"/>
          </a:p>
        </p:txBody>
      </p:sp>
    </p:spTree>
    <p:extLst>
      <p:ext uri="{BB962C8B-B14F-4D97-AF65-F5344CB8AC3E}">
        <p14:creationId xmlns:p14="http://schemas.microsoft.com/office/powerpoint/2010/main" val="2820910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5D87C4-1ACF-43E4-B981-5289D2FD0812}"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10/26/2016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ndParaRPr>
          </a:p>
        </p:txBody>
      </p:sp>
      <p:sp>
        <p:nvSpPr>
          <p:cNvPr id="9" name="Slide Number Placeholder 8"/>
          <p:cNvSpPr>
            <a:spLocks noGrp="1"/>
          </p:cNvSpPr>
          <p:nvPr>
            <p:ph type="sldNum" sz="quarter" idx="12"/>
          </p:nvPr>
        </p:nvSpPr>
        <p:spPr/>
        <p:txBody>
          <a:bodyPr/>
          <a:lstStyle>
            <a:lvl1pPr>
              <a:defRPr>
                <a:solidFill>
                  <a:schemeClr val="bg1"/>
                </a:solidFill>
              </a:defRPr>
            </a:lvl1p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095552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A33DF6EE-7FA4-46BA-A5DA-F3D93772C470}"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10/26/2016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ysClr val="windowText" lastClr="000000"/>
              </a:solidFill>
              <a:effectLst/>
              <a:uLnTx/>
              <a:uFillTx/>
            </a:endParaRP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12" name="TextBox 11"/>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768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347663" indent="-347663">
              <a:buFont typeface="Wingdings" panose="05000000000000000000" pitchFamily="2" charset="2"/>
              <a:buChar char="§"/>
              <a:defRPr/>
            </a:lvl1pPr>
            <a:lvl2pPr marL="630238" indent="-236538">
              <a:defRPr/>
            </a:lvl2pPr>
            <a:lvl3pPr marL="804863" indent="-182563">
              <a:buFont typeface="Arial" panose="020B0604020202020204" pitchFamily="34" charset="0"/>
              <a:buChar char="•"/>
              <a:defRPr/>
            </a:lvl3pPr>
            <a:lvl4pPr marL="969963" indent="-182563">
              <a:buSzPct val="45000"/>
              <a:buFont typeface="Wingdings" panose="05000000000000000000" pitchFamily="2" charset="2"/>
              <a:buChar char="v"/>
              <a:defRPr/>
            </a:lvl4pPr>
            <a:lvl5pPr marL="1087438" indent="-1825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483361" y="6459786"/>
            <a:ext cx="1854203"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F351D4F-6A12-4D21-99A8-197E08B34999}"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10/26/2016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a:xfrm>
            <a:off x="3501239" y="6459786"/>
            <a:ext cx="3617103"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a:xfrm>
            <a:off x="7868432" y="6450261"/>
            <a:ext cx="984019" cy="365125"/>
          </a:xfrm>
        </p:spPr>
        <p:txBody>
          <a:bodyPr/>
          <a:lstStyle>
            <a:lvl1pPr>
              <a:defRPr>
                <a:solidFill>
                  <a:schemeClr val="bg1"/>
                </a:solidFill>
              </a:defRPr>
            </a:lvl1p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chemeClr val="bg1"/>
              </a:solidFill>
              <a:effectLst/>
              <a:uLnTx/>
              <a:uFillTx/>
            </a:endParaRPr>
          </a:p>
        </p:txBody>
      </p:sp>
      <p:pic>
        <p:nvPicPr>
          <p:cNvPr id="7" name="Picture 6"/>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8" name="TextBox 7"/>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0462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38538" y="132520"/>
            <a:ext cx="8613913" cy="80007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38538" y="1099930"/>
            <a:ext cx="8613913" cy="4769164"/>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defTabSz="457200"/>
            <a:fld id="{7E568439-A370-4C0B-97EF-B1CEBC00DA49}" type="datetime1">
              <a:rPr lang="en-US" smtClean="0"/>
              <a:pPr defTabSz="457200"/>
              <a:t>10/26/2016</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defTabSz="457200"/>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defTabSz="457200"/>
            <a:fld id="{48F63A3B-78C7-47BE-AE5E-E10140E04643}" type="slidenum">
              <a:rPr lang="en-US" smtClean="0"/>
              <a:pPr defTabSz="457200"/>
              <a:t>‹#›</a:t>
            </a:fld>
            <a:endParaRPr lang="en-US" dirty="0"/>
          </a:p>
        </p:txBody>
      </p:sp>
      <p:cxnSp>
        <p:nvCxnSpPr>
          <p:cNvPr id="10" name="Straight Connector 9"/>
          <p:cNvCxnSpPr/>
          <p:nvPr/>
        </p:nvCxnSpPr>
        <p:spPr>
          <a:xfrm>
            <a:off x="891540" y="93440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5483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347663" indent="-347663"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lumMod val="75000"/>
              <a:lumOff val="25000"/>
            </a:schemeClr>
          </a:solidFill>
          <a:latin typeface="+mn-lt"/>
          <a:ea typeface="+mn-ea"/>
          <a:cs typeface="+mn-cs"/>
        </a:defRPr>
      </a:lvl1pPr>
      <a:lvl2pPr marL="630238" indent="-238125"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804863" indent="-182563"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000" kern="1200">
          <a:solidFill>
            <a:schemeClr val="tx1">
              <a:lumMod val="75000"/>
              <a:lumOff val="25000"/>
            </a:schemeClr>
          </a:solidFill>
          <a:latin typeface="+mn-lt"/>
          <a:ea typeface="+mn-ea"/>
          <a:cs typeface="+mn-cs"/>
        </a:defRPr>
      </a:lvl3pPr>
      <a:lvl4pPr marL="969963" indent="-182563" algn="l" defTabSz="914400" rtl="0" eaLnBrk="1" latinLnBrk="0" hangingPunct="1">
        <a:lnSpc>
          <a:spcPct val="90000"/>
        </a:lnSpc>
        <a:spcBef>
          <a:spcPts val="200"/>
        </a:spcBef>
        <a:spcAft>
          <a:spcPts val="400"/>
        </a:spcAft>
        <a:buClr>
          <a:schemeClr val="accent1"/>
        </a:buClr>
        <a:buSzPct val="45000"/>
        <a:buFont typeface="Wingdings" panose="05000000000000000000" pitchFamily="2" charset="2"/>
        <a:buChar char="v"/>
        <a:defRPr sz="2000" kern="1200">
          <a:solidFill>
            <a:schemeClr val="tx1">
              <a:lumMod val="75000"/>
              <a:lumOff val="25000"/>
            </a:schemeClr>
          </a:solidFill>
          <a:latin typeface="+mn-lt"/>
          <a:ea typeface="+mn-ea"/>
          <a:cs typeface="+mn-cs"/>
        </a:defRPr>
      </a:lvl4pPr>
      <a:lvl5pPr marL="1087438" indent="-182563"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5.emf"/><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3" Type="http://schemas.openxmlformats.org/officeDocument/2006/relationships/image" Target="../media/image170.png"/><Relationship Id="rId7" Type="http://schemas.openxmlformats.org/officeDocument/2006/relationships/image" Target="../media/image84.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28.png"/><Relationship Id="rId4" Type="http://schemas.openxmlformats.org/officeDocument/2006/relationships/image" Target="../media/image82.png"/></Relationships>
</file>

<file path=ppt/slides/_rels/slide24.xml.rels><?xml version="1.0" encoding="UTF-8" standalone="yes"?>
<Relationships xmlns="http://schemas.openxmlformats.org/package/2006/relationships"><Relationship Id="rId3" Type="http://schemas.openxmlformats.org/officeDocument/2006/relationships/image" Target="../media/image170.png"/><Relationship Id="rId7" Type="http://schemas.microsoft.com/office/2007/relationships/hdphoto" Target="../media/hdphoto3.wdp"/><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86.png"/><Relationship Id="rId4" Type="http://schemas.openxmlformats.org/officeDocument/2006/relationships/image" Target="../media/image19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emf"/></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5.emf"/></Relationships>
</file>

<file path=ppt/slides/_rels/slide2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aisat.ac.in/wp-content/uploads/2013/06/ec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8" y="747239"/>
            <a:ext cx="8864547" cy="325033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4" name="Picture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1768" y="28439"/>
            <a:ext cx="1408952" cy="15971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2391" y="115346"/>
            <a:ext cx="1053924" cy="1053924"/>
          </a:xfrm>
          <a:prstGeom prst="rect">
            <a:avLst/>
          </a:prstGeom>
        </p:spPr>
      </p:pic>
      <p:pic>
        <p:nvPicPr>
          <p:cNvPr id="1028" name="Picture 4" descr="https://www.cubic.com/portals/0/Images/Solutions/Communications-Electronics/banner.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768" y="3905209"/>
            <a:ext cx="6338888" cy="24622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3.amazonaws.com/minglebox-photo/717bcb981318663626918.8a0af24f.m_ec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4689" y="3905209"/>
            <a:ext cx="3681626" cy="24390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97018" y="1895352"/>
            <a:ext cx="4461164" cy="954107"/>
          </a:xfrm>
          <a:prstGeom prst="rect">
            <a:avLst/>
          </a:prstGeom>
          <a:solidFill>
            <a:srgbClr val="ADBED8"/>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ysClr val="windowText" lastClr="000000"/>
                </a:solidFill>
                <a:effectLst/>
                <a:uLnTx/>
                <a:uFillTx/>
              </a:rPr>
              <a:t>ELNG 307 – ANALOG AND DIGITAL COMMUNICATIONS</a:t>
            </a:r>
          </a:p>
        </p:txBody>
      </p:sp>
    </p:spTree>
    <p:extLst>
      <p:ext uri="{BB962C8B-B14F-4D97-AF65-F5344CB8AC3E}">
        <p14:creationId xmlns:p14="http://schemas.microsoft.com/office/powerpoint/2010/main" val="961476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4010" y="438149"/>
            <a:ext cx="8154450" cy="5029778"/>
          </a:xfrm>
        </p:spPr>
        <p:txBody>
          <a:bodyPr>
            <a:noAutofit/>
          </a:bodyPr>
          <a:lstStyle/>
          <a:p>
            <a:pPr algn="ctr">
              <a:lnSpc>
                <a:spcPct val="100000"/>
              </a:lnSpc>
            </a:pPr>
            <a:r>
              <a:rPr lang="en-US" sz="3600" dirty="0"/>
              <a:t>University of Energy and Natural Resources, Sunyani</a:t>
            </a:r>
            <a:br>
              <a:rPr lang="en-US" sz="3600" dirty="0"/>
            </a:br>
            <a:br>
              <a:rPr lang="en-US" sz="3600" dirty="0"/>
            </a:br>
            <a:br>
              <a:rPr lang="en-US" sz="3600" dirty="0"/>
            </a:br>
            <a:r>
              <a:rPr lang="en-US" sz="3600" dirty="0"/>
              <a:t>Dept. of Computer &amp; Electrical Eng.</a:t>
            </a:r>
            <a:br>
              <a:rPr lang="en-US" sz="3600" dirty="0"/>
            </a:br>
            <a:br>
              <a:rPr lang="en-US" sz="3600" dirty="0"/>
            </a:br>
            <a:br>
              <a:rPr lang="en-US" sz="3600" dirty="0"/>
            </a:br>
            <a:r>
              <a:rPr lang="en-US" sz="3600" b="1" dirty="0"/>
              <a:t>ELNG 307 – ANALOG AND DIGITAL COMMUNICATIONS</a:t>
            </a:r>
            <a:endParaRPr lang="en-GB" sz="3600" b="1" dirty="0"/>
          </a:p>
        </p:txBody>
      </p:sp>
      <p:sp>
        <p:nvSpPr>
          <p:cNvPr id="3" name="Subtitle 2"/>
          <p:cNvSpPr>
            <a:spLocks noGrp="1"/>
          </p:cNvSpPr>
          <p:nvPr>
            <p:ph type="subTitle" idx="1"/>
          </p:nvPr>
        </p:nvSpPr>
        <p:spPr>
          <a:xfrm>
            <a:off x="1941911" y="5615074"/>
            <a:ext cx="6686549" cy="844712"/>
          </a:xfrm>
        </p:spPr>
        <p:txBody>
          <a:bodyPr>
            <a:normAutofit/>
          </a:bodyPr>
          <a:lstStyle/>
          <a:p>
            <a:r>
              <a:rPr lang="en-US" dirty="0"/>
              <a:t>Tweneboah-Koduah S.</a:t>
            </a:r>
            <a:endParaRPr lang="en-GB"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235168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0647" y="758952"/>
            <a:ext cx="8243047" cy="3566160"/>
          </a:xfrm>
        </p:spPr>
        <p:txBody>
          <a:bodyPr>
            <a:normAutofit/>
          </a:bodyPr>
          <a:lstStyle/>
          <a:p>
            <a:r>
              <a:rPr lang="en-US" sz="6600" dirty="0"/>
              <a:t>Chapter 5 – Angle Modulation Techniques</a:t>
            </a:r>
          </a:p>
        </p:txBody>
      </p:sp>
      <p:sp>
        <p:nvSpPr>
          <p:cNvPr id="3" name="Subtitle 2"/>
          <p:cNvSpPr>
            <a:spLocks noGrp="1"/>
          </p:cNvSpPr>
          <p:nvPr>
            <p:ph type="subTitle" idx="1"/>
          </p:nvPr>
        </p:nvSpPr>
        <p:spPr/>
        <p:txBody>
          <a:bodyPr>
            <a:normAutofit fontScale="92500" lnSpcReduction="20000"/>
          </a:bodyPr>
          <a:lstStyle/>
          <a:p>
            <a:r>
              <a:rPr lang="en-US" dirty="0"/>
              <a:t>Worrying does not empty tomorrow of its troubles, it empties today of its strength.</a:t>
            </a:r>
            <a:br>
              <a:rPr lang="en-US" dirty="0"/>
            </a:br>
            <a:r>
              <a:rPr lang="en-US" dirty="0"/>
              <a:t>				– Corrie ten Boom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81098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Angle (Exponential) modulation</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4</a:t>
            </a:fld>
            <a:endParaRPr kumimoji="0" lang="en-US" sz="1800" b="0" i="0" u="none" strike="noStrike" kern="0" cap="none" spc="0" normalizeH="0" baseline="0" noProof="0" dirty="0">
              <a:ln>
                <a:noFill/>
              </a:ln>
              <a:solidFill>
                <a:schemeClr val="bg1"/>
              </a:solidFill>
              <a:effectLst/>
              <a:uLnTx/>
              <a:uFillTx/>
            </a:endParaRPr>
          </a:p>
        </p:txBody>
      </p:sp>
      <p:pic>
        <p:nvPicPr>
          <p:cNvPr id="5" name="Picture 4" descr="http://images.yourdictionary.com/images/computer/_PMMOD.GIF"/>
          <p:cNvPicPr>
            <a:picLocks noChangeAspect="1" noChangeArrowheads="1"/>
          </p:cNvPicPr>
          <p:nvPr/>
        </p:nvPicPr>
        <p:blipFill>
          <a:blip r:embed="rId2" cstate="print"/>
          <a:srcRect/>
          <a:stretch>
            <a:fillRect/>
          </a:stretch>
        </p:blipFill>
        <p:spPr bwMode="auto">
          <a:xfrm>
            <a:off x="1365261" y="960327"/>
            <a:ext cx="6360466" cy="5780072"/>
          </a:xfrm>
          <a:prstGeom prst="rect">
            <a:avLst/>
          </a:prstGeom>
          <a:noFill/>
        </p:spPr>
      </p:pic>
    </p:spTree>
    <p:extLst>
      <p:ext uri="{BB962C8B-B14F-4D97-AF65-F5344CB8AC3E}">
        <p14:creationId xmlns:p14="http://schemas.microsoft.com/office/powerpoint/2010/main" val="2802311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Angle modulation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66800"/>
                <a:ext cx="8229600" cy="5059363"/>
              </a:xfrm>
            </p:spPr>
            <p:txBody>
              <a:bodyPr/>
              <a:lstStyle/>
              <a:p>
                <a:r>
                  <a:rPr lang="en-US" sz="2800" dirty="0"/>
                  <a:t>Angle modulation is a method of analog modulation in which either the phase or frequency of the carrier wave is varied according to the message signal. </a:t>
                </a:r>
              </a:p>
              <a:p>
                <a:r>
                  <a:rPr lang="en-US" sz="2800" dirty="0"/>
                  <a:t>In this method of modulation the amplitude of the carrier wave is maintained constant.</a:t>
                </a:r>
              </a:p>
              <a:p>
                <a:r>
                  <a:rPr lang="en-US" sz="2800" dirty="0"/>
                  <a:t>Let </a:t>
                </a:r>
                <a14:m>
                  <m:oMath xmlns:m="http://schemas.openxmlformats.org/officeDocument/2006/math">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en-US" sz="2800" i="1">
                                <a:latin typeface="Cambria Math" panose="02040503050406030204" pitchFamily="18" charset="0"/>
                              </a:rPr>
                              <m:t>𝑖</m:t>
                            </m:r>
                          </m:sub>
                        </m:sSub>
                        <m:r>
                          <a:rPr lang="en-US" sz="2800">
                            <a:latin typeface="Cambria Math" panose="02040503050406030204" pitchFamily="18" charset="0"/>
                          </a:rPr>
                          <m:t>(</m:t>
                        </m:r>
                        <m:r>
                          <a:rPr lang="en-US" sz="2800" i="1">
                            <a:latin typeface="Cambria Math" panose="02040503050406030204" pitchFamily="18" charset="0"/>
                          </a:rPr>
                          <m:t>𝑡</m:t>
                        </m:r>
                      </m:e>
                    </m:d>
                  </m:oMath>
                </a14:m>
                <a:r>
                  <a:rPr lang="en-US" sz="2800" dirty="0"/>
                  <a:t> denote the angle of modulated signal sinusoidal carrier, assumed to be a function of the message signal.</a:t>
                </a:r>
              </a:p>
              <a:p>
                <a:r>
                  <a:rPr lang="en-US" sz="2800" dirty="0"/>
                  <a:t>In general, angle modulated signal is of the form</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𝑠</m:t>
                      </m:r>
                      <m:r>
                        <a:rPr lang="en-US" sz="2800">
                          <a:latin typeface="Cambria Math" panose="02040503050406030204" pitchFamily="18" charset="0"/>
                        </a:rPr>
                        <m:t>(</m:t>
                      </m:r>
                      <m:r>
                        <a:rPr lang="en-US" sz="2800" i="1">
                          <a:latin typeface="Cambria Math" panose="02040503050406030204" pitchFamily="18" charset="0"/>
                        </a:rPr>
                        <m:t>𝑡</m:t>
                      </m:r>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𝐴</m:t>
                          </m:r>
                        </m:e>
                        <m:sub>
                          <m:r>
                            <a:rPr lang="en-US" sz="2800" i="1">
                              <a:latin typeface="Cambria Math" panose="02040503050406030204" pitchFamily="18" charset="0"/>
                            </a:rPr>
                            <m:t>𝑐</m:t>
                          </m:r>
                        </m:sub>
                      </m:sSub>
                      <m:r>
                        <m:rPr>
                          <m:sty m:val="p"/>
                        </m:rPr>
                        <a:rPr lang="en-US" sz="2800">
                          <a:latin typeface="Cambria Math" panose="02040503050406030204" pitchFamily="18" charset="0"/>
                        </a:rPr>
                        <m:t>cos</m:t>
                      </m:r>
                      <m:d>
                        <m:dPr>
                          <m:begChr m:val="["/>
                          <m:endChr m:val="]"/>
                          <m:ctrlPr>
                            <a:rPr lang="en-US" sz="2800" i="1">
                              <a:latin typeface="Cambria Math" panose="02040503050406030204" pitchFamily="18" charset="0"/>
                            </a:rPr>
                          </m:ctrlPr>
                        </m:dPr>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en-US" sz="2800" i="1">
                                      <a:latin typeface="Cambria Math" panose="02040503050406030204" pitchFamily="18" charset="0"/>
                                    </a:rPr>
                                    <m:t>𝑖</m:t>
                                  </m:r>
                                </m:sub>
                              </m:sSub>
                              <m:r>
                                <a:rPr lang="en-US" sz="2800">
                                  <a:latin typeface="Cambria Math" panose="02040503050406030204" pitchFamily="18" charset="0"/>
                                </a:rPr>
                                <m:t>(</m:t>
                              </m:r>
                              <m:r>
                                <a:rPr lang="en-US" sz="2800" i="1">
                                  <a:latin typeface="Cambria Math" panose="02040503050406030204" pitchFamily="18" charset="0"/>
                                </a:rPr>
                                <m:t>𝑡</m:t>
                              </m:r>
                            </m:e>
                          </m:d>
                        </m:e>
                      </m:d>
                    </m:oMath>
                  </m:oMathPara>
                </a14:m>
                <a:endParaRPr lang="en-US" sz="2800" dirty="0"/>
              </a:p>
              <a:p>
                <a:pPr marL="0" indent="0">
                  <a:buNone/>
                </a:pP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066800"/>
                <a:ext cx="8229600" cy="5059363"/>
              </a:xfrm>
              <a:blipFill>
                <a:blip r:embed="rId3"/>
                <a:stretch>
                  <a:fillRect l="-1333" t="-1205" r="-2667"/>
                </a:stretch>
              </a:blipFill>
            </p:spPr>
            <p:txBody>
              <a:bodyPr/>
              <a:lstStyle/>
              <a:p>
                <a:r>
                  <a:rPr lang="en-US">
                    <a:noFill/>
                  </a:rPr>
                  <a:t> </a:t>
                </a:r>
              </a:p>
            </p:txBody>
          </p:sp>
        </mc:Fallback>
      </mc:AlternateContent>
    </p:spTree>
    <p:extLst>
      <p:ext uri="{BB962C8B-B14F-4D97-AF65-F5344CB8AC3E}">
        <p14:creationId xmlns:p14="http://schemas.microsoft.com/office/powerpoint/2010/main" val="322252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Angle modulation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066800"/>
                <a:ext cx="8229600" cy="5059363"/>
              </a:xfrm>
            </p:spPr>
            <p:txBody>
              <a:bodyPr>
                <a:noAutofit/>
              </a:bodyPr>
              <a:lstStyle/>
              <a:p>
                <a:r>
                  <a:rPr lang="en-US" sz="2400" dirty="0"/>
                  <a:t>Where Ac is the amplitude of the carrier wave and </a:t>
                </a:r>
              </a:p>
              <a:p>
                <a:pPr marL="0" indent="0" algn="ctr">
                  <a:buNone/>
                </a:pPr>
                <a14:m>
                  <m:oMath xmlns:m="http://schemas.openxmlformats.org/officeDocument/2006/math">
                    <m:d>
                      <m:dPr>
                        <m:beg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)=2</m:t>
                        </m:r>
                        <m:r>
                          <a:rPr lang="en-US" sz="2400" i="1">
                            <a:latin typeface="Cambria Math" panose="02040503050406030204" pitchFamily="18" charset="0"/>
                          </a:rPr>
                          <m:t>𝜋</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i="1">
                            <a:latin typeface="Cambria Math" panose="02040503050406030204" pitchFamily="18" charset="0"/>
                          </a:rPr>
                          <m:t>𝑡</m:t>
                        </m:r>
                        <m:r>
                          <a:rPr lang="en-US" sz="2400">
                            <a:latin typeface="Cambria Math" panose="02040503050406030204" pitchFamily="18" charset="0"/>
                          </a:rPr>
                          <m:t>+</m:t>
                        </m:r>
                        <m:r>
                          <a:rPr lang="en-US" sz="2400" i="1">
                            <a:latin typeface="Cambria Math" panose="02040503050406030204" pitchFamily="18" charset="0"/>
                          </a:rPr>
                          <m:t>𝜙</m:t>
                        </m:r>
                        <m:r>
                          <a:rPr lang="en-US" sz="2400" b="0" i="1" baseline="-25000" smtClean="0">
                            <a:latin typeface="Cambria Math" panose="02040503050406030204" pitchFamily="18" charset="0"/>
                          </a:rPr>
                          <m:t>𝑐</m:t>
                        </m:r>
                        <m:r>
                          <a:rPr lang="en-US" sz="2400">
                            <a:latin typeface="Cambria Math" panose="02040503050406030204" pitchFamily="18" charset="0"/>
                          </a:rPr>
                          <m:t>(</m:t>
                        </m:r>
                        <m:r>
                          <a:rPr lang="en-US" sz="2400" i="1">
                            <a:latin typeface="Cambria Math" panose="02040503050406030204" pitchFamily="18" charset="0"/>
                          </a:rPr>
                          <m:t>𝑡</m:t>
                        </m:r>
                      </m:e>
                    </m:d>
                  </m:oMath>
                </a14:m>
                <a:r>
                  <a:rPr lang="en-US" sz="2400" dirty="0"/>
                  <a:t> </a:t>
                </a:r>
              </a:p>
              <a:p>
                <a:pPr marL="0" indent="0">
                  <a:buNone/>
                </a:pPr>
                <a:r>
                  <a:rPr lang="en-US" sz="2400" dirty="0"/>
                  <a:t>is the angle of the modulated carrier and also the function of the message signal. </a:t>
                </a:r>
              </a:p>
              <a:p>
                <a:r>
                  <a:rPr lang="en-US" sz="2400" dirty="0"/>
                  <a:t>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b="0" i="1" smtClean="0">
                        <a:latin typeface="Cambria Math" panose="02040503050406030204" pitchFamily="18" charset="0"/>
                      </a:rPr>
                      <m:t>)</m:t>
                    </m:r>
                  </m:oMath>
                </a14:m>
                <a:r>
                  <a:rPr lang="en-US" sz="2400" dirty="0"/>
                  <a:t> increases monotonically with time, the average frequency over small interval from </a:t>
                </a:r>
                <a14:m>
                  <m:oMath xmlns:m="http://schemas.openxmlformats.org/officeDocument/2006/math">
                    <m:r>
                      <a:rPr lang="en-US" sz="2400" i="1">
                        <a:solidFill>
                          <a:schemeClr val="tx1"/>
                        </a:solidFill>
                        <a:latin typeface="Cambria Math" panose="02040503050406030204" pitchFamily="18" charset="0"/>
                      </a:rPr>
                      <m:t>𝑡</m:t>
                    </m:r>
                  </m:oMath>
                </a14:m>
                <a:r>
                  <a:rPr lang="en-US" sz="2400" dirty="0"/>
                  <a:t> to  </a:t>
                </a:r>
                <a14:m>
                  <m:oMath xmlns:m="http://schemas.openxmlformats.org/officeDocument/2006/math">
                    <m:r>
                      <a:rPr lang="en-US" sz="2400" i="1">
                        <a:solidFill>
                          <a:schemeClr val="tx1"/>
                        </a:solidFill>
                        <a:latin typeface="Cambria Math" panose="02040503050406030204" pitchFamily="18" charset="0"/>
                      </a:rPr>
                      <m:t>𝑡</m:t>
                    </m:r>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𝛥</m:t>
                    </m:r>
                    <m:r>
                      <a:rPr lang="en-US" sz="2400" i="1">
                        <a:solidFill>
                          <a:schemeClr val="tx1"/>
                        </a:solidFill>
                        <a:latin typeface="Cambria Math" panose="02040503050406030204" pitchFamily="18" charset="0"/>
                      </a:rPr>
                      <m:t>𝑡</m:t>
                    </m:r>
                  </m:oMath>
                </a14:m>
                <a:r>
                  <a:rPr lang="en-US" sz="2400" dirty="0"/>
                  <a:t> is given by</a:t>
                </a:r>
              </a:p>
              <a:p>
                <a:pPr marL="0" indent="0">
                  <a:buNone/>
                </a:pPr>
                <a14:m>
                  <m:oMathPara xmlns:m="http://schemas.openxmlformats.org/officeDocument/2006/math">
                    <m:oMathParaPr>
                      <m:jc m:val="centerGroup"/>
                    </m:oMathParaPr>
                    <m:oMath xmlns:m="http://schemas.openxmlformats.org/officeDocument/2006/math">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𝑓</m:t>
                          </m:r>
                        </m:e>
                        <m:sub>
                          <m:r>
                            <a:rPr lang="en-US" sz="2400" i="1">
                              <a:solidFill>
                                <a:schemeClr val="tx1"/>
                              </a:solidFill>
                              <a:latin typeface="Cambria Math" panose="02040503050406030204" pitchFamily="18" charset="0"/>
                            </a:rPr>
                            <m:t>𝛥</m:t>
                          </m:r>
                          <m:r>
                            <a:rPr lang="en-US" sz="2400" i="1">
                              <a:solidFill>
                                <a:schemeClr val="tx1"/>
                              </a:solidFill>
                              <a:latin typeface="Cambria Math" panose="02040503050406030204" pitchFamily="18" charset="0"/>
                            </a:rPr>
                            <m:t>𝑡</m:t>
                          </m:r>
                        </m:sub>
                      </m:sSub>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r>
                        <a:rPr lang="en-US" sz="240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d>
                            <m:dPr>
                              <m:beg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𝜃</m:t>
                                  </m:r>
                                </m:e>
                                <m:sub>
                                  <m:r>
                                    <a:rPr lang="en-US" sz="2400" i="1">
                                      <a:solidFill>
                                        <a:schemeClr val="tx1"/>
                                      </a:solidFill>
                                      <a:latin typeface="Cambria Math" panose="02040503050406030204" pitchFamily="18" charset="0"/>
                                    </a:rPr>
                                    <m:t>𝑡</m:t>
                                  </m:r>
                                </m:sub>
                              </m:sSub>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𝑡</m:t>
                                  </m:r>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𝛥</m:t>
                                  </m:r>
                                  <m:r>
                                    <a:rPr lang="en-US" sz="2400" i="1">
                                      <a:solidFill>
                                        <a:schemeClr val="tx1"/>
                                      </a:solidFill>
                                      <a:latin typeface="Cambria Math" panose="02040503050406030204" pitchFamily="18" charset="0"/>
                                    </a:rPr>
                                    <m:t>𝑡</m:t>
                                  </m:r>
                                </m:e>
                              </m:d>
                              <m:r>
                                <a:rPr lang="en-US" sz="2400">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𝜃</m:t>
                                  </m:r>
                                </m:e>
                                <m:sub>
                                  <m:r>
                                    <a:rPr lang="en-US" sz="2400" i="1">
                                      <a:solidFill>
                                        <a:schemeClr val="tx1"/>
                                      </a:solidFill>
                                      <a:latin typeface="Cambria Math" panose="02040503050406030204" pitchFamily="18" charset="0"/>
                                    </a:rPr>
                                    <m:t>𝑖</m:t>
                                  </m:r>
                                </m:sub>
                              </m:sSub>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𝑡</m:t>
                              </m:r>
                            </m:e>
                          </m:d>
                        </m:num>
                        <m:den>
                          <m:r>
                            <a:rPr lang="en-US" sz="2400">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𝜋𝛥</m:t>
                          </m:r>
                          <m:r>
                            <a:rPr lang="en-US" sz="2400" i="1">
                              <a:solidFill>
                                <a:schemeClr val="tx1"/>
                              </a:solidFill>
                              <a:latin typeface="Cambria Math" panose="02040503050406030204" pitchFamily="18" charset="0"/>
                            </a:rPr>
                            <m:t>𝑡</m:t>
                          </m:r>
                        </m:den>
                      </m:f>
                    </m:oMath>
                  </m:oMathPara>
                </a14:m>
                <a:endParaRPr lang="en-US" sz="2400" dirty="0"/>
              </a:p>
              <a:p>
                <a:r>
                  <a:rPr lang="en-US" sz="2400" dirty="0"/>
                  <a:t>Allowing </a:t>
                </a:r>
                <a14:m>
                  <m:oMath xmlns:m="http://schemas.openxmlformats.org/officeDocument/2006/math">
                    <m:r>
                      <a:rPr lang="en-US" sz="2400" i="1">
                        <a:solidFill>
                          <a:schemeClr val="tx1"/>
                        </a:solidFill>
                        <a:latin typeface="Cambria Math" panose="02040503050406030204" pitchFamily="18" charset="0"/>
                      </a:rPr>
                      <m:t>𝛥</m:t>
                    </m:r>
                    <m:r>
                      <a:rPr lang="en-US" sz="2400" i="1">
                        <a:solidFill>
                          <a:schemeClr val="tx1"/>
                        </a:solidFill>
                        <a:latin typeface="Cambria Math" panose="02040503050406030204" pitchFamily="18" charset="0"/>
                      </a:rPr>
                      <m:t>𝑡</m:t>
                    </m:r>
                  </m:oMath>
                </a14:m>
                <a:r>
                  <a:rPr lang="en-US" sz="2400" dirty="0"/>
                  <a:t> to approach zeros, the instantaneous frequency of the angle modulated signal, </a:t>
                </a:r>
                <a:r>
                  <a:rPr lang="en-US" sz="2400" i="1" dirty="0"/>
                  <a:t>s(t)</a:t>
                </a:r>
                <a:r>
                  <a:rPr lang="en-US" sz="2400" dirty="0"/>
                  <a:t> is given by</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2</m:t>
                          </m:r>
                          <m:r>
                            <a:rPr lang="en-US" sz="2400" i="1">
                              <a:latin typeface="Cambria Math" panose="02040503050406030204" pitchFamily="18" charset="0"/>
                            </a:rPr>
                            <m:t>𝜋</m:t>
                          </m:r>
                        </m:den>
                      </m:f>
                      <m:f>
                        <m:fPr>
                          <m:ctrlPr>
                            <a:rPr lang="en-US" sz="2400" i="1">
                              <a:latin typeface="Cambria Math" panose="02040503050406030204" pitchFamily="18" charset="0"/>
                            </a:rPr>
                          </m:ctrlPr>
                        </m:fPr>
                        <m:num>
                          <m:d>
                            <m:dPr>
                              <m:begChr m:val=""/>
                              <m:ctrlPr>
                                <a:rPr lang="en-US" sz="2400" i="1">
                                  <a:latin typeface="Cambria Math" panose="02040503050406030204" pitchFamily="18" charset="0"/>
                                </a:rPr>
                              </m:ctrlPr>
                            </m:dPr>
                            <m:e>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e>
                          </m:d>
                        </m:num>
                        <m:den>
                          <m:r>
                            <a:rPr lang="en-US" sz="2400" i="1">
                              <a:latin typeface="Cambria Math" panose="02040503050406030204" pitchFamily="18" charset="0"/>
                            </a:rPr>
                            <m:t>𝑑𝑡</m:t>
                          </m:r>
                        </m:den>
                      </m:f>
                      <m:r>
                        <a:rPr lang="en-US" sz="2400">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𝑓</m:t>
                          </m:r>
                        </m:e>
                        <m:sub>
                          <m:r>
                            <a:rPr lang="en-US" sz="2400" i="1">
                              <a:solidFill>
                                <a:schemeClr val="tx1"/>
                              </a:solidFill>
                              <a:latin typeface="Cambria Math" panose="02040503050406030204" pitchFamily="18" charset="0"/>
                            </a:rPr>
                            <m:t>𝑐</m:t>
                          </m:r>
                        </m:sub>
                      </m:sSub>
                      <m:r>
                        <a:rPr lang="en-US" sz="240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a:solidFill>
                                <a:schemeClr val="tx1"/>
                              </a:solidFill>
                              <a:latin typeface="Cambria Math" panose="02040503050406030204" pitchFamily="18" charset="0"/>
                            </a:rPr>
                            <m:t>1</m:t>
                          </m:r>
                        </m:num>
                        <m:den>
                          <m:r>
                            <a:rPr lang="en-US" sz="2400">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m:t>
                          </m:r>
                        </m:den>
                      </m:f>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𝑑</m:t>
                          </m:r>
                        </m:num>
                        <m:den>
                          <m:r>
                            <a:rPr lang="en-US" sz="2400" i="1">
                              <a:solidFill>
                                <a:schemeClr val="tx1"/>
                              </a:solidFill>
                              <a:latin typeface="Cambria Math" panose="02040503050406030204" pitchFamily="18" charset="0"/>
                            </a:rPr>
                            <m:t>𝑑𝑡</m:t>
                          </m:r>
                        </m:den>
                      </m:f>
                      <m:r>
                        <a:rPr lang="en-US" sz="2400" i="1">
                          <a:solidFill>
                            <a:schemeClr val="tx1"/>
                          </a:solidFill>
                          <a:latin typeface="Cambria Math" panose="02040503050406030204" pitchFamily="18" charset="0"/>
                        </a:rPr>
                        <m:t>𝜙</m:t>
                      </m:r>
                      <m:r>
                        <a:rPr lang="en-US" sz="2400">
                          <a:solidFill>
                            <a:schemeClr val="tx1"/>
                          </a:solidFill>
                          <a:latin typeface="Cambria Math" panose="02040503050406030204" pitchFamily="18" charset="0"/>
                        </a:rPr>
                        <m:t>(</m:t>
                      </m:r>
                      <m:r>
                        <m:rPr>
                          <m:sty m:val="p"/>
                        </m:rPr>
                        <a:rPr lang="en-US" sz="2400" b="0" i="0" smtClean="0">
                          <a:solidFill>
                            <a:schemeClr val="tx1"/>
                          </a:solidFill>
                          <a:latin typeface="Cambria Math" panose="02040503050406030204" pitchFamily="18" charset="0"/>
                        </a:rPr>
                        <m:t>t</m:t>
                      </m:r>
                      <m:r>
                        <a:rPr lang="en-US" sz="2400" b="0" i="0" smtClean="0">
                          <a:solidFill>
                            <a:schemeClr val="tx1"/>
                          </a:solidFill>
                          <a:latin typeface="Cambria Math" panose="02040503050406030204" pitchFamily="18" charset="0"/>
                        </a:rPr>
                        <m:t>)</m:t>
                      </m:r>
                    </m:oMath>
                  </m:oMathPara>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066800"/>
                <a:ext cx="8229600" cy="5059363"/>
              </a:xfrm>
              <a:blipFill>
                <a:blip r:embed="rId3"/>
                <a:stretch>
                  <a:fillRect l="-2222" t="-2651" r="-1259"/>
                </a:stretch>
              </a:blipFill>
            </p:spPr>
            <p:txBody>
              <a:bodyPr/>
              <a:lstStyle/>
              <a:p>
                <a:r>
                  <a:rPr lang="en-US">
                    <a:noFill/>
                  </a:rPr>
                  <a:t> </a:t>
                </a:r>
              </a:p>
            </p:txBody>
          </p:sp>
        </mc:Fallback>
      </mc:AlternateContent>
    </p:spTree>
    <p:extLst>
      <p:ext uri="{BB962C8B-B14F-4D97-AF65-F5344CB8AC3E}">
        <p14:creationId xmlns:p14="http://schemas.microsoft.com/office/powerpoint/2010/main" val="2931874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Angle modulation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88259" y="914400"/>
                <a:ext cx="8955741" cy="5661212"/>
              </a:xfrm>
            </p:spPr>
            <p:txBody>
              <a:bodyPr>
                <a:noAutofit/>
              </a:bodyPr>
              <a:lstStyle/>
              <a:p>
                <a:r>
                  <a:rPr lang="en-US" sz="2400" dirty="0"/>
                  <a:t>Allowing </a:t>
                </a:r>
                <a14:m>
                  <m:oMath xmlns:m="http://schemas.openxmlformats.org/officeDocument/2006/math">
                    <m:r>
                      <a:rPr lang="en-US" sz="2400" i="1">
                        <a:solidFill>
                          <a:schemeClr val="tx1"/>
                        </a:solidFill>
                        <a:latin typeface="Cambria Math" panose="02040503050406030204" pitchFamily="18" charset="0"/>
                      </a:rPr>
                      <m:t>𝛥</m:t>
                    </m:r>
                    <m:r>
                      <a:rPr lang="en-US" sz="2400" i="1">
                        <a:solidFill>
                          <a:schemeClr val="tx1"/>
                        </a:solidFill>
                        <a:latin typeface="Cambria Math" panose="02040503050406030204" pitchFamily="18" charset="0"/>
                      </a:rPr>
                      <m:t>𝑡</m:t>
                    </m:r>
                  </m:oMath>
                </a14:m>
                <a:r>
                  <a:rPr lang="en-US" sz="2400" dirty="0"/>
                  <a:t> to approach zeros, the instantaneous frequency of the angle modulated signal, </a:t>
                </a:r>
                <a:r>
                  <a:rPr lang="en-US" sz="2400" i="1" dirty="0"/>
                  <a:t>s(t)</a:t>
                </a:r>
                <a:r>
                  <a:rPr lang="en-US" sz="2400" dirty="0"/>
                  <a:t> is given by</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2</m:t>
                          </m:r>
                          <m:r>
                            <a:rPr lang="en-US" sz="2400" i="1">
                              <a:latin typeface="Cambria Math" panose="02040503050406030204" pitchFamily="18" charset="0"/>
                            </a:rPr>
                            <m:t>𝜋</m:t>
                          </m:r>
                        </m:den>
                      </m:f>
                      <m:f>
                        <m:fPr>
                          <m:ctrlPr>
                            <a:rPr lang="en-US" sz="2400" i="1">
                              <a:latin typeface="Cambria Math" panose="02040503050406030204" pitchFamily="18" charset="0"/>
                            </a:rPr>
                          </m:ctrlPr>
                        </m:fPr>
                        <m:num>
                          <m:d>
                            <m:dPr>
                              <m:begChr m:val=""/>
                              <m:ctrlPr>
                                <a:rPr lang="en-US" sz="2400" i="1">
                                  <a:latin typeface="Cambria Math" panose="02040503050406030204" pitchFamily="18" charset="0"/>
                                </a:rPr>
                              </m:ctrlPr>
                            </m:dPr>
                            <m:e>
                              <m:r>
                                <a:rPr lang="en-US" sz="2400" i="1">
                                  <a:latin typeface="Cambria Math" panose="02040503050406030204" pitchFamily="18" charset="0"/>
                                </a:rPr>
                                <m:t>𝑑</m:t>
                              </m:r>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e>
                          </m:d>
                        </m:num>
                        <m:den>
                          <m:r>
                            <a:rPr lang="en-US" sz="2400" i="1">
                              <a:latin typeface="Cambria Math" panose="02040503050406030204" pitchFamily="18" charset="0"/>
                            </a:rPr>
                            <m:t>𝑑𝑡</m:t>
                          </m:r>
                        </m:den>
                      </m:f>
                      <m:r>
                        <a:rPr lang="en-US" sz="2400">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𝑓</m:t>
                          </m:r>
                        </m:e>
                        <m:sub>
                          <m:r>
                            <a:rPr lang="en-US" sz="2400" i="1">
                              <a:solidFill>
                                <a:schemeClr val="tx1"/>
                              </a:solidFill>
                              <a:latin typeface="Cambria Math" panose="02040503050406030204" pitchFamily="18" charset="0"/>
                            </a:rPr>
                            <m:t>𝑐</m:t>
                          </m:r>
                        </m:sub>
                      </m:sSub>
                      <m:r>
                        <a:rPr lang="en-US" sz="240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a:solidFill>
                                <a:schemeClr val="tx1"/>
                              </a:solidFill>
                              <a:latin typeface="Cambria Math" panose="02040503050406030204" pitchFamily="18" charset="0"/>
                            </a:rPr>
                            <m:t>1</m:t>
                          </m:r>
                        </m:num>
                        <m:den>
                          <m:r>
                            <a:rPr lang="en-US" sz="2400">
                              <a:solidFill>
                                <a:schemeClr val="tx1"/>
                              </a:solidFill>
                              <a:latin typeface="Cambria Math" panose="02040503050406030204" pitchFamily="18" charset="0"/>
                            </a:rPr>
                            <m:t>2</m:t>
                          </m:r>
                          <m:r>
                            <a:rPr lang="en-US" sz="2400" i="1">
                              <a:solidFill>
                                <a:schemeClr val="tx1"/>
                              </a:solidFill>
                              <a:latin typeface="Cambria Math" panose="02040503050406030204" pitchFamily="18" charset="0"/>
                            </a:rPr>
                            <m:t>𝜋</m:t>
                          </m:r>
                        </m:den>
                      </m:f>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𝑑</m:t>
                          </m:r>
                        </m:num>
                        <m:den>
                          <m:r>
                            <a:rPr lang="en-US" sz="2400" i="1">
                              <a:solidFill>
                                <a:schemeClr val="tx1"/>
                              </a:solidFill>
                              <a:latin typeface="Cambria Math" panose="02040503050406030204" pitchFamily="18" charset="0"/>
                            </a:rPr>
                            <m:t>𝑑𝑡</m:t>
                          </m:r>
                        </m:den>
                      </m:f>
                      <m:r>
                        <a:rPr lang="en-US" sz="2400" i="1">
                          <a:solidFill>
                            <a:schemeClr val="tx1"/>
                          </a:solidFill>
                          <a:latin typeface="Cambria Math" panose="02040503050406030204" pitchFamily="18" charset="0"/>
                        </a:rPr>
                        <m:t>𝜙</m:t>
                      </m:r>
                      <m:r>
                        <a:rPr lang="en-US" sz="2400">
                          <a:solidFill>
                            <a:schemeClr val="tx1"/>
                          </a:solidFill>
                          <a:latin typeface="Cambria Math" panose="02040503050406030204" pitchFamily="18" charset="0"/>
                        </a:rPr>
                        <m:t>(</m:t>
                      </m:r>
                      <m:r>
                        <m:rPr>
                          <m:sty m:val="p"/>
                        </m:rPr>
                        <a:rPr lang="en-US" sz="2400" b="0" i="0" smtClean="0">
                          <a:solidFill>
                            <a:schemeClr val="tx1"/>
                          </a:solidFill>
                          <a:latin typeface="Cambria Math" panose="02040503050406030204" pitchFamily="18" charset="0"/>
                        </a:rPr>
                        <m:t>t</m:t>
                      </m:r>
                      <m:r>
                        <a:rPr lang="en-US" sz="2400" b="0" i="0" smtClean="0">
                          <a:solidFill>
                            <a:schemeClr val="tx1"/>
                          </a:solidFill>
                          <a:latin typeface="Cambria Math" panose="02040503050406030204" pitchFamily="18" charset="0"/>
                        </a:rPr>
                        <m:t>)</m:t>
                      </m:r>
                    </m:oMath>
                  </m:oMathPara>
                </a14:m>
                <a:endParaRPr lang="en-US" sz="2400" dirty="0"/>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𝜃</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b="0" i="1" smtClean="0">
                        <a:latin typeface="Cambria Math" panose="02040503050406030204" pitchFamily="18" charset="0"/>
                      </a:rPr>
                      <m:t>)</m:t>
                    </m:r>
                  </m:oMath>
                </a14:m>
                <a:r>
                  <a:rPr lang="en-US" sz="2400" dirty="0"/>
                  <a:t> can be varied in angle modulation; </a:t>
                </a:r>
                <a:r>
                  <a:rPr lang="en-US" sz="2400" b="1" dirty="0"/>
                  <a:t>phase modulation</a:t>
                </a:r>
                <a:r>
                  <a:rPr lang="en-US" sz="2400" dirty="0"/>
                  <a:t> and </a:t>
                </a:r>
                <a:r>
                  <a:rPr lang="en-US" sz="2400" b="1" dirty="0"/>
                  <a:t> frequency modulation.</a:t>
                </a:r>
              </a:p>
              <a:p>
                <a:r>
                  <a:rPr lang="en-US" sz="2400" dirty="0"/>
                  <a:t>If m(t) is the message signal, then in a PM system we have</a:t>
                </a:r>
              </a:p>
              <a:p>
                <a:pPr marL="0" inden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𝜙</m:t>
                      </m:r>
                      <m:d>
                        <m:dPr>
                          <m:ctrlPr>
                            <a:rPr lang="en-US" sz="2400" i="1">
                              <a:latin typeface="Cambria Math" panose="02040503050406030204" pitchFamily="18" charset="0"/>
                            </a:rPr>
                          </m:ctrlPr>
                        </m:dPr>
                        <m:e>
                          <m:r>
                            <a:rPr lang="en-US" sz="2400" i="1">
                              <a:latin typeface="Cambria Math" panose="02040503050406030204" pitchFamily="18" charset="0"/>
                            </a:rPr>
                            <m:t>𝑡</m:t>
                          </m:r>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𝑝</m:t>
                          </m:r>
                        </m:sub>
                      </m:sSub>
                      <m:r>
                        <a:rPr lang="en-US" sz="2400" i="1">
                          <a:latin typeface="Cambria Math" panose="02040503050406030204" pitchFamily="18" charset="0"/>
                        </a:rPr>
                        <m:t>𝑚</m:t>
                      </m:r>
                      <m:d>
                        <m:dPr>
                          <m:ctrlPr>
                            <a:rPr lang="en-US" sz="2400" i="1">
                              <a:latin typeface="Cambria Math" panose="02040503050406030204" pitchFamily="18" charset="0"/>
                            </a:rPr>
                          </m:ctrlPr>
                        </m:dPr>
                        <m:e>
                          <m:r>
                            <a:rPr lang="en-US" sz="2400" i="1">
                              <a:latin typeface="Cambria Math" panose="02040503050406030204" pitchFamily="18" charset="0"/>
                            </a:rPr>
                            <m:t>𝑡</m:t>
                          </m:r>
                        </m:e>
                      </m:d>
                    </m:oMath>
                  </m:oMathPara>
                </a14:m>
                <a:endParaRPr lang="en-US" sz="2400" dirty="0"/>
              </a:p>
              <a:p>
                <a:pPr marL="0" indent="0">
                  <a:buNone/>
                </a:pPr>
                <a:r>
                  <a:rPr lang="en-US" sz="2400" dirty="0"/>
                  <a:t>and in FM, we have </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𝑖</m:t>
                          </m:r>
                        </m:sub>
                      </m:sSub>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r>
                        <a:rPr lang="en-US" sz="2400" i="1" smtClean="0">
                          <a:latin typeface="Cambria Math" panose="02040503050406030204" pitchFamily="18" charset="0"/>
                        </a:rPr>
                        <m:t> </m:t>
                      </m:r>
                      <m:r>
                        <a:rPr lang="en-US" sz="240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b="0" i="1" smtClean="0">
                              <a:latin typeface="Cambria Math" panose="02040503050406030204" pitchFamily="18" charset="0"/>
                            </a:rPr>
                            <m:t>+</m:t>
                          </m:r>
                          <m:r>
                            <a:rPr lang="en-US" sz="2400" i="1">
                              <a:latin typeface="Cambria Math" panose="02040503050406030204" pitchFamily="18" charset="0"/>
                            </a:rPr>
                            <m:t>𝑘</m:t>
                          </m:r>
                        </m:e>
                        <m:sub>
                          <m:r>
                            <a:rPr lang="en-US" sz="2400" i="1">
                              <a:latin typeface="Cambria Math" panose="02040503050406030204" pitchFamily="18" charset="0"/>
                            </a:rPr>
                            <m:t>𝑓</m:t>
                          </m:r>
                        </m:sub>
                      </m:sSub>
                      <m:r>
                        <a:rPr lang="en-US" sz="2400" i="1">
                          <a:latin typeface="Cambria Math" panose="02040503050406030204" pitchFamily="18" charset="0"/>
                        </a:rPr>
                        <m:t>𝑚</m:t>
                      </m:r>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2</m:t>
                          </m:r>
                          <m:r>
                            <a:rPr lang="en-US" sz="2400" i="1">
                              <a:latin typeface="Cambria Math" panose="02040503050406030204" pitchFamily="18" charset="0"/>
                            </a:rPr>
                            <m:t>𝜋</m:t>
                          </m:r>
                        </m:den>
                      </m:f>
                      <m:f>
                        <m:fPr>
                          <m:ctrlPr>
                            <a:rPr lang="en-US" sz="2400" i="1">
                              <a:latin typeface="Cambria Math" panose="02040503050406030204" pitchFamily="18" charset="0"/>
                            </a:rPr>
                          </m:ctrlPr>
                        </m:fPr>
                        <m:num>
                          <m:r>
                            <a:rPr lang="en-US" sz="2400" i="1">
                              <a:latin typeface="Cambria Math" panose="02040503050406030204" pitchFamily="18" charset="0"/>
                            </a:rPr>
                            <m:t>𝑑</m:t>
                          </m:r>
                        </m:num>
                        <m:den>
                          <m:r>
                            <a:rPr lang="en-US" sz="2400" i="1">
                              <a:latin typeface="Cambria Math" panose="02040503050406030204" pitchFamily="18" charset="0"/>
                            </a:rPr>
                            <m:t>𝑑𝑡</m:t>
                          </m:r>
                        </m:den>
                      </m:f>
                      <m:r>
                        <a:rPr lang="en-US" sz="2400" i="1">
                          <a:latin typeface="Cambria Math" panose="02040503050406030204" pitchFamily="18" charset="0"/>
                        </a:rPr>
                        <m:t>𝜙</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m:oMathPara>
                </a14:m>
                <a:endParaRPr lang="en-US" sz="2400" dirty="0"/>
              </a:p>
              <a:p>
                <a:pPr marL="0" indent="0">
                  <a:buNone/>
                </a:pPr>
                <a:r>
                  <a:rPr lang="en-US" sz="2400" dirty="0"/>
                  <a:t>Where </a:t>
                </a:r>
                <a:r>
                  <a:rPr lang="en-US" sz="2400" i="1" dirty="0" err="1"/>
                  <a:t>k</a:t>
                </a:r>
                <a:r>
                  <a:rPr lang="en-US" sz="2400" i="1" baseline="-25000" dirty="0" err="1"/>
                  <a:t>p</a:t>
                </a:r>
                <a:r>
                  <a:rPr lang="en-US" sz="2400" dirty="0"/>
                  <a:t> and </a:t>
                </a:r>
                <a:r>
                  <a:rPr lang="en-US" sz="2400" i="1" dirty="0" err="1"/>
                  <a:t>k</a:t>
                </a:r>
                <a:r>
                  <a:rPr lang="en-US" sz="2400" i="1" baseline="-25000" dirty="0" err="1"/>
                  <a:t>f</a:t>
                </a:r>
                <a:r>
                  <a:rPr lang="en-US" sz="2400" dirty="0"/>
                  <a:t> are phase and </a:t>
                </a:r>
                <a:r>
                  <a:rPr lang="en-US" sz="2400" dirty="0" err="1"/>
                  <a:t>freq</a:t>
                </a:r>
                <a:r>
                  <a:rPr lang="en-US" sz="2400" dirty="0"/>
                  <a:t>, deviation constant</a:t>
                </a:r>
              </a:p>
              <a:p>
                <a:pPr marL="0" indent="0">
                  <a:buNone/>
                </a:pPr>
                <a:r>
                  <a:rPr lang="en-US" sz="2400" dirty="0" err="1"/>
                  <a:t>k</a:t>
                </a:r>
                <a:r>
                  <a:rPr lang="en-US" sz="2400" baseline="-25000" dirty="0" err="1"/>
                  <a:t>f</a:t>
                </a:r>
                <a:r>
                  <a:rPr lang="en-US" sz="2400" dirty="0"/>
                  <a:t> determines how many Hz of freq. change can be obtained for each volt of m(t)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88259" y="914400"/>
                <a:ext cx="8955741" cy="5661212"/>
              </a:xfrm>
              <a:blipFill>
                <a:blip r:embed="rId3"/>
                <a:stretch>
                  <a:fillRect l="-2110" t="-1507" b="-2045"/>
                </a:stretch>
              </a:blipFill>
            </p:spPr>
            <p:txBody>
              <a:bodyPr/>
              <a:lstStyle/>
              <a:p>
                <a:r>
                  <a:rPr lang="en-US">
                    <a:noFill/>
                  </a:rPr>
                  <a:t> </a:t>
                </a:r>
              </a:p>
            </p:txBody>
          </p:sp>
        </mc:Fallback>
      </mc:AlternateContent>
    </p:spTree>
    <p:extLst>
      <p:ext uri="{BB962C8B-B14F-4D97-AF65-F5344CB8AC3E}">
        <p14:creationId xmlns:p14="http://schemas.microsoft.com/office/powerpoint/2010/main" val="1993903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Angle modulation</a:t>
            </a:r>
          </a:p>
        </p:txBody>
      </p:sp>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20000" contrast="40000"/>
                    </a14:imgEffect>
                  </a14:imgLayer>
                </a14:imgProps>
              </a:ext>
            </a:extLst>
          </a:blip>
          <a:stretch>
            <a:fillRect/>
          </a:stretch>
        </p:blipFill>
        <p:spPr>
          <a:xfrm>
            <a:off x="381000" y="1078767"/>
            <a:ext cx="4191000" cy="5162550"/>
          </a:xfrm>
          <a:prstGeom prst="rect">
            <a:avLst/>
          </a:prstGeom>
        </p:spPr>
      </p:pic>
      <p:sp>
        <p:nvSpPr>
          <p:cNvPr id="7" name="TextBox 6"/>
          <p:cNvSpPr txBox="1"/>
          <p:nvPr/>
        </p:nvSpPr>
        <p:spPr>
          <a:xfrm>
            <a:off x="4724400" y="1205336"/>
            <a:ext cx="4361721" cy="646331"/>
          </a:xfrm>
          <a:prstGeom prst="rect">
            <a:avLst/>
          </a:prstGeom>
          <a:noFill/>
        </p:spPr>
        <p:txBody>
          <a:bodyPr wrap="square" rtlCol="0">
            <a:spAutoFit/>
          </a:bodyPr>
          <a:lstStyle/>
          <a:p>
            <a:r>
              <a:rPr lang="en-US" dirty="0"/>
              <a:t>We can then write this from the above analysis</a:t>
            </a:r>
          </a:p>
        </p:txBody>
      </p:sp>
      <mc:AlternateContent xmlns:mc="http://schemas.openxmlformats.org/markup-compatibility/2006">
        <mc:Choice xmlns:a14="http://schemas.microsoft.com/office/drawing/2010/main" Requires="a14">
          <p:sp>
            <p:nvSpPr>
              <p:cNvPr id="8" name="Rectangle 7"/>
              <p:cNvSpPr/>
              <p:nvPr/>
            </p:nvSpPr>
            <p:spPr>
              <a:xfrm>
                <a:off x="4572000" y="2247750"/>
                <a:ext cx="4514121" cy="1459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𝜙</m:t>
                      </m:r>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𝑝</m:t>
                                    </m:r>
                                  </m:sub>
                                </m:sSub>
                                <m:r>
                                  <a:rPr lang="en-US" sz="2400" i="1">
                                    <a:latin typeface="Cambria Math" panose="02040503050406030204" pitchFamily="18" charset="0"/>
                                  </a:rPr>
                                  <m:t>𝑚</m:t>
                                </m:r>
                                <m:r>
                                  <a:rPr lang="en-US" sz="2400" i="0">
                                    <a:latin typeface="Cambria Math" panose="02040503050406030204" pitchFamily="18" charset="0"/>
                                  </a:rPr>
                                  <m:t>(</m:t>
                                </m:r>
                                <m:r>
                                  <a:rPr lang="en-US" sz="2400" i="1">
                                    <a:latin typeface="Cambria Math" panose="02040503050406030204" pitchFamily="18" charset="0"/>
                                  </a:rPr>
                                  <m:t>𝑡</m:t>
                                </m:r>
                                <m:r>
                                  <a:rPr lang="en-US" sz="2400" i="0">
                                    <a:latin typeface="Cambria Math" panose="02040503050406030204" pitchFamily="18" charset="0"/>
                                  </a:rPr>
                                  <m:t>),</m:t>
                                </m:r>
                              </m:e>
                              <m:e>
                                <m:r>
                                  <a:rPr lang="en-US" sz="2400" i="1">
                                    <a:latin typeface="Cambria Math" panose="02040503050406030204" pitchFamily="18" charset="0"/>
                                  </a:rPr>
                                  <m:t>𝑃𝑀</m:t>
                                </m:r>
                              </m:e>
                            </m:mr>
                            <m:mr>
                              <m:e>
                                <m:r>
                                  <a:rPr lang="en-US" sz="2400" i="0">
                                    <a:latin typeface="Cambria Math" panose="02040503050406030204" pitchFamily="18" charset="0"/>
                                  </a:rPr>
                                  <m:t>2</m:t>
                                </m:r>
                                <m:r>
                                  <a:rPr lang="en-US" sz="2400" i="1">
                                    <a:latin typeface="Cambria Math" panose="02040503050406030204" pitchFamily="18" charset="0"/>
                                  </a:rPr>
                                  <m:t>𝜋</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𝑓</m:t>
                                    </m:r>
                                  </m:sub>
                                </m:sSub>
                                <m:nary>
                                  <m:naryPr>
                                    <m:limLoc m:val="subSup"/>
                                    <m:grow m:val="on"/>
                                    <m:ctrlPr>
                                      <a:rPr lang="en-US" sz="2400" i="1">
                                        <a:latin typeface="Cambria Math" panose="02040503050406030204" pitchFamily="18" charset="0"/>
                                      </a:rPr>
                                    </m:ctrlPr>
                                  </m:naryPr>
                                  <m:sub>
                                    <m:r>
                                      <a:rPr lang="en-US" sz="2400" i="0">
                                        <a:latin typeface="Cambria Math" panose="02040503050406030204" pitchFamily="18" charset="0"/>
                                      </a:rPr>
                                      <m:t>−∞</m:t>
                                    </m:r>
                                  </m:sub>
                                  <m:sup>
                                    <m:r>
                                      <a:rPr lang="en-US" sz="2400" i="1">
                                        <a:latin typeface="Cambria Math" panose="02040503050406030204" pitchFamily="18" charset="0"/>
                                      </a:rPr>
                                      <m:t>𝑡</m:t>
                                    </m:r>
                                  </m:sup>
                                  <m:e>
                                    <m:r>
                                      <a:rPr lang="en-US" sz="2400" i="1">
                                        <a:latin typeface="Cambria Math" panose="02040503050406030204" pitchFamily="18" charset="0"/>
                                      </a:rPr>
                                      <m:t>𝑚</m:t>
                                    </m:r>
                                    <m:r>
                                      <a:rPr lang="en-US" sz="2400" i="0">
                                        <a:latin typeface="Cambria Math" panose="02040503050406030204" pitchFamily="18" charset="0"/>
                                      </a:rPr>
                                      <m:t>(</m:t>
                                    </m:r>
                                    <m:r>
                                      <a:rPr lang="en-US" sz="2400" i="1">
                                        <a:latin typeface="Cambria Math" panose="02040503050406030204" pitchFamily="18" charset="0"/>
                                      </a:rPr>
                                      <m:t>𝜏</m:t>
                                    </m:r>
                                    <m:r>
                                      <a:rPr lang="en-US" sz="2400" i="0">
                                        <a:latin typeface="Cambria Math" panose="02040503050406030204" pitchFamily="18" charset="0"/>
                                      </a:rPr>
                                      <m:t>)</m:t>
                                    </m:r>
                                    <m:r>
                                      <a:rPr lang="en-US" sz="2400" i="1">
                                        <a:latin typeface="Cambria Math" panose="02040503050406030204" pitchFamily="18" charset="0"/>
                                      </a:rPr>
                                      <m:t>𝑑</m:t>
                                    </m:r>
                                    <m:r>
                                      <a:rPr lang="en-US" sz="2400" i="1">
                                        <a:latin typeface="Cambria Math" panose="02040503050406030204" pitchFamily="18" charset="0"/>
                                      </a:rPr>
                                      <m:t>𝜏</m:t>
                                    </m:r>
                                    <m:r>
                                      <a:rPr lang="en-US" sz="2400" i="0">
                                        <a:latin typeface="Cambria Math" panose="02040503050406030204" pitchFamily="18" charset="0"/>
                                      </a:rPr>
                                      <m:t>,</m:t>
                                    </m:r>
                                  </m:e>
                                </m:nary>
                              </m:e>
                              <m:e>
                                <m:r>
                                  <a:rPr lang="en-US" sz="2400" i="1">
                                    <a:latin typeface="Cambria Math" panose="02040503050406030204" pitchFamily="18" charset="0"/>
                                  </a:rPr>
                                  <m:t>𝐹𝑀</m:t>
                                </m:r>
                              </m:e>
                            </m:mr>
                          </m:m>
                        </m:e>
                      </m:d>
                    </m:oMath>
                  </m:oMathPara>
                </a14:m>
                <a:endParaRPr lang="en-US" sz="2400" dirty="0"/>
              </a:p>
            </p:txBody>
          </p:sp>
        </mc:Choice>
        <mc:Fallback>
          <p:sp>
            <p:nvSpPr>
              <p:cNvPr id="8" name="Rectangle 7"/>
              <p:cNvSpPr>
                <a:spLocks noRot="1" noChangeAspect="1" noMove="1" noResize="1" noEditPoints="1" noAdjustHandles="1" noChangeArrowheads="1" noChangeShapeType="1" noTextEdit="1"/>
              </p:cNvSpPr>
              <p:nvPr/>
            </p:nvSpPr>
            <p:spPr>
              <a:xfrm>
                <a:off x="4572000" y="2247750"/>
                <a:ext cx="4514121" cy="1459887"/>
              </a:xfrm>
              <a:prstGeom prst="rect">
                <a:avLst/>
              </a:prstGeom>
              <a:blipFill>
                <a:blip r:embed="rId5"/>
                <a:stretch>
                  <a:fillRect/>
                </a:stretch>
              </a:blipFill>
            </p:spPr>
            <p:txBody>
              <a:bodyPr/>
              <a:lstStyle/>
              <a:p>
                <a:r>
                  <a:rPr lang="en-US">
                    <a:noFill/>
                  </a:rPr>
                  <a:t> </a:t>
                </a:r>
              </a:p>
            </p:txBody>
          </p:sp>
        </mc:Fallback>
      </mc:AlternateContent>
      <p:sp>
        <p:nvSpPr>
          <p:cNvPr id="9" name="Rectangle 8"/>
          <p:cNvSpPr/>
          <p:nvPr/>
        </p:nvSpPr>
        <p:spPr>
          <a:xfrm>
            <a:off x="4572000" y="4276455"/>
            <a:ext cx="4572000" cy="1569660"/>
          </a:xfrm>
          <a:prstGeom prst="rect">
            <a:avLst/>
          </a:prstGeom>
        </p:spPr>
        <p:txBody>
          <a:bodyPr>
            <a:spAutoFit/>
          </a:bodyPr>
          <a:lstStyle/>
          <a:p>
            <a:r>
              <a:rPr lang="en-US" sz="2400" dirty="0"/>
              <a:t>There are two commonly used methods of angle modulation:</a:t>
            </a:r>
            <a:br>
              <a:rPr lang="en-US" sz="2400" dirty="0"/>
            </a:br>
            <a:r>
              <a:rPr lang="en-US" sz="2400" dirty="0"/>
              <a:t>1. Frequency Modulation, and</a:t>
            </a:r>
            <a:br>
              <a:rPr lang="en-US" sz="2400" dirty="0"/>
            </a:br>
            <a:r>
              <a:rPr lang="en-US" sz="2400" dirty="0"/>
              <a:t>2. Phase Modulation.</a:t>
            </a:r>
          </a:p>
        </p:txBody>
      </p:sp>
    </p:spTree>
    <p:extLst>
      <p:ext uri="{BB962C8B-B14F-4D97-AF65-F5344CB8AC3E}">
        <p14:creationId xmlns:p14="http://schemas.microsoft.com/office/powerpoint/2010/main" val="2385131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FM &amp; PM waveform equation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FM waveform</a:t>
                </a: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𝐹𝑀</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𝑓</m:t>
                              </m:r>
                            </m:sub>
                          </m:sSub>
                          <m:nary>
                            <m:naryPr>
                              <m:limLoc m:val="subSup"/>
                              <m:grow m:val="on"/>
                              <m:ctrlPr>
                                <a:rPr lang="en-US" i="1">
                                  <a:solidFill>
                                    <a:schemeClr val="tx1"/>
                                  </a:solidFill>
                                  <a:latin typeface="Cambria Math" panose="02040503050406030204" pitchFamily="18" charset="0"/>
                                </a:rPr>
                              </m:ctrlPr>
                            </m:naryPr>
                            <m:sub>
                              <m:r>
                                <a:rPr lang="en-US">
                                  <a:solidFill>
                                    <a:schemeClr val="tx1"/>
                                  </a:solidFill>
                                  <a:latin typeface="Cambria Math" panose="02040503050406030204" pitchFamily="18" charset="0"/>
                                </a:rPr>
                                <m:t>0</m:t>
                              </m:r>
                            </m:sub>
                            <m:sup>
                              <m:r>
                                <a:rPr lang="en-US" i="1">
                                  <a:solidFill>
                                    <a:schemeClr val="tx1"/>
                                  </a:solidFill>
                                  <a:latin typeface="Cambria Math" panose="02040503050406030204" pitchFamily="18" charset="0"/>
                                </a:rPr>
                                <m:t>𝑡</m:t>
                              </m:r>
                            </m:sup>
                            <m:e>
                              <m:r>
                                <a:rPr lang="en-US" i="1">
                                  <a:solidFill>
                                    <a:schemeClr val="tx1"/>
                                  </a:solidFill>
                                  <a:latin typeface="Cambria Math" panose="02040503050406030204" pitchFamily="18" charset="0"/>
                                </a:rPr>
                                <m:t>𝑚</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𝜏</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𝑑</m:t>
                              </m:r>
                              <m:r>
                                <a:rPr lang="en-US" i="1">
                                  <a:solidFill>
                                    <a:schemeClr val="tx1"/>
                                  </a:solidFill>
                                  <a:latin typeface="Cambria Math" panose="02040503050406030204" pitchFamily="18" charset="0"/>
                                </a:rPr>
                                <m:t>𝜏</m:t>
                              </m:r>
                            </m:e>
                          </m:nary>
                        </m:e>
                      </m:d>
                    </m:oMath>
                  </m:oMathPara>
                </a14:m>
                <a:endParaRPr lang="en-US" dirty="0"/>
              </a:p>
              <a:p>
                <a:r>
                  <a:rPr lang="en-US" dirty="0">
                    <a:solidFill>
                      <a:schemeClr val="tx1"/>
                    </a:solidFill>
                  </a:rPr>
                  <a:t>PM waveform</a:t>
                </a: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𝑃𝑀</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𝑝</m:t>
                              </m:r>
                            </m:sub>
                          </m:sSub>
                          <m:r>
                            <a:rPr lang="en-US" i="1">
                              <a:solidFill>
                                <a:schemeClr val="tx1"/>
                              </a:solidFill>
                              <a:latin typeface="Cambria Math" panose="02040503050406030204" pitchFamily="18" charset="0"/>
                            </a:rPr>
                            <m:t>𝑚</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e>
                      </m:d>
                    </m:oMath>
                  </m:oMathPara>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619" t="-268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73273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9"/>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19107" y="2085703"/>
            <a:ext cx="267462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F_04-01.jpg                                                    00008A37Macintosh HD                   ABA78158:"/>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t="272" r="-2" b="-2"/>
          <a:stretch/>
        </p:blipFill>
        <p:spPr bwMode="auto">
          <a:xfrm>
            <a:off x="216382" y="374361"/>
            <a:ext cx="5700586" cy="5845847"/>
          </a:xfrm>
          <a:prstGeom prst="rect">
            <a:avLst/>
          </a:prstGeom>
          <a:noFill/>
        </p:spPr>
      </p:pic>
      <p:sp>
        <p:nvSpPr>
          <p:cNvPr id="2" name="Title 1"/>
          <p:cNvSpPr>
            <a:spLocks noGrp="1"/>
          </p:cNvSpPr>
          <p:nvPr>
            <p:ph type="title"/>
          </p:nvPr>
        </p:nvSpPr>
        <p:spPr>
          <a:xfrm>
            <a:off x="5894614" y="634947"/>
            <a:ext cx="2767693" cy="1450757"/>
          </a:xfrm>
        </p:spPr>
        <p:txBody>
          <a:bodyPr>
            <a:normAutofit fontScale="90000"/>
          </a:bodyPr>
          <a:lstStyle/>
          <a:p>
            <a:r>
              <a:rPr lang="en-US" dirty="0"/>
              <a:t>FM &amp; PM waveforms</a:t>
            </a:r>
          </a:p>
        </p:txBody>
      </p:sp>
      <p:sp>
        <p:nvSpPr>
          <p:cNvPr id="3" name="Content Placeholder 2"/>
          <p:cNvSpPr>
            <a:spLocks noGrp="1"/>
          </p:cNvSpPr>
          <p:nvPr>
            <p:ph idx="1"/>
          </p:nvPr>
        </p:nvSpPr>
        <p:spPr>
          <a:xfrm>
            <a:off x="5894614" y="2198914"/>
            <a:ext cx="2767693" cy="3670180"/>
          </a:xfrm>
        </p:spPr>
        <p:txBody>
          <a:bodyPr>
            <a:normAutofit fontScale="62500" lnSpcReduction="20000"/>
          </a:bodyPr>
          <a:lstStyle/>
          <a:p>
            <a:r>
              <a:rPr lang="en-US" altLang="en-US" dirty="0">
                <a:solidFill>
                  <a:schemeClr val="tx1"/>
                </a:solidFill>
              </a:rPr>
              <a:t>The FM and PM waveforms for sine-wave modulation: (a) carrier wave; (b) modulation wave; (c) FM wave; (d) PM wave. </a:t>
            </a:r>
          </a:p>
          <a:p>
            <a:r>
              <a:rPr lang="en-US" altLang="en-US" dirty="0">
                <a:solidFill>
                  <a:schemeClr val="tx1"/>
                </a:solidFill>
              </a:rPr>
              <a:t>(</a:t>
            </a:r>
            <a:r>
              <a:rPr lang="en-US" altLang="en-US" i="1" dirty="0">
                <a:solidFill>
                  <a:schemeClr val="tx1"/>
                </a:solidFill>
              </a:rPr>
              <a:t>Note:</a:t>
            </a:r>
            <a:r>
              <a:rPr lang="en-US" altLang="en-US" dirty="0">
                <a:solidFill>
                  <a:schemeClr val="tx1"/>
                </a:solidFill>
              </a:rPr>
              <a:t> The derivative of the modulating sine wave is the cosine wave shown by the dotted lines. The PM wave appears to be frequency modulated by the cosine wave.)</a:t>
            </a:r>
            <a:endParaRPr lang="en-US" dirty="0"/>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effectLst/>
                <a:uLnTx/>
                <a:uFillTx/>
              </a:rPr>
              <a:pPr defTabSz="914400">
                <a:defRPr/>
              </a:pPr>
              <a:t>10</a:t>
            </a:fld>
            <a:endParaRPr lang="en-US" kern="0"/>
          </a:p>
        </p:txBody>
      </p:sp>
    </p:spTree>
    <p:extLst>
      <p:ext uri="{BB962C8B-B14F-4D97-AF65-F5344CB8AC3E}">
        <p14:creationId xmlns:p14="http://schemas.microsoft.com/office/powerpoint/2010/main" val="961056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Properties of angle modulated waves</a:t>
            </a:r>
          </a:p>
        </p:txBody>
      </p:sp>
      <p:sp>
        <p:nvSpPr>
          <p:cNvPr id="3" name="Content Placeholder 2"/>
          <p:cNvSpPr>
            <a:spLocks noGrp="1"/>
          </p:cNvSpPr>
          <p:nvPr>
            <p:ph idx="1"/>
          </p:nvPr>
        </p:nvSpPr>
        <p:spPr/>
        <p:txBody>
          <a:bodyPr/>
          <a:lstStyle/>
          <a:p>
            <a:r>
              <a:rPr lang="en-US" dirty="0"/>
              <a:t>Constancy of power</a:t>
            </a:r>
          </a:p>
          <a:p>
            <a:r>
              <a:rPr lang="en-US" dirty="0"/>
              <a:t>Nonlinear </a:t>
            </a:r>
          </a:p>
          <a:p>
            <a:pPr lvl="1"/>
            <a:r>
              <a:rPr lang="en-US" dirty="0"/>
              <a:t>Difficult to visualize waveforms</a:t>
            </a:r>
          </a:p>
          <a:p>
            <a:pPr lvl="1"/>
            <a:r>
              <a:rPr lang="en-US" dirty="0"/>
              <a:t>Increase transmission bandwidth</a:t>
            </a:r>
          </a:p>
          <a:p>
            <a:pPr lvl="1"/>
            <a:r>
              <a:rPr lang="en-US" dirty="0"/>
              <a:t>Noise immunity</a:t>
            </a:r>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11</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79007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Frequency modulation – FM </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10000"/>
              </a:bodyPr>
              <a:lstStyle/>
              <a:p>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𝐹𝑀</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𝑓</m:t>
                            </m:r>
                          </m:sub>
                        </m:sSub>
                        <m:nary>
                          <m:naryPr>
                            <m:limLoc m:val="subSup"/>
                            <m:grow m:val="on"/>
                            <m:ctrlPr>
                              <a:rPr lang="en-US" i="1">
                                <a:solidFill>
                                  <a:schemeClr val="tx1"/>
                                </a:solidFill>
                                <a:latin typeface="Cambria Math" panose="02040503050406030204" pitchFamily="18" charset="0"/>
                              </a:rPr>
                            </m:ctrlPr>
                          </m:naryPr>
                          <m:sub>
                            <m:r>
                              <a:rPr lang="en-US">
                                <a:solidFill>
                                  <a:schemeClr val="tx1"/>
                                </a:solidFill>
                                <a:latin typeface="Cambria Math" panose="02040503050406030204" pitchFamily="18" charset="0"/>
                              </a:rPr>
                              <m:t>0</m:t>
                            </m:r>
                          </m:sub>
                          <m:sup>
                            <m:r>
                              <a:rPr lang="en-US" i="1">
                                <a:solidFill>
                                  <a:schemeClr val="tx1"/>
                                </a:solidFill>
                                <a:latin typeface="Cambria Math" panose="02040503050406030204" pitchFamily="18" charset="0"/>
                              </a:rPr>
                              <m:t>𝑡</m:t>
                            </m:r>
                          </m:sup>
                          <m:e>
                            <m:r>
                              <a:rPr lang="en-US" i="1">
                                <a:solidFill>
                                  <a:schemeClr val="tx1"/>
                                </a:solidFill>
                                <a:latin typeface="Cambria Math" panose="02040503050406030204" pitchFamily="18" charset="0"/>
                              </a:rPr>
                              <m:t>𝑚</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𝜏</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𝑑</m:t>
                            </m:r>
                            <m:r>
                              <a:rPr lang="en-US" i="1">
                                <a:solidFill>
                                  <a:schemeClr val="tx1"/>
                                </a:solidFill>
                                <a:latin typeface="Cambria Math" panose="02040503050406030204" pitchFamily="18" charset="0"/>
                              </a:rPr>
                              <m:t>𝜏</m:t>
                            </m:r>
                          </m:e>
                        </m:nary>
                      </m:e>
                    </m:d>
                  </m:oMath>
                </a14:m>
                <a:endParaRPr lang="en-US" dirty="0"/>
              </a:p>
              <a:p>
                <a:r>
                  <a:rPr lang="en-US" dirty="0"/>
                  <a:t>Let </a:t>
                </a:r>
                <a14:m>
                  <m:oMath xmlns:m="http://schemas.openxmlformats.org/officeDocument/2006/math">
                    <m:r>
                      <a:rPr lang="en-US" i="1">
                        <a:latin typeface="Cambria Math" panose="02040503050406030204" pitchFamily="18" charset="0"/>
                      </a:rPr>
                      <m:t>𝑚</m:t>
                    </m:r>
                    <m:r>
                      <a:rPr lang="en-US">
                        <a:latin typeface="Cambria Math" panose="02040503050406030204" pitchFamily="18" charset="0"/>
                      </a:rPr>
                      <m:t>(</m:t>
                    </m:r>
                    <m:r>
                      <a:rPr lang="en-US" i="1">
                        <a:latin typeface="Cambria Math" panose="02040503050406030204" pitchFamily="18" charset="0"/>
                      </a:rPr>
                      <m:t>𝑡</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𝑚</m:t>
                        </m:r>
                      </m:sub>
                    </m:sSub>
                    <m:r>
                      <m:rPr>
                        <m:sty m:val="p"/>
                      </m:rPr>
                      <a:rPr lang="en-US">
                        <a:latin typeface="Cambria Math" panose="02040503050406030204" pitchFamily="18" charset="0"/>
                      </a:rPr>
                      <m:t>cos</m:t>
                    </m:r>
                    <m:d>
                      <m:dPr>
                        <m:ctrlPr>
                          <a:rPr lang="en-US" i="1">
                            <a:latin typeface="Cambria Math" panose="02040503050406030204" pitchFamily="18" charset="0"/>
                          </a:rPr>
                        </m:ctrlPr>
                      </m:dPr>
                      <m:e>
                        <m:r>
                          <a:rPr lang="en-US">
                            <a:latin typeface="Cambria Math" panose="02040503050406030204" pitchFamily="18" charset="0"/>
                          </a:rPr>
                          <m:t>2</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i="1">
                            <a:latin typeface="Cambria Math" panose="02040503050406030204" pitchFamily="18" charset="0"/>
                          </a:rPr>
                          <m:t>𝑡</m:t>
                        </m:r>
                      </m:e>
                    </m:d>
                  </m:oMath>
                </a14:m>
                <a:endParaRPr lang="en-US" dirty="0"/>
              </a:p>
              <a:p>
                <a:r>
                  <a:rPr lang="en-US" dirty="0"/>
                  <a:t>The instantaneous FM freq. is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sub>
                      </m:sSub>
                      <m:r>
                        <a:rPr lang="en-US">
                          <a:latin typeface="Cambria Math" panose="02040503050406030204" pitchFamily="18" charset="0"/>
                        </a:rPr>
                        <m:t>(</m:t>
                      </m:r>
                      <m:r>
                        <a:rPr lang="en-US" i="1">
                          <a:latin typeface="Cambria Math" panose="02040503050406030204" pitchFamily="18" charset="0"/>
                        </a:rPr>
                        <m:t>𝑡</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𝑚</m:t>
                          </m:r>
                        </m:sub>
                      </m:sSub>
                      <m:r>
                        <m:rPr>
                          <m:sty m:val="p"/>
                        </m:rPr>
                        <a:rPr lang="en-US">
                          <a:latin typeface="Cambria Math" panose="02040503050406030204" pitchFamily="18" charset="0"/>
                        </a:rPr>
                        <m:t>cos</m:t>
                      </m:r>
                      <m:d>
                        <m:dPr>
                          <m:ctrlPr>
                            <a:rPr lang="en-US" i="1">
                              <a:latin typeface="Cambria Math" panose="02040503050406030204" pitchFamily="18" charset="0"/>
                            </a:rPr>
                          </m:ctrlPr>
                        </m:dPr>
                        <m:e>
                          <m:r>
                            <a:rPr lang="en-US">
                              <a:latin typeface="Cambria Math" panose="02040503050406030204" pitchFamily="18" charset="0"/>
                            </a:rPr>
                            <m:t>2</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i="1">
                              <a:latin typeface="Cambria Math" panose="02040503050406030204" pitchFamily="18" charset="0"/>
                            </a:rPr>
                            <m:t>𝑡</m:t>
                          </m:r>
                        </m:e>
                      </m:d>
                    </m:oMath>
                  </m:oMathPara>
                </a14:m>
                <a:endParaRPr lang="en-US" dirty="0"/>
              </a:p>
              <a:p>
                <a:r>
                  <a:rPr lang="en-US" dirty="0"/>
                  <a:t>The peak freq. deviation is obtained as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𝛥</m:t>
                      </m:r>
                      <m:r>
                        <a:rPr lang="en-US" i="1">
                          <a:latin typeface="Cambria Math" panose="02040503050406030204" pitchFamily="18" charset="0"/>
                        </a:rPr>
                        <m:t>𝑓</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𝑓</m:t>
                          </m:r>
                        </m:sub>
                      </m:sSub>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𝑚</m:t>
                          </m:r>
                        </m:sub>
                      </m:sSub>
                    </m:oMath>
                  </m:oMathPara>
                </a14:m>
                <a:endParaRPr lang="en-US" dirty="0"/>
              </a:p>
              <a:p>
                <a14:m>
                  <m:oMath xmlns:m="http://schemas.openxmlformats.org/officeDocument/2006/math">
                    <m:r>
                      <a:rPr lang="en-US" i="1">
                        <a:latin typeface="Cambria Math" panose="02040503050406030204" pitchFamily="18" charset="0"/>
                      </a:rPr>
                      <m:t>𝛥</m:t>
                    </m:r>
                    <m:r>
                      <a:rPr lang="en-US" i="1">
                        <a:latin typeface="Cambria Math" panose="02040503050406030204" pitchFamily="18" charset="0"/>
                      </a:rPr>
                      <m:t>𝑓</m:t>
                    </m:r>
                    <m:r>
                      <a:rPr lang="en-US" i="1">
                        <a:latin typeface="Cambria Math" panose="02040503050406030204" pitchFamily="18" charset="0"/>
                      </a:rPr>
                      <m:t> </m:t>
                    </m:r>
                  </m:oMath>
                </a14:m>
                <a:r>
                  <a:rPr lang="en-US" dirty="0"/>
                  <a:t>indicates the largest swing or deviation in frequency either side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oMath>
                </a14:m>
                <a:r>
                  <a:rPr lang="en-US" dirty="0"/>
                  <a:t>.</a:t>
                </a:r>
              </a:p>
              <a:p>
                <a:pPr lvl="1"/>
                <a:r>
                  <a:rPr lang="en-US" dirty="0"/>
                  <a:t>Value depends on magnitude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𝑚</m:t>
                        </m:r>
                      </m:sub>
                    </m:sSub>
                  </m:oMath>
                </a14:m>
                <a:r>
                  <a:rPr lang="en-US" dirty="0"/>
                  <a:t> and not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oMath>
                </a14:m>
                <a:r>
                  <a:rPr lang="en-US"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47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914604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Frequency modulation – FM </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𝐹𝑀</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𝑘</m:t>
                            </m:r>
                          </m:e>
                          <m:sub>
                            <m:r>
                              <a:rPr lang="en-US" i="1">
                                <a:solidFill>
                                  <a:schemeClr val="tx1"/>
                                </a:solidFill>
                                <a:latin typeface="Cambria Math" panose="02040503050406030204" pitchFamily="18" charset="0"/>
                              </a:rPr>
                              <m:t>𝑓</m:t>
                            </m:r>
                          </m:sub>
                        </m:sSub>
                        <m:nary>
                          <m:naryPr>
                            <m:limLoc m:val="subSup"/>
                            <m:grow m:val="on"/>
                            <m:ctrlPr>
                              <a:rPr lang="en-US" i="1">
                                <a:solidFill>
                                  <a:schemeClr val="tx1"/>
                                </a:solidFill>
                                <a:latin typeface="Cambria Math" panose="02040503050406030204" pitchFamily="18" charset="0"/>
                              </a:rPr>
                            </m:ctrlPr>
                          </m:naryPr>
                          <m:sub>
                            <m:r>
                              <a:rPr lang="en-US">
                                <a:solidFill>
                                  <a:schemeClr val="tx1"/>
                                </a:solidFill>
                                <a:latin typeface="Cambria Math" panose="02040503050406030204" pitchFamily="18" charset="0"/>
                              </a:rPr>
                              <m:t>0</m:t>
                            </m:r>
                          </m:sub>
                          <m:sup>
                            <m:r>
                              <a:rPr lang="en-US" i="1">
                                <a:solidFill>
                                  <a:schemeClr val="tx1"/>
                                </a:solidFill>
                                <a:latin typeface="Cambria Math" panose="02040503050406030204" pitchFamily="18" charset="0"/>
                              </a:rPr>
                              <m:t>𝑡</m:t>
                            </m:r>
                          </m:sup>
                          <m:e>
                            <m:r>
                              <a:rPr lang="en-US" i="1">
                                <a:solidFill>
                                  <a:schemeClr val="tx1"/>
                                </a:solidFill>
                                <a:latin typeface="Cambria Math" panose="02040503050406030204" pitchFamily="18" charset="0"/>
                              </a:rPr>
                              <m:t>𝑚</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𝜏</m:t>
                            </m:r>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𝑑</m:t>
                            </m:r>
                            <m:r>
                              <a:rPr lang="en-US" i="1">
                                <a:solidFill>
                                  <a:schemeClr val="tx1"/>
                                </a:solidFill>
                                <a:latin typeface="Cambria Math" panose="02040503050406030204" pitchFamily="18" charset="0"/>
                              </a:rPr>
                              <m:t>𝜏</m:t>
                            </m:r>
                          </m:e>
                        </m:nary>
                      </m:e>
                    </m:d>
                  </m:oMath>
                </a14:m>
                <a:endParaRPr lang="en-US" dirty="0"/>
              </a:p>
              <a:p>
                <a:r>
                  <a:rPr lang="en-US" dirty="0"/>
                  <a:t>After integration of m(t), the FM wave becomes</a:t>
                </a:r>
              </a:p>
              <a:p>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𝐹𝑀</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latin typeface="Cambria Math" panose="02040503050406030204" pitchFamily="18" charset="0"/>
                              </a:rPr>
                              <m:t>𝛥</m:t>
                            </m:r>
                            <m:r>
                              <a:rPr lang="en-US" i="1">
                                <a:latin typeface="Cambria Math" panose="02040503050406030204" pitchFamily="18" charset="0"/>
                              </a:rPr>
                              <m:t>𝑓</m:t>
                            </m:r>
                          </m:num>
                          <m:den>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b="0" i="1" smtClean="0">
                                    <a:solidFill>
                                      <a:schemeClr val="tx1"/>
                                    </a:solidFill>
                                    <a:latin typeface="Cambria Math" panose="02040503050406030204" pitchFamily="18" charset="0"/>
                                  </a:rPr>
                                  <m:t>𝑚</m:t>
                                </m:r>
                              </m:sub>
                            </m:sSub>
                          </m:den>
                        </m:f>
                        <m:r>
                          <a:rPr lang="en-US" b="0" i="1" smtClean="0">
                            <a:solidFill>
                              <a:schemeClr val="tx1"/>
                            </a:solidFill>
                            <a:latin typeface="Cambria Math" panose="02040503050406030204" pitchFamily="18" charset="0"/>
                          </a:rPr>
                          <m:t>𝑠𝑖𝑛</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ea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𝑚</m:t>
                                </m:r>
                              </m:sub>
                            </m:sSub>
                            <m:r>
                              <a:rPr lang="en-US" b="0" i="1" smtClean="0">
                                <a:solidFill>
                                  <a:schemeClr val="tx1"/>
                                </a:solidFill>
                                <a:latin typeface="Cambria Math" panose="02040503050406030204" pitchFamily="18" charset="0"/>
                              </a:rPr>
                              <m:t>𝑡</m:t>
                            </m:r>
                          </m:e>
                        </m:d>
                      </m:e>
                    </m:d>
                  </m:oMath>
                </a14:m>
                <a:endParaRPr lang="en-US" dirty="0"/>
              </a:p>
              <a:p>
                <a:r>
                  <a:rPr lang="en-US" dirty="0"/>
                  <a:t>Where the modulation index (</a:t>
                </a:r>
                <a14:m>
                  <m:oMath xmlns:m="http://schemas.openxmlformats.org/officeDocument/2006/math">
                    <m:r>
                      <a:rPr lang="en-US" i="1">
                        <a:latin typeface="Cambria Math" panose="02040503050406030204" pitchFamily="18" charset="0"/>
                      </a:rPr>
                      <m:t>𝛽</m:t>
                    </m:r>
                    <m:r>
                      <a:rPr lang="en-US" i="1" smtClean="0">
                        <a:latin typeface="Cambria Math" panose="02040503050406030204" pitchFamily="18" charset="0"/>
                      </a:rPr>
                      <m:t> </m:t>
                    </m:r>
                  </m:oMath>
                </a14:m>
                <a:r>
                  <a:rPr lang="en-US" dirty="0"/>
                  <a:t>) is given by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𝛽</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𝛥</m:t>
                          </m:r>
                          <m:r>
                            <a:rPr lang="en-US" i="1">
                              <a:latin typeface="Cambria Math" panose="02040503050406030204" pitchFamily="18" charset="0"/>
                            </a:rPr>
                            <m:t>𝑓</m:t>
                          </m:r>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den>
                      </m:f>
                    </m:oMath>
                  </m:oMathPara>
                </a14:m>
                <a:endParaRPr lang="en-US" dirty="0"/>
              </a:p>
              <a:p>
                <a:r>
                  <a:rPr lang="en-US" dirty="0">
                    <a:solidFill>
                      <a:schemeClr val="tx1"/>
                    </a:solidFill>
                  </a:rPr>
                  <a:t>Finally</a:t>
                </a: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𝐹𝑀</m:t>
                          </m:r>
                        </m:sub>
                      </m:sSub>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𝑡</m:t>
                          </m:r>
                        </m:e>
                      </m:d>
                      <m:r>
                        <a:rPr lang="en-US">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𝐴</m:t>
                          </m:r>
                        </m:e>
                        <m:sub>
                          <m:r>
                            <a:rPr lang="en-US" i="1">
                              <a:solidFill>
                                <a:schemeClr val="tx1"/>
                              </a:solidFill>
                              <a:latin typeface="Cambria Math" panose="02040503050406030204" pitchFamily="18" charset="0"/>
                            </a:rPr>
                            <m:t>𝑐</m:t>
                          </m:r>
                        </m:sub>
                      </m:sSub>
                      <m:r>
                        <m:rPr>
                          <m:sty m:val="p"/>
                        </m:rPr>
                        <a:rPr lang="en-US">
                          <a:solidFill>
                            <a:schemeClr val="tx1"/>
                          </a:solidFill>
                          <a:latin typeface="Cambria Math" panose="02040503050406030204" pitchFamily="18" charset="0"/>
                        </a:rPr>
                        <m:t>cos</m:t>
                      </m:r>
                      <m:d>
                        <m:dPr>
                          <m:begChr m:val="["/>
                          <m:endChr m:val="]"/>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a:solidFill>
                                <a:schemeClr val="tx1"/>
                              </a:solidFill>
                              <a:latin typeface="Cambria Math" panose="02040503050406030204" pitchFamily="18" charset="0"/>
                            </a:rPr>
                            <m:t>+</m:t>
                          </m:r>
                          <m:r>
                            <a:rPr lang="en-US" i="1">
                              <a:latin typeface="Cambria Math" panose="02040503050406030204" pitchFamily="18" charset="0"/>
                            </a:rPr>
                            <m:t>𝛽</m:t>
                          </m:r>
                          <m:r>
                            <a:rPr lang="en-US" i="1">
                              <a:solidFill>
                                <a:schemeClr val="tx1"/>
                              </a:solidFill>
                              <a:latin typeface="Cambria Math" panose="02040503050406030204" pitchFamily="18" charset="0"/>
                            </a:rPr>
                            <m:t>𝑠𝑖𝑛</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𝑓</m:t>
                                  </m:r>
                                </m:e>
                                <m:sub>
                                  <m:r>
                                    <a:rPr lang="en-US" i="1">
                                      <a:solidFill>
                                        <a:schemeClr val="tx1"/>
                                      </a:solidFill>
                                      <a:latin typeface="Cambria Math" panose="02040503050406030204" pitchFamily="18" charset="0"/>
                                    </a:rPr>
                                    <m:t>𝑚</m:t>
                                  </m:r>
                                </m:sub>
                              </m:sSub>
                              <m:r>
                                <a:rPr lang="en-US" i="1">
                                  <a:solidFill>
                                    <a:schemeClr val="tx1"/>
                                  </a:solidFill>
                                  <a:latin typeface="Cambria Math" panose="02040503050406030204" pitchFamily="18" charset="0"/>
                                </a:rPr>
                                <m:t>𝑡</m:t>
                              </m:r>
                            </m:e>
                          </m:d>
                        </m:e>
                      </m:d>
                    </m:oMath>
                  </m:oMathPara>
                </a14:m>
                <a:endParaRPr lang="en-US"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6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13</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104598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a:bodyPr>
          <a:lstStyle/>
          <a:p>
            <a:r>
              <a:rPr lang="en-US" dirty="0"/>
              <a:t>Frequency modulation – FM </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199" y="901890"/>
                <a:ext cx="8417859" cy="5803710"/>
              </a:xfrm>
            </p:spPr>
            <p:txBody>
              <a:bodyPr>
                <a:noAutofit/>
              </a:bodyPr>
              <a:lstStyle/>
              <a:p>
                <a:r>
                  <a:rPr lang="en-US" sz="2800" dirty="0"/>
                  <a:t>Taking the general FM wave equation</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𝑠</m:t>
                      </m:r>
                      <m:r>
                        <a:rPr lang="en-US" sz="2800">
                          <a:latin typeface="Cambria Math" panose="02040503050406030204" pitchFamily="18" charset="0"/>
                        </a:rPr>
                        <m:t>(</m:t>
                      </m:r>
                      <m:r>
                        <a:rPr lang="en-US" sz="2800" i="1">
                          <a:latin typeface="Cambria Math" panose="02040503050406030204" pitchFamily="18" charset="0"/>
                        </a:rPr>
                        <m:t>𝑡</m:t>
                      </m:r>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𝐴</m:t>
                          </m:r>
                        </m:e>
                        <m:sub>
                          <m:r>
                            <a:rPr lang="en-US" sz="2800" i="1">
                              <a:latin typeface="Cambria Math" panose="02040503050406030204" pitchFamily="18" charset="0"/>
                            </a:rPr>
                            <m:t>𝑐</m:t>
                          </m:r>
                        </m:sub>
                      </m:sSub>
                      <m:r>
                        <m:rPr>
                          <m:sty m:val="p"/>
                        </m:rPr>
                        <a:rPr lang="en-US" sz="2800">
                          <a:latin typeface="Cambria Math" panose="02040503050406030204" pitchFamily="18" charset="0"/>
                        </a:rPr>
                        <m:t>cos</m:t>
                      </m:r>
                      <m:d>
                        <m:dPr>
                          <m:begChr m:val="["/>
                          <m:endChr m:val="]"/>
                          <m:ctrlPr>
                            <a:rPr lang="en-US" sz="2800" i="1">
                              <a:latin typeface="Cambria Math" panose="02040503050406030204" pitchFamily="18" charset="0"/>
                            </a:rPr>
                          </m:ctrlPr>
                        </m:dPr>
                        <m:e>
                          <m:d>
                            <m:dPr>
                              <m:begChr m:val=""/>
                              <m:ctrlPr>
                                <a:rPr lang="en-US" sz="2800" i="1">
                                  <a:latin typeface="Cambria Math" panose="02040503050406030204" pitchFamily="18" charset="0"/>
                                </a:rPr>
                              </m:ctrlPr>
                            </m:dPr>
                            <m:e>
                              <m:r>
                                <a:rPr lang="en-US" sz="2800">
                                  <a:latin typeface="Cambria Math" panose="02040503050406030204" pitchFamily="18" charset="0"/>
                                </a:rPr>
                                <m:t>2</m:t>
                              </m:r>
                              <m:r>
                                <a:rPr lang="en-US" sz="2800" i="1">
                                  <a:latin typeface="Cambria Math" panose="02040503050406030204" pitchFamily="18" charset="0"/>
                                </a:rPr>
                                <m:t>𝜋</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𝑐</m:t>
                                  </m:r>
                                </m:sub>
                              </m:sSub>
                              <m:r>
                                <a:rPr lang="en-US" sz="2800" i="1">
                                  <a:latin typeface="Cambria Math" panose="02040503050406030204" pitchFamily="18" charset="0"/>
                                </a:rPr>
                                <m:t>𝑡</m:t>
                              </m:r>
                              <m:r>
                                <a:rPr lang="en-US" sz="2800">
                                  <a:latin typeface="Cambria Math" panose="02040503050406030204" pitchFamily="18" charset="0"/>
                                </a:rPr>
                                <m:t>+</m:t>
                              </m:r>
                              <m:r>
                                <a:rPr lang="en-US" sz="2800" i="1">
                                  <a:latin typeface="Cambria Math" panose="02040503050406030204" pitchFamily="18" charset="0"/>
                                </a:rPr>
                                <m:t>𝛽</m:t>
                              </m:r>
                              <m:r>
                                <m:rPr>
                                  <m:sty m:val="p"/>
                                </m:rPr>
                                <a:rPr lang="en-US" sz="2800">
                                  <a:latin typeface="Cambria Math" panose="02040503050406030204" pitchFamily="18" charset="0"/>
                                </a:rPr>
                                <m:t>sin</m:t>
                              </m:r>
                              <m:r>
                                <a:rPr lang="en-US" sz="2800">
                                  <a:latin typeface="Cambria Math" panose="02040503050406030204" pitchFamily="18" charset="0"/>
                                </a:rPr>
                                <m:t>(2</m:t>
                              </m:r>
                              <m:r>
                                <a:rPr lang="en-US" sz="2800" i="1">
                                  <a:latin typeface="Cambria Math" panose="02040503050406030204" pitchFamily="18" charset="0"/>
                                </a:rPr>
                                <m:t>𝜋</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𝑚</m:t>
                                  </m:r>
                                </m:sub>
                              </m:sSub>
                              <m:r>
                                <a:rPr lang="en-US" sz="2800" i="1">
                                  <a:latin typeface="Cambria Math" panose="02040503050406030204" pitchFamily="18" charset="0"/>
                                </a:rPr>
                                <m:t>𝑡</m:t>
                              </m:r>
                            </m:e>
                          </m:d>
                        </m:e>
                      </m:d>
                    </m:oMath>
                  </m:oMathPara>
                </a14:m>
                <a:endParaRPr lang="en-US" sz="2800" dirty="0"/>
              </a:p>
              <a:p>
                <a:pPr marL="0" indent="0">
                  <a:buNone/>
                </a:pPr>
                <a:r>
                  <a:rPr lang="en-US" sz="2800" dirty="0"/>
                  <a:t>The angle of modulated carrier is</a:t>
                </a:r>
              </a:p>
              <a:p>
                <a:pPr marL="0" indent="0" algn="ctr">
                  <a:buNone/>
                </a:pPr>
                <a14:m>
                  <m:oMath xmlns:m="http://schemas.openxmlformats.org/officeDocument/2006/math">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en-US" sz="2800" i="1">
                                <a:latin typeface="Cambria Math" panose="02040503050406030204" pitchFamily="18" charset="0"/>
                              </a:rPr>
                              <m:t>𝑖</m:t>
                            </m:r>
                          </m:sub>
                        </m:sSub>
                        <m:r>
                          <a:rPr lang="en-US" sz="2800">
                            <a:latin typeface="Cambria Math" panose="02040503050406030204" pitchFamily="18" charset="0"/>
                          </a:rPr>
                          <m:t>(</m:t>
                        </m:r>
                        <m:r>
                          <a:rPr lang="en-US" sz="2800" i="1">
                            <a:latin typeface="Cambria Math" panose="02040503050406030204" pitchFamily="18" charset="0"/>
                          </a:rPr>
                          <m:t>𝑡</m:t>
                        </m:r>
                        <m:r>
                          <a:rPr lang="en-US" sz="2800">
                            <a:latin typeface="Cambria Math" panose="02040503050406030204" pitchFamily="18" charset="0"/>
                          </a:rPr>
                          <m:t>)=2</m:t>
                        </m:r>
                        <m:r>
                          <a:rPr lang="en-US" sz="2800" i="1">
                            <a:latin typeface="Cambria Math" panose="02040503050406030204" pitchFamily="18" charset="0"/>
                          </a:rPr>
                          <m:t>𝜋</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𝑐</m:t>
                            </m:r>
                          </m:sub>
                        </m:sSub>
                        <m:r>
                          <a:rPr lang="en-US" sz="2800" i="1">
                            <a:latin typeface="Cambria Math" panose="02040503050406030204" pitchFamily="18" charset="0"/>
                          </a:rPr>
                          <m:t>𝑡</m:t>
                        </m:r>
                        <m:r>
                          <a:rPr lang="en-US" sz="2800">
                            <a:latin typeface="Cambria Math" panose="02040503050406030204" pitchFamily="18" charset="0"/>
                          </a:rPr>
                          <m:t>+</m:t>
                        </m:r>
                        <m:r>
                          <a:rPr lang="en-US" sz="2800" i="1">
                            <a:latin typeface="Cambria Math" panose="02040503050406030204" pitchFamily="18" charset="0"/>
                          </a:rPr>
                          <m:t>𝜙</m:t>
                        </m:r>
                        <m:r>
                          <a:rPr lang="en-US" sz="2800" i="1" baseline="-25000">
                            <a:latin typeface="Cambria Math" panose="02040503050406030204" pitchFamily="18" charset="0"/>
                          </a:rPr>
                          <m:t>𝑐</m:t>
                        </m:r>
                        <m:r>
                          <a:rPr lang="en-US" sz="2800">
                            <a:latin typeface="Cambria Math" panose="02040503050406030204" pitchFamily="18" charset="0"/>
                          </a:rPr>
                          <m:t>(</m:t>
                        </m:r>
                        <m:r>
                          <a:rPr lang="en-US" sz="2800" i="1">
                            <a:latin typeface="Cambria Math" panose="02040503050406030204" pitchFamily="18" charset="0"/>
                          </a:rPr>
                          <m:t>𝑡</m:t>
                        </m:r>
                      </m:e>
                    </m:d>
                  </m:oMath>
                </a14:m>
                <a:r>
                  <a:rPr lang="en-US" sz="2800" dirty="0"/>
                  <a:t> </a:t>
                </a:r>
              </a:p>
              <a:p>
                <a:pPr marL="0" indent="0" algn="ctr">
                  <a:buNone/>
                </a:pPr>
                <a:r>
                  <a:rPr lang="en-US" sz="2800" dirty="0">
                    <a:sym typeface="Wingdings" panose="05000000000000000000" pitchFamily="2" charset="2"/>
                  </a:rPr>
                  <a:t></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𝜃</m:t>
                        </m:r>
                      </m:e>
                      <m:sub>
                        <m:r>
                          <a:rPr lang="en-US" sz="2800" i="1">
                            <a:latin typeface="Cambria Math" panose="02040503050406030204" pitchFamily="18" charset="0"/>
                          </a:rPr>
                          <m:t>𝑖</m:t>
                        </m:r>
                      </m:sub>
                    </m:sSub>
                    <m:r>
                      <a:rPr lang="en-US" sz="2800">
                        <a:latin typeface="Cambria Math" panose="02040503050406030204" pitchFamily="18" charset="0"/>
                      </a:rPr>
                      <m:t>(</m:t>
                    </m:r>
                    <m:r>
                      <a:rPr lang="en-US" sz="2800" i="1">
                        <a:latin typeface="Cambria Math" panose="02040503050406030204" pitchFamily="18" charset="0"/>
                      </a:rPr>
                      <m:t>𝑡</m:t>
                    </m:r>
                    <m:r>
                      <a:rPr lang="en-US" sz="2800">
                        <a:latin typeface="Cambria Math" panose="02040503050406030204" pitchFamily="18" charset="0"/>
                      </a:rPr>
                      <m:t>)=2</m:t>
                    </m:r>
                    <m:r>
                      <a:rPr lang="en-US" sz="2800" i="1">
                        <a:latin typeface="Cambria Math" panose="02040503050406030204" pitchFamily="18" charset="0"/>
                      </a:rPr>
                      <m:t>𝜋</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𝑐</m:t>
                        </m:r>
                      </m:sub>
                    </m:sSub>
                    <m:r>
                      <a:rPr lang="en-US" sz="2800" i="1">
                        <a:latin typeface="Cambria Math" panose="02040503050406030204" pitchFamily="18" charset="0"/>
                      </a:rPr>
                      <m:t>𝑡</m:t>
                    </m:r>
                    <m:r>
                      <a:rPr lang="en-US" sz="2800">
                        <a:latin typeface="Cambria Math" panose="02040503050406030204" pitchFamily="18" charset="0"/>
                      </a:rPr>
                      <m:t>+</m:t>
                    </m:r>
                    <m:r>
                      <a:rPr lang="en-US" sz="2800" i="1">
                        <a:latin typeface="Cambria Math" panose="02040503050406030204" pitchFamily="18" charset="0"/>
                      </a:rPr>
                      <m:t>𝛽</m:t>
                    </m:r>
                    <m:r>
                      <m:rPr>
                        <m:sty m:val="p"/>
                      </m:rPr>
                      <a:rPr lang="en-US" sz="2800">
                        <a:latin typeface="Cambria Math" panose="02040503050406030204" pitchFamily="18" charset="0"/>
                      </a:rPr>
                      <m:t>sin</m:t>
                    </m:r>
                    <m:r>
                      <a:rPr lang="en-US" sz="2800">
                        <a:latin typeface="Cambria Math" panose="02040503050406030204" pitchFamily="18" charset="0"/>
                      </a:rPr>
                      <m:t>(2</m:t>
                    </m:r>
                    <m:r>
                      <a:rPr lang="en-US" sz="2800" i="1">
                        <a:latin typeface="Cambria Math" panose="02040503050406030204" pitchFamily="18" charset="0"/>
                      </a:rPr>
                      <m:t>𝜋</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𝑚</m:t>
                        </m:r>
                      </m:sub>
                    </m:sSub>
                    <m:r>
                      <a:rPr lang="en-US" sz="2800" i="1">
                        <a:latin typeface="Cambria Math" panose="02040503050406030204" pitchFamily="18" charset="0"/>
                      </a:rPr>
                      <m:t>𝑡</m:t>
                    </m:r>
                    <m:r>
                      <a:rPr lang="en-US" sz="2800" i="1">
                        <a:latin typeface="Cambria Math" panose="02040503050406030204" pitchFamily="18" charset="0"/>
                      </a:rPr>
                      <m:t>)</m:t>
                    </m:r>
                  </m:oMath>
                </a14:m>
                <a:endParaRPr lang="en-US" sz="2800" dirty="0"/>
              </a:p>
              <a:p>
                <a:r>
                  <a:rPr lang="en-US" sz="2800" dirty="0"/>
                  <a:t>Depending on the value of mod. index </a:t>
                </a:r>
                <a14:m>
                  <m:oMath xmlns:m="http://schemas.openxmlformats.org/officeDocument/2006/math">
                    <m:r>
                      <a:rPr lang="en-US" sz="2800" i="1">
                        <a:latin typeface="Cambria Math" panose="02040503050406030204" pitchFamily="18" charset="0"/>
                      </a:rPr>
                      <m:t>𝛽</m:t>
                    </m:r>
                  </m:oMath>
                </a14:m>
                <a:r>
                  <a:rPr lang="en-US" sz="2800" dirty="0"/>
                  <a:t>, we get two cases of FM</a:t>
                </a:r>
              </a:p>
              <a:p>
                <a:pPr lvl="1"/>
                <a:r>
                  <a:rPr lang="en-US" sz="2400" dirty="0"/>
                  <a:t>Narrowband FM </a:t>
                </a:r>
                <a:r>
                  <a:rPr lang="en-US" sz="2400" dirty="0">
                    <a:sym typeface="Wingdings" panose="05000000000000000000" pitchFamily="2" charset="2"/>
                  </a:rPr>
                  <a:t></a:t>
                </a:r>
                <a:r>
                  <a:rPr lang="en-US" sz="2400" dirty="0"/>
                  <a:t> </a:t>
                </a:r>
                <a14:m>
                  <m:oMath xmlns:m="http://schemas.openxmlformats.org/officeDocument/2006/math">
                    <m:r>
                      <a:rPr lang="en-US" sz="2400" i="1">
                        <a:latin typeface="Cambria Math" panose="02040503050406030204" pitchFamily="18" charset="0"/>
                      </a:rPr>
                      <m:t>𝛽</m:t>
                    </m:r>
                  </m:oMath>
                </a14:m>
                <a:r>
                  <a:rPr lang="en-US" sz="2400" dirty="0"/>
                  <a:t> &lt;&lt; compared to one radian (</a:t>
                </a:r>
                <a:r>
                  <a:rPr lang="en-US" sz="2400" dirty="0" err="1"/>
                  <a:t>ie</a:t>
                </a:r>
                <a:r>
                  <a:rPr lang="en-US" sz="2400" dirty="0"/>
                  <a:t> </a:t>
                </a:r>
                <a14:m>
                  <m:oMath xmlns:m="http://schemas.openxmlformats.org/officeDocument/2006/math">
                    <m:r>
                      <a:rPr lang="en-US" sz="2400" i="1">
                        <a:latin typeface="Cambria Math" panose="02040503050406030204" pitchFamily="18" charset="0"/>
                      </a:rPr>
                      <m:t>𝛽</m:t>
                    </m:r>
                  </m:oMath>
                </a14:m>
                <a:r>
                  <a:rPr lang="en-US" sz="2400" dirty="0"/>
                  <a:t> &lt;&lt; 1) or </a:t>
                </a:r>
                <a14:m>
                  <m:oMath xmlns:m="http://schemas.openxmlformats.org/officeDocument/2006/math">
                    <m:r>
                      <a:rPr lang="en-US" sz="2400" i="1">
                        <a:latin typeface="Cambria Math" panose="02040503050406030204" pitchFamily="18" charset="0"/>
                      </a:rPr>
                      <m:t>𝜙</m:t>
                    </m:r>
                    <m:r>
                      <a:rPr lang="en-US" sz="2400" i="1" baseline="-25000">
                        <a:latin typeface="Cambria Math" panose="02040503050406030204" pitchFamily="18" charset="0"/>
                      </a:rPr>
                      <m:t>𝑐</m:t>
                    </m:r>
                    <m:r>
                      <a:rPr lang="en-US" sz="2400">
                        <a:latin typeface="Cambria Math" panose="02040503050406030204" pitchFamily="18" charset="0"/>
                      </a:rPr>
                      <m:t>(</m:t>
                    </m:r>
                    <m:r>
                      <a:rPr lang="en-US" sz="2400" i="1">
                        <a:latin typeface="Cambria Math" panose="02040503050406030204" pitchFamily="18" charset="0"/>
                      </a:rPr>
                      <m:t>𝑡</m:t>
                    </m:r>
                    <m:r>
                      <a:rPr lang="en-US" sz="2400" b="0" i="1" smtClean="0">
                        <a:latin typeface="Cambria Math" panose="02040503050406030204" pitchFamily="18" charset="0"/>
                      </a:rPr>
                      <m:t>)</m:t>
                    </m:r>
                  </m:oMath>
                </a14:m>
                <a:r>
                  <a:rPr lang="en-US" sz="2400" dirty="0"/>
                  <a:t> &lt;&lt; 1</a:t>
                </a:r>
              </a:p>
              <a:p>
                <a:pPr lvl="1"/>
                <a:r>
                  <a:rPr lang="en-US" sz="2400" dirty="0"/>
                  <a:t>Wideband FM </a:t>
                </a:r>
                <a:r>
                  <a:rPr lang="en-US" sz="2400" dirty="0">
                    <a:sym typeface="Wingdings" panose="05000000000000000000" pitchFamily="2" charset="2"/>
                  </a:rPr>
                  <a:t> </a:t>
                </a:r>
                <a14:m>
                  <m:oMath xmlns:m="http://schemas.openxmlformats.org/officeDocument/2006/math">
                    <m:r>
                      <a:rPr lang="en-US" sz="2400" i="1">
                        <a:latin typeface="Cambria Math" panose="02040503050406030204" pitchFamily="18" charset="0"/>
                      </a:rPr>
                      <m:t>𝛽</m:t>
                    </m:r>
                  </m:oMath>
                </a14:m>
                <a:r>
                  <a:rPr lang="en-US" sz="2400" dirty="0"/>
                  <a:t> &gt;&gt; compared to one radian (</a:t>
                </a:r>
                <a:r>
                  <a:rPr lang="en-US" sz="2400" dirty="0" err="1"/>
                  <a:t>ie</a:t>
                </a:r>
                <a:r>
                  <a:rPr lang="en-US" sz="2400" dirty="0"/>
                  <a:t> </a:t>
                </a:r>
                <a14:m>
                  <m:oMath xmlns:m="http://schemas.openxmlformats.org/officeDocument/2006/math">
                    <m:r>
                      <a:rPr lang="en-US" sz="2400" i="1">
                        <a:latin typeface="Cambria Math" panose="02040503050406030204" pitchFamily="18" charset="0"/>
                      </a:rPr>
                      <m:t>𝛽</m:t>
                    </m:r>
                  </m:oMath>
                </a14:m>
                <a:r>
                  <a:rPr lang="en-US" sz="2400" dirty="0"/>
                  <a:t> &gt;&gt; 1) or </a:t>
                </a:r>
                <a14:m>
                  <m:oMath xmlns:m="http://schemas.openxmlformats.org/officeDocument/2006/math">
                    <m:r>
                      <a:rPr lang="en-US" sz="2400" i="1">
                        <a:latin typeface="Cambria Math" panose="02040503050406030204" pitchFamily="18" charset="0"/>
                      </a:rPr>
                      <m:t>𝜙</m:t>
                    </m:r>
                    <m:r>
                      <a:rPr lang="en-US" sz="2400" i="1" baseline="-25000">
                        <a:latin typeface="Cambria Math" panose="02040503050406030204" pitchFamily="18" charset="0"/>
                      </a:rPr>
                      <m:t>𝑐</m:t>
                    </m:r>
                    <m:r>
                      <a:rPr lang="en-US" sz="2400">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r>
                  <a:rPr lang="en-US" sz="2400" dirty="0"/>
                  <a:t> &gt;&gt; 1</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199" y="901890"/>
                <a:ext cx="8417859" cy="5803710"/>
              </a:xfrm>
              <a:blipFill>
                <a:blip r:embed="rId3"/>
                <a:stretch>
                  <a:fillRect l="-2534" t="-1786" r="-2317"/>
                </a:stretch>
              </a:blipFill>
            </p:spPr>
            <p:txBody>
              <a:bodyPr/>
              <a:lstStyle/>
              <a:p>
                <a:r>
                  <a:rPr lang="en-US">
                    <a:noFill/>
                  </a:rPr>
                  <a:t> </a:t>
                </a:r>
              </a:p>
            </p:txBody>
          </p:sp>
        </mc:Fallback>
      </mc:AlternateContent>
    </p:spTree>
    <p:extLst>
      <p:ext uri="{BB962C8B-B14F-4D97-AF65-F5344CB8AC3E}">
        <p14:creationId xmlns:p14="http://schemas.microsoft.com/office/powerpoint/2010/main" val="3360160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5.1 </a:t>
            </a:r>
            <a:r>
              <a:rPr lang="en-US" dirty="0" err="1"/>
              <a:t>pg</a:t>
            </a:r>
            <a:r>
              <a:rPr lang="en-US" dirty="0"/>
              <a:t> 111</a:t>
            </a:r>
          </a:p>
        </p:txBody>
      </p:sp>
      <p:sp>
        <p:nvSpPr>
          <p:cNvPr id="3" name="Content Placeholder 2"/>
          <p:cNvSpPr>
            <a:spLocks noGrp="1"/>
          </p:cNvSpPr>
          <p:nvPr>
            <p:ph idx="1"/>
          </p:nvPr>
        </p:nvSpPr>
        <p:spPr/>
        <p:txBody>
          <a:bodyPr/>
          <a:lstStyle/>
          <a:p>
            <a:r>
              <a:rPr lang="en-US" dirty="0"/>
              <a:t>An 18 MHz carrier is modulated by a 400 Hz audio sine wave if the carrier voltage is 5.0 V and the maximum deviation is 12 kHz. Write down the equation for the modulated PM and FM wave.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15</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452723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5.1 </a:t>
            </a:r>
            <a:r>
              <a:rPr lang="en-US" dirty="0" err="1"/>
              <a:t>pg</a:t>
            </a:r>
            <a:r>
              <a:rPr lang="en-US" dirty="0"/>
              <a:t> 114</a:t>
            </a:r>
          </a:p>
        </p:txBody>
      </p:sp>
      <p:sp>
        <p:nvSpPr>
          <p:cNvPr id="3" name="Content Placeholder 2"/>
          <p:cNvSpPr>
            <a:spLocks noGrp="1"/>
          </p:cNvSpPr>
          <p:nvPr>
            <p:ph idx="1"/>
          </p:nvPr>
        </p:nvSpPr>
        <p:spPr/>
        <p:txBody>
          <a:bodyPr/>
          <a:lstStyle/>
          <a:p>
            <a:r>
              <a:rPr lang="en-US" dirty="0"/>
              <a:t>Consider the message signal </a:t>
            </a:r>
            <a:r>
              <a:rPr lang="en-US" i="1" dirty="0" err="1"/>
              <a:t>A</a:t>
            </a:r>
            <a:r>
              <a:rPr lang="en-US" i="1" baseline="-25000" dirty="0" err="1"/>
              <a:t>m</a:t>
            </a:r>
            <a:r>
              <a:rPr lang="en-US" dirty="0" err="1"/>
              <a:t>cos</a:t>
            </a:r>
            <a:r>
              <a:rPr lang="en-US" dirty="0">
                <a:latin typeface="Symbol" panose="05050102010706020507" pitchFamily="18" charset="2"/>
              </a:rPr>
              <a:t>(2</a:t>
            </a:r>
            <a:r>
              <a:rPr lang="en-US" i="1" dirty="0">
                <a:latin typeface="Symbol" panose="05050102010706020507" pitchFamily="18" charset="2"/>
              </a:rPr>
              <a:t>p </a:t>
            </a:r>
            <a:r>
              <a:rPr lang="en-US" i="1" dirty="0" err="1"/>
              <a:t>f</a:t>
            </a:r>
            <a:r>
              <a:rPr lang="en-US" i="1" baseline="-25000" dirty="0" err="1"/>
              <a:t>m</a:t>
            </a:r>
            <a:r>
              <a:rPr lang="en-US" i="1" dirty="0" err="1"/>
              <a:t>t</a:t>
            </a:r>
            <a:r>
              <a:rPr lang="en-US" dirty="0">
                <a:latin typeface="Symbol" panose="05050102010706020507" pitchFamily="18" charset="2"/>
              </a:rPr>
              <a:t>) </a:t>
            </a:r>
            <a:r>
              <a:rPr lang="en-US" dirty="0"/>
              <a:t>is used to either frequency modulate or phase modulate the </a:t>
            </a:r>
            <a:r>
              <a:rPr lang="en-US" i="1" dirty="0" err="1"/>
              <a:t>A</a:t>
            </a:r>
            <a:r>
              <a:rPr lang="en-US" i="1" baseline="-25000" dirty="0" err="1"/>
              <a:t>c</a:t>
            </a:r>
            <a:r>
              <a:rPr lang="en-US" dirty="0" err="1"/>
              <a:t>cos</a:t>
            </a:r>
            <a:r>
              <a:rPr lang="en-US" dirty="0"/>
              <a:t>(2</a:t>
            </a:r>
            <a:r>
              <a:rPr lang="en-US" i="1" dirty="0">
                <a:latin typeface="Symbol" panose="05050102010706020507" pitchFamily="18" charset="2"/>
              </a:rPr>
              <a:t>p</a:t>
            </a:r>
            <a:r>
              <a:rPr lang="en-US" i="1" dirty="0"/>
              <a:t> </a:t>
            </a:r>
            <a:r>
              <a:rPr lang="en-US" i="1" dirty="0" err="1"/>
              <a:t>f</a:t>
            </a:r>
            <a:r>
              <a:rPr lang="en-US" i="1" baseline="-25000" dirty="0" err="1"/>
              <a:t>c</a:t>
            </a:r>
            <a:r>
              <a:rPr lang="en-US" i="1" dirty="0" err="1"/>
              <a:t>t</a:t>
            </a:r>
            <a:r>
              <a:rPr lang="en-US" dirty="0"/>
              <a:t>). Find the modulated signal in each case.</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16</a:t>
            </a:fld>
            <a:endParaRPr kumimoji="0" lang="en-US" sz="18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260508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lstStyle/>
          <a:p>
            <a:r>
              <a:rPr lang="en-US" dirty="0"/>
              <a:t>Narrowband FM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95082"/>
                <a:ext cx="8229600" cy="5217459"/>
              </a:xfrm>
            </p:spPr>
            <p:txBody>
              <a:bodyPr>
                <a:normAutofit fontScale="92500"/>
              </a:bodyPr>
              <a:lstStyle/>
              <a:p>
                <a:r>
                  <a:rPr lang="en-US" sz="3600" dirty="0"/>
                  <a:t>Taking the general FM wave</a:t>
                </a:r>
              </a:p>
              <a:p>
                <a:pPr marL="0" indent="0">
                  <a:buNone/>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𝑠</m:t>
                      </m:r>
                      <m:r>
                        <a:rPr lang="en-US" sz="3600">
                          <a:latin typeface="Cambria Math" panose="02040503050406030204" pitchFamily="18" charset="0"/>
                        </a:rPr>
                        <m:t>(</m:t>
                      </m:r>
                      <m:r>
                        <a:rPr lang="en-US" sz="3600" i="1">
                          <a:latin typeface="Cambria Math" panose="02040503050406030204" pitchFamily="18" charset="0"/>
                        </a:rPr>
                        <m:t>𝑡</m:t>
                      </m:r>
                      <m:r>
                        <a:rPr lang="en-US" sz="360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𝑐</m:t>
                          </m:r>
                        </m:sub>
                      </m:sSub>
                      <m:r>
                        <m:rPr>
                          <m:sty m:val="p"/>
                        </m:rPr>
                        <a:rPr lang="en-US" sz="3600">
                          <a:latin typeface="Cambria Math" panose="02040503050406030204" pitchFamily="18" charset="0"/>
                        </a:rPr>
                        <m:t>cos</m:t>
                      </m:r>
                      <m:d>
                        <m:dPr>
                          <m:begChr m:val="["/>
                          <m:endChr m:val="]"/>
                          <m:ctrlPr>
                            <a:rPr lang="en-US" sz="3600" i="1">
                              <a:latin typeface="Cambria Math" panose="02040503050406030204" pitchFamily="18" charset="0"/>
                            </a:rPr>
                          </m:ctrlPr>
                        </m:dPr>
                        <m:e>
                          <m:d>
                            <m:dPr>
                              <m:begChr m:val=""/>
                              <m:ctrlPr>
                                <a:rPr lang="en-US" sz="3600" i="1">
                                  <a:latin typeface="Cambria Math" panose="02040503050406030204" pitchFamily="18" charset="0"/>
                                </a:rPr>
                              </m:ctrlPr>
                            </m:dPr>
                            <m:e>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i="1">
                                      <a:latin typeface="Cambria Math" panose="02040503050406030204" pitchFamily="18" charset="0"/>
                                    </a:rPr>
                                    <m:t>𝑐</m:t>
                                  </m:r>
                                </m:sub>
                              </m:sSub>
                              <m:r>
                                <a:rPr lang="en-US" sz="3600" i="1">
                                  <a:latin typeface="Cambria Math" panose="02040503050406030204" pitchFamily="18" charset="0"/>
                                </a:rPr>
                                <m:t>𝑡</m:t>
                              </m:r>
                              <m:r>
                                <a:rPr lang="en-US" sz="3600">
                                  <a:latin typeface="Cambria Math" panose="02040503050406030204" pitchFamily="18" charset="0"/>
                                </a:rPr>
                                <m:t>+</m:t>
                              </m:r>
                              <m:r>
                                <a:rPr lang="en-US" sz="3600" i="1">
                                  <a:latin typeface="Cambria Math" panose="02040503050406030204" pitchFamily="18" charset="0"/>
                                </a:rPr>
                                <m:t>𝛽</m:t>
                              </m:r>
                              <m:r>
                                <m:rPr>
                                  <m:sty m:val="p"/>
                                </m:rPr>
                                <a:rPr lang="en-US" sz="3600">
                                  <a:latin typeface="Cambria Math" panose="02040503050406030204" pitchFamily="18" charset="0"/>
                                </a:rPr>
                                <m:t>sin</m:t>
                              </m:r>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i="1">
                                      <a:latin typeface="Cambria Math" panose="02040503050406030204" pitchFamily="18" charset="0"/>
                                    </a:rPr>
                                    <m:t>𝑚</m:t>
                                  </m:r>
                                </m:sub>
                              </m:sSub>
                              <m:r>
                                <a:rPr lang="en-US" sz="3600" i="1">
                                  <a:latin typeface="Cambria Math" panose="02040503050406030204" pitchFamily="18" charset="0"/>
                                </a:rPr>
                                <m:t>𝑡</m:t>
                              </m:r>
                            </m:e>
                          </m:d>
                        </m:e>
                      </m:d>
                    </m:oMath>
                  </m:oMathPara>
                </a14:m>
                <a:endParaRPr lang="en-US" sz="3600" dirty="0"/>
              </a:p>
              <a:p>
                <a:pPr marL="0" lvl="1" indent="0">
                  <a:buNone/>
                </a:pPr>
                <a:r>
                  <a:rPr lang="en-US" sz="3200" dirty="0"/>
                  <a:t>If </a:t>
                </a:r>
                <a:r>
                  <a:rPr lang="en-US" sz="3200" i="1" dirty="0"/>
                  <a:t>m(t)</a:t>
                </a:r>
                <a:r>
                  <a:rPr lang="en-US" sz="3200" dirty="0"/>
                  <a:t> and </a:t>
                </a:r>
                <a:r>
                  <a:rPr lang="en-US" sz="3200" i="1" dirty="0" err="1"/>
                  <a:t>k</a:t>
                </a:r>
                <a:r>
                  <a:rPr lang="en-US" sz="3200" i="1" baseline="-25000" dirty="0" err="1"/>
                  <a:t>f</a:t>
                </a:r>
                <a:r>
                  <a:rPr lang="en-US" sz="3200" i="1" dirty="0"/>
                  <a:t> </a:t>
                </a:r>
                <a:r>
                  <a:rPr lang="en-US" sz="3200" dirty="0"/>
                  <a:t>are such that for all </a:t>
                </a:r>
                <a:r>
                  <a:rPr lang="en-US" sz="3200" i="1" dirty="0"/>
                  <a:t>t</a:t>
                </a:r>
                <a:r>
                  <a:rPr lang="en-US" sz="3200" dirty="0"/>
                  <a:t>, </a:t>
                </a:r>
                <a14:m>
                  <m:oMath xmlns:m="http://schemas.openxmlformats.org/officeDocument/2006/math">
                    <m:r>
                      <a:rPr lang="en-US" sz="3200" i="1">
                        <a:latin typeface="Cambria Math" panose="02040503050406030204" pitchFamily="18" charset="0"/>
                      </a:rPr>
                      <m:t>𝜙</m:t>
                    </m:r>
                    <m:r>
                      <a:rPr lang="en-US" sz="3200" i="1" baseline="-25000">
                        <a:latin typeface="Cambria Math" panose="02040503050406030204" pitchFamily="18" charset="0"/>
                      </a:rPr>
                      <m:t>𝑐</m:t>
                    </m:r>
                    <m:r>
                      <a:rPr lang="en-US" sz="3200">
                        <a:latin typeface="Cambria Math" panose="02040503050406030204" pitchFamily="18" charset="0"/>
                      </a:rPr>
                      <m:t>(</m:t>
                    </m:r>
                    <m:r>
                      <a:rPr lang="en-US" sz="3200" i="1">
                        <a:latin typeface="Cambria Math" panose="02040503050406030204" pitchFamily="18" charset="0"/>
                      </a:rPr>
                      <m:t>𝑡</m:t>
                    </m:r>
                    <m:r>
                      <a:rPr lang="en-US" sz="3200" i="1">
                        <a:latin typeface="Cambria Math" panose="02040503050406030204" pitchFamily="18" charset="0"/>
                      </a:rPr>
                      <m:t>)</m:t>
                    </m:r>
                  </m:oMath>
                </a14:m>
                <a:r>
                  <a:rPr lang="en-US" sz="3200" dirty="0"/>
                  <a:t> &lt;&lt; 1, then we can expand and simplifying </a:t>
                </a:r>
                <a:r>
                  <a:rPr lang="en-US" sz="3200" i="1" dirty="0"/>
                  <a:t>s(t)</a:t>
                </a:r>
                <a:r>
                  <a:rPr lang="en-US" sz="3200" dirty="0"/>
                  <a:t> to a simple approximation as</a:t>
                </a:r>
              </a:p>
              <a:p>
                <a:pPr marL="0" indent="0">
                  <a:buNone/>
                </a:pPr>
                <a14:m>
                  <m:oMathPara xmlns:m="http://schemas.openxmlformats.org/officeDocument/2006/math">
                    <m:oMathParaPr>
                      <m:jc m:val="centerGroup"/>
                    </m:oMathParaPr>
                    <m:oMath xmlns:m="http://schemas.openxmlformats.org/officeDocument/2006/math">
                      <m:d>
                        <m:dPr>
                          <m:begChr m:val=""/>
                          <m:ctrlPr>
                            <a:rPr lang="en-US" sz="3600" i="1">
                              <a:latin typeface="Cambria Math" panose="02040503050406030204" pitchFamily="18" charset="0"/>
                            </a:rPr>
                          </m:ctrlPr>
                        </m:dPr>
                        <m:e>
                          <m:r>
                            <a:rPr lang="en-US" sz="3600" i="1">
                              <a:latin typeface="Cambria Math" panose="02040503050406030204" pitchFamily="18" charset="0"/>
                            </a:rPr>
                            <m:t>𝑠</m:t>
                          </m:r>
                          <m:r>
                            <a:rPr lang="en-US" sz="3600">
                              <a:latin typeface="Cambria Math" panose="02040503050406030204" pitchFamily="18" charset="0"/>
                            </a:rPr>
                            <m:t>(</m:t>
                          </m:r>
                          <m:r>
                            <a:rPr lang="en-US" sz="3600" i="1">
                              <a:latin typeface="Cambria Math" panose="02040503050406030204" pitchFamily="18" charset="0"/>
                            </a:rPr>
                            <m:t>𝑡</m:t>
                          </m:r>
                          <m:r>
                            <a:rPr lang="en-US" sz="360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𝑐</m:t>
                              </m:r>
                            </m:sub>
                          </m:sSub>
                          <m:r>
                            <m:rPr>
                              <m:sty m:val="p"/>
                            </m:rPr>
                            <a:rPr lang="en-US" sz="3600">
                              <a:latin typeface="Cambria Math" panose="02040503050406030204" pitchFamily="18" charset="0"/>
                            </a:rPr>
                            <m:t>cos</m:t>
                          </m:r>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i="1">
                                  <a:latin typeface="Cambria Math" panose="02040503050406030204" pitchFamily="18" charset="0"/>
                                </a:rPr>
                                <m:t>𝑐</m:t>
                              </m:r>
                            </m:sub>
                          </m:sSub>
                          <m:r>
                            <a:rPr lang="en-US" sz="3600" i="1">
                              <a:latin typeface="Cambria Math" panose="02040503050406030204" pitchFamily="18" charset="0"/>
                            </a:rPr>
                            <m:t>𝑡</m:t>
                          </m:r>
                          <m:r>
                            <a:rPr lang="en-US" sz="3600">
                              <a:latin typeface="Cambria Math" panose="02040503050406030204" pitchFamily="18" charset="0"/>
                            </a:rPr>
                            <m:t>−</m:t>
                          </m:r>
                          <m:r>
                            <a:rPr lang="en-US" sz="3600" i="1">
                              <a:latin typeface="Cambria Math" panose="02040503050406030204" pitchFamily="18" charset="0"/>
                            </a:rPr>
                            <m:t>𝛽</m:t>
                          </m:r>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i="1">
                                  <a:latin typeface="Cambria Math" panose="02040503050406030204" pitchFamily="18" charset="0"/>
                                </a:rPr>
                                <m:t>𝑐</m:t>
                              </m:r>
                            </m:sub>
                          </m:sSub>
                          <m:r>
                            <m:rPr>
                              <m:sty m:val="p"/>
                            </m:rPr>
                            <a:rPr lang="en-US" sz="3600">
                              <a:latin typeface="Cambria Math" panose="02040503050406030204" pitchFamily="18" charset="0"/>
                            </a:rPr>
                            <m:t>sin</m:t>
                          </m:r>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i="1">
                                  <a:latin typeface="Cambria Math" panose="02040503050406030204" pitchFamily="18" charset="0"/>
                                </a:rPr>
                                <m:t>𝑐</m:t>
                              </m:r>
                            </m:sub>
                          </m:sSub>
                          <m:r>
                            <a:rPr lang="en-US" sz="3600" i="1">
                              <a:latin typeface="Cambria Math" panose="02040503050406030204" pitchFamily="18" charset="0"/>
                            </a:rPr>
                            <m:t>𝑡</m:t>
                          </m:r>
                          <m:r>
                            <a:rPr lang="en-US" sz="3600">
                              <a:latin typeface="Cambria Math" panose="02040503050406030204" pitchFamily="18" charset="0"/>
                            </a:rPr>
                            <m:t>)</m:t>
                          </m:r>
                          <m:r>
                            <m:rPr>
                              <m:sty m:val="p"/>
                            </m:rPr>
                            <a:rPr lang="en-US" sz="3600">
                              <a:latin typeface="Cambria Math" panose="02040503050406030204" pitchFamily="18" charset="0"/>
                            </a:rPr>
                            <m:t>sin</m:t>
                          </m:r>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i="1">
                                  <a:latin typeface="Cambria Math" panose="02040503050406030204" pitchFamily="18" charset="0"/>
                                </a:rPr>
                                <m:t>𝑚</m:t>
                              </m:r>
                            </m:sub>
                          </m:sSub>
                          <m:r>
                            <a:rPr lang="en-US" sz="3600" i="1">
                              <a:latin typeface="Cambria Math" panose="02040503050406030204" pitchFamily="18" charset="0"/>
                            </a:rPr>
                            <m:t>𝑡</m:t>
                          </m:r>
                        </m:e>
                      </m:d>
                    </m:oMath>
                  </m:oMathPara>
                </a14:m>
                <a:endParaRPr lang="en-US" sz="3600" dirty="0"/>
              </a:p>
              <a:p>
                <a:pPr marL="0" indent="0">
                  <a:buNone/>
                </a:pPr>
                <a:r>
                  <a:rPr lang="en-US" sz="3600" dirty="0"/>
                  <a:t>This is an approximate form of a narrowband FM wave produce by a sinusoidal modulating signal,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𝐴</m:t>
                        </m:r>
                      </m:e>
                      <m:sub>
                        <m:r>
                          <a:rPr lang="en-US" sz="3600" b="0" i="1" smtClean="0">
                            <a:latin typeface="Cambria Math" panose="02040503050406030204" pitchFamily="18" charset="0"/>
                          </a:rPr>
                          <m:t>𝑚</m:t>
                        </m:r>
                      </m:sub>
                    </m:sSub>
                    <m:r>
                      <m:rPr>
                        <m:sty m:val="p"/>
                      </m:rPr>
                      <a:rPr lang="en-US" sz="3600">
                        <a:latin typeface="Cambria Math" panose="02040503050406030204" pitchFamily="18" charset="0"/>
                      </a:rPr>
                      <m:t>cos</m:t>
                    </m:r>
                    <m:r>
                      <a:rPr lang="en-US" sz="3600">
                        <a:latin typeface="Cambria Math" panose="02040503050406030204" pitchFamily="18" charset="0"/>
                      </a:rPr>
                      <m:t>2</m:t>
                    </m:r>
                    <m:r>
                      <a:rPr lang="en-US" sz="3600" i="1">
                        <a:latin typeface="Cambria Math" panose="02040503050406030204" pitchFamily="18" charset="0"/>
                      </a:rPr>
                      <m:t>𝜋</m:t>
                    </m:r>
                    <m:sSub>
                      <m:sSubPr>
                        <m:ctrlPr>
                          <a:rPr lang="en-US" sz="3600" i="1">
                            <a:latin typeface="Cambria Math" panose="02040503050406030204" pitchFamily="18" charset="0"/>
                          </a:rPr>
                        </m:ctrlPr>
                      </m:sSubPr>
                      <m:e>
                        <m:r>
                          <a:rPr lang="en-US" sz="3600" i="1">
                            <a:latin typeface="Cambria Math" panose="02040503050406030204" pitchFamily="18" charset="0"/>
                          </a:rPr>
                          <m:t>𝑓</m:t>
                        </m:r>
                      </m:e>
                      <m:sub>
                        <m:r>
                          <a:rPr lang="en-US" sz="3600" b="0" i="1" smtClean="0">
                            <a:latin typeface="Cambria Math" panose="02040503050406030204" pitchFamily="18" charset="0"/>
                          </a:rPr>
                          <m:t>𝑚</m:t>
                        </m:r>
                      </m:sub>
                    </m:sSub>
                    <m:r>
                      <a:rPr lang="en-US" sz="3600" i="1">
                        <a:latin typeface="Cambria Math" panose="02040503050406030204" pitchFamily="18" charset="0"/>
                      </a:rPr>
                      <m:t>𝑡</m:t>
                    </m:r>
                  </m:oMath>
                </a14:m>
                <a:endParaRPr lang="en-US" sz="3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95082"/>
                <a:ext cx="8229600" cy="5217459"/>
              </a:xfrm>
              <a:blipFill>
                <a:blip r:embed="rId3"/>
                <a:stretch>
                  <a:fillRect l="-3111" t="-2570" r="-296"/>
                </a:stretch>
              </a:blipFill>
            </p:spPr>
            <p:txBody>
              <a:bodyPr/>
              <a:lstStyle/>
              <a:p>
                <a:r>
                  <a:rPr lang="en-US">
                    <a:noFill/>
                  </a:rPr>
                  <a:t> </a:t>
                </a:r>
              </a:p>
            </p:txBody>
          </p:sp>
        </mc:Fallback>
      </mc:AlternateContent>
    </p:spTree>
    <p:extLst>
      <p:ext uri="{BB962C8B-B14F-4D97-AF65-F5344CB8AC3E}">
        <p14:creationId xmlns:p14="http://schemas.microsoft.com/office/powerpoint/2010/main" val="3363681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lstStyle/>
          <a:p>
            <a:r>
              <a:rPr lang="en-US" dirty="0"/>
              <a:t>Narrowband FM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01890"/>
                <a:ext cx="8229600" cy="5803710"/>
              </a:xfrm>
            </p:spPr>
            <p:txBody>
              <a:bodyPr>
                <a:noAutofit/>
              </a:bodyPr>
              <a:lstStyle/>
              <a:p>
                <a:r>
                  <a:rPr lang="en-US" dirty="0"/>
                  <a:t>Using trig. identities, </a:t>
                </a:r>
                <a:r>
                  <a:rPr lang="en-US" i="1" dirty="0"/>
                  <a:t>s(t) is</a:t>
                </a:r>
                <a:endParaRPr lang="en-US" dirty="0"/>
              </a:p>
              <a:p>
                <a:pPr marL="0" indent="0">
                  <a:buNone/>
                </a:pPr>
                <a14:m>
                  <m:oMath xmlns:m="http://schemas.openxmlformats.org/officeDocument/2006/math">
                    <m:r>
                      <a:rPr lang="en-US" i="1">
                        <a:latin typeface="Cambria Math" panose="02040503050406030204" pitchFamily="18" charset="0"/>
                      </a:rPr>
                      <m:t>𝑠</m:t>
                    </m:r>
                    <m:r>
                      <a:rPr lang="en-US">
                        <a:latin typeface="Cambria Math" panose="02040503050406030204" pitchFamily="18" charset="0"/>
                      </a:rPr>
                      <m:t>(</m:t>
                    </m:r>
                    <m:r>
                      <a:rPr lang="en-US" i="1">
                        <a:latin typeface="Cambria Math" panose="02040503050406030204" pitchFamily="18" charset="0"/>
                      </a:rPr>
                      <m:t>𝑡</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r>
                      <m:rPr>
                        <m:sty m:val="p"/>
                      </m:rPr>
                      <a:rPr lang="en-US">
                        <a:latin typeface="Cambria Math" panose="02040503050406030204" pitchFamily="18" charset="0"/>
                      </a:rPr>
                      <m:t>cos</m:t>
                    </m:r>
                    <m:r>
                      <a:rPr lang="en-US">
                        <a:latin typeface="Cambria Math" panose="02040503050406030204" pitchFamily="18" charset="0"/>
                      </a:rPr>
                      <m:t>2</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r>
                      <a:rPr lang="en-US" i="1">
                        <a:latin typeface="Cambria Math" panose="02040503050406030204" pitchFamily="18" charset="0"/>
                      </a:rPr>
                      <m:t>𝑡</m:t>
                    </m:r>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𝛽</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num>
                      <m:den>
                        <m:r>
                          <a:rPr lang="en-US">
                            <a:latin typeface="Cambria Math" panose="02040503050406030204" pitchFamily="18" charset="0"/>
                          </a:rPr>
                          <m:t>2</m:t>
                        </m:r>
                      </m:den>
                    </m:f>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cos</m:t>
                        </m:r>
                        <m:d>
                          <m:dPr>
                            <m:ctrlPr>
                              <a:rPr lang="en-US" i="1">
                                <a:latin typeface="Cambria Math" panose="02040503050406030204" pitchFamily="18" charset="0"/>
                              </a:rPr>
                            </m:ctrlPr>
                          </m:dPr>
                          <m:e>
                            <m:r>
                              <a:rPr lang="en-US">
                                <a:latin typeface="Cambria Math" panose="02040503050406030204" pitchFamily="18" charset="0"/>
                              </a:rPr>
                              <m:t>2</m:t>
                            </m:r>
                            <m:r>
                              <a:rPr lang="en-US" i="1">
                                <a:latin typeface="Cambria Math" panose="02040503050406030204" pitchFamily="18" charset="0"/>
                              </a:rPr>
                              <m:t>𝜋</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a:latin typeface="Cambria Math" panose="02040503050406030204" pitchFamily="18" charset="0"/>
                              </a:rPr>
                              <m:t>)</m:t>
                            </m:r>
                            <m:r>
                              <a:rPr lang="en-US" i="1">
                                <a:latin typeface="Cambria Math" panose="02040503050406030204" pitchFamily="18" charset="0"/>
                              </a:rPr>
                              <m:t>𝑡</m:t>
                            </m:r>
                          </m:e>
                        </m:d>
                        <m:r>
                          <a:rPr lang="en-US">
                            <a:latin typeface="Cambria Math" panose="02040503050406030204" pitchFamily="18" charset="0"/>
                          </a:rPr>
                          <m:t>−</m:t>
                        </m:r>
                        <m:r>
                          <m:rPr>
                            <m:sty m:val="p"/>
                          </m:rPr>
                          <a:rPr lang="en-US">
                            <a:latin typeface="Cambria Math" panose="02040503050406030204" pitchFamily="18" charset="0"/>
                          </a:rPr>
                          <m:t>cos</m:t>
                        </m:r>
                        <m:d>
                          <m:dPr>
                            <m:ctrlPr>
                              <a:rPr lang="en-US" i="1">
                                <a:latin typeface="Cambria Math" panose="02040503050406030204" pitchFamily="18" charset="0"/>
                              </a:rPr>
                            </m:ctrlPr>
                          </m:dPr>
                          <m:e>
                            <m:r>
                              <a:rPr lang="en-US">
                                <a:latin typeface="Cambria Math" panose="02040503050406030204" pitchFamily="18" charset="0"/>
                              </a:rPr>
                              <m:t>2</m:t>
                            </m:r>
                            <m:r>
                              <a:rPr lang="en-US" i="1">
                                <a:latin typeface="Cambria Math" panose="02040503050406030204" pitchFamily="18" charset="0"/>
                              </a:rPr>
                              <m:t>𝜋</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a:latin typeface="Cambria Math" panose="02040503050406030204" pitchFamily="18" charset="0"/>
                              </a:rPr>
                              <m:t>)</m:t>
                            </m:r>
                            <m:r>
                              <a:rPr lang="en-US" i="1">
                                <a:latin typeface="Cambria Math" panose="02040503050406030204" pitchFamily="18" charset="0"/>
                              </a:rPr>
                              <m:t>𝑡</m:t>
                            </m:r>
                          </m:e>
                        </m:d>
                      </m:e>
                    </m:d>
                  </m:oMath>
                </a14:m>
                <a:r>
                  <a:rPr lang="en-US" dirty="0"/>
                  <a:t> </a:t>
                </a:r>
              </a:p>
              <a:p>
                <a:r>
                  <a:rPr lang="en-US" dirty="0"/>
                  <a:t>The above equation represents the NB-FM signal. </a:t>
                </a:r>
              </a:p>
              <a:p>
                <a:r>
                  <a:rPr lang="en-US" dirty="0"/>
                  <a:t>This representation is similar to an AM</a:t>
                </a:r>
                <a:br>
                  <a:rPr lang="en-US" dirty="0"/>
                </a:br>
                <a:r>
                  <a:rPr lang="en-US" dirty="0"/>
                  <a:t>signal, except that the lower side frequency has negative sign that is</a:t>
                </a:r>
                <a:r>
                  <a:rPr lang="en-US" dirty="0"/>
                  <a:t> the lower sideband is out of phase by 180 degrees</a:t>
                </a:r>
                <a:r>
                  <a:rPr lang="en-US" dirty="0"/>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01890"/>
                <a:ext cx="8229600" cy="5803710"/>
              </a:xfrm>
              <a:blipFill>
                <a:blip r:embed="rId3"/>
                <a:stretch>
                  <a:fillRect l="-2741" t="-2206" r="-3630"/>
                </a:stretch>
              </a:blipFill>
            </p:spPr>
            <p:txBody>
              <a:bodyPr/>
              <a:lstStyle/>
              <a:p>
                <a:r>
                  <a:rPr lang="en-US">
                    <a:noFill/>
                  </a:rPr>
                  <a:t> </a:t>
                </a:r>
              </a:p>
            </p:txBody>
          </p:sp>
        </mc:Fallback>
      </mc:AlternateContent>
      <p:cxnSp>
        <p:nvCxnSpPr>
          <p:cNvPr id="5" name="Straight Connector 4"/>
          <p:cNvCxnSpPr/>
          <p:nvPr/>
        </p:nvCxnSpPr>
        <p:spPr>
          <a:xfrm>
            <a:off x="4267200" y="2308412"/>
            <a:ext cx="44196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457200" y="2707342"/>
            <a:ext cx="3429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65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lstStyle/>
          <a:p>
            <a:r>
              <a:rPr lang="en-US" dirty="0"/>
              <a:t>Narrowband FM</a:t>
            </a:r>
          </a:p>
        </p:txBody>
      </p:sp>
      <p:sp>
        <p:nvSpPr>
          <p:cNvPr id="3" name="Content Placeholder 2"/>
          <p:cNvSpPr>
            <a:spLocks noGrp="1"/>
          </p:cNvSpPr>
          <p:nvPr>
            <p:ph idx="1"/>
          </p:nvPr>
        </p:nvSpPr>
        <p:spPr>
          <a:xfrm>
            <a:off x="457200" y="901890"/>
            <a:ext cx="8229600" cy="5803710"/>
          </a:xfrm>
        </p:spPr>
        <p:txBody>
          <a:bodyPr/>
          <a:lstStyle/>
          <a:p>
            <a:r>
              <a:rPr lang="en-US" sz="2800" dirty="0"/>
              <a:t>The magnitude spectrum of NB-FM signal is as shown below, </a:t>
            </a:r>
            <a:r>
              <a:rPr lang="en-US" sz="2800" dirty="0">
                <a:sym typeface="Wingdings" panose="05000000000000000000" pitchFamily="2" charset="2"/>
              </a:rPr>
              <a:t></a:t>
            </a:r>
            <a:r>
              <a:rPr lang="en-US" sz="2800" dirty="0"/>
              <a:t> this is similar to AM signal spectrum. </a:t>
            </a:r>
          </a:p>
          <a:p>
            <a:r>
              <a:rPr lang="en-US" sz="2800" dirty="0"/>
              <a:t>The bandwidth of the NB-FM signal is </a:t>
            </a:r>
            <a:r>
              <a:rPr lang="en-US" sz="2800" b="1" i="1" dirty="0"/>
              <a:t>2f</a:t>
            </a:r>
            <a:r>
              <a:rPr lang="en-US" sz="2800" b="1" i="1" baseline="-25000" dirty="0"/>
              <a:t>m</a:t>
            </a:r>
            <a:r>
              <a:rPr lang="en-US" sz="2800" dirty="0"/>
              <a:t>, which is same as AM signal</a:t>
            </a:r>
          </a:p>
        </p:txBody>
      </p:sp>
      <p:pic>
        <p:nvPicPr>
          <p:cNvPr id="5122" name="Picture 2" descr="http://www.allsyllabus.com/aj/note/EEE/Analog_Communication/Unit5/Frequency%20Domain%20Representation%20of%20Narrow%20Band%20FM%20signal2.PNG"/>
          <p:cNvPicPr>
            <a:picLocks noChangeAspect="1" noChangeArrowheads="1"/>
          </p:cNvPicPr>
          <p:nvPr/>
        </p:nvPicPr>
        <p:blipFill rotWithShape="1">
          <a:blip r:embed="rId3">
            <a:extLst>
              <a:ext uri="{28A0092B-C50C-407E-A947-70E740481C1C}">
                <a14:useLocalDpi xmlns:a14="http://schemas.microsoft.com/office/drawing/2010/main" val="0"/>
              </a:ext>
            </a:extLst>
          </a:blip>
          <a:srcRect l="8891" r="14029" b="19372"/>
          <a:stretch/>
        </p:blipFill>
        <p:spPr bwMode="auto">
          <a:xfrm>
            <a:off x="800100" y="2654579"/>
            <a:ext cx="7543800" cy="3346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095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105922"/>
                <a:ext cx="8229600" cy="712918"/>
              </a:xfrm>
            </p:spPr>
            <p:txBody>
              <a:bodyPr>
                <a:normAutofit fontScale="90000"/>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105922"/>
                <a:ext cx="8229600" cy="712918"/>
              </a:xfrm>
              <a:blipFill>
                <a:blip r:embed="rId3"/>
                <a:stretch>
                  <a:fillRect l="-2889" t="-20513" b="-4188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4149" y="966758"/>
                <a:ext cx="8229600" cy="4525963"/>
              </a:xfrm>
            </p:spPr>
            <p:txBody>
              <a:bodyPr>
                <a:normAutofit/>
              </a:bodyPr>
              <a:lstStyle/>
              <a:p>
                <a:r>
                  <a:rPr lang="en-US" sz="2800" dirty="0"/>
                  <a:t>The plot below is </a:t>
                </a:r>
                <a14:m>
                  <m:oMath xmlns:m="http://schemas.openxmlformats.org/officeDocument/2006/math">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𝐽</m:t>
                            </m:r>
                          </m:e>
                          <m:sub>
                            <m:r>
                              <a:rPr lang="en-US" sz="2800" i="1">
                                <a:latin typeface="Cambria Math" panose="02040503050406030204" pitchFamily="18" charset="0"/>
                              </a:rPr>
                              <m:t>𝑛</m:t>
                            </m:r>
                          </m:sub>
                        </m:sSub>
                        <m:r>
                          <a:rPr lang="en-US" sz="2800">
                            <a:latin typeface="Cambria Math" panose="02040503050406030204" pitchFamily="18" charset="0"/>
                          </a:rPr>
                          <m:t>(</m:t>
                        </m:r>
                        <m:r>
                          <a:rPr lang="en-US" sz="2800" i="1">
                            <a:latin typeface="Cambria Math" panose="02040503050406030204" pitchFamily="18" charset="0"/>
                          </a:rPr>
                          <m:t>𝛽</m:t>
                        </m:r>
                      </m:e>
                    </m:d>
                  </m:oMath>
                </a14:m>
                <a:r>
                  <a:rPr lang="en-US" sz="2800" dirty="0"/>
                  <a:t> for different </a:t>
                </a:r>
                <a:r>
                  <a:rPr lang="en-US" sz="2800" i="1" dirty="0"/>
                  <a:t>n </a:t>
                </a:r>
                <a:r>
                  <a:rPr lang="en-US" sz="2800" dirty="0"/>
                  <a:t>and </a:t>
                </a:r>
                <a14:m>
                  <m:oMath xmlns:m="http://schemas.openxmlformats.org/officeDocument/2006/math">
                    <m:r>
                      <a:rPr lang="en-US" sz="2800" i="1">
                        <a:latin typeface="Cambria Math" panose="02040503050406030204" pitchFamily="18" charset="0"/>
                      </a:rPr>
                      <m:t>𝛽</m:t>
                    </m:r>
                  </m:oMath>
                </a14:m>
                <a:endParaRPr lang="en-US" sz="28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4149" y="966758"/>
                <a:ext cx="8229600" cy="4525963"/>
              </a:xfrm>
              <a:blipFill>
                <a:blip r:embed="rId4"/>
                <a:stretch>
                  <a:fillRect l="-2370" t="-22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1994718" y="1609857"/>
                <a:ext cx="5148461" cy="8900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𝑛</m:t>
                          </m:r>
                        </m:sub>
                      </m:sSub>
                      <m:r>
                        <a:rPr lang="en-US" sz="2400" i="0">
                          <a:latin typeface="Cambria Math" panose="02040503050406030204" pitchFamily="18" charset="0"/>
                        </a:rPr>
                        <m:t>(</m:t>
                      </m:r>
                      <m:r>
                        <a:rPr lang="en-US" sz="2400" i="1">
                          <a:latin typeface="Cambria Math" panose="02040503050406030204" pitchFamily="18" charset="0"/>
                        </a:rPr>
                        <m:t>𝛽</m:t>
                      </m:r>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0">
                              <a:latin typeface="Cambria Math" panose="02040503050406030204" pitchFamily="18" charset="0"/>
                            </a:rPr>
                            <m:t>1</m:t>
                          </m:r>
                        </m:num>
                        <m:den>
                          <m:r>
                            <a:rPr lang="en-US" sz="2400" i="0">
                              <a:latin typeface="Cambria Math" panose="02040503050406030204" pitchFamily="18" charset="0"/>
                            </a:rPr>
                            <m:t>2</m:t>
                          </m:r>
                          <m:r>
                            <a:rPr lang="en-US" sz="2400" i="1">
                              <a:latin typeface="Cambria Math" panose="02040503050406030204" pitchFamily="18" charset="0"/>
                            </a:rPr>
                            <m:t>𝜋</m:t>
                          </m:r>
                        </m:den>
                      </m:f>
                      <m:nary>
                        <m:naryPr>
                          <m:limLoc m:val="subSup"/>
                          <m:grow m:val="on"/>
                          <m:ctrlPr>
                            <a:rPr lang="en-US" sz="2400" i="1">
                              <a:latin typeface="Cambria Math" panose="02040503050406030204" pitchFamily="18" charset="0"/>
                            </a:rPr>
                          </m:ctrlPr>
                        </m:naryPr>
                        <m:sub>
                          <m:r>
                            <a:rPr lang="en-US" sz="2400" i="0">
                              <a:latin typeface="Cambria Math" panose="02040503050406030204" pitchFamily="18" charset="0"/>
                            </a:rPr>
                            <m:t>−</m:t>
                          </m:r>
                          <m:r>
                            <a:rPr lang="en-US" sz="2400" i="1">
                              <a:latin typeface="Cambria Math" panose="02040503050406030204" pitchFamily="18" charset="0"/>
                            </a:rPr>
                            <m:t>𝜋</m:t>
                          </m:r>
                        </m:sub>
                        <m:sup>
                          <m:r>
                            <a:rPr lang="en-US" sz="2400" i="1">
                              <a:latin typeface="Cambria Math" panose="02040503050406030204" pitchFamily="18" charset="0"/>
                            </a:rPr>
                            <m:t>𝜋</m:t>
                          </m:r>
                        </m:sup>
                        <m:e>
                          <m:r>
                            <m:rPr>
                              <m:sty m:val="p"/>
                            </m:rPr>
                            <a:rPr lang="en-US" sz="2400" i="0">
                              <a:latin typeface="Cambria Math" panose="02040503050406030204" pitchFamily="18" charset="0"/>
                            </a:rPr>
                            <m:t>exp</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𝑗</m:t>
                              </m:r>
                              <m:d>
                                <m:dPr>
                                  <m:ctrlPr>
                                    <a:rPr lang="en-US" sz="2400" i="1">
                                      <a:latin typeface="Cambria Math" panose="02040503050406030204" pitchFamily="18" charset="0"/>
                                    </a:rPr>
                                  </m:ctrlPr>
                                </m:dPr>
                                <m:e>
                                  <m:r>
                                    <a:rPr lang="en-US" sz="2400" i="1">
                                      <a:latin typeface="Cambria Math" panose="02040503050406030204" pitchFamily="18" charset="0"/>
                                    </a:rPr>
                                    <m:t>𝛽</m:t>
                                  </m:r>
                                  <m:r>
                                    <m:rPr>
                                      <m:sty m:val="p"/>
                                    </m:rPr>
                                    <a:rPr lang="en-US" sz="2400" i="0">
                                      <a:latin typeface="Cambria Math" panose="02040503050406030204" pitchFamily="18" charset="0"/>
                                    </a:rPr>
                                    <m:t>sin</m:t>
                                  </m:r>
                                  <m:r>
                                    <a:rPr lang="en-US" sz="2400" i="1">
                                      <a:latin typeface="Cambria Math" panose="02040503050406030204" pitchFamily="18" charset="0"/>
                                    </a:rPr>
                                    <m:t>𝑥</m:t>
                                  </m:r>
                                  <m:r>
                                    <a:rPr lang="en-US" sz="2400" i="0">
                                      <a:latin typeface="Cambria Math" panose="02040503050406030204" pitchFamily="18" charset="0"/>
                                    </a:rPr>
                                    <m:t>−</m:t>
                                  </m:r>
                                  <m:r>
                                    <a:rPr lang="en-US" sz="2400" i="1">
                                      <a:latin typeface="Cambria Math" panose="02040503050406030204" pitchFamily="18" charset="0"/>
                                    </a:rPr>
                                    <m:t>𝑛𝑥</m:t>
                                  </m:r>
                                </m:e>
                              </m:d>
                            </m:e>
                          </m:d>
                        </m:e>
                      </m:nary>
                      <m:r>
                        <a:rPr lang="en-US" sz="2400" i="1">
                          <a:latin typeface="Cambria Math" panose="02040503050406030204" pitchFamily="18" charset="0"/>
                        </a:rPr>
                        <m:t>𝑑𝑥</m:t>
                      </m:r>
                    </m:oMath>
                  </m:oMathPara>
                </a14:m>
                <a:endParaRPr lang="en-US" sz="2400" dirty="0"/>
              </a:p>
            </p:txBody>
          </p:sp>
        </mc:Choice>
        <mc:Fallback>
          <p:sp>
            <p:nvSpPr>
              <p:cNvPr id="5" name="Rectangle 4"/>
              <p:cNvSpPr>
                <a:spLocks noRot="1" noChangeAspect="1" noMove="1" noResize="1" noEditPoints="1" noAdjustHandles="1" noChangeArrowheads="1" noChangeShapeType="1" noTextEdit="1"/>
              </p:cNvSpPr>
              <p:nvPr/>
            </p:nvSpPr>
            <p:spPr>
              <a:xfrm>
                <a:off x="1994718" y="1609857"/>
                <a:ext cx="5148461" cy="8900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471764" y="2647827"/>
                <a:ext cx="8232650" cy="1838004"/>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equation for the complex envelop of FM (esp. WB-FM) is</a:t>
                </a:r>
              </a:p>
              <a:p>
                <a:pPr/>
                <a14:m>
                  <m:oMathPara xmlns:m="http://schemas.openxmlformats.org/officeDocument/2006/math">
                    <m:oMathParaPr>
                      <m:jc m:val="centerGroup"/>
                    </m:oMathParaPr>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𝑠</m:t>
                          </m:r>
                        </m:e>
                      </m:acc>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𝑐</m:t>
                          </m:r>
                        </m:sub>
                      </m:sSub>
                      <m:nary>
                        <m:naryPr>
                          <m:chr m:val="∑"/>
                          <m:limLoc m:val="undOvr"/>
                          <m:grow m:val="on"/>
                          <m:ctrlPr>
                            <a:rPr lang="en-US" sz="2400" i="1">
                              <a:latin typeface="Cambria Math" panose="02040503050406030204" pitchFamily="18" charset="0"/>
                            </a:rPr>
                          </m:ctrlPr>
                        </m:naryPr>
                        <m:sub>
                          <m:r>
                            <a:rPr lang="en-US" sz="2400" i="1">
                              <a:latin typeface="Cambria Math" panose="02040503050406030204" pitchFamily="18" charset="0"/>
                            </a:rPr>
                            <m:t>𝑛</m:t>
                          </m:r>
                          <m:r>
                            <a:rPr lang="en-US" sz="2400">
                              <a:latin typeface="Cambria Math" panose="02040503050406030204" pitchFamily="18" charset="0"/>
                            </a:rPr>
                            <m:t>=−∞</m:t>
                          </m:r>
                        </m:sub>
                        <m:sup>
                          <m:r>
                            <a:rPr lang="en-US" sz="2400">
                              <a:latin typeface="Cambria Math" panose="02040503050406030204" pitchFamily="18" charset="0"/>
                            </a:rPr>
                            <m:t>∞</m:t>
                          </m:r>
                        </m:sup>
                        <m:e>
                          <m:d>
                            <m:dPr>
                              <m:beg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𝑛</m:t>
                                  </m:r>
                                </m:sub>
                              </m:sSub>
                              <m:r>
                                <a:rPr lang="en-US" sz="2400">
                                  <a:latin typeface="Cambria Math" panose="02040503050406030204" pitchFamily="18" charset="0"/>
                                </a:rPr>
                                <m:t>(</m:t>
                              </m:r>
                              <m:r>
                                <a:rPr lang="en-US" sz="2400" i="1">
                                  <a:latin typeface="Cambria Math" panose="02040503050406030204" pitchFamily="18" charset="0"/>
                                </a:rPr>
                                <m:t>𝛽</m:t>
                              </m:r>
                              <m:r>
                                <a:rPr lang="en-US" sz="2400">
                                  <a:latin typeface="Cambria Math" panose="02040503050406030204" pitchFamily="18" charset="0"/>
                                </a:rPr>
                                <m:t>)</m:t>
                              </m:r>
                              <m:r>
                                <m:rPr>
                                  <m:sty m:val="p"/>
                                </m:rPr>
                                <a:rPr lang="en-US" sz="2400">
                                  <a:latin typeface="Cambria Math" panose="02040503050406030204" pitchFamily="18" charset="0"/>
                                </a:rPr>
                                <m:t>exp</m:t>
                              </m:r>
                              <m:r>
                                <a:rPr lang="en-US" sz="2400">
                                  <a:latin typeface="Cambria Math" panose="02040503050406030204" pitchFamily="18" charset="0"/>
                                </a:rPr>
                                <m:t>(</m:t>
                              </m:r>
                              <m:r>
                                <a:rPr lang="en-US" sz="2400" i="1">
                                  <a:latin typeface="Cambria Math" panose="02040503050406030204" pitchFamily="18" charset="0"/>
                                </a:rPr>
                                <m:t>𝑗</m:t>
                              </m:r>
                              <m:r>
                                <a:rPr lang="en-US" sz="2400">
                                  <a:latin typeface="Cambria Math" panose="02040503050406030204" pitchFamily="18" charset="0"/>
                                </a:rPr>
                                <m:t>2</m:t>
                              </m:r>
                              <m:r>
                                <a:rPr lang="en-US" sz="2400" i="1">
                                  <a:latin typeface="Cambria Math" panose="02040503050406030204" pitchFamily="18" charset="0"/>
                                </a:rPr>
                                <m:t>𝜋</m:t>
                              </m:r>
                              <m:r>
                                <a:rPr lang="en-US" sz="2400" i="1">
                                  <a:latin typeface="Cambria Math" panose="02040503050406030204" pitchFamily="18" charset="0"/>
                                </a:rPr>
                                <m:t>𝑛</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i="1">
                                  <a:latin typeface="Cambria Math" panose="02040503050406030204" pitchFamily="18" charset="0"/>
                                </a:rPr>
                                <m:t>𝑡</m:t>
                              </m:r>
                            </m:e>
                          </m:d>
                        </m:e>
                      </m:nary>
                    </m:oMath>
                  </m:oMathPara>
                </a14:m>
                <a:endParaRPr lang="en-US" sz="2400" dirty="0"/>
              </a:p>
              <a:p>
                <a:pPr marL="285750" indent="-285750">
                  <a:buFont typeface="Arial" panose="020B0604020202020204" pitchFamily="34" charset="0"/>
                  <a:buChar char="•"/>
                </a:pPr>
                <a:endParaRPr lang="en-US" sz="2400" dirty="0"/>
              </a:p>
            </p:txBody>
          </p:sp>
        </mc:Choice>
        <mc:Fallback>
          <p:sp>
            <p:nvSpPr>
              <p:cNvPr id="6" name="TextBox 5"/>
              <p:cNvSpPr txBox="1">
                <a:spLocks noRot="1" noChangeAspect="1" noMove="1" noResize="1" noEditPoints="1" noAdjustHandles="1" noChangeArrowheads="1" noChangeShapeType="1" noTextEdit="1"/>
              </p:cNvSpPr>
              <p:nvPr/>
            </p:nvSpPr>
            <p:spPr>
              <a:xfrm>
                <a:off x="471764" y="2647827"/>
                <a:ext cx="8232650" cy="1838004"/>
              </a:xfrm>
              <a:prstGeom prst="rect">
                <a:avLst/>
              </a:prstGeom>
              <a:blipFill>
                <a:blip r:embed="rId6"/>
                <a:stretch>
                  <a:fillRect l="-962" t="-264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551014" y="4381229"/>
                <a:ext cx="8074150" cy="1468672"/>
              </a:xfrm>
              <a:prstGeom prst="rect">
                <a:avLst/>
              </a:prstGeom>
              <a:ln>
                <a:solidFill>
                  <a:schemeClr val="accent1"/>
                </a:solidFill>
              </a:ln>
            </p:spPr>
            <p:txBody>
              <a:bodyPr wrap="square">
                <a:spAutoFit/>
              </a:bodyPr>
              <a:lstStyle/>
              <a:p>
                <a:pPr marL="457200" indent="-457200">
                  <a:buFont typeface="Arial" panose="020B0604020202020204" pitchFamily="34" charset="0"/>
                  <a:buChar char="•"/>
                </a:pPr>
                <a:r>
                  <a:rPr lang="en-US" sz="2400" b="0" dirty="0"/>
                  <a:t>Taking the real value of </a:t>
                </a:r>
                <a:r>
                  <a:rPr lang="en-US" sz="2400" b="0" i="1" dirty="0"/>
                  <a:t>s(t)</a:t>
                </a:r>
                <a:r>
                  <a:rPr lang="en-US" sz="2400" b="0" dirty="0"/>
                  <a:t>, we get</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nary>
                        <m:naryPr>
                          <m:chr m:val="∑"/>
                          <m:limLoc m:val="undOvr"/>
                          <m:grow m:val="on"/>
                          <m:ctrlPr>
                            <a:rPr lang="en-US" sz="2400" i="1">
                              <a:latin typeface="Cambria Math" panose="02040503050406030204" pitchFamily="18" charset="0"/>
                            </a:rPr>
                          </m:ctrlPr>
                        </m:naryPr>
                        <m:sub>
                          <m:r>
                            <a:rPr lang="en-US" sz="2400" i="1">
                              <a:latin typeface="Cambria Math" panose="02040503050406030204" pitchFamily="18" charset="0"/>
                            </a:rPr>
                            <m:t>𝑛</m:t>
                          </m:r>
                          <m:r>
                            <a:rPr lang="en-US" sz="2400" i="0">
                              <a:latin typeface="Cambria Math" panose="02040503050406030204" pitchFamily="18" charset="0"/>
                            </a:rPr>
                            <m:t>=−∞</m:t>
                          </m:r>
                        </m:sub>
                        <m:sup>
                          <m:r>
                            <a:rPr lang="en-US" sz="2400" i="0">
                              <a:latin typeface="Cambria Math" panose="02040503050406030204" pitchFamily="18" charset="0"/>
                            </a:rPr>
                            <m:t>∞</m:t>
                          </m:r>
                        </m:sup>
                        <m:e>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𝑐</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𝑛</m:t>
                              </m:r>
                            </m:sub>
                          </m:sSub>
                          <m:r>
                            <a:rPr lang="en-US" sz="2400" i="0">
                              <a:latin typeface="Cambria Math" panose="02040503050406030204" pitchFamily="18" charset="0"/>
                            </a:rPr>
                            <m:t>(</m:t>
                          </m:r>
                          <m:r>
                            <a:rPr lang="en-US" sz="2400" i="1">
                              <a:latin typeface="Cambria Math" panose="02040503050406030204" pitchFamily="18" charset="0"/>
                            </a:rPr>
                            <m:t>𝛽</m:t>
                          </m:r>
                          <m:r>
                            <a:rPr lang="en-US" sz="2400" i="0">
                              <a:latin typeface="Cambria Math" panose="02040503050406030204" pitchFamily="18" charset="0"/>
                            </a:rPr>
                            <m:t>)</m:t>
                          </m:r>
                          <m:r>
                            <m:rPr>
                              <m:sty m:val="p"/>
                            </m:rPr>
                            <a:rPr lang="en-US" sz="2400" i="0">
                              <a:latin typeface="Cambria Math" panose="02040503050406030204" pitchFamily="18" charset="0"/>
                            </a:rPr>
                            <m:t>cos</m:t>
                          </m:r>
                          <m:d>
                            <m:dPr>
                              <m:ctrlPr>
                                <a:rPr lang="en-US" sz="2400" i="1">
                                  <a:latin typeface="Cambria Math" panose="02040503050406030204" pitchFamily="18" charset="0"/>
                                </a:rPr>
                              </m:ctrlPr>
                            </m:dPr>
                            <m:e>
                              <m:r>
                                <a:rPr lang="en-US" sz="2400" i="0">
                                  <a:latin typeface="Cambria Math" panose="02040503050406030204" pitchFamily="18" charset="0"/>
                                </a:rPr>
                                <m:t>2</m:t>
                              </m:r>
                              <m:r>
                                <a:rPr lang="en-US" sz="2400" i="1">
                                  <a:latin typeface="Cambria Math" panose="02040503050406030204" pitchFamily="18" charset="0"/>
                                </a:rPr>
                                <m:t>𝜋</m:t>
                              </m:r>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i="0">
                                  <a:latin typeface="Cambria Math" panose="02040503050406030204" pitchFamily="18" charset="0"/>
                                </a:rPr>
                                <m:t>+</m:t>
                              </m:r>
                              <m:r>
                                <a:rPr lang="en-US" sz="2400" i="1">
                                  <a:latin typeface="Cambria Math" panose="02040503050406030204" pitchFamily="18" charset="0"/>
                                </a:rPr>
                                <m:t>𝑛</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i="0">
                                  <a:latin typeface="Cambria Math" panose="02040503050406030204" pitchFamily="18" charset="0"/>
                                </a:rPr>
                                <m:t>)</m:t>
                              </m:r>
                              <m:r>
                                <a:rPr lang="en-US" sz="2400" i="1">
                                  <a:latin typeface="Cambria Math" panose="02040503050406030204" pitchFamily="18" charset="0"/>
                                </a:rPr>
                                <m:t>𝑡</m:t>
                              </m:r>
                            </m:e>
                          </m:d>
                        </m:e>
                      </m:nary>
                    </m:oMath>
                  </m:oMathPara>
                </a14:m>
                <a:endParaRPr lang="en-US" sz="2400" dirty="0"/>
              </a:p>
            </p:txBody>
          </p:sp>
        </mc:Choice>
        <mc:Fallback>
          <p:sp>
            <p:nvSpPr>
              <p:cNvPr id="8" name="Rectangle 7"/>
              <p:cNvSpPr>
                <a:spLocks noRot="1" noChangeAspect="1" noMove="1" noResize="1" noEditPoints="1" noAdjustHandles="1" noChangeArrowheads="1" noChangeShapeType="1" noTextEdit="1"/>
              </p:cNvSpPr>
              <p:nvPr/>
            </p:nvSpPr>
            <p:spPr>
              <a:xfrm>
                <a:off x="551014" y="4381229"/>
                <a:ext cx="8074150" cy="1468672"/>
              </a:xfrm>
              <a:prstGeom prst="rect">
                <a:avLst/>
              </a:prstGeom>
              <a:blipFill>
                <a:blip r:embed="rId7"/>
                <a:stretch>
                  <a:fillRect l="-904" t="-2881"/>
                </a:stretch>
              </a:blipFill>
              <a:l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20900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105922"/>
                <a:ext cx="8229600" cy="712918"/>
              </a:xfrm>
            </p:spPr>
            <p:txBody>
              <a:bodyPr>
                <a:normAutofit fontScale="90000"/>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105922"/>
                <a:ext cx="8229600" cy="712918"/>
              </a:xfrm>
              <a:blipFill>
                <a:blip r:embed="rId3"/>
                <a:stretch>
                  <a:fillRect l="-2889" t="-20513" b="-4188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412822" y="1044621"/>
                <a:ext cx="8074150" cy="1124603"/>
              </a:xfrm>
              <a:prstGeom prst="rect">
                <a:avLst/>
              </a:prstGeom>
              <a:ln>
                <a:solidFill>
                  <a:schemeClr val="accent1"/>
                </a:solidFill>
              </a:ln>
            </p:spPr>
            <p:txBody>
              <a:bodyPr wrap="square">
                <a:spAutoFit/>
              </a:bodyPr>
              <a:lstStyle/>
              <a:p>
                <a:pPr marL="457200" indent="-457200">
                  <a:buFont typeface="Arial" panose="020B0604020202020204" pitchFamily="34" charset="0"/>
                  <a:buChar char="•"/>
                </a:pPr>
                <a:r>
                  <a:rPr lang="en-US" b="0" dirty="0"/>
                  <a:t>Taking the real value of </a:t>
                </a:r>
                <a:r>
                  <a:rPr lang="en-US" b="0" i="1" dirty="0"/>
                  <a:t>s(t)</a:t>
                </a:r>
                <a:r>
                  <a:rPr lang="en-US" b="0" dirty="0"/>
                  <a:t>, we get</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𝑛</m:t>
                          </m:r>
                          <m:r>
                            <a:rPr lang="en-US" i="0">
                              <a:latin typeface="Cambria Math" panose="02040503050406030204" pitchFamily="18" charset="0"/>
                            </a:rPr>
                            <m:t>=−∞</m:t>
                          </m:r>
                        </m:sub>
                        <m:sup>
                          <m:r>
                            <a:rPr lang="en-US" i="0">
                              <a:latin typeface="Cambria Math" panose="02040503050406030204" pitchFamily="18" charset="0"/>
                            </a:rPr>
                            <m:t>∞</m:t>
                          </m:r>
                        </m:sup>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𝑐</m:t>
                              </m:r>
                            </m:sub>
                          </m:sSub>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𝑛</m:t>
                              </m:r>
                            </m:sub>
                          </m:sSub>
                          <m:r>
                            <a:rPr lang="en-US" i="0">
                              <a:latin typeface="Cambria Math" panose="02040503050406030204" pitchFamily="18" charset="0"/>
                            </a:rPr>
                            <m:t>(</m:t>
                          </m:r>
                          <m:r>
                            <a:rPr lang="en-US" i="1">
                              <a:latin typeface="Cambria Math" panose="02040503050406030204" pitchFamily="18" charset="0"/>
                            </a:rPr>
                            <m:t>𝛽</m:t>
                          </m:r>
                          <m:r>
                            <a:rPr lang="en-US" i="0">
                              <a:latin typeface="Cambria Math" panose="02040503050406030204" pitchFamily="18" charset="0"/>
                            </a:rPr>
                            <m:t>)</m:t>
                          </m:r>
                          <m:r>
                            <m:rPr>
                              <m:sty m:val="p"/>
                            </m:rPr>
                            <a:rPr lang="en-US" i="0">
                              <a:latin typeface="Cambria Math" panose="02040503050406030204" pitchFamily="18" charset="0"/>
                            </a:rPr>
                            <m:t>cos</m:t>
                          </m:r>
                          <m:d>
                            <m:dPr>
                              <m:ctrlPr>
                                <a:rPr lang="en-US" i="1">
                                  <a:latin typeface="Cambria Math" panose="02040503050406030204" pitchFamily="18" charset="0"/>
                                </a:rPr>
                              </m:ctrlPr>
                            </m:dPr>
                            <m:e>
                              <m:r>
                                <a:rPr lang="en-US" i="0">
                                  <a:latin typeface="Cambria Math" panose="02040503050406030204" pitchFamily="18" charset="0"/>
                                </a:rPr>
                                <m:t>2</m:t>
                              </m:r>
                              <m:r>
                                <a:rPr lang="en-US" i="1">
                                  <a:latin typeface="Cambria Math" panose="02040503050406030204" pitchFamily="18" charset="0"/>
                                </a:rPr>
                                <m:t>𝜋</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𝑐</m:t>
                                  </m:r>
                                </m:sub>
                              </m:sSub>
                              <m:r>
                                <a:rPr lang="en-US" i="0">
                                  <a:latin typeface="Cambria Math" panose="02040503050406030204" pitchFamily="18" charset="0"/>
                                </a:rPr>
                                <m:t>+</m:t>
                              </m:r>
                              <m:r>
                                <a:rPr lang="en-US" i="1">
                                  <a:latin typeface="Cambria Math" panose="02040503050406030204" pitchFamily="18" charset="0"/>
                                </a:rPr>
                                <m:t>𝑛</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i="0">
                                  <a:latin typeface="Cambria Math" panose="02040503050406030204" pitchFamily="18" charset="0"/>
                                </a:rPr>
                                <m:t>)</m:t>
                              </m:r>
                              <m:r>
                                <a:rPr lang="en-US" i="1">
                                  <a:latin typeface="Cambria Math" panose="02040503050406030204" pitchFamily="18" charset="0"/>
                                </a:rPr>
                                <m:t>𝑡</m:t>
                              </m:r>
                            </m:e>
                          </m:d>
                        </m:e>
                      </m:nary>
                    </m:oMath>
                  </m:oMathPara>
                </a14:m>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412822" y="1044621"/>
                <a:ext cx="8074150" cy="1124603"/>
              </a:xfrm>
              <a:prstGeom prst="rect">
                <a:avLst/>
              </a:prstGeom>
              <a:blipFill>
                <a:blip r:embed="rId4"/>
                <a:stretch>
                  <a:fillRect l="-452" t="-2139"/>
                </a:stretch>
              </a:blipFill>
              <a:ln>
                <a:solidFill>
                  <a:schemeClr val="accent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319364" y="2653677"/>
                <a:ext cx="8367436"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angle-modulated signal contains all frequencies of the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a:latin typeface="Cambria Math" panose="02040503050406030204" pitchFamily="18" charset="0"/>
                      </a:rPr>
                      <m:t>+</m:t>
                    </m:r>
                    <m:r>
                      <a:rPr lang="en-US" sz="2400" i="1">
                        <a:latin typeface="Cambria Math" panose="02040503050406030204" pitchFamily="18" charset="0"/>
                      </a:rPr>
                      <m:t>𝑛</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oMath>
                </a14:m>
                <a:r>
                  <a:rPr lang="en-US" sz="2400" dirty="0"/>
                  <a:t> for </a:t>
                </a:r>
                <a14:m>
                  <m:oMath xmlns:m="http://schemas.openxmlformats.org/officeDocument/2006/math">
                    <m:r>
                      <a:rPr lang="en-US" sz="2400" i="1">
                        <a:latin typeface="Cambria Math" panose="02040503050406030204" pitchFamily="18" charset="0"/>
                      </a:rPr>
                      <m:t>𝑛</m:t>
                    </m:r>
                    <m:r>
                      <a:rPr lang="en-US" sz="2400">
                        <a:latin typeface="Cambria Math" panose="02040503050406030204" pitchFamily="18" charset="0"/>
                      </a:rPr>
                      <m:t>=0,±1,±2,...</m:t>
                    </m:r>
                  </m:oMath>
                </a14:m>
                <a:endParaRPr lang="en-US" sz="2400" dirty="0"/>
              </a:p>
              <a:p>
                <a:pPr marL="285750" indent="-285750">
                  <a:buFont typeface="Arial" panose="020B0604020202020204" pitchFamily="34" charset="0"/>
                  <a:buChar char="•"/>
                </a:pPr>
                <a:r>
                  <a:rPr lang="en-US" sz="2400" dirty="0"/>
                  <a:t>This means the actual bandwidth of the </a:t>
                </a:r>
                <a:r>
                  <a:rPr lang="en-US" sz="2400" i="1" dirty="0"/>
                  <a:t>s(t)</a:t>
                </a:r>
                <a:r>
                  <a:rPr lang="en-US" sz="2400" dirty="0"/>
                  <a:t> is infinite.</a:t>
                </a:r>
              </a:p>
              <a:p>
                <a:pPr marL="285750" indent="-285750">
                  <a:buFont typeface="Arial" panose="020B0604020202020204" pitchFamily="34" charset="0"/>
                  <a:buChar char="•"/>
                </a:pPr>
                <a:r>
                  <a:rPr lang="en-US" sz="2400" dirty="0"/>
                  <a:t>However, the amplitude for sinusoidal components with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𝑐</m:t>
                        </m:r>
                      </m:sub>
                    </m:sSub>
                    <m:r>
                      <a:rPr lang="en-US" sz="2400">
                        <a:latin typeface="Cambria Math" panose="02040503050406030204" pitchFamily="18" charset="0"/>
                      </a:rPr>
                      <m:t>±</m:t>
                    </m:r>
                    <m:r>
                      <a:rPr lang="en-US" sz="2400" i="1">
                        <a:latin typeface="Cambria Math" panose="02040503050406030204" pitchFamily="18" charset="0"/>
                      </a:rPr>
                      <m:t>𝑛</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oMath>
                </a14:m>
                <a:r>
                  <a:rPr lang="en-US" sz="2400" dirty="0"/>
                  <a:t> for large n is small so effective bandwidth is define for </a:t>
                </a:r>
                <a:r>
                  <a:rPr lang="en-US" sz="2400" i="1" dirty="0"/>
                  <a:t>s(t).</a:t>
                </a:r>
              </a:p>
            </p:txBody>
          </p:sp>
        </mc:Choice>
        <mc:Fallback>
          <p:sp>
            <p:nvSpPr>
              <p:cNvPr id="9" name="TextBox 8"/>
              <p:cNvSpPr txBox="1">
                <a:spLocks noRot="1" noChangeAspect="1" noMove="1" noResize="1" noEditPoints="1" noAdjustHandles="1" noChangeArrowheads="1" noChangeShapeType="1" noTextEdit="1"/>
              </p:cNvSpPr>
              <p:nvPr/>
            </p:nvSpPr>
            <p:spPr>
              <a:xfrm>
                <a:off x="319364" y="2653677"/>
                <a:ext cx="8367436" cy="1938992"/>
              </a:xfrm>
              <a:prstGeom prst="rect">
                <a:avLst/>
              </a:prstGeom>
              <a:blipFill>
                <a:blip r:embed="rId5"/>
                <a:stretch>
                  <a:fillRect l="-947" t="-2516" b="-6289"/>
                </a:stretch>
              </a:blipFill>
            </p:spPr>
            <p:txBody>
              <a:bodyPr/>
              <a:lstStyle/>
              <a:p>
                <a:r>
                  <a:rPr lang="en-US">
                    <a:noFill/>
                  </a:rPr>
                  <a:t> </a:t>
                </a:r>
              </a:p>
            </p:txBody>
          </p:sp>
        </mc:Fallback>
      </mc:AlternateContent>
      <p:sp>
        <p:nvSpPr>
          <p:cNvPr id="10" name="TextBox 9"/>
          <p:cNvSpPr txBox="1"/>
          <p:nvPr/>
        </p:nvSpPr>
        <p:spPr>
          <a:xfrm>
            <a:off x="260421" y="2281050"/>
            <a:ext cx="774571" cy="369332"/>
          </a:xfrm>
          <a:prstGeom prst="rect">
            <a:avLst/>
          </a:prstGeom>
          <a:noFill/>
        </p:spPr>
        <p:txBody>
          <a:bodyPr wrap="none" rtlCol="0">
            <a:spAutoFit/>
          </a:bodyPr>
          <a:lstStyle/>
          <a:p>
            <a:r>
              <a:rPr lang="en-US" b="1" dirty="0">
                <a:solidFill>
                  <a:srgbClr val="FF0000"/>
                </a:solidFill>
              </a:rPr>
              <a:t>Note:</a:t>
            </a:r>
          </a:p>
        </p:txBody>
      </p:sp>
      <p:sp>
        <p:nvSpPr>
          <p:cNvPr id="11" name="TextBox 10"/>
          <p:cNvSpPr txBox="1"/>
          <p:nvPr/>
        </p:nvSpPr>
        <p:spPr>
          <a:xfrm>
            <a:off x="7449671" y="1156447"/>
            <a:ext cx="764761" cy="369332"/>
          </a:xfrm>
          <a:prstGeom prst="rect">
            <a:avLst/>
          </a:prstGeom>
          <a:noFill/>
          <a:ln>
            <a:solidFill>
              <a:srgbClr val="FF0000"/>
            </a:solidFill>
          </a:ln>
        </p:spPr>
        <p:txBody>
          <a:bodyPr wrap="none" rtlCol="0">
            <a:spAutoFit/>
          </a:bodyPr>
          <a:lstStyle/>
          <a:p>
            <a:r>
              <a:rPr lang="en-US" b="1" dirty="0">
                <a:solidFill>
                  <a:srgbClr val="FF0000"/>
                </a:solidFill>
              </a:rPr>
              <a:t>Eqn. 5</a:t>
            </a:r>
          </a:p>
        </p:txBody>
      </p:sp>
      <p:sp>
        <p:nvSpPr>
          <p:cNvPr id="12" name="TextBox 11"/>
          <p:cNvSpPr txBox="1"/>
          <p:nvPr/>
        </p:nvSpPr>
        <p:spPr>
          <a:xfrm>
            <a:off x="319364" y="4592669"/>
            <a:ext cx="3463320" cy="369332"/>
          </a:xfrm>
          <a:prstGeom prst="rect">
            <a:avLst/>
          </a:prstGeom>
          <a:noFill/>
        </p:spPr>
        <p:txBody>
          <a:bodyPr wrap="none" rtlCol="0">
            <a:spAutoFit/>
          </a:bodyPr>
          <a:lstStyle/>
          <a:p>
            <a:r>
              <a:rPr lang="en-US" b="1" dirty="0">
                <a:solidFill>
                  <a:srgbClr val="FF0000"/>
                </a:solidFill>
              </a:rPr>
              <a:t>A simple expansion of Eqn. 5 gives</a:t>
            </a:r>
          </a:p>
        </p:txBody>
      </p:sp>
      <p:pic>
        <p:nvPicPr>
          <p:cNvPr id="13" name="Picture 12"/>
          <p:cNvPicPr>
            <a:picLocks noChangeAspect="1"/>
          </p:cNvPicPr>
          <p:nvPr/>
        </p:nvPicPr>
        <p:blipFill>
          <a:blip r:embed="rId6"/>
          <a:stretch>
            <a:fillRect/>
          </a:stretch>
        </p:blipFill>
        <p:spPr>
          <a:xfrm>
            <a:off x="425640" y="4898567"/>
            <a:ext cx="8292720" cy="1395561"/>
          </a:xfrm>
          <a:prstGeom prst="rect">
            <a:avLst/>
          </a:prstGeom>
        </p:spPr>
      </p:pic>
    </p:spTree>
    <p:extLst>
      <p:ext uri="{BB962C8B-B14F-4D97-AF65-F5344CB8AC3E}">
        <p14:creationId xmlns:p14="http://schemas.microsoft.com/office/powerpoint/2010/main" val="308912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105922"/>
                <a:ext cx="8229600" cy="712918"/>
              </a:xfrm>
            </p:spPr>
            <p:txBody>
              <a:bodyPr>
                <a:normAutofit fontScale="90000"/>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105922"/>
                <a:ext cx="8229600" cy="712918"/>
              </a:xfrm>
              <a:blipFill>
                <a:blip r:embed="rId3"/>
                <a:stretch>
                  <a:fillRect l="-2889" t="-20513" b="-41880"/>
                </a:stretch>
              </a:blipFill>
            </p:spPr>
            <p:txBody>
              <a:bodyPr/>
              <a:lstStyle/>
              <a:p>
                <a:r>
                  <a:rPr lang="en-US">
                    <a:noFill/>
                  </a:rPr>
                  <a:t> </a:t>
                </a:r>
              </a:p>
            </p:txBody>
          </p:sp>
        </mc:Fallback>
      </mc:AlternateContent>
      <p:sp>
        <p:nvSpPr>
          <p:cNvPr id="12" name="TextBox 11"/>
          <p:cNvSpPr txBox="1"/>
          <p:nvPr/>
        </p:nvSpPr>
        <p:spPr>
          <a:xfrm>
            <a:off x="225235" y="975411"/>
            <a:ext cx="3463320" cy="369332"/>
          </a:xfrm>
          <a:prstGeom prst="rect">
            <a:avLst/>
          </a:prstGeom>
          <a:noFill/>
        </p:spPr>
        <p:txBody>
          <a:bodyPr wrap="none" rtlCol="0">
            <a:spAutoFit/>
          </a:bodyPr>
          <a:lstStyle/>
          <a:p>
            <a:r>
              <a:rPr lang="en-US" b="1" dirty="0">
                <a:solidFill>
                  <a:srgbClr val="FF0000"/>
                </a:solidFill>
              </a:rPr>
              <a:t>A simple expansion of Eqn. 5 gives</a:t>
            </a:r>
          </a:p>
        </p:txBody>
      </p:sp>
      <p:pic>
        <p:nvPicPr>
          <p:cNvPr id="13" name="Picture 12"/>
          <p:cNvPicPr>
            <a:picLocks noChangeAspect="1"/>
          </p:cNvPicPr>
          <p:nvPr/>
        </p:nvPicPr>
        <p:blipFill>
          <a:blip r:embed="rId4"/>
          <a:stretch>
            <a:fillRect/>
          </a:stretch>
        </p:blipFill>
        <p:spPr>
          <a:xfrm>
            <a:off x="394080" y="1396525"/>
            <a:ext cx="8292720" cy="1395561"/>
          </a:xfrm>
          <a:prstGeom prst="rect">
            <a:avLst/>
          </a:prstGeom>
        </p:spPr>
      </p:pic>
      <mc:AlternateContent xmlns:mc="http://schemas.openxmlformats.org/markup-compatibility/2006">
        <mc:Choice xmlns:a14="http://schemas.microsoft.com/office/drawing/2010/main" Requires="a14">
          <p:sp>
            <p:nvSpPr>
              <p:cNvPr id="3" name="TextBox 2"/>
              <p:cNvSpPr txBox="1"/>
              <p:nvPr/>
            </p:nvSpPr>
            <p:spPr>
              <a:xfrm>
                <a:off x="235737" y="2954672"/>
                <a:ext cx="8935908" cy="400110"/>
              </a:xfrm>
              <a:prstGeom prst="rect">
                <a:avLst/>
              </a:prstGeom>
              <a:noFill/>
            </p:spPr>
            <p:txBody>
              <a:bodyPr wrap="square" rtlCol="0">
                <a:spAutoFit/>
              </a:bodyPr>
              <a:lstStyle/>
              <a:p>
                <a:r>
                  <a:rPr lang="en-US" sz="2000" dirty="0"/>
                  <a:t>Where </a:t>
                </a:r>
                <a14:m>
                  <m:oMath xmlns:m="http://schemas.openxmlformats.org/officeDocument/2006/math">
                    <m:d>
                      <m:dPr>
                        <m:beg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𝐽</m:t>
                            </m:r>
                          </m:e>
                          <m:sub>
                            <m:r>
                              <a:rPr lang="en-US" sz="2000" i="1">
                                <a:latin typeface="Cambria Math" panose="02040503050406030204" pitchFamily="18" charset="0"/>
                              </a:rPr>
                              <m:t>𝑛</m:t>
                            </m:r>
                          </m:sub>
                        </m:sSub>
                        <m:r>
                          <a:rPr lang="en-US" sz="2000">
                            <a:latin typeface="Cambria Math" panose="02040503050406030204" pitchFamily="18" charset="0"/>
                          </a:rPr>
                          <m:t>(</m:t>
                        </m:r>
                        <m:r>
                          <a:rPr lang="en-US" sz="2000" i="1">
                            <a:latin typeface="Cambria Math" panose="02040503050406030204" pitchFamily="18" charset="0"/>
                          </a:rPr>
                          <m:t>𝛽</m:t>
                        </m:r>
                      </m:e>
                    </m:d>
                  </m:oMath>
                </a14:m>
                <a:r>
                  <a:rPr lang="en-US" sz="2000" dirty="0"/>
                  <a:t> is Bessel function of the first kind with integer order n for values of </a:t>
                </a:r>
                <a14:m>
                  <m:oMath xmlns:m="http://schemas.openxmlformats.org/officeDocument/2006/math">
                    <m:r>
                      <a:rPr lang="en-US" sz="2000" i="1">
                        <a:latin typeface="Cambria Math" panose="02040503050406030204" pitchFamily="18" charset="0"/>
                      </a:rPr>
                      <m:t>𝛽</m:t>
                    </m:r>
                  </m:oMath>
                </a14:m>
                <a:r>
                  <a:rPr lang="en-US" sz="2000" dirty="0"/>
                  <a:t>.  </a:t>
                </a:r>
              </a:p>
            </p:txBody>
          </p:sp>
        </mc:Choice>
        <mc:Fallback>
          <p:sp>
            <p:nvSpPr>
              <p:cNvPr id="3" name="TextBox 2"/>
              <p:cNvSpPr txBox="1">
                <a:spLocks noRot="1" noChangeAspect="1" noMove="1" noResize="1" noEditPoints="1" noAdjustHandles="1" noChangeArrowheads="1" noChangeShapeType="1" noTextEdit="1"/>
              </p:cNvSpPr>
              <p:nvPr/>
            </p:nvSpPr>
            <p:spPr>
              <a:xfrm>
                <a:off x="235737" y="2954672"/>
                <a:ext cx="8935908" cy="400110"/>
              </a:xfrm>
              <a:prstGeom prst="rect">
                <a:avLst/>
              </a:prstGeom>
              <a:blipFill>
                <a:blip r:embed="rId5"/>
                <a:stretch>
                  <a:fillRect l="-750" t="-127692" b="-19384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5"/>
              <p:cNvSpPr/>
              <p:nvPr/>
            </p:nvSpPr>
            <p:spPr>
              <a:xfrm>
                <a:off x="235736" y="3354782"/>
                <a:ext cx="8733451" cy="2246769"/>
              </a:xfrm>
              <a:prstGeom prst="rect">
                <a:avLst/>
              </a:prstGeom>
            </p:spPr>
            <p:txBody>
              <a:bodyPr wrap="square">
                <a:spAutoFit/>
              </a:bodyPr>
              <a:lstStyle/>
              <a:p>
                <a:pPr marL="285750" indent="-285750">
                  <a:buClr>
                    <a:schemeClr val="accent1"/>
                  </a:buClr>
                  <a:buFont typeface="Wingdings" panose="05000000000000000000" pitchFamily="2" charset="2"/>
                  <a:buChar char="§"/>
                </a:pPr>
                <a:r>
                  <a:rPr lang="en-US" sz="2000" dirty="0"/>
                  <a:t>The sinusoidal modulated AM signal has only three spectral components at </a:t>
                </a:r>
                <a:r>
                  <a:rPr lang="en-US" sz="2000" dirty="0" err="1"/>
                  <a:t>freqs</a:t>
                </a:r>
                <a:r>
                  <a:rPr lang="en-US" sz="2000" dirty="0"/>
                  <a:t>.:</a:t>
                </a:r>
              </a:p>
              <a:p>
                <a:pPr marL="742950" lvl="1" indent="-285750">
                  <a:buClr>
                    <a:schemeClr val="accent1"/>
                  </a:buClr>
                  <a:buFont typeface="Courier New" panose="02070309020205020404" pitchFamily="49" charset="0"/>
                  <a:buChar char="o"/>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𝑐</m:t>
                        </m:r>
                      </m:sub>
                    </m:sSub>
                    <m:r>
                      <a:rPr lang="en-US" sz="2000">
                        <a:latin typeface="Cambria Math" panose="02040503050406030204" pitchFamily="18" charset="0"/>
                      </a:rPr>
                      <m:t>,</m:t>
                    </m:r>
                    <m:r>
                      <m:rPr>
                        <m:nor/>
                      </m:rPr>
                      <a:rPr lang="en-US" sz="2000" i="1">
                        <a:latin typeface="Cambria Math" panose="02040503050406030204" pitchFamily="18" charset="0"/>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𝑐</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𝑚</m:t>
                            </m:r>
                          </m:sub>
                        </m:sSub>
                      </m:e>
                    </m:d>
                    <m:r>
                      <m:rPr>
                        <m:nor/>
                      </m:rPr>
                      <a:rPr lang="en-US" sz="2000" i="1">
                        <a:latin typeface="Cambria Math" panose="02040503050406030204" pitchFamily="18" charset="0"/>
                      </a:rPr>
                      <m:t> </m:t>
                    </m:r>
                    <m:r>
                      <m:rPr>
                        <m:nor/>
                      </m:rPr>
                      <a:rPr lang="en-US" sz="2000">
                        <a:latin typeface="Cambria Math" panose="02040503050406030204" pitchFamily="18" charset="0"/>
                      </a:rPr>
                      <m:t>and</m:t>
                    </m:r>
                    <m:r>
                      <m:rPr>
                        <m:nor/>
                      </m:rPr>
                      <a:rPr lang="en-US" sz="2000">
                        <a:latin typeface="Cambria Math" panose="02040503050406030204" pitchFamily="18" charset="0"/>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𝑐</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𝑚</m:t>
                            </m:r>
                          </m:sub>
                        </m:sSub>
                      </m:e>
                    </m:d>
                  </m:oMath>
                </a14:m>
                <a:endParaRPr lang="en-US" sz="2000" dirty="0"/>
              </a:p>
              <a:p>
                <a:pPr marL="285750" indent="-285750">
                  <a:buClr>
                    <a:schemeClr val="accent1"/>
                  </a:buClr>
                  <a:buFont typeface="Courier New" panose="02070309020205020404" pitchFamily="49" charset="0"/>
                  <a:buChar char="o"/>
                </a:pPr>
                <a:r>
                  <a:rPr lang="en-US" sz="2000" dirty="0"/>
                  <a:t>The FM wave has spectral components at all the frequencies, </a:t>
                </a:r>
                <a14:m>
                  <m:oMath xmlns:m="http://schemas.openxmlformats.org/officeDocument/2006/math">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𝑐</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r>
                              <a:rPr lang="en-US" sz="2000" i="1">
                                <a:latin typeface="Cambria Math" panose="02040503050406030204" pitchFamily="18" charset="0"/>
                              </a:rPr>
                              <m:t>𝑓</m:t>
                            </m:r>
                          </m:e>
                          <m:sub>
                            <m:r>
                              <a:rPr lang="en-US" sz="2000" i="1">
                                <a:latin typeface="Cambria Math" panose="02040503050406030204" pitchFamily="18" charset="0"/>
                              </a:rPr>
                              <m:t>𝑚</m:t>
                            </m:r>
                          </m:sub>
                        </m:sSub>
                      </m:e>
                    </m:d>
                  </m:oMath>
                </a14:m>
                <a:r>
                  <a:rPr lang="en-US" sz="2000" dirty="0"/>
                  <a:t> , where </a:t>
                </a:r>
                <a:r>
                  <a:rPr lang="en-US" sz="2000" i="1" dirty="0"/>
                  <a:t>n</a:t>
                </a:r>
                <a:r>
                  <a:rPr lang="en-US" sz="2000" dirty="0"/>
                  <a:t> can be any integer from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m:rPr>
                        <m:sty m:val="p"/>
                      </m:rPr>
                      <a:rPr lang="en-US" sz="2000" i="0">
                        <a:latin typeface="Cambria Math" panose="02040503050406030204" pitchFamily="18" charset="0"/>
                        <a:ea typeface="Cambria Math" panose="02040503050406030204" pitchFamily="18" charset="0"/>
                      </a:rPr>
                      <m:t>to</m:t>
                    </m:r>
                    <m:r>
                      <a:rPr lang="en-US" sz="2000" i="1">
                        <a:latin typeface="Cambria Math" panose="02040503050406030204" pitchFamily="18" charset="0"/>
                        <a:ea typeface="Cambria Math" panose="02040503050406030204" pitchFamily="18" charset="0"/>
                      </a:rPr>
                      <m:t>+∞</m:t>
                    </m:r>
                  </m:oMath>
                </a14:m>
                <a:r>
                  <a:rPr lang="en-US" sz="2000" dirty="0"/>
                  <a:t> . </a:t>
                </a:r>
              </a:p>
              <a:p>
                <a:pPr marL="285750" indent="-285750">
                  <a:buClr>
                    <a:schemeClr val="accent1"/>
                  </a:buClr>
                  <a:buFont typeface="Courier New" panose="02070309020205020404" pitchFamily="49" charset="0"/>
                  <a:buChar char="o"/>
                </a:pPr>
                <a:r>
                  <a:rPr lang="en-US" sz="2000" dirty="0"/>
                  <a:t>This means that, a system has to provide an infinite bandwidth to carry an accurate FM (or PM) signal! </a:t>
                </a:r>
                <a:endParaRPr lang="en-US" sz="2000" dirty="0"/>
              </a:p>
            </p:txBody>
          </p:sp>
        </mc:Choice>
        <mc:Fallback>
          <p:sp>
            <p:nvSpPr>
              <p:cNvPr id="6" name="Rectangle 5"/>
              <p:cNvSpPr>
                <a:spLocks noRot="1" noChangeAspect="1" noMove="1" noResize="1" noEditPoints="1" noAdjustHandles="1" noChangeArrowheads="1" noChangeShapeType="1" noTextEdit="1"/>
              </p:cNvSpPr>
              <p:nvPr/>
            </p:nvSpPr>
            <p:spPr>
              <a:xfrm>
                <a:off x="235736" y="3354782"/>
                <a:ext cx="8733451" cy="2246769"/>
              </a:xfrm>
              <a:prstGeom prst="rect">
                <a:avLst/>
              </a:prstGeom>
              <a:blipFill>
                <a:blip r:embed="rId6"/>
                <a:stretch>
                  <a:fillRect l="-698" t="-1355" b="-3794"/>
                </a:stretch>
              </a:blipFill>
            </p:spPr>
            <p:txBody>
              <a:bodyPr/>
              <a:lstStyle/>
              <a:p>
                <a:r>
                  <a:rPr lang="en-US">
                    <a:noFill/>
                  </a:rPr>
                  <a:t> </a:t>
                </a:r>
              </a:p>
            </p:txBody>
          </p:sp>
        </mc:Fallback>
      </mc:AlternateContent>
    </p:spTree>
    <p:extLst>
      <p:ext uri="{BB962C8B-B14F-4D97-AF65-F5344CB8AC3E}">
        <p14:creationId xmlns:p14="http://schemas.microsoft.com/office/powerpoint/2010/main" val="1210611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105922"/>
                <a:ext cx="8229600" cy="712918"/>
              </a:xfrm>
            </p:spPr>
            <p:txBody>
              <a:bodyPr>
                <a:normAutofit fontScale="90000"/>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105922"/>
                <a:ext cx="8229600" cy="712918"/>
              </a:xfrm>
              <a:blipFill>
                <a:blip r:embed="rId3"/>
                <a:stretch>
                  <a:fillRect l="-2889" t="-20513" b="-418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4150" y="818840"/>
                <a:ext cx="8229600" cy="4525963"/>
              </a:xfrm>
            </p:spPr>
            <p:txBody>
              <a:bodyPr/>
              <a:lstStyle/>
              <a:p>
                <a:r>
                  <a:rPr lang="en-US" sz="2800" dirty="0"/>
                  <a:t>The plot below is </a:t>
                </a:r>
                <a14:m>
                  <m:oMath xmlns:m="http://schemas.openxmlformats.org/officeDocument/2006/math">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𝐽</m:t>
                            </m:r>
                          </m:e>
                          <m:sub>
                            <m:r>
                              <a:rPr lang="en-US" sz="2800" i="1">
                                <a:latin typeface="Cambria Math" panose="02040503050406030204" pitchFamily="18" charset="0"/>
                              </a:rPr>
                              <m:t>𝑛</m:t>
                            </m:r>
                          </m:sub>
                        </m:sSub>
                        <m:r>
                          <a:rPr lang="en-US" sz="2800">
                            <a:latin typeface="Cambria Math" panose="02040503050406030204" pitchFamily="18" charset="0"/>
                          </a:rPr>
                          <m:t>(</m:t>
                        </m:r>
                        <m:r>
                          <a:rPr lang="en-US" sz="2800" i="1">
                            <a:latin typeface="Cambria Math" panose="02040503050406030204" pitchFamily="18" charset="0"/>
                          </a:rPr>
                          <m:t>𝛽</m:t>
                        </m:r>
                      </m:e>
                    </m:d>
                  </m:oMath>
                </a14:m>
                <a:r>
                  <a:rPr lang="en-US" sz="2800" dirty="0"/>
                  <a:t> for different </a:t>
                </a:r>
                <a:r>
                  <a:rPr lang="en-US" sz="2800" i="1" dirty="0"/>
                  <a:t>n </a:t>
                </a:r>
                <a:r>
                  <a:rPr lang="en-US" sz="2800" dirty="0"/>
                  <a:t>and </a:t>
                </a:r>
                <a14:m>
                  <m:oMath xmlns:m="http://schemas.openxmlformats.org/officeDocument/2006/math">
                    <m:r>
                      <a:rPr lang="en-US" sz="2800" i="1">
                        <a:latin typeface="Cambria Math" panose="02040503050406030204" pitchFamily="18" charset="0"/>
                      </a:rPr>
                      <m:t>𝛽</m:t>
                    </m:r>
                  </m:oMath>
                </a14:m>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4150" y="818840"/>
                <a:ext cx="8229600" cy="4525963"/>
              </a:xfrm>
              <a:blipFill>
                <a:blip r:embed="rId4"/>
                <a:stretch>
                  <a:fillRect l="-1259" t="-1346"/>
                </a:stretch>
              </a:blipFill>
            </p:spPr>
            <p:txBody>
              <a:bodyPr/>
              <a:lstStyle/>
              <a:p>
                <a:r>
                  <a:rPr lang="en-US">
                    <a:noFill/>
                  </a:rPr>
                  <a:t> </a:t>
                </a:r>
              </a:p>
            </p:txBody>
          </p:sp>
        </mc:Fallback>
      </mc:AlternateContent>
      <p:pic>
        <p:nvPicPr>
          <p:cNvPr id="4" name="Picture 3"/>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bright="-20000" contrast="40000"/>
                    </a14:imgEffect>
                  </a14:imgLayer>
                </a14:imgProps>
              </a:ext>
            </a:extLst>
          </a:blip>
          <a:stretch>
            <a:fillRect/>
          </a:stretch>
        </p:blipFill>
        <p:spPr>
          <a:xfrm>
            <a:off x="386609" y="2209800"/>
            <a:ext cx="8364682" cy="4494068"/>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2605945" y="1351153"/>
                <a:ext cx="3926010" cy="6905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𝐽</m:t>
                          </m:r>
                        </m:e>
                        <m:sub>
                          <m:r>
                            <a:rPr lang="en-US" i="1">
                              <a:latin typeface="Cambria Math" panose="02040503050406030204" pitchFamily="18" charset="0"/>
                            </a:rPr>
                            <m:t>𝑛</m:t>
                          </m:r>
                        </m:sub>
                      </m:sSub>
                      <m:r>
                        <a:rPr lang="en-US" i="0">
                          <a:latin typeface="Cambria Math" panose="02040503050406030204" pitchFamily="18" charset="0"/>
                        </a:rPr>
                        <m:t>(</m:t>
                      </m:r>
                      <m:r>
                        <a:rPr lang="en-US" i="1">
                          <a:latin typeface="Cambria Math" panose="02040503050406030204" pitchFamily="18" charset="0"/>
                        </a:rPr>
                        <m:t>𝛽</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2</m:t>
                          </m:r>
                          <m:r>
                            <a:rPr lang="en-US" i="1">
                              <a:latin typeface="Cambria Math" panose="02040503050406030204" pitchFamily="18" charset="0"/>
                            </a:rPr>
                            <m:t>𝜋</m:t>
                          </m:r>
                        </m:den>
                      </m:f>
                      <m:nary>
                        <m:naryPr>
                          <m:limLoc m:val="subSup"/>
                          <m:grow m:val="on"/>
                          <m:ctrlPr>
                            <a:rPr lang="en-US" i="1">
                              <a:latin typeface="Cambria Math" panose="02040503050406030204" pitchFamily="18" charset="0"/>
                            </a:rPr>
                          </m:ctrlPr>
                        </m:naryPr>
                        <m:sub>
                          <m:r>
                            <a:rPr lang="en-US" i="0">
                              <a:latin typeface="Cambria Math" panose="02040503050406030204" pitchFamily="18" charset="0"/>
                            </a:rPr>
                            <m:t>−</m:t>
                          </m:r>
                          <m:r>
                            <a:rPr lang="en-US" i="1">
                              <a:latin typeface="Cambria Math" panose="02040503050406030204" pitchFamily="18" charset="0"/>
                            </a:rPr>
                            <m:t>𝜋</m:t>
                          </m:r>
                        </m:sub>
                        <m:sup>
                          <m:r>
                            <a:rPr lang="en-US" i="1">
                              <a:latin typeface="Cambria Math" panose="02040503050406030204" pitchFamily="18" charset="0"/>
                            </a:rPr>
                            <m:t>𝜋</m:t>
                          </m:r>
                        </m:sup>
                        <m:e>
                          <m:r>
                            <m:rPr>
                              <m:sty m:val="p"/>
                            </m:rPr>
                            <a:rPr lang="en-US" i="0">
                              <a:latin typeface="Cambria Math" panose="02040503050406030204" pitchFamily="18" charset="0"/>
                            </a:rPr>
                            <m:t>exp</m:t>
                          </m:r>
                          <m:d>
                            <m:dPr>
                              <m:begChr m:val="["/>
                              <m:endChr m:val="]"/>
                              <m:ctrlPr>
                                <a:rPr lang="en-US" i="1">
                                  <a:latin typeface="Cambria Math" panose="02040503050406030204" pitchFamily="18" charset="0"/>
                                </a:rPr>
                              </m:ctrlPr>
                            </m:dPr>
                            <m:e>
                              <m:r>
                                <a:rPr lang="en-US" i="1">
                                  <a:latin typeface="Cambria Math" panose="02040503050406030204" pitchFamily="18" charset="0"/>
                                </a:rPr>
                                <m:t>𝑗</m:t>
                              </m:r>
                              <m:d>
                                <m:dPr>
                                  <m:ctrlPr>
                                    <a:rPr lang="en-US" i="1">
                                      <a:latin typeface="Cambria Math" panose="02040503050406030204" pitchFamily="18" charset="0"/>
                                    </a:rPr>
                                  </m:ctrlPr>
                                </m:dPr>
                                <m:e>
                                  <m:r>
                                    <a:rPr lang="en-US" i="1">
                                      <a:latin typeface="Cambria Math" panose="02040503050406030204" pitchFamily="18" charset="0"/>
                                    </a:rPr>
                                    <m:t>𝛽</m:t>
                                  </m:r>
                                  <m:r>
                                    <m:rPr>
                                      <m:sty m:val="p"/>
                                    </m:rPr>
                                    <a:rPr lang="en-US" i="0">
                                      <a:latin typeface="Cambria Math" panose="02040503050406030204" pitchFamily="18" charset="0"/>
                                    </a:rPr>
                                    <m:t>sin</m:t>
                                  </m:r>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𝑛𝑥</m:t>
                                  </m:r>
                                </m:e>
                              </m:d>
                            </m:e>
                          </m:d>
                        </m:e>
                      </m:nary>
                      <m:r>
                        <a:rPr lang="en-US" i="1">
                          <a:latin typeface="Cambria Math" panose="02040503050406030204" pitchFamily="18" charset="0"/>
                        </a:rPr>
                        <m:t>𝑑𝑥</m:t>
                      </m:r>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2605945" y="1351153"/>
                <a:ext cx="3926010" cy="690574"/>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49304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457200" y="105922"/>
                <a:ext cx="8229600" cy="712918"/>
              </a:xfrm>
            </p:spPr>
            <p:txBody>
              <a:bodyPr>
                <a:normAutofit fontScale="90000"/>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457200" y="105922"/>
                <a:ext cx="8229600" cy="712918"/>
              </a:xfrm>
              <a:blipFill>
                <a:blip r:embed="rId3"/>
                <a:stretch>
                  <a:fillRect l="-2889" t="-20513" b="-418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79672" y="907463"/>
                <a:ext cx="8229600" cy="4525963"/>
              </a:xfrm>
            </p:spPr>
            <p:txBody>
              <a:bodyPr/>
              <a:lstStyle/>
              <a:p>
                <a:r>
                  <a:rPr lang="en-US" sz="2000" dirty="0"/>
                  <a:t>The plot below is </a:t>
                </a:r>
                <a14:m>
                  <m:oMath xmlns:m="http://schemas.openxmlformats.org/officeDocument/2006/math">
                    <m:d>
                      <m:dPr>
                        <m:beg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𝐽</m:t>
                            </m:r>
                          </m:e>
                          <m:sub>
                            <m:r>
                              <a:rPr lang="en-US" sz="2000" i="1">
                                <a:latin typeface="Cambria Math" panose="02040503050406030204" pitchFamily="18" charset="0"/>
                              </a:rPr>
                              <m:t>𝑛</m:t>
                            </m:r>
                          </m:sub>
                        </m:sSub>
                        <m:r>
                          <a:rPr lang="en-US" sz="2000">
                            <a:latin typeface="Cambria Math" panose="02040503050406030204" pitchFamily="18" charset="0"/>
                          </a:rPr>
                          <m:t>(</m:t>
                        </m:r>
                        <m:r>
                          <a:rPr lang="en-US" sz="2000" i="1">
                            <a:latin typeface="Cambria Math" panose="02040503050406030204" pitchFamily="18" charset="0"/>
                          </a:rPr>
                          <m:t>𝛽</m:t>
                        </m:r>
                      </m:e>
                    </m:d>
                  </m:oMath>
                </a14:m>
                <a:r>
                  <a:rPr lang="en-US" sz="2000" dirty="0"/>
                  <a:t> for different </a:t>
                </a:r>
                <a:r>
                  <a:rPr lang="en-US" sz="2000" i="1" dirty="0"/>
                  <a:t>n </a:t>
                </a:r>
                <a:r>
                  <a:rPr lang="en-US" sz="2000" dirty="0"/>
                  <a:t>and </a:t>
                </a:r>
                <a14:m>
                  <m:oMath xmlns:m="http://schemas.openxmlformats.org/officeDocument/2006/math">
                    <m:r>
                      <a:rPr lang="en-US" sz="2000" i="1">
                        <a:latin typeface="Cambria Math" panose="02040503050406030204" pitchFamily="18" charset="0"/>
                      </a:rPr>
                      <m:t>𝛽</m:t>
                    </m:r>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79672" y="907463"/>
                <a:ext cx="8229600" cy="4525963"/>
              </a:xfrm>
              <a:blipFill>
                <a:blip r:embed="rId4"/>
                <a:stretch>
                  <a:fillRect l="-1778" t="-118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047449" y="1182378"/>
                <a:ext cx="3094052" cy="5576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𝐽</m:t>
                          </m:r>
                        </m:e>
                        <m:sub>
                          <m:r>
                            <a:rPr lang="en-US" sz="1400" i="1">
                              <a:latin typeface="Cambria Math" panose="02040503050406030204" pitchFamily="18" charset="0"/>
                            </a:rPr>
                            <m:t>𝑛</m:t>
                          </m:r>
                        </m:sub>
                      </m:sSub>
                      <m:r>
                        <a:rPr lang="en-US" sz="1400" i="0">
                          <a:latin typeface="Cambria Math" panose="02040503050406030204" pitchFamily="18" charset="0"/>
                        </a:rPr>
                        <m:t>(</m:t>
                      </m:r>
                      <m:r>
                        <a:rPr lang="en-US" sz="1400" i="1">
                          <a:latin typeface="Cambria Math" panose="02040503050406030204" pitchFamily="18" charset="0"/>
                        </a:rPr>
                        <m:t>𝛽</m:t>
                      </m:r>
                      <m:r>
                        <a:rPr lang="en-US" sz="1400" i="0">
                          <a:latin typeface="Cambria Math" panose="02040503050406030204" pitchFamily="18" charset="0"/>
                        </a:rPr>
                        <m:t>)=</m:t>
                      </m:r>
                      <m:f>
                        <m:fPr>
                          <m:ctrlPr>
                            <a:rPr lang="en-US" sz="1400" i="1">
                              <a:latin typeface="Cambria Math" panose="02040503050406030204" pitchFamily="18" charset="0"/>
                            </a:rPr>
                          </m:ctrlPr>
                        </m:fPr>
                        <m:num>
                          <m:r>
                            <a:rPr lang="en-US" sz="1400" i="0">
                              <a:latin typeface="Cambria Math" panose="02040503050406030204" pitchFamily="18" charset="0"/>
                            </a:rPr>
                            <m:t>1</m:t>
                          </m:r>
                        </m:num>
                        <m:den>
                          <m:r>
                            <a:rPr lang="en-US" sz="1400" i="0">
                              <a:latin typeface="Cambria Math" panose="02040503050406030204" pitchFamily="18" charset="0"/>
                            </a:rPr>
                            <m:t>2</m:t>
                          </m:r>
                          <m:r>
                            <a:rPr lang="en-US" sz="1400" i="1">
                              <a:latin typeface="Cambria Math" panose="02040503050406030204" pitchFamily="18" charset="0"/>
                            </a:rPr>
                            <m:t>𝜋</m:t>
                          </m:r>
                        </m:den>
                      </m:f>
                      <m:nary>
                        <m:naryPr>
                          <m:limLoc m:val="subSup"/>
                          <m:grow m:val="on"/>
                          <m:ctrlPr>
                            <a:rPr lang="en-US" sz="1400" i="1">
                              <a:latin typeface="Cambria Math" panose="02040503050406030204" pitchFamily="18" charset="0"/>
                            </a:rPr>
                          </m:ctrlPr>
                        </m:naryPr>
                        <m:sub>
                          <m:r>
                            <a:rPr lang="en-US" sz="1400" i="0">
                              <a:latin typeface="Cambria Math" panose="02040503050406030204" pitchFamily="18" charset="0"/>
                            </a:rPr>
                            <m:t>−</m:t>
                          </m:r>
                          <m:r>
                            <a:rPr lang="en-US" sz="1400" i="1">
                              <a:latin typeface="Cambria Math" panose="02040503050406030204" pitchFamily="18" charset="0"/>
                            </a:rPr>
                            <m:t>𝜋</m:t>
                          </m:r>
                        </m:sub>
                        <m:sup>
                          <m:r>
                            <a:rPr lang="en-US" sz="1400" i="1">
                              <a:latin typeface="Cambria Math" panose="02040503050406030204" pitchFamily="18" charset="0"/>
                            </a:rPr>
                            <m:t>𝜋</m:t>
                          </m:r>
                        </m:sup>
                        <m:e>
                          <m:r>
                            <m:rPr>
                              <m:sty m:val="p"/>
                            </m:rPr>
                            <a:rPr lang="en-US" sz="1400" i="0">
                              <a:latin typeface="Cambria Math" panose="02040503050406030204" pitchFamily="18" charset="0"/>
                            </a:rPr>
                            <m:t>exp</m:t>
                          </m:r>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𝑗</m:t>
                              </m:r>
                              <m:d>
                                <m:dPr>
                                  <m:ctrlPr>
                                    <a:rPr lang="en-US" sz="1400" i="1">
                                      <a:latin typeface="Cambria Math" panose="02040503050406030204" pitchFamily="18" charset="0"/>
                                    </a:rPr>
                                  </m:ctrlPr>
                                </m:dPr>
                                <m:e>
                                  <m:r>
                                    <a:rPr lang="en-US" sz="1400" i="1">
                                      <a:latin typeface="Cambria Math" panose="02040503050406030204" pitchFamily="18" charset="0"/>
                                    </a:rPr>
                                    <m:t>𝛽</m:t>
                                  </m:r>
                                  <m:r>
                                    <m:rPr>
                                      <m:sty m:val="p"/>
                                    </m:rPr>
                                    <a:rPr lang="en-US" sz="1400" i="0">
                                      <a:latin typeface="Cambria Math" panose="02040503050406030204" pitchFamily="18" charset="0"/>
                                    </a:rPr>
                                    <m:t>sin</m:t>
                                  </m:r>
                                  <m:r>
                                    <a:rPr lang="en-US" sz="1400" i="1">
                                      <a:latin typeface="Cambria Math" panose="02040503050406030204" pitchFamily="18" charset="0"/>
                                    </a:rPr>
                                    <m:t>𝑥</m:t>
                                  </m:r>
                                  <m:r>
                                    <a:rPr lang="en-US" sz="1400" i="0">
                                      <a:latin typeface="Cambria Math" panose="02040503050406030204" pitchFamily="18" charset="0"/>
                                    </a:rPr>
                                    <m:t>−</m:t>
                                  </m:r>
                                  <m:r>
                                    <a:rPr lang="en-US" sz="1400" i="1">
                                      <a:latin typeface="Cambria Math" panose="02040503050406030204" pitchFamily="18" charset="0"/>
                                    </a:rPr>
                                    <m:t>𝑛𝑥</m:t>
                                  </m:r>
                                </m:e>
                              </m:d>
                            </m:e>
                          </m:d>
                        </m:e>
                      </m:nary>
                      <m:r>
                        <a:rPr lang="en-US" sz="1400" i="1">
                          <a:latin typeface="Cambria Math" panose="02040503050406030204" pitchFamily="18" charset="0"/>
                        </a:rPr>
                        <m:t>𝑑𝑥</m:t>
                      </m:r>
                    </m:oMath>
                  </m:oMathPara>
                </a14:m>
                <a:endParaRPr lang="en-US" sz="1400" dirty="0"/>
              </a:p>
            </p:txBody>
          </p:sp>
        </mc:Choice>
        <mc:Fallback xmlns="">
          <p:sp>
            <p:nvSpPr>
              <p:cNvPr id="5" name="Rectangle 4"/>
              <p:cNvSpPr>
                <a:spLocks noRot="1" noChangeAspect="1" noMove="1" noResize="1" noEditPoints="1" noAdjustHandles="1" noChangeArrowheads="1" noChangeShapeType="1" noTextEdit="1"/>
              </p:cNvSpPr>
              <p:nvPr/>
            </p:nvSpPr>
            <p:spPr>
              <a:xfrm>
                <a:off x="3047449" y="1182378"/>
                <a:ext cx="3094052" cy="557653"/>
              </a:xfrm>
              <a:prstGeom prst="rect">
                <a:avLst/>
              </a:prstGeom>
              <a:blipFill>
                <a:blip r:embed="rId5"/>
                <a:stretch>
                  <a:fillRect t="-152747" b="-225275"/>
                </a:stretch>
              </a:blipFill>
            </p:spPr>
            <p:txBody>
              <a:bodyPr/>
              <a:lstStyle/>
              <a:p>
                <a:r>
                  <a:rPr lang="en-US">
                    <a:noFill/>
                  </a:rPr>
                  <a:t> </a:t>
                </a:r>
              </a:p>
            </p:txBody>
          </p:sp>
        </mc:Fallback>
      </mc:AlternateContent>
      <p:pic>
        <p:nvPicPr>
          <p:cNvPr id="7" name="Picture 6"/>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Effect>
                      <a14:brightnessContrast bright="-20000" contrast="40000"/>
                    </a14:imgEffect>
                  </a14:imgLayer>
                </a14:imgProps>
              </a:ext>
            </a:extLst>
          </a:blip>
          <a:stretch>
            <a:fillRect/>
          </a:stretch>
        </p:blipFill>
        <p:spPr>
          <a:xfrm>
            <a:off x="36760" y="2208787"/>
            <a:ext cx="9115425" cy="4578668"/>
          </a:xfrm>
          <a:prstGeom prst="rect">
            <a:avLst/>
          </a:prstGeom>
        </p:spPr>
      </p:pic>
      <p:sp>
        <p:nvSpPr>
          <p:cNvPr id="8" name="TextBox 7"/>
          <p:cNvSpPr txBox="1"/>
          <p:nvPr/>
        </p:nvSpPr>
        <p:spPr>
          <a:xfrm>
            <a:off x="3226118" y="1789743"/>
            <a:ext cx="2736711" cy="369332"/>
          </a:xfrm>
          <a:prstGeom prst="rect">
            <a:avLst/>
          </a:prstGeom>
          <a:noFill/>
        </p:spPr>
        <p:txBody>
          <a:bodyPr wrap="none" rtlCol="0">
            <a:spAutoFit/>
          </a:bodyPr>
          <a:lstStyle/>
          <a:p>
            <a:r>
              <a:rPr lang="en-US" dirty="0">
                <a:solidFill>
                  <a:srgbClr val="FF0000"/>
                </a:solidFill>
              </a:rPr>
              <a:t>Table of Bessel functions</a:t>
            </a:r>
          </a:p>
        </p:txBody>
      </p:sp>
    </p:spTree>
    <p:extLst>
      <p:ext uri="{BB962C8B-B14F-4D97-AF65-F5344CB8AC3E}">
        <p14:creationId xmlns:p14="http://schemas.microsoft.com/office/powerpoint/2010/main" val="211001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r>
                  <a:rPr lang="en-US" dirty="0"/>
                  <a:t> – NBFM </a:t>
                </a: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3185" t="-19084" b="-419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2800" dirty="0"/>
                  <a:t>Bessel function can be approximated to get NBFM </a:t>
                </a:r>
                <a14:m>
                  <m:oMath xmlns:m="http://schemas.openxmlformats.org/officeDocument/2006/math">
                    <m:d>
                      <m:dPr>
                        <m:ctrlPr>
                          <a:rPr lang="en-US" sz="2800" i="1">
                            <a:latin typeface="Cambria Math" panose="02040503050406030204" pitchFamily="18" charset="0"/>
                          </a:rPr>
                        </m:ctrlPr>
                      </m:dPr>
                      <m:e>
                        <m:r>
                          <a:rPr lang="en-US" sz="2800" i="1">
                            <a:latin typeface="Cambria Math" panose="02040503050406030204" pitchFamily="18" charset="0"/>
                          </a:rPr>
                          <m:t>𝛥</m:t>
                        </m:r>
                        <m:r>
                          <a:rPr lang="en-US" sz="2800" i="1">
                            <a:latin typeface="Cambria Math" panose="02040503050406030204" pitchFamily="18" charset="0"/>
                          </a:rPr>
                          <m:t>𝑓</m:t>
                        </m:r>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𝑚</m:t>
                            </m:r>
                          </m:sub>
                        </m:sSub>
                      </m:e>
                    </m:d>
                  </m:oMath>
                </a14:m>
                <a:r>
                  <a:rPr lang="en-US" sz="2800" dirty="0"/>
                  <a:t> waveform when </a:t>
                </a:r>
                <a14:m>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𝛽</m:t>
                    </m:r>
                    <m:r>
                      <a:rPr lang="en-US" sz="2800">
                        <a:latin typeface="Cambria Math" panose="02040503050406030204" pitchFamily="18" charset="0"/>
                      </a:rPr>
                      <m:t>|≪1</m:t>
                    </m:r>
                  </m:oMath>
                </a14:m>
                <a:r>
                  <a:rPr lang="en-US" sz="2800" dirty="0"/>
                  <a:t>.</a:t>
                </a:r>
              </a:p>
              <a:p>
                <a:r>
                  <a:rPr lang="en-US" sz="2800" dirty="0"/>
                  <a:t>Thus, higher order Bessel function values fall quickly with n when mod. Index is small (a typical case of NBFM).</a:t>
                </a:r>
              </a:p>
              <a:p>
                <a:r>
                  <a:rPr lang="en-US" sz="2800" dirty="0"/>
                  <a:t>This implies:</a:t>
                </a:r>
              </a:p>
              <a:p>
                <a:pPr lvl="1"/>
                <a14:m>
                  <m:oMath xmlns:m="http://schemas.openxmlformats.org/officeDocument/2006/math">
                    <m:r>
                      <a:rPr lang="en-US" sz="2400">
                        <a:latin typeface="Cambria Math" panose="02040503050406030204" pitchFamily="18" charset="0"/>
                      </a:rPr>
                      <m:t>|</m:t>
                    </m:r>
                    <m:d>
                      <m:dPr>
                        <m:beg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𝑛</m:t>
                            </m:r>
                          </m:sub>
                        </m:sSub>
                        <m:r>
                          <a:rPr lang="en-US" sz="2400">
                            <a:latin typeface="Cambria Math" panose="02040503050406030204" pitchFamily="18" charset="0"/>
                          </a:rPr>
                          <m:t>(</m:t>
                        </m:r>
                        <m:r>
                          <a:rPr lang="en-US" sz="2400" i="1">
                            <a:latin typeface="Cambria Math" panose="02040503050406030204" pitchFamily="18" charset="0"/>
                          </a:rPr>
                          <m:t>𝛽</m:t>
                        </m:r>
                      </m:e>
                    </m:d>
                    <m:r>
                      <a:rPr lang="en-US" sz="2400">
                        <a:latin typeface="Cambria Math" panose="02040503050406030204" pitchFamily="18" charset="0"/>
                      </a:rPr>
                      <m:t>|→0</m:t>
                    </m:r>
                    <m:r>
                      <m:rPr>
                        <m:nor/>
                      </m:rPr>
                      <a:rPr lang="en-US" sz="2400" i="1">
                        <a:latin typeface="Cambria Math" panose="02040503050406030204" pitchFamily="18" charset="0"/>
                      </a:rPr>
                      <m:t> </m:t>
                    </m:r>
                    <m:r>
                      <m:rPr>
                        <m:nor/>
                      </m:rPr>
                      <a:rPr lang="en-US" sz="2400" b="0" i="0" smtClean="0">
                        <a:latin typeface="Cambria Math" panose="02040503050406030204" pitchFamily="18" charset="0"/>
                      </a:rPr>
                      <m:t> </m:t>
                    </m:r>
                    <m:r>
                      <m:rPr>
                        <m:nor/>
                      </m:rPr>
                      <a:rPr lang="en-US" sz="2400">
                        <a:latin typeface="Cambria Math" panose="02040503050406030204" pitchFamily="18" charset="0"/>
                      </a:rPr>
                      <m:t>as</m:t>
                    </m:r>
                    <m:r>
                      <m:rPr>
                        <m:nor/>
                      </m:rPr>
                      <a:rPr lang="en-US" sz="2400" i="1">
                        <a:latin typeface="Cambria Math" panose="02040503050406030204" pitchFamily="18" charset="0"/>
                      </a:rPr>
                      <m:t> </m:t>
                    </m:r>
                    <m:r>
                      <m:rPr>
                        <m:nor/>
                      </m:rPr>
                      <a:rPr lang="en-US" sz="2400" b="0" i="1" smtClean="0">
                        <a:latin typeface="Cambria Math" panose="02040503050406030204" pitchFamily="18" charset="0"/>
                      </a:rPr>
                      <m:t> </m:t>
                    </m:r>
                    <m:r>
                      <a:rPr lang="en-US" sz="2400" i="1">
                        <a:latin typeface="Cambria Math" panose="02040503050406030204" pitchFamily="18" charset="0"/>
                      </a:rPr>
                      <m:t>𝑛</m:t>
                    </m:r>
                    <m:r>
                      <a:rPr lang="en-US" sz="2400">
                        <a:latin typeface="Cambria Math" panose="02040503050406030204" pitchFamily="18" charset="0"/>
                      </a:rPr>
                      <m:t>→∞</m:t>
                    </m:r>
                  </m:oMath>
                </a14:m>
                <a:endParaRPr lang="en-US" sz="2400" dirty="0"/>
              </a:p>
              <a:p>
                <a:pPr lvl="1"/>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𝑜</m:t>
                        </m:r>
                      </m:sub>
                    </m:sSub>
                    <m:d>
                      <m:dPr>
                        <m:ctrlPr>
                          <a:rPr lang="en-US" sz="2400" i="1">
                            <a:latin typeface="Cambria Math" panose="02040503050406030204" pitchFamily="18" charset="0"/>
                          </a:rPr>
                        </m:ctrlPr>
                      </m:dPr>
                      <m:e>
                        <m:r>
                          <a:rPr lang="en-US" sz="2400" i="1">
                            <a:latin typeface="Cambria Math" panose="02040503050406030204" pitchFamily="18" charset="0"/>
                          </a:rPr>
                          <m:t>𝛽</m:t>
                        </m:r>
                      </m:e>
                    </m:d>
                    <m:r>
                      <a:rPr lang="en-US" sz="2400">
                        <a:latin typeface="Cambria Math" panose="02040503050406030204" pitchFamily="18" charset="0"/>
                      </a:rPr>
                      <m:t>≈1,</m:t>
                    </m:r>
                    <m:r>
                      <a:rPr lang="en-US" sz="2400" b="0" i="0" smtClean="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𝛽</m:t>
                    </m:r>
                    <m:r>
                      <a:rPr lang="en-US" sz="240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𝛽</m:t>
                        </m:r>
                      </m:num>
                      <m:den>
                        <m:r>
                          <a:rPr lang="en-US" sz="2400">
                            <a:latin typeface="Cambria Math" panose="02040503050406030204" pitchFamily="18" charset="0"/>
                          </a:rPr>
                          <m:t>2</m:t>
                        </m:r>
                      </m:den>
                    </m:f>
                    <m:r>
                      <a:rPr lang="en-US" sz="2400">
                        <a:latin typeface="Cambria Math" panose="02040503050406030204" pitchFamily="18" charset="0"/>
                      </a:rPr>
                      <m:t>,</m:t>
                    </m:r>
                    <m:r>
                      <m:rPr>
                        <m:nor/>
                      </m:rPr>
                      <a:rPr lang="en-US" sz="2400" i="1">
                        <a:latin typeface="Cambria Math" panose="02040503050406030204" pitchFamily="18" charset="0"/>
                      </a:rPr>
                      <m:t> </m:t>
                    </m:r>
                    <m:r>
                      <m:rPr>
                        <m:nor/>
                      </m:rPr>
                      <a:rPr lang="en-US" sz="2400">
                        <a:latin typeface="Cambria Math" panose="02040503050406030204" pitchFamily="18" charset="0"/>
                      </a:rPr>
                      <m:t>and</m:t>
                    </m:r>
                    <m:r>
                      <m:rPr>
                        <m:nor/>
                      </m:rPr>
                      <a:rPr lang="en-US" sz="2400">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𝐽</m:t>
                        </m:r>
                      </m:e>
                      <m:sub>
                        <m:r>
                          <a:rPr lang="en-US" sz="2400" i="1">
                            <a:latin typeface="Cambria Math" panose="02040503050406030204" pitchFamily="18" charset="0"/>
                          </a:rPr>
                          <m:t>𝑛</m:t>
                        </m:r>
                      </m:sub>
                    </m:sSub>
                    <m:r>
                      <a:rPr lang="en-US" sz="2400">
                        <a:latin typeface="Cambria Math" panose="02040503050406030204" pitchFamily="18" charset="0"/>
                      </a:rPr>
                      <m:t>≈0</m:t>
                    </m:r>
                    <m:r>
                      <m:rPr>
                        <m:nor/>
                      </m:rPr>
                      <a:rPr lang="en-US" sz="2400" i="1">
                        <a:latin typeface="Cambria Math" panose="02040503050406030204" pitchFamily="18" charset="0"/>
                      </a:rPr>
                      <m:t> </m:t>
                    </m:r>
                    <m:r>
                      <m:rPr>
                        <m:nor/>
                      </m:rPr>
                      <a:rPr lang="en-US" sz="2400">
                        <a:latin typeface="Cambria Math" panose="02040503050406030204" pitchFamily="18" charset="0"/>
                      </a:rPr>
                      <m:t>for</m:t>
                    </m:r>
                    <m:r>
                      <m:rPr>
                        <m:nor/>
                      </m:rPr>
                      <a:rPr lang="en-US" sz="2400" b="0" i="0" smtClean="0">
                        <a:latin typeface="Cambria Math" panose="02040503050406030204" pitchFamily="18" charset="0"/>
                      </a:rPr>
                      <m:t> </m:t>
                    </m:r>
                    <m:r>
                      <m:rPr>
                        <m:nor/>
                      </m:rPr>
                      <a:rPr lang="en-US" sz="2400" i="1">
                        <a:latin typeface="Cambria Math" panose="02040503050406030204" pitchFamily="18" charset="0"/>
                      </a:rPr>
                      <m:t> </m:t>
                    </m:r>
                    <m:r>
                      <a:rPr lang="en-US" sz="2400" i="1">
                        <a:latin typeface="Cambria Math" panose="02040503050406030204" pitchFamily="18" charset="0"/>
                      </a:rPr>
                      <m:t>𝑛</m:t>
                    </m:r>
                    <m:r>
                      <a:rPr lang="en-US" sz="2400">
                        <a:latin typeface="Cambria Math" panose="02040503050406030204" pitchFamily="18" charset="0"/>
                      </a:rPr>
                      <m:t>&gt;1</m:t>
                    </m:r>
                  </m:oMath>
                </a14:m>
                <a:endParaRPr lang="en-US" sz="2400" dirty="0"/>
              </a:p>
              <a:p>
                <a:r>
                  <a:rPr lang="en-US" sz="2800" dirty="0"/>
                  <a:t>NBFM waveform is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265" t="-2043" r="-325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25</a:t>
            </a:fld>
            <a:endParaRPr kumimoji="0" lang="en-US" sz="1800" b="0" i="0" u="none" strike="noStrike" kern="0" cap="none" spc="0" normalizeH="0" baseline="0" noProof="0" dirty="0">
              <a:ln>
                <a:noFill/>
              </a:ln>
              <a:solidFill>
                <a:schemeClr val="bg1"/>
              </a:solidFill>
              <a:effectLst/>
              <a:uLnTx/>
              <a:uFillTx/>
            </a:endParaRPr>
          </a:p>
        </p:txBody>
      </p:sp>
      <p:pic>
        <p:nvPicPr>
          <p:cNvPr id="11" name="Picture 10"/>
          <p:cNvPicPr>
            <a:picLocks noChangeAspect="1"/>
          </p:cNvPicPr>
          <p:nvPr/>
        </p:nvPicPr>
        <p:blipFill>
          <a:blip r:embed="rId4"/>
          <a:stretch>
            <a:fillRect/>
          </a:stretch>
        </p:blipFill>
        <p:spPr>
          <a:xfrm>
            <a:off x="328045" y="4894088"/>
            <a:ext cx="8434897" cy="1265589"/>
          </a:xfrm>
          <a:prstGeom prst="rect">
            <a:avLst/>
          </a:prstGeom>
        </p:spPr>
      </p:pic>
    </p:spTree>
    <p:extLst>
      <p:ext uri="{BB962C8B-B14F-4D97-AF65-F5344CB8AC3E}">
        <p14:creationId xmlns:p14="http://schemas.microsoft.com/office/powerpoint/2010/main" val="3487969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r>
                  <a:rPr lang="en-US" dirty="0"/>
                  <a:t>Bessel function </a:t>
                </a:r>
                <a14:m>
                  <m:oMath xmlns:m="http://schemas.openxmlformats.org/officeDocument/2006/math">
                    <m:d>
                      <m:dPr>
                        <m:beg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𝐽</m:t>
                            </m:r>
                          </m:e>
                          <m:sub>
                            <m:r>
                              <a:rPr lang="en-US" i="1">
                                <a:solidFill>
                                  <a:schemeClr val="tx1"/>
                                </a:solidFill>
                                <a:latin typeface="Cambria Math" panose="02040503050406030204" pitchFamily="18" charset="0"/>
                              </a:rPr>
                              <m:t>𝑛</m:t>
                            </m:r>
                          </m:sub>
                        </m:sSub>
                        <m:r>
                          <a:rPr lang="en-US">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e>
                    </m:d>
                  </m:oMath>
                </a14:m>
                <a:r>
                  <a:rPr lang="en-US" dirty="0"/>
                  <a:t> – WBFM </a:t>
                </a:r>
                <a:endParaRPr lang="en-US" dirty="0"/>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3185" t="-19084" b="-419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WBFM waveform depends highly on </a:t>
                </a:r>
                <a14:m>
                  <m:oMath xmlns:m="http://schemas.openxmlformats.org/officeDocument/2006/math">
                    <m:r>
                      <a:rPr lang="en-US" b="0" i="0"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𝛽</m:t>
                    </m:r>
                    <m:r>
                      <a:rPr lang="en-US" b="0" i="1" smtClean="0">
                        <a:solidFill>
                          <a:schemeClr val="tx1"/>
                        </a:solidFill>
                        <a:latin typeface="Cambria Math" panose="02040503050406030204" pitchFamily="18" charset="0"/>
                      </a:rPr>
                      <m:t>|&gt;1</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619" t="-255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26</a:t>
            </a:fld>
            <a:endParaRPr kumimoji="0" lang="en-US" sz="1800" b="0" i="0" u="none" strike="noStrike" kern="0" cap="none" spc="0" normalizeH="0" baseline="0" noProof="0" dirty="0">
              <a:ln>
                <a:noFill/>
              </a:ln>
              <a:solidFill>
                <a:schemeClr val="bg1"/>
              </a:solidFill>
              <a:effectLst/>
              <a:uLnTx/>
              <a:uFillTx/>
            </a:endParaRPr>
          </a:p>
        </p:txBody>
      </p:sp>
      <p:pic>
        <p:nvPicPr>
          <p:cNvPr id="5" name="Picture 4"/>
          <p:cNvPicPr>
            <a:picLocks noChangeAspect="1"/>
          </p:cNvPicPr>
          <p:nvPr/>
        </p:nvPicPr>
        <p:blipFill>
          <a:blip r:embed="rId4"/>
          <a:stretch>
            <a:fillRect/>
          </a:stretch>
        </p:blipFill>
        <p:spPr>
          <a:xfrm>
            <a:off x="655985" y="1665343"/>
            <a:ext cx="7779017" cy="3285266"/>
          </a:xfrm>
          <a:prstGeom prst="rect">
            <a:avLst/>
          </a:prstGeom>
        </p:spPr>
      </p:pic>
      <p:sp>
        <p:nvSpPr>
          <p:cNvPr id="6" name="Rectangle 5"/>
          <p:cNvSpPr/>
          <p:nvPr/>
        </p:nvSpPr>
        <p:spPr>
          <a:xfrm>
            <a:off x="238537" y="5155495"/>
            <a:ext cx="8613913" cy="1015663"/>
          </a:xfrm>
          <a:prstGeom prst="rect">
            <a:avLst/>
          </a:prstGeom>
        </p:spPr>
        <p:txBody>
          <a:bodyPr wrap="square">
            <a:spAutoFit/>
          </a:bodyPr>
          <a:lstStyle/>
          <a:p>
            <a:r>
              <a:rPr lang="en-US" sz="2000" dirty="0"/>
              <a:t>The total spectrum can be seen to consist of the carrier plus an infinite number of sidebands spreading out on either side of the carrier at integral multiples of the modulating frequency</a:t>
            </a:r>
            <a:endParaRPr lang="en-US" sz="2000" dirty="0"/>
          </a:p>
        </p:txBody>
      </p:sp>
    </p:spTree>
    <p:extLst>
      <p:ext uri="{BB962C8B-B14F-4D97-AF65-F5344CB8AC3E}">
        <p14:creationId xmlns:p14="http://schemas.microsoft.com/office/powerpoint/2010/main" val="2419458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Spectrum of WBFM</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chemeClr val="bg1"/>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27</a:t>
            </a:fld>
            <a:endParaRPr kumimoji="0" lang="en-US" sz="1800" b="0" i="0" u="none" strike="noStrike" kern="0" cap="none" spc="0" normalizeH="0" baseline="0" noProof="0" dirty="0">
              <a:ln>
                <a:noFill/>
              </a:ln>
              <a:solidFill>
                <a:schemeClr val="bg1"/>
              </a:solidFill>
              <a:effectLst/>
              <a:uLnTx/>
              <a:uFillTx/>
            </a:endParaRPr>
          </a:p>
        </p:txBody>
      </p:sp>
      <p:pic>
        <p:nvPicPr>
          <p:cNvPr id="5" name="Picture 4"/>
          <p:cNvPicPr>
            <a:picLocks noChangeAspect="1"/>
          </p:cNvPicPr>
          <p:nvPr/>
        </p:nvPicPr>
        <p:blipFill>
          <a:blip r:embed="rId2"/>
          <a:stretch>
            <a:fillRect/>
          </a:stretch>
        </p:blipFill>
        <p:spPr>
          <a:xfrm>
            <a:off x="5165147" y="908253"/>
            <a:ext cx="3886626" cy="5152516"/>
          </a:xfrm>
          <a:prstGeom prst="rect">
            <a:avLst/>
          </a:prstGeom>
        </p:spPr>
      </p:pic>
      <p:pic>
        <p:nvPicPr>
          <p:cNvPr id="6" name="Picture 5"/>
          <p:cNvPicPr>
            <a:picLocks noChangeAspect="1"/>
          </p:cNvPicPr>
          <p:nvPr/>
        </p:nvPicPr>
        <p:blipFill>
          <a:blip r:embed="rId3"/>
          <a:stretch>
            <a:fillRect/>
          </a:stretch>
        </p:blipFill>
        <p:spPr>
          <a:xfrm>
            <a:off x="198197" y="2464566"/>
            <a:ext cx="4830158" cy="2039891"/>
          </a:xfrm>
          <a:prstGeom prst="rect">
            <a:avLst/>
          </a:prstGeom>
        </p:spPr>
      </p:pic>
    </p:spTree>
    <p:extLst>
      <p:ext uri="{BB962C8B-B14F-4D97-AF65-F5344CB8AC3E}">
        <p14:creationId xmlns:p14="http://schemas.microsoft.com/office/powerpoint/2010/main" val="1791078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Transmission bandwidth of FM (WB)</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990600"/>
                <a:ext cx="8229600" cy="5715000"/>
              </a:xfrm>
            </p:spPr>
            <p:txBody>
              <a:bodyPr/>
              <a:lstStyle/>
              <a:p>
                <a:r>
                  <a:rPr lang="en-US" sz="2400" dirty="0"/>
                  <a:t>For FM signal generated by a single tone modulating signal of freq. </a:t>
                </a:r>
                <a:r>
                  <a:rPr lang="en-US" sz="2400" i="1" dirty="0" err="1"/>
                  <a:t>f</a:t>
                </a:r>
                <a:r>
                  <a:rPr lang="en-US" sz="2400" i="1" baseline="-25000" dirty="0" err="1"/>
                  <a:t>m</a:t>
                </a:r>
                <a:r>
                  <a:rPr lang="en-US" sz="2400" dirty="0"/>
                  <a:t>, we can define approximate rule for the transmission bandwidth using </a:t>
                </a:r>
                <a:r>
                  <a:rPr lang="en-US" sz="2400" i="1" dirty="0"/>
                  <a:t>Carson’s rule </a:t>
                </a:r>
                <a:r>
                  <a:rPr lang="en-US" sz="2400" dirty="0">
                    <a:sym typeface="Wingdings" panose="05000000000000000000" pitchFamily="2" charset="2"/>
                  </a:rPr>
                  <a:t></a:t>
                </a: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i="1">
                              <a:latin typeface="Cambria Math" panose="02040503050406030204" pitchFamily="18" charset="0"/>
                            </a:rPr>
                            <m:t>𝑇</m:t>
                          </m:r>
                        </m:sub>
                      </m:sSub>
                      <m:r>
                        <a:rPr lang="en-US" sz="2400">
                          <a:latin typeface="Cambria Math" panose="02040503050406030204" pitchFamily="18" charset="0"/>
                        </a:rPr>
                        <m:t>≃2</m:t>
                      </m:r>
                      <m:r>
                        <a:rPr lang="en-US" sz="2400" i="1">
                          <a:latin typeface="Cambria Math" panose="02040503050406030204" pitchFamily="18" charset="0"/>
                        </a:rPr>
                        <m:t>𝛥</m:t>
                      </m:r>
                      <m:r>
                        <a:rPr lang="en-US" sz="2400" i="1">
                          <a:latin typeface="Cambria Math" panose="02040503050406030204" pitchFamily="18" charset="0"/>
                        </a:rPr>
                        <m:t>𝑓</m:t>
                      </m:r>
                      <m:r>
                        <a:rPr lang="en-US" sz="2400">
                          <a:latin typeface="Cambria Math" panose="02040503050406030204" pitchFamily="18" charset="0"/>
                        </a:rPr>
                        <m:t>+2</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a:latin typeface="Cambria Math" panose="02040503050406030204" pitchFamily="18" charset="0"/>
                        </a:rPr>
                        <m:t>=2</m:t>
                      </m:r>
                      <m:r>
                        <a:rPr lang="en-US" sz="2400" i="1">
                          <a:latin typeface="Cambria Math" panose="02040503050406030204" pitchFamily="18" charset="0"/>
                        </a:rPr>
                        <m:t>𝛥</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a:latin typeface="Cambria Math" panose="02040503050406030204" pitchFamily="18" charset="0"/>
                            </a:rPr>
                            <m:t>1+</m:t>
                          </m:r>
                          <m:f>
                            <m:fPr>
                              <m:ctrlPr>
                                <a:rPr lang="en-US" sz="2400" i="1">
                                  <a:latin typeface="Cambria Math" panose="02040503050406030204" pitchFamily="18" charset="0"/>
                                </a:rPr>
                              </m:ctrlPr>
                            </m:fPr>
                            <m:num>
                              <m:r>
                                <a:rPr lang="en-US" sz="2400">
                                  <a:latin typeface="Cambria Math" panose="02040503050406030204" pitchFamily="18" charset="0"/>
                                </a:rPr>
                                <m:t>1</m:t>
                              </m:r>
                            </m:num>
                            <m:den>
                              <m:r>
                                <a:rPr lang="en-US" sz="2400" i="1">
                                  <a:latin typeface="Cambria Math" panose="02040503050406030204" pitchFamily="18" charset="0"/>
                                </a:rPr>
                                <m:t>𝛽</m:t>
                              </m:r>
                            </m:den>
                          </m:f>
                        </m:e>
                      </m:d>
                      <m:r>
                        <a:rPr lang="en-US" sz="2400" b="0" i="1" smtClean="0">
                          <a:latin typeface="Cambria Math" panose="02040503050406030204" pitchFamily="18" charset="0"/>
                        </a:rPr>
                        <m:t>=</m:t>
                      </m:r>
                      <m:r>
                        <a:rPr lang="en-US" sz="2400">
                          <a:latin typeface="Cambria Math" panose="02040503050406030204" pitchFamily="18" charset="0"/>
                        </a:rPr>
                        <m:t>2(</m:t>
                      </m:r>
                      <m:r>
                        <a:rPr lang="en-US" sz="2400" i="1">
                          <a:latin typeface="Cambria Math" panose="02040503050406030204" pitchFamily="18" charset="0"/>
                        </a:rPr>
                        <m:t>𝛽</m:t>
                      </m:r>
                      <m:r>
                        <a:rPr lang="en-US" sz="240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oMath>
                  </m:oMathPara>
                </a14:m>
                <a:endParaRPr lang="en-US" sz="2400" dirty="0"/>
              </a:p>
              <a:p>
                <a:r>
                  <a:rPr lang="en-US" sz="2400" dirty="0"/>
                  <a:t>If the message signal is given by </a:t>
                </a:r>
              </a:p>
              <a:p>
                <a:pPr marL="0" indent="0">
                  <a:buNone/>
                </a:pPr>
                <a14:m>
                  <m:oMathPara xmlns:m="http://schemas.openxmlformats.org/officeDocument/2006/math">
                    <m:oMathParaPr>
                      <m:jc m:val="centerGroup"/>
                    </m:oMathParaPr>
                    <m:oMath xmlns:m="http://schemas.openxmlformats.org/officeDocument/2006/math">
                      <m:d>
                        <m:dPr>
                          <m:begChr m:val=""/>
                          <m:ctrlPr>
                            <a:rPr lang="en-US" sz="2400" i="1">
                              <a:latin typeface="Cambria Math" panose="02040503050406030204" pitchFamily="18" charset="0"/>
                            </a:rPr>
                          </m:ctrlPr>
                        </m:dPr>
                        <m:e>
                          <m:r>
                            <a:rPr lang="en-US" sz="2400" i="1">
                              <a:latin typeface="Cambria Math" panose="02040503050406030204" pitchFamily="18" charset="0"/>
                            </a:rPr>
                            <m:t>𝑚</m:t>
                          </m:r>
                          <m:r>
                            <a:rPr lang="en-US" sz="2400">
                              <a:latin typeface="Cambria Math" panose="02040503050406030204" pitchFamily="18" charset="0"/>
                            </a:rPr>
                            <m:t>(</m:t>
                          </m:r>
                          <m:r>
                            <a:rPr lang="en-US" sz="2400" i="1">
                              <a:latin typeface="Cambria Math" panose="02040503050406030204" pitchFamily="18" charset="0"/>
                            </a:rPr>
                            <m:t>𝑡</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𝑚</m:t>
                              </m:r>
                            </m:sub>
                          </m:sSub>
                          <m:r>
                            <m:rPr>
                              <m:sty m:val="p"/>
                            </m:rPr>
                            <a:rPr lang="en-US" sz="2400">
                              <a:latin typeface="Cambria Math" panose="02040503050406030204" pitchFamily="18" charset="0"/>
                            </a:rPr>
                            <m:t>cos</m:t>
                          </m:r>
                          <m:r>
                            <a:rPr lang="en-US" sz="2400">
                              <a:latin typeface="Cambria Math" panose="02040503050406030204" pitchFamily="18" charset="0"/>
                            </a:rPr>
                            <m:t>(2</m:t>
                          </m:r>
                          <m:r>
                            <a:rPr lang="en-US" sz="2400" i="1">
                              <a:latin typeface="Cambria Math" panose="02040503050406030204" pitchFamily="18" charset="0"/>
                            </a:rPr>
                            <m:t>𝜋</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i="1">
                              <a:latin typeface="Cambria Math" panose="02040503050406030204" pitchFamily="18" charset="0"/>
                            </a:rPr>
                            <m:t>𝑡</m:t>
                          </m:r>
                        </m:e>
                      </m:d>
                    </m:oMath>
                  </m:oMathPara>
                </a14:m>
                <a:endParaRPr lang="en-US" sz="2400" dirty="0"/>
              </a:p>
              <a:p>
                <a14:m>
                  <m:oMath xmlns:m="http://schemas.openxmlformats.org/officeDocument/2006/math">
                    <m:r>
                      <m:rPr>
                        <m:nor/>
                      </m:rPr>
                      <a:rPr lang="en-US" sz="2400">
                        <a:latin typeface="Cambria Math" panose="02040503050406030204" pitchFamily="18" charset="0"/>
                      </a:rPr>
                      <m:t>The</m:t>
                    </m:r>
                    <m:r>
                      <m:rPr>
                        <m:nor/>
                      </m:rPr>
                      <a:rPr lang="en-US" sz="2400">
                        <a:latin typeface="Cambria Math" panose="02040503050406030204" pitchFamily="18" charset="0"/>
                      </a:rPr>
                      <m:t> </m:t>
                    </m:r>
                    <m:r>
                      <m:rPr>
                        <m:nor/>
                      </m:rPr>
                      <a:rPr lang="en-US" sz="2400">
                        <a:latin typeface="Cambria Math" panose="02040503050406030204" pitchFamily="18" charset="0"/>
                      </a:rPr>
                      <m:t>transmission</m:t>
                    </m:r>
                    <m:r>
                      <m:rPr>
                        <m:nor/>
                      </m:rPr>
                      <a:rPr lang="en-US" sz="2400">
                        <a:latin typeface="Cambria Math" panose="02040503050406030204" pitchFamily="18" charset="0"/>
                      </a:rPr>
                      <m:t> </m:t>
                    </m:r>
                    <m:r>
                      <m:rPr>
                        <m:nor/>
                      </m:rPr>
                      <a:rPr lang="en-US" sz="2400">
                        <a:latin typeface="Cambria Math" panose="02040503050406030204" pitchFamily="18" charset="0"/>
                      </a:rPr>
                      <m:t>bandwidth</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of</m:t>
                    </m:r>
                    <m:r>
                      <m:rPr>
                        <m:nor/>
                      </m:rPr>
                      <a:rPr lang="en-US" sz="2400">
                        <a:latin typeface="Cambria Math" panose="02040503050406030204" pitchFamily="18" charset="0"/>
                      </a:rPr>
                      <m:t> </m:t>
                    </m:r>
                    <m:r>
                      <m:rPr>
                        <m:nor/>
                      </m:rPr>
                      <a:rPr lang="en-US" sz="2400">
                        <a:latin typeface="Cambria Math" panose="02040503050406030204" pitchFamily="18" charset="0"/>
                      </a:rPr>
                      <m:t>modulated</m:t>
                    </m:r>
                    <m:r>
                      <m:rPr>
                        <m:nor/>
                      </m:rPr>
                      <a:rPr lang="en-US" sz="2400">
                        <a:latin typeface="Cambria Math" panose="02040503050406030204" pitchFamily="18" charset="0"/>
                      </a:rPr>
                      <m:t> </m:t>
                    </m:r>
                    <m:r>
                      <m:rPr>
                        <m:nor/>
                      </m:rPr>
                      <a:rPr lang="en-US" sz="2400">
                        <a:latin typeface="Cambria Math" panose="02040503050406030204" pitchFamily="18" charset="0"/>
                      </a:rPr>
                      <m:t>signal</m:t>
                    </m:r>
                    <m:r>
                      <m:rPr>
                        <m:nor/>
                      </m:rPr>
                      <a:rPr lang="en-US" sz="2400">
                        <a:latin typeface="Cambria Math" panose="02040503050406030204" pitchFamily="18" charset="0"/>
                      </a:rPr>
                      <m:t> </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m:rPr>
                        <m:nor/>
                      </m:rPr>
                      <a:rPr lang="en-US" sz="2400">
                        <a:latin typeface="Cambria Math" panose="02040503050406030204" pitchFamily="18" charset="0"/>
                      </a:rPr>
                      <m:t> </m:t>
                    </m:r>
                    <m:r>
                      <m:rPr>
                        <m:nor/>
                      </m:rPr>
                      <a:rPr lang="en-US" sz="2400">
                        <a:latin typeface="Cambria Math" panose="02040503050406030204" pitchFamily="18" charset="0"/>
                      </a:rPr>
                      <m:t>is</m:t>
                    </m:r>
                  </m:oMath>
                </a14:m>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𝐵</m:t>
                          </m:r>
                        </m:e>
                        <m:sub>
                          <m:r>
                            <a:rPr lang="en-US" sz="2400" i="1">
                              <a:latin typeface="Cambria Math" panose="02040503050406030204" pitchFamily="18" charset="0"/>
                            </a:rPr>
                            <m:t>𝑇</m:t>
                          </m:r>
                        </m:sub>
                      </m:sSub>
                      <m:r>
                        <a:rPr lang="en-US" sz="2400">
                          <a:latin typeface="Cambria Math" panose="02040503050406030204" pitchFamily="18" charset="0"/>
                        </a:rPr>
                        <m:t>=2(</m:t>
                      </m:r>
                      <m:r>
                        <a:rPr lang="en-US" sz="2400" i="1">
                          <a:latin typeface="Cambria Math" panose="02040503050406030204" pitchFamily="18" charset="0"/>
                        </a:rPr>
                        <m:t>𝛽</m:t>
                      </m:r>
                      <m:r>
                        <a:rPr lang="en-US" sz="240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2(</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𝑝</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𝑚</m:t>
                                    </m:r>
                                  </m:sub>
                                </m:sSub>
                                <m:r>
                                  <a:rPr lang="en-US" sz="240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a:latin typeface="Cambria Math" panose="02040503050406030204" pitchFamily="18" charset="0"/>
                                  </a:rPr>
                                  <m:t>,</m:t>
                                </m:r>
                              </m:e>
                              <m:e>
                                <m:r>
                                  <a:rPr lang="en-US" sz="2400" i="1">
                                    <a:latin typeface="Cambria Math" panose="02040503050406030204" pitchFamily="18" charset="0"/>
                                  </a:rPr>
                                  <m:t>𝑃𝑀</m:t>
                                </m:r>
                              </m:e>
                            </m:mr>
                            <m:mr>
                              <m:e>
                                <m:r>
                                  <a:rPr lang="en-US" sz="2400">
                                    <a:latin typeface="Cambria Math" panose="02040503050406030204" pitchFamily="18" charset="0"/>
                                  </a:rPr>
                                  <m:t>2</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𝑓</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𝑚</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den>
                                    </m:f>
                                    <m:r>
                                      <a:rPr lang="en-US" sz="2400">
                                        <a:latin typeface="Cambria Math" panose="02040503050406030204" pitchFamily="18" charset="0"/>
                                      </a:rPr>
                                      <m:t>+</m:t>
                                    </m:r>
                                    <m:r>
                                      <a:rPr lang="en-US" sz="2400" b="0" i="1" smtClean="0">
                                        <a:latin typeface="Cambria Math" panose="02040503050406030204" pitchFamily="18" charset="0"/>
                                      </a:rPr>
                                      <m:t>1</m:t>
                                    </m:r>
                                  </m:e>
                                </m:d>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a:latin typeface="Cambria Math" panose="02040503050406030204" pitchFamily="18" charset="0"/>
                                  </a:rPr>
                                  <m:t>,</m:t>
                                </m:r>
                              </m:e>
                              <m:e>
                                <m:r>
                                  <a:rPr lang="en-US" sz="2400" i="1">
                                    <a:latin typeface="Cambria Math" panose="02040503050406030204" pitchFamily="18" charset="0"/>
                                  </a:rPr>
                                  <m:t>𝐹𝑀</m:t>
                                </m:r>
                              </m:e>
                            </m:mr>
                          </m:m>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2(</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𝑝</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𝑚</m:t>
                                    </m:r>
                                  </m:sub>
                                </m:sSub>
                                <m:r>
                                  <a:rPr lang="en-US" sz="2400">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r>
                                  <a:rPr lang="en-US" sz="2400">
                                    <a:latin typeface="Cambria Math" panose="02040503050406030204" pitchFamily="18" charset="0"/>
                                  </a:rPr>
                                  <m:t>,</m:t>
                                </m:r>
                              </m:e>
                              <m:e>
                                <m:r>
                                  <a:rPr lang="en-US" sz="2400" i="1">
                                    <a:latin typeface="Cambria Math" panose="02040503050406030204" pitchFamily="18" charset="0"/>
                                  </a:rPr>
                                  <m:t>𝑃𝑀</m:t>
                                </m:r>
                              </m:e>
                            </m:mr>
                            <m:mr>
                              <m:e>
                                <m:r>
                                  <a:rPr lang="en-US" sz="2400">
                                    <a:latin typeface="Cambria Math" panose="02040503050406030204" pitchFamily="18" charset="0"/>
                                  </a:rPr>
                                  <m:t>2</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𝑓</m:t>
                                        </m:r>
                                      </m:sub>
                                    </m:sSub>
                                    <m:sSub>
                                      <m:sSubPr>
                                        <m:ctrlPr>
                                          <a:rPr lang="en-US" sz="2400" i="1">
                                            <a:latin typeface="Cambria Math" panose="02040503050406030204" pitchFamily="18" charset="0"/>
                                          </a:rPr>
                                        </m:ctrlPr>
                                      </m:sSubPr>
                                      <m:e>
                                        <m:r>
                                          <a:rPr lang="en-US" sz="2400" i="1">
                                            <a:latin typeface="Cambria Math" panose="02040503050406030204" pitchFamily="18" charset="0"/>
                                          </a:rPr>
                                          <m:t>𝐴</m:t>
                                        </m:r>
                                      </m:e>
                                      <m:sub>
                                        <m:r>
                                          <a:rPr lang="en-US" sz="2400" i="1">
                                            <a:latin typeface="Cambria Math" panose="02040503050406030204" pitchFamily="18" charset="0"/>
                                          </a:rPr>
                                          <m:t>𝑚</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𝑚</m:t>
                                        </m:r>
                                      </m:sub>
                                    </m:sSub>
                                  </m:e>
                                </m:d>
                                <m:r>
                                  <a:rPr lang="en-US" sz="2400">
                                    <a:latin typeface="Cambria Math" panose="02040503050406030204" pitchFamily="18" charset="0"/>
                                  </a:rPr>
                                  <m:t>,</m:t>
                                </m:r>
                              </m:e>
                              <m:e>
                                <m:r>
                                  <a:rPr lang="en-US" sz="2400" i="1">
                                    <a:latin typeface="Cambria Math" panose="02040503050406030204" pitchFamily="18" charset="0"/>
                                  </a:rPr>
                                  <m:t>𝐹𝑀</m:t>
                                </m:r>
                              </m:e>
                            </m:mr>
                          </m:m>
                        </m:e>
                      </m:d>
                    </m:oMath>
                  </m:oMathPara>
                </a14:m>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990600"/>
                <a:ext cx="8229600" cy="5715000"/>
              </a:xfrm>
              <a:blipFill>
                <a:blip r:embed="rId3"/>
                <a:stretch>
                  <a:fillRect l="-2074" t="-1494"/>
                </a:stretch>
              </a:blipFill>
            </p:spPr>
            <p:txBody>
              <a:bodyPr/>
              <a:lstStyle/>
              <a:p>
                <a:r>
                  <a:rPr lang="en-US">
                    <a:noFill/>
                  </a:rPr>
                  <a:t> </a:t>
                </a:r>
              </a:p>
            </p:txBody>
          </p:sp>
        </mc:Fallback>
      </mc:AlternateContent>
    </p:spTree>
    <p:extLst>
      <p:ext uri="{BB962C8B-B14F-4D97-AF65-F5344CB8AC3E}">
        <p14:creationId xmlns:p14="http://schemas.microsoft.com/office/powerpoint/2010/main" val="834842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lang="en-US" dirty="0"/>
              <a:t>Power content of FM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19200"/>
                <a:ext cx="8229600" cy="4525963"/>
              </a:xfrm>
            </p:spPr>
            <p:txBody>
              <a:bodyPr/>
              <a:lstStyle/>
              <a:p>
                <a:r>
                  <a:rPr lang="en-US" dirty="0"/>
                  <a:t>The power content of FM carrier signal is given by</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𝑐</m:t>
                              </m:r>
                            </m:sub>
                            <m:sup>
                              <m:r>
                                <a:rPr lang="en-US">
                                  <a:latin typeface="Cambria Math" panose="02040503050406030204" pitchFamily="18" charset="0"/>
                                </a:rPr>
                                <m:t>2</m:t>
                              </m:r>
                            </m:sup>
                          </m:sSubSup>
                        </m:num>
                        <m:den>
                          <m:r>
                            <a:rPr lang="en-US">
                              <a:latin typeface="Cambria Math" panose="02040503050406030204" pitchFamily="18" charset="0"/>
                            </a:rPr>
                            <m:t>2</m:t>
                          </m:r>
                        </m:den>
                      </m:f>
                    </m:oMath>
                  </m:oMathPara>
                </a14:m>
                <a:endParaRPr lang="en-US" dirty="0"/>
              </a:p>
              <a:p>
                <a:r>
                  <a:rPr lang="en-US" dirty="0"/>
                  <a:t>The power content of modulated carrier  or FM wave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𝑐</m:t>
                              </m:r>
                            </m:sub>
                            <m:sup>
                              <m:r>
                                <a:rPr lang="en-US">
                                  <a:latin typeface="Cambria Math" panose="02040503050406030204" pitchFamily="18" charset="0"/>
                                </a:rPr>
                                <m:t>2</m:t>
                              </m:r>
                            </m:sup>
                          </m:sSubSup>
                        </m:num>
                        <m:den>
                          <m:r>
                            <a:rPr lang="en-US">
                              <a:latin typeface="Cambria Math" panose="02040503050406030204" pitchFamily="18" charset="0"/>
                            </a:rPr>
                            <m:t>2</m:t>
                          </m:r>
                        </m:den>
                      </m:f>
                      <m:nary>
                        <m:naryPr>
                          <m:chr m:val="∑"/>
                          <m:limLoc m:val="undOvr"/>
                          <m:grow m:val="on"/>
                          <m:ctrlPr>
                            <a:rPr lang="en-US" i="1">
                              <a:latin typeface="Cambria Math" panose="02040503050406030204" pitchFamily="18" charset="0"/>
                            </a:rPr>
                          </m:ctrlPr>
                        </m:naryPr>
                        <m:sub>
                          <m:r>
                            <a:rPr lang="en-US" i="1">
                              <a:latin typeface="Cambria Math" panose="02040503050406030204" pitchFamily="18" charset="0"/>
                            </a:rPr>
                            <m:t>𝑛</m:t>
                          </m:r>
                          <m:r>
                            <a:rPr lang="en-US">
                              <a:latin typeface="Cambria Math" panose="02040503050406030204" pitchFamily="18" charset="0"/>
                            </a:rPr>
                            <m:t>=−∞</m:t>
                          </m:r>
                        </m:sub>
                        <m:sup>
                          <m:r>
                            <a:rPr lang="en-US">
                              <a:latin typeface="Cambria Math" panose="02040503050406030204" pitchFamily="18" charset="0"/>
                            </a:rPr>
                            <m:t>∞</m:t>
                          </m:r>
                        </m:sup>
                        <m:e>
                          <m:d>
                            <m:dPr>
                              <m:beg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𝐽</m:t>
                                  </m:r>
                                </m:e>
                                <m:sub>
                                  <m:r>
                                    <a:rPr lang="en-US" i="1">
                                      <a:latin typeface="Cambria Math" panose="02040503050406030204" pitchFamily="18" charset="0"/>
                                    </a:rPr>
                                    <m:t>𝑛</m:t>
                                  </m:r>
                                </m:sub>
                                <m:sup>
                                  <m:r>
                                    <a:rPr lang="en-US">
                                      <a:latin typeface="Cambria Math" panose="02040503050406030204" pitchFamily="18" charset="0"/>
                                    </a:rPr>
                                    <m:t>2</m:t>
                                  </m:r>
                                </m:sup>
                              </m:sSubSup>
                              <m:r>
                                <a:rPr lang="en-US">
                                  <a:latin typeface="Cambria Math" panose="02040503050406030204" pitchFamily="18" charset="0"/>
                                </a:rPr>
                                <m:t>(</m:t>
                              </m:r>
                              <m:r>
                                <a:rPr lang="en-US" i="1">
                                  <a:latin typeface="Cambria Math" panose="02040503050406030204" pitchFamily="18" charset="0"/>
                                </a:rPr>
                                <m:t>𝛽</m:t>
                              </m:r>
                            </m:e>
                          </m:d>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19200"/>
                <a:ext cx="8229600" cy="4525963"/>
              </a:xfrm>
              <a:blipFill>
                <a:blip r:embed="rId3"/>
                <a:stretch>
                  <a:fillRect l="-1704" t="-1752" r="-2741"/>
                </a:stretch>
              </a:blipFill>
            </p:spPr>
            <p:txBody>
              <a:bodyPr/>
              <a:lstStyle/>
              <a:p>
                <a:r>
                  <a:rPr lang="en-US">
                    <a:noFill/>
                  </a:rPr>
                  <a:t> </a:t>
                </a:r>
              </a:p>
            </p:txBody>
          </p:sp>
        </mc:Fallback>
      </mc:AlternateContent>
    </p:spTree>
    <p:extLst>
      <p:ext uri="{BB962C8B-B14F-4D97-AF65-F5344CB8AC3E}">
        <p14:creationId xmlns:p14="http://schemas.microsoft.com/office/powerpoint/2010/main" val="735172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5.3 </a:t>
            </a:r>
            <a:r>
              <a:rPr lang="en-US" dirty="0" err="1"/>
              <a:t>pg</a:t>
            </a:r>
            <a:r>
              <a:rPr lang="en-US" dirty="0"/>
              <a:t> 123</a:t>
            </a:r>
          </a:p>
        </p:txBody>
      </p:sp>
      <p:sp>
        <p:nvSpPr>
          <p:cNvPr id="3" name="Content Placeholder 2"/>
          <p:cNvSpPr>
            <a:spLocks noGrp="1"/>
          </p:cNvSpPr>
          <p:nvPr>
            <p:ph idx="1"/>
          </p:nvPr>
        </p:nvSpPr>
        <p:spPr>
          <a:xfrm>
            <a:off x="457200" y="1295400"/>
            <a:ext cx="8229600" cy="4830763"/>
          </a:xfrm>
        </p:spPr>
        <p:txBody>
          <a:bodyPr/>
          <a:lstStyle/>
          <a:p>
            <a:r>
              <a:rPr lang="en-US" sz="2800" dirty="0"/>
              <a:t>Let the carrier be given by </a:t>
            </a:r>
            <a:r>
              <a:rPr lang="en-US" sz="2800" i="1" dirty="0"/>
              <a:t>c(t) </a:t>
            </a:r>
            <a:r>
              <a:rPr lang="en-US" sz="2800" dirty="0"/>
              <a:t>= 10cos</a:t>
            </a:r>
            <a:r>
              <a:rPr lang="en-US" sz="2800" i="1" dirty="0"/>
              <a:t>(</a:t>
            </a:r>
            <a:r>
              <a:rPr lang="en-US" sz="2800" dirty="0"/>
              <a:t>2</a:t>
            </a:r>
            <a:r>
              <a:rPr lang="en-US" sz="2800" i="1" dirty="0"/>
              <a:t>π</a:t>
            </a:r>
            <a:r>
              <a:rPr lang="en-US" sz="2800" i="1" dirty="0" err="1"/>
              <a:t>f</a:t>
            </a:r>
            <a:r>
              <a:rPr lang="en-US" sz="2800" i="1" baseline="-25000" dirty="0" err="1"/>
              <a:t>c</a:t>
            </a:r>
            <a:r>
              <a:rPr lang="en-US" sz="2800" i="1" dirty="0" err="1"/>
              <a:t>t</a:t>
            </a:r>
            <a:r>
              <a:rPr lang="en-US" sz="2800" i="1" dirty="0"/>
              <a:t>) </a:t>
            </a:r>
            <a:r>
              <a:rPr lang="en-US" sz="2800" dirty="0"/>
              <a:t>and let the message signal be cos</a:t>
            </a:r>
            <a:r>
              <a:rPr lang="en-US" sz="2800" i="1" dirty="0"/>
              <a:t>(</a:t>
            </a:r>
            <a:r>
              <a:rPr lang="en-US" sz="2800" dirty="0"/>
              <a:t>20</a:t>
            </a:r>
            <a:r>
              <a:rPr lang="en-US" sz="2800" i="1" dirty="0"/>
              <a:t>πt)</a:t>
            </a:r>
            <a:endParaRPr lang="en-US" sz="2800" dirty="0"/>
          </a:p>
          <a:p>
            <a:r>
              <a:rPr lang="en-US" sz="2800" dirty="0"/>
              <a:t>Further assume that the message is used to frequency modulate the carrier with </a:t>
            </a:r>
            <a:r>
              <a:rPr lang="en-US" sz="2800" i="1" dirty="0" err="1"/>
              <a:t>k</a:t>
            </a:r>
            <a:r>
              <a:rPr lang="en-US" sz="2800" i="1" baseline="-25000" dirty="0" err="1"/>
              <a:t>f</a:t>
            </a:r>
            <a:r>
              <a:rPr lang="en-US" sz="2800" i="1" dirty="0"/>
              <a:t> </a:t>
            </a:r>
            <a:r>
              <a:rPr lang="en-US" sz="2800" dirty="0"/>
              <a:t>= 50.</a:t>
            </a:r>
          </a:p>
          <a:p>
            <a:r>
              <a:rPr lang="en-US" sz="2800" dirty="0"/>
              <a:t>Find the expression for the modulated signal and determine how many harmonics should</a:t>
            </a:r>
            <a:br>
              <a:rPr lang="en-US" sz="2800" dirty="0"/>
            </a:br>
            <a:r>
              <a:rPr lang="en-US" sz="2800" dirty="0"/>
              <a:t>be selected to contain 99% of the modulated signal power.</a:t>
            </a:r>
            <a:br>
              <a:rPr lang="en-US" sz="2800" dirty="0"/>
            </a:br>
            <a:endParaRPr lang="en-US" sz="2800" dirty="0"/>
          </a:p>
        </p:txBody>
      </p:sp>
    </p:spTree>
    <p:extLst>
      <p:ext uri="{BB962C8B-B14F-4D97-AF65-F5344CB8AC3E}">
        <p14:creationId xmlns:p14="http://schemas.microsoft.com/office/powerpoint/2010/main" val="37416749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5.1 </a:t>
            </a:r>
            <a:r>
              <a:rPr lang="en-US" dirty="0" err="1"/>
              <a:t>pg</a:t>
            </a:r>
            <a:r>
              <a:rPr lang="en-US" dirty="0"/>
              <a:t> 128</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219200"/>
                <a:ext cx="8382000" cy="4906963"/>
              </a:xfrm>
            </p:spPr>
            <p:txBody>
              <a:bodyPr>
                <a:normAutofit lnSpcReduction="10000"/>
              </a:bodyPr>
              <a:lstStyle/>
              <a:p>
                <a:r>
                  <a:rPr lang="en-US" sz="2800" dirty="0"/>
                  <a:t>An angle-modulated signal with carrier frequency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𝜔</m:t>
                        </m:r>
                      </m:e>
                      <m:sub>
                        <m:r>
                          <a:rPr lang="en-US" sz="2800" i="1">
                            <a:latin typeface="Cambria Math" panose="02040503050406030204" pitchFamily="18" charset="0"/>
                          </a:rPr>
                          <m:t>𝑐</m:t>
                        </m:r>
                      </m:sub>
                    </m:sSub>
                    <m:r>
                      <a:rPr lang="en-US" sz="2800">
                        <a:latin typeface="Cambria Math" panose="02040503050406030204" pitchFamily="18" charset="0"/>
                      </a:rPr>
                      <m:t>=2</m:t>
                    </m:r>
                    <m:r>
                      <a:rPr lang="en-US" sz="2800" i="1">
                        <a:latin typeface="Cambria Math" panose="02040503050406030204" pitchFamily="18" charset="0"/>
                      </a:rPr>
                      <m:t>𝜋</m:t>
                    </m:r>
                    <m:r>
                      <a:rPr lang="en-US" sz="2800">
                        <a:latin typeface="Cambria Math" panose="02040503050406030204" pitchFamily="18" charset="0"/>
                      </a:rPr>
                      <m:t>×</m:t>
                    </m:r>
                    <m:sSup>
                      <m:sSupPr>
                        <m:ctrlPr>
                          <a:rPr lang="en-US" sz="2800" i="1">
                            <a:latin typeface="Cambria Math" panose="02040503050406030204" pitchFamily="18" charset="0"/>
                          </a:rPr>
                        </m:ctrlPr>
                      </m:sSupPr>
                      <m:e>
                        <m:r>
                          <a:rPr lang="en-US" sz="2800">
                            <a:latin typeface="Cambria Math" panose="02040503050406030204" pitchFamily="18" charset="0"/>
                          </a:rPr>
                          <m:t>10</m:t>
                        </m:r>
                      </m:e>
                      <m:sup>
                        <m:r>
                          <a:rPr lang="en-US" sz="2800">
                            <a:latin typeface="Cambria Math" panose="02040503050406030204" pitchFamily="18" charset="0"/>
                          </a:rPr>
                          <m:t>5</m:t>
                        </m:r>
                      </m:sup>
                    </m:sSup>
                  </m:oMath>
                </a14:m>
                <a:r>
                  <a:rPr lang="en-US" sz="2800" dirty="0"/>
                  <a:t> is described by the equation </a:t>
                </a:r>
              </a:p>
              <a:p>
                <a:pPr marL="0" indent="0">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a:latin typeface="Cambria Math" panose="02040503050406030204" pitchFamily="18" charset="0"/>
                            </a:rPr>
                            <m:t>℘</m:t>
                          </m:r>
                        </m:e>
                        <m:sub>
                          <m:r>
                            <a:rPr lang="en-US" sz="2800" i="1">
                              <a:latin typeface="Cambria Math" panose="02040503050406030204" pitchFamily="18" charset="0"/>
                            </a:rPr>
                            <m:t>𝐸𝑀</m:t>
                          </m:r>
                        </m:sub>
                      </m:sSub>
                      <m:r>
                        <a:rPr lang="en-US" sz="2800">
                          <a:latin typeface="Cambria Math" panose="02040503050406030204" pitchFamily="18" charset="0"/>
                        </a:rPr>
                        <m:t>(</m:t>
                      </m:r>
                      <m:r>
                        <a:rPr lang="en-US" sz="2800" i="1">
                          <a:latin typeface="Cambria Math" panose="02040503050406030204" pitchFamily="18" charset="0"/>
                        </a:rPr>
                        <m:t>𝑡</m:t>
                      </m:r>
                      <m:r>
                        <a:rPr lang="en-US" sz="2800">
                          <a:latin typeface="Cambria Math" panose="02040503050406030204" pitchFamily="18" charset="0"/>
                        </a:rPr>
                        <m:t>)=10</m:t>
                      </m:r>
                      <m:r>
                        <m:rPr>
                          <m:sty m:val="p"/>
                        </m:rPr>
                        <a:rPr lang="en-US" sz="2800">
                          <a:latin typeface="Cambria Math" panose="02040503050406030204" pitchFamily="18" charset="0"/>
                        </a:rPr>
                        <m:t>cos</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𝜔</m:t>
                              </m:r>
                            </m:e>
                            <m:sub>
                              <m:r>
                                <a:rPr lang="en-US" sz="2800" i="1">
                                  <a:latin typeface="Cambria Math" panose="02040503050406030204" pitchFamily="18" charset="0"/>
                                </a:rPr>
                                <m:t>𝑐</m:t>
                              </m:r>
                            </m:sub>
                          </m:sSub>
                          <m:r>
                            <a:rPr lang="en-US" sz="2800" i="1">
                              <a:latin typeface="Cambria Math" panose="02040503050406030204" pitchFamily="18" charset="0"/>
                            </a:rPr>
                            <m:t>𝑡</m:t>
                          </m:r>
                          <m:r>
                            <a:rPr lang="en-US" sz="2800">
                              <a:latin typeface="Cambria Math" panose="02040503050406030204" pitchFamily="18" charset="0"/>
                            </a:rPr>
                            <m:t>+5</m:t>
                          </m:r>
                          <m:r>
                            <m:rPr>
                              <m:sty m:val="p"/>
                            </m:rPr>
                            <a:rPr lang="en-US" sz="2800">
                              <a:latin typeface="Cambria Math" panose="02040503050406030204" pitchFamily="18" charset="0"/>
                            </a:rPr>
                            <m:t>sin</m:t>
                          </m:r>
                          <m:r>
                            <a:rPr lang="en-US" sz="2800">
                              <a:latin typeface="Cambria Math" panose="02040503050406030204" pitchFamily="18" charset="0"/>
                            </a:rPr>
                            <m:t>3000</m:t>
                          </m:r>
                          <m:r>
                            <a:rPr lang="en-US" sz="2800" i="1">
                              <a:latin typeface="Cambria Math" panose="02040503050406030204" pitchFamily="18" charset="0"/>
                            </a:rPr>
                            <m:t>𝑡</m:t>
                          </m:r>
                          <m:r>
                            <a:rPr lang="en-US" sz="2800">
                              <a:latin typeface="Cambria Math" panose="02040503050406030204" pitchFamily="18" charset="0"/>
                            </a:rPr>
                            <m:t>+10</m:t>
                          </m:r>
                          <m:r>
                            <m:rPr>
                              <m:sty m:val="p"/>
                            </m:rPr>
                            <a:rPr lang="en-US" sz="2800">
                              <a:latin typeface="Cambria Math" panose="02040503050406030204" pitchFamily="18" charset="0"/>
                            </a:rPr>
                            <m:t>sin</m:t>
                          </m:r>
                          <m:r>
                            <a:rPr lang="en-US" sz="2800">
                              <a:latin typeface="Cambria Math" panose="02040503050406030204" pitchFamily="18" charset="0"/>
                            </a:rPr>
                            <m:t>2000</m:t>
                          </m:r>
                          <m:r>
                            <a:rPr lang="en-US" sz="2800" i="1">
                              <a:latin typeface="Cambria Math" panose="02040503050406030204" pitchFamily="18" charset="0"/>
                            </a:rPr>
                            <m:t>𝜋</m:t>
                          </m:r>
                          <m:r>
                            <a:rPr lang="en-US" sz="2800" i="1">
                              <a:latin typeface="Cambria Math" panose="02040503050406030204" pitchFamily="18" charset="0"/>
                            </a:rPr>
                            <m:t>𝑡</m:t>
                          </m:r>
                        </m:e>
                      </m:d>
                    </m:oMath>
                  </m:oMathPara>
                </a14:m>
                <a:endParaRPr lang="en-US" sz="2800" dirty="0"/>
              </a:p>
              <a:p>
                <a:pPr marL="0" indent="0">
                  <a:buNone/>
                </a:pPr>
                <a:endParaRPr lang="en-US" sz="2800" dirty="0"/>
              </a:p>
              <a:p>
                <a:pPr marL="571500" indent="-571500">
                  <a:buFont typeface="+mj-lt"/>
                  <a:buAutoNum type="romanLcPeriod"/>
                </a:pPr>
                <a:r>
                  <a:rPr lang="en-US" sz="2800" dirty="0"/>
                  <a:t>Find the power of the modulated signal</a:t>
                </a:r>
              </a:p>
              <a:p>
                <a:pPr marL="571500" indent="-571500">
                  <a:buFont typeface="+mj-lt"/>
                  <a:buAutoNum type="romanLcPeriod"/>
                </a:pPr>
                <a:r>
                  <a:rPr lang="en-US" sz="2800" dirty="0"/>
                  <a:t>Find frequency deviation </a:t>
                </a:r>
                <a14:m>
                  <m:oMath xmlns:m="http://schemas.openxmlformats.org/officeDocument/2006/math">
                    <m:r>
                      <a:rPr lang="en-US" sz="2800" i="1">
                        <a:latin typeface="Cambria Math" panose="02040503050406030204" pitchFamily="18" charset="0"/>
                      </a:rPr>
                      <m:t>𝛥</m:t>
                    </m:r>
                    <m:r>
                      <a:rPr lang="en-US" sz="2800" i="1">
                        <a:latin typeface="Cambria Math" panose="02040503050406030204" pitchFamily="18" charset="0"/>
                      </a:rPr>
                      <m:t>𝑓</m:t>
                    </m:r>
                  </m:oMath>
                </a14:m>
                <a:endParaRPr lang="en-US" sz="2800" dirty="0"/>
              </a:p>
              <a:p>
                <a:pPr marL="571500" indent="-571500">
                  <a:buFont typeface="+mj-lt"/>
                  <a:buAutoNum type="romanLcPeriod"/>
                </a:pPr>
                <a:r>
                  <a:rPr lang="en-US" sz="2800" dirty="0"/>
                  <a:t>Find the deviation ratio </a:t>
                </a:r>
                <a14:m>
                  <m:oMath xmlns:m="http://schemas.openxmlformats.org/officeDocument/2006/math">
                    <m:r>
                      <a:rPr lang="en-US" sz="2800" i="1">
                        <a:latin typeface="Cambria Math" panose="02040503050406030204" pitchFamily="18" charset="0"/>
                      </a:rPr>
                      <m:t>𝛽</m:t>
                    </m:r>
                  </m:oMath>
                </a14:m>
                <a:endParaRPr lang="en-US" sz="2800" dirty="0"/>
              </a:p>
              <a:p>
                <a:pPr marL="571500" indent="-571500">
                  <a:buFont typeface="+mj-lt"/>
                  <a:buAutoNum type="romanLcPeriod"/>
                </a:pPr>
                <a:endParaRPr lang="en-US" sz="2800" dirty="0"/>
              </a:p>
              <a:p>
                <a:pPr marL="571500" indent="-571500">
                  <a:buFont typeface="+mj-lt"/>
                  <a:buAutoNum type="romanLcPeriod"/>
                </a:pPr>
                <a:r>
                  <a:rPr lang="en-US" sz="2800" dirty="0"/>
                  <a:t>Find the phase deviation </a:t>
                </a:r>
                <a14:m>
                  <m:oMath xmlns:m="http://schemas.openxmlformats.org/officeDocument/2006/math">
                    <m:r>
                      <a:rPr lang="en-US" sz="2800" i="1">
                        <a:latin typeface="Cambria Math" panose="02040503050406030204" pitchFamily="18" charset="0"/>
                      </a:rPr>
                      <m:t>𝛥𝜙</m:t>
                    </m:r>
                  </m:oMath>
                </a14:m>
                <a:endParaRPr lang="en-US" sz="2800" dirty="0"/>
              </a:p>
              <a:p>
                <a:pPr marL="571500" indent="-571500">
                  <a:buFont typeface="+mj-lt"/>
                  <a:buAutoNum type="romanLcPeriod"/>
                </a:pPr>
                <a:r>
                  <a:rPr lang="en-US" sz="2800" dirty="0"/>
                  <a:t>Estimate the bandwidth of </a:t>
                </a:r>
                <a14:m>
                  <m:oMath xmlns:m="http://schemas.openxmlformats.org/officeDocument/2006/math">
                    <m:sSub>
                      <m:sSubPr>
                        <m:ctrlPr>
                          <a:rPr lang="en-US" sz="2800" i="1">
                            <a:latin typeface="Cambria Math" panose="02040503050406030204" pitchFamily="18" charset="0"/>
                          </a:rPr>
                        </m:ctrlPr>
                      </m:sSubPr>
                      <m:e>
                        <m:r>
                          <a:rPr lang="en-US" sz="2800">
                            <a:latin typeface="Cambria Math" panose="02040503050406030204" pitchFamily="18" charset="0"/>
                          </a:rPr>
                          <m:t>℘</m:t>
                        </m:r>
                      </m:e>
                      <m:sub>
                        <m:r>
                          <a:rPr lang="en-US" sz="2800" i="1">
                            <a:latin typeface="Cambria Math" panose="02040503050406030204" pitchFamily="18" charset="0"/>
                          </a:rPr>
                          <m:t>𝐸𝑀</m:t>
                        </m:r>
                      </m:sub>
                    </m:sSub>
                    <m:r>
                      <a:rPr lang="en-US" sz="2800">
                        <a:latin typeface="Cambria Math" panose="02040503050406030204" pitchFamily="18" charset="0"/>
                      </a:rPr>
                      <m:t>(</m:t>
                    </m:r>
                    <m:r>
                      <a:rPr lang="en-US" sz="2800" i="1">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219200"/>
                <a:ext cx="8382000" cy="4906963"/>
              </a:xfrm>
              <a:blipFill>
                <a:blip r:embed="rId3"/>
                <a:stretch>
                  <a:fillRect l="-2618" t="-2733" b="-1988"/>
                </a:stretch>
              </a:blipFill>
            </p:spPr>
            <p:txBody>
              <a:bodyPr/>
              <a:lstStyle/>
              <a:p>
                <a:r>
                  <a:rPr lang="en-US">
                    <a:noFill/>
                  </a:rPr>
                  <a:t> </a:t>
                </a:r>
              </a:p>
            </p:txBody>
          </p:sp>
        </mc:Fallback>
      </mc:AlternateContent>
      <p:sp>
        <p:nvSpPr>
          <p:cNvPr id="4" name="TextBox 3"/>
          <p:cNvSpPr txBox="1"/>
          <p:nvPr/>
        </p:nvSpPr>
        <p:spPr>
          <a:xfrm>
            <a:off x="2514599" y="2732497"/>
            <a:ext cx="6028253" cy="369332"/>
          </a:xfrm>
          <a:prstGeom prst="rect">
            <a:avLst/>
          </a:prstGeom>
          <a:noFill/>
        </p:spPr>
        <p:txBody>
          <a:bodyPr wrap="none" rtlCol="0">
            <a:spAutoFit/>
          </a:bodyPr>
          <a:lstStyle/>
          <a:p>
            <a:r>
              <a:rPr lang="en-US" dirty="0">
                <a:solidFill>
                  <a:srgbClr val="FF0000"/>
                </a:solidFill>
              </a:rPr>
              <a:t>Note: The bandwidth is 1000 Hz, the highest freq. in m(t)</a:t>
            </a:r>
          </a:p>
        </p:txBody>
      </p:sp>
      <p:sp>
        <p:nvSpPr>
          <p:cNvPr id="5" name="TextBox 4"/>
          <p:cNvSpPr txBox="1"/>
          <p:nvPr/>
        </p:nvSpPr>
        <p:spPr>
          <a:xfrm>
            <a:off x="5348091" y="3774732"/>
            <a:ext cx="3768980" cy="369332"/>
          </a:xfrm>
          <a:prstGeom prst="rect">
            <a:avLst/>
          </a:prstGeom>
          <a:noFill/>
        </p:spPr>
        <p:txBody>
          <a:bodyPr wrap="none" rtlCol="0">
            <a:spAutoFit/>
          </a:bodyPr>
          <a:lstStyle/>
          <a:p>
            <a:r>
              <a:rPr lang="en-US" dirty="0">
                <a:sym typeface="Wingdings" panose="05000000000000000000" pitchFamily="2" charset="2"/>
              </a:rPr>
              <a:t></a:t>
            </a:r>
            <a:r>
              <a:rPr lang="en-US" dirty="0"/>
              <a:t>Find the instantaneous freq. first</a:t>
            </a:r>
          </a:p>
        </p:txBody>
      </p:sp>
      <mc:AlternateContent xmlns:mc="http://schemas.openxmlformats.org/markup-compatibility/2006">
        <mc:Choice xmlns:a14="http://schemas.microsoft.com/office/drawing/2010/main" Requires="a14">
          <p:sp>
            <p:nvSpPr>
              <p:cNvPr id="6" name="TextBox 5"/>
              <p:cNvSpPr txBox="1"/>
              <p:nvPr/>
            </p:nvSpPr>
            <p:spPr>
              <a:xfrm>
                <a:off x="5391872" y="4046391"/>
                <a:ext cx="3510063" cy="491288"/>
              </a:xfrm>
              <a:prstGeom prst="rect">
                <a:avLst/>
              </a:prstGeom>
              <a:noFill/>
            </p:spPr>
            <p:txBody>
              <a:bodyPr wrap="none" rtlCol="0">
                <a:spAutoFit/>
              </a:bodyPr>
              <a:lstStyle/>
              <a:p>
                <a:r>
                  <a:rPr lang="en-US" dirty="0">
                    <a:solidFill>
                      <a:srgbClr val="FF0000"/>
                    </a:solidFill>
                  </a:rPr>
                  <a:t>By differentiation </a:t>
                </a:r>
                <a:r>
                  <a:rPr lang="en-US" dirty="0">
                    <a:solidFill>
                      <a:srgbClr val="FF0000"/>
                    </a:solidFill>
                    <a:sym typeface="Wingdings" panose="05000000000000000000" pitchFamily="2" charset="2"/>
                  </a:rPr>
                  <a: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𝜔</m:t>
                        </m:r>
                      </m:e>
                      <m:sub>
                        <m:r>
                          <a:rPr lang="en-US" i="1">
                            <a:solidFill>
                              <a:srgbClr val="FF0000"/>
                            </a:solidFill>
                            <a:latin typeface="Cambria Math" panose="02040503050406030204" pitchFamily="18" charset="0"/>
                          </a:rPr>
                          <m:t>𝑖</m:t>
                        </m:r>
                      </m:sub>
                    </m:sSub>
                    <m:r>
                      <a:rPr lang="en-US">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𝑑</m:t>
                        </m:r>
                      </m:num>
                      <m:den>
                        <m:r>
                          <a:rPr lang="en-US" i="1">
                            <a:solidFill>
                              <a:srgbClr val="FF0000"/>
                            </a:solidFill>
                            <a:latin typeface="Cambria Math" panose="02040503050406030204" pitchFamily="18" charset="0"/>
                          </a:rPr>
                          <m:t>𝑑𝑡</m:t>
                        </m:r>
                      </m:den>
                    </m:f>
                    <m:r>
                      <a:rPr lang="en-US" i="1">
                        <a:solidFill>
                          <a:srgbClr val="FF0000"/>
                        </a:solidFill>
                        <a:latin typeface="Cambria Math" panose="02040503050406030204" pitchFamily="18" charset="0"/>
                      </a:rPr>
                      <m:t>𝜃</m:t>
                    </m:r>
                    <m:r>
                      <a:rPr lang="en-US" b="0" i="1" baseline="-25000" smtClean="0">
                        <a:solidFill>
                          <a:srgbClr val="FF0000"/>
                        </a:solidFill>
                        <a:latin typeface="Cambria Math" panose="02040503050406030204" pitchFamily="18" charset="0"/>
                      </a:rPr>
                      <m:t>𝑖</m:t>
                    </m:r>
                    <m:r>
                      <a:rPr lang="en-US">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m:t>
                    </m:r>
                  </m:oMath>
                </a14:m>
                <a:r>
                  <a:rPr lang="en-US" dirty="0">
                    <a:solidFill>
                      <a:srgbClr val="FF0000"/>
                    </a:solidFill>
                    <a:sym typeface="Wingdings" panose="05000000000000000000" pitchFamily="2" charset="2"/>
                  </a:rPr>
                  <a:t> </a:t>
                </a:r>
                <a:endParaRPr lang="en-US" dirty="0">
                  <a:solidFill>
                    <a:srgbClr val="FF0000"/>
                  </a:solidFill>
                </a:endParaRPr>
              </a:p>
            </p:txBody>
          </p:sp>
        </mc:Choice>
        <mc:Fallback>
          <p:sp>
            <p:nvSpPr>
              <p:cNvPr id="6" name="TextBox 5"/>
              <p:cNvSpPr txBox="1">
                <a:spLocks noRot="1" noChangeAspect="1" noMove="1" noResize="1" noEditPoints="1" noAdjustHandles="1" noChangeArrowheads="1" noChangeShapeType="1" noTextEdit="1"/>
              </p:cNvSpPr>
              <p:nvPr/>
            </p:nvSpPr>
            <p:spPr>
              <a:xfrm>
                <a:off x="5391872" y="4046391"/>
                <a:ext cx="3510063" cy="491288"/>
              </a:xfrm>
              <a:prstGeom prst="rect">
                <a:avLst/>
              </a:prstGeom>
              <a:blipFill>
                <a:blip r:embed="rId4"/>
                <a:stretch>
                  <a:fillRect l="-1389" b="-8750"/>
                </a:stretch>
              </a:blipFill>
            </p:spPr>
            <p:txBody>
              <a:bodyPr/>
              <a:lstStyle/>
              <a:p>
                <a:r>
                  <a:rPr lang="en-US">
                    <a:noFill/>
                  </a:rPr>
                  <a:t> </a:t>
                </a:r>
              </a:p>
            </p:txBody>
          </p:sp>
        </mc:Fallback>
      </mc:AlternateContent>
      <p:sp>
        <p:nvSpPr>
          <p:cNvPr id="7" name="TextBox 6"/>
          <p:cNvSpPr txBox="1"/>
          <p:nvPr/>
        </p:nvSpPr>
        <p:spPr>
          <a:xfrm>
            <a:off x="914400" y="4567680"/>
            <a:ext cx="5027338" cy="369332"/>
          </a:xfrm>
          <a:prstGeom prst="rect">
            <a:avLst/>
          </a:prstGeom>
          <a:noFill/>
        </p:spPr>
        <p:txBody>
          <a:bodyPr wrap="none" rtlCol="0">
            <a:spAutoFit/>
          </a:bodyPr>
          <a:lstStyle/>
          <a:p>
            <a:r>
              <a:rPr lang="en-US" dirty="0">
                <a:solidFill>
                  <a:srgbClr val="FF0000"/>
                </a:solidFill>
              </a:rPr>
              <a:t>Find max carrier deviation </a:t>
            </a:r>
            <a:r>
              <a:rPr lang="en-US" dirty="0">
                <a:solidFill>
                  <a:srgbClr val="FF0000"/>
                </a:solidFill>
                <a:sym typeface="Wingdings" panose="05000000000000000000" pitchFamily="2" charset="2"/>
              </a:rPr>
              <a:t> get freq. deviation</a:t>
            </a:r>
            <a:endParaRPr lang="en-US" dirty="0">
              <a:solidFill>
                <a:srgbClr val="FF0000"/>
              </a:solidFill>
            </a:endParaRPr>
          </a:p>
        </p:txBody>
      </p:sp>
      <mc:AlternateContent xmlns:mc="http://schemas.openxmlformats.org/markup-compatibility/2006">
        <mc:Choice xmlns:a14="http://schemas.microsoft.com/office/drawing/2010/main" Requires="a14">
          <p:sp>
            <p:nvSpPr>
              <p:cNvPr id="8" name="TextBox 7"/>
              <p:cNvSpPr txBox="1"/>
              <p:nvPr/>
            </p:nvSpPr>
            <p:spPr>
              <a:xfrm>
                <a:off x="5528725" y="5288029"/>
                <a:ext cx="1948162" cy="369332"/>
              </a:xfrm>
              <a:prstGeom prst="rect">
                <a:avLst/>
              </a:prstGeom>
              <a:noFill/>
            </p:spPr>
            <p:txBody>
              <a:bodyPr wrap="none" rtlCol="0">
                <a:spAutoFit/>
              </a:bodyPr>
              <a:lstStyle/>
              <a:p>
                <a:r>
                  <a:rPr lang="en-US" dirty="0">
                    <a:sym typeface="Wingdings" panose="05000000000000000000" pitchFamily="2" charset="2"/>
                  </a:rPr>
                  <a:t> </a:t>
                </a:r>
                <a:r>
                  <a:rPr lang="en-US" dirty="0"/>
                  <a:t>We need </a:t>
                </a:r>
                <a14:m>
                  <m:oMath xmlns:m="http://schemas.openxmlformats.org/officeDocument/2006/math">
                    <m:r>
                      <a:rPr lang="en-US" i="1">
                        <a:solidFill>
                          <a:srgbClr val="FF0000"/>
                        </a:solidFill>
                        <a:latin typeface="Cambria Math" panose="02040503050406030204" pitchFamily="18" charset="0"/>
                      </a:rPr>
                      <m:t>𝜃</m:t>
                    </m:r>
                    <m:r>
                      <a:rPr lang="en-US" b="0" i="1" baseline="-25000" smtClean="0">
                        <a:solidFill>
                          <a:srgbClr val="FF0000"/>
                        </a:solidFill>
                        <a:latin typeface="Cambria Math" panose="02040503050406030204" pitchFamily="18" charset="0"/>
                      </a:rPr>
                      <m:t>𝑖</m:t>
                    </m:r>
                    <m:r>
                      <a:rPr lang="en-US">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𝑡</m:t>
                    </m:r>
                    <m:r>
                      <a:rPr lang="en-US" i="1">
                        <a:solidFill>
                          <a:srgbClr val="FF0000"/>
                        </a:solidFill>
                        <a:latin typeface="Cambria Math" panose="02040503050406030204" pitchFamily="18" charset="0"/>
                      </a:rPr>
                      <m:t>)</m:t>
                    </m:r>
                  </m:oMath>
                </a14:m>
                <a:r>
                  <a:rPr lang="en-US" dirty="0"/>
                  <a:t> </a:t>
                </a:r>
              </a:p>
            </p:txBody>
          </p:sp>
        </mc:Choice>
        <mc:Fallback>
          <p:sp>
            <p:nvSpPr>
              <p:cNvPr id="8" name="TextBox 7"/>
              <p:cNvSpPr txBox="1">
                <a:spLocks noRot="1" noChangeAspect="1" noMove="1" noResize="1" noEditPoints="1" noAdjustHandles="1" noChangeArrowheads="1" noChangeShapeType="1" noTextEdit="1"/>
              </p:cNvSpPr>
              <p:nvPr/>
            </p:nvSpPr>
            <p:spPr>
              <a:xfrm>
                <a:off x="5528725" y="5288029"/>
                <a:ext cx="1948162" cy="369332"/>
              </a:xfrm>
              <a:prstGeom prst="rect">
                <a:avLst/>
              </a:prstGeom>
              <a:blipFill>
                <a:blip r:embed="rId5"/>
                <a:stretch>
                  <a:fillRect l="-2813" t="-9836" b="-24590"/>
                </a:stretch>
              </a:blipFill>
            </p:spPr>
            <p:txBody>
              <a:bodyPr/>
              <a:lstStyle/>
              <a:p>
                <a:r>
                  <a:rPr lang="en-US">
                    <a:noFill/>
                  </a:rPr>
                  <a:t> </a:t>
                </a:r>
              </a:p>
            </p:txBody>
          </p:sp>
        </mc:Fallback>
      </mc:AlternateContent>
      <p:sp>
        <p:nvSpPr>
          <p:cNvPr id="9" name="TextBox 8"/>
          <p:cNvSpPr txBox="1"/>
          <p:nvPr/>
        </p:nvSpPr>
        <p:spPr>
          <a:xfrm>
            <a:off x="6125226" y="5823712"/>
            <a:ext cx="2214709" cy="369332"/>
          </a:xfrm>
          <a:prstGeom prst="rect">
            <a:avLst/>
          </a:prstGeom>
          <a:noFill/>
        </p:spPr>
        <p:txBody>
          <a:bodyPr wrap="none" rtlCol="0">
            <a:spAutoFit/>
          </a:bodyPr>
          <a:lstStyle/>
          <a:p>
            <a:r>
              <a:rPr lang="en-US" dirty="0">
                <a:solidFill>
                  <a:srgbClr val="FF0000"/>
                </a:solidFill>
                <a:sym typeface="Wingdings" panose="05000000000000000000" pitchFamily="2" charset="2"/>
              </a:rPr>
              <a:t> </a:t>
            </a:r>
            <a:r>
              <a:rPr lang="en-US" dirty="0">
                <a:solidFill>
                  <a:srgbClr val="FF0000"/>
                </a:solidFill>
              </a:rPr>
              <a:t>Carson’s formula</a:t>
            </a:r>
          </a:p>
        </p:txBody>
      </p:sp>
    </p:spTree>
    <p:extLst>
      <p:ext uri="{BB962C8B-B14F-4D97-AF65-F5344CB8AC3E}">
        <p14:creationId xmlns:p14="http://schemas.microsoft.com/office/powerpoint/2010/main" val="80720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FM</a:t>
            </a:r>
          </a:p>
        </p:txBody>
      </p:sp>
      <p:sp>
        <p:nvSpPr>
          <p:cNvPr id="3" name="Content Placeholder 2"/>
          <p:cNvSpPr>
            <a:spLocks noGrp="1"/>
          </p:cNvSpPr>
          <p:nvPr>
            <p:ph idx="1"/>
          </p:nvPr>
        </p:nvSpPr>
        <p:spPr/>
        <p:txBody>
          <a:bodyPr/>
          <a:lstStyle/>
          <a:p>
            <a:r>
              <a:rPr lang="en-US" dirty="0"/>
              <a:t>Some of the applications of the FM modulation are listed below:</a:t>
            </a:r>
          </a:p>
          <a:p>
            <a:pPr lvl="1"/>
            <a:r>
              <a:rPr lang="en-US" dirty="0"/>
              <a:t>FM Radio,(88 -108 MHz band, 75 kHz)</a:t>
            </a:r>
          </a:p>
          <a:p>
            <a:pPr lvl="1"/>
            <a:r>
              <a:rPr lang="en-US" dirty="0"/>
              <a:t>TV sound broadcast, 25 kHz,</a:t>
            </a:r>
          </a:p>
          <a:p>
            <a:pPr lvl="1"/>
            <a:r>
              <a:rPr lang="en-US" dirty="0"/>
              <a:t>Two-way mobile radio, 5 kHz / 2.5 kHz.</a:t>
            </a:r>
          </a:p>
        </p:txBody>
      </p:sp>
    </p:spTree>
    <p:extLst>
      <p:ext uri="{BB962C8B-B14F-4D97-AF65-F5344CB8AC3E}">
        <p14:creationId xmlns:p14="http://schemas.microsoft.com/office/powerpoint/2010/main" val="3664772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Advantages and disadvantages of FM over AM</a:t>
            </a:r>
          </a:p>
        </p:txBody>
      </p:sp>
      <p:sp>
        <p:nvSpPr>
          <p:cNvPr id="3" name="Content Placeholder 2"/>
          <p:cNvSpPr>
            <a:spLocks noGrp="1"/>
          </p:cNvSpPr>
          <p:nvPr>
            <p:ph idx="1"/>
          </p:nvPr>
        </p:nvSpPr>
        <p:spPr/>
        <p:txBody>
          <a:bodyPr>
            <a:normAutofit fontScale="92500"/>
          </a:bodyPr>
          <a:lstStyle/>
          <a:p>
            <a:r>
              <a:rPr lang="en-US" dirty="0"/>
              <a:t>Advantages of FM over AM are:</a:t>
            </a:r>
          </a:p>
          <a:p>
            <a:pPr marL="1028700" lvl="1" indent="-571500">
              <a:buFont typeface="+mj-lt"/>
              <a:buAutoNum type="romanLcPeriod"/>
            </a:pPr>
            <a:r>
              <a:rPr lang="en-US" dirty="0"/>
              <a:t>Less radiated power.</a:t>
            </a:r>
          </a:p>
          <a:p>
            <a:pPr marL="1028700" lvl="1" indent="-571500">
              <a:buFont typeface="+mj-lt"/>
              <a:buAutoNum type="romanLcPeriod"/>
            </a:pPr>
            <a:r>
              <a:rPr lang="en-US" dirty="0"/>
              <a:t>Low distortion due to improved signal to noise ratio (about 25dB) w.r.t. to man</a:t>
            </a:r>
            <a:br>
              <a:rPr lang="en-US" dirty="0"/>
            </a:br>
            <a:r>
              <a:rPr lang="en-US" dirty="0"/>
              <a:t>made interference.</a:t>
            </a:r>
          </a:p>
          <a:p>
            <a:pPr marL="1028700" lvl="1" indent="-571500">
              <a:buFont typeface="+mj-lt"/>
              <a:buAutoNum type="romanLcPeriod"/>
            </a:pPr>
            <a:r>
              <a:rPr lang="en-US" dirty="0"/>
              <a:t>Smaller geographical interference between neighboring stations.</a:t>
            </a:r>
          </a:p>
          <a:p>
            <a:pPr marL="1028700" lvl="1" indent="-571500">
              <a:buFont typeface="+mj-lt"/>
              <a:buAutoNum type="romanLcPeriod"/>
            </a:pPr>
            <a:r>
              <a:rPr lang="en-US" dirty="0"/>
              <a:t>Well defined service areas for given transmitter power.</a:t>
            </a:r>
          </a:p>
          <a:p>
            <a:r>
              <a:rPr lang="en-US" dirty="0"/>
              <a:t>Disadvantages of FM:</a:t>
            </a:r>
          </a:p>
          <a:p>
            <a:pPr marL="1028700" lvl="1" indent="-571500">
              <a:buFont typeface="+mj-lt"/>
              <a:buAutoNum type="romanLcPeriod"/>
            </a:pPr>
            <a:r>
              <a:rPr lang="en-US" dirty="0"/>
              <a:t>Much more Bandwidth (as much as 20 times as much).</a:t>
            </a:r>
          </a:p>
          <a:p>
            <a:pPr marL="1028700" lvl="1" indent="-571500">
              <a:buFont typeface="+mj-lt"/>
              <a:buAutoNum type="romanLcPeriod"/>
            </a:pPr>
            <a:r>
              <a:rPr lang="en-US" dirty="0"/>
              <a:t>More complicated receiver and transmitter.</a:t>
            </a:r>
          </a:p>
        </p:txBody>
      </p:sp>
    </p:spTree>
    <p:extLst>
      <p:ext uri="{BB962C8B-B14F-4D97-AF65-F5344CB8AC3E}">
        <p14:creationId xmlns:p14="http://schemas.microsoft.com/office/powerpoint/2010/main" val="39919125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2274</TotalTime>
  <Words>3231</Words>
  <Application>Microsoft Office PowerPoint</Application>
  <PresentationFormat>On-screen Show (4:3)</PresentationFormat>
  <Paragraphs>239</Paragraphs>
  <Slides>33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Cambria Math</vt:lpstr>
      <vt:lpstr>Courier New</vt:lpstr>
      <vt:lpstr>Symbol</vt:lpstr>
      <vt:lpstr>Wingdings</vt:lpstr>
      <vt:lpstr>Retrospect</vt:lpstr>
      <vt:lpstr>PowerPoint Presentation</vt:lpstr>
      <vt:lpstr>University of Energy and Natural Resources, Sunyani   Dept. of Computer &amp; Electrical Eng.   ELNG 307 – ANALOG AND DIGITAL COMMUNICATIONS</vt:lpstr>
      <vt:lpstr>Chapter 5 – Angle Modulation Techniques</vt:lpstr>
      <vt:lpstr>Angle (Exponential) modulation</vt:lpstr>
      <vt:lpstr>Angle modulation</vt:lpstr>
      <vt:lpstr>Angle modulation</vt:lpstr>
      <vt:lpstr>Angle modulation</vt:lpstr>
      <vt:lpstr>Angle modulation</vt:lpstr>
      <vt:lpstr>FM &amp; PM waveform equation</vt:lpstr>
      <vt:lpstr>FM &amp; PM waveforms</vt:lpstr>
      <vt:lpstr>Properties of angle modulated waves</vt:lpstr>
      <vt:lpstr>Frequency modulation – FM </vt:lpstr>
      <vt:lpstr>Frequency modulation – FM </vt:lpstr>
      <vt:lpstr>Frequency modulation – FM </vt:lpstr>
      <vt:lpstr>Example 5.1 pg 111</vt:lpstr>
      <vt:lpstr>Example 5.1 pg 114</vt:lpstr>
      <vt:lpstr>Narrowband FM</vt:lpstr>
      <vt:lpstr>Narrowband FM</vt:lpstr>
      <vt:lpstr>Narrowband FM</vt:lpstr>
      <vt:lpstr>Bessel function ├ J_n (β)</vt:lpstr>
      <vt:lpstr>Bessel function ├ J_n (β)</vt:lpstr>
      <vt:lpstr>Bessel function ├ J_n (β)</vt:lpstr>
      <vt:lpstr>Bessel function ├ J_n (β)</vt:lpstr>
      <vt:lpstr>Bessel function ├ J_n (β)</vt:lpstr>
      <vt:lpstr>Bessel function ├ J_n (β) – NBFM </vt:lpstr>
      <vt:lpstr>Bessel function ├ J_n (β) – WBFM </vt:lpstr>
      <vt:lpstr>Spectrum of WBFM</vt:lpstr>
      <vt:lpstr>Transmission bandwidth of FM (WB)</vt:lpstr>
      <vt:lpstr>Power content of FM</vt:lpstr>
      <vt:lpstr>Example 5.3 pg 123</vt:lpstr>
      <vt:lpstr>Example 5.1 pg 128</vt:lpstr>
      <vt:lpstr>Application of FM</vt:lpstr>
      <vt:lpstr>Advantages and disadvantages of FM over 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Tweneboah-Koduah</dc:creator>
  <cp:lastModifiedBy>Samuel Tweneboah-Koduah</cp:lastModifiedBy>
  <cp:revision>45</cp:revision>
  <dcterms:created xsi:type="dcterms:W3CDTF">2016-09-17T21:59:00Z</dcterms:created>
  <dcterms:modified xsi:type="dcterms:W3CDTF">2016-10-28T03:28:34Z</dcterms:modified>
</cp:coreProperties>
</file>