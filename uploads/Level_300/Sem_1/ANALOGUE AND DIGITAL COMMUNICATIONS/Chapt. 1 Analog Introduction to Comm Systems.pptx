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7" r:id="rId2"/>
    <p:sldId id="258" r:id="rId3"/>
    <p:sldId id="259" r:id="rId4"/>
    <p:sldId id="262" r:id="rId5"/>
    <p:sldId id="263" r:id="rId6"/>
    <p:sldId id="264" r:id="rId7"/>
    <p:sldId id="265" r:id="rId8"/>
    <p:sldId id="266" r:id="rId9"/>
    <p:sldId id="267" r:id="rId10"/>
    <p:sldId id="268" r:id="rId11"/>
    <p:sldId id="269" r:id="rId12"/>
    <p:sldId id="270" r:id="rId13"/>
    <p:sldId id="261" r:id="rId14"/>
    <p:sldId id="271" r:id="rId15"/>
    <p:sldId id="272" r:id="rId16"/>
    <p:sldId id="273" r:id="rId17"/>
    <p:sldId id="274" r:id="rId18"/>
    <p:sldId id="275" r:id="rId19"/>
    <p:sldId id="276" r:id="rId20"/>
    <p:sldId id="277" r:id="rId21"/>
    <p:sldId id="278" r:id="rId22"/>
    <p:sldId id="280" r:id="rId23"/>
    <p:sldId id="288" r:id="rId24"/>
    <p:sldId id="279" r:id="rId25"/>
    <p:sldId id="283" r:id="rId26"/>
    <p:sldId id="281" r:id="rId27"/>
    <p:sldId id="282" r:id="rId28"/>
    <p:sldId id="284" r:id="rId29"/>
    <p:sldId id="285" r:id="rId30"/>
    <p:sldId id="286" r:id="rId31"/>
    <p:sldId id="287"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DBE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77833" autoAdjust="0"/>
  </p:normalViewPr>
  <p:slideViewPr>
    <p:cSldViewPr snapToGrid="0">
      <p:cViewPr varScale="1">
        <p:scale>
          <a:sx n="61" d="100"/>
          <a:sy n="61" d="100"/>
        </p:scale>
        <p:origin x="67" y="110"/>
      </p:cViewPr>
      <p:guideLst/>
    </p:cSldViewPr>
  </p:slideViewPr>
  <p:notesTextViewPr>
    <p:cViewPr>
      <p:scale>
        <a:sx n="3" d="2"/>
        <a:sy n="3" d="2"/>
      </p:scale>
      <p:origin x="0" y="0"/>
    </p:cViewPr>
  </p:notesTextViewPr>
  <p:sorterViewPr>
    <p:cViewPr>
      <p:scale>
        <a:sx n="100" d="100"/>
        <a:sy n="100" d="100"/>
      </p:scale>
      <p:origin x="0" y="-328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viewProps" Target="viewProps.xml" /></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2.wmf" /></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4.wmf" /></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5.wmf"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EB163F-4AD4-4B58-8E1F-D14D6F5A2669}" type="datetimeFigureOut">
              <a:rPr lang="en-US" smtClean="0"/>
              <a:t>1/31/2024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D89D2A-0E16-49BE-8EA8-9D2461F27A06}"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89D2A-0E16-49BE-8EA8-9D2461F27A06}"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defRPr/>
            </a:pPr>
            <a:fld id="{E7569B4D-2B65-4B26-A854-D8AEC28F7E7B}" type="slidenum">
              <a:rPr kumimoji="0" lang="en-GB" sz="1800" b="0" i="0" u="none" strike="noStrike" kern="0" cap="none" spc="0" normalizeH="0" baseline="0" noProof="0" smtClean="0">
                <a:ln>
                  <a:noFill/>
                </a:ln>
                <a:solidFill>
                  <a:prstClr val="black"/>
                </a:solidFill>
                <a:effectLst/>
                <a:uLnTx/>
                <a:uFillTx/>
              </a:rPr>
              <a:t>2</a:t>
            </a:fld>
            <a:endParaRPr kumimoji="0" lang="en-GB" sz="1800" b="0" i="0" u="none" strike="noStrike" kern="0" cap="none" spc="0" normalizeH="0" baseline="0" noProof="0">
              <a:ln>
                <a:noFill/>
              </a:ln>
              <a:solidFill>
                <a:prstClr val="black"/>
              </a:solidFill>
              <a:effectLst/>
              <a:uLnTx/>
              <a:uFillTx/>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89D2A-0E16-49BE-8EA8-9D2461F27A06}"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DD016CE2-E59E-4A9F-B022-55D079DA2D35}" type="slidenum">
              <a:rPr lang="en-GB" smtClean="0"/>
              <a:t>4</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DD016CE2-E59E-4A9F-B022-55D079DA2D35}" type="slidenum">
              <a:rPr lang="en-GB" smtClean="0"/>
              <a:t>5</a:t>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DD016CE2-E59E-4A9F-B022-55D079DA2D35}" type="slidenum">
              <a:rPr lang="en-GB" smtClean="0"/>
              <a:t>6</a:t>
            </a:fld>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DD016CE2-E59E-4A9F-B022-55D079DA2D35}" type="slidenum">
              <a:rPr lang="en-GB" smtClean="0"/>
              <a:t>7</a:t>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342900" indent="-342900" eaLnBrk="1" hangingPunct="1">
              <a:spcBef>
                <a:spcPct val="20000"/>
              </a:spcBef>
              <a:buClr>
                <a:schemeClr val="accent1"/>
              </a:buClr>
              <a:buSzPct val="85000"/>
              <a:buFont typeface="Wingdings" panose="05000000000000000000" pitchFamily="2" charset="2"/>
              <a:buChar char="o"/>
            </a:pPr>
            <a:r>
              <a:rPr lang="en-AU" sz="1200" b="1" dirty="0">
                <a:solidFill>
                  <a:schemeClr val="tx2"/>
                </a:solidFill>
              </a:rPr>
              <a:t>Beats drum to attract people’s attention, then pass on mayor’s message to the city</a:t>
            </a:r>
          </a:p>
          <a:p>
            <a:pPr marL="342900" marR="0" indent="-342900" algn="l" defTabSz="914400" rtl="0" eaLnBrk="1" fontAlgn="auto" latinLnBrk="0" hangingPunct="1">
              <a:lnSpc>
                <a:spcPct val="100000"/>
              </a:lnSpc>
              <a:spcBef>
                <a:spcPct val="20000"/>
              </a:spcBef>
              <a:spcAft>
                <a:spcPts val="0"/>
              </a:spcAft>
              <a:buClr>
                <a:schemeClr val="accent1"/>
              </a:buClr>
              <a:buSzPct val="85000"/>
              <a:buFont typeface="Wingdings" panose="05000000000000000000" pitchFamily="2" charset="2"/>
              <a:buChar char="o"/>
              <a:defRPr/>
            </a:pPr>
            <a:r>
              <a:rPr lang="en-AU" sz="1200" dirty="0"/>
              <a:t>Put a bait on an envelope containing message to entice a bird to carry it to another geographical place</a:t>
            </a:r>
          </a:p>
          <a:p>
            <a:pPr marL="342900" marR="0" indent="-342900" algn="l" defTabSz="914400" rtl="0" eaLnBrk="1" fontAlgn="auto" latinLnBrk="0" hangingPunct="1">
              <a:lnSpc>
                <a:spcPct val="100000"/>
              </a:lnSpc>
              <a:spcBef>
                <a:spcPct val="20000"/>
              </a:spcBef>
              <a:spcAft>
                <a:spcPts val="0"/>
              </a:spcAft>
              <a:buClr>
                <a:schemeClr val="accent1"/>
              </a:buClr>
              <a:buSzPct val="85000"/>
              <a:buFont typeface="Wingdings" panose="05000000000000000000" pitchFamily="2" charset="2"/>
              <a:buChar char="o"/>
              <a:defRPr/>
            </a:pPr>
            <a:r>
              <a:rPr lang="en-AU" sz="1200" dirty="0"/>
              <a:t>A line of shouting men standing on heights conveys king’s messages from the</a:t>
            </a:r>
            <a:r>
              <a:rPr lang="en-AU" sz="1200" baseline="0" dirty="0"/>
              <a:t> </a:t>
            </a:r>
            <a:r>
              <a:rPr lang="en-AU" sz="1200" dirty="0"/>
              <a:t>capital to remote provinces of the empire</a:t>
            </a:r>
          </a:p>
          <a:p>
            <a:pPr marL="342900" marR="0" indent="-342900" algn="l" defTabSz="914400" rtl="0" eaLnBrk="1" fontAlgn="auto" latinLnBrk="0" hangingPunct="1">
              <a:lnSpc>
                <a:spcPct val="100000"/>
              </a:lnSpc>
              <a:spcBef>
                <a:spcPct val="20000"/>
              </a:spcBef>
              <a:spcAft>
                <a:spcPts val="0"/>
              </a:spcAft>
              <a:buClr>
                <a:schemeClr val="accent1"/>
              </a:buClr>
              <a:buSzPct val="85000"/>
              <a:buFont typeface="Wingdings" panose="05000000000000000000" pitchFamily="2" charset="2"/>
              <a:buChar char="o"/>
              <a:defRPr/>
            </a:pPr>
            <a:endParaRPr lang="en-US" sz="1200" dirty="0"/>
          </a:p>
          <a:p>
            <a:pPr marL="342900" indent="-342900" eaLnBrk="1" hangingPunct="1">
              <a:spcBef>
                <a:spcPct val="20000"/>
              </a:spcBef>
              <a:buClr>
                <a:schemeClr val="accent1"/>
              </a:buClr>
              <a:buSzPct val="85000"/>
              <a:buFont typeface="Wingdings" panose="05000000000000000000" pitchFamily="2" charset="2"/>
              <a:buChar char="o"/>
            </a:pPr>
            <a:endParaRPr lang="en-US" sz="1200" b="1" dirty="0">
              <a:solidFill>
                <a:schemeClr val="tx2"/>
              </a:solidFill>
            </a:endParaRPr>
          </a:p>
          <a:p>
            <a:endParaRPr lang="en-GB" dirty="0"/>
          </a:p>
        </p:txBody>
      </p:sp>
      <p:sp>
        <p:nvSpPr>
          <p:cNvPr id="4" name="Slide Number Placeholder 3"/>
          <p:cNvSpPr>
            <a:spLocks noGrp="1"/>
          </p:cNvSpPr>
          <p:nvPr>
            <p:ph type="sldNum" sz="quarter" idx="10"/>
          </p:nvPr>
        </p:nvSpPr>
        <p:spPr/>
        <p:txBody>
          <a:bodyPr/>
          <a:lstStyle/>
          <a:p>
            <a:fld id="{DD016CE2-E59E-4A9F-B022-55D079DA2D35}" type="slidenum">
              <a:rPr lang="en-GB" smtClean="0"/>
              <a:t>8</a:t>
            </a:fld>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lang="en-US" sz="1200" kern="1200" dirty="0">
                <a:solidFill>
                  <a:schemeClr val="tx1"/>
                </a:solidFill>
                <a:effectLst/>
                <a:latin typeface="+mn-lt"/>
                <a:ea typeface="+mn-ea"/>
                <a:cs typeface="+mn-cs"/>
              </a:rPr>
              <a:t>Communication systems are distinctly different from electric energy. </a:t>
            </a:r>
          </a:p>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lang="en-US" sz="1200" kern="1200" dirty="0">
                <a:solidFill>
                  <a:schemeClr val="tx1"/>
                </a:solidFill>
                <a:effectLst/>
                <a:latin typeface="+mn-lt"/>
                <a:ea typeface="+mn-ea"/>
                <a:cs typeface="+mn-cs"/>
              </a:rPr>
              <a:t>In electric energy, the waveforms are usually known and electrical engineer is concerned with designing system for minimum energy loss. </a:t>
            </a:r>
          </a:p>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lang="en-US" sz="1200" kern="1200" dirty="0">
                <a:solidFill>
                  <a:schemeClr val="tx1"/>
                </a:solidFill>
                <a:effectLst/>
                <a:latin typeface="+mn-lt"/>
                <a:ea typeface="+mn-ea"/>
                <a:cs typeface="+mn-cs"/>
              </a:rPr>
              <a:t>Whereas in communication systems, the signal present at the sink is unknown until it is received at the sink. </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DD016CE2-E59E-4A9F-B022-55D079DA2D35}" type="slidenum">
              <a:rPr lang="en-GB" smtClean="0"/>
              <a:t>9</a:t>
            </a:fld>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DD016CE2-E59E-4A9F-B022-55D079DA2D35}" type="slidenum">
              <a:rPr lang="en-GB" smtClean="0"/>
              <a:t>10</a:t>
            </a:fld>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7133DB4-F424-4F4F-AC4B-220E6FAB2C71}" type="slidenum">
              <a:rPr lang="en-US" altLang="en-US"/>
              <a:t>11</a:t>
            </a:fld>
            <a:endParaRPr lang="en-US" altLang="en-US"/>
          </a:p>
        </p:txBody>
      </p:sp>
      <p:sp>
        <p:nvSpPr>
          <p:cNvPr id="273410" name="Rectangle 2"/>
          <p:cNvSpPr>
            <a:spLocks noGrp="1" noRot="1" noChangeAspect="1" noChangeArrowheads="1" noTextEdit="1"/>
          </p:cNvSpPr>
          <p:nvPr>
            <p:ph type="sldImg"/>
          </p:nvPr>
        </p:nvSpPr>
        <p:spPr>
          <a:xfrm>
            <a:off x="1371600" y="1143000"/>
            <a:ext cx="4114800" cy="3086100"/>
          </a:xfrm>
        </p:spPr>
      </p:sp>
      <p:sp>
        <p:nvSpPr>
          <p:cNvPr id="273411" name="Rectangle 3"/>
          <p:cNvSpPr>
            <a:spLocks noGrp="1" noChangeArrowheads="1"/>
          </p:cNvSpPr>
          <p:nvPr>
            <p:ph type="body" idx="1"/>
          </p:nvPr>
        </p:nvSpPr>
        <p:spPr>
          <a:xfrm>
            <a:off x="914400" y="6262688"/>
            <a:ext cx="1200150" cy="274637"/>
          </a:xfrm>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Modulation </a:t>
            </a:r>
            <a:r>
              <a:rPr lang="en-US" sz="1200" kern="1200" dirty="0">
                <a:solidFill>
                  <a:schemeClr val="tx1"/>
                </a:solidFill>
                <a:effectLst/>
                <a:latin typeface="+mn-lt"/>
                <a:ea typeface="+mn-ea"/>
                <a:cs typeface="+mn-cs"/>
                <a:sym typeface="Wingdings" panose="05000000000000000000" pitchFamily="2" charset="2"/>
              </a:rPr>
              <a:t></a:t>
            </a:r>
            <a:r>
              <a:rPr lang="en-US" sz="1200" kern="1200" dirty="0">
                <a:solidFill>
                  <a:schemeClr val="tx1"/>
                </a:solidFill>
                <a:effectLst/>
                <a:latin typeface="+mn-lt"/>
                <a:ea typeface="+mn-ea"/>
                <a:cs typeface="+mn-cs"/>
              </a:rPr>
              <a:t> is the process of changing some characteristics such as amplitude, frequency and/or phase of a carrier wave in accordance with the instantaneous value of the modulating signal. </a:t>
            </a:r>
            <a:endParaRPr lang="en-GB" sz="1200" kern="1200" dirty="0">
              <a:solidFill>
                <a:schemeClr val="tx1"/>
              </a:solidFill>
              <a:effectLst/>
              <a:latin typeface="+mn-lt"/>
              <a:ea typeface="+mn-ea"/>
              <a:cs typeface="+mn-cs"/>
            </a:endParaRPr>
          </a:p>
          <a:p>
            <a:r>
              <a:rPr lang="en-US" dirty="0">
                <a:sym typeface="Wingdings" panose="05000000000000000000" pitchFamily="2" charset="2"/>
              </a:rPr>
              <a:t></a:t>
            </a:r>
            <a:r>
              <a:rPr lang="en-US" dirty="0"/>
              <a:t>Transmitter is made up of oscillators, amplifiers, tuned circuits and filters, modulators, frequency mixers, frequency synthesizers, and other circuits</a:t>
            </a:r>
          </a:p>
          <a:p>
            <a:r>
              <a:rPr lang="en-US" dirty="0">
                <a:sym typeface="Wingdings" panose="05000000000000000000" pitchFamily="2" charset="2"/>
              </a:rPr>
              <a:t>Receivers contain amplifiers, oscillators, mixers, tuned circuits and filters, and a demodulator or detector that recovers the original intelligence signal from the modulated carrier</a:t>
            </a:r>
            <a:endParaRPr lang="en-GB" dirty="0"/>
          </a:p>
        </p:txBody>
      </p:sp>
      <p:sp>
        <p:nvSpPr>
          <p:cNvPr id="4" name="Slide Number Placeholder 3"/>
          <p:cNvSpPr>
            <a:spLocks noGrp="1"/>
          </p:cNvSpPr>
          <p:nvPr>
            <p:ph type="sldNum" sz="quarter" idx="10"/>
          </p:nvPr>
        </p:nvSpPr>
        <p:spPr/>
        <p:txBody>
          <a:bodyPr/>
          <a:lstStyle/>
          <a:p>
            <a:fld id="{DD016CE2-E59E-4A9F-B022-55D079DA2D35}" type="slidenum">
              <a:rPr lang="en-GB" smtClean="0"/>
              <a:t>12</a:t>
            </a:fld>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89D2A-0E16-49BE-8EA8-9D2461F27A06}" type="slidenum">
              <a:rPr lang="en-US" smtClean="0"/>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b="0" i="0" kern="1200" dirty="0">
                <a:solidFill>
                  <a:schemeClr val="tx1"/>
                </a:solidFill>
                <a:effectLst/>
                <a:latin typeface="+mn-lt"/>
                <a:ea typeface="+mn-ea"/>
                <a:cs typeface="+mn-cs"/>
              </a:rPr>
              <a:t>The channel:</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It acts partly as a filter to attenuate the signal and distort the waveform.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The attenuation increases with the length and property of the channel.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The distortion occurs due to different amount of attenuation and phase shift suffered by</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different frequency components of the signal.</a:t>
            </a:r>
            <a:r>
              <a:rPr lang="en-US" dirty="0"/>
              <a:t> </a:t>
            </a:r>
          </a:p>
          <a:p>
            <a:pPr marL="0" indent="0">
              <a:buFont typeface="Arial" panose="020B0604020202020204" pitchFamily="34" charset="0"/>
              <a:buNone/>
            </a:pPr>
            <a:r>
              <a:rPr lang="en-US" sz="1200" b="0" i="0" kern="1200" dirty="0">
                <a:solidFill>
                  <a:schemeClr val="tx1"/>
                </a:solidFill>
                <a:effectLst/>
                <a:latin typeface="+mn-lt"/>
                <a:ea typeface="+mn-ea"/>
                <a:cs typeface="+mn-cs"/>
              </a:rPr>
              <a:t>Additive noise (or</a:t>
            </a:r>
            <a:r>
              <a:rPr lang="en-US" sz="1200" b="0" i="0" kern="1200" baseline="0" dirty="0">
                <a:solidFill>
                  <a:schemeClr val="tx1"/>
                </a:solidFill>
                <a:effectLst/>
                <a:latin typeface="+mn-lt"/>
                <a:ea typeface="+mn-ea"/>
                <a:cs typeface="+mn-cs"/>
              </a:rPr>
              <a:t> thermal noises) </a:t>
            </a:r>
            <a:r>
              <a:rPr lang="en-US" sz="1200" b="0" i="0" kern="1200" dirty="0">
                <a:solidFill>
                  <a:schemeClr val="tx1"/>
                </a:solidFill>
                <a:effectLst/>
                <a:latin typeface="+mn-lt"/>
                <a:ea typeface="+mn-ea"/>
                <a:cs typeface="+mn-cs"/>
              </a:rPr>
              <a:t>generated at the front end of the receiver, where signal amplification is performed.</a:t>
            </a:r>
            <a:endParaRPr lang="en-US" dirty="0"/>
          </a:p>
        </p:txBody>
      </p:sp>
      <p:sp>
        <p:nvSpPr>
          <p:cNvPr id="4" name="Slide Number Placeholder 3"/>
          <p:cNvSpPr>
            <a:spLocks noGrp="1"/>
          </p:cNvSpPr>
          <p:nvPr>
            <p:ph type="sldNum" sz="quarter" idx="10"/>
          </p:nvPr>
        </p:nvSpPr>
        <p:spPr/>
        <p:txBody>
          <a:bodyPr/>
          <a:lstStyle/>
          <a:p>
            <a:fld id="{6AD89D2A-0E16-49BE-8EA8-9D2461F27A06}" type="slidenum">
              <a:rPr lang="en-US" smtClean="0"/>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AD89D2A-0E16-49BE-8EA8-9D2461F27A06}" type="slidenum">
              <a:rPr lang="en-US" smtClean="0"/>
              <a:t>19</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The physical size and the configuration of the antenna depend primarily on the frequency of operation</a:t>
            </a:r>
            <a:r>
              <a:rPr lang="en-US" dirty="0"/>
              <a:t>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To obtain efficient radiation of electromagnetic energy, the antenna must be longer than 1/10 of the wavelength</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fld id="{6AD89D2A-0E16-49BE-8EA8-9D2461F27A06}" type="slidenum">
              <a:rPr lang="en-US" smtClean="0"/>
              <a:t>21</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Ionosphere</a:t>
            </a:r>
            <a:r>
              <a:rPr lang="en-US" baseline="0" dirty="0"/>
              <a:t> </a:t>
            </a:r>
            <a:r>
              <a:rPr lang="en-US" dirty="0"/>
              <a:t>consists of several layers of charged particles ranging in altitude from 30</a:t>
            </a:r>
            <a:br>
              <a:rPr lang="en-US" dirty="0"/>
            </a:br>
            <a:r>
              <a:rPr lang="en-US" dirty="0"/>
              <a:t>to 250 miles above the surface of the earth </a:t>
            </a:r>
          </a:p>
        </p:txBody>
      </p:sp>
      <p:sp>
        <p:nvSpPr>
          <p:cNvPr id="4" name="Slide Number Placeholder 3"/>
          <p:cNvSpPr>
            <a:spLocks noGrp="1"/>
          </p:cNvSpPr>
          <p:nvPr>
            <p:ph type="sldNum" sz="quarter" idx="10"/>
          </p:nvPr>
        </p:nvSpPr>
        <p:spPr/>
        <p:txBody>
          <a:bodyPr/>
          <a:lstStyle/>
          <a:p>
            <a:fld id="{6AD89D2A-0E16-49BE-8EA8-9D2461F27A06}" type="slidenum">
              <a:rPr lang="en-US" smtClean="0"/>
              <a:t>22</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DD016CE2-E59E-4A9F-B022-55D079DA2D35}" type="slidenum">
              <a:rPr lang="en-GB" smtClean="0"/>
              <a:t>23</a:t>
            </a:fld>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DD016CE2-E59E-4A9F-B022-55D079DA2D35}" type="slidenum">
              <a:rPr lang="en-GB" smtClean="0"/>
              <a:t>25</a:t>
            </a:fld>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DD016CE2-E59E-4A9F-B022-55D079DA2D35}" type="slidenum">
              <a:rPr lang="en-GB" smtClean="0"/>
              <a:t>28</a:t>
            </a:fld>
            <a:endParaRPr 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sym typeface="Wingdings" panose="05000000000000000000" pitchFamily="2" charset="2"/>
              </a:rPr>
              <a:t> SNR2 = SNR1^(B1/B2). </a:t>
            </a:r>
            <a:r>
              <a:rPr lang="en-US" sz="1200" kern="1200" dirty="0">
                <a:solidFill>
                  <a:schemeClr val="tx1"/>
                </a:solidFill>
                <a:effectLst/>
                <a:latin typeface="+mn-lt"/>
                <a:ea typeface="+mn-ea"/>
                <a:cs typeface="+mn-cs"/>
              </a:rPr>
              <a:t>Thus, if a given rate of information transmission requires a channel bandwidth </a:t>
            </a:r>
            <a:r>
              <a:rPr lang="en-US" sz="1200" i="1" kern="1200" dirty="0">
                <a:solidFill>
                  <a:schemeClr val="tx1"/>
                </a:solidFill>
                <a:effectLst/>
                <a:latin typeface="+mn-lt"/>
                <a:ea typeface="+mn-ea"/>
                <a:cs typeface="+mn-cs"/>
              </a:rPr>
              <a:t>B</a:t>
            </a:r>
            <a:r>
              <a:rPr lang="en-US" sz="1200" i="1" kern="1200" baseline="-250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 and a signal-to-noise ratio </a:t>
            </a:r>
            <a:r>
              <a:rPr lang="en-US" sz="1200" i="1" kern="1200" dirty="0">
                <a:solidFill>
                  <a:schemeClr val="tx1"/>
                </a:solidFill>
                <a:effectLst/>
                <a:latin typeface="+mn-lt"/>
                <a:ea typeface="+mn-ea"/>
                <a:cs typeface="+mn-cs"/>
              </a:rPr>
              <a:t>SNR</a:t>
            </a:r>
            <a:r>
              <a:rPr lang="en-US" sz="1200" i="1" kern="1200" baseline="-250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 then it is possible to transmit the same information over a channel bandwidth </a:t>
            </a:r>
            <a:r>
              <a:rPr lang="en-US" sz="1200" i="1" kern="1200" dirty="0">
                <a:solidFill>
                  <a:schemeClr val="tx1"/>
                </a:solidFill>
                <a:effectLst/>
                <a:latin typeface="+mn-lt"/>
                <a:ea typeface="+mn-ea"/>
                <a:cs typeface="+mn-cs"/>
              </a:rPr>
              <a:t>B</a:t>
            </a:r>
            <a:r>
              <a:rPr lang="en-US" sz="1200" i="1"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and a signal-to-noise ratio </a:t>
            </a:r>
            <a:r>
              <a:rPr lang="en-US" sz="1200" i="1" kern="1200" dirty="0">
                <a:solidFill>
                  <a:schemeClr val="tx1"/>
                </a:solidFill>
                <a:effectLst/>
                <a:latin typeface="+mn-lt"/>
                <a:ea typeface="+mn-ea"/>
                <a:cs typeface="+mn-cs"/>
              </a:rPr>
              <a:t>SNR</a:t>
            </a:r>
            <a:r>
              <a:rPr lang="en-US" sz="1200" i="1" kern="1200" baseline="-25000" dirty="0">
                <a:solidFill>
                  <a:schemeClr val="tx1"/>
                </a:solidFill>
                <a:effectLst/>
                <a:latin typeface="+mn-lt"/>
                <a:ea typeface="+mn-ea"/>
                <a:cs typeface="+mn-cs"/>
              </a:rPr>
              <a:t>2</a:t>
            </a:r>
            <a:endParaRPr lang="en-GB" dirty="0"/>
          </a:p>
        </p:txBody>
      </p:sp>
      <p:sp>
        <p:nvSpPr>
          <p:cNvPr id="4" name="Slide Number Placeholder 3"/>
          <p:cNvSpPr>
            <a:spLocks noGrp="1"/>
          </p:cNvSpPr>
          <p:nvPr>
            <p:ph type="sldNum" sz="quarter" idx="10"/>
          </p:nvPr>
        </p:nvSpPr>
        <p:spPr/>
        <p:txBody>
          <a:bodyPr/>
          <a:lstStyle/>
          <a:p>
            <a:fld id="{DD016CE2-E59E-4A9F-B022-55D079DA2D35}" type="slidenum">
              <a:rPr lang="en-GB" smtClean="0"/>
              <a:t>29</a:t>
            </a:fld>
            <a:endParaRPr 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DD016CE2-E59E-4A9F-B022-55D079DA2D35}" type="slidenum">
              <a:rPr lang="en-GB" smtClean="0"/>
              <a:t>30</a:t>
            </a:fld>
            <a:endParaRPr lang="en-GB"/>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DD016CE2-E59E-4A9F-B022-55D079DA2D35}" type="slidenum">
              <a:rPr lang="en-GB" smtClean="0"/>
              <a:t>31</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marL="0" marR="0" lvl="0" indent="0" defTabSz="914400" eaLnBrk="1" fontAlgn="auto" latinLnBrk="0" hangingPunct="1">
              <a:lnSpc>
                <a:spcPct val="100000"/>
              </a:lnSpc>
              <a:spcBef>
                <a:spcPts val="0"/>
              </a:spcBef>
              <a:spcAft>
                <a:spcPts val="0"/>
              </a:spcAft>
              <a:buClrTx/>
              <a:buSzTx/>
              <a:buFontTx/>
              <a:buNone/>
              <a:defRPr/>
            </a:pPr>
            <a:fld id="{F25D87C4-1ACF-43E4-B981-5289D2FD0812}" type="datetime1">
              <a:rPr kumimoji="0" lang="en-US" sz="1800" b="0" i="0" u="none" strike="noStrike" kern="0" cap="none" spc="0" normalizeH="0" baseline="0" noProof="0" smtClean="0">
                <a:ln>
                  <a:noFill/>
                </a:ln>
                <a:solidFill>
                  <a:sysClr val="windowText" lastClr="000000"/>
                </a:solidFill>
                <a:effectLst/>
                <a:uLnTx/>
                <a:uFillTx/>
              </a:rPr>
              <a:t>1/31/2024</a:t>
            </a:fld>
            <a:endParaRPr kumimoji="0" lang="en-US" sz="1800" b="0" i="0" u="none" strike="noStrike" kern="0" cap="none" spc="0" normalizeH="0" baseline="0" noProof="0" dirty="0">
              <a:ln>
                <a:noFill/>
              </a:ln>
              <a:solidFill>
                <a:sysClr val="windowText" lastClr="000000"/>
              </a:solidFill>
              <a:effectLst/>
              <a:uLnTx/>
              <a:uFillTx/>
            </a:endParaRPr>
          </a:p>
        </p:txBody>
      </p:sp>
      <p:sp>
        <p:nvSpPr>
          <p:cNvPr id="8" name="Footer Placeholder 7"/>
          <p:cNvSpPr>
            <a:spLocks noGrp="1"/>
          </p:cNvSpPr>
          <p:nvPr>
            <p:ph type="ftr" sz="quarter" idx="11"/>
          </p:nvPr>
        </p:nvSpPr>
        <p:spPr/>
        <p:txBody>
          <a:bodyPr/>
          <a:lstStyle>
            <a:lvl1pPr>
              <a:defRPr>
                <a:solidFill>
                  <a:srgbClr val="FFFFFF"/>
                </a:solidFill>
              </a:defRPr>
            </a:lvl1p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endParaRPr>
          </a:p>
        </p:txBody>
      </p:sp>
      <p:sp>
        <p:nvSpPr>
          <p:cNvPr id="9" name="Slide Number Placeholder 8"/>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t>‹#›</a:t>
            </a:fld>
            <a:endParaRPr kumimoji="0" lang="en-US" sz="1800" b="0" i="0" u="none" strike="noStrike" kern="0" cap="none" spc="0" normalizeH="0" baseline="0" noProof="0" dirty="0">
              <a:ln>
                <a:noFill/>
              </a:ln>
              <a:solidFill>
                <a:sysClr val="windowText" lastClr="000000"/>
              </a:solidFill>
              <a:effectLst/>
              <a:uLnTx/>
              <a:uFillTx/>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marL="0" marR="0" lvl="0" indent="0" defTabSz="914400" eaLnBrk="1" fontAlgn="auto" latinLnBrk="0" hangingPunct="1">
              <a:lnSpc>
                <a:spcPct val="100000"/>
              </a:lnSpc>
              <a:spcBef>
                <a:spcPts val="0"/>
              </a:spcBef>
              <a:spcAft>
                <a:spcPts val="0"/>
              </a:spcAft>
              <a:buClrTx/>
              <a:buSzTx/>
              <a:buFontTx/>
              <a:buNone/>
              <a:defRPr/>
            </a:pPr>
            <a:fld id="{A33DF6EE-7FA4-46BA-A5DA-F3D93772C470}" type="datetime1">
              <a:rPr kumimoji="0" lang="en-US" sz="1800" b="0" i="0" u="none" strike="noStrike" kern="0" cap="none" spc="0" normalizeH="0" baseline="0" noProof="0" smtClean="0">
                <a:ln>
                  <a:noFill/>
                </a:ln>
                <a:solidFill>
                  <a:sysClr val="windowText" lastClr="000000"/>
                </a:solidFill>
                <a:effectLst/>
                <a:uLnTx/>
                <a:uFillTx/>
              </a:rPr>
              <a:t>1/31/2024</a:t>
            </a:fld>
            <a:endParaRPr kumimoji="0" lang="en-US" sz="1800" b="0" i="0" u="none" strike="noStrike" kern="0" cap="none" spc="0" normalizeH="0" baseline="0" noProof="0" dirty="0">
              <a:ln>
                <a:noFill/>
              </a:ln>
              <a:solidFill>
                <a:sysClr val="windowText" lastClr="000000"/>
              </a:solidFill>
              <a:effectLst/>
              <a:uLnTx/>
              <a:uFillTx/>
            </a:endParaRPr>
          </a:p>
        </p:txBody>
      </p:sp>
      <p:sp>
        <p:nvSpPr>
          <p:cNvPr id="5" name="Footer Placeholder 4"/>
          <p:cNvSpPr>
            <a:spLocks noGrp="1"/>
          </p:cNvSpPr>
          <p:nvPr>
            <p:ph type="ftr" sz="quarter" idx="11"/>
          </p:nvPr>
        </p:nvSpPr>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6" name="Slide Number Placeholder 5"/>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t>‹#›</a:t>
            </a:fld>
            <a:endParaRPr kumimoji="0" lang="en-US" sz="1800" b="0" i="0" u="none" strike="noStrike" kern="0" cap="none" spc="0" normalizeH="0" baseline="0" noProof="0" dirty="0">
              <a:ln>
                <a:noFill/>
              </a:ln>
              <a:solidFill>
                <a:sysClr val="windowText" lastClr="000000"/>
              </a:solidFill>
              <a:effectLst/>
              <a:uLnTx/>
              <a:uFillTx/>
            </a:endParaRPr>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5963" y="6416514"/>
            <a:ext cx="264310" cy="299623"/>
          </a:xfrm>
          <a:prstGeom prst="rect">
            <a:avLst/>
          </a:prstGeom>
        </p:spPr>
      </p:pic>
      <p:sp>
        <p:nvSpPr>
          <p:cNvPr id="12" name="TextBox 11"/>
          <p:cNvSpPr txBox="1"/>
          <p:nvPr userDrawn="1"/>
        </p:nvSpPr>
        <p:spPr>
          <a:xfrm>
            <a:off x="-64294" y="6665118"/>
            <a:ext cx="516730" cy="2308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sz="900" b="0" i="0" u="none" strike="noStrike" kern="0" cap="none" spc="0" normalizeH="0" baseline="0" noProof="0" dirty="0">
                <a:ln>
                  <a:noFill/>
                </a:ln>
                <a:solidFill>
                  <a:schemeClr val="bg1"/>
                </a:solidFill>
                <a:effectLst/>
                <a:uLnTx/>
                <a:uFillTx/>
                <a:latin typeface="Arial" panose="020B0604020202020204" pitchFamily="34" charset="0"/>
                <a:cs typeface="Arial" panose="020B0604020202020204" pitchFamily="34" charset="0"/>
              </a:rPr>
              <a:t>UENR</a:t>
            </a:r>
            <a:endParaRPr kumimoji="0" lang="en-GB" sz="900" b="0" i="0" u="none" strike="noStrike" kern="0" cap="none" spc="0" normalizeH="0" baseline="0" noProof="0" dirty="0">
              <a:ln>
                <a:noFill/>
              </a:ln>
              <a:solidFill>
                <a:schemeClr val="bg1"/>
              </a:solidFill>
              <a:effectLst/>
              <a:uLnTx/>
              <a:uFillTx/>
              <a:latin typeface="Arial" panose="020B0604020202020204" pitchFamily="34" charset="0"/>
              <a:cs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483361" y="6459786"/>
            <a:ext cx="1854203" cy="365125"/>
          </a:xfrm>
        </p:spPr>
        <p:txBody>
          <a:bodyPr/>
          <a:lstStyle/>
          <a:p>
            <a:pPr marL="0" marR="0" lvl="0" indent="0" defTabSz="914400" eaLnBrk="1" fontAlgn="auto" latinLnBrk="0" hangingPunct="1">
              <a:lnSpc>
                <a:spcPct val="100000"/>
              </a:lnSpc>
              <a:spcBef>
                <a:spcPts val="0"/>
              </a:spcBef>
              <a:spcAft>
                <a:spcPts val="0"/>
              </a:spcAft>
              <a:buClrTx/>
              <a:buSzTx/>
              <a:buFontTx/>
              <a:buNone/>
              <a:defRPr/>
            </a:pPr>
            <a:fld id="{5F351D4F-6A12-4D21-99A8-197E08B34999}" type="datetime1">
              <a:rPr kumimoji="0" lang="en-US" sz="1800" b="0" i="0" u="none" strike="noStrike" kern="0" cap="none" spc="0" normalizeH="0" baseline="0" noProof="0" smtClean="0">
                <a:ln>
                  <a:noFill/>
                </a:ln>
                <a:solidFill>
                  <a:sysClr val="windowText" lastClr="000000"/>
                </a:solidFill>
                <a:effectLst/>
                <a:uLnTx/>
                <a:uFillTx/>
              </a:rPr>
              <a:t>1/31/2024</a:t>
            </a:fld>
            <a:endParaRPr kumimoji="0" lang="en-US" sz="1800" b="0" i="0" u="none" strike="noStrike" kern="0" cap="none" spc="0" normalizeH="0" baseline="0" noProof="0" dirty="0">
              <a:ln>
                <a:noFill/>
              </a:ln>
              <a:solidFill>
                <a:sysClr val="windowText" lastClr="000000"/>
              </a:solidFill>
              <a:effectLst/>
              <a:uLnTx/>
              <a:uFillTx/>
            </a:endParaRPr>
          </a:p>
        </p:txBody>
      </p:sp>
      <p:sp>
        <p:nvSpPr>
          <p:cNvPr id="5" name="Footer Placeholder 4"/>
          <p:cNvSpPr>
            <a:spLocks noGrp="1"/>
          </p:cNvSpPr>
          <p:nvPr>
            <p:ph type="ftr" sz="quarter" idx="11"/>
          </p:nvPr>
        </p:nvSpPr>
        <p:spPr>
          <a:xfrm>
            <a:off x="3501239" y="6459786"/>
            <a:ext cx="3617103" cy="365125"/>
          </a:xfrm>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6" name="Slide Number Placeholder 5"/>
          <p:cNvSpPr>
            <a:spLocks noGrp="1"/>
          </p:cNvSpPr>
          <p:nvPr>
            <p:ph type="sldNum" sz="quarter" idx="12"/>
          </p:nvPr>
        </p:nvSpPr>
        <p:spPr>
          <a:xfrm>
            <a:off x="7868432" y="6450261"/>
            <a:ext cx="984019" cy="365125"/>
          </a:xfrm>
        </p:spPr>
        <p:txBody>
          <a:bodyPr/>
          <a:lstStyle/>
          <a:p>
            <a:pPr marL="0" marR="0" lvl="0" indent="0" defTabSz="914400" eaLnBrk="1" fontAlgn="auto" latinLnBrk="0" hangingPunct="1">
              <a:lnSpc>
                <a:spcPct val="100000"/>
              </a:lnSpc>
              <a:spcBef>
                <a:spcPts val="0"/>
              </a:spcBef>
              <a:spcAft>
                <a:spcPts val="0"/>
              </a:spcAft>
              <a:buClrTx/>
              <a:buSzTx/>
              <a:buFontTx/>
              <a:buNone/>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t>‹#›</a:t>
            </a:fld>
            <a:endParaRPr kumimoji="0" lang="en-US" sz="1800" b="0" i="0" u="none" strike="noStrike" kern="0" cap="none" spc="0" normalizeH="0" baseline="0" noProof="0" dirty="0">
              <a:ln>
                <a:noFill/>
              </a:ln>
              <a:solidFill>
                <a:sysClr val="windowText" lastClr="000000"/>
              </a:solidFill>
              <a:effectLst/>
              <a:uLnTx/>
              <a:uFillTx/>
            </a:endParaRPr>
          </a:p>
        </p:txBody>
      </p:sp>
      <p:pic>
        <p:nvPicPr>
          <p:cNvPr id="7" name="Picture 6"/>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5963" y="6416514"/>
            <a:ext cx="264310" cy="299623"/>
          </a:xfrm>
          <a:prstGeom prst="rect">
            <a:avLst/>
          </a:prstGeom>
        </p:spPr>
      </p:pic>
      <p:sp>
        <p:nvSpPr>
          <p:cNvPr id="8" name="TextBox 7"/>
          <p:cNvSpPr txBox="1"/>
          <p:nvPr userDrawn="1"/>
        </p:nvSpPr>
        <p:spPr>
          <a:xfrm>
            <a:off x="-64294" y="6665118"/>
            <a:ext cx="516730" cy="2308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sz="900" b="0" i="0" u="none" strike="noStrike" kern="0" cap="none" spc="0" normalizeH="0" baseline="0" noProof="0" dirty="0">
                <a:ln>
                  <a:noFill/>
                </a:ln>
                <a:solidFill>
                  <a:schemeClr val="bg1"/>
                </a:solidFill>
                <a:effectLst/>
                <a:uLnTx/>
                <a:uFillTx/>
                <a:latin typeface="Arial" panose="020B0604020202020204" pitchFamily="34" charset="0"/>
                <a:cs typeface="Arial" panose="020B0604020202020204" pitchFamily="34" charset="0"/>
              </a:rPr>
              <a:t>UENR</a:t>
            </a:r>
            <a:endParaRPr kumimoji="0" lang="en-GB" sz="900" b="0" i="0" u="none" strike="noStrike" kern="0" cap="none" spc="0" normalizeH="0" baseline="0" noProof="0" dirty="0">
              <a:ln>
                <a:noFill/>
              </a:ln>
              <a:solidFill>
                <a:schemeClr val="bg1"/>
              </a:solidFill>
              <a:effectLst/>
              <a:uLnTx/>
              <a:uFillTx/>
              <a:latin typeface="Arial" panose="020B0604020202020204" pitchFamily="34" charset="0"/>
              <a:cs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27F3B7-A41D-41DD-9DAD-446C1C18E6AF}" type="datetime1">
              <a:rPr lang="en-US" smtClean="0"/>
              <a:t>1/31/2024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8273317" y="6116070"/>
            <a:ext cx="413483" cy="365125"/>
          </a:xfrm>
        </p:spPr>
        <p:txBody>
          <a:bodyPr/>
          <a:lstStyle/>
          <a:p>
            <a:fld id="{D57F1E4F-1CFF-5643-939E-217C01CDF565}"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5" Type="http://schemas.openxmlformats.org/officeDocument/2006/relationships/theme" Target="../theme/theme1.xml" /><Relationship Id="rId4" Type="http://schemas.openxmlformats.org/officeDocument/2006/relationships/slideLayout" Target="../slideLayouts/slideLayout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38538" y="132520"/>
            <a:ext cx="8613913" cy="80007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238538" y="1099930"/>
            <a:ext cx="8613913" cy="4769164"/>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pPr defTabSz="457200"/>
            <a:fld id="{7E568439-A370-4C0B-97EF-B1CEBC00DA49}" type="datetime1">
              <a:rPr lang="en-US" smtClean="0"/>
              <a:t>1/31/2024</a:t>
            </a:fld>
            <a:endParaRPr lang="en-US" dirty="0"/>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pPr defTabSz="457200"/>
            <a:endParaRPr lang="en-US" dirty="0"/>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pPr defTabSz="457200"/>
            <a:fld id="{48F63A3B-78C7-47BE-AE5E-E10140E04643}" type="slidenum">
              <a:rPr lang="en-US" smtClean="0"/>
              <a:t>‹#›</a:t>
            </a:fld>
            <a:endParaRPr lang="en-US" dirty="0"/>
          </a:p>
        </p:txBody>
      </p:sp>
      <p:cxnSp>
        <p:nvCxnSpPr>
          <p:cNvPr id="10" name="Straight Connector 9"/>
          <p:cNvCxnSpPr/>
          <p:nvPr/>
        </p:nvCxnSpPr>
        <p:spPr>
          <a:xfrm>
            <a:off x="891540" y="93440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32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2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20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20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20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 /><Relationship Id="rId7" Type="http://schemas.openxmlformats.org/officeDocument/2006/relationships/image" Target="../media/image6.jpeg" /><Relationship Id="rId2" Type="http://schemas.openxmlformats.org/officeDocument/2006/relationships/notesSlide" Target="../notesSlides/notesSlide1.xml" /><Relationship Id="rId1" Type="http://schemas.openxmlformats.org/officeDocument/2006/relationships/slideLayout" Target="../slideLayouts/slideLayout1.xml" /><Relationship Id="rId6" Type="http://schemas.openxmlformats.org/officeDocument/2006/relationships/image" Target="../media/image5.jpeg" /><Relationship Id="rId5" Type="http://schemas.openxmlformats.org/officeDocument/2006/relationships/image" Target="../media/image4.png" /><Relationship Id="rId4" Type="http://schemas.openxmlformats.org/officeDocument/2006/relationships/image" Target="../media/image3.png" /></Relationships>
</file>

<file path=ppt/slides/_rels/slide2.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3.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3.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3.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4.xml" /></Relationships>
</file>

<file path=ppt/slides/_rels/slide8.xml.rels><?xml version="1.0" encoding="UTF-8" standalone="yes"?>
<Relationships xmlns="http://schemas.openxmlformats.org/package/2006/relationships"><Relationship Id="rId3" Type="http://schemas.openxmlformats.org/officeDocument/2006/relationships/image" Target="../media/image7.jpeg" /><Relationship Id="rId7" Type="http://schemas.openxmlformats.org/officeDocument/2006/relationships/image" Target="../media/image11.wmf" /><Relationship Id="rId2" Type="http://schemas.openxmlformats.org/officeDocument/2006/relationships/notesSlide" Target="../notesSlides/notesSlide8.xml" /><Relationship Id="rId1" Type="http://schemas.openxmlformats.org/officeDocument/2006/relationships/slideLayout" Target="../slideLayouts/slideLayout3.xml" /><Relationship Id="rId6" Type="http://schemas.openxmlformats.org/officeDocument/2006/relationships/image" Target="../media/image10.wmf" /><Relationship Id="rId5" Type="http://schemas.openxmlformats.org/officeDocument/2006/relationships/image" Target="../media/image9.wmf" /><Relationship Id="rId4" Type="http://schemas.openxmlformats.org/officeDocument/2006/relationships/image" Target="../media/image8.jpeg" /></Relationships>
</file>

<file path=ppt/slides/_rels/slide9.xml.rels><?xml version="1.0" encoding="UTF-8" standalone="yes"?>
<Relationships xmlns="http://schemas.openxmlformats.org/package/2006/relationships"><Relationship Id="rId3" Type="http://schemas.openxmlformats.org/officeDocument/2006/relationships/image" Target="../media/image12.emf" /><Relationship Id="rId2" Type="http://schemas.openxmlformats.org/officeDocument/2006/relationships/notesSlide" Target="../notesSlides/notesSlide9.xml" /><Relationship Id="rId1" Type="http://schemas.openxmlformats.org/officeDocument/2006/relationships/slideLayout" Target="../slideLayouts/slideLayout3.xml" /></Relationships>
</file>

<file path=ppt/slides/_rels/slide10.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notesSlide" Target="../notesSlides/notesSlide10.xml" /><Relationship Id="rId1" Type="http://schemas.openxmlformats.org/officeDocument/2006/relationships/slideLayout" Target="../slideLayouts/slideLayout3.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3.xml" /></Relationships>
</file>

<file path=ppt/slides/_rels/slide12.xml.rels><?xml version="1.0" encoding="UTF-8" standalone="yes"?>
<Relationships xmlns="http://schemas.openxmlformats.org/package/2006/relationships"><Relationship Id="rId3" Type="http://schemas.openxmlformats.org/officeDocument/2006/relationships/image" Target="../media/image14.emf" /><Relationship Id="rId2" Type="http://schemas.openxmlformats.org/officeDocument/2006/relationships/notesSlide" Target="../notesSlides/notesSlide12.xml" /><Relationship Id="rId1" Type="http://schemas.openxmlformats.org/officeDocument/2006/relationships/slideLayout" Target="../slideLayouts/slideLayout3.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3.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3.xml" /></Relationships>
</file>

<file path=ppt/slides/_rels/slide17.xml.rels><?xml version="1.0" encoding="UTF-8" standalone="yes"?>
<Relationships xmlns="http://schemas.openxmlformats.org/package/2006/relationships"><Relationship Id="rId2" Type="http://schemas.openxmlformats.org/officeDocument/2006/relationships/image" Target="../media/image15.png" /><Relationship Id="rId1" Type="http://schemas.openxmlformats.org/officeDocument/2006/relationships/slideLayout" Target="../slideLayouts/slideLayout3.xml" /></Relationships>
</file>

<file path=ppt/slides/_rels/slide18.xml.rels><?xml version="1.0" encoding="UTF-8" standalone="yes"?>
<Relationships xmlns="http://schemas.openxmlformats.org/package/2006/relationships"><Relationship Id="rId2" Type="http://schemas.openxmlformats.org/officeDocument/2006/relationships/image" Target="../media/image16.jpeg" /><Relationship Id="rId1" Type="http://schemas.openxmlformats.org/officeDocument/2006/relationships/slideLayout" Target="../slideLayouts/slideLayout3.xml" /></Relationships>
</file>

<file path=ppt/slides/_rels/slide19.xml.rels><?xml version="1.0" encoding="UTF-8" standalone="yes"?>
<Relationships xmlns="http://schemas.openxmlformats.org/package/2006/relationships"><Relationship Id="rId3" Type="http://schemas.openxmlformats.org/officeDocument/2006/relationships/image" Target="../media/image17.png" /><Relationship Id="rId2" Type="http://schemas.openxmlformats.org/officeDocument/2006/relationships/notesSlide" Target="../notesSlides/notesSlide15.xml" /><Relationship Id="rId1" Type="http://schemas.openxmlformats.org/officeDocument/2006/relationships/slideLayout" Target="../slideLayouts/slideLayout3.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21.xml.rels><?xml version="1.0" encoding="UTF-8" standalone="yes"?>
<Relationships xmlns="http://schemas.openxmlformats.org/package/2006/relationships"><Relationship Id="rId3" Type="http://schemas.openxmlformats.org/officeDocument/2006/relationships/image" Target="../media/image18.png" /><Relationship Id="rId2" Type="http://schemas.openxmlformats.org/officeDocument/2006/relationships/notesSlide" Target="../notesSlides/notesSlide16.xml" /><Relationship Id="rId1" Type="http://schemas.openxmlformats.org/officeDocument/2006/relationships/slideLayout" Target="../slideLayouts/slideLayout3.xml" /></Relationships>
</file>

<file path=ppt/slides/_rels/slide22.xml.rels><?xml version="1.0" encoding="UTF-8" standalone="yes"?>
<Relationships xmlns="http://schemas.openxmlformats.org/package/2006/relationships"><Relationship Id="rId3" Type="http://schemas.openxmlformats.org/officeDocument/2006/relationships/image" Target="../media/image19.png" /><Relationship Id="rId2" Type="http://schemas.openxmlformats.org/officeDocument/2006/relationships/notesSlide" Target="../notesSlides/notesSlide17.xml" /><Relationship Id="rId1" Type="http://schemas.openxmlformats.org/officeDocument/2006/relationships/slideLayout" Target="../slideLayouts/slideLayout3.xml" /></Relationships>
</file>

<file path=ppt/slides/_rels/slide23.xml.rels><?xml version="1.0" encoding="UTF-8" standalone="yes"?>
<Relationships xmlns="http://schemas.openxmlformats.org/package/2006/relationships"><Relationship Id="rId3" Type="http://schemas.openxmlformats.org/officeDocument/2006/relationships/image" Target="../media/image20.png" /><Relationship Id="rId2" Type="http://schemas.openxmlformats.org/officeDocument/2006/relationships/notesSlide" Target="../notesSlides/notesSlide18.xml" /><Relationship Id="rId1" Type="http://schemas.openxmlformats.org/officeDocument/2006/relationships/slideLayout" Target="../slideLayouts/slideLayout3.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3.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27.xml.rels><?xml version="1.0" encoding="UTF-8" standalone="yes"?>
<Relationships xmlns="http://schemas.openxmlformats.org/package/2006/relationships"><Relationship Id="rId2" Type="http://schemas.openxmlformats.org/officeDocument/2006/relationships/image" Target="../media/image21.png" /><Relationship Id="rId1" Type="http://schemas.openxmlformats.org/officeDocument/2006/relationships/slideLayout" Target="../slideLayouts/slideLayout3.xml" /></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0.xml" /><Relationship Id="rId2" Type="http://schemas.openxmlformats.org/officeDocument/2006/relationships/slideLayout" Target="../slideLayouts/slideLayout3.xml" /><Relationship Id="rId1" Type="http://schemas.openxmlformats.org/officeDocument/2006/relationships/vmlDrawing" Target="../drawings/vmlDrawing1.vml" /><Relationship Id="rId6" Type="http://schemas.openxmlformats.org/officeDocument/2006/relationships/image" Target="../media/image23.emf" /><Relationship Id="rId5" Type="http://schemas.openxmlformats.org/officeDocument/2006/relationships/image" Target="../media/image22.wmf" /><Relationship Id="rId4" Type="http://schemas.openxmlformats.org/officeDocument/2006/relationships/oleObject" Target="../embeddings/oleObject1.bin" /></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1.xml" /><Relationship Id="rId2" Type="http://schemas.openxmlformats.org/officeDocument/2006/relationships/slideLayout" Target="../slideLayouts/slideLayout3.xml" /><Relationship Id="rId1" Type="http://schemas.openxmlformats.org/officeDocument/2006/relationships/vmlDrawing" Target="../drawings/vmlDrawing2.vml" /><Relationship Id="rId5" Type="http://schemas.openxmlformats.org/officeDocument/2006/relationships/image" Target="../media/image24.wmf" /><Relationship Id="rId4" Type="http://schemas.openxmlformats.org/officeDocument/2006/relationships/oleObject" Target="../embeddings/oleObject2.bin" /></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 /><Relationship Id="rId1" Type="http://schemas.openxmlformats.org/officeDocument/2006/relationships/slideLayout" Target="../slideLayouts/slideLayout3.xml" /></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3.xml" /><Relationship Id="rId2" Type="http://schemas.openxmlformats.org/officeDocument/2006/relationships/slideLayout" Target="../slideLayouts/slideLayout3.xml" /><Relationship Id="rId1" Type="http://schemas.openxmlformats.org/officeDocument/2006/relationships/vmlDrawing" Target="../drawings/vmlDrawing3.vml" /><Relationship Id="rId6" Type="http://schemas.openxmlformats.org/officeDocument/2006/relationships/image" Target="../media/image26.png" /><Relationship Id="rId5" Type="http://schemas.openxmlformats.org/officeDocument/2006/relationships/image" Target="../media/image25.wmf" /><Relationship Id="rId4" Type="http://schemas.openxmlformats.org/officeDocument/2006/relationships/oleObject" Target="../embeddings/oleObject3.bin"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aisat.ac.in/wp-content/uploads/2013/06/ec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8" y="747239"/>
            <a:ext cx="8864547" cy="3250334"/>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t>1</a:t>
            </a:fld>
            <a:endParaRPr kumimoji="0" lang="en-US" sz="1800" b="0" i="0" u="none" strike="noStrike" kern="0" cap="none" spc="0" normalizeH="0" baseline="0" noProof="0" dirty="0">
              <a:ln>
                <a:noFill/>
              </a:ln>
              <a:solidFill>
                <a:sysClr val="windowText" lastClr="000000"/>
              </a:solidFill>
              <a:effectLst/>
              <a:uLnTx/>
              <a:uFillTx/>
            </a:endParaRPr>
          </a:p>
        </p:txBody>
      </p:sp>
      <p:pic>
        <p:nvPicPr>
          <p:cNvPr id="4" name="Picture 3"/>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31768" y="28439"/>
            <a:ext cx="1408952" cy="159719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42391" y="115346"/>
            <a:ext cx="1053924" cy="1053924"/>
          </a:xfrm>
          <a:prstGeom prst="rect">
            <a:avLst/>
          </a:prstGeom>
        </p:spPr>
      </p:pic>
      <p:pic>
        <p:nvPicPr>
          <p:cNvPr id="1028" name="Picture 4" descr="https://www.cubic.com/portals/0/Images/Solutions/Communications-Electronics/banner.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1768" y="3905209"/>
            <a:ext cx="6338888" cy="246221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3.amazonaws.com/minglebox-photo/717bcb981318663626918.8a0af24f.m_ec6.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14689" y="3905209"/>
            <a:ext cx="3681626" cy="243907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697018" y="1895352"/>
            <a:ext cx="4461164" cy="954107"/>
          </a:xfrm>
          <a:prstGeom prst="rect">
            <a:avLst/>
          </a:prstGeom>
          <a:solidFill>
            <a:srgbClr val="ADBED8"/>
          </a:solidFill>
        </p:spPr>
        <p:txBody>
          <a:bodyPr wrap="square" rtlCol="0">
            <a:spAutoFit/>
          </a:bodyPr>
          <a:lstStyle/>
          <a:p>
            <a:pPr algn="ctr"/>
            <a:r>
              <a:rPr lang="en-US" sz="2800" b="1" dirty="0"/>
              <a:t>ELNG 307 – ANALOG AND DIGITAL COMMUNICATIONS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4010" y="438149"/>
            <a:ext cx="8154450" cy="5029778"/>
          </a:xfrm>
        </p:spPr>
        <p:txBody>
          <a:bodyPr>
            <a:noAutofit/>
          </a:bodyPr>
          <a:lstStyle/>
          <a:p>
            <a:pPr algn="ctr">
              <a:lnSpc>
                <a:spcPct val="100000"/>
              </a:lnSpc>
            </a:pPr>
            <a:r>
              <a:rPr lang="en-US" sz="3600" dirty="0"/>
              <a:t>University of Energy and Natural Resources, Sunyani</a:t>
            </a:r>
            <a:br>
              <a:rPr lang="en-US" sz="3600" dirty="0"/>
            </a:br>
            <a:br>
              <a:rPr lang="en-US" sz="3600" dirty="0"/>
            </a:br>
            <a:br>
              <a:rPr lang="en-US" sz="3600" dirty="0"/>
            </a:br>
            <a:r>
              <a:rPr lang="en-US" sz="3600" dirty="0"/>
              <a:t>Dept. of Computer &amp; Electrical Eng.</a:t>
            </a:r>
            <a:br>
              <a:rPr lang="en-US" sz="3600" dirty="0"/>
            </a:br>
            <a:br>
              <a:rPr lang="en-US" sz="3600" dirty="0"/>
            </a:br>
            <a:br>
              <a:rPr lang="en-US" sz="3600" dirty="0"/>
            </a:br>
            <a:r>
              <a:rPr lang="en-US" sz="3600" b="1" dirty="0"/>
              <a:t>ELNG 307 – ANALOG AND DIGITAL COMMUNICATIONS</a:t>
            </a:r>
            <a:endParaRPr lang="en-GB" sz="3600" b="1" dirty="0"/>
          </a:p>
        </p:txBody>
      </p:sp>
      <p:sp>
        <p:nvSpPr>
          <p:cNvPr id="3" name="Subtitle 2"/>
          <p:cNvSpPr>
            <a:spLocks noGrp="1"/>
          </p:cNvSpPr>
          <p:nvPr>
            <p:ph type="subTitle" idx="1"/>
          </p:nvPr>
        </p:nvSpPr>
        <p:spPr>
          <a:xfrm>
            <a:off x="1941911" y="5615074"/>
            <a:ext cx="6686549" cy="844712"/>
          </a:xfrm>
        </p:spPr>
        <p:txBody>
          <a:bodyPr>
            <a:normAutofit/>
          </a:bodyPr>
          <a:lstStyle/>
          <a:p>
            <a:r>
              <a:rPr lang="en-US" dirty="0"/>
              <a:t>Tweneboah-Koduah S.</a:t>
            </a:r>
            <a:endParaRPr lang="en-GB" dirty="0"/>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t>2</a:t>
            </a:fld>
            <a:endParaRPr kumimoji="0" lang="en-US" sz="1800" b="0" i="0" u="none" strike="noStrike" kern="0" cap="none" spc="0" normalizeH="0" baseline="0" noProof="0" dirty="0">
              <a:ln>
                <a:noFill/>
              </a:ln>
              <a:solidFill>
                <a:sysClr val="windowText" lastClr="000000"/>
              </a:solidFill>
              <a:effectLst/>
              <a:uLnTx/>
              <a:uFillTx/>
            </a:endParaRPr>
          </a:p>
        </p:txBody>
      </p:sp>
      <p:pic>
        <p:nvPicPr>
          <p:cNvPr id="6" name="Picture 5"/>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7150" y="1123906"/>
            <a:ext cx="1467901" cy="166401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Chapter 0 – Overview of course</a:t>
            </a:r>
          </a:p>
        </p:txBody>
      </p:sp>
      <p:sp>
        <p:nvSpPr>
          <p:cNvPr id="3" name="Subtitle 2"/>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t>3</a:t>
            </a:fld>
            <a:endParaRPr kumimoji="0" lang="en-US" sz="1800" b="0" i="0" u="none" strike="noStrike" kern="0" cap="none" spc="0" normalizeH="0" baseline="0" noProof="0" dirty="0">
              <a:ln>
                <a:noFill/>
              </a:ln>
              <a:solidFill>
                <a:sysClr val="windowText" lastClr="000000"/>
              </a:solidFill>
              <a:effectLst/>
              <a:uLnTx/>
              <a:uFillTx/>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Outline</a:t>
            </a:r>
            <a:endParaRPr lang="en-GB" dirty="0"/>
          </a:p>
        </p:txBody>
      </p:sp>
      <p:sp>
        <p:nvSpPr>
          <p:cNvPr id="3" name="Content Placeholder 2"/>
          <p:cNvSpPr>
            <a:spLocks noGrp="1"/>
          </p:cNvSpPr>
          <p:nvPr>
            <p:ph idx="1"/>
          </p:nvPr>
        </p:nvSpPr>
        <p:spPr>
          <a:xfrm>
            <a:off x="979884" y="1164921"/>
            <a:ext cx="4087418" cy="4351415"/>
          </a:xfrm>
        </p:spPr>
        <p:txBody>
          <a:bodyPr>
            <a:normAutofit/>
          </a:bodyPr>
          <a:lstStyle/>
          <a:p>
            <a:r>
              <a:rPr lang="en-GB" sz="2400" dirty="0"/>
              <a:t>Introduction to Communications Systems</a:t>
            </a:r>
          </a:p>
          <a:p>
            <a:r>
              <a:rPr lang="en-GB" sz="2400" dirty="0"/>
              <a:t>Probability and random processes</a:t>
            </a:r>
          </a:p>
          <a:p>
            <a:r>
              <a:rPr lang="en-GB" sz="2400" dirty="0"/>
              <a:t>Noise and Linear system analysis</a:t>
            </a:r>
          </a:p>
          <a:p>
            <a:r>
              <a:rPr lang="en-GB" sz="2400" dirty="0"/>
              <a:t>Amplitude Modulation</a:t>
            </a:r>
          </a:p>
          <a:p>
            <a:r>
              <a:rPr lang="en-GB" sz="2400" dirty="0"/>
              <a:t>Single-Sideband Techniques</a:t>
            </a:r>
          </a:p>
          <a:p>
            <a:r>
              <a:rPr lang="en-US" sz="2400" dirty="0"/>
              <a:t>Double-Sideband Techniques</a:t>
            </a:r>
            <a:endParaRPr lang="en-GB" sz="2400" dirty="0"/>
          </a:p>
        </p:txBody>
      </p:sp>
      <p:sp>
        <p:nvSpPr>
          <p:cNvPr id="5" name="Slide Number Placeholder 4"/>
          <p:cNvSpPr>
            <a:spLocks noGrp="1"/>
          </p:cNvSpPr>
          <p:nvPr>
            <p:ph type="sldNum" sz="quarter" idx="12"/>
          </p:nvPr>
        </p:nvSpPr>
        <p:spPr/>
        <p:txBody>
          <a:bodyPr/>
          <a:lstStyle/>
          <a:p>
            <a:fld id="{D57F1E4F-1CFF-5643-939E-217C01CDF565}" type="slidenum">
              <a:rPr lang="en-US" smtClean="0"/>
              <a:t>4</a:t>
            </a:fld>
            <a:endParaRPr lang="en-US" dirty="0"/>
          </a:p>
        </p:txBody>
      </p:sp>
      <p:sp>
        <p:nvSpPr>
          <p:cNvPr id="4" name="Content Placeholder 2"/>
          <p:cNvSpPr txBox="1"/>
          <p:nvPr/>
        </p:nvSpPr>
        <p:spPr>
          <a:xfrm>
            <a:off x="4866085" y="1164921"/>
            <a:ext cx="4087418" cy="4308555"/>
          </a:xfrm>
          <a:prstGeom prst="rect">
            <a:avLst/>
          </a:prstGeom>
        </p:spPr>
        <p:txBody>
          <a:bodyPr vert="horz" lIns="68580" tIns="34290" rIns="68580" bIns="3429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r>
              <a:rPr lang="en-GB" dirty="0"/>
              <a:t>Linear Modulation</a:t>
            </a:r>
          </a:p>
          <a:p>
            <a:r>
              <a:rPr lang="en-US" dirty="0"/>
              <a:t>Angle Modulation</a:t>
            </a:r>
          </a:p>
          <a:p>
            <a:r>
              <a:rPr lang="en-GB" dirty="0"/>
              <a:t>Pulse Modulation</a:t>
            </a:r>
            <a:endParaRPr lang="en-US" dirty="0"/>
          </a:p>
          <a:p>
            <a:r>
              <a:rPr lang="en-US" dirty="0"/>
              <a:t>Effect of Noise in Communication Systems</a:t>
            </a:r>
            <a:endParaRPr lang="en-GB" dirty="0"/>
          </a:p>
          <a:p>
            <a:r>
              <a:rPr lang="en-GB" dirty="0"/>
              <a:t>Analogue Radio Receivers</a:t>
            </a:r>
            <a:endParaRPr lang="en-GB" dirty="0">
              <a:solidFill>
                <a:srgbClr val="FF0000"/>
              </a:solidFill>
            </a:endParaRPr>
          </a:p>
          <a:p>
            <a:r>
              <a:rPr lang="en-GB" dirty="0">
                <a:solidFill>
                  <a:srgbClr val="FF0000"/>
                </a:solidFill>
              </a:rPr>
              <a:t>Digital Modulation</a:t>
            </a:r>
          </a:p>
          <a:p>
            <a:r>
              <a:rPr lang="en-GB" dirty="0">
                <a:solidFill>
                  <a:srgbClr val="FF0000"/>
                </a:solidFill>
              </a:rPr>
              <a:t>Telecommunication, Communication Systems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Objectives</a:t>
            </a:r>
            <a:endParaRPr lang="en-GB" dirty="0"/>
          </a:p>
        </p:txBody>
      </p:sp>
      <p:sp>
        <p:nvSpPr>
          <p:cNvPr id="3" name="Content Placeholder 2"/>
          <p:cNvSpPr>
            <a:spLocks noGrp="1"/>
          </p:cNvSpPr>
          <p:nvPr>
            <p:ph idx="1"/>
          </p:nvPr>
        </p:nvSpPr>
        <p:spPr>
          <a:xfrm>
            <a:off x="1113235" y="1139868"/>
            <a:ext cx="7514035" cy="2674897"/>
          </a:xfrm>
        </p:spPr>
        <p:txBody>
          <a:bodyPr>
            <a:normAutofit fontScale="62500" lnSpcReduction="20000"/>
          </a:bodyPr>
          <a:lstStyle/>
          <a:p>
            <a:r>
              <a:rPr lang="en-US" dirty="0"/>
              <a:t>Demonstrate knowledge and understanding in basic concept in analogue and digital communication</a:t>
            </a:r>
          </a:p>
          <a:p>
            <a:r>
              <a:rPr lang="en-US" dirty="0"/>
              <a:t>Understand the basic requirements of communication systems</a:t>
            </a:r>
          </a:p>
          <a:p>
            <a:r>
              <a:rPr lang="en-US" dirty="0"/>
              <a:t>Understand communication terminology and impairment of effective communication</a:t>
            </a:r>
          </a:p>
          <a:p>
            <a:r>
              <a:rPr lang="en-US" dirty="0"/>
              <a:t>Understand the implementation and limitations of modulation techniques</a:t>
            </a:r>
          </a:p>
          <a:p>
            <a:r>
              <a:rPr lang="en-US" dirty="0"/>
              <a:t>Future of electronic communication systems, etc.</a:t>
            </a:r>
            <a:endParaRPr lang="en-GB" dirty="0"/>
          </a:p>
        </p:txBody>
      </p:sp>
      <p:sp>
        <p:nvSpPr>
          <p:cNvPr id="5" name="Slide Number Placeholder 4"/>
          <p:cNvSpPr>
            <a:spLocks noGrp="1"/>
          </p:cNvSpPr>
          <p:nvPr>
            <p:ph type="sldNum" sz="quarter" idx="12"/>
          </p:nvPr>
        </p:nvSpPr>
        <p:spPr/>
        <p:txBody>
          <a:bodyPr/>
          <a:lstStyle/>
          <a:p>
            <a:fld id="{D57F1E4F-1CFF-5643-939E-217C01CDF565}" type="slidenum">
              <a:rPr lang="en-US" smtClean="0"/>
              <a:t>5</a:t>
            </a:fld>
            <a:endParaRPr lang="en-US" dirty="0"/>
          </a:p>
        </p:txBody>
      </p:sp>
      <p:sp>
        <p:nvSpPr>
          <p:cNvPr id="4" name="Content Placeholder 2"/>
          <p:cNvSpPr txBox="1"/>
          <p:nvPr/>
        </p:nvSpPr>
        <p:spPr>
          <a:xfrm>
            <a:off x="2371131" y="3829052"/>
            <a:ext cx="4998242" cy="2071688"/>
          </a:xfrm>
          <a:prstGeom prst="rect">
            <a:avLst/>
          </a:prstGeom>
          <a:solidFill>
            <a:schemeClr val="accent2">
              <a:lumMod val="75000"/>
            </a:schemeClr>
          </a:solidFill>
        </p:spPr>
        <p:txBody>
          <a:bodyPr vert="horz" lIns="68580" tIns="34290" rIns="68580" bIns="3429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r>
              <a:rPr lang="en-US" sz="1800" b="1" dirty="0">
                <a:solidFill>
                  <a:schemeClr val="bg1"/>
                </a:solidFill>
              </a:rPr>
              <a:t>Part I: Intro to communication systems</a:t>
            </a:r>
          </a:p>
          <a:p>
            <a:r>
              <a:rPr lang="en-US" sz="1800" b="1" dirty="0">
                <a:solidFill>
                  <a:schemeClr val="bg1"/>
                </a:solidFill>
              </a:rPr>
              <a:t>Part II: Signal sampling and spectral analysis</a:t>
            </a:r>
          </a:p>
          <a:p>
            <a:r>
              <a:rPr lang="en-US" sz="1800" b="1" dirty="0">
                <a:solidFill>
                  <a:schemeClr val="bg1"/>
                </a:solidFill>
              </a:rPr>
              <a:t>Part III: Modulation techniques</a:t>
            </a:r>
          </a:p>
          <a:p>
            <a:r>
              <a:rPr lang="en-US" sz="1800" b="1" dirty="0">
                <a:solidFill>
                  <a:schemeClr val="bg1"/>
                </a:solidFill>
              </a:rPr>
              <a:t>Part IV: Noise in communication systems</a:t>
            </a:r>
          </a:p>
          <a:p>
            <a:r>
              <a:rPr lang="en-US" sz="1800" b="1" dirty="0">
                <a:solidFill>
                  <a:schemeClr val="bg1"/>
                </a:solidFill>
              </a:rPr>
              <a:t>Part V: Analogue radio receivers</a:t>
            </a:r>
            <a:endParaRPr lang="en-GB" sz="1800" b="1"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endParaRPr lang="en-GB" dirty="0"/>
          </a:p>
        </p:txBody>
      </p:sp>
      <p:sp>
        <p:nvSpPr>
          <p:cNvPr id="3" name="Content Placeholder 2"/>
          <p:cNvSpPr>
            <a:spLocks noGrp="1"/>
          </p:cNvSpPr>
          <p:nvPr>
            <p:ph idx="1"/>
          </p:nvPr>
        </p:nvSpPr>
        <p:spPr>
          <a:solidFill>
            <a:schemeClr val="accent2">
              <a:lumMod val="75000"/>
            </a:schemeClr>
          </a:solidFill>
        </p:spPr>
        <p:txBody>
          <a:bodyPr>
            <a:normAutofit fontScale="85000" lnSpcReduction="20000"/>
          </a:bodyPr>
          <a:lstStyle/>
          <a:p>
            <a:r>
              <a:rPr lang="en-US" dirty="0">
                <a:solidFill>
                  <a:schemeClr val="bg1"/>
                </a:solidFill>
                <a:latin typeface="Calibri" panose="020F0502020204030204" pitchFamily="34" charset="0"/>
                <a:cs typeface="Arial" panose="020B0604020202020204" pitchFamily="34" charset="0"/>
              </a:rPr>
              <a:t>All contents or materials found in this booklet not limited to images or figures can be found in the following recommended textbooks</a:t>
            </a:r>
          </a:p>
          <a:p>
            <a:endParaRPr lang="en-GB" dirty="0">
              <a:solidFill>
                <a:schemeClr val="bg1"/>
              </a:solidFill>
              <a:latin typeface="Calibri" panose="020F0502020204030204" pitchFamily="34" charset="0"/>
              <a:cs typeface="Arial" panose="020B0604020202020204" pitchFamily="34" charset="0"/>
            </a:endParaRPr>
          </a:p>
          <a:p>
            <a:pPr lvl="1"/>
            <a:r>
              <a:rPr lang="en-US" dirty="0" err="1">
                <a:solidFill>
                  <a:schemeClr val="bg1"/>
                </a:solidFill>
                <a:latin typeface="Calibri" panose="020F0502020204030204" pitchFamily="34" charset="0"/>
                <a:cs typeface="Arial" panose="020B0604020202020204" pitchFamily="34" charset="0"/>
              </a:rPr>
              <a:t>Lathi</a:t>
            </a:r>
            <a:r>
              <a:rPr lang="en-US" dirty="0">
                <a:solidFill>
                  <a:schemeClr val="bg1"/>
                </a:solidFill>
                <a:latin typeface="Calibri" panose="020F0502020204030204" pitchFamily="34" charset="0"/>
                <a:cs typeface="Arial" panose="020B0604020202020204" pitchFamily="34" charset="0"/>
              </a:rPr>
              <a:t>, B.P. and Ding, </a:t>
            </a:r>
            <a:r>
              <a:rPr lang="en-US" dirty="0" err="1">
                <a:solidFill>
                  <a:schemeClr val="bg1"/>
                </a:solidFill>
                <a:latin typeface="Calibri" panose="020F0502020204030204" pitchFamily="34" charset="0"/>
                <a:cs typeface="Arial" panose="020B0604020202020204" pitchFamily="34" charset="0"/>
              </a:rPr>
              <a:t>Zhi</a:t>
            </a:r>
            <a:r>
              <a:rPr lang="en-US" dirty="0">
                <a:solidFill>
                  <a:schemeClr val="bg1"/>
                </a:solidFill>
                <a:latin typeface="Calibri" panose="020F0502020204030204" pitchFamily="34" charset="0"/>
                <a:cs typeface="Arial" panose="020B0604020202020204" pitchFamily="34" charset="0"/>
              </a:rPr>
              <a:t>, Modem Digital and Analog Communication Systems, Oxford University Press, Fourth Edition, 2009</a:t>
            </a:r>
            <a:endParaRPr lang="en-GB" dirty="0">
              <a:solidFill>
                <a:schemeClr val="bg1"/>
              </a:solidFill>
              <a:latin typeface="Calibri" panose="020F0502020204030204" pitchFamily="34" charset="0"/>
              <a:cs typeface="Arial" panose="020B0604020202020204" pitchFamily="34" charset="0"/>
            </a:endParaRPr>
          </a:p>
          <a:p>
            <a:pPr lvl="1"/>
            <a:r>
              <a:rPr lang="en-US" dirty="0" err="1">
                <a:solidFill>
                  <a:schemeClr val="bg1"/>
                </a:solidFill>
                <a:latin typeface="Calibri" panose="020F0502020204030204" pitchFamily="34" charset="0"/>
                <a:cs typeface="Arial" panose="020B0604020202020204" pitchFamily="34" charset="0"/>
              </a:rPr>
              <a:t>Proakis</a:t>
            </a:r>
            <a:r>
              <a:rPr lang="en-US" dirty="0">
                <a:solidFill>
                  <a:schemeClr val="bg1"/>
                </a:solidFill>
                <a:latin typeface="Calibri" panose="020F0502020204030204" pitchFamily="34" charset="0"/>
                <a:cs typeface="Arial" panose="020B0604020202020204" pitchFamily="34" charset="0"/>
              </a:rPr>
              <a:t>, John G. Digital Communications. 4th ed. New York, NY: McGraw-Hill, 2000. ISBN: 9780072321111.</a:t>
            </a:r>
            <a:endParaRPr lang="en-GB" dirty="0">
              <a:solidFill>
                <a:schemeClr val="bg1"/>
              </a:solidFill>
              <a:latin typeface="Calibri" panose="020F0502020204030204" pitchFamily="34" charset="0"/>
              <a:cs typeface="Arial" panose="020B0604020202020204" pitchFamily="34" charset="0"/>
            </a:endParaRPr>
          </a:p>
          <a:p>
            <a:pPr lvl="1"/>
            <a:r>
              <a:rPr lang="en-US" dirty="0" err="1">
                <a:solidFill>
                  <a:schemeClr val="bg1"/>
                </a:solidFill>
                <a:latin typeface="Calibri" panose="020F0502020204030204" pitchFamily="34" charset="0"/>
                <a:cs typeface="Arial" panose="020B0604020202020204" pitchFamily="34" charset="0"/>
              </a:rPr>
              <a:t>Proakis</a:t>
            </a:r>
            <a:r>
              <a:rPr lang="en-US" dirty="0">
                <a:solidFill>
                  <a:schemeClr val="bg1"/>
                </a:solidFill>
                <a:latin typeface="Calibri" panose="020F0502020204030204" pitchFamily="34" charset="0"/>
                <a:cs typeface="Arial" panose="020B0604020202020204" pitchFamily="34" charset="0"/>
              </a:rPr>
              <a:t>, John G. and </a:t>
            </a:r>
            <a:r>
              <a:rPr lang="en-US" dirty="0" err="1">
                <a:solidFill>
                  <a:schemeClr val="bg1"/>
                </a:solidFill>
                <a:latin typeface="Calibri" panose="020F0502020204030204" pitchFamily="34" charset="0"/>
                <a:cs typeface="Arial" panose="020B0604020202020204" pitchFamily="34" charset="0"/>
              </a:rPr>
              <a:t>Masoud</a:t>
            </a:r>
            <a:r>
              <a:rPr lang="en-US" dirty="0">
                <a:solidFill>
                  <a:schemeClr val="bg1"/>
                </a:solidFill>
                <a:latin typeface="Calibri" panose="020F0502020204030204" pitchFamily="34" charset="0"/>
                <a:cs typeface="Arial" panose="020B0604020202020204" pitchFamily="34" charset="0"/>
              </a:rPr>
              <a:t> </a:t>
            </a:r>
            <a:r>
              <a:rPr lang="en-US" dirty="0" err="1">
                <a:solidFill>
                  <a:schemeClr val="bg1"/>
                </a:solidFill>
                <a:latin typeface="Calibri" panose="020F0502020204030204" pitchFamily="34" charset="0"/>
                <a:cs typeface="Arial" panose="020B0604020202020204" pitchFamily="34" charset="0"/>
              </a:rPr>
              <a:t>Salehi</a:t>
            </a:r>
            <a:r>
              <a:rPr lang="en-US" dirty="0">
                <a:solidFill>
                  <a:schemeClr val="bg1"/>
                </a:solidFill>
                <a:latin typeface="Calibri" panose="020F0502020204030204" pitchFamily="34" charset="0"/>
                <a:cs typeface="Arial" panose="020B0604020202020204" pitchFamily="34" charset="0"/>
              </a:rPr>
              <a:t> Communications System </a:t>
            </a:r>
            <a:r>
              <a:rPr lang="en-US" dirty="0" err="1">
                <a:solidFill>
                  <a:schemeClr val="bg1"/>
                </a:solidFill>
                <a:latin typeface="Calibri" panose="020F0502020204030204" pitchFamily="34" charset="0"/>
                <a:cs typeface="Arial" panose="020B0604020202020204" pitchFamily="34" charset="0"/>
              </a:rPr>
              <a:t>Engieering</a:t>
            </a:r>
            <a:r>
              <a:rPr lang="en-US" dirty="0">
                <a:solidFill>
                  <a:schemeClr val="bg1"/>
                </a:solidFill>
                <a:latin typeface="Calibri" panose="020F0502020204030204" pitchFamily="34" charset="0"/>
                <a:cs typeface="Arial" panose="020B0604020202020204" pitchFamily="34" charset="0"/>
              </a:rPr>
              <a:t>. 2nd ed. Upper Saddle River, NJ: Prentice Hall, 2001. ISBN: 9780130617934</a:t>
            </a:r>
            <a:endParaRPr lang="en-GB" dirty="0">
              <a:solidFill>
                <a:schemeClr val="bg1"/>
              </a:solidFill>
              <a:latin typeface="Calibri" panose="020F0502020204030204" pitchFamily="34" charset="0"/>
              <a:cs typeface="Arial" panose="020B0604020202020204" pitchFamily="34" charset="0"/>
            </a:endParaRPr>
          </a:p>
          <a:p>
            <a:pPr lvl="1"/>
            <a:r>
              <a:rPr lang="en-US" dirty="0">
                <a:solidFill>
                  <a:schemeClr val="bg1"/>
                </a:solidFill>
                <a:latin typeface="Calibri" panose="020F0502020204030204" pitchFamily="34" charset="0"/>
                <a:cs typeface="Arial" panose="020B0604020202020204" pitchFamily="34" charset="0"/>
              </a:rPr>
              <a:t>S. </a:t>
            </a:r>
            <a:r>
              <a:rPr lang="en-US" dirty="0" err="1">
                <a:solidFill>
                  <a:schemeClr val="bg1"/>
                </a:solidFill>
                <a:latin typeface="Calibri" panose="020F0502020204030204" pitchFamily="34" charset="0"/>
                <a:cs typeface="Arial" panose="020B0604020202020204" pitchFamily="34" charset="0"/>
              </a:rPr>
              <a:t>Haykin</a:t>
            </a:r>
            <a:r>
              <a:rPr lang="en-US" dirty="0">
                <a:solidFill>
                  <a:schemeClr val="bg1"/>
                </a:solidFill>
                <a:latin typeface="Calibri" panose="020F0502020204030204" pitchFamily="34" charset="0"/>
                <a:cs typeface="Arial" panose="020B0604020202020204" pitchFamily="34" charset="0"/>
              </a:rPr>
              <a:t>, Communication Systems, Wiley, 2001</a:t>
            </a:r>
            <a:endParaRPr lang="en-GB" dirty="0">
              <a:solidFill>
                <a:schemeClr val="bg1"/>
              </a:solidFill>
              <a:latin typeface="Calibri" panose="020F0502020204030204" pitchFamily="34" charset="0"/>
              <a:cs typeface="Arial" panose="020B0604020202020204" pitchFamily="34" charset="0"/>
            </a:endParaRPr>
          </a:p>
          <a:p>
            <a:pPr lvl="1"/>
            <a:r>
              <a:rPr lang="en-US" dirty="0">
                <a:solidFill>
                  <a:schemeClr val="bg1"/>
                </a:solidFill>
                <a:latin typeface="Calibri" panose="020F0502020204030204" pitchFamily="34" charset="0"/>
                <a:cs typeface="Arial" panose="020B0604020202020204" pitchFamily="34" charset="0"/>
              </a:rPr>
              <a:t>L.W. Couch II, Digital and Analog Communication Systems,</a:t>
            </a:r>
            <a:r>
              <a:rPr lang="en-GB" dirty="0">
                <a:solidFill>
                  <a:schemeClr val="bg1"/>
                </a:solidFill>
                <a:latin typeface="Calibri" panose="020F0502020204030204" pitchFamily="34" charset="0"/>
                <a:cs typeface="Arial" panose="020B0604020202020204" pitchFamily="34" charset="0"/>
              </a:rPr>
              <a:t> </a:t>
            </a:r>
            <a:r>
              <a:rPr lang="en-US" dirty="0">
                <a:solidFill>
                  <a:schemeClr val="bg1"/>
                </a:solidFill>
                <a:latin typeface="Calibri" panose="020F0502020204030204" pitchFamily="34" charset="0"/>
                <a:cs typeface="Arial" panose="020B0604020202020204" pitchFamily="34" charset="0"/>
              </a:rPr>
              <a:t>Prentice-Hall, 2001</a:t>
            </a:r>
            <a:endParaRPr lang="en-GB" dirty="0">
              <a:solidFill>
                <a:schemeClr val="bg1"/>
              </a:solidFill>
              <a:latin typeface="Calibri" panose="020F050202020403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D57F1E4F-1CFF-5643-939E-217C01CDF565}" type="slidenum">
              <a:rPr lang="en-US" smtClean="0"/>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 ONE – Introduction to Communication Systems</a:t>
            </a:r>
            <a:endParaRPr lang="en-GB" dirty="0"/>
          </a:p>
        </p:txBody>
      </p:sp>
      <p:sp>
        <p:nvSpPr>
          <p:cNvPr id="3" name="Text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2"/>
          </p:nvPr>
        </p:nvSpPr>
        <p:spPr/>
        <p:txBody>
          <a:bodyPr/>
          <a:lstStyle/>
          <a:p>
            <a:fld id="{D57F1E4F-1CFF-5643-939E-217C01CDF565}" type="slidenum">
              <a:rPr lang="en-US" smtClean="0"/>
              <a:t>7</a:t>
            </a:fld>
            <a:endParaRPr lang="en-US" dirty="0"/>
          </a:p>
        </p:txBody>
      </p:sp>
      <p:sp>
        <p:nvSpPr>
          <p:cNvPr id="6" name="Rectangle 5"/>
          <p:cNvSpPr/>
          <p:nvPr/>
        </p:nvSpPr>
        <p:spPr>
          <a:xfrm>
            <a:off x="764088" y="1338986"/>
            <a:ext cx="7769676" cy="954107"/>
          </a:xfrm>
          <a:prstGeom prst="rect">
            <a:avLst/>
          </a:prstGeom>
        </p:spPr>
        <p:txBody>
          <a:bodyPr wrap="square">
            <a:spAutoFit/>
          </a:bodyPr>
          <a:lstStyle/>
          <a:p>
            <a:r>
              <a:rPr lang="en-US" b="1" i="1" dirty="0"/>
              <a:t>Quote: </a:t>
            </a:r>
            <a:r>
              <a:rPr lang="en-US" i="1" dirty="0"/>
              <a:t>This mind is not an empty vessel to be filled but a powerhouse to be ignited</a:t>
            </a:r>
          </a:p>
          <a:p>
            <a:pPr algn="ctr"/>
            <a:r>
              <a:rPr lang="en-US" sz="2000" i="1" dirty="0"/>
              <a:t>– Plutarch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rmAutofit/>
          </a:bodyPr>
          <a:lstStyle/>
          <a:p>
            <a:r>
              <a:rPr lang="en-US" sz="4000" dirty="0"/>
              <a:t>Introduction to Communication Systems</a:t>
            </a:r>
            <a:endParaRPr lang="en-GB" sz="4000" dirty="0"/>
          </a:p>
        </p:txBody>
      </p:sp>
      <p:sp>
        <p:nvSpPr>
          <p:cNvPr id="2" name="Slide Number Placeholder 1"/>
          <p:cNvSpPr>
            <a:spLocks noGrp="1"/>
          </p:cNvSpPr>
          <p:nvPr>
            <p:ph type="sldNum" sz="quarter" idx="12"/>
          </p:nvPr>
        </p:nvSpPr>
        <p:spPr/>
        <p:txBody>
          <a:bodyPr/>
          <a:lstStyle/>
          <a:p>
            <a:fld id="{D57F1E4F-1CFF-5643-939E-217C01CDF565}" type="slidenum">
              <a:rPr lang="en-US" smtClean="0"/>
              <a:t>8</a:t>
            </a:fld>
            <a:endParaRPr lang="en-US" dirty="0"/>
          </a:p>
        </p:txBody>
      </p:sp>
      <p:pic>
        <p:nvPicPr>
          <p:cNvPr id="5" name="Picture 4"/>
          <p:cNvPicPr>
            <a:picLocks noChangeAspect="1"/>
          </p:cNvPicPr>
          <p:nvPr/>
        </p:nvPicPr>
        <p:blipFill>
          <a:blip r:embed="rId3"/>
          <a:stretch>
            <a:fillRect/>
          </a:stretch>
        </p:blipFill>
        <p:spPr>
          <a:xfrm>
            <a:off x="884542" y="3236557"/>
            <a:ext cx="946023" cy="1403459"/>
          </a:xfrm>
          <a:prstGeom prst="rect">
            <a:avLst/>
          </a:prstGeom>
        </p:spPr>
      </p:pic>
      <p:sp>
        <p:nvSpPr>
          <p:cNvPr id="7" name="Rectangle 6"/>
          <p:cNvSpPr/>
          <p:nvPr/>
        </p:nvSpPr>
        <p:spPr>
          <a:xfrm>
            <a:off x="1925554" y="2529923"/>
            <a:ext cx="1207008" cy="178308"/>
          </a:xfrm>
          <a:prstGeom prst="rect">
            <a:avLst/>
          </a:prstGeom>
        </p:spPr>
        <p:txBody>
          <a:bodyPr wrap="none" lIns="0" tIns="0" rIns="0" bIns="0">
            <a:noAutofit/>
          </a:bodyPr>
          <a:lstStyle/>
          <a:p>
            <a:r>
              <a:rPr lang="en-US" sz="1875" dirty="0">
                <a:solidFill>
                  <a:srgbClr val="3A3D3A"/>
                </a:solidFill>
                <a:latin typeface="Arial" panose="020B0604020202020204"/>
              </a:rPr>
              <a:t>Tribal</a:t>
            </a:r>
          </a:p>
          <a:p>
            <a:r>
              <a:rPr lang="en-US" sz="1875" dirty="0">
                <a:solidFill>
                  <a:srgbClr val="3A3D3A"/>
                </a:solidFill>
                <a:latin typeface="Arial" panose="020B0604020202020204"/>
              </a:rPr>
              <a:t>Drum</a:t>
            </a:r>
          </a:p>
        </p:txBody>
      </p:sp>
      <p:sp>
        <p:nvSpPr>
          <p:cNvPr id="8" name="Rectangle 7"/>
          <p:cNvSpPr/>
          <p:nvPr/>
        </p:nvSpPr>
        <p:spPr>
          <a:xfrm>
            <a:off x="7197857" y="2557133"/>
            <a:ext cx="1417320" cy="205740"/>
          </a:xfrm>
          <a:prstGeom prst="rect">
            <a:avLst/>
          </a:prstGeom>
        </p:spPr>
        <p:txBody>
          <a:bodyPr wrap="none" lIns="0" tIns="0" rIns="0" bIns="0">
            <a:noAutofit/>
          </a:bodyPr>
          <a:lstStyle/>
          <a:p>
            <a:r>
              <a:rPr lang="en-US" sz="1875" dirty="0">
                <a:solidFill>
                  <a:srgbClr val="3A3D3A"/>
                </a:solidFill>
                <a:latin typeface="Arial" panose="020B0604020202020204"/>
              </a:rPr>
              <a:t>Morse Code</a:t>
            </a:r>
          </a:p>
        </p:txBody>
      </p:sp>
      <p:sp>
        <p:nvSpPr>
          <p:cNvPr id="9" name="Rectangle 8"/>
          <p:cNvSpPr/>
          <p:nvPr/>
        </p:nvSpPr>
        <p:spPr>
          <a:xfrm>
            <a:off x="1038707" y="2518271"/>
            <a:ext cx="1469898" cy="244602"/>
          </a:xfrm>
          <a:prstGeom prst="rect">
            <a:avLst/>
          </a:prstGeom>
        </p:spPr>
        <p:txBody>
          <a:bodyPr wrap="none" lIns="0" tIns="0" rIns="0" bIns="0">
            <a:noAutofit/>
          </a:bodyPr>
          <a:lstStyle/>
          <a:p>
            <a:r>
              <a:rPr lang="en-US" sz="1875" dirty="0">
                <a:solidFill>
                  <a:srgbClr val="3A3D3A"/>
                </a:solidFill>
                <a:latin typeface="Arial" panose="020B0604020202020204"/>
              </a:rPr>
              <a:t>Smoke</a:t>
            </a:r>
          </a:p>
          <a:p>
            <a:r>
              <a:rPr lang="en-US" sz="1875" dirty="0">
                <a:solidFill>
                  <a:srgbClr val="3A3D3A"/>
                </a:solidFill>
                <a:latin typeface="Arial" panose="020B0604020202020204"/>
              </a:rPr>
              <a:t>Signal</a:t>
            </a:r>
          </a:p>
        </p:txBody>
      </p:sp>
      <p:pic>
        <p:nvPicPr>
          <p:cNvPr id="10" name="Picture 9"/>
          <p:cNvPicPr>
            <a:picLocks noChangeAspect="1"/>
          </p:cNvPicPr>
          <p:nvPr/>
        </p:nvPicPr>
        <p:blipFill rotWithShape="1">
          <a:blip r:embed="rId4"/>
          <a:srcRect l="38384" r="41638" b="27288"/>
          <a:stretch>
            <a:fillRect/>
          </a:stretch>
        </p:blipFill>
        <p:spPr>
          <a:xfrm>
            <a:off x="1917024" y="3236559"/>
            <a:ext cx="826064" cy="1403459"/>
          </a:xfrm>
          <a:prstGeom prst="rect">
            <a:avLst/>
          </a:prstGeom>
        </p:spPr>
      </p:pic>
      <p:pic>
        <p:nvPicPr>
          <p:cNvPr id="12" name="Picture 31" descr="MCj02873220000[1]"/>
          <p:cNvPicPr>
            <a:picLocks noChangeAspect="1" noChangeArrowheads="1"/>
          </p:cNvPicPr>
          <p:nvPr/>
        </p:nvPicPr>
        <p:blipFill>
          <a:blip r:embed="rId5"/>
          <a:srcRect/>
          <a:stretch>
            <a:fillRect/>
          </a:stretch>
        </p:blipFill>
        <p:spPr bwMode="auto">
          <a:xfrm>
            <a:off x="2904796" y="3510458"/>
            <a:ext cx="1791422" cy="783858"/>
          </a:xfrm>
          <a:prstGeom prst="rect">
            <a:avLst/>
          </a:prstGeom>
          <a:noFill/>
          <a:ln w="9525">
            <a:noFill/>
            <a:miter lim="800000"/>
            <a:headEnd/>
            <a:tailEnd/>
          </a:ln>
          <a:effectLst/>
        </p:spPr>
      </p:pic>
      <p:grpSp>
        <p:nvGrpSpPr>
          <p:cNvPr id="20" name="Group 37"/>
          <p:cNvGrpSpPr/>
          <p:nvPr/>
        </p:nvGrpSpPr>
        <p:grpSpPr bwMode="auto">
          <a:xfrm>
            <a:off x="4971641" y="3383542"/>
            <a:ext cx="2090799" cy="729299"/>
            <a:chOff x="575" y="2183"/>
            <a:chExt cx="4697" cy="1666"/>
          </a:xfrm>
        </p:grpSpPr>
        <p:pic>
          <p:nvPicPr>
            <p:cNvPr id="21" name="Picture 38"/>
            <p:cNvPicPr>
              <a:picLocks noChangeAspect="1" noChangeArrowheads="1"/>
            </p:cNvPicPr>
            <p:nvPr/>
          </p:nvPicPr>
          <p:blipFill>
            <a:blip r:embed="rId6"/>
            <a:srcRect/>
            <a:stretch>
              <a:fillRect/>
            </a:stretch>
          </p:blipFill>
          <p:spPr bwMode="auto">
            <a:xfrm>
              <a:off x="575" y="2492"/>
              <a:ext cx="721" cy="659"/>
            </a:xfrm>
            <a:prstGeom prst="rect">
              <a:avLst/>
            </a:prstGeom>
            <a:noFill/>
          </p:spPr>
        </p:pic>
        <p:pic>
          <p:nvPicPr>
            <p:cNvPr id="22" name="Picture 39"/>
            <p:cNvPicPr>
              <a:picLocks noChangeAspect="1" noChangeArrowheads="1"/>
            </p:cNvPicPr>
            <p:nvPr/>
          </p:nvPicPr>
          <p:blipFill>
            <a:blip r:embed="rId6"/>
            <a:srcRect/>
            <a:stretch>
              <a:fillRect/>
            </a:stretch>
          </p:blipFill>
          <p:spPr bwMode="auto">
            <a:xfrm>
              <a:off x="4551" y="3148"/>
              <a:ext cx="721" cy="659"/>
            </a:xfrm>
            <a:prstGeom prst="rect">
              <a:avLst/>
            </a:prstGeom>
            <a:noFill/>
          </p:spPr>
        </p:pic>
        <p:grpSp>
          <p:nvGrpSpPr>
            <p:cNvPr id="23" name="Group 40"/>
            <p:cNvGrpSpPr/>
            <p:nvPr/>
          </p:nvGrpSpPr>
          <p:grpSpPr bwMode="auto">
            <a:xfrm>
              <a:off x="1295" y="2183"/>
              <a:ext cx="3556" cy="1666"/>
              <a:chOff x="1695" y="2167"/>
              <a:chExt cx="3556" cy="1666"/>
            </a:xfrm>
          </p:grpSpPr>
          <p:grpSp>
            <p:nvGrpSpPr>
              <p:cNvPr id="24" name="Group 41"/>
              <p:cNvGrpSpPr/>
              <p:nvPr/>
            </p:nvGrpSpPr>
            <p:grpSpPr bwMode="auto">
              <a:xfrm>
                <a:off x="4039" y="2167"/>
                <a:ext cx="1212" cy="1658"/>
                <a:chOff x="1263" y="2047"/>
                <a:chExt cx="1212" cy="1658"/>
              </a:xfrm>
            </p:grpSpPr>
            <p:pic>
              <p:nvPicPr>
                <p:cNvPr id="35" name="Picture 42" descr="pe01832_"/>
                <p:cNvPicPr>
                  <a:picLocks noChangeAspect="1" noChangeArrowheads="1"/>
                </p:cNvPicPr>
                <p:nvPr/>
              </p:nvPicPr>
              <p:blipFill>
                <a:blip r:embed="rId7"/>
                <a:srcRect/>
                <a:stretch>
                  <a:fillRect/>
                </a:stretch>
              </p:blipFill>
              <p:spPr bwMode="auto">
                <a:xfrm>
                  <a:off x="1263" y="2047"/>
                  <a:ext cx="1212" cy="1108"/>
                </a:xfrm>
                <a:prstGeom prst="rect">
                  <a:avLst/>
                </a:prstGeom>
                <a:noFill/>
                <a:ln w="9525">
                  <a:noFill/>
                  <a:miter lim="800000"/>
                  <a:headEnd/>
                  <a:tailEnd/>
                </a:ln>
                <a:effectLst/>
              </p:spPr>
            </p:pic>
            <p:sp>
              <p:nvSpPr>
                <p:cNvPr id="36" name="Firewall"/>
                <p:cNvSpPr>
                  <a:spLocks noEditPoints="1" noChangeArrowheads="1"/>
                </p:cNvSpPr>
                <p:nvPr/>
              </p:nvSpPr>
              <p:spPr bwMode="auto">
                <a:xfrm>
                  <a:off x="1539" y="3135"/>
                  <a:ext cx="461" cy="570"/>
                </a:xfrm>
                <a:custGeom>
                  <a:avLst/>
                  <a:gdLst>
                    <a:gd name="T0" fmla="*/ 0 w 21600"/>
                    <a:gd name="T1" fmla="*/ 0 h 21600"/>
                    <a:gd name="T2" fmla="*/ 10800 w 21600"/>
                    <a:gd name="T3" fmla="*/ 0 h 21600"/>
                    <a:gd name="T4" fmla="*/ 21600 w 21600"/>
                    <a:gd name="T5" fmla="*/ 0 h 21600"/>
                    <a:gd name="T6" fmla="*/ 21060 w 21600"/>
                    <a:gd name="T7" fmla="*/ 10800 h 21600"/>
                    <a:gd name="T8" fmla="*/ 21060 w 21600"/>
                    <a:gd name="T9" fmla="*/ 21600 h 21600"/>
                    <a:gd name="T10" fmla="*/ 10800 w 21600"/>
                    <a:gd name="T11" fmla="*/ 21600 h 21600"/>
                    <a:gd name="T12" fmla="*/ 540 w 21600"/>
                    <a:gd name="T13" fmla="*/ 21600 h 21600"/>
                    <a:gd name="T14" fmla="*/ 540 w 21600"/>
                    <a:gd name="T15" fmla="*/ 10800 h 21600"/>
                    <a:gd name="T16" fmla="*/ 761 w 21600"/>
                    <a:gd name="T17" fmla="*/ 22454 h 21600"/>
                    <a:gd name="T18" fmla="*/ 21069 w 21600"/>
                    <a:gd name="T19" fmla="*/ 32282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540" y="4628"/>
                      </a:moveTo>
                      <a:lnTo>
                        <a:pt x="0" y="4628"/>
                      </a:lnTo>
                      <a:lnTo>
                        <a:pt x="0" y="0"/>
                      </a:lnTo>
                      <a:lnTo>
                        <a:pt x="21600" y="0"/>
                      </a:lnTo>
                      <a:lnTo>
                        <a:pt x="21600" y="4628"/>
                      </a:lnTo>
                      <a:lnTo>
                        <a:pt x="21060" y="4628"/>
                      </a:lnTo>
                      <a:lnTo>
                        <a:pt x="21060" y="21600"/>
                      </a:lnTo>
                      <a:lnTo>
                        <a:pt x="540" y="21600"/>
                      </a:lnTo>
                      <a:lnTo>
                        <a:pt x="540" y="4628"/>
                      </a:lnTo>
                      <a:close/>
                    </a:path>
                    <a:path w="21600" h="21600" extrusionOk="0">
                      <a:moveTo>
                        <a:pt x="540" y="4628"/>
                      </a:moveTo>
                      <a:lnTo>
                        <a:pt x="540" y="6171"/>
                      </a:lnTo>
                      <a:lnTo>
                        <a:pt x="2700" y="6171"/>
                      </a:lnTo>
                      <a:lnTo>
                        <a:pt x="2700" y="4628"/>
                      </a:lnTo>
                      <a:lnTo>
                        <a:pt x="540" y="4628"/>
                      </a:lnTo>
                      <a:close/>
                    </a:path>
                    <a:path w="21600" h="21600" extrusionOk="0">
                      <a:moveTo>
                        <a:pt x="2700" y="4628"/>
                      </a:moveTo>
                      <a:lnTo>
                        <a:pt x="2700" y="6171"/>
                      </a:lnTo>
                      <a:lnTo>
                        <a:pt x="4860" y="6171"/>
                      </a:lnTo>
                      <a:lnTo>
                        <a:pt x="4860" y="4628"/>
                      </a:lnTo>
                      <a:lnTo>
                        <a:pt x="2700" y="4628"/>
                      </a:lnTo>
                      <a:close/>
                    </a:path>
                    <a:path w="21600" h="21600" extrusionOk="0">
                      <a:moveTo>
                        <a:pt x="4860" y="4628"/>
                      </a:moveTo>
                      <a:lnTo>
                        <a:pt x="4860" y="6171"/>
                      </a:lnTo>
                      <a:lnTo>
                        <a:pt x="7020" y="6171"/>
                      </a:lnTo>
                      <a:lnTo>
                        <a:pt x="7020" y="4628"/>
                      </a:lnTo>
                      <a:lnTo>
                        <a:pt x="4860" y="4628"/>
                      </a:lnTo>
                      <a:close/>
                    </a:path>
                    <a:path w="21600" h="21600" extrusionOk="0">
                      <a:moveTo>
                        <a:pt x="7020" y="4628"/>
                      </a:moveTo>
                      <a:lnTo>
                        <a:pt x="7020" y="6171"/>
                      </a:lnTo>
                      <a:lnTo>
                        <a:pt x="9180" y="6171"/>
                      </a:lnTo>
                      <a:lnTo>
                        <a:pt x="9180" y="4628"/>
                      </a:lnTo>
                      <a:lnTo>
                        <a:pt x="7020" y="4628"/>
                      </a:lnTo>
                      <a:close/>
                    </a:path>
                    <a:path w="21600" h="21600" extrusionOk="0">
                      <a:moveTo>
                        <a:pt x="9180" y="4628"/>
                      </a:moveTo>
                      <a:lnTo>
                        <a:pt x="9180" y="6171"/>
                      </a:lnTo>
                      <a:lnTo>
                        <a:pt x="11340" y="6171"/>
                      </a:lnTo>
                      <a:lnTo>
                        <a:pt x="11340" y="4628"/>
                      </a:lnTo>
                      <a:lnTo>
                        <a:pt x="9180" y="4628"/>
                      </a:lnTo>
                      <a:close/>
                    </a:path>
                    <a:path w="21600" h="21600" extrusionOk="0">
                      <a:moveTo>
                        <a:pt x="11340" y="4628"/>
                      </a:moveTo>
                      <a:lnTo>
                        <a:pt x="11340" y="6171"/>
                      </a:lnTo>
                      <a:lnTo>
                        <a:pt x="13500" y="6171"/>
                      </a:lnTo>
                      <a:lnTo>
                        <a:pt x="13500" y="4628"/>
                      </a:lnTo>
                      <a:lnTo>
                        <a:pt x="11340" y="4628"/>
                      </a:lnTo>
                      <a:close/>
                    </a:path>
                    <a:path w="21600" h="21600" extrusionOk="0">
                      <a:moveTo>
                        <a:pt x="13500" y="4628"/>
                      </a:moveTo>
                      <a:lnTo>
                        <a:pt x="13500" y="6171"/>
                      </a:lnTo>
                      <a:lnTo>
                        <a:pt x="15660" y="6171"/>
                      </a:lnTo>
                      <a:lnTo>
                        <a:pt x="15660" y="4628"/>
                      </a:lnTo>
                      <a:lnTo>
                        <a:pt x="13500" y="4628"/>
                      </a:lnTo>
                      <a:close/>
                    </a:path>
                    <a:path w="21600" h="21600" extrusionOk="0">
                      <a:moveTo>
                        <a:pt x="15660" y="4628"/>
                      </a:moveTo>
                      <a:lnTo>
                        <a:pt x="15660" y="6171"/>
                      </a:lnTo>
                      <a:lnTo>
                        <a:pt x="17820" y="6171"/>
                      </a:lnTo>
                      <a:lnTo>
                        <a:pt x="17820" y="4628"/>
                      </a:lnTo>
                      <a:lnTo>
                        <a:pt x="15660" y="4628"/>
                      </a:lnTo>
                      <a:close/>
                    </a:path>
                    <a:path w="21600" h="21600" extrusionOk="0">
                      <a:moveTo>
                        <a:pt x="17820" y="4628"/>
                      </a:moveTo>
                      <a:lnTo>
                        <a:pt x="17820" y="6171"/>
                      </a:lnTo>
                      <a:lnTo>
                        <a:pt x="19980" y="6171"/>
                      </a:lnTo>
                      <a:lnTo>
                        <a:pt x="19980" y="4628"/>
                      </a:lnTo>
                      <a:lnTo>
                        <a:pt x="17820" y="4628"/>
                      </a:lnTo>
                      <a:close/>
                    </a:path>
                    <a:path w="21600" h="21600" extrusionOk="0">
                      <a:moveTo>
                        <a:pt x="1620" y="6171"/>
                      </a:moveTo>
                      <a:lnTo>
                        <a:pt x="1620" y="7714"/>
                      </a:lnTo>
                      <a:lnTo>
                        <a:pt x="3779" y="7714"/>
                      </a:lnTo>
                      <a:lnTo>
                        <a:pt x="3779" y="6171"/>
                      </a:lnTo>
                      <a:lnTo>
                        <a:pt x="1620" y="6171"/>
                      </a:lnTo>
                      <a:close/>
                    </a:path>
                    <a:path w="21600" h="21600" extrusionOk="0">
                      <a:moveTo>
                        <a:pt x="3779" y="6171"/>
                      </a:moveTo>
                      <a:lnTo>
                        <a:pt x="3779" y="7714"/>
                      </a:lnTo>
                      <a:lnTo>
                        <a:pt x="5940" y="7714"/>
                      </a:lnTo>
                      <a:lnTo>
                        <a:pt x="5940" y="6171"/>
                      </a:lnTo>
                      <a:lnTo>
                        <a:pt x="3779" y="6171"/>
                      </a:lnTo>
                      <a:close/>
                    </a:path>
                    <a:path w="21600" h="21600" extrusionOk="0">
                      <a:moveTo>
                        <a:pt x="5940" y="6171"/>
                      </a:moveTo>
                      <a:lnTo>
                        <a:pt x="5940" y="7714"/>
                      </a:lnTo>
                      <a:lnTo>
                        <a:pt x="8100" y="7714"/>
                      </a:lnTo>
                      <a:lnTo>
                        <a:pt x="8100" y="6171"/>
                      </a:lnTo>
                      <a:lnTo>
                        <a:pt x="5940" y="6171"/>
                      </a:lnTo>
                      <a:close/>
                    </a:path>
                    <a:path w="21600" h="21600" extrusionOk="0">
                      <a:moveTo>
                        <a:pt x="8100" y="6171"/>
                      </a:moveTo>
                      <a:lnTo>
                        <a:pt x="8100" y="7714"/>
                      </a:lnTo>
                      <a:lnTo>
                        <a:pt x="10260" y="7714"/>
                      </a:lnTo>
                      <a:lnTo>
                        <a:pt x="10260" y="6171"/>
                      </a:lnTo>
                      <a:lnTo>
                        <a:pt x="8100" y="6171"/>
                      </a:lnTo>
                      <a:close/>
                    </a:path>
                    <a:path w="21600" h="21600" extrusionOk="0">
                      <a:moveTo>
                        <a:pt x="10260" y="6171"/>
                      </a:moveTo>
                      <a:lnTo>
                        <a:pt x="10260" y="7714"/>
                      </a:lnTo>
                      <a:lnTo>
                        <a:pt x="12419" y="7714"/>
                      </a:lnTo>
                      <a:lnTo>
                        <a:pt x="12419" y="6171"/>
                      </a:lnTo>
                      <a:lnTo>
                        <a:pt x="10260" y="6171"/>
                      </a:lnTo>
                      <a:close/>
                    </a:path>
                    <a:path w="21600" h="21600" extrusionOk="0">
                      <a:moveTo>
                        <a:pt x="12419" y="6171"/>
                      </a:moveTo>
                      <a:lnTo>
                        <a:pt x="12419" y="7714"/>
                      </a:lnTo>
                      <a:lnTo>
                        <a:pt x="14580" y="7714"/>
                      </a:lnTo>
                      <a:lnTo>
                        <a:pt x="14580" y="6171"/>
                      </a:lnTo>
                      <a:lnTo>
                        <a:pt x="12419" y="6171"/>
                      </a:lnTo>
                      <a:close/>
                    </a:path>
                    <a:path w="21600" h="21600" extrusionOk="0">
                      <a:moveTo>
                        <a:pt x="14580" y="6171"/>
                      </a:moveTo>
                      <a:lnTo>
                        <a:pt x="14580" y="7714"/>
                      </a:lnTo>
                      <a:lnTo>
                        <a:pt x="16740" y="7714"/>
                      </a:lnTo>
                      <a:lnTo>
                        <a:pt x="16740" y="6171"/>
                      </a:lnTo>
                      <a:lnTo>
                        <a:pt x="14580" y="6171"/>
                      </a:lnTo>
                      <a:close/>
                    </a:path>
                    <a:path w="21600" h="21600" extrusionOk="0">
                      <a:moveTo>
                        <a:pt x="16740" y="6171"/>
                      </a:moveTo>
                      <a:lnTo>
                        <a:pt x="16740" y="7714"/>
                      </a:lnTo>
                      <a:lnTo>
                        <a:pt x="18900" y="7714"/>
                      </a:lnTo>
                      <a:lnTo>
                        <a:pt x="18900" y="6171"/>
                      </a:lnTo>
                      <a:lnTo>
                        <a:pt x="16740" y="6171"/>
                      </a:lnTo>
                      <a:close/>
                    </a:path>
                    <a:path w="21600" h="21600" extrusionOk="0">
                      <a:moveTo>
                        <a:pt x="18900" y="6171"/>
                      </a:moveTo>
                      <a:lnTo>
                        <a:pt x="18900" y="7714"/>
                      </a:lnTo>
                      <a:lnTo>
                        <a:pt x="21060" y="7714"/>
                      </a:lnTo>
                      <a:lnTo>
                        <a:pt x="21060" y="6171"/>
                      </a:lnTo>
                      <a:lnTo>
                        <a:pt x="18900" y="6171"/>
                      </a:lnTo>
                      <a:close/>
                    </a:path>
                    <a:path w="21600" h="21600" extrusionOk="0">
                      <a:moveTo>
                        <a:pt x="540" y="7714"/>
                      </a:moveTo>
                      <a:lnTo>
                        <a:pt x="540" y="9257"/>
                      </a:lnTo>
                      <a:lnTo>
                        <a:pt x="2700" y="9257"/>
                      </a:lnTo>
                      <a:lnTo>
                        <a:pt x="2700" y="7714"/>
                      </a:lnTo>
                      <a:lnTo>
                        <a:pt x="540" y="7714"/>
                      </a:lnTo>
                      <a:close/>
                    </a:path>
                    <a:path w="21600" h="21600" extrusionOk="0">
                      <a:moveTo>
                        <a:pt x="2700" y="7714"/>
                      </a:moveTo>
                      <a:lnTo>
                        <a:pt x="2700" y="9257"/>
                      </a:lnTo>
                      <a:lnTo>
                        <a:pt x="4860" y="9257"/>
                      </a:lnTo>
                      <a:lnTo>
                        <a:pt x="4860" y="7714"/>
                      </a:lnTo>
                      <a:lnTo>
                        <a:pt x="2700" y="7714"/>
                      </a:lnTo>
                      <a:close/>
                    </a:path>
                    <a:path w="21600" h="21600" extrusionOk="0">
                      <a:moveTo>
                        <a:pt x="4860" y="7714"/>
                      </a:moveTo>
                      <a:lnTo>
                        <a:pt x="4860" y="9257"/>
                      </a:lnTo>
                      <a:lnTo>
                        <a:pt x="7020" y="9257"/>
                      </a:lnTo>
                      <a:lnTo>
                        <a:pt x="7020" y="7714"/>
                      </a:lnTo>
                      <a:lnTo>
                        <a:pt x="4860" y="7714"/>
                      </a:lnTo>
                      <a:close/>
                    </a:path>
                    <a:path w="21600" h="21600" extrusionOk="0">
                      <a:moveTo>
                        <a:pt x="7020" y="7714"/>
                      </a:moveTo>
                      <a:lnTo>
                        <a:pt x="7020" y="9257"/>
                      </a:lnTo>
                      <a:lnTo>
                        <a:pt x="9180" y="9257"/>
                      </a:lnTo>
                      <a:lnTo>
                        <a:pt x="9180" y="7714"/>
                      </a:lnTo>
                      <a:lnTo>
                        <a:pt x="7020" y="7714"/>
                      </a:lnTo>
                      <a:close/>
                    </a:path>
                    <a:path w="21600" h="21600" extrusionOk="0">
                      <a:moveTo>
                        <a:pt x="9180" y="7714"/>
                      </a:moveTo>
                      <a:lnTo>
                        <a:pt x="9180" y="9257"/>
                      </a:lnTo>
                      <a:lnTo>
                        <a:pt x="11340" y="9257"/>
                      </a:lnTo>
                      <a:lnTo>
                        <a:pt x="11340" y="7714"/>
                      </a:lnTo>
                      <a:lnTo>
                        <a:pt x="9180" y="7714"/>
                      </a:lnTo>
                      <a:close/>
                    </a:path>
                    <a:path w="21600" h="21600" extrusionOk="0">
                      <a:moveTo>
                        <a:pt x="11340" y="7714"/>
                      </a:moveTo>
                      <a:lnTo>
                        <a:pt x="11340" y="9257"/>
                      </a:lnTo>
                      <a:lnTo>
                        <a:pt x="13500" y="9257"/>
                      </a:lnTo>
                      <a:lnTo>
                        <a:pt x="13500" y="7714"/>
                      </a:lnTo>
                      <a:lnTo>
                        <a:pt x="11340" y="7714"/>
                      </a:lnTo>
                      <a:close/>
                    </a:path>
                    <a:path w="21600" h="21600" extrusionOk="0">
                      <a:moveTo>
                        <a:pt x="13500" y="7714"/>
                      </a:moveTo>
                      <a:lnTo>
                        <a:pt x="13500" y="9257"/>
                      </a:lnTo>
                      <a:lnTo>
                        <a:pt x="15660" y="9257"/>
                      </a:lnTo>
                      <a:lnTo>
                        <a:pt x="15660" y="7714"/>
                      </a:lnTo>
                      <a:lnTo>
                        <a:pt x="13500" y="7714"/>
                      </a:lnTo>
                      <a:close/>
                    </a:path>
                    <a:path w="21600" h="21600" extrusionOk="0">
                      <a:moveTo>
                        <a:pt x="15660" y="7714"/>
                      </a:moveTo>
                      <a:lnTo>
                        <a:pt x="15660" y="9257"/>
                      </a:lnTo>
                      <a:lnTo>
                        <a:pt x="17820" y="9257"/>
                      </a:lnTo>
                      <a:lnTo>
                        <a:pt x="17820" y="7714"/>
                      </a:lnTo>
                      <a:lnTo>
                        <a:pt x="15660" y="7714"/>
                      </a:lnTo>
                      <a:close/>
                    </a:path>
                    <a:path w="21600" h="21600" extrusionOk="0">
                      <a:moveTo>
                        <a:pt x="17820" y="7714"/>
                      </a:moveTo>
                      <a:lnTo>
                        <a:pt x="17820" y="9257"/>
                      </a:lnTo>
                      <a:lnTo>
                        <a:pt x="19980" y="9257"/>
                      </a:lnTo>
                      <a:lnTo>
                        <a:pt x="19980" y="7714"/>
                      </a:lnTo>
                      <a:lnTo>
                        <a:pt x="17820" y="7714"/>
                      </a:lnTo>
                      <a:close/>
                    </a:path>
                    <a:path w="21600" h="21600" extrusionOk="0">
                      <a:moveTo>
                        <a:pt x="1620" y="9257"/>
                      </a:moveTo>
                      <a:lnTo>
                        <a:pt x="1620" y="10800"/>
                      </a:lnTo>
                      <a:lnTo>
                        <a:pt x="3779" y="10800"/>
                      </a:lnTo>
                      <a:lnTo>
                        <a:pt x="3779" y="9257"/>
                      </a:lnTo>
                      <a:lnTo>
                        <a:pt x="1620" y="9257"/>
                      </a:lnTo>
                      <a:close/>
                    </a:path>
                    <a:path w="21600" h="21600" extrusionOk="0">
                      <a:moveTo>
                        <a:pt x="3779" y="9257"/>
                      </a:moveTo>
                      <a:lnTo>
                        <a:pt x="3779" y="10800"/>
                      </a:lnTo>
                      <a:lnTo>
                        <a:pt x="5940" y="10800"/>
                      </a:lnTo>
                      <a:lnTo>
                        <a:pt x="5940" y="9257"/>
                      </a:lnTo>
                      <a:lnTo>
                        <a:pt x="3779" y="9257"/>
                      </a:lnTo>
                      <a:close/>
                    </a:path>
                    <a:path w="21600" h="21600" extrusionOk="0">
                      <a:moveTo>
                        <a:pt x="5940" y="9257"/>
                      </a:moveTo>
                      <a:lnTo>
                        <a:pt x="5940" y="10800"/>
                      </a:lnTo>
                      <a:lnTo>
                        <a:pt x="8100" y="10800"/>
                      </a:lnTo>
                      <a:lnTo>
                        <a:pt x="8100" y="9257"/>
                      </a:lnTo>
                      <a:lnTo>
                        <a:pt x="5940" y="9257"/>
                      </a:lnTo>
                      <a:close/>
                    </a:path>
                    <a:path w="21600" h="21600" extrusionOk="0">
                      <a:moveTo>
                        <a:pt x="8100" y="9257"/>
                      </a:moveTo>
                      <a:lnTo>
                        <a:pt x="8100" y="10800"/>
                      </a:lnTo>
                      <a:lnTo>
                        <a:pt x="10260" y="10800"/>
                      </a:lnTo>
                      <a:lnTo>
                        <a:pt x="10260" y="9257"/>
                      </a:lnTo>
                      <a:lnTo>
                        <a:pt x="8100" y="9257"/>
                      </a:lnTo>
                      <a:close/>
                    </a:path>
                    <a:path w="21600" h="21600" extrusionOk="0">
                      <a:moveTo>
                        <a:pt x="10260" y="9257"/>
                      </a:moveTo>
                      <a:lnTo>
                        <a:pt x="10260" y="10800"/>
                      </a:lnTo>
                      <a:lnTo>
                        <a:pt x="12419" y="10800"/>
                      </a:lnTo>
                      <a:lnTo>
                        <a:pt x="12419" y="9257"/>
                      </a:lnTo>
                      <a:lnTo>
                        <a:pt x="10260" y="9257"/>
                      </a:lnTo>
                      <a:close/>
                    </a:path>
                    <a:path w="21600" h="21600" extrusionOk="0">
                      <a:moveTo>
                        <a:pt x="12419" y="9257"/>
                      </a:moveTo>
                      <a:lnTo>
                        <a:pt x="12419" y="10800"/>
                      </a:lnTo>
                      <a:lnTo>
                        <a:pt x="14580" y="10800"/>
                      </a:lnTo>
                      <a:lnTo>
                        <a:pt x="14580" y="9257"/>
                      </a:lnTo>
                      <a:lnTo>
                        <a:pt x="12419" y="9257"/>
                      </a:lnTo>
                      <a:close/>
                    </a:path>
                    <a:path w="21600" h="21600" extrusionOk="0">
                      <a:moveTo>
                        <a:pt x="14580" y="9257"/>
                      </a:moveTo>
                      <a:lnTo>
                        <a:pt x="14580" y="10800"/>
                      </a:lnTo>
                      <a:lnTo>
                        <a:pt x="16740" y="10800"/>
                      </a:lnTo>
                      <a:lnTo>
                        <a:pt x="16740" y="9257"/>
                      </a:lnTo>
                      <a:lnTo>
                        <a:pt x="14580" y="9257"/>
                      </a:lnTo>
                      <a:close/>
                    </a:path>
                    <a:path w="21600" h="21600" extrusionOk="0">
                      <a:moveTo>
                        <a:pt x="16740" y="9257"/>
                      </a:moveTo>
                      <a:lnTo>
                        <a:pt x="16740" y="10800"/>
                      </a:lnTo>
                      <a:lnTo>
                        <a:pt x="18900" y="10800"/>
                      </a:lnTo>
                      <a:lnTo>
                        <a:pt x="18900" y="9257"/>
                      </a:lnTo>
                      <a:lnTo>
                        <a:pt x="16740" y="9257"/>
                      </a:lnTo>
                      <a:close/>
                    </a:path>
                    <a:path w="21600" h="21600" extrusionOk="0">
                      <a:moveTo>
                        <a:pt x="18900" y="9257"/>
                      </a:moveTo>
                      <a:lnTo>
                        <a:pt x="18900" y="10800"/>
                      </a:lnTo>
                      <a:lnTo>
                        <a:pt x="21060" y="10800"/>
                      </a:lnTo>
                      <a:lnTo>
                        <a:pt x="21060" y="9257"/>
                      </a:lnTo>
                      <a:lnTo>
                        <a:pt x="18900" y="9257"/>
                      </a:lnTo>
                      <a:close/>
                    </a:path>
                    <a:path w="21600" h="21600" extrusionOk="0">
                      <a:moveTo>
                        <a:pt x="540" y="10800"/>
                      </a:moveTo>
                      <a:lnTo>
                        <a:pt x="540" y="12342"/>
                      </a:lnTo>
                      <a:lnTo>
                        <a:pt x="2700" y="12342"/>
                      </a:lnTo>
                      <a:lnTo>
                        <a:pt x="2700" y="10800"/>
                      </a:lnTo>
                      <a:lnTo>
                        <a:pt x="540" y="10800"/>
                      </a:lnTo>
                      <a:close/>
                    </a:path>
                    <a:path w="21600" h="21600" extrusionOk="0">
                      <a:moveTo>
                        <a:pt x="2700" y="10800"/>
                      </a:moveTo>
                      <a:lnTo>
                        <a:pt x="2700" y="12342"/>
                      </a:lnTo>
                      <a:lnTo>
                        <a:pt x="4860" y="12342"/>
                      </a:lnTo>
                      <a:lnTo>
                        <a:pt x="4860" y="10800"/>
                      </a:lnTo>
                      <a:lnTo>
                        <a:pt x="2700" y="10800"/>
                      </a:lnTo>
                      <a:close/>
                    </a:path>
                    <a:path w="21600" h="21600" extrusionOk="0">
                      <a:moveTo>
                        <a:pt x="4860" y="10800"/>
                      </a:moveTo>
                      <a:lnTo>
                        <a:pt x="4860" y="12342"/>
                      </a:lnTo>
                      <a:lnTo>
                        <a:pt x="7020" y="12342"/>
                      </a:lnTo>
                      <a:lnTo>
                        <a:pt x="7020" y="10800"/>
                      </a:lnTo>
                      <a:lnTo>
                        <a:pt x="4860" y="10800"/>
                      </a:lnTo>
                      <a:close/>
                    </a:path>
                    <a:path w="21600" h="21600" extrusionOk="0">
                      <a:moveTo>
                        <a:pt x="7020" y="10800"/>
                      </a:moveTo>
                      <a:lnTo>
                        <a:pt x="7020" y="12342"/>
                      </a:lnTo>
                      <a:lnTo>
                        <a:pt x="9180" y="12342"/>
                      </a:lnTo>
                      <a:lnTo>
                        <a:pt x="9180" y="10800"/>
                      </a:lnTo>
                      <a:lnTo>
                        <a:pt x="7020" y="10800"/>
                      </a:lnTo>
                      <a:close/>
                    </a:path>
                    <a:path w="21600" h="21600" extrusionOk="0">
                      <a:moveTo>
                        <a:pt x="9180" y="10800"/>
                      </a:moveTo>
                      <a:lnTo>
                        <a:pt x="9180" y="12342"/>
                      </a:lnTo>
                      <a:lnTo>
                        <a:pt x="11340" y="12342"/>
                      </a:lnTo>
                      <a:lnTo>
                        <a:pt x="11340" y="10800"/>
                      </a:lnTo>
                      <a:lnTo>
                        <a:pt x="9180" y="10800"/>
                      </a:lnTo>
                      <a:close/>
                    </a:path>
                    <a:path w="21600" h="21600" extrusionOk="0">
                      <a:moveTo>
                        <a:pt x="11340" y="10800"/>
                      </a:moveTo>
                      <a:lnTo>
                        <a:pt x="11340" y="12342"/>
                      </a:lnTo>
                      <a:lnTo>
                        <a:pt x="13500" y="12342"/>
                      </a:lnTo>
                      <a:lnTo>
                        <a:pt x="13500" y="10800"/>
                      </a:lnTo>
                      <a:lnTo>
                        <a:pt x="11340" y="10800"/>
                      </a:lnTo>
                      <a:close/>
                    </a:path>
                    <a:path w="21600" h="21600" extrusionOk="0">
                      <a:moveTo>
                        <a:pt x="13500" y="10800"/>
                      </a:moveTo>
                      <a:lnTo>
                        <a:pt x="13500" y="12342"/>
                      </a:lnTo>
                      <a:lnTo>
                        <a:pt x="15660" y="12342"/>
                      </a:lnTo>
                      <a:lnTo>
                        <a:pt x="15660" y="10800"/>
                      </a:lnTo>
                      <a:lnTo>
                        <a:pt x="13500" y="10800"/>
                      </a:lnTo>
                      <a:close/>
                    </a:path>
                    <a:path w="21600" h="21600" extrusionOk="0">
                      <a:moveTo>
                        <a:pt x="15660" y="10800"/>
                      </a:moveTo>
                      <a:lnTo>
                        <a:pt x="15660" y="12342"/>
                      </a:lnTo>
                      <a:lnTo>
                        <a:pt x="17820" y="12342"/>
                      </a:lnTo>
                      <a:lnTo>
                        <a:pt x="17820" y="10800"/>
                      </a:lnTo>
                      <a:lnTo>
                        <a:pt x="15660" y="10800"/>
                      </a:lnTo>
                      <a:close/>
                    </a:path>
                    <a:path w="21600" h="21600" extrusionOk="0">
                      <a:moveTo>
                        <a:pt x="17820" y="10800"/>
                      </a:moveTo>
                      <a:lnTo>
                        <a:pt x="17820" y="12342"/>
                      </a:lnTo>
                      <a:lnTo>
                        <a:pt x="19980" y="12342"/>
                      </a:lnTo>
                      <a:lnTo>
                        <a:pt x="19980" y="10800"/>
                      </a:lnTo>
                      <a:lnTo>
                        <a:pt x="17820" y="10800"/>
                      </a:lnTo>
                      <a:close/>
                    </a:path>
                    <a:path w="21600" h="21600" extrusionOk="0">
                      <a:moveTo>
                        <a:pt x="1620" y="12342"/>
                      </a:moveTo>
                      <a:lnTo>
                        <a:pt x="1620" y="13885"/>
                      </a:lnTo>
                      <a:lnTo>
                        <a:pt x="3779" y="13885"/>
                      </a:lnTo>
                      <a:lnTo>
                        <a:pt x="3779" y="12342"/>
                      </a:lnTo>
                      <a:lnTo>
                        <a:pt x="1620" y="12342"/>
                      </a:lnTo>
                      <a:close/>
                    </a:path>
                    <a:path w="21600" h="21600" extrusionOk="0">
                      <a:moveTo>
                        <a:pt x="3779" y="12342"/>
                      </a:moveTo>
                      <a:lnTo>
                        <a:pt x="3779" y="13885"/>
                      </a:lnTo>
                      <a:lnTo>
                        <a:pt x="5940" y="13885"/>
                      </a:lnTo>
                      <a:lnTo>
                        <a:pt x="5940" y="12342"/>
                      </a:lnTo>
                      <a:lnTo>
                        <a:pt x="3779" y="12342"/>
                      </a:lnTo>
                      <a:close/>
                    </a:path>
                    <a:path w="21600" h="21600" extrusionOk="0">
                      <a:moveTo>
                        <a:pt x="5940" y="12342"/>
                      </a:moveTo>
                      <a:lnTo>
                        <a:pt x="5940" y="13885"/>
                      </a:lnTo>
                      <a:lnTo>
                        <a:pt x="8100" y="13885"/>
                      </a:lnTo>
                      <a:lnTo>
                        <a:pt x="8100" y="12342"/>
                      </a:lnTo>
                      <a:lnTo>
                        <a:pt x="5940" y="12342"/>
                      </a:lnTo>
                      <a:close/>
                    </a:path>
                    <a:path w="21600" h="21600" extrusionOk="0">
                      <a:moveTo>
                        <a:pt x="8100" y="12342"/>
                      </a:moveTo>
                      <a:lnTo>
                        <a:pt x="8100" y="13885"/>
                      </a:lnTo>
                      <a:lnTo>
                        <a:pt x="10260" y="13885"/>
                      </a:lnTo>
                      <a:lnTo>
                        <a:pt x="10260" y="12342"/>
                      </a:lnTo>
                      <a:lnTo>
                        <a:pt x="8100" y="12342"/>
                      </a:lnTo>
                      <a:close/>
                    </a:path>
                    <a:path w="21600" h="21600" extrusionOk="0">
                      <a:moveTo>
                        <a:pt x="10260" y="12342"/>
                      </a:moveTo>
                      <a:lnTo>
                        <a:pt x="10260" y="13885"/>
                      </a:lnTo>
                      <a:lnTo>
                        <a:pt x="12419" y="13885"/>
                      </a:lnTo>
                      <a:lnTo>
                        <a:pt x="12419" y="12342"/>
                      </a:lnTo>
                      <a:lnTo>
                        <a:pt x="10260" y="12342"/>
                      </a:lnTo>
                      <a:close/>
                    </a:path>
                    <a:path w="21600" h="21600" extrusionOk="0">
                      <a:moveTo>
                        <a:pt x="12419" y="12342"/>
                      </a:moveTo>
                      <a:lnTo>
                        <a:pt x="12419" y="13885"/>
                      </a:lnTo>
                      <a:lnTo>
                        <a:pt x="14580" y="13885"/>
                      </a:lnTo>
                      <a:lnTo>
                        <a:pt x="14580" y="12342"/>
                      </a:lnTo>
                      <a:lnTo>
                        <a:pt x="12419" y="12342"/>
                      </a:lnTo>
                      <a:close/>
                    </a:path>
                    <a:path w="21600" h="21600" extrusionOk="0">
                      <a:moveTo>
                        <a:pt x="14580" y="12342"/>
                      </a:moveTo>
                      <a:lnTo>
                        <a:pt x="14580" y="13885"/>
                      </a:lnTo>
                      <a:lnTo>
                        <a:pt x="16740" y="13885"/>
                      </a:lnTo>
                      <a:lnTo>
                        <a:pt x="16740" y="12342"/>
                      </a:lnTo>
                      <a:lnTo>
                        <a:pt x="14580" y="12342"/>
                      </a:lnTo>
                      <a:close/>
                    </a:path>
                    <a:path w="21600" h="21600" extrusionOk="0">
                      <a:moveTo>
                        <a:pt x="16740" y="12342"/>
                      </a:moveTo>
                      <a:lnTo>
                        <a:pt x="16740" y="13885"/>
                      </a:lnTo>
                      <a:lnTo>
                        <a:pt x="18900" y="13885"/>
                      </a:lnTo>
                      <a:lnTo>
                        <a:pt x="18900" y="12342"/>
                      </a:lnTo>
                      <a:lnTo>
                        <a:pt x="16740" y="12342"/>
                      </a:lnTo>
                      <a:close/>
                    </a:path>
                    <a:path w="21600" h="21600" extrusionOk="0">
                      <a:moveTo>
                        <a:pt x="18900" y="12342"/>
                      </a:moveTo>
                      <a:lnTo>
                        <a:pt x="18900" y="13885"/>
                      </a:lnTo>
                      <a:lnTo>
                        <a:pt x="21060" y="13885"/>
                      </a:lnTo>
                      <a:lnTo>
                        <a:pt x="21060" y="12342"/>
                      </a:lnTo>
                      <a:lnTo>
                        <a:pt x="18900" y="12342"/>
                      </a:lnTo>
                      <a:close/>
                    </a:path>
                    <a:path w="21600" h="21600" extrusionOk="0">
                      <a:moveTo>
                        <a:pt x="540" y="13885"/>
                      </a:moveTo>
                      <a:lnTo>
                        <a:pt x="540" y="15428"/>
                      </a:lnTo>
                      <a:lnTo>
                        <a:pt x="2700" y="15428"/>
                      </a:lnTo>
                      <a:lnTo>
                        <a:pt x="2700" y="13885"/>
                      </a:lnTo>
                      <a:lnTo>
                        <a:pt x="540" y="13885"/>
                      </a:lnTo>
                      <a:close/>
                    </a:path>
                    <a:path w="21600" h="21600" extrusionOk="0">
                      <a:moveTo>
                        <a:pt x="2700" y="13885"/>
                      </a:moveTo>
                      <a:lnTo>
                        <a:pt x="2700" y="15428"/>
                      </a:lnTo>
                      <a:lnTo>
                        <a:pt x="4860" y="15428"/>
                      </a:lnTo>
                      <a:lnTo>
                        <a:pt x="4860" y="13885"/>
                      </a:lnTo>
                      <a:lnTo>
                        <a:pt x="2700" y="13885"/>
                      </a:lnTo>
                      <a:close/>
                    </a:path>
                    <a:path w="21600" h="21600" extrusionOk="0">
                      <a:moveTo>
                        <a:pt x="4860" y="13885"/>
                      </a:moveTo>
                      <a:lnTo>
                        <a:pt x="4860" y="15428"/>
                      </a:lnTo>
                      <a:lnTo>
                        <a:pt x="7020" y="15428"/>
                      </a:lnTo>
                      <a:lnTo>
                        <a:pt x="7020" y="13885"/>
                      </a:lnTo>
                      <a:lnTo>
                        <a:pt x="4860" y="13885"/>
                      </a:lnTo>
                      <a:close/>
                    </a:path>
                    <a:path w="21600" h="21600" extrusionOk="0">
                      <a:moveTo>
                        <a:pt x="7020" y="13885"/>
                      </a:moveTo>
                      <a:lnTo>
                        <a:pt x="7020" y="15428"/>
                      </a:lnTo>
                      <a:lnTo>
                        <a:pt x="9180" y="15428"/>
                      </a:lnTo>
                      <a:lnTo>
                        <a:pt x="9180" y="13885"/>
                      </a:lnTo>
                      <a:lnTo>
                        <a:pt x="7020" y="13885"/>
                      </a:lnTo>
                      <a:close/>
                    </a:path>
                    <a:path w="21600" h="21600" extrusionOk="0">
                      <a:moveTo>
                        <a:pt x="9180" y="13885"/>
                      </a:moveTo>
                      <a:lnTo>
                        <a:pt x="9180" y="15428"/>
                      </a:lnTo>
                      <a:lnTo>
                        <a:pt x="11340" y="15428"/>
                      </a:lnTo>
                      <a:lnTo>
                        <a:pt x="11340" y="13885"/>
                      </a:lnTo>
                      <a:lnTo>
                        <a:pt x="9180" y="13885"/>
                      </a:lnTo>
                      <a:close/>
                    </a:path>
                    <a:path w="21600" h="21600" extrusionOk="0">
                      <a:moveTo>
                        <a:pt x="11340" y="13885"/>
                      </a:moveTo>
                      <a:lnTo>
                        <a:pt x="11340" y="15428"/>
                      </a:lnTo>
                      <a:lnTo>
                        <a:pt x="13500" y="15428"/>
                      </a:lnTo>
                      <a:lnTo>
                        <a:pt x="13500" y="13885"/>
                      </a:lnTo>
                      <a:lnTo>
                        <a:pt x="11340" y="13885"/>
                      </a:lnTo>
                      <a:close/>
                    </a:path>
                    <a:path w="21600" h="21600" extrusionOk="0">
                      <a:moveTo>
                        <a:pt x="13500" y="13885"/>
                      </a:moveTo>
                      <a:lnTo>
                        <a:pt x="13500" y="15428"/>
                      </a:lnTo>
                      <a:lnTo>
                        <a:pt x="15660" y="15428"/>
                      </a:lnTo>
                      <a:lnTo>
                        <a:pt x="15660" y="13885"/>
                      </a:lnTo>
                      <a:lnTo>
                        <a:pt x="13500" y="13885"/>
                      </a:lnTo>
                      <a:close/>
                    </a:path>
                    <a:path w="21600" h="21600" extrusionOk="0">
                      <a:moveTo>
                        <a:pt x="15660" y="13885"/>
                      </a:moveTo>
                      <a:lnTo>
                        <a:pt x="15660" y="15428"/>
                      </a:lnTo>
                      <a:lnTo>
                        <a:pt x="17820" y="15428"/>
                      </a:lnTo>
                      <a:lnTo>
                        <a:pt x="17820" y="13885"/>
                      </a:lnTo>
                      <a:lnTo>
                        <a:pt x="15660" y="13885"/>
                      </a:lnTo>
                      <a:close/>
                    </a:path>
                    <a:path w="21600" h="21600" extrusionOk="0">
                      <a:moveTo>
                        <a:pt x="17820" y="13885"/>
                      </a:moveTo>
                      <a:lnTo>
                        <a:pt x="17820" y="15428"/>
                      </a:lnTo>
                      <a:lnTo>
                        <a:pt x="19980" y="15428"/>
                      </a:lnTo>
                      <a:lnTo>
                        <a:pt x="19980" y="13885"/>
                      </a:lnTo>
                      <a:lnTo>
                        <a:pt x="17820" y="13885"/>
                      </a:lnTo>
                      <a:close/>
                    </a:path>
                    <a:path w="21600" h="21600" extrusionOk="0">
                      <a:moveTo>
                        <a:pt x="1620" y="15428"/>
                      </a:moveTo>
                      <a:lnTo>
                        <a:pt x="1620" y="16971"/>
                      </a:lnTo>
                      <a:lnTo>
                        <a:pt x="3779" y="16971"/>
                      </a:lnTo>
                      <a:lnTo>
                        <a:pt x="3779" y="15428"/>
                      </a:lnTo>
                      <a:lnTo>
                        <a:pt x="1620" y="15428"/>
                      </a:lnTo>
                      <a:close/>
                    </a:path>
                    <a:path w="21600" h="21600" extrusionOk="0">
                      <a:moveTo>
                        <a:pt x="3779" y="15428"/>
                      </a:moveTo>
                      <a:lnTo>
                        <a:pt x="3779" y="16971"/>
                      </a:lnTo>
                      <a:lnTo>
                        <a:pt x="5940" y="16971"/>
                      </a:lnTo>
                      <a:lnTo>
                        <a:pt x="5940" y="15428"/>
                      </a:lnTo>
                      <a:lnTo>
                        <a:pt x="3779" y="15428"/>
                      </a:lnTo>
                      <a:close/>
                    </a:path>
                    <a:path w="21600" h="21600" extrusionOk="0">
                      <a:moveTo>
                        <a:pt x="5940" y="15428"/>
                      </a:moveTo>
                      <a:lnTo>
                        <a:pt x="5940" y="16971"/>
                      </a:lnTo>
                      <a:lnTo>
                        <a:pt x="8100" y="16971"/>
                      </a:lnTo>
                      <a:lnTo>
                        <a:pt x="8100" y="15428"/>
                      </a:lnTo>
                      <a:lnTo>
                        <a:pt x="5940" y="15428"/>
                      </a:lnTo>
                      <a:close/>
                    </a:path>
                    <a:path w="21600" h="21600" extrusionOk="0">
                      <a:moveTo>
                        <a:pt x="8100" y="15428"/>
                      </a:moveTo>
                      <a:lnTo>
                        <a:pt x="8100" y="16971"/>
                      </a:lnTo>
                      <a:lnTo>
                        <a:pt x="10260" y="16971"/>
                      </a:lnTo>
                      <a:lnTo>
                        <a:pt x="10260" y="15428"/>
                      </a:lnTo>
                      <a:lnTo>
                        <a:pt x="8100" y="15428"/>
                      </a:lnTo>
                      <a:close/>
                    </a:path>
                    <a:path w="21600" h="21600" extrusionOk="0">
                      <a:moveTo>
                        <a:pt x="10260" y="15428"/>
                      </a:moveTo>
                      <a:lnTo>
                        <a:pt x="10260" y="16971"/>
                      </a:lnTo>
                      <a:lnTo>
                        <a:pt x="12419" y="16971"/>
                      </a:lnTo>
                      <a:lnTo>
                        <a:pt x="12419" y="15428"/>
                      </a:lnTo>
                      <a:lnTo>
                        <a:pt x="10260" y="15428"/>
                      </a:lnTo>
                      <a:close/>
                    </a:path>
                    <a:path w="21600" h="21600" extrusionOk="0">
                      <a:moveTo>
                        <a:pt x="12419" y="15428"/>
                      </a:moveTo>
                      <a:lnTo>
                        <a:pt x="12419" y="16971"/>
                      </a:lnTo>
                      <a:lnTo>
                        <a:pt x="14580" y="16971"/>
                      </a:lnTo>
                      <a:lnTo>
                        <a:pt x="14580" y="15428"/>
                      </a:lnTo>
                      <a:lnTo>
                        <a:pt x="12419" y="15428"/>
                      </a:lnTo>
                      <a:close/>
                    </a:path>
                    <a:path w="21600" h="21600" extrusionOk="0">
                      <a:moveTo>
                        <a:pt x="14580" y="15428"/>
                      </a:moveTo>
                      <a:lnTo>
                        <a:pt x="14580" y="16971"/>
                      </a:lnTo>
                      <a:lnTo>
                        <a:pt x="16740" y="16971"/>
                      </a:lnTo>
                      <a:lnTo>
                        <a:pt x="16740" y="15428"/>
                      </a:lnTo>
                      <a:lnTo>
                        <a:pt x="14580" y="15428"/>
                      </a:lnTo>
                      <a:close/>
                    </a:path>
                    <a:path w="21600" h="21600" extrusionOk="0">
                      <a:moveTo>
                        <a:pt x="16740" y="15428"/>
                      </a:moveTo>
                      <a:lnTo>
                        <a:pt x="16740" y="16971"/>
                      </a:lnTo>
                      <a:lnTo>
                        <a:pt x="18900" y="16971"/>
                      </a:lnTo>
                      <a:lnTo>
                        <a:pt x="18900" y="15428"/>
                      </a:lnTo>
                      <a:lnTo>
                        <a:pt x="16740" y="15428"/>
                      </a:lnTo>
                      <a:close/>
                    </a:path>
                    <a:path w="21600" h="21600" extrusionOk="0">
                      <a:moveTo>
                        <a:pt x="18900" y="15428"/>
                      </a:moveTo>
                      <a:lnTo>
                        <a:pt x="18900" y="16971"/>
                      </a:lnTo>
                      <a:lnTo>
                        <a:pt x="21060" y="16971"/>
                      </a:lnTo>
                      <a:lnTo>
                        <a:pt x="21060" y="15428"/>
                      </a:lnTo>
                      <a:lnTo>
                        <a:pt x="18900" y="15428"/>
                      </a:lnTo>
                      <a:close/>
                    </a:path>
                    <a:path w="21600" h="21600" extrusionOk="0">
                      <a:moveTo>
                        <a:pt x="540" y="16971"/>
                      </a:moveTo>
                      <a:lnTo>
                        <a:pt x="540" y="18514"/>
                      </a:lnTo>
                      <a:lnTo>
                        <a:pt x="2700" y="18514"/>
                      </a:lnTo>
                      <a:lnTo>
                        <a:pt x="2700" y="16971"/>
                      </a:lnTo>
                      <a:lnTo>
                        <a:pt x="540" y="16971"/>
                      </a:lnTo>
                      <a:close/>
                    </a:path>
                    <a:path w="21600" h="21600" extrusionOk="0">
                      <a:moveTo>
                        <a:pt x="2700" y="16971"/>
                      </a:moveTo>
                      <a:lnTo>
                        <a:pt x="2700" y="18514"/>
                      </a:lnTo>
                      <a:lnTo>
                        <a:pt x="4860" y="18514"/>
                      </a:lnTo>
                      <a:lnTo>
                        <a:pt x="4860" y="16971"/>
                      </a:lnTo>
                      <a:lnTo>
                        <a:pt x="2700" y="16971"/>
                      </a:lnTo>
                      <a:close/>
                    </a:path>
                    <a:path w="21600" h="21600" extrusionOk="0">
                      <a:moveTo>
                        <a:pt x="4860" y="16971"/>
                      </a:moveTo>
                      <a:lnTo>
                        <a:pt x="4860" y="18514"/>
                      </a:lnTo>
                      <a:lnTo>
                        <a:pt x="7020" y="18514"/>
                      </a:lnTo>
                      <a:lnTo>
                        <a:pt x="7020" y="16971"/>
                      </a:lnTo>
                      <a:lnTo>
                        <a:pt x="4860" y="16971"/>
                      </a:lnTo>
                      <a:close/>
                    </a:path>
                    <a:path w="21600" h="21600" extrusionOk="0">
                      <a:moveTo>
                        <a:pt x="7020" y="16971"/>
                      </a:moveTo>
                      <a:lnTo>
                        <a:pt x="7020" y="18514"/>
                      </a:lnTo>
                      <a:lnTo>
                        <a:pt x="9180" y="18514"/>
                      </a:lnTo>
                      <a:lnTo>
                        <a:pt x="9180" y="16971"/>
                      </a:lnTo>
                      <a:lnTo>
                        <a:pt x="7020" y="16971"/>
                      </a:lnTo>
                      <a:close/>
                    </a:path>
                    <a:path w="21600" h="21600" extrusionOk="0">
                      <a:moveTo>
                        <a:pt x="9180" y="16971"/>
                      </a:moveTo>
                      <a:lnTo>
                        <a:pt x="9180" y="18514"/>
                      </a:lnTo>
                      <a:lnTo>
                        <a:pt x="11340" y="18514"/>
                      </a:lnTo>
                      <a:lnTo>
                        <a:pt x="11340" y="16971"/>
                      </a:lnTo>
                      <a:lnTo>
                        <a:pt x="9180" y="16971"/>
                      </a:lnTo>
                      <a:close/>
                    </a:path>
                    <a:path w="21600" h="21600" extrusionOk="0">
                      <a:moveTo>
                        <a:pt x="11340" y="16971"/>
                      </a:moveTo>
                      <a:lnTo>
                        <a:pt x="11340" y="18514"/>
                      </a:lnTo>
                      <a:lnTo>
                        <a:pt x="13500" y="18514"/>
                      </a:lnTo>
                      <a:lnTo>
                        <a:pt x="13500" y="16971"/>
                      </a:lnTo>
                      <a:lnTo>
                        <a:pt x="11340" y="16971"/>
                      </a:lnTo>
                      <a:close/>
                    </a:path>
                    <a:path w="21600" h="21600" extrusionOk="0">
                      <a:moveTo>
                        <a:pt x="13500" y="16971"/>
                      </a:moveTo>
                      <a:lnTo>
                        <a:pt x="13500" y="18514"/>
                      </a:lnTo>
                      <a:lnTo>
                        <a:pt x="15660" y="18514"/>
                      </a:lnTo>
                      <a:lnTo>
                        <a:pt x="15660" y="16971"/>
                      </a:lnTo>
                      <a:lnTo>
                        <a:pt x="13500" y="16971"/>
                      </a:lnTo>
                      <a:close/>
                    </a:path>
                    <a:path w="21600" h="21600" extrusionOk="0">
                      <a:moveTo>
                        <a:pt x="15660" y="16971"/>
                      </a:moveTo>
                      <a:lnTo>
                        <a:pt x="15660" y="18514"/>
                      </a:lnTo>
                      <a:lnTo>
                        <a:pt x="17820" y="18514"/>
                      </a:lnTo>
                      <a:lnTo>
                        <a:pt x="17820" y="16971"/>
                      </a:lnTo>
                      <a:lnTo>
                        <a:pt x="15660" y="16971"/>
                      </a:lnTo>
                      <a:close/>
                    </a:path>
                    <a:path w="21600" h="21600" extrusionOk="0">
                      <a:moveTo>
                        <a:pt x="17820" y="16971"/>
                      </a:moveTo>
                      <a:lnTo>
                        <a:pt x="17820" y="18514"/>
                      </a:lnTo>
                      <a:lnTo>
                        <a:pt x="19980" y="18514"/>
                      </a:lnTo>
                      <a:lnTo>
                        <a:pt x="19980" y="16971"/>
                      </a:lnTo>
                      <a:lnTo>
                        <a:pt x="17820" y="16971"/>
                      </a:lnTo>
                      <a:close/>
                    </a:path>
                    <a:path w="21600" h="21600" extrusionOk="0">
                      <a:moveTo>
                        <a:pt x="1620" y="18514"/>
                      </a:moveTo>
                      <a:lnTo>
                        <a:pt x="1620" y="20057"/>
                      </a:lnTo>
                      <a:lnTo>
                        <a:pt x="3779" y="20057"/>
                      </a:lnTo>
                      <a:lnTo>
                        <a:pt x="3779" y="18514"/>
                      </a:lnTo>
                      <a:lnTo>
                        <a:pt x="1620" y="18514"/>
                      </a:lnTo>
                      <a:close/>
                    </a:path>
                    <a:path w="21600" h="21600" extrusionOk="0">
                      <a:moveTo>
                        <a:pt x="3779" y="18514"/>
                      </a:moveTo>
                      <a:lnTo>
                        <a:pt x="3779" y="20057"/>
                      </a:lnTo>
                      <a:lnTo>
                        <a:pt x="5940" y="20057"/>
                      </a:lnTo>
                      <a:lnTo>
                        <a:pt x="5940" y="18514"/>
                      </a:lnTo>
                      <a:lnTo>
                        <a:pt x="3779" y="18514"/>
                      </a:lnTo>
                      <a:close/>
                    </a:path>
                    <a:path w="21600" h="21600" extrusionOk="0">
                      <a:moveTo>
                        <a:pt x="5940" y="18514"/>
                      </a:moveTo>
                      <a:lnTo>
                        <a:pt x="5940" y="20057"/>
                      </a:lnTo>
                      <a:lnTo>
                        <a:pt x="8100" y="20057"/>
                      </a:lnTo>
                      <a:lnTo>
                        <a:pt x="8100" y="18514"/>
                      </a:lnTo>
                      <a:lnTo>
                        <a:pt x="5940" y="18514"/>
                      </a:lnTo>
                      <a:close/>
                    </a:path>
                    <a:path w="21600" h="21600" extrusionOk="0">
                      <a:moveTo>
                        <a:pt x="8100" y="18514"/>
                      </a:moveTo>
                      <a:lnTo>
                        <a:pt x="8100" y="20057"/>
                      </a:lnTo>
                      <a:lnTo>
                        <a:pt x="10260" y="20057"/>
                      </a:lnTo>
                      <a:lnTo>
                        <a:pt x="10260" y="18514"/>
                      </a:lnTo>
                      <a:lnTo>
                        <a:pt x="8100" y="18514"/>
                      </a:lnTo>
                      <a:close/>
                    </a:path>
                    <a:path w="21600" h="21600" extrusionOk="0">
                      <a:moveTo>
                        <a:pt x="10260" y="18514"/>
                      </a:moveTo>
                      <a:lnTo>
                        <a:pt x="10260" y="20057"/>
                      </a:lnTo>
                      <a:lnTo>
                        <a:pt x="12419" y="20057"/>
                      </a:lnTo>
                      <a:lnTo>
                        <a:pt x="12419" y="18514"/>
                      </a:lnTo>
                      <a:lnTo>
                        <a:pt x="10260" y="18514"/>
                      </a:lnTo>
                      <a:close/>
                    </a:path>
                    <a:path w="21600" h="21600" extrusionOk="0">
                      <a:moveTo>
                        <a:pt x="12419" y="18514"/>
                      </a:moveTo>
                      <a:lnTo>
                        <a:pt x="12419" y="20057"/>
                      </a:lnTo>
                      <a:lnTo>
                        <a:pt x="14580" y="20057"/>
                      </a:lnTo>
                      <a:lnTo>
                        <a:pt x="14580" y="18514"/>
                      </a:lnTo>
                      <a:lnTo>
                        <a:pt x="12419" y="18514"/>
                      </a:lnTo>
                      <a:close/>
                    </a:path>
                    <a:path w="21600" h="21600" extrusionOk="0">
                      <a:moveTo>
                        <a:pt x="14580" y="18514"/>
                      </a:moveTo>
                      <a:lnTo>
                        <a:pt x="14580" y="20057"/>
                      </a:lnTo>
                      <a:lnTo>
                        <a:pt x="16740" y="20057"/>
                      </a:lnTo>
                      <a:lnTo>
                        <a:pt x="16740" y="18514"/>
                      </a:lnTo>
                      <a:lnTo>
                        <a:pt x="14580" y="18514"/>
                      </a:lnTo>
                      <a:close/>
                    </a:path>
                    <a:path w="21600" h="21600" extrusionOk="0">
                      <a:moveTo>
                        <a:pt x="16740" y="18514"/>
                      </a:moveTo>
                      <a:lnTo>
                        <a:pt x="16740" y="20057"/>
                      </a:lnTo>
                      <a:lnTo>
                        <a:pt x="18900" y="20057"/>
                      </a:lnTo>
                      <a:lnTo>
                        <a:pt x="18900" y="18514"/>
                      </a:lnTo>
                      <a:lnTo>
                        <a:pt x="16740" y="18514"/>
                      </a:lnTo>
                      <a:close/>
                    </a:path>
                    <a:path w="21600" h="21600" extrusionOk="0">
                      <a:moveTo>
                        <a:pt x="18900" y="18514"/>
                      </a:moveTo>
                      <a:lnTo>
                        <a:pt x="18900" y="20057"/>
                      </a:lnTo>
                      <a:lnTo>
                        <a:pt x="21060" y="20057"/>
                      </a:lnTo>
                      <a:lnTo>
                        <a:pt x="21060" y="18514"/>
                      </a:lnTo>
                      <a:lnTo>
                        <a:pt x="18900" y="18514"/>
                      </a:lnTo>
                      <a:close/>
                    </a:path>
                    <a:path w="21600" h="21600" extrusionOk="0">
                      <a:moveTo>
                        <a:pt x="540" y="20057"/>
                      </a:moveTo>
                      <a:lnTo>
                        <a:pt x="540" y="21600"/>
                      </a:lnTo>
                      <a:lnTo>
                        <a:pt x="2700" y="21600"/>
                      </a:lnTo>
                      <a:lnTo>
                        <a:pt x="2700" y="20057"/>
                      </a:lnTo>
                      <a:lnTo>
                        <a:pt x="540" y="20057"/>
                      </a:lnTo>
                      <a:close/>
                    </a:path>
                    <a:path w="21600" h="21600" extrusionOk="0">
                      <a:moveTo>
                        <a:pt x="2700" y="20057"/>
                      </a:moveTo>
                      <a:lnTo>
                        <a:pt x="2700" y="21600"/>
                      </a:lnTo>
                      <a:lnTo>
                        <a:pt x="4860" y="21600"/>
                      </a:lnTo>
                      <a:lnTo>
                        <a:pt x="4860" y="20057"/>
                      </a:lnTo>
                      <a:lnTo>
                        <a:pt x="2700" y="20057"/>
                      </a:lnTo>
                      <a:close/>
                    </a:path>
                    <a:path w="21600" h="21600" extrusionOk="0">
                      <a:moveTo>
                        <a:pt x="4860" y="20057"/>
                      </a:moveTo>
                      <a:lnTo>
                        <a:pt x="4860" y="21600"/>
                      </a:lnTo>
                      <a:lnTo>
                        <a:pt x="7020" y="21600"/>
                      </a:lnTo>
                      <a:lnTo>
                        <a:pt x="7020" y="20057"/>
                      </a:lnTo>
                      <a:lnTo>
                        <a:pt x="4860" y="20057"/>
                      </a:lnTo>
                      <a:close/>
                    </a:path>
                    <a:path w="21600" h="21600" extrusionOk="0">
                      <a:moveTo>
                        <a:pt x="7020" y="20057"/>
                      </a:moveTo>
                      <a:lnTo>
                        <a:pt x="7020" y="21600"/>
                      </a:lnTo>
                      <a:lnTo>
                        <a:pt x="9180" y="21600"/>
                      </a:lnTo>
                      <a:lnTo>
                        <a:pt x="9180" y="20057"/>
                      </a:lnTo>
                      <a:lnTo>
                        <a:pt x="7020" y="20057"/>
                      </a:lnTo>
                      <a:close/>
                    </a:path>
                    <a:path w="21600" h="21600" extrusionOk="0">
                      <a:moveTo>
                        <a:pt x="9180" y="20057"/>
                      </a:moveTo>
                      <a:lnTo>
                        <a:pt x="9180" y="21600"/>
                      </a:lnTo>
                      <a:lnTo>
                        <a:pt x="11340" y="21600"/>
                      </a:lnTo>
                      <a:lnTo>
                        <a:pt x="11340" y="20057"/>
                      </a:lnTo>
                      <a:lnTo>
                        <a:pt x="9180" y="20057"/>
                      </a:lnTo>
                      <a:close/>
                    </a:path>
                    <a:path w="21600" h="21600" extrusionOk="0">
                      <a:moveTo>
                        <a:pt x="11340" y="20057"/>
                      </a:moveTo>
                      <a:lnTo>
                        <a:pt x="11340" y="21600"/>
                      </a:lnTo>
                      <a:lnTo>
                        <a:pt x="13500" y="21600"/>
                      </a:lnTo>
                      <a:lnTo>
                        <a:pt x="13500" y="20057"/>
                      </a:lnTo>
                      <a:lnTo>
                        <a:pt x="11340" y="20057"/>
                      </a:lnTo>
                      <a:close/>
                    </a:path>
                    <a:path w="21600" h="21600" extrusionOk="0">
                      <a:moveTo>
                        <a:pt x="13500" y="20057"/>
                      </a:moveTo>
                      <a:lnTo>
                        <a:pt x="13500" y="21600"/>
                      </a:lnTo>
                      <a:lnTo>
                        <a:pt x="15660" y="21600"/>
                      </a:lnTo>
                      <a:lnTo>
                        <a:pt x="15660" y="20057"/>
                      </a:lnTo>
                      <a:lnTo>
                        <a:pt x="13500" y="20057"/>
                      </a:lnTo>
                      <a:close/>
                    </a:path>
                    <a:path w="21600" h="21600" extrusionOk="0">
                      <a:moveTo>
                        <a:pt x="15660" y="20057"/>
                      </a:moveTo>
                      <a:lnTo>
                        <a:pt x="15660" y="21600"/>
                      </a:lnTo>
                      <a:lnTo>
                        <a:pt x="17820" y="21600"/>
                      </a:lnTo>
                      <a:lnTo>
                        <a:pt x="17820" y="20057"/>
                      </a:lnTo>
                      <a:lnTo>
                        <a:pt x="15660" y="20057"/>
                      </a:lnTo>
                      <a:close/>
                    </a:path>
                    <a:path w="21600" h="21600" extrusionOk="0">
                      <a:moveTo>
                        <a:pt x="17820" y="20057"/>
                      </a:moveTo>
                      <a:lnTo>
                        <a:pt x="17820" y="21600"/>
                      </a:lnTo>
                      <a:lnTo>
                        <a:pt x="19980" y="21600"/>
                      </a:lnTo>
                      <a:lnTo>
                        <a:pt x="19980" y="20057"/>
                      </a:lnTo>
                      <a:lnTo>
                        <a:pt x="17820" y="20057"/>
                      </a:lnTo>
                      <a:close/>
                    </a:path>
                    <a:path w="21600" h="21600" extrusionOk="0">
                      <a:moveTo>
                        <a:pt x="19980" y="4628"/>
                      </a:moveTo>
                      <a:lnTo>
                        <a:pt x="21060" y="4628"/>
                      </a:lnTo>
                      <a:lnTo>
                        <a:pt x="21060" y="6171"/>
                      </a:lnTo>
                      <a:lnTo>
                        <a:pt x="19980" y="6171"/>
                      </a:lnTo>
                      <a:lnTo>
                        <a:pt x="19980" y="4628"/>
                      </a:lnTo>
                      <a:close/>
                    </a:path>
                  </a:pathLst>
                </a:custGeom>
                <a:solidFill>
                  <a:srgbClr val="996633"/>
                </a:solidFill>
                <a:ln w="9525">
                  <a:solidFill>
                    <a:srgbClr val="000000"/>
                  </a:solidFill>
                  <a:miter lim="800000"/>
                </a:ln>
                <a:effectLst/>
              </p:spPr>
              <p:txBody>
                <a:bodyPr/>
                <a:lstStyle/>
                <a:p>
                  <a:endParaRPr lang="en-US" sz="1350"/>
                </a:p>
              </p:txBody>
            </p:sp>
          </p:grpSp>
          <p:grpSp>
            <p:nvGrpSpPr>
              <p:cNvPr id="25" name="Group 44"/>
              <p:cNvGrpSpPr/>
              <p:nvPr/>
            </p:nvGrpSpPr>
            <p:grpSpPr bwMode="auto">
              <a:xfrm>
                <a:off x="3007" y="2175"/>
                <a:ext cx="1212" cy="1658"/>
                <a:chOff x="1263" y="2047"/>
                <a:chExt cx="1212" cy="1658"/>
              </a:xfrm>
            </p:grpSpPr>
            <p:pic>
              <p:nvPicPr>
                <p:cNvPr id="33" name="Picture 45" descr="pe01832_"/>
                <p:cNvPicPr>
                  <a:picLocks noChangeAspect="1" noChangeArrowheads="1"/>
                </p:cNvPicPr>
                <p:nvPr/>
              </p:nvPicPr>
              <p:blipFill>
                <a:blip r:embed="rId7"/>
                <a:srcRect/>
                <a:stretch>
                  <a:fillRect/>
                </a:stretch>
              </p:blipFill>
              <p:spPr bwMode="auto">
                <a:xfrm>
                  <a:off x="1263" y="2047"/>
                  <a:ext cx="1212" cy="1108"/>
                </a:xfrm>
                <a:prstGeom prst="rect">
                  <a:avLst/>
                </a:prstGeom>
                <a:noFill/>
                <a:ln w="9525">
                  <a:noFill/>
                  <a:miter lim="800000"/>
                  <a:headEnd/>
                  <a:tailEnd/>
                </a:ln>
                <a:effectLst/>
              </p:spPr>
            </p:pic>
            <p:sp>
              <p:nvSpPr>
                <p:cNvPr id="34" name="Firewall"/>
                <p:cNvSpPr>
                  <a:spLocks noEditPoints="1" noChangeArrowheads="1"/>
                </p:cNvSpPr>
                <p:nvPr/>
              </p:nvSpPr>
              <p:spPr bwMode="auto">
                <a:xfrm>
                  <a:off x="1539" y="3135"/>
                  <a:ext cx="461" cy="570"/>
                </a:xfrm>
                <a:custGeom>
                  <a:avLst/>
                  <a:gdLst>
                    <a:gd name="T0" fmla="*/ 0 w 21600"/>
                    <a:gd name="T1" fmla="*/ 0 h 21600"/>
                    <a:gd name="T2" fmla="*/ 10800 w 21600"/>
                    <a:gd name="T3" fmla="*/ 0 h 21600"/>
                    <a:gd name="T4" fmla="*/ 21600 w 21600"/>
                    <a:gd name="T5" fmla="*/ 0 h 21600"/>
                    <a:gd name="T6" fmla="*/ 21060 w 21600"/>
                    <a:gd name="T7" fmla="*/ 10800 h 21600"/>
                    <a:gd name="T8" fmla="*/ 21060 w 21600"/>
                    <a:gd name="T9" fmla="*/ 21600 h 21600"/>
                    <a:gd name="T10" fmla="*/ 10800 w 21600"/>
                    <a:gd name="T11" fmla="*/ 21600 h 21600"/>
                    <a:gd name="T12" fmla="*/ 540 w 21600"/>
                    <a:gd name="T13" fmla="*/ 21600 h 21600"/>
                    <a:gd name="T14" fmla="*/ 540 w 21600"/>
                    <a:gd name="T15" fmla="*/ 10800 h 21600"/>
                    <a:gd name="T16" fmla="*/ 761 w 21600"/>
                    <a:gd name="T17" fmla="*/ 22454 h 21600"/>
                    <a:gd name="T18" fmla="*/ 21069 w 21600"/>
                    <a:gd name="T19" fmla="*/ 32282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540" y="4628"/>
                      </a:moveTo>
                      <a:lnTo>
                        <a:pt x="0" y="4628"/>
                      </a:lnTo>
                      <a:lnTo>
                        <a:pt x="0" y="0"/>
                      </a:lnTo>
                      <a:lnTo>
                        <a:pt x="21600" y="0"/>
                      </a:lnTo>
                      <a:lnTo>
                        <a:pt x="21600" y="4628"/>
                      </a:lnTo>
                      <a:lnTo>
                        <a:pt x="21060" y="4628"/>
                      </a:lnTo>
                      <a:lnTo>
                        <a:pt x="21060" y="21600"/>
                      </a:lnTo>
                      <a:lnTo>
                        <a:pt x="540" y="21600"/>
                      </a:lnTo>
                      <a:lnTo>
                        <a:pt x="540" y="4628"/>
                      </a:lnTo>
                      <a:close/>
                    </a:path>
                    <a:path w="21600" h="21600" extrusionOk="0">
                      <a:moveTo>
                        <a:pt x="540" y="4628"/>
                      </a:moveTo>
                      <a:lnTo>
                        <a:pt x="540" y="6171"/>
                      </a:lnTo>
                      <a:lnTo>
                        <a:pt x="2700" y="6171"/>
                      </a:lnTo>
                      <a:lnTo>
                        <a:pt x="2700" y="4628"/>
                      </a:lnTo>
                      <a:lnTo>
                        <a:pt x="540" y="4628"/>
                      </a:lnTo>
                      <a:close/>
                    </a:path>
                    <a:path w="21600" h="21600" extrusionOk="0">
                      <a:moveTo>
                        <a:pt x="2700" y="4628"/>
                      </a:moveTo>
                      <a:lnTo>
                        <a:pt x="2700" y="6171"/>
                      </a:lnTo>
                      <a:lnTo>
                        <a:pt x="4860" y="6171"/>
                      </a:lnTo>
                      <a:lnTo>
                        <a:pt x="4860" y="4628"/>
                      </a:lnTo>
                      <a:lnTo>
                        <a:pt x="2700" y="4628"/>
                      </a:lnTo>
                      <a:close/>
                    </a:path>
                    <a:path w="21600" h="21600" extrusionOk="0">
                      <a:moveTo>
                        <a:pt x="4860" y="4628"/>
                      </a:moveTo>
                      <a:lnTo>
                        <a:pt x="4860" y="6171"/>
                      </a:lnTo>
                      <a:lnTo>
                        <a:pt x="7020" y="6171"/>
                      </a:lnTo>
                      <a:lnTo>
                        <a:pt x="7020" y="4628"/>
                      </a:lnTo>
                      <a:lnTo>
                        <a:pt x="4860" y="4628"/>
                      </a:lnTo>
                      <a:close/>
                    </a:path>
                    <a:path w="21600" h="21600" extrusionOk="0">
                      <a:moveTo>
                        <a:pt x="7020" y="4628"/>
                      </a:moveTo>
                      <a:lnTo>
                        <a:pt x="7020" y="6171"/>
                      </a:lnTo>
                      <a:lnTo>
                        <a:pt x="9180" y="6171"/>
                      </a:lnTo>
                      <a:lnTo>
                        <a:pt x="9180" y="4628"/>
                      </a:lnTo>
                      <a:lnTo>
                        <a:pt x="7020" y="4628"/>
                      </a:lnTo>
                      <a:close/>
                    </a:path>
                    <a:path w="21600" h="21600" extrusionOk="0">
                      <a:moveTo>
                        <a:pt x="9180" y="4628"/>
                      </a:moveTo>
                      <a:lnTo>
                        <a:pt x="9180" y="6171"/>
                      </a:lnTo>
                      <a:lnTo>
                        <a:pt x="11340" y="6171"/>
                      </a:lnTo>
                      <a:lnTo>
                        <a:pt x="11340" y="4628"/>
                      </a:lnTo>
                      <a:lnTo>
                        <a:pt x="9180" y="4628"/>
                      </a:lnTo>
                      <a:close/>
                    </a:path>
                    <a:path w="21600" h="21600" extrusionOk="0">
                      <a:moveTo>
                        <a:pt x="11340" y="4628"/>
                      </a:moveTo>
                      <a:lnTo>
                        <a:pt x="11340" y="6171"/>
                      </a:lnTo>
                      <a:lnTo>
                        <a:pt x="13500" y="6171"/>
                      </a:lnTo>
                      <a:lnTo>
                        <a:pt x="13500" y="4628"/>
                      </a:lnTo>
                      <a:lnTo>
                        <a:pt x="11340" y="4628"/>
                      </a:lnTo>
                      <a:close/>
                    </a:path>
                    <a:path w="21600" h="21600" extrusionOk="0">
                      <a:moveTo>
                        <a:pt x="13500" y="4628"/>
                      </a:moveTo>
                      <a:lnTo>
                        <a:pt x="13500" y="6171"/>
                      </a:lnTo>
                      <a:lnTo>
                        <a:pt x="15660" y="6171"/>
                      </a:lnTo>
                      <a:lnTo>
                        <a:pt x="15660" y="4628"/>
                      </a:lnTo>
                      <a:lnTo>
                        <a:pt x="13500" y="4628"/>
                      </a:lnTo>
                      <a:close/>
                    </a:path>
                    <a:path w="21600" h="21600" extrusionOk="0">
                      <a:moveTo>
                        <a:pt x="15660" y="4628"/>
                      </a:moveTo>
                      <a:lnTo>
                        <a:pt x="15660" y="6171"/>
                      </a:lnTo>
                      <a:lnTo>
                        <a:pt x="17820" y="6171"/>
                      </a:lnTo>
                      <a:lnTo>
                        <a:pt x="17820" y="4628"/>
                      </a:lnTo>
                      <a:lnTo>
                        <a:pt x="15660" y="4628"/>
                      </a:lnTo>
                      <a:close/>
                    </a:path>
                    <a:path w="21600" h="21600" extrusionOk="0">
                      <a:moveTo>
                        <a:pt x="17820" y="4628"/>
                      </a:moveTo>
                      <a:lnTo>
                        <a:pt x="17820" y="6171"/>
                      </a:lnTo>
                      <a:lnTo>
                        <a:pt x="19980" y="6171"/>
                      </a:lnTo>
                      <a:lnTo>
                        <a:pt x="19980" y="4628"/>
                      </a:lnTo>
                      <a:lnTo>
                        <a:pt x="17820" y="4628"/>
                      </a:lnTo>
                      <a:close/>
                    </a:path>
                    <a:path w="21600" h="21600" extrusionOk="0">
                      <a:moveTo>
                        <a:pt x="1620" y="6171"/>
                      </a:moveTo>
                      <a:lnTo>
                        <a:pt x="1620" y="7714"/>
                      </a:lnTo>
                      <a:lnTo>
                        <a:pt x="3779" y="7714"/>
                      </a:lnTo>
                      <a:lnTo>
                        <a:pt x="3779" y="6171"/>
                      </a:lnTo>
                      <a:lnTo>
                        <a:pt x="1620" y="6171"/>
                      </a:lnTo>
                      <a:close/>
                    </a:path>
                    <a:path w="21600" h="21600" extrusionOk="0">
                      <a:moveTo>
                        <a:pt x="3779" y="6171"/>
                      </a:moveTo>
                      <a:lnTo>
                        <a:pt x="3779" y="7714"/>
                      </a:lnTo>
                      <a:lnTo>
                        <a:pt x="5940" y="7714"/>
                      </a:lnTo>
                      <a:lnTo>
                        <a:pt x="5940" y="6171"/>
                      </a:lnTo>
                      <a:lnTo>
                        <a:pt x="3779" y="6171"/>
                      </a:lnTo>
                      <a:close/>
                    </a:path>
                    <a:path w="21600" h="21600" extrusionOk="0">
                      <a:moveTo>
                        <a:pt x="5940" y="6171"/>
                      </a:moveTo>
                      <a:lnTo>
                        <a:pt x="5940" y="7714"/>
                      </a:lnTo>
                      <a:lnTo>
                        <a:pt x="8100" y="7714"/>
                      </a:lnTo>
                      <a:lnTo>
                        <a:pt x="8100" y="6171"/>
                      </a:lnTo>
                      <a:lnTo>
                        <a:pt x="5940" y="6171"/>
                      </a:lnTo>
                      <a:close/>
                    </a:path>
                    <a:path w="21600" h="21600" extrusionOk="0">
                      <a:moveTo>
                        <a:pt x="8100" y="6171"/>
                      </a:moveTo>
                      <a:lnTo>
                        <a:pt x="8100" y="7714"/>
                      </a:lnTo>
                      <a:lnTo>
                        <a:pt x="10260" y="7714"/>
                      </a:lnTo>
                      <a:lnTo>
                        <a:pt x="10260" y="6171"/>
                      </a:lnTo>
                      <a:lnTo>
                        <a:pt x="8100" y="6171"/>
                      </a:lnTo>
                      <a:close/>
                    </a:path>
                    <a:path w="21600" h="21600" extrusionOk="0">
                      <a:moveTo>
                        <a:pt x="10260" y="6171"/>
                      </a:moveTo>
                      <a:lnTo>
                        <a:pt x="10260" y="7714"/>
                      </a:lnTo>
                      <a:lnTo>
                        <a:pt x="12419" y="7714"/>
                      </a:lnTo>
                      <a:lnTo>
                        <a:pt x="12419" y="6171"/>
                      </a:lnTo>
                      <a:lnTo>
                        <a:pt x="10260" y="6171"/>
                      </a:lnTo>
                      <a:close/>
                    </a:path>
                    <a:path w="21600" h="21600" extrusionOk="0">
                      <a:moveTo>
                        <a:pt x="12419" y="6171"/>
                      </a:moveTo>
                      <a:lnTo>
                        <a:pt x="12419" y="7714"/>
                      </a:lnTo>
                      <a:lnTo>
                        <a:pt x="14580" y="7714"/>
                      </a:lnTo>
                      <a:lnTo>
                        <a:pt x="14580" y="6171"/>
                      </a:lnTo>
                      <a:lnTo>
                        <a:pt x="12419" y="6171"/>
                      </a:lnTo>
                      <a:close/>
                    </a:path>
                    <a:path w="21600" h="21600" extrusionOk="0">
                      <a:moveTo>
                        <a:pt x="14580" y="6171"/>
                      </a:moveTo>
                      <a:lnTo>
                        <a:pt x="14580" y="7714"/>
                      </a:lnTo>
                      <a:lnTo>
                        <a:pt x="16740" y="7714"/>
                      </a:lnTo>
                      <a:lnTo>
                        <a:pt x="16740" y="6171"/>
                      </a:lnTo>
                      <a:lnTo>
                        <a:pt x="14580" y="6171"/>
                      </a:lnTo>
                      <a:close/>
                    </a:path>
                    <a:path w="21600" h="21600" extrusionOk="0">
                      <a:moveTo>
                        <a:pt x="16740" y="6171"/>
                      </a:moveTo>
                      <a:lnTo>
                        <a:pt x="16740" y="7714"/>
                      </a:lnTo>
                      <a:lnTo>
                        <a:pt x="18900" y="7714"/>
                      </a:lnTo>
                      <a:lnTo>
                        <a:pt x="18900" y="6171"/>
                      </a:lnTo>
                      <a:lnTo>
                        <a:pt x="16740" y="6171"/>
                      </a:lnTo>
                      <a:close/>
                    </a:path>
                    <a:path w="21600" h="21600" extrusionOk="0">
                      <a:moveTo>
                        <a:pt x="18900" y="6171"/>
                      </a:moveTo>
                      <a:lnTo>
                        <a:pt x="18900" y="7714"/>
                      </a:lnTo>
                      <a:lnTo>
                        <a:pt x="21060" y="7714"/>
                      </a:lnTo>
                      <a:lnTo>
                        <a:pt x="21060" y="6171"/>
                      </a:lnTo>
                      <a:lnTo>
                        <a:pt x="18900" y="6171"/>
                      </a:lnTo>
                      <a:close/>
                    </a:path>
                    <a:path w="21600" h="21600" extrusionOk="0">
                      <a:moveTo>
                        <a:pt x="540" y="7714"/>
                      </a:moveTo>
                      <a:lnTo>
                        <a:pt x="540" y="9257"/>
                      </a:lnTo>
                      <a:lnTo>
                        <a:pt x="2700" y="9257"/>
                      </a:lnTo>
                      <a:lnTo>
                        <a:pt x="2700" y="7714"/>
                      </a:lnTo>
                      <a:lnTo>
                        <a:pt x="540" y="7714"/>
                      </a:lnTo>
                      <a:close/>
                    </a:path>
                    <a:path w="21600" h="21600" extrusionOk="0">
                      <a:moveTo>
                        <a:pt x="2700" y="7714"/>
                      </a:moveTo>
                      <a:lnTo>
                        <a:pt x="2700" y="9257"/>
                      </a:lnTo>
                      <a:lnTo>
                        <a:pt x="4860" y="9257"/>
                      </a:lnTo>
                      <a:lnTo>
                        <a:pt x="4860" y="7714"/>
                      </a:lnTo>
                      <a:lnTo>
                        <a:pt x="2700" y="7714"/>
                      </a:lnTo>
                      <a:close/>
                    </a:path>
                    <a:path w="21600" h="21600" extrusionOk="0">
                      <a:moveTo>
                        <a:pt x="4860" y="7714"/>
                      </a:moveTo>
                      <a:lnTo>
                        <a:pt x="4860" y="9257"/>
                      </a:lnTo>
                      <a:lnTo>
                        <a:pt x="7020" y="9257"/>
                      </a:lnTo>
                      <a:lnTo>
                        <a:pt x="7020" y="7714"/>
                      </a:lnTo>
                      <a:lnTo>
                        <a:pt x="4860" y="7714"/>
                      </a:lnTo>
                      <a:close/>
                    </a:path>
                    <a:path w="21600" h="21600" extrusionOk="0">
                      <a:moveTo>
                        <a:pt x="7020" y="7714"/>
                      </a:moveTo>
                      <a:lnTo>
                        <a:pt x="7020" y="9257"/>
                      </a:lnTo>
                      <a:lnTo>
                        <a:pt x="9180" y="9257"/>
                      </a:lnTo>
                      <a:lnTo>
                        <a:pt x="9180" y="7714"/>
                      </a:lnTo>
                      <a:lnTo>
                        <a:pt x="7020" y="7714"/>
                      </a:lnTo>
                      <a:close/>
                    </a:path>
                    <a:path w="21600" h="21600" extrusionOk="0">
                      <a:moveTo>
                        <a:pt x="9180" y="7714"/>
                      </a:moveTo>
                      <a:lnTo>
                        <a:pt x="9180" y="9257"/>
                      </a:lnTo>
                      <a:lnTo>
                        <a:pt x="11340" y="9257"/>
                      </a:lnTo>
                      <a:lnTo>
                        <a:pt x="11340" y="7714"/>
                      </a:lnTo>
                      <a:lnTo>
                        <a:pt x="9180" y="7714"/>
                      </a:lnTo>
                      <a:close/>
                    </a:path>
                    <a:path w="21600" h="21600" extrusionOk="0">
                      <a:moveTo>
                        <a:pt x="11340" y="7714"/>
                      </a:moveTo>
                      <a:lnTo>
                        <a:pt x="11340" y="9257"/>
                      </a:lnTo>
                      <a:lnTo>
                        <a:pt x="13500" y="9257"/>
                      </a:lnTo>
                      <a:lnTo>
                        <a:pt x="13500" y="7714"/>
                      </a:lnTo>
                      <a:lnTo>
                        <a:pt x="11340" y="7714"/>
                      </a:lnTo>
                      <a:close/>
                    </a:path>
                    <a:path w="21600" h="21600" extrusionOk="0">
                      <a:moveTo>
                        <a:pt x="13500" y="7714"/>
                      </a:moveTo>
                      <a:lnTo>
                        <a:pt x="13500" y="9257"/>
                      </a:lnTo>
                      <a:lnTo>
                        <a:pt x="15660" y="9257"/>
                      </a:lnTo>
                      <a:lnTo>
                        <a:pt x="15660" y="7714"/>
                      </a:lnTo>
                      <a:lnTo>
                        <a:pt x="13500" y="7714"/>
                      </a:lnTo>
                      <a:close/>
                    </a:path>
                    <a:path w="21600" h="21600" extrusionOk="0">
                      <a:moveTo>
                        <a:pt x="15660" y="7714"/>
                      </a:moveTo>
                      <a:lnTo>
                        <a:pt x="15660" y="9257"/>
                      </a:lnTo>
                      <a:lnTo>
                        <a:pt x="17820" y="9257"/>
                      </a:lnTo>
                      <a:lnTo>
                        <a:pt x="17820" y="7714"/>
                      </a:lnTo>
                      <a:lnTo>
                        <a:pt x="15660" y="7714"/>
                      </a:lnTo>
                      <a:close/>
                    </a:path>
                    <a:path w="21600" h="21600" extrusionOk="0">
                      <a:moveTo>
                        <a:pt x="17820" y="7714"/>
                      </a:moveTo>
                      <a:lnTo>
                        <a:pt x="17820" y="9257"/>
                      </a:lnTo>
                      <a:lnTo>
                        <a:pt x="19980" y="9257"/>
                      </a:lnTo>
                      <a:lnTo>
                        <a:pt x="19980" y="7714"/>
                      </a:lnTo>
                      <a:lnTo>
                        <a:pt x="17820" y="7714"/>
                      </a:lnTo>
                      <a:close/>
                    </a:path>
                    <a:path w="21600" h="21600" extrusionOk="0">
                      <a:moveTo>
                        <a:pt x="1620" y="9257"/>
                      </a:moveTo>
                      <a:lnTo>
                        <a:pt x="1620" y="10800"/>
                      </a:lnTo>
                      <a:lnTo>
                        <a:pt x="3779" y="10800"/>
                      </a:lnTo>
                      <a:lnTo>
                        <a:pt x="3779" y="9257"/>
                      </a:lnTo>
                      <a:lnTo>
                        <a:pt x="1620" y="9257"/>
                      </a:lnTo>
                      <a:close/>
                    </a:path>
                    <a:path w="21600" h="21600" extrusionOk="0">
                      <a:moveTo>
                        <a:pt x="3779" y="9257"/>
                      </a:moveTo>
                      <a:lnTo>
                        <a:pt x="3779" y="10800"/>
                      </a:lnTo>
                      <a:lnTo>
                        <a:pt x="5940" y="10800"/>
                      </a:lnTo>
                      <a:lnTo>
                        <a:pt x="5940" y="9257"/>
                      </a:lnTo>
                      <a:lnTo>
                        <a:pt x="3779" y="9257"/>
                      </a:lnTo>
                      <a:close/>
                    </a:path>
                    <a:path w="21600" h="21600" extrusionOk="0">
                      <a:moveTo>
                        <a:pt x="5940" y="9257"/>
                      </a:moveTo>
                      <a:lnTo>
                        <a:pt x="5940" y="10800"/>
                      </a:lnTo>
                      <a:lnTo>
                        <a:pt x="8100" y="10800"/>
                      </a:lnTo>
                      <a:lnTo>
                        <a:pt x="8100" y="9257"/>
                      </a:lnTo>
                      <a:lnTo>
                        <a:pt x="5940" y="9257"/>
                      </a:lnTo>
                      <a:close/>
                    </a:path>
                    <a:path w="21600" h="21600" extrusionOk="0">
                      <a:moveTo>
                        <a:pt x="8100" y="9257"/>
                      </a:moveTo>
                      <a:lnTo>
                        <a:pt x="8100" y="10800"/>
                      </a:lnTo>
                      <a:lnTo>
                        <a:pt x="10260" y="10800"/>
                      </a:lnTo>
                      <a:lnTo>
                        <a:pt x="10260" y="9257"/>
                      </a:lnTo>
                      <a:lnTo>
                        <a:pt x="8100" y="9257"/>
                      </a:lnTo>
                      <a:close/>
                    </a:path>
                    <a:path w="21600" h="21600" extrusionOk="0">
                      <a:moveTo>
                        <a:pt x="10260" y="9257"/>
                      </a:moveTo>
                      <a:lnTo>
                        <a:pt x="10260" y="10800"/>
                      </a:lnTo>
                      <a:lnTo>
                        <a:pt x="12419" y="10800"/>
                      </a:lnTo>
                      <a:lnTo>
                        <a:pt x="12419" y="9257"/>
                      </a:lnTo>
                      <a:lnTo>
                        <a:pt x="10260" y="9257"/>
                      </a:lnTo>
                      <a:close/>
                    </a:path>
                    <a:path w="21600" h="21600" extrusionOk="0">
                      <a:moveTo>
                        <a:pt x="12419" y="9257"/>
                      </a:moveTo>
                      <a:lnTo>
                        <a:pt x="12419" y="10800"/>
                      </a:lnTo>
                      <a:lnTo>
                        <a:pt x="14580" y="10800"/>
                      </a:lnTo>
                      <a:lnTo>
                        <a:pt x="14580" y="9257"/>
                      </a:lnTo>
                      <a:lnTo>
                        <a:pt x="12419" y="9257"/>
                      </a:lnTo>
                      <a:close/>
                    </a:path>
                    <a:path w="21600" h="21600" extrusionOk="0">
                      <a:moveTo>
                        <a:pt x="14580" y="9257"/>
                      </a:moveTo>
                      <a:lnTo>
                        <a:pt x="14580" y="10800"/>
                      </a:lnTo>
                      <a:lnTo>
                        <a:pt x="16740" y="10800"/>
                      </a:lnTo>
                      <a:lnTo>
                        <a:pt x="16740" y="9257"/>
                      </a:lnTo>
                      <a:lnTo>
                        <a:pt x="14580" y="9257"/>
                      </a:lnTo>
                      <a:close/>
                    </a:path>
                    <a:path w="21600" h="21600" extrusionOk="0">
                      <a:moveTo>
                        <a:pt x="16740" y="9257"/>
                      </a:moveTo>
                      <a:lnTo>
                        <a:pt x="16740" y="10800"/>
                      </a:lnTo>
                      <a:lnTo>
                        <a:pt x="18900" y="10800"/>
                      </a:lnTo>
                      <a:lnTo>
                        <a:pt x="18900" y="9257"/>
                      </a:lnTo>
                      <a:lnTo>
                        <a:pt x="16740" y="9257"/>
                      </a:lnTo>
                      <a:close/>
                    </a:path>
                    <a:path w="21600" h="21600" extrusionOk="0">
                      <a:moveTo>
                        <a:pt x="18900" y="9257"/>
                      </a:moveTo>
                      <a:lnTo>
                        <a:pt x="18900" y="10800"/>
                      </a:lnTo>
                      <a:lnTo>
                        <a:pt x="21060" y="10800"/>
                      </a:lnTo>
                      <a:lnTo>
                        <a:pt x="21060" y="9257"/>
                      </a:lnTo>
                      <a:lnTo>
                        <a:pt x="18900" y="9257"/>
                      </a:lnTo>
                      <a:close/>
                    </a:path>
                    <a:path w="21600" h="21600" extrusionOk="0">
                      <a:moveTo>
                        <a:pt x="540" y="10800"/>
                      </a:moveTo>
                      <a:lnTo>
                        <a:pt x="540" y="12342"/>
                      </a:lnTo>
                      <a:lnTo>
                        <a:pt x="2700" y="12342"/>
                      </a:lnTo>
                      <a:lnTo>
                        <a:pt x="2700" y="10800"/>
                      </a:lnTo>
                      <a:lnTo>
                        <a:pt x="540" y="10800"/>
                      </a:lnTo>
                      <a:close/>
                    </a:path>
                    <a:path w="21600" h="21600" extrusionOk="0">
                      <a:moveTo>
                        <a:pt x="2700" y="10800"/>
                      </a:moveTo>
                      <a:lnTo>
                        <a:pt x="2700" y="12342"/>
                      </a:lnTo>
                      <a:lnTo>
                        <a:pt x="4860" y="12342"/>
                      </a:lnTo>
                      <a:lnTo>
                        <a:pt x="4860" y="10800"/>
                      </a:lnTo>
                      <a:lnTo>
                        <a:pt x="2700" y="10800"/>
                      </a:lnTo>
                      <a:close/>
                    </a:path>
                    <a:path w="21600" h="21600" extrusionOk="0">
                      <a:moveTo>
                        <a:pt x="4860" y="10800"/>
                      </a:moveTo>
                      <a:lnTo>
                        <a:pt x="4860" y="12342"/>
                      </a:lnTo>
                      <a:lnTo>
                        <a:pt x="7020" y="12342"/>
                      </a:lnTo>
                      <a:lnTo>
                        <a:pt x="7020" y="10800"/>
                      </a:lnTo>
                      <a:lnTo>
                        <a:pt x="4860" y="10800"/>
                      </a:lnTo>
                      <a:close/>
                    </a:path>
                    <a:path w="21600" h="21600" extrusionOk="0">
                      <a:moveTo>
                        <a:pt x="7020" y="10800"/>
                      </a:moveTo>
                      <a:lnTo>
                        <a:pt x="7020" y="12342"/>
                      </a:lnTo>
                      <a:lnTo>
                        <a:pt x="9180" y="12342"/>
                      </a:lnTo>
                      <a:lnTo>
                        <a:pt x="9180" y="10800"/>
                      </a:lnTo>
                      <a:lnTo>
                        <a:pt x="7020" y="10800"/>
                      </a:lnTo>
                      <a:close/>
                    </a:path>
                    <a:path w="21600" h="21600" extrusionOk="0">
                      <a:moveTo>
                        <a:pt x="9180" y="10800"/>
                      </a:moveTo>
                      <a:lnTo>
                        <a:pt x="9180" y="12342"/>
                      </a:lnTo>
                      <a:lnTo>
                        <a:pt x="11340" y="12342"/>
                      </a:lnTo>
                      <a:lnTo>
                        <a:pt x="11340" y="10800"/>
                      </a:lnTo>
                      <a:lnTo>
                        <a:pt x="9180" y="10800"/>
                      </a:lnTo>
                      <a:close/>
                    </a:path>
                    <a:path w="21600" h="21600" extrusionOk="0">
                      <a:moveTo>
                        <a:pt x="11340" y="10800"/>
                      </a:moveTo>
                      <a:lnTo>
                        <a:pt x="11340" y="12342"/>
                      </a:lnTo>
                      <a:lnTo>
                        <a:pt x="13500" y="12342"/>
                      </a:lnTo>
                      <a:lnTo>
                        <a:pt x="13500" y="10800"/>
                      </a:lnTo>
                      <a:lnTo>
                        <a:pt x="11340" y="10800"/>
                      </a:lnTo>
                      <a:close/>
                    </a:path>
                    <a:path w="21600" h="21600" extrusionOk="0">
                      <a:moveTo>
                        <a:pt x="13500" y="10800"/>
                      </a:moveTo>
                      <a:lnTo>
                        <a:pt x="13500" y="12342"/>
                      </a:lnTo>
                      <a:lnTo>
                        <a:pt x="15660" y="12342"/>
                      </a:lnTo>
                      <a:lnTo>
                        <a:pt x="15660" y="10800"/>
                      </a:lnTo>
                      <a:lnTo>
                        <a:pt x="13500" y="10800"/>
                      </a:lnTo>
                      <a:close/>
                    </a:path>
                    <a:path w="21600" h="21600" extrusionOk="0">
                      <a:moveTo>
                        <a:pt x="15660" y="10800"/>
                      </a:moveTo>
                      <a:lnTo>
                        <a:pt x="15660" y="12342"/>
                      </a:lnTo>
                      <a:lnTo>
                        <a:pt x="17820" y="12342"/>
                      </a:lnTo>
                      <a:lnTo>
                        <a:pt x="17820" y="10800"/>
                      </a:lnTo>
                      <a:lnTo>
                        <a:pt x="15660" y="10800"/>
                      </a:lnTo>
                      <a:close/>
                    </a:path>
                    <a:path w="21600" h="21600" extrusionOk="0">
                      <a:moveTo>
                        <a:pt x="17820" y="10800"/>
                      </a:moveTo>
                      <a:lnTo>
                        <a:pt x="17820" y="12342"/>
                      </a:lnTo>
                      <a:lnTo>
                        <a:pt x="19980" y="12342"/>
                      </a:lnTo>
                      <a:lnTo>
                        <a:pt x="19980" y="10800"/>
                      </a:lnTo>
                      <a:lnTo>
                        <a:pt x="17820" y="10800"/>
                      </a:lnTo>
                      <a:close/>
                    </a:path>
                    <a:path w="21600" h="21600" extrusionOk="0">
                      <a:moveTo>
                        <a:pt x="1620" y="12342"/>
                      </a:moveTo>
                      <a:lnTo>
                        <a:pt x="1620" y="13885"/>
                      </a:lnTo>
                      <a:lnTo>
                        <a:pt x="3779" y="13885"/>
                      </a:lnTo>
                      <a:lnTo>
                        <a:pt x="3779" y="12342"/>
                      </a:lnTo>
                      <a:lnTo>
                        <a:pt x="1620" y="12342"/>
                      </a:lnTo>
                      <a:close/>
                    </a:path>
                    <a:path w="21600" h="21600" extrusionOk="0">
                      <a:moveTo>
                        <a:pt x="3779" y="12342"/>
                      </a:moveTo>
                      <a:lnTo>
                        <a:pt x="3779" y="13885"/>
                      </a:lnTo>
                      <a:lnTo>
                        <a:pt x="5940" y="13885"/>
                      </a:lnTo>
                      <a:lnTo>
                        <a:pt x="5940" y="12342"/>
                      </a:lnTo>
                      <a:lnTo>
                        <a:pt x="3779" y="12342"/>
                      </a:lnTo>
                      <a:close/>
                    </a:path>
                    <a:path w="21600" h="21600" extrusionOk="0">
                      <a:moveTo>
                        <a:pt x="5940" y="12342"/>
                      </a:moveTo>
                      <a:lnTo>
                        <a:pt x="5940" y="13885"/>
                      </a:lnTo>
                      <a:lnTo>
                        <a:pt x="8100" y="13885"/>
                      </a:lnTo>
                      <a:lnTo>
                        <a:pt x="8100" y="12342"/>
                      </a:lnTo>
                      <a:lnTo>
                        <a:pt x="5940" y="12342"/>
                      </a:lnTo>
                      <a:close/>
                    </a:path>
                    <a:path w="21600" h="21600" extrusionOk="0">
                      <a:moveTo>
                        <a:pt x="8100" y="12342"/>
                      </a:moveTo>
                      <a:lnTo>
                        <a:pt x="8100" y="13885"/>
                      </a:lnTo>
                      <a:lnTo>
                        <a:pt x="10260" y="13885"/>
                      </a:lnTo>
                      <a:lnTo>
                        <a:pt x="10260" y="12342"/>
                      </a:lnTo>
                      <a:lnTo>
                        <a:pt x="8100" y="12342"/>
                      </a:lnTo>
                      <a:close/>
                    </a:path>
                    <a:path w="21600" h="21600" extrusionOk="0">
                      <a:moveTo>
                        <a:pt x="10260" y="12342"/>
                      </a:moveTo>
                      <a:lnTo>
                        <a:pt x="10260" y="13885"/>
                      </a:lnTo>
                      <a:lnTo>
                        <a:pt x="12419" y="13885"/>
                      </a:lnTo>
                      <a:lnTo>
                        <a:pt x="12419" y="12342"/>
                      </a:lnTo>
                      <a:lnTo>
                        <a:pt x="10260" y="12342"/>
                      </a:lnTo>
                      <a:close/>
                    </a:path>
                    <a:path w="21600" h="21600" extrusionOk="0">
                      <a:moveTo>
                        <a:pt x="12419" y="12342"/>
                      </a:moveTo>
                      <a:lnTo>
                        <a:pt x="12419" y="13885"/>
                      </a:lnTo>
                      <a:lnTo>
                        <a:pt x="14580" y="13885"/>
                      </a:lnTo>
                      <a:lnTo>
                        <a:pt x="14580" y="12342"/>
                      </a:lnTo>
                      <a:lnTo>
                        <a:pt x="12419" y="12342"/>
                      </a:lnTo>
                      <a:close/>
                    </a:path>
                    <a:path w="21600" h="21600" extrusionOk="0">
                      <a:moveTo>
                        <a:pt x="14580" y="12342"/>
                      </a:moveTo>
                      <a:lnTo>
                        <a:pt x="14580" y="13885"/>
                      </a:lnTo>
                      <a:lnTo>
                        <a:pt x="16740" y="13885"/>
                      </a:lnTo>
                      <a:lnTo>
                        <a:pt x="16740" y="12342"/>
                      </a:lnTo>
                      <a:lnTo>
                        <a:pt x="14580" y="12342"/>
                      </a:lnTo>
                      <a:close/>
                    </a:path>
                    <a:path w="21600" h="21600" extrusionOk="0">
                      <a:moveTo>
                        <a:pt x="16740" y="12342"/>
                      </a:moveTo>
                      <a:lnTo>
                        <a:pt x="16740" y="13885"/>
                      </a:lnTo>
                      <a:lnTo>
                        <a:pt x="18900" y="13885"/>
                      </a:lnTo>
                      <a:lnTo>
                        <a:pt x="18900" y="12342"/>
                      </a:lnTo>
                      <a:lnTo>
                        <a:pt x="16740" y="12342"/>
                      </a:lnTo>
                      <a:close/>
                    </a:path>
                    <a:path w="21600" h="21600" extrusionOk="0">
                      <a:moveTo>
                        <a:pt x="18900" y="12342"/>
                      </a:moveTo>
                      <a:lnTo>
                        <a:pt x="18900" y="13885"/>
                      </a:lnTo>
                      <a:lnTo>
                        <a:pt x="21060" y="13885"/>
                      </a:lnTo>
                      <a:lnTo>
                        <a:pt x="21060" y="12342"/>
                      </a:lnTo>
                      <a:lnTo>
                        <a:pt x="18900" y="12342"/>
                      </a:lnTo>
                      <a:close/>
                    </a:path>
                    <a:path w="21600" h="21600" extrusionOk="0">
                      <a:moveTo>
                        <a:pt x="540" y="13885"/>
                      </a:moveTo>
                      <a:lnTo>
                        <a:pt x="540" y="15428"/>
                      </a:lnTo>
                      <a:lnTo>
                        <a:pt x="2700" y="15428"/>
                      </a:lnTo>
                      <a:lnTo>
                        <a:pt x="2700" y="13885"/>
                      </a:lnTo>
                      <a:lnTo>
                        <a:pt x="540" y="13885"/>
                      </a:lnTo>
                      <a:close/>
                    </a:path>
                    <a:path w="21600" h="21600" extrusionOk="0">
                      <a:moveTo>
                        <a:pt x="2700" y="13885"/>
                      </a:moveTo>
                      <a:lnTo>
                        <a:pt x="2700" y="15428"/>
                      </a:lnTo>
                      <a:lnTo>
                        <a:pt x="4860" y="15428"/>
                      </a:lnTo>
                      <a:lnTo>
                        <a:pt x="4860" y="13885"/>
                      </a:lnTo>
                      <a:lnTo>
                        <a:pt x="2700" y="13885"/>
                      </a:lnTo>
                      <a:close/>
                    </a:path>
                    <a:path w="21600" h="21600" extrusionOk="0">
                      <a:moveTo>
                        <a:pt x="4860" y="13885"/>
                      </a:moveTo>
                      <a:lnTo>
                        <a:pt x="4860" y="15428"/>
                      </a:lnTo>
                      <a:lnTo>
                        <a:pt x="7020" y="15428"/>
                      </a:lnTo>
                      <a:lnTo>
                        <a:pt x="7020" y="13885"/>
                      </a:lnTo>
                      <a:lnTo>
                        <a:pt x="4860" y="13885"/>
                      </a:lnTo>
                      <a:close/>
                    </a:path>
                    <a:path w="21600" h="21600" extrusionOk="0">
                      <a:moveTo>
                        <a:pt x="7020" y="13885"/>
                      </a:moveTo>
                      <a:lnTo>
                        <a:pt x="7020" y="15428"/>
                      </a:lnTo>
                      <a:lnTo>
                        <a:pt x="9180" y="15428"/>
                      </a:lnTo>
                      <a:lnTo>
                        <a:pt x="9180" y="13885"/>
                      </a:lnTo>
                      <a:lnTo>
                        <a:pt x="7020" y="13885"/>
                      </a:lnTo>
                      <a:close/>
                    </a:path>
                    <a:path w="21600" h="21600" extrusionOk="0">
                      <a:moveTo>
                        <a:pt x="9180" y="13885"/>
                      </a:moveTo>
                      <a:lnTo>
                        <a:pt x="9180" y="15428"/>
                      </a:lnTo>
                      <a:lnTo>
                        <a:pt x="11340" y="15428"/>
                      </a:lnTo>
                      <a:lnTo>
                        <a:pt x="11340" y="13885"/>
                      </a:lnTo>
                      <a:lnTo>
                        <a:pt x="9180" y="13885"/>
                      </a:lnTo>
                      <a:close/>
                    </a:path>
                    <a:path w="21600" h="21600" extrusionOk="0">
                      <a:moveTo>
                        <a:pt x="11340" y="13885"/>
                      </a:moveTo>
                      <a:lnTo>
                        <a:pt x="11340" y="15428"/>
                      </a:lnTo>
                      <a:lnTo>
                        <a:pt x="13500" y="15428"/>
                      </a:lnTo>
                      <a:lnTo>
                        <a:pt x="13500" y="13885"/>
                      </a:lnTo>
                      <a:lnTo>
                        <a:pt x="11340" y="13885"/>
                      </a:lnTo>
                      <a:close/>
                    </a:path>
                    <a:path w="21600" h="21600" extrusionOk="0">
                      <a:moveTo>
                        <a:pt x="13500" y="13885"/>
                      </a:moveTo>
                      <a:lnTo>
                        <a:pt x="13500" y="15428"/>
                      </a:lnTo>
                      <a:lnTo>
                        <a:pt x="15660" y="15428"/>
                      </a:lnTo>
                      <a:lnTo>
                        <a:pt x="15660" y="13885"/>
                      </a:lnTo>
                      <a:lnTo>
                        <a:pt x="13500" y="13885"/>
                      </a:lnTo>
                      <a:close/>
                    </a:path>
                    <a:path w="21600" h="21600" extrusionOk="0">
                      <a:moveTo>
                        <a:pt x="15660" y="13885"/>
                      </a:moveTo>
                      <a:lnTo>
                        <a:pt x="15660" y="15428"/>
                      </a:lnTo>
                      <a:lnTo>
                        <a:pt x="17820" y="15428"/>
                      </a:lnTo>
                      <a:lnTo>
                        <a:pt x="17820" y="13885"/>
                      </a:lnTo>
                      <a:lnTo>
                        <a:pt x="15660" y="13885"/>
                      </a:lnTo>
                      <a:close/>
                    </a:path>
                    <a:path w="21600" h="21600" extrusionOk="0">
                      <a:moveTo>
                        <a:pt x="17820" y="13885"/>
                      </a:moveTo>
                      <a:lnTo>
                        <a:pt x="17820" y="15428"/>
                      </a:lnTo>
                      <a:lnTo>
                        <a:pt x="19980" y="15428"/>
                      </a:lnTo>
                      <a:lnTo>
                        <a:pt x="19980" y="13885"/>
                      </a:lnTo>
                      <a:lnTo>
                        <a:pt x="17820" y="13885"/>
                      </a:lnTo>
                      <a:close/>
                    </a:path>
                    <a:path w="21600" h="21600" extrusionOk="0">
                      <a:moveTo>
                        <a:pt x="1620" y="15428"/>
                      </a:moveTo>
                      <a:lnTo>
                        <a:pt x="1620" y="16971"/>
                      </a:lnTo>
                      <a:lnTo>
                        <a:pt x="3779" y="16971"/>
                      </a:lnTo>
                      <a:lnTo>
                        <a:pt x="3779" y="15428"/>
                      </a:lnTo>
                      <a:lnTo>
                        <a:pt x="1620" y="15428"/>
                      </a:lnTo>
                      <a:close/>
                    </a:path>
                    <a:path w="21600" h="21600" extrusionOk="0">
                      <a:moveTo>
                        <a:pt x="3779" y="15428"/>
                      </a:moveTo>
                      <a:lnTo>
                        <a:pt x="3779" y="16971"/>
                      </a:lnTo>
                      <a:lnTo>
                        <a:pt x="5940" y="16971"/>
                      </a:lnTo>
                      <a:lnTo>
                        <a:pt x="5940" y="15428"/>
                      </a:lnTo>
                      <a:lnTo>
                        <a:pt x="3779" y="15428"/>
                      </a:lnTo>
                      <a:close/>
                    </a:path>
                    <a:path w="21600" h="21600" extrusionOk="0">
                      <a:moveTo>
                        <a:pt x="5940" y="15428"/>
                      </a:moveTo>
                      <a:lnTo>
                        <a:pt x="5940" y="16971"/>
                      </a:lnTo>
                      <a:lnTo>
                        <a:pt x="8100" y="16971"/>
                      </a:lnTo>
                      <a:lnTo>
                        <a:pt x="8100" y="15428"/>
                      </a:lnTo>
                      <a:lnTo>
                        <a:pt x="5940" y="15428"/>
                      </a:lnTo>
                      <a:close/>
                    </a:path>
                    <a:path w="21600" h="21600" extrusionOk="0">
                      <a:moveTo>
                        <a:pt x="8100" y="15428"/>
                      </a:moveTo>
                      <a:lnTo>
                        <a:pt x="8100" y="16971"/>
                      </a:lnTo>
                      <a:lnTo>
                        <a:pt x="10260" y="16971"/>
                      </a:lnTo>
                      <a:lnTo>
                        <a:pt x="10260" y="15428"/>
                      </a:lnTo>
                      <a:lnTo>
                        <a:pt x="8100" y="15428"/>
                      </a:lnTo>
                      <a:close/>
                    </a:path>
                    <a:path w="21600" h="21600" extrusionOk="0">
                      <a:moveTo>
                        <a:pt x="10260" y="15428"/>
                      </a:moveTo>
                      <a:lnTo>
                        <a:pt x="10260" y="16971"/>
                      </a:lnTo>
                      <a:lnTo>
                        <a:pt x="12419" y="16971"/>
                      </a:lnTo>
                      <a:lnTo>
                        <a:pt x="12419" y="15428"/>
                      </a:lnTo>
                      <a:lnTo>
                        <a:pt x="10260" y="15428"/>
                      </a:lnTo>
                      <a:close/>
                    </a:path>
                    <a:path w="21600" h="21600" extrusionOk="0">
                      <a:moveTo>
                        <a:pt x="12419" y="15428"/>
                      </a:moveTo>
                      <a:lnTo>
                        <a:pt x="12419" y="16971"/>
                      </a:lnTo>
                      <a:lnTo>
                        <a:pt x="14580" y="16971"/>
                      </a:lnTo>
                      <a:lnTo>
                        <a:pt x="14580" y="15428"/>
                      </a:lnTo>
                      <a:lnTo>
                        <a:pt x="12419" y="15428"/>
                      </a:lnTo>
                      <a:close/>
                    </a:path>
                    <a:path w="21600" h="21600" extrusionOk="0">
                      <a:moveTo>
                        <a:pt x="14580" y="15428"/>
                      </a:moveTo>
                      <a:lnTo>
                        <a:pt x="14580" y="16971"/>
                      </a:lnTo>
                      <a:lnTo>
                        <a:pt x="16740" y="16971"/>
                      </a:lnTo>
                      <a:lnTo>
                        <a:pt x="16740" y="15428"/>
                      </a:lnTo>
                      <a:lnTo>
                        <a:pt x="14580" y="15428"/>
                      </a:lnTo>
                      <a:close/>
                    </a:path>
                    <a:path w="21600" h="21600" extrusionOk="0">
                      <a:moveTo>
                        <a:pt x="16740" y="15428"/>
                      </a:moveTo>
                      <a:lnTo>
                        <a:pt x="16740" y="16971"/>
                      </a:lnTo>
                      <a:lnTo>
                        <a:pt x="18900" y="16971"/>
                      </a:lnTo>
                      <a:lnTo>
                        <a:pt x="18900" y="15428"/>
                      </a:lnTo>
                      <a:lnTo>
                        <a:pt x="16740" y="15428"/>
                      </a:lnTo>
                      <a:close/>
                    </a:path>
                    <a:path w="21600" h="21600" extrusionOk="0">
                      <a:moveTo>
                        <a:pt x="18900" y="15428"/>
                      </a:moveTo>
                      <a:lnTo>
                        <a:pt x="18900" y="16971"/>
                      </a:lnTo>
                      <a:lnTo>
                        <a:pt x="21060" y="16971"/>
                      </a:lnTo>
                      <a:lnTo>
                        <a:pt x="21060" y="15428"/>
                      </a:lnTo>
                      <a:lnTo>
                        <a:pt x="18900" y="15428"/>
                      </a:lnTo>
                      <a:close/>
                    </a:path>
                    <a:path w="21600" h="21600" extrusionOk="0">
                      <a:moveTo>
                        <a:pt x="540" y="16971"/>
                      </a:moveTo>
                      <a:lnTo>
                        <a:pt x="540" y="18514"/>
                      </a:lnTo>
                      <a:lnTo>
                        <a:pt x="2700" y="18514"/>
                      </a:lnTo>
                      <a:lnTo>
                        <a:pt x="2700" y="16971"/>
                      </a:lnTo>
                      <a:lnTo>
                        <a:pt x="540" y="16971"/>
                      </a:lnTo>
                      <a:close/>
                    </a:path>
                    <a:path w="21600" h="21600" extrusionOk="0">
                      <a:moveTo>
                        <a:pt x="2700" y="16971"/>
                      </a:moveTo>
                      <a:lnTo>
                        <a:pt x="2700" y="18514"/>
                      </a:lnTo>
                      <a:lnTo>
                        <a:pt x="4860" y="18514"/>
                      </a:lnTo>
                      <a:lnTo>
                        <a:pt x="4860" y="16971"/>
                      </a:lnTo>
                      <a:lnTo>
                        <a:pt x="2700" y="16971"/>
                      </a:lnTo>
                      <a:close/>
                    </a:path>
                    <a:path w="21600" h="21600" extrusionOk="0">
                      <a:moveTo>
                        <a:pt x="4860" y="16971"/>
                      </a:moveTo>
                      <a:lnTo>
                        <a:pt x="4860" y="18514"/>
                      </a:lnTo>
                      <a:lnTo>
                        <a:pt x="7020" y="18514"/>
                      </a:lnTo>
                      <a:lnTo>
                        <a:pt x="7020" y="16971"/>
                      </a:lnTo>
                      <a:lnTo>
                        <a:pt x="4860" y="16971"/>
                      </a:lnTo>
                      <a:close/>
                    </a:path>
                    <a:path w="21600" h="21600" extrusionOk="0">
                      <a:moveTo>
                        <a:pt x="7020" y="16971"/>
                      </a:moveTo>
                      <a:lnTo>
                        <a:pt x="7020" y="18514"/>
                      </a:lnTo>
                      <a:lnTo>
                        <a:pt x="9180" y="18514"/>
                      </a:lnTo>
                      <a:lnTo>
                        <a:pt x="9180" y="16971"/>
                      </a:lnTo>
                      <a:lnTo>
                        <a:pt x="7020" y="16971"/>
                      </a:lnTo>
                      <a:close/>
                    </a:path>
                    <a:path w="21600" h="21600" extrusionOk="0">
                      <a:moveTo>
                        <a:pt x="9180" y="16971"/>
                      </a:moveTo>
                      <a:lnTo>
                        <a:pt x="9180" y="18514"/>
                      </a:lnTo>
                      <a:lnTo>
                        <a:pt x="11340" y="18514"/>
                      </a:lnTo>
                      <a:lnTo>
                        <a:pt x="11340" y="16971"/>
                      </a:lnTo>
                      <a:lnTo>
                        <a:pt x="9180" y="16971"/>
                      </a:lnTo>
                      <a:close/>
                    </a:path>
                    <a:path w="21600" h="21600" extrusionOk="0">
                      <a:moveTo>
                        <a:pt x="11340" y="16971"/>
                      </a:moveTo>
                      <a:lnTo>
                        <a:pt x="11340" y="18514"/>
                      </a:lnTo>
                      <a:lnTo>
                        <a:pt x="13500" y="18514"/>
                      </a:lnTo>
                      <a:lnTo>
                        <a:pt x="13500" y="16971"/>
                      </a:lnTo>
                      <a:lnTo>
                        <a:pt x="11340" y="16971"/>
                      </a:lnTo>
                      <a:close/>
                    </a:path>
                    <a:path w="21600" h="21600" extrusionOk="0">
                      <a:moveTo>
                        <a:pt x="13500" y="16971"/>
                      </a:moveTo>
                      <a:lnTo>
                        <a:pt x="13500" y="18514"/>
                      </a:lnTo>
                      <a:lnTo>
                        <a:pt x="15660" y="18514"/>
                      </a:lnTo>
                      <a:lnTo>
                        <a:pt x="15660" y="16971"/>
                      </a:lnTo>
                      <a:lnTo>
                        <a:pt x="13500" y="16971"/>
                      </a:lnTo>
                      <a:close/>
                    </a:path>
                    <a:path w="21600" h="21600" extrusionOk="0">
                      <a:moveTo>
                        <a:pt x="15660" y="16971"/>
                      </a:moveTo>
                      <a:lnTo>
                        <a:pt x="15660" y="18514"/>
                      </a:lnTo>
                      <a:lnTo>
                        <a:pt x="17820" y="18514"/>
                      </a:lnTo>
                      <a:lnTo>
                        <a:pt x="17820" y="16971"/>
                      </a:lnTo>
                      <a:lnTo>
                        <a:pt x="15660" y="16971"/>
                      </a:lnTo>
                      <a:close/>
                    </a:path>
                    <a:path w="21600" h="21600" extrusionOk="0">
                      <a:moveTo>
                        <a:pt x="17820" y="16971"/>
                      </a:moveTo>
                      <a:lnTo>
                        <a:pt x="17820" y="18514"/>
                      </a:lnTo>
                      <a:lnTo>
                        <a:pt x="19980" y="18514"/>
                      </a:lnTo>
                      <a:lnTo>
                        <a:pt x="19980" y="16971"/>
                      </a:lnTo>
                      <a:lnTo>
                        <a:pt x="17820" y="16971"/>
                      </a:lnTo>
                      <a:close/>
                    </a:path>
                    <a:path w="21600" h="21600" extrusionOk="0">
                      <a:moveTo>
                        <a:pt x="1620" y="18514"/>
                      </a:moveTo>
                      <a:lnTo>
                        <a:pt x="1620" y="20057"/>
                      </a:lnTo>
                      <a:lnTo>
                        <a:pt x="3779" y="20057"/>
                      </a:lnTo>
                      <a:lnTo>
                        <a:pt x="3779" y="18514"/>
                      </a:lnTo>
                      <a:lnTo>
                        <a:pt x="1620" y="18514"/>
                      </a:lnTo>
                      <a:close/>
                    </a:path>
                    <a:path w="21600" h="21600" extrusionOk="0">
                      <a:moveTo>
                        <a:pt x="3779" y="18514"/>
                      </a:moveTo>
                      <a:lnTo>
                        <a:pt x="3779" y="20057"/>
                      </a:lnTo>
                      <a:lnTo>
                        <a:pt x="5940" y="20057"/>
                      </a:lnTo>
                      <a:lnTo>
                        <a:pt x="5940" y="18514"/>
                      </a:lnTo>
                      <a:lnTo>
                        <a:pt x="3779" y="18514"/>
                      </a:lnTo>
                      <a:close/>
                    </a:path>
                    <a:path w="21600" h="21600" extrusionOk="0">
                      <a:moveTo>
                        <a:pt x="5940" y="18514"/>
                      </a:moveTo>
                      <a:lnTo>
                        <a:pt x="5940" y="20057"/>
                      </a:lnTo>
                      <a:lnTo>
                        <a:pt x="8100" y="20057"/>
                      </a:lnTo>
                      <a:lnTo>
                        <a:pt x="8100" y="18514"/>
                      </a:lnTo>
                      <a:lnTo>
                        <a:pt x="5940" y="18514"/>
                      </a:lnTo>
                      <a:close/>
                    </a:path>
                    <a:path w="21600" h="21600" extrusionOk="0">
                      <a:moveTo>
                        <a:pt x="8100" y="18514"/>
                      </a:moveTo>
                      <a:lnTo>
                        <a:pt x="8100" y="20057"/>
                      </a:lnTo>
                      <a:lnTo>
                        <a:pt x="10260" y="20057"/>
                      </a:lnTo>
                      <a:lnTo>
                        <a:pt x="10260" y="18514"/>
                      </a:lnTo>
                      <a:lnTo>
                        <a:pt x="8100" y="18514"/>
                      </a:lnTo>
                      <a:close/>
                    </a:path>
                    <a:path w="21600" h="21600" extrusionOk="0">
                      <a:moveTo>
                        <a:pt x="10260" y="18514"/>
                      </a:moveTo>
                      <a:lnTo>
                        <a:pt x="10260" y="20057"/>
                      </a:lnTo>
                      <a:lnTo>
                        <a:pt x="12419" y="20057"/>
                      </a:lnTo>
                      <a:lnTo>
                        <a:pt x="12419" y="18514"/>
                      </a:lnTo>
                      <a:lnTo>
                        <a:pt x="10260" y="18514"/>
                      </a:lnTo>
                      <a:close/>
                    </a:path>
                    <a:path w="21600" h="21600" extrusionOk="0">
                      <a:moveTo>
                        <a:pt x="12419" y="18514"/>
                      </a:moveTo>
                      <a:lnTo>
                        <a:pt x="12419" y="20057"/>
                      </a:lnTo>
                      <a:lnTo>
                        <a:pt x="14580" y="20057"/>
                      </a:lnTo>
                      <a:lnTo>
                        <a:pt x="14580" y="18514"/>
                      </a:lnTo>
                      <a:lnTo>
                        <a:pt x="12419" y="18514"/>
                      </a:lnTo>
                      <a:close/>
                    </a:path>
                    <a:path w="21600" h="21600" extrusionOk="0">
                      <a:moveTo>
                        <a:pt x="14580" y="18514"/>
                      </a:moveTo>
                      <a:lnTo>
                        <a:pt x="14580" y="20057"/>
                      </a:lnTo>
                      <a:lnTo>
                        <a:pt x="16740" y="20057"/>
                      </a:lnTo>
                      <a:lnTo>
                        <a:pt x="16740" y="18514"/>
                      </a:lnTo>
                      <a:lnTo>
                        <a:pt x="14580" y="18514"/>
                      </a:lnTo>
                      <a:close/>
                    </a:path>
                    <a:path w="21600" h="21600" extrusionOk="0">
                      <a:moveTo>
                        <a:pt x="16740" y="18514"/>
                      </a:moveTo>
                      <a:lnTo>
                        <a:pt x="16740" y="20057"/>
                      </a:lnTo>
                      <a:lnTo>
                        <a:pt x="18900" y="20057"/>
                      </a:lnTo>
                      <a:lnTo>
                        <a:pt x="18900" y="18514"/>
                      </a:lnTo>
                      <a:lnTo>
                        <a:pt x="16740" y="18514"/>
                      </a:lnTo>
                      <a:close/>
                    </a:path>
                    <a:path w="21600" h="21600" extrusionOk="0">
                      <a:moveTo>
                        <a:pt x="18900" y="18514"/>
                      </a:moveTo>
                      <a:lnTo>
                        <a:pt x="18900" y="20057"/>
                      </a:lnTo>
                      <a:lnTo>
                        <a:pt x="21060" y="20057"/>
                      </a:lnTo>
                      <a:lnTo>
                        <a:pt x="21060" y="18514"/>
                      </a:lnTo>
                      <a:lnTo>
                        <a:pt x="18900" y="18514"/>
                      </a:lnTo>
                      <a:close/>
                    </a:path>
                    <a:path w="21600" h="21600" extrusionOk="0">
                      <a:moveTo>
                        <a:pt x="540" y="20057"/>
                      </a:moveTo>
                      <a:lnTo>
                        <a:pt x="540" y="21600"/>
                      </a:lnTo>
                      <a:lnTo>
                        <a:pt x="2700" y="21600"/>
                      </a:lnTo>
                      <a:lnTo>
                        <a:pt x="2700" y="20057"/>
                      </a:lnTo>
                      <a:lnTo>
                        <a:pt x="540" y="20057"/>
                      </a:lnTo>
                      <a:close/>
                    </a:path>
                    <a:path w="21600" h="21600" extrusionOk="0">
                      <a:moveTo>
                        <a:pt x="2700" y="20057"/>
                      </a:moveTo>
                      <a:lnTo>
                        <a:pt x="2700" y="21600"/>
                      </a:lnTo>
                      <a:lnTo>
                        <a:pt x="4860" y="21600"/>
                      </a:lnTo>
                      <a:lnTo>
                        <a:pt x="4860" y="20057"/>
                      </a:lnTo>
                      <a:lnTo>
                        <a:pt x="2700" y="20057"/>
                      </a:lnTo>
                      <a:close/>
                    </a:path>
                    <a:path w="21600" h="21600" extrusionOk="0">
                      <a:moveTo>
                        <a:pt x="4860" y="20057"/>
                      </a:moveTo>
                      <a:lnTo>
                        <a:pt x="4860" y="21600"/>
                      </a:lnTo>
                      <a:lnTo>
                        <a:pt x="7020" y="21600"/>
                      </a:lnTo>
                      <a:lnTo>
                        <a:pt x="7020" y="20057"/>
                      </a:lnTo>
                      <a:lnTo>
                        <a:pt x="4860" y="20057"/>
                      </a:lnTo>
                      <a:close/>
                    </a:path>
                    <a:path w="21600" h="21600" extrusionOk="0">
                      <a:moveTo>
                        <a:pt x="7020" y="20057"/>
                      </a:moveTo>
                      <a:lnTo>
                        <a:pt x="7020" y="21600"/>
                      </a:lnTo>
                      <a:lnTo>
                        <a:pt x="9180" y="21600"/>
                      </a:lnTo>
                      <a:lnTo>
                        <a:pt x="9180" y="20057"/>
                      </a:lnTo>
                      <a:lnTo>
                        <a:pt x="7020" y="20057"/>
                      </a:lnTo>
                      <a:close/>
                    </a:path>
                    <a:path w="21600" h="21600" extrusionOk="0">
                      <a:moveTo>
                        <a:pt x="9180" y="20057"/>
                      </a:moveTo>
                      <a:lnTo>
                        <a:pt x="9180" y="21600"/>
                      </a:lnTo>
                      <a:lnTo>
                        <a:pt x="11340" y="21600"/>
                      </a:lnTo>
                      <a:lnTo>
                        <a:pt x="11340" y="20057"/>
                      </a:lnTo>
                      <a:lnTo>
                        <a:pt x="9180" y="20057"/>
                      </a:lnTo>
                      <a:close/>
                    </a:path>
                    <a:path w="21600" h="21600" extrusionOk="0">
                      <a:moveTo>
                        <a:pt x="11340" y="20057"/>
                      </a:moveTo>
                      <a:lnTo>
                        <a:pt x="11340" y="21600"/>
                      </a:lnTo>
                      <a:lnTo>
                        <a:pt x="13500" y="21600"/>
                      </a:lnTo>
                      <a:lnTo>
                        <a:pt x="13500" y="20057"/>
                      </a:lnTo>
                      <a:lnTo>
                        <a:pt x="11340" y="20057"/>
                      </a:lnTo>
                      <a:close/>
                    </a:path>
                    <a:path w="21600" h="21600" extrusionOk="0">
                      <a:moveTo>
                        <a:pt x="13500" y="20057"/>
                      </a:moveTo>
                      <a:lnTo>
                        <a:pt x="13500" y="21600"/>
                      </a:lnTo>
                      <a:lnTo>
                        <a:pt x="15660" y="21600"/>
                      </a:lnTo>
                      <a:lnTo>
                        <a:pt x="15660" y="20057"/>
                      </a:lnTo>
                      <a:lnTo>
                        <a:pt x="13500" y="20057"/>
                      </a:lnTo>
                      <a:close/>
                    </a:path>
                    <a:path w="21600" h="21600" extrusionOk="0">
                      <a:moveTo>
                        <a:pt x="15660" y="20057"/>
                      </a:moveTo>
                      <a:lnTo>
                        <a:pt x="15660" y="21600"/>
                      </a:lnTo>
                      <a:lnTo>
                        <a:pt x="17820" y="21600"/>
                      </a:lnTo>
                      <a:lnTo>
                        <a:pt x="17820" y="20057"/>
                      </a:lnTo>
                      <a:lnTo>
                        <a:pt x="15660" y="20057"/>
                      </a:lnTo>
                      <a:close/>
                    </a:path>
                    <a:path w="21600" h="21600" extrusionOk="0">
                      <a:moveTo>
                        <a:pt x="17820" y="20057"/>
                      </a:moveTo>
                      <a:lnTo>
                        <a:pt x="17820" y="21600"/>
                      </a:lnTo>
                      <a:lnTo>
                        <a:pt x="19980" y="21600"/>
                      </a:lnTo>
                      <a:lnTo>
                        <a:pt x="19980" y="20057"/>
                      </a:lnTo>
                      <a:lnTo>
                        <a:pt x="17820" y="20057"/>
                      </a:lnTo>
                      <a:close/>
                    </a:path>
                    <a:path w="21600" h="21600" extrusionOk="0">
                      <a:moveTo>
                        <a:pt x="19980" y="4628"/>
                      </a:moveTo>
                      <a:lnTo>
                        <a:pt x="21060" y="4628"/>
                      </a:lnTo>
                      <a:lnTo>
                        <a:pt x="21060" y="6171"/>
                      </a:lnTo>
                      <a:lnTo>
                        <a:pt x="19980" y="6171"/>
                      </a:lnTo>
                      <a:lnTo>
                        <a:pt x="19980" y="4628"/>
                      </a:lnTo>
                      <a:close/>
                    </a:path>
                  </a:pathLst>
                </a:custGeom>
                <a:solidFill>
                  <a:srgbClr val="996633"/>
                </a:solidFill>
                <a:ln w="9525">
                  <a:solidFill>
                    <a:srgbClr val="000000"/>
                  </a:solidFill>
                  <a:miter lim="800000"/>
                </a:ln>
                <a:effectLst/>
              </p:spPr>
              <p:txBody>
                <a:bodyPr/>
                <a:lstStyle/>
                <a:p>
                  <a:endParaRPr lang="en-US" sz="1350"/>
                </a:p>
              </p:txBody>
            </p:sp>
          </p:grpSp>
          <p:grpSp>
            <p:nvGrpSpPr>
              <p:cNvPr id="26" name="Group 47"/>
              <p:cNvGrpSpPr/>
              <p:nvPr/>
            </p:nvGrpSpPr>
            <p:grpSpPr bwMode="auto">
              <a:xfrm>
                <a:off x="1695" y="2167"/>
                <a:ext cx="1212" cy="1658"/>
                <a:chOff x="1263" y="2047"/>
                <a:chExt cx="1212" cy="1658"/>
              </a:xfrm>
            </p:grpSpPr>
            <p:pic>
              <p:nvPicPr>
                <p:cNvPr id="31" name="Picture 48" descr="pe01832_"/>
                <p:cNvPicPr>
                  <a:picLocks noChangeAspect="1" noChangeArrowheads="1"/>
                </p:cNvPicPr>
                <p:nvPr/>
              </p:nvPicPr>
              <p:blipFill>
                <a:blip r:embed="rId7"/>
                <a:srcRect/>
                <a:stretch>
                  <a:fillRect/>
                </a:stretch>
              </p:blipFill>
              <p:spPr bwMode="auto">
                <a:xfrm>
                  <a:off x="1263" y="2047"/>
                  <a:ext cx="1212" cy="1108"/>
                </a:xfrm>
                <a:prstGeom prst="rect">
                  <a:avLst/>
                </a:prstGeom>
                <a:noFill/>
                <a:ln w="9525">
                  <a:noFill/>
                  <a:miter lim="800000"/>
                  <a:headEnd/>
                  <a:tailEnd/>
                </a:ln>
                <a:effectLst/>
              </p:spPr>
            </p:pic>
            <p:sp>
              <p:nvSpPr>
                <p:cNvPr id="32" name="Firewall"/>
                <p:cNvSpPr>
                  <a:spLocks noEditPoints="1" noChangeArrowheads="1"/>
                </p:cNvSpPr>
                <p:nvPr/>
              </p:nvSpPr>
              <p:spPr bwMode="auto">
                <a:xfrm>
                  <a:off x="1539" y="3135"/>
                  <a:ext cx="461" cy="570"/>
                </a:xfrm>
                <a:custGeom>
                  <a:avLst/>
                  <a:gdLst>
                    <a:gd name="T0" fmla="*/ 0 w 21600"/>
                    <a:gd name="T1" fmla="*/ 0 h 21600"/>
                    <a:gd name="T2" fmla="*/ 10800 w 21600"/>
                    <a:gd name="T3" fmla="*/ 0 h 21600"/>
                    <a:gd name="T4" fmla="*/ 21600 w 21600"/>
                    <a:gd name="T5" fmla="*/ 0 h 21600"/>
                    <a:gd name="T6" fmla="*/ 21060 w 21600"/>
                    <a:gd name="T7" fmla="*/ 10800 h 21600"/>
                    <a:gd name="T8" fmla="*/ 21060 w 21600"/>
                    <a:gd name="T9" fmla="*/ 21600 h 21600"/>
                    <a:gd name="T10" fmla="*/ 10800 w 21600"/>
                    <a:gd name="T11" fmla="*/ 21600 h 21600"/>
                    <a:gd name="T12" fmla="*/ 540 w 21600"/>
                    <a:gd name="T13" fmla="*/ 21600 h 21600"/>
                    <a:gd name="T14" fmla="*/ 540 w 21600"/>
                    <a:gd name="T15" fmla="*/ 10800 h 21600"/>
                    <a:gd name="T16" fmla="*/ 761 w 21600"/>
                    <a:gd name="T17" fmla="*/ 22454 h 21600"/>
                    <a:gd name="T18" fmla="*/ 21069 w 21600"/>
                    <a:gd name="T19" fmla="*/ 32282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540" y="4628"/>
                      </a:moveTo>
                      <a:lnTo>
                        <a:pt x="0" y="4628"/>
                      </a:lnTo>
                      <a:lnTo>
                        <a:pt x="0" y="0"/>
                      </a:lnTo>
                      <a:lnTo>
                        <a:pt x="21600" y="0"/>
                      </a:lnTo>
                      <a:lnTo>
                        <a:pt x="21600" y="4628"/>
                      </a:lnTo>
                      <a:lnTo>
                        <a:pt x="21060" y="4628"/>
                      </a:lnTo>
                      <a:lnTo>
                        <a:pt x="21060" y="21600"/>
                      </a:lnTo>
                      <a:lnTo>
                        <a:pt x="540" y="21600"/>
                      </a:lnTo>
                      <a:lnTo>
                        <a:pt x="540" y="4628"/>
                      </a:lnTo>
                      <a:close/>
                    </a:path>
                    <a:path w="21600" h="21600" extrusionOk="0">
                      <a:moveTo>
                        <a:pt x="540" y="4628"/>
                      </a:moveTo>
                      <a:lnTo>
                        <a:pt x="540" y="6171"/>
                      </a:lnTo>
                      <a:lnTo>
                        <a:pt x="2700" y="6171"/>
                      </a:lnTo>
                      <a:lnTo>
                        <a:pt x="2700" y="4628"/>
                      </a:lnTo>
                      <a:lnTo>
                        <a:pt x="540" y="4628"/>
                      </a:lnTo>
                      <a:close/>
                    </a:path>
                    <a:path w="21600" h="21600" extrusionOk="0">
                      <a:moveTo>
                        <a:pt x="2700" y="4628"/>
                      </a:moveTo>
                      <a:lnTo>
                        <a:pt x="2700" y="6171"/>
                      </a:lnTo>
                      <a:lnTo>
                        <a:pt x="4860" y="6171"/>
                      </a:lnTo>
                      <a:lnTo>
                        <a:pt x="4860" y="4628"/>
                      </a:lnTo>
                      <a:lnTo>
                        <a:pt x="2700" y="4628"/>
                      </a:lnTo>
                      <a:close/>
                    </a:path>
                    <a:path w="21600" h="21600" extrusionOk="0">
                      <a:moveTo>
                        <a:pt x="4860" y="4628"/>
                      </a:moveTo>
                      <a:lnTo>
                        <a:pt x="4860" y="6171"/>
                      </a:lnTo>
                      <a:lnTo>
                        <a:pt x="7020" y="6171"/>
                      </a:lnTo>
                      <a:lnTo>
                        <a:pt x="7020" y="4628"/>
                      </a:lnTo>
                      <a:lnTo>
                        <a:pt x="4860" y="4628"/>
                      </a:lnTo>
                      <a:close/>
                    </a:path>
                    <a:path w="21600" h="21600" extrusionOk="0">
                      <a:moveTo>
                        <a:pt x="7020" y="4628"/>
                      </a:moveTo>
                      <a:lnTo>
                        <a:pt x="7020" y="6171"/>
                      </a:lnTo>
                      <a:lnTo>
                        <a:pt x="9180" y="6171"/>
                      </a:lnTo>
                      <a:lnTo>
                        <a:pt x="9180" y="4628"/>
                      </a:lnTo>
                      <a:lnTo>
                        <a:pt x="7020" y="4628"/>
                      </a:lnTo>
                      <a:close/>
                    </a:path>
                    <a:path w="21600" h="21600" extrusionOk="0">
                      <a:moveTo>
                        <a:pt x="9180" y="4628"/>
                      </a:moveTo>
                      <a:lnTo>
                        <a:pt x="9180" y="6171"/>
                      </a:lnTo>
                      <a:lnTo>
                        <a:pt x="11340" y="6171"/>
                      </a:lnTo>
                      <a:lnTo>
                        <a:pt x="11340" y="4628"/>
                      </a:lnTo>
                      <a:lnTo>
                        <a:pt x="9180" y="4628"/>
                      </a:lnTo>
                      <a:close/>
                    </a:path>
                    <a:path w="21600" h="21600" extrusionOk="0">
                      <a:moveTo>
                        <a:pt x="11340" y="4628"/>
                      </a:moveTo>
                      <a:lnTo>
                        <a:pt x="11340" y="6171"/>
                      </a:lnTo>
                      <a:lnTo>
                        <a:pt x="13500" y="6171"/>
                      </a:lnTo>
                      <a:lnTo>
                        <a:pt x="13500" y="4628"/>
                      </a:lnTo>
                      <a:lnTo>
                        <a:pt x="11340" y="4628"/>
                      </a:lnTo>
                      <a:close/>
                    </a:path>
                    <a:path w="21600" h="21600" extrusionOk="0">
                      <a:moveTo>
                        <a:pt x="13500" y="4628"/>
                      </a:moveTo>
                      <a:lnTo>
                        <a:pt x="13500" y="6171"/>
                      </a:lnTo>
                      <a:lnTo>
                        <a:pt x="15660" y="6171"/>
                      </a:lnTo>
                      <a:lnTo>
                        <a:pt x="15660" y="4628"/>
                      </a:lnTo>
                      <a:lnTo>
                        <a:pt x="13500" y="4628"/>
                      </a:lnTo>
                      <a:close/>
                    </a:path>
                    <a:path w="21600" h="21600" extrusionOk="0">
                      <a:moveTo>
                        <a:pt x="15660" y="4628"/>
                      </a:moveTo>
                      <a:lnTo>
                        <a:pt x="15660" y="6171"/>
                      </a:lnTo>
                      <a:lnTo>
                        <a:pt x="17820" y="6171"/>
                      </a:lnTo>
                      <a:lnTo>
                        <a:pt x="17820" y="4628"/>
                      </a:lnTo>
                      <a:lnTo>
                        <a:pt x="15660" y="4628"/>
                      </a:lnTo>
                      <a:close/>
                    </a:path>
                    <a:path w="21600" h="21600" extrusionOk="0">
                      <a:moveTo>
                        <a:pt x="17820" y="4628"/>
                      </a:moveTo>
                      <a:lnTo>
                        <a:pt x="17820" y="6171"/>
                      </a:lnTo>
                      <a:lnTo>
                        <a:pt x="19980" y="6171"/>
                      </a:lnTo>
                      <a:lnTo>
                        <a:pt x="19980" y="4628"/>
                      </a:lnTo>
                      <a:lnTo>
                        <a:pt x="17820" y="4628"/>
                      </a:lnTo>
                      <a:close/>
                    </a:path>
                    <a:path w="21600" h="21600" extrusionOk="0">
                      <a:moveTo>
                        <a:pt x="1620" y="6171"/>
                      </a:moveTo>
                      <a:lnTo>
                        <a:pt x="1620" y="7714"/>
                      </a:lnTo>
                      <a:lnTo>
                        <a:pt x="3779" y="7714"/>
                      </a:lnTo>
                      <a:lnTo>
                        <a:pt x="3779" y="6171"/>
                      </a:lnTo>
                      <a:lnTo>
                        <a:pt x="1620" y="6171"/>
                      </a:lnTo>
                      <a:close/>
                    </a:path>
                    <a:path w="21600" h="21600" extrusionOk="0">
                      <a:moveTo>
                        <a:pt x="3779" y="6171"/>
                      </a:moveTo>
                      <a:lnTo>
                        <a:pt x="3779" y="7714"/>
                      </a:lnTo>
                      <a:lnTo>
                        <a:pt x="5940" y="7714"/>
                      </a:lnTo>
                      <a:lnTo>
                        <a:pt x="5940" y="6171"/>
                      </a:lnTo>
                      <a:lnTo>
                        <a:pt x="3779" y="6171"/>
                      </a:lnTo>
                      <a:close/>
                    </a:path>
                    <a:path w="21600" h="21600" extrusionOk="0">
                      <a:moveTo>
                        <a:pt x="5940" y="6171"/>
                      </a:moveTo>
                      <a:lnTo>
                        <a:pt x="5940" y="7714"/>
                      </a:lnTo>
                      <a:lnTo>
                        <a:pt x="8100" y="7714"/>
                      </a:lnTo>
                      <a:lnTo>
                        <a:pt x="8100" y="6171"/>
                      </a:lnTo>
                      <a:lnTo>
                        <a:pt x="5940" y="6171"/>
                      </a:lnTo>
                      <a:close/>
                    </a:path>
                    <a:path w="21600" h="21600" extrusionOk="0">
                      <a:moveTo>
                        <a:pt x="8100" y="6171"/>
                      </a:moveTo>
                      <a:lnTo>
                        <a:pt x="8100" y="7714"/>
                      </a:lnTo>
                      <a:lnTo>
                        <a:pt x="10260" y="7714"/>
                      </a:lnTo>
                      <a:lnTo>
                        <a:pt x="10260" y="6171"/>
                      </a:lnTo>
                      <a:lnTo>
                        <a:pt x="8100" y="6171"/>
                      </a:lnTo>
                      <a:close/>
                    </a:path>
                    <a:path w="21600" h="21600" extrusionOk="0">
                      <a:moveTo>
                        <a:pt x="10260" y="6171"/>
                      </a:moveTo>
                      <a:lnTo>
                        <a:pt x="10260" y="7714"/>
                      </a:lnTo>
                      <a:lnTo>
                        <a:pt x="12419" y="7714"/>
                      </a:lnTo>
                      <a:lnTo>
                        <a:pt x="12419" y="6171"/>
                      </a:lnTo>
                      <a:lnTo>
                        <a:pt x="10260" y="6171"/>
                      </a:lnTo>
                      <a:close/>
                    </a:path>
                    <a:path w="21600" h="21600" extrusionOk="0">
                      <a:moveTo>
                        <a:pt x="12419" y="6171"/>
                      </a:moveTo>
                      <a:lnTo>
                        <a:pt x="12419" y="7714"/>
                      </a:lnTo>
                      <a:lnTo>
                        <a:pt x="14580" y="7714"/>
                      </a:lnTo>
                      <a:lnTo>
                        <a:pt x="14580" y="6171"/>
                      </a:lnTo>
                      <a:lnTo>
                        <a:pt x="12419" y="6171"/>
                      </a:lnTo>
                      <a:close/>
                    </a:path>
                    <a:path w="21600" h="21600" extrusionOk="0">
                      <a:moveTo>
                        <a:pt x="14580" y="6171"/>
                      </a:moveTo>
                      <a:lnTo>
                        <a:pt x="14580" y="7714"/>
                      </a:lnTo>
                      <a:lnTo>
                        <a:pt x="16740" y="7714"/>
                      </a:lnTo>
                      <a:lnTo>
                        <a:pt x="16740" y="6171"/>
                      </a:lnTo>
                      <a:lnTo>
                        <a:pt x="14580" y="6171"/>
                      </a:lnTo>
                      <a:close/>
                    </a:path>
                    <a:path w="21600" h="21600" extrusionOk="0">
                      <a:moveTo>
                        <a:pt x="16740" y="6171"/>
                      </a:moveTo>
                      <a:lnTo>
                        <a:pt x="16740" y="7714"/>
                      </a:lnTo>
                      <a:lnTo>
                        <a:pt x="18900" y="7714"/>
                      </a:lnTo>
                      <a:lnTo>
                        <a:pt x="18900" y="6171"/>
                      </a:lnTo>
                      <a:lnTo>
                        <a:pt x="16740" y="6171"/>
                      </a:lnTo>
                      <a:close/>
                    </a:path>
                    <a:path w="21600" h="21600" extrusionOk="0">
                      <a:moveTo>
                        <a:pt x="18900" y="6171"/>
                      </a:moveTo>
                      <a:lnTo>
                        <a:pt x="18900" y="7714"/>
                      </a:lnTo>
                      <a:lnTo>
                        <a:pt x="21060" y="7714"/>
                      </a:lnTo>
                      <a:lnTo>
                        <a:pt x="21060" y="6171"/>
                      </a:lnTo>
                      <a:lnTo>
                        <a:pt x="18900" y="6171"/>
                      </a:lnTo>
                      <a:close/>
                    </a:path>
                    <a:path w="21600" h="21600" extrusionOk="0">
                      <a:moveTo>
                        <a:pt x="540" y="7714"/>
                      </a:moveTo>
                      <a:lnTo>
                        <a:pt x="540" y="9257"/>
                      </a:lnTo>
                      <a:lnTo>
                        <a:pt x="2700" y="9257"/>
                      </a:lnTo>
                      <a:lnTo>
                        <a:pt x="2700" y="7714"/>
                      </a:lnTo>
                      <a:lnTo>
                        <a:pt x="540" y="7714"/>
                      </a:lnTo>
                      <a:close/>
                    </a:path>
                    <a:path w="21600" h="21600" extrusionOk="0">
                      <a:moveTo>
                        <a:pt x="2700" y="7714"/>
                      </a:moveTo>
                      <a:lnTo>
                        <a:pt x="2700" y="9257"/>
                      </a:lnTo>
                      <a:lnTo>
                        <a:pt x="4860" y="9257"/>
                      </a:lnTo>
                      <a:lnTo>
                        <a:pt x="4860" y="7714"/>
                      </a:lnTo>
                      <a:lnTo>
                        <a:pt x="2700" y="7714"/>
                      </a:lnTo>
                      <a:close/>
                    </a:path>
                    <a:path w="21600" h="21600" extrusionOk="0">
                      <a:moveTo>
                        <a:pt x="4860" y="7714"/>
                      </a:moveTo>
                      <a:lnTo>
                        <a:pt x="4860" y="9257"/>
                      </a:lnTo>
                      <a:lnTo>
                        <a:pt x="7020" y="9257"/>
                      </a:lnTo>
                      <a:lnTo>
                        <a:pt x="7020" y="7714"/>
                      </a:lnTo>
                      <a:lnTo>
                        <a:pt x="4860" y="7714"/>
                      </a:lnTo>
                      <a:close/>
                    </a:path>
                    <a:path w="21600" h="21600" extrusionOk="0">
                      <a:moveTo>
                        <a:pt x="7020" y="7714"/>
                      </a:moveTo>
                      <a:lnTo>
                        <a:pt x="7020" y="9257"/>
                      </a:lnTo>
                      <a:lnTo>
                        <a:pt x="9180" y="9257"/>
                      </a:lnTo>
                      <a:lnTo>
                        <a:pt x="9180" y="7714"/>
                      </a:lnTo>
                      <a:lnTo>
                        <a:pt x="7020" y="7714"/>
                      </a:lnTo>
                      <a:close/>
                    </a:path>
                    <a:path w="21600" h="21600" extrusionOk="0">
                      <a:moveTo>
                        <a:pt x="9180" y="7714"/>
                      </a:moveTo>
                      <a:lnTo>
                        <a:pt x="9180" y="9257"/>
                      </a:lnTo>
                      <a:lnTo>
                        <a:pt x="11340" y="9257"/>
                      </a:lnTo>
                      <a:lnTo>
                        <a:pt x="11340" y="7714"/>
                      </a:lnTo>
                      <a:lnTo>
                        <a:pt x="9180" y="7714"/>
                      </a:lnTo>
                      <a:close/>
                    </a:path>
                    <a:path w="21600" h="21600" extrusionOk="0">
                      <a:moveTo>
                        <a:pt x="11340" y="7714"/>
                      </a:moveTo>
                      <a:lnTo>
                        <a:pt x="11340" y="9257"/>
                      </a:lnTo>
                      <a:lnTo>
                        <a:pt x="13500" y="9257"/>
                      </a:lnTo>
                      <a:lnTo>
                        <a:pt x="13500" y="7714"/>
                      </a:lnTo>
                      <a:lnTo>
                        <a:pt x="11340" y="7714"/>
                      </a:lnTo>
                      <a:close/>
                    </a:path>
                    <a:path w="21600" h="21600" extrusionOk="0">
                      <a:moveTo>
                        <a:pt x="13500" y="7714"/>
                      </a:moveTo>
                      <a:lnTo>
                        <a:pt x="13500" y="9257"/>
                      </a:lnTo>
                      <a:lnTo>
                        <a:pt x="15660" y="9257"/>
                      </a:lnTo>
                      <a:lnTo>
                        <a:pt x="15660" y="7714"/>
                      </a:lnTo>
                      <a:lnTo>
                        <a:pt x="13500" y="7714"/>
                      </a:lnTo>
                      <a:close/>
                    </a:path>
                    <a:path w="21600" h="21600" extrusionOk="0">
                      <a:moveTo>
                        <a:pt x="15660" y="7714"/>
                      </a:moveTo>
                      <a:lnTo>
                        <a:pt x="15660" y="9257"/>
                      </a:lnTo>
                      <a:lnTo>
                        <a:pt x="17820" y="9257"/>
                      </a:lnTo>
                      <a:lnTo>
                        <a:pt x="17820" y="7714"/>
                      </a:lnTo>
                      <a:lnTo>
                        <a:pt x="15660" y="7714"/>
                      </a:lnTo>
                      <a:close/>
                    </a:path>
                    <a:path w="21600" h="21600" extrusionOk="0">
                      <a:moveTo>
                        <a:pt x="17820" y="7714"/>
                      </a:moveTo>
                      <a:lnTo>
                        <a:pt x="17820" y="9257"/>
                      </a:lnTo>
                      <a:lnTo>
                        <a:pt x="19980" y="9257"/>
                      </a:lnTo>
                      <a:lnTo>
                        <a:pt x="19980" y="7714"/>
                      </a:lnTo>
                      <a:lnTo>
                        <a:pt x="17820" y="7714"/>
                      </a:lnTo>
                      <a:close/>
                    </a:path>
                    <a:path w="21600" h="21600" extrusionOk="0">
                      <a:moveTo>
                        <a:pt x="1620" y="9257"/>
                      </a:moveTo>
                      <a:lnTo>
                        <a:pt x="1620" y="10800"/>
                      </a:lnTo>
                      <a:lnTo>
                        <a:pt x="3779" y="10800"/>
                      </a:lnTo>
                      <a:lnTo>
                        <a:pt x="3779" y="9257"/>
                      </a:lnTo>
                      <a:lnTo>
                        <a:pt x="1620" y="9257"/>
                      </a:lnTo>
                      <a:close/>
                    </a:path>
                    <a:path w="21600" h="21600" extrusionOk="0">
                      <a:moveTo>
                        <a:pt x="3779" y="9257"/>
                      </a:moveTo>
                      <a:lnTo>
                        <a:pt x="3779" y="10800"/>
                      </a:lnTo>
                      <a:lnTo>
                        <a:pt x="5940" y="10800"/>
                      </a:lnTo>
                      <a:lnTo>
                        <a:pt x="5940" y="9257"/>
                      </a:lnTo>
                      <a:lnTo>
                        <a:pt x="3779" y="9257"/>
                      </a:lnTo>
                      <a:close/>
                    </a:path>
                    <a:path w="21600" h="21600" extrusionOk="0">
                      <a:moveTo>
                        <a:pt x="5940" y="9257"/>
                      </a:moveTo>
                      <a:lnTo>
                        <a:pt x="5940" y="10800"/>
                      </a:lnTo>
                      <a:lnTo>
                        <a:pt x="8100" y="10800"/>
                      </a:lnTo>
                      <a:lnTo>
                        <a:pt x="8100" y="9257"/>
                      </a:lnTo>
                      <a:lnTo>
                        <a:pt x="5940" y="9257"/>
                      </a:lnTo>
                      <a:close/>
                    </a:path>
                    <a:path w="21600" h="21600" extrusionOk="0">
                      <a:moveTo>
                        <a:pt x="8100" y="9257"/>
                      </a:moveTo>
                      <a:lnTo>
                        <a:pt x="8100" y="10800"/>
                      </a:lnTo>
                      <a:lnTo>
                        <a:pt x="10260" y="10800"/>
                      </a:lnTo>
                      <a:lnTo>
                        <a:pt x="10260" y="9257"/>
                      </a:lnTo>
                      <a:lnTo>
                        <a:pt x="8100" y="9257"/>
                      </a:lnTo>
                      <a:close/>
                    </a:path>
                    <a:path w="21600" h="21600" extrusionOk="0">
                      <a:moveTo>
                        <a:pt x="10260" y="9257"/>
                      </a:moveTo>
                      <a:lnTo>
                        <a:pt x="10260" y="10800"/>
                      </a:lnTo>
                      <a:lnTo>
                        <a:pt x="12419" y="10800"/>
                      </a:lnTo>
                      <a:lnTo>
                        <a:pt x="12419" y="9257"/>
                      </a:lnTo>
                      <a:lnTo>
                        <a:pt x="10260" y="9257"/>
                      </a:lnTo>
                      <a:close/>
                    </a:path>
                    <a:path w="21600" h="21600" extrusionOk="0">
                      <a:moveTo>
                        <a:pt x="12419" y="9257"/>
                      </a:moveTo>
                      <a:lnTo>
                        <a:pt x="12419" y="10800"/>
                      </a:lnTo>
                      <a:lnTo>
                        <a:pt x="14580" y="10800"/>
                      </a:lnTo>
                      <a:lnTo>
                        <a:pt x="14580" y="9257"/>
                      </a:lnTo>
                      <a:lnTo>
                        <a:pt x="12419" y="9257"/>
                      </a:lnTo>
                      <a:close/>
                    </a:path>
                    <a:path w="21600" h="21600" extrusionOk="0">
                      <a:moveTo>
                        <a:pt x="14580" y="9257"/>
                      </a:moveTo>
                      <a:lnTo>
                        <a:pt x="14580" y="10800"/>
                      </a:lnTo>
                      <a:lnTo>
                        <a:pt x="16740" y="10800"/>
                      </a:lnTo>
                      <a:lnTo>
                        <a:pt x="16740" y="9257"/>
                      </a:lnTo>
                      <a:lnTo>
                        <a:pt x="14580" y="9257"/>
                      </a:lnTo>
                      <a:close/>
                    </a:path>
                    <a:path w="21600" h="21600" extrusionOk="0">
                      <a:moveTo>
                        <a:pt x="16740" y="9257"/>
                      </a:moveTo>
                      <a:lnTo>
                        <a:pt x="16740" y="10800"/>
                      </a:lnTo>
                      <a:lnTo>
                        <a:pt x="18900" y="10800"/>
                      </a:lnTo>
                      <a:lnTo>
                        <a:pt x="18900" y="9257"/>
                      </a:lnTo>
                      <a:lnTo>
                        <a:pt x="16740" y="9257"/>
                      </a:lnTo>
                      <a:close/>
                    </a:path>
                    <a:path w="21600" h="21600" extrusionOk="0">
                      <a:moveTo>
                        <a:pt x="18900" y="9257"/>
                      </a:moveTo>
                      <a:lnTo>
                        <a:pt x="18900" y="10800"/>
                      </a:lnTo>
                      <a:lnTo>
                        <a:pt x="21060" y="10800"/>
                      </a:lnTo>
                      <a:lnTo>
                        <a:pt x="21060" y="9257"/>
                      </a:lnTo>
                      <a:lnTo>
                        <a:pt x="18900" y="9257"/>
                      </a:lnTo>
                      <a:close/>
                    </a:path>
                    <a:path w="21600" h="21600" extrusionOk="0">
                      <a:moveTo>
                        <a:pt x="540" y="10800"/>
                      </a:moveTo>
                      <a:lnTo>
                        <a:pt x="540" y="12342"/>
                      </a:lnTo>
                      <a:lnTo>
                        <a:pt x="2700" y="12342"/>
                      </a:lnTo>
                      <a:lnTo>
                        <a:pt x="2700" y="10800"/>
                      </a:lnTo>
                      <a:lnTo>
                        <a:pt x="540" y="10800"/>
                      </a:lnTo>
                      <a:close/>
                    </a:path>
                    <a:path w="21600" h="21600" extrusionOk="0">
                      <a:moveTo>
                        <a:pt x="2700" y="10800"/>
                      </a:moveTo>
                      <a:lnTo>
                        <a:pt x="2700" y="12342"/>
                      </a:lnTo>
                      <a:lnTo>
                        <a:pt x="4860" y="12342"/>
                      </a:lnTo>
                      <a:lnTo>
                        <a:pt x="4860" y="10800"/>
                      </a:lnTo>
                      <a:lnTo>
                        <a:pt x="2700" y="10800"/>
                      </a:lnTo>
                      <a:close/>
                    </a:path>
                    <a:path w="21600" h="21600" extrusionOk="0">
                      <a:moveTo>
                        <a:pt x="4860" y="10800"/>
                      </a:moveTo>
                      <a:lnTo>
                        <a:pt x="4860" y="12342"/>
                      </a:lnTo>
                      <a:lnTo>
                        <a:pt x="7020" y="12342"/>
                      </a:lnTo>
                      <a:lnTo>
                        <a:pt x="7020" y="10800"/>
                      </a:lnTo>
                      <a:lnTo>
                        <a:pt x="4860" y="10800"/>
                      </a:lnTo>
                      <a:close/>
                    </a:path>
                    <a:path w="21600" h="21600" extrusionOk="0">
                      <a:moveTo>
                        <a:pt x="7020" y="10800"/>
                      </a:moveTo>
                      <a:lnTo>
                        <a:pt x="7020" y="12342"/>
                      </a:lnTo>
                      <a:lnTo>
                        <a:pt x="9180" y="12342"/>
                      </a:lnTo>
                      <a:lnTo>
                        <a:pt x="9180" y="10800"/>
                      </a:lnTo>
                      <a:lnTo>
                        <a:pt x="7020" y="10800"/>
                      </a:lnTo>
                      <a:close/>
                    </a:path>
                    <a:path w="21600" h="21600" extrusionOk="0">
                      <a:moveTo>
                        <a:pt x="9180" y="10800"/>
                      </a:moveTo>
                      <a:lnTo>
                        <a:pt x="9180" y="12342"/>
                      </a:lnTo>
                      <a:lnTo>
                        <a:pt x="11340" y="12342"/>
                      </a:lnTo>
                      <a:lnTo>
                        <a:pt x="11340" y="10800"/>
                      </a:lnTo>
                      <a:lnTo>
                        <a:pt x="9180" y="10800"/>
                      </a:lnTo>
                      <a:close/>
                    </a:path>
                    <a:path w="21600" h="21600" extrusionOk="0">
                      <a:moveTo>
                        <a:pt x="11340" y="10800"/>
                      </a:moveTo>
                      <a:lnTo>
                        <a:pt x="11340" y="12342"/>
                      </a:lnTo>
                      <a:lnTo>
                        <a:pt x="13500" y="12342"/>
                      </a:lnTo>
                      <a:lnTo>
                        <a:pt x="13500" y="10800"/>
                      </a:lnTo>
                      <a:lnTo>
                        <a:pt x="11340" y="10800"/>
                      </a:lnTo>
                      <a:close/>
                    </a:path>
                    <a:path w="21600" h="21600" extrusionOk="0">
                      <a:moveTo>
                        <a:pt x="13500" y="10800"/>
                      </a:moveTo>
                      <a:lnTo>
                        <a:pt x="13500" y="12342"/>
                      </a:lnTo>
                      <a:lnTo>
                        <a:pt x="15660" y="12342"/>
                      </a:lnTo>
                      <a:lnTo>
                        <a:pt x="15660" y="10800"/>
                      </a:lnTo>
                      <a:lnTo>
                        <a:pt x="13500" y="10800"/>
                      </a:lnTo>
                      <a:close/>
                    </a:path>
                    <a:path w="21600" h="21600" extrusionOk="0">
                      <a:moveTo>
                        <a:pt x="15660" y="10800"/>
                      </a:moveTo>
                      <a:lnTo>
                        <a:pt x="15660" y="12342"/>
                      </a:lnTo>
                      <a:lnTo>
                        <a:pt x="17820" y="12342"/>
                      </a:lnTo>
                      <a:lnTo>
                        <a:pt x="17820" y="10800"/>
                      </a:lnTo>
                      <a:lnTo>
                        <a:pt x="15660" y="10800"/>
                      </a:lnTo>
                      <a:close/>
                    </a:path>
                    <a:path w="21600" h="21600" extrusionOk="0">
                      <a:moveTo>
                        <a:pt x="17820" y="10800"/>
                      </a:moveTo>
                      <a:lnTo>
                        <a:pt x="17820" y="12342"/>
                      </a:lnTo>
                      <a:lnTo>
                        <a:pt x="19980" y="12342"/>
                      </a:lnTo>
                      <a:lnTo>
                        <a:pt x="19980" y="10800"/>
                      </a:lnTo>
                      <a:lnTo>
                        <a:pt x="17820" y="10800"/>
                      </a:lnTo>
                      <a:close/>
                    </a:path>
                    <a:path w="21600" h="21600" extrusionOk="0">
                      <a:moveTo>
                        <a:pt x="1620" y="12342"/>
                      </a:moveTo>
                      <a:lnTo>
                        <a:pt x="1620" y="13885"/>
                      </a:lnTo>
                      <a:lnTo>
                        <a:pt x="3779" y="13885"/>
                      </a:lnTo>
                      <a:lnTo>
                        <a:pt x="3779" y="12342"/>
                      </a:lnTo>
                      <a:lnTo>
                        <a:pt x="1620" y="12342"/>
                      </a:lnTo>
                      <a:close/>
                    </a:path>
                    <a:path w="21600" h="21600" extrusionOk="0">
                      <a:moveTo>
                        <a:pt x="3779" y="12342"/>
                      </a:moveTo>
                      <a:lnTo>
                        <a:pt x="3779" y="13885"/>
                      </a:lnTo>
                      <a:lnTo>
                        <a:pt x="5940" y="13885"/>
                      </a:lnTo>
                      <a:lnTo>
                        <a:pt x="5940" y="12342"/>
                      </a:lnTo>
                      <a:lnTo>
                        <a:pt x="3779" y="12342"/>
                      </a:lnTo>
                      <a:close/>
                    </a:path>
                    <a:path w="21600" h="21600" extrusionOk="0">
                      <a:moveTo>
                        <a:pt x="5940" y="12342"/>
                      </a:moveTo>
                      <a:lnTo>
                        <a:pt x="5940" y="13885"/>
                      </a:lnTo>
                      <a:lnTo>
                        <a:pt x="8100" y="13885"/>
                      </a:lnTo>
                      <a:lnTo>
                        <a:pt x="8100" y="12342"/>
                      </a:lnTo>
                      <a:lnTo>
                        <a:pt x="5940" y="12342"/>
                      </a:lnTo>
                      <a:close/>
                    </a:path>
                    <a:path w="21600" h="21600" extrusionOk="0">
                      <a:moveTo>
                        <a:pt x="8100" y="12342"/>
                      </a:moveTo>
                      <a:lnTo>
                        <a:pt x="8100" y="13885"/>
                      </a:lnTo>
                      <a:lnTo>
                        <a:pt x="10260" y="13885"/>
                      </a:lnTo>
                      <a:lnTo>
                        <a:pt x="10260" y="12342"/>
                      </a:lnTo>
                      <a:lnTo>
                        <a:pt x="8100" y="12342"/>
                      </a:lnTo>
                      <a:close/>
                    </a:path>
                    <a:path w="21600" h="21600" extrusionOk="0">
                      <a:moveTo>
                        <a:pt x="10260" y="12342"/>
                      </a:moveTo>
                      <a:lnTo>
                        <a:pt x="10260" y="13885"/>
                      </a:lnTo>
                      <a:lnTo>
                        <a:pt x="12419" y="13885"/>
                      </a:lnTo>
                      <a:lnTo>
                        <a:pt x="12419" y="12342"/>
                      </a:lnTo>
                      <a:lnTo>
                        <a:pt x="10260" y="12342"/>
                      </a:lnTo>
                      <a:close/>
                    </a:path>
                    <a:path w="21600" h="21600" extrusionOk="0">
                      <a:moveTo>
                        <a:pt x="12419" y="12342"/>
                      </a:moveTo>
                      <a:lnTo>
                        <a:pt x="12419" y="13885"/>
                      </a:lnTo>
                      <a:lnTo>
                        <a:pt x="14580" y="13885"/>
                      </a:lnTo>
                      <a:lnTo>
                        <a:pt x="14580" y="12342"/>
                      </a:lnTo>
                      <a:lnTo>
                        <a:pt x="12419" y="12342"/>
                      </a:lnTo>
                      <a:close/>
                    </a:path>
                    <a:path w="21600" h="21600" extrusionOk="0">
                      <a:moveTo>
                        <a:pt x="14580" y="12342"/>
                      </a:moveTo>
                      <a:lnTo>
                        <a:pt x="14580" y="13885"/>
                      </a:lnTo>
                      <a:lnTo>
                        <a:pt x="16740" y="13885"/>
                      </a:lnTo>
                      <a:lnTo>
                        <a:pt x="16740" y="12342"/>
                      </a:lnTo>
                      <a:lnTo>
                        <a:pt x="14580" y="12342"/>
                      </a:lnTo>
                      <a:close/>
                    </a:path>
                    <a:path w="21600" h="21600" extrusionOk="0">
                      <a:moveTo>
                        <a:pt x="16740" y="12342"/>
                      </a:moveTo>
                      <a:lnTo>
                        <a:pt x="16740" y="13885"/>
                      </a:lnTo>
                      <a:lnTo>
                        <a:pt x="18900" y="13885"/>
                      </a:lnTo>
                      <a:lnTo>
                        <a:pt x="18900" y="12342"/>
                      </a:lnTo>
                      <a:lnTo>
                        <a:pt x="16740" y="12342"/>
                      </a:lnTo>
                      <a:close/>
                    </a:path>
                    <a:path w="21600" h="21600" extrusionOk="0">
                      <a:moveTo>
                        <a:pt x="18900" y="12342"/>
                      </a:moveTo>
                      <a:lnTo>
                        <a:pt x="18900" y="13885"/>
                      </a:lnTo>
                      <a:lnTo>
                        <a:pt x="21060" y="13885"/>
                      </a:lnTo>
                      <a:lnTo>
                        <a:pt x="21060" y="12342"/>
                      </a:lnTo>
                      <a:lnTo>
                        <a:pt x="18900" y="12342"/>
                      </a:lnTo>
                      <a:close/>
                    </a:path>
                    <a:path w="21600" h="21600" extrusionOk="0">
                      <a:moveTo>
                        <a:pt x="540" y="13885"/>
                      </a:moveTo>
                      <a:lnTo>
                        <a:pt x="540" y="15428"/>
                      </a:lnTo>
                      <a:lnTo>
                        <a:pt x="2700" y="15428"/>
                      </a:lnTo>
                      <a:lnTo>
                        <a:pt x="2700" y="13885"/>
                      </a:lnTo>
                      <a:lnTo>
                        <a:pt x="540" y="13885"/>
                      </a:lnTo>
                      <a:close/>
                    </a:path>
                    <a:path w="21600" h="21600" extrusionOk="0">
                      <a:moveTo>
                        <a:pt x="2700" y="13885"/>
                      </a:moveTo>
                      <a:lnTo>
                        <a:pt x="2700" y="15428"/>
                      </a:lnTo>
                      <a:lnTo>
                        <a:pt x="4860" y="15428"/>
                      </a:lnTo>
                      <a:lnTo>
                        <a:pt x="4860" y="13885"/>
                      </a:lnTo>
                      <a:lnTo>
                        <a:pt x="2700" y="13885"/>
                      </a:lnTo>
                      <a:close/>
                    </a:path>
                    <a:path w="21600" h="21600" extrusionOk="0">
                      <a:moveTo>
                        <a:pt x="4860" y="13885"/>
                      </a:moveTo>
                      <a:lnTo>
                        <a:pt x="4860" y="15428"/>
                      </a:lnTo>
                      <a:lnTo>
                        <a:pt x="7020" y="15428"/>
                      </a:lnTo>
                      <a:lnTo>
                        <a:pt x="7020" y="13885"/>
                      </a:lnTo>
                      <a:lnTo>
                        <a:pt x="4860" y="13885"/>
                      </a:lnTo>
                      <a:close/>
                    </a:path>
                    <a:path w="21600" h="21600" extrusionOk="0">
                      <a:moveTo>
                        <a:pt x="7020" y="13885"/>
                      </a:moveTo>
                      <a:lnTo>
                        <a:pt x="7020" y="15428"/>
                      </a:lnTo>
                      <a:lnTo>
                        <a:pt x="9180" y="15428"/>
                      </a:lnTo>
                      <a:lnTo>
                        <a:pt x="9180" y="13885"/>
                      </a:lnTo>
                      <a:lnTo>
                        <a:pt x="7020" y="13885"/>
                      </a:lnTo>
                      <a:close/>
                    </a:path>
                    <a:path w="21600" h="21600" extrusionOk="0">
                      <a:moveTo>
                        <a:pt x="9180" y="13885"/>
                      </a:moveTo>
                      <a:lnTo>
                        <a:pt x="9180" y="15428"/>
                      </a:lnTo>
                      <a:lnTo>
                        <a:pt x="11340" y="15428"/>
                      </a:lnTo>
                      <a:lnTo>
                        <a:pt x="11340" y="13885"/>
                      </a:lnTo>
                      <a:lnTo>
                        <a:pt x="9180" y="13885"/>
                      </a:lnTo>
                      <a:close/>
                    </a:path>
                    <a:path w="21600" h="21600" extrusionOk="0">
                      <a:moveTo>
                        <a:pt x="11340" y="13885"/>
                      </a:moveTo>
                      <a:lnTo>
                        <a:pt x="11340" y="15428"/>
                      </a:lnTo>
                      <a:lnTo>
                        <a:pt x="13500" y="15428"/>
                      </a:lnTo>
                      <a:lnTo>
                        <a:pt x="13500" y="13885"/>
                      </a:lnTo>
                      <a:lnTo>
                        <a:pt x="11340" y="13885"/>
                      </a:lnTo>
                      <a:close/>
                    </a:path>
                    <a:path w="21600" h="21600" extrusionOk="0">
                      <a:moveTo>
                        <a:pt x="13500" y="13885"/>
                      </a:moveTo>
                      <a:lnTo>
                        <a:pt x="13500" y="15428"/>
                      </a:lnTo>
                      <a:lnTo>
                        <a:pt x="15660" y="15428"/>
                      </a:lnTo>
                      <a:lnTo>
                        <a:pt x="15660" y="13885"/>
                      </a:lnTo>
                      <a:lnTo>
                        <a:pt x="13500" y="13885"/>
                      </a:lnTo>
                      <a:close/>
                    </a:path>
                    <a:path w="21600" h="21600" extrusionOk="0">
                      <a:moveTo>
                        <a:pt x="15660" y="13885"/>
                      </a:moveTo>
                      <a:lnTo>
                        <a:pt x="15660" y="15428"/>
                      </a:lnTo>
                      <a:lnTo>
                        <a:pt x="17820" y="15428"/>
                      </a:lnTo>
                      <a:lnTo>
                        <a:pt x="17820" y="13885"/>
                      </a:lnTo>
                      <a:lnTo>
                        <a:pt x="15660" y="13885"/>
                      </a:lnTo>
                      <a:close/>
                    </a:path>
                    <a:path w="21600" h="21600" extrusionOk="0">
                      <a:moveTo>
                        <a:pt x="17820" y="13885"/>
                      </a:moveTo>
                      <a:lnTo>
                        <a:pt x="17820" y="15428"/>
                      </a:lnTo>
                      <a:lnTo>
                        <a:pt x="19980" y="15428"/>
                      </a:lnTo>
                      <a:lnTo>
                        <a:pt x="19980" y="13885"/>
                      </a:lnTo>
                      <a:lnTo>
                        <a:pt x="17820" y="13885"/>
                      </a:lnTo>
                      <a:close/>
                    </a:path>
                    <a:path w="21600" h="21600" extrusionOk="0">
                      <a:moveTo>
                        <a:pt x="1620" y="15428"/>
                      </a:moveTo>
                      <a:lnTo>
                        <a:pt x="1620" y="16971"/>
                      </a:lnTo>
                      <a:lnTo>
                        <a:pt x="3779" y="16971"/>
                      </a:lnTo>
                      <a:lnTo>
                        <a:pt x="3779" y="15428"/>
                      </a:lnTo>
                      <a:lnTo>
                        <a:pt x="1620" y="15428"/>
                      </a:lnTo>
                      <a:close/>
                    </a:path>
                    <a:path w="21600" h="21600" extrusionOk="0">
                      <a:moveTo>
                        <a:pt x="3779" y="15428"/>
                      </a:moveTo>
                      <a:lnTo>
                        <a:pt x="3779" y="16971"/>
                      </a:lnTo>
                      <a:lnTo>
                        <a:pt x="5940" y="16971"/>
                      </a:lnTo>
                      <a:lnTo>
                        <a:pt x="5940" y="15428"/>
                      </a:lnTo>
                      <a:lnTo>
                        <a:pt x="3779" y="15428"/>
                      </a:lnTo>
                      <a:close/>
                    </a:path>
                    <a:path w="21600" h="21600" extrusionOk="0">
                      <a:moveTo>
                        <a:pt x="5940" y="15428"/>
                      </a:moveTo>
                      <a:lnTo>
                        <a:pt x="5940" y="16971"/>
                      </a:lnTo>
                      <a:lnTo>
                        <a:pt x="8100" y="16971"/>
                      </a:lnTo>
                      <a:lnTo>
                        <a:pt x="8100" y="15428"/>
                      </a:lnTo>
                      <a:lnTo>
                        <a:pt x="5940" y="15428"/>
                      </a:lnTo>
                      <a:close/>
                    </a:path>
                    <a:path w="21600" h="21600" extrusionOk="0">
                      <a:moveTo>
                        <a:pt x="8100" y="15428"/>
                      </a:moveTo>
                      <a:lnTo>
                        <a:pt x="8100" y="16971"/>
                      </a:lnTo>
                      <a:lnTo>
                        <a:pt x="10260" y="16971"/>
                      </a:lnTo>
                      <a:lnTo>
                        <a:pt x="10260" y="15428"/>
                      </a:lnTo>
                      <a:lnTo>
                        <a:pt x="8100" y="15428"/>
                      </a:lnTo>
                      <a:close/>
                    </a:path>
                    <a:path w="21600" h="21600" extrusionOk="0">
                      <a:moveTo>
                        <a:pt x="10260" y="15428"/>
                      </a:moveTo>
                      <a:lnTo>
                        <a:pt x="10260" y="16971"/>
                      </a:lnTo>
                      <a:lnTo>
                        <a:pt x="12419" y="16971"/>
                      </a:lnTo>
                      <a:lnTo>
                        <a:pt x="12419" y="15428"/>
                      </a:lnTo>
                      <a:lnTo>
                        <a:pt x="10260" y="15428"/>
                      </a:lnTo>
                      <a:close/>
                    </a:path>
                    <a:path w="21600" h="21600" extrusionOk="0">
                      <a:moveTo>
                        <a:pt x="12419" y="15428"/>
                      </a:moveTo>
                      <a:lnTo>
                        <a:pt x="12419" y="16971"/>
                      </a:lnTo>
                      <a:lnTo>
                        <a:pt x="14580" y="16971"/>
                      </a:lnTo>
                      <a:lnTo>
                        <a:pt x="14580" y="15428"/>
                      </a:lnTo>
                      <a:lnTo>
                        <a:pt x="12419" y="15428"/>
                      </a:lnTo>
                      <a:close/>
                    </a:path>
                    <a:path w="21600" h="21600" extrusionOk="0">
                      <a:moveTo>
                        <a:pt x="14580" y="15428"/>
                      </a:moveTo>
                      <a:lnTo>
                        <a:pt x="14580" y="16971"/>
                      </a:lnTo>
                      <a:lnTo>
                        <a:pt x="16740" y="16971"/>
                      </a:lnTo>
                      <a:lnTo>
                        <a:pt x="16740" y="15428"/>
                      </a:lnTo>
                      <a:lnTo>
                        <a:pt x="14580" y="15428"/>
                      </a:lnTo>
                      <a:close/>
                    </a:path>
                    <a:path w="21600" h="21600" extrusionOk="0">
                      <a:moveTo>
                        <a:pt x="16740" y="15428"/>
                      </a:moveTo>
                      <a:lnTo>
                        <a:pt x="16740" y="16971"/>
                      </a:lnTo>
                      <a:lnTo>
                        <a:pt x="18900" y="16971"/>
                      </a:lnTo>
                      <a:lnTo>
                        <a:pt x="18900" y="15428"/>
                      </a:lnTo>
                      <a:lnTo>
                        <a:pt x="16740" y="15428"/>
                      </a:lnTo>
                      <a:close/>
                    </a:path>
                    <a:path w="21600" h="21600" extrusionOk="0">
                      <a:moveTo>
                        <a:pt x="18900" y="15428"/>
                      </a:moveTo>
                      <a:lnTo>
                        <a:pt x="18900" y="16971"/>
                      </a:lnTo>
                      <a:lnTo>
                        <a:pt x="21060" y="16971"/>
                      </a:lnTo>
                      <a:lnTo>
                        <a:pt x="21060" y="15428"/>
                      </a:lnTo>
                      <a:lnTo>
                        <a:pt x="18900" y="15428"/>
                      </a:lnTo>
                      <a:close/>
                    </a:path>
                    <a:path w="21600" h="21600" extrusionOk="0">
                      <a:moveTo>
                        <a:pt x="540" y="16971"/>
                      </a:moveTo>
                      <a:lnTo>
                        <a:pt x="540" y="18514"/>
                      </a:lnTo>
                      <a:lnTo>
                        <a:pt x="2700" y="18514"/>
                      </a:lnTo>
                      <a:lnTo>
                        <a:pt x="2700" y="16971"/>
                      </a:lnTo>
                      <a:lnTo>
                        <a:pt x="540" y="16971"/>
                      </a:lnTo>
                      <a:close/>
                    </a:path>
                    <a:path w="21600" h="21600" extrusionOk="0">
                      <a:moveTo>
                        <a:pt x="2700" y="16971"/>
                      </a:moveTo>
                      <a:lnTo>
                        <a:pt x="2700" y="18514"/>
                      </a:lnTo>
                      <a:lnTo>
                        <a:pt x="4860" y="18514"/>
                      </a:lnTo>
                      <a:lnTo>
                        <a:pt x="4860" y="16971"/>
                      </a:lnTo>
                      <a:lnTo>
                        <a:pt x="2700" y="16971"/>
                      </a:lnTo>
                      <a:close/>
                    </a:path>
                    <a:path w="21600" h="21600" extrusionOk="0">
                      <a:moveTo>
                        <a:pt x="4860" y="16971"/>
                      </a:moveTo>
                      <a:lnTo>
                        <a:pt x="4860" y="18514"/>
                      </a:lnTo>
                      <a:lnTo>
                        <a:pt x="7020" y="18514"/>
                      </a:lnTo>
                      <a:lnTo>
                        <a:pt x="7020" y="16971"/>
                      </a:lnTo>
                      <a:lnTo>
                        <a:pt x="4860" y="16971"/>
                      </a:lnTo>
                      <a:close/>
                    </a:path>
                    <a:path w="21600" h="21600" extrusionOk="0">
                      <a:moveTo>
                        <a:pt x="7020" y="16971"/>
                      </a:moveTo>
                      <a:lnTo>
                        <a:pt x="7020" y="18514"/>
                      </a:lnTo>
                      <a:lnTo>
                        <a:pt x="9180" y="18514"/>
                      </a:lnTo>
                      <a:lnTo>
                        <a:pt x="9180" y="16971"/>
                      </a:lnTo>
                      <a:lnTo>
                        <a:pt x="7020" y="16971"/>
                      </a:lnTo>
                      <a:close/>
                    </a:path>
                    <a:path w="21600" h="21600" extrusionOk="0">
                      <a:moveTo>
                        <a:pt x="9180" y="16971"/>
                      </a:moveTo>
                      <a:lnTo>
                        <a:pt x="9180" y="18514"/>
                      </a:lnTo>
                      <a:lnTo>
                        <a:pt x="11340" y="18514"/>
                      </a:lnTo>
                      <a:lnTo>
                        <a:pt x="11340" y="16971"/>
                      </a:lnTo>
                      <a:lnTo>
                        <a:pt x="9180" y="16971"/>
                      </a:lnTo>
                      <a:close/>
                    </a:path>
                    <a:path w="21600" h="21600" extrusionOk="0">
                      <a:moveTo>
                        <a:pt x="11340" y="16971"/>
                      </a:moveTo>
                      <a:lnTo>
                        <a:pt x="11340" y="18514"/>
                      </a:lnTo>
                      <a:lnTo>
                        <a:pt x="13500" y="18514"/>
                      </a:lnTo>
                      <a:lnTo>
                        <a:pt x="13500" y="16971"/>
                      </a:lnTo>
                      <a:lnTo>
                        <a:pt x="11340" y="16971"/>
                      </a:lnTo>
                      <a:close/>
                    </a:path>
                    <a:path w="21600" h="21600" extrusionOk="0">
                      <a:moveTo>
                        <a:pt x="13500" y="16971"/>
                      </a:moveTo>
                      <a:lnTo>
                        <a:pt x="13500" y="18514"/>
                      </a:lnTo>
                      <a:lnTo>
                        <a:pt x="15660" y="18514"/>
                      </a:lnTo>
                      <a:lnTo>
                        <a:pt x="15660" y="16971"/>
                      </a:lnTo>
                      <a:lnTo>
                        <a:pt x="13500" y="16971"/>
                      </a:lnTo>
                      <a:close/>
                    </a:path>
                    <a:path w="21600" h="21600" extrusionOk="0">
                      <a:moveTo>
                        <a:pt x="15660" y="16971"/>
                      </a:moveTo>
                      <a:lnTo>
                        <a:pt x="15660" y="18514"/>
                      </a:lnTo>
                      <a:lnTo>
                        <a:pt x="17820" y="18514"/>
                      </a:lnTo>
                      <a:lnTo>
                        <a:pt x="17820" y="16971"/>
                      </a:lnTo>
                      <a:lnTo>
                        <a:pt x="15660" y="16971"/>
                      </a:lnTo>
                      <a:close/>
                    </a:path>
                    <a:path w="21600" h="21600" extrusionOk="0">
                      <a:moveTo>
                        <a:pt x="17820" y="16971"/>
                      </a:moveTo>
                      <a:lnTo>
                        <a:pt x="17820" y="18514"/>
                      </a:lnTo>
                      <a:lnTo>
                        <a:pt x="19980" y="18514"/>
                      </a:lnTo>
                      <a:lnTo>
                        <a:pt x="19980" y="16971"/>
                      </a:lnTo>
                      <a:lnTo>
                        <a:pt x="17820" y="16971"/>
                      </a:lnTo>
                      <a:close/>
                    </a:path>
                    <a:path w="21600" h="21600" extrusionOk="0">
                      <a:moveTo>
                        <a:pt x="1620" y="18514"/>
                      </a:moveTo>
                      <a:lnTo>
                        <a:pt x="1620" y="20057"/>
                      </a:lnTo>
                      <a:lnTo>
                        <a:pt x="3779" y="20057"/>
                      </a:lnTo>
                      <a:lnTo>
                        <a:pt x="3779" y="18514"/>
                      </a:lnTo>
                      <a:lnTo>
                        <a:pt x="1620" y="18514"/>
                      </a:lnTo>
                      <a:close/>
                    </a:path>
                    <a:path w="21600" h="21600" extrusionOk="0">
                      <a:moveTo>
                        <a:pt x="3779" y="18514"/>
                      </a:moveTo>
                      <a:lnTo>
                        <a:pt x="3779" y="20057"/>
                      </a:lnTo>
                      <a:lnTo>
                        <a:pt x="5940" y="20057"/>
                      </a:lnTo>
                      <a:lnTo>
                        <a:pt x="5940" y="18514"/>
                      </a:lnTo>
                      <a:lnTo>
                        <a:pt x="3779" y="18514"/>
                      </a:lnTo>
                      <a:close/>
                    </a:path>
                    <a:path w="21600" h="21600" extrusionOk="0">
                      <a:moveTo>
                        <a:pt x="5940" y="18514"/>
                      </a:moveTo>
                      <a:lnTo>
                        <a:pt x="5940" y="20057"/>
                      </a:lnTo>
                      <a:lnTo>
                        <a:pt x="8100" y="20057"/>
                      </a:lnTo>
                      <a:lnTo>
                        <a:pt x="8100" y="18514"/>
                      </a:lnTo>
                      <a:lnTo>
                        <a:pt x="5940" y="18514"/>
                      </a:lnTo>
                      <a:close/>
                    </a:path>
                    <a:path w="21600" h="21600" extrusionOk="0">
                      <a:moveTo>
                        <a:pt x="8100" y="18514"/>
                      </a:moveTo>
                      <a:lnTo>
                        <a:pt x="8100" y="20057"/>
                      </a:lnTo>
                      <a:lnTo>
                        <a:pt x="10260" y="20057"/>
                      </a:lnTo>
                      <a:lnTo>
                        <a:pt x="10260" y="18514"/>
                      </a:lnTo>
                      <a:lnTo>
                        <a:pt x="8100" y="18514"/>
                      </a:lnTo>
                      <a:close/>
                    </a:path>
                    <a:path w="21600" h="21600" extrusionOk="0">
                      <a:moveTo>
                        <a:pt x="10260" y="18514"/>
                      </a:moveTo>
                      <a:lnTo>
                        <a:pt x="10260" y="20057"/>
                      </a:lnTo>
                      <a:lnTo>
                        <a:pt x="12419" y="20057"/>
                      </a:lnTo>
                      <a:lnTo>
                        <a:pt x="12419" y="18514"/>
                      </a:lnTo>
                      <a:lnTo>
                        <a:pt x="10260" y="18514"/>
                      </a:lnTo>
                      <a:close/>
                    </a:path>
                    <a:path w="21600" h="21600" extrusionOk="0">
                      <a:moveTo>
                        <a:pt x="12419" y="18514"/>
                      </a:moveTo>
                      <a:lnTo>
                        <a:pt x="12419" y="20057"/>
                      </a:lnTo>
                      <a:lnTo>
                        <a:pt x="14580" y="20057"/>
                      </a:lnTo>
                      <a:lnTo>
                        <a:pt x="14580" y="18514"/>
                      </a:lnTo>
                      <a:lnTo>
                        <a:pt x="12419" y="18514"/>
                      </a:lnTo>
                      <a:close/>
                    </a:path>
                    <a:path w="21600" h="21600" extrusionOk="0">
                      <a:moveTo>
                        <a:pt x="14580" y="18514"/>
                      </a:moveTo>
                      <a:lnTo>
                        <a:pt x="14580" y="20057"/>
                      </a:lnTo>
                      <a:lnTo>
                        <a:pt x="16740" y="20057"/>
                      </a:lnTo>
                      <a:lnTo>
                        <a:pt x="16740" y="18514"/>
                      </a:lnTo>
                      <a:lnTo>
                        <a:pt x="14580" y="18514"/>
                      </a:lnTo>
                      <a:close/>
                    </a:path>
                    <a:path w="21600" h="21600" extrusionOk="0">
                      <a:moveTo>
                        <a:pt x="16740" y="18514"/>
                      </a:moveTo>
                      <a:lnTo>
                        <a:pt x="16740" y="20057"/>
                      </a:lnTo>
                      <a:lnTo>
                        <a:pt x="18900" y="20057"/>
                      </a:lnTo>
                      <a:lnTo>
                        <a:pt x="18900" y="18514"/>
                      </a:lnTo>
                      <a:lnTo>
                        <a:pt x="16740" y="18514"/>
                      </a:lnTo>
                      <a:close/>
                    </a:path>
                    <a:path w="21600" h="21600" extrusionOk="0">
                      <a:moveTo>
                        <a:pt x="18900" y="18514"/>
                      </a:moveTo>
                      <a:lnTo>
                        <a:pt x="18900" y="20057"/>
                      </a:lnTo>
                      <a:lnTo>
                        <a:pt x="21060" y="20057"/>
                      </a:lnTo>
                      <a:lnTo>
                        <a:pt x="21060" y="18514"/>
                      </a:lnTo>
                      <a:lnTo>
                        <a:pt x="18900" y="18514"/>
                      </a:lnTo>
                      <a:close/>
                    </a:path>
                    <a:path w="21600" h="21600" extrusionOk="0">
                      <a:moveTo>
                        <a:pt x="540" y="20057"/>
                      </a:moveTo>
                      <a:lnTo>
                        <a:pt x="540" y="21600"/>
                      </a:lnTo>
                      <a:lnTo>
                        <a:pt x="2700" y="21600"/>
                      </a:lnTo>
                      <a:lnTo>
                        <a:pt x="2700" y="20057"/>
                      </a:lnTo>
                      <a:lnTo>
                        <a:pt x="540" y="20057"/>
                      </a:lnTo>
                      <a:close/>
                    </a:path>
                    <a:path w="21600" h="21600" extrusionOk="0">
                      <a:moveTo>
                        <a:pt x="2700" y="20057"/>
                      </a:moveTo>
                      <a:lnTo>
                        <a:pt x="2700" y="21600"/>
                      </a:lnTo>
                      <a:lnTo>
                        <a:pt x="4860" y="21600"/>
                      </a:lnTo>
                      <a:lnTo>
                        <a:pt x="4860" y="20057"/>
                      </a:lnTo>
                      <a:lnTo>
                        <a:pt x="2700" y="20057"/>
                      </a:lnTo>
                      <a:close/>
                    </a:path>
                    <a:path w="21600" h="21600" extrusionOk="0">
                      <a:moveTo>
                        <a:pt x="4860" y="20057"/>
                      </a:moveTo>
                      <a:lnTo>
                        <a:pt x="4860" y="21600"/>
                      </a:lnTo>
                      <a:lnTo>
                        <a:pt x="7020" y="21600"/>
                      </a:lnTo>
                      <a:lnTo>
                        <a:pt x="7020" y="20057"/>
                      </a:lnTo>
                      <a:lnTo>
                        <a:pt x="4860" y="20057"/>
                      </a:lnTo>
                      <a:close/>
                    </a:path>
                    <a:path w="21600" h="21600" extrusionOk="0">
                      <a:moveTo>
                        <a:pt x="7020" y="20057"/>
                      </a:moveTo>
                      <a:lnTo>
                        <a:pt x="7020" y="21600"/>
                      </a:lnTo>
                      <a:lnTo>
                        <a:pt x="9180" y="21600"/>
                      </a:lnTo>
                      <a:lnTo>
                        <a:pt x="9180" y="20057"/>
                      </a:lnTo>
                      <a:lnTo>
                        <a:pt x="7020" y="20057"/>
                      </a:lnTo>
                      <a:close/>
                    </a:path>
                    <a:path w="21600" h="21600" extrusionOk="0">
                      <a:moveTo>
                        <a:pt x="9180" y="20057"/>
                      </a:moveTo>
                      <a:lnTo>
                        <a:pt x="9180" y="21600"/>
                      </a:lnTo>
                      <a:lnTo>
                        <a:pt x="11340" y="21600"/>
                      </a:lnTo>
                      <a:lnTo>
                        <a:pt x="11340" y="20057"/>
                      </a:lnTo>
                      <a:lnTo>
                        <a:pt x="9180" y="20057"/>
                      </a:lnTo>
                      <a:close/>
                    </a:path>
                    <a:path w="21600" h="21600" extrusionOk="0">
                      <a:moveTo>
                        <a:pt x="11340" y="20057"/>
                      </a:moveTo>
                      <a:lnTo>
                        <a:pt x="11340" y="21600"/>
                      </a:lnTo>
                      <a:lnTo>
                        <a:pt x="13500" y="21600"/>
                      </a:lnTo>
                      <a:lnTo>
                        <a:pt x="13500" y="20057"/>
                      </a:lnTo>
                      <a:lnTo>
                        <a:pt x="11340" y="20057"/>
                      </a:lnTo>
                      <a:close/>
                    </a:path>
                    <a:path w="21600" h="21600" extrusionOk="0">
                      <a:moveTo>
                        <a:pt x="13500" y="20057"/>
                      </a:moveTo>
                      <a:lnTo>
                        <a:pt x="13500" y="21600"/>
                      </a:lnTo>
                      <a:lnTo>
                        <a:pt x="15660" y="21600"/>
                      </a:lnTo>
                      <a:lnTo>
                        <a:pt x="15660" y="20057"/>
                      </a:lnTo>
                      <a:lnTo>
                        <a:pt x="13500" y="20057"/>
                      </a:lnTo>
                      <a:close/>
                    </a:path>
                    <a:path w="21600" h="21600" extrusionOk="0">
                      <a:moveTo>
                        <a:pt x="15660" y="20057"/>
                      </a:moveTo>
                      <a:lnTo>
                        <a:pt x="15660" y="21600"/>
                      </a:lnTo>
                      <a:lnTo>
                        <a:pt x="17820" y="21600"/>
                      </a:lnTo>
                      <a:lnTo>
                        <a:pt x="17820" y="20057"/>
                      </a:lnTo>
                      <a:lnTo>
                        <a:pt x="15660" y="20057"/>
                      </a:lnTo>
                      <a:close/>
                    </a:path>
                    <a:path w="21600" h="21600" extrusionOk="0">
                      <a:moveTo>
                        <a:pt x="17820" y="20057"/>
                      </a:moveTo>
                      <a:lnTo>
                        <a:pt x="17820" y="21600"/>
                      </a:lnTo>
                      <a:lnTo>
                        <a:pt x="19980" y="21600"/>
                      </a:lnTo>
                      <a:lnTo>
                        <a:pt x="19980" y="20057"/>
                      </a:lnTo>
                      <a:lnTo>
                        <a:pt x="17820" y="20057"/>
                      </a:lnTo>
                      <a:close/>
                    </a:path>
                    <a:path w="21600" h="21600" extrusionOk="0">
                      <a:moveTo>
                        <a:pt x="19980" y="4628"/>
                      </a:moveTo>
                      <a:lnTo>
                        <a:pt x="21060" y="4628"/>
                      </a:lnTo>
                      <a:lnTo>
                        <a:pt x="21060" y="6171"/>
                      </a:lnTo>
                      <a:lnTo>
                        <a:pt x="19980" y="6171"/>
                      </a:lnTo>
                      <a:lnTo>
                        <a:pt x="19980" y="4628"/>
                      </a:lnTo>
                      <a:close/>
                    </a:path>
                  </a:pathLst>
                </a:custGeom>
                <a:solidFill>
                  <a:srgbClr val="996633"/>
                </a:solidFill>
                <a:ln w="9525">
                  <a:solidFill>
                    <a:srgbClr val="000000"/>
                  </a:solidFill>
                  <a:miter lim="800000"/>
                </a:ln>
                <a:effectLst/>
              </p:spPr>
              <p:txBody>
                <a:bodyPr/>
                <a:lstStyle/>
                <a:p>
                  <a:endParaRPr lang="en-US" sz="1350"/>
                </a:p>
              </p:txBody>
            </p:sp>
          </p:grpSp>
          <p:grpSp>
            <p:nvGrpSpPr>
              <p:cNvPr id="27" name="Group 50"/>
              <p:cNvGrpSpPr/>
              <p:nvPr/>
            </p:nvGrpSpPr>
            <p:grpSpPr bwMode="auto">
              <a:xfrm>
                <a:off x="2640" y="3504"/>
                <a:ext cx="368" cy="104"/>
                <a:chOff x="2272" y="3344"/>
                <a:chExt cx="368" cy="104"/>
              </a:xfrm>
            </p:grpSpPr>
            <p:sp>
              <p:nvSpPr>
                <p:cNvPr id="28" name="Oval 51"/>
                <p:cNvSpPr>
                  <a:spLocks noChangeArrowheads="1"/>
                </p:cNvSpPr>
                <p:nvPr/>
              </p:nvSpPr>
              <p:spPr bwMode="auto">
                <a:xfrm>
                  <a:off x="2272" y="3344"/>
                  <a:ext cx="120" cy="104"/>
                </a:xfrm>
                <a:prstGeom prst="ellipse">
                  <a:avLst/>
                </a:prstGeom>
                <a:solidFill>
                  <a:srgbClr val="CC3300"/>
                </a:solidFill>
                <a:ln w="12700">
                  <a:solidFill>
                    <a:srgbClr val="008000"/>
                  </a:solidFill>
                  <a:round/>
                </a:ln>
                <a:effectLst/>
              </p:spPr>
              <p:txBody>
                <a:bodyPr wrap="none" anchor="ctr"/>
                <a:lstStyle/>
                <a:p>
                  <a:endParaRPr lang="en-US" sz="1350"/>
                </a:p>
              </p:txBody>
            </p:sp>
            <p:sp>
              <p:nvSpPr>
                <p:cNvPr id="29" name="Oval 52"/>
                <p:cNvSpPr>
                  <a:spLocks noChangeArrowheads="1"/>
                </p:cNvSpPr>
                <p:nvPr/>
              </p:nvSpPr>
              <p:spPr bwMode="auto">
                <a:xfrm>
                  <a:off x="2392" y="3344"/>
                  <a:ext cx="120" cy="104"/>
                </a:xfrm>
                <a:prstGeom prst="ellipse">
                  <a:avLst/>
                </a:prstGeom>
                <a:solidFill>
                  <a:srgbClr val="CC3300"/>
                </a:solidFill>
                <a:ln w="12700">
                  <a:solidFill>
                    <a:srgbClr val="008000"/>
                  </a:solidFill>
                  <a:round/>
                </a:ln>
                <a:effectLst/>
              </p:spPr>
              <p:txBody>
                <a:bodyPr wrap="none" anchor="ctr"/>
                <a:lstStyle/>
                <a:p>
                  <a:endParaRPr lang="en-US" sz="1350"/>
                </a:p>
              </p:txBody>
            </p:sp>
            <p:sp>
              <p:nvSpPr>
                <p:cNvPr id="30" name="Oval 53"/>
                <p:cNvSpPr>
                  <a:spLocks noChangeArrowheads="1"/>
                </p:cNvSpPr>
                <p:nvPr/>
              </p:nvSpPr>
              <p:spPr bwMode="auto">
                <a:xfrm>
                  <a:off x="2520" y="3344"/>
                  <a:ext cx="120" cy="104"/>
                </a:xfrm>
                <a:prstGeom prst="ellipse">
                  <a:avLst/>
                </a:prstGeom>
                <a:solidFill>
                  <a:srgbClr val="CC3300"/>
                </a:solidFill>
                <a:ln w="12700">
                  <a:solidFill>
                    <a:srgbClr val="008000"/>
                  </a:solidFill>
                  <a:round/>
                </a:ln>
                <a:effectLst/>
              </p:spPr>
              <p:txBody>
                <a:bodyPr wrap="none" anchor="ctr"/>
                <a:lstStyle/>
                <a:p>
                  <a:endParaRPr lang="en-US" sz="1350"/>
                </a:p>
              </p:txBody>
            </p:sp>
          </p:grpSp>
        </p:grpSp>
      </p:grpSp>
      <p:sp>
        <p:nvSpPr>
          <p:cNvPr id="37" name="Rectangle 36"/>
          <p:cNvSpPr/>
          <p:nvPr/>
        </p:nvSpPr>
        <p:spPr>
          <a:xfrm>
            <a:off x="2969581" y="2529923"/>
            <a:ext cx="1207008" cy="178308"/>
          </a:xfrm>
          <a:prstGeom prst="rect">
            <a:avLst/>
          </a:prstGeom>
        </p:spPr>
        <p:txBody>
          <a:bodyPr wrap="none" lIns="0" tIns="0" rIns="0" bIns="0">
            <a:noAutofit/>
          </a:bodyPr>
          <a:lstStyle/>
          <a:p>
            <a:r>
              <a:rPr lang="en-US" sz="1875" dirty="0">
                <a:solidFill>
                  <a:srgbClr val="3A3D3A"/>
                </a:solidFill>
                <a:latin typeface="Arial" panose="020B0604020202020204"/>
              </a:rPr>
              <a:t>Bird</a:t>
            </a:r>
          </a:p>
          <a:p>
            <a:r>
              <a:rPr lang="en-US" sz="1875" dirty="0">
                <a:solidFill>
                  <a:srgbClr val="3A3D3A"/>
                </a:solidFill>
                <a:latin typeface="Arial" panose="020B0604020202020204"/>
              </a:rPr>
              <a:t>Communication</a:t>
            </a:r>
          </a:p>
        </p:txBody>
      </p:sp>
      <p:sp>
        <p:nvSpPr>
          <p:cNvPr id="38" name="Rectangle 37"/>
          <p:cNvSpPr/>
          <p:nvPr/>
        </p:nvSpPr>
        <p:spPr>
          <a:xfrm>
            <a:off x="4958387" y="2543354"/>
            <a:ext cx="1207008" cy="178308"/>
          </a:xfrm>
          <a:prstGeom prst="rect">
            <a:avLst/>
          </a:prstGeom>
        </p:spPr>
        <p:txBody>
          <a:bodyPr wrap="none" lIns="0" tIns="0" rIns="0" bIns="0">
            <a:noAutofit/>
          </a:bodyPr>
          <a:lstStyle/>
          <a:p>
            <a:r>
              <a:rPr lang="en-US" sz="1875" dirty="0">
                <a:solidFill>
                  <a:srgbClr val="3A3D3A"/>
                </a:solidFill>
                <a:latin typeface="Arial" panose="020B0604020202020204"/>
              </a:rPr>
              <a:t>Multi-hop</a:t>
            </a:r>
          </a:p>
          <a:p>
            <a:r>
              <a:rPr lang="en-US" sz="1875" dirty="0">
                <a:solidFill>
                  <a:srgbClr val="3A3D3A"/>
                </a:solidFill>
                <a:latin typeface="Arial" panose="020B0604020202020204"/>
              </a:rPr>
              <a:t>Ad Hoc</a:t>
            </a:r>
          </a:p>
        </p:txBody>
      </p:sp>
      <p:sp>
        <p:nvSpPr>
          <p:cNvPr id="39" name="Rounded Rectangle 38"/>
          <p:cNvSpPr/>
          <p:nvPr/>
        </p:nvSpPr>
        <p:spPr>
          <a:xfrm>
            <a:off x="7281584" y="2922385"/>
            <a:ext cx="225435" cy="1186955"/>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40" name="Rounded Rectangle 39"/>
          <p:cNvSpPr/>
          <p:nvPr/>
        </p:nvSpPr>
        <p:spPr>
          <a:xfrm rot="5400000">
            <a:off x="8062268" y="3403142"/>
            <a:ext cx="225435" cy="1186955"/>
          </a:xfrm>
          <a:prstGeom prst="roundRect">
            <a:avLst>
              <a:gd name="adj" fmla="val 50000"/>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41" name="Right Arrow 40"/>
          <p:cNvSpPr/>
          <p:nvPr/>
        </p:nvSpPr>
        <p:spPr>
          <a:xfrm>
            <a:off x="884543" y="5270943"/>
            <a:ext cx="7082841" cy="200040"/>
          </a:xfrm>
          <a:prstGeom prst="rightArrow">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42" name="Rectangle 41"/>
          <p:cNvSpPr/>
          <p:nvPr/>
        </p:nvSpPr>
        <p:spPr>
          <a:xfrm>
            <a:off x="8128748" y="5285040"/>
            <a:ext cx="90768" cy="142187"/>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43" name="Rectangle 42"/>
          <p:cNvSpPr/>
          <p:nvPr/>
        </p:nvSpPr>
        <p:spPr>
          <a:xfrm>
            <a:off x="8332624" y="5285040"/>
            <a:ext cx="90768" cy="142187"/>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44" name="Rectangle 43"/>
          <p:cNvSpPr/>
          <p:nvPr/>
        </p:nvSpPr>
        <p:spPr>
          <a:xfrm>
            <a:off x="8536500" y="5285040"/>
            <a:ext cx="90768" cy="142187"/>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45" name="TextBox 44"/>
          <p:cNvSpPr txBox="1"/>
          <p:nvPr/>
        </p:nvSpPr>
        <p:spPr>
          <a:xfrm>
            <a:off x="1260355" y="4960753"/>
            <a:ext cx="6028343" cy="369332"/>
          </a:xfrm>
          <a:prstGeom prst="rect">
            <a:avLst/>
          </a:prstGeom>
          <a:solidFill>
            <a:schemeClr val="bg1"/>
          </a:solidFill>
        </p:spPr>
        <p:txBody>
          <a:bodyPr wrap="square" rtlCol="0">
            <a:spAutoFit/>
          </a:bodyPr>
          <a:lstStyle/>
          <a:p>
            <a:pPr algn="ctr"/>
            <a:r>
              <a:rPr lang="en-US" dirty="0"/>
              <a:t>…………………………Timeline…………………………</a:t>
            </a:r>
            <a:endParaRPr lang="en-GB" dirty="0"/>
          </a:p>
        </p:txBody>
      </p:sp>
      <p:sp>
        <p:nvSpPr>
          <p:cNvPr id="46" name="TextBox 45"/>
          <p:cNvSpPr txBox="1"/>
          <p:nvPr/>
        </p:nvSpPr>
        <p:spPr>
          <a:xfrm>
            <a:off x="894626" y="4960752"/>
            <a:ext cx="412292" cy="323165"/>
          </a:xfrm>
          <a:prstGeom prst="rect">
            <a:avLst/>
          </a:prstGeom>
          <a:solidFill>
            <a:schemeClr val="bg1"/>
          </a:solidFill>
        </p:spPr>
        <p:txBody>
          <a:bodyPr wrap="none" rtlCol="0">
            <a:spAutoFit/>
          </a:bodyPr>
          <a:lstStyle/>
          <a:p>
            <a:r>
              <a:rPr lang="en-US" sz="1500" dirty="0"/>
              <a:t>BC</a:t>
            </a:r>
            <a:endParaRPr lang="en-GB" sz="1500" dirty="0"/>
          </a:p>
        </p:txBody>
      </p:sp>
      <p:sp>
        <p:nvSpPr>
          <p:cNvPr id="47" name="TextBox 46"/>
          <p:cNvSpPr txBox="1"/>
          <p:nvPr/>
        </p:nvSpPr>
        <p:spPr>
          <a:xfrm>
            <a:off x="7288699" y="4960752"/>
            <a:ext cx="464740" cy="323165"/>
          </a:xfrm>
          <a:prstGeom prst="rect">
            <a:avLst/>
          </a:prstGeom>
          <a:solidFill>
            <a:schemeClr val="bg1"/>
          </a:solidFill>
        </p:spPr>
        <p:txBody>
          <a:bodyPr wrap="square" rtlCol="0">
            <a:spAutoFit/>
          </a:bodyPr>
          <a:lstStyle/>
          <a:p>
            <a:r>
              <a:rPr lang="en-US" sz="1500" dirty="0"/>
              <a:t>AD</a:t>
            </a:r>
            <a:endParaRPr lang="en-GB" sz="1500" dirty="0"/>
          </a:p>
        </p:txBody>
      </p:sp>
      <p:sp>
        <p:nvSpPr>
          <p:cNvPr id="48" name="TextBox 47"/>
          <p:cNvSpPr txBox="1"/>
          <p:nvPr/>
        </p:nvSpPr>
        <p:spPr>
          <a:xfrm>
            <a:off x="7743354" y="4967359"/>
            <a:ext cx="1263166" cy="323165"/>
          </a:xfrm>
          <a:prstGeom prst="rect">
            <a:avLst/>
          </a:prstGeom>
          <a:noFill/>
        </p:spPr>
        <p:txBody>
          <a:bodyPr wrap="none" rtlCol="0">
            <a:spAutoFit/>
          </a:bodyPr>
          <a:lstStyle/>
          <a:p>
            <a:r>
              <a:rPr lang="en-US" sz="1500" b="1" dirty="0">
                <a:solidFill>
                  <a:srgbClr val="FF0000"/>
                </a:solidFill>
              </a:rPr>
              <a:t>Current Time</a:t>
            </a:r>
            <a:endParaRPr lang="en-GB" sz="1500" b="1" dirty="0">
              <a:solidFill>
                <a:srgbClr val="FF0000"/>
              </a:solidFill>
            </a:endParaRPr>
          </a:p>
        </p:txBody>
      </p:sp>
      <p:sp>
        <p:nvSpPr>
          <p:cNvPr id="49" name="Rectangle 48"/>
          <p:cNvSpPr/>
          <p:nvPr/>
        </p:nvSpPr>
        <p:spPr>
          <a:xfrm>
            <a:off x="894626" y="1170598"/>
            <a:ext cx="7658647" cy="830997"/>
          </a:xfrm>
          <a:prstGeom prst="rect">
            <a:avLst/>
          </a:prstGeom>
        </p:spPr>
        <p:txBody>
          <a:bodyPr wrap="square">
            <a:spAutoFit/>
          </a:bodyPr>
          <a:lstStyle/>
          <a:p>
            <a:r>
              <a:rPr lang="en-US" sz="2400" dirty="0"/>
              <a:t>Communication systems are designed to transmit information from one place to another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13486" y="132520"/>
            <a:ext cx="8613913" cy="800074"/>
          </a:xfrm>
        </p:spPr>
        <p:txBody>
          <a:bodyPr>
            <a:normAutofit/>
          </a:bodyPr>
          <a:lstStyle/>
          <a:p>
            <a:r>
              <a:rPr lang="en-US" sz="4000" dirty="0"/>
              <a:t>Introduction to Communication Systems</a:t>
            </a:r>
            <a:endParaRPr lang="en-GB" sz="4000" dirty="0"/>
          </a:p>
        </p:txBody>
      </p:sp>
      <p:sp>
        <p:nvSpPr>
          <p:cNvPr id="3" name="Content Placeholder 2"/>
          <p:cNvSpPr>
            <a:spLocks noGrp="1"/>
          </p:cNvSpPr>
          <p:nvPr>
            <p:ph idx="1"/>
          </p:nvPr>
        </p:nvSpPr>
        <p:spPr/>
        <p:txBody>
          <a:bodyPr>
            <a:normAutofit fontScale="92500" lnSpcReduction="20000"/>
          </a:bodyPr>
          <a:lstStyle/>
          <a:p>
            <a:r>
              <a:rPr lang="en-US" dirty="0"/>
              <a:t>What are communication systems?</a:t>
            </a:r>
          </a:p>
          <a:p>
            <a:pPr lvl="1">
              <a:buFont typeface="Wingdings" panose="05000000000000000000" pitchFamily="2" charset="2"/>
              <a:buChar char="ü"/>
            </a:pPr>
            <a:r>
              <a:rPr lang="en-US" dirty="0"/>
              <a:t>systems designed for the purpose of transmission and reception of information</a:t>
            </a:r>
          </a:p>
          <a:p>
            <a:r>
              <a:rPr lang="en-US" dirty="0"/>
              <a:t>Electrical engineer is concern about solving communication and electric energy problems such as computers, electrical and electronic circuits, electronic devices, photonics, electromagnetics, etc.</a:t>
            </a:r>
          </a:p>
          <a:p>
            <a:r>
              <a:rPr lang="en-US" dirty="0"/>
              <a:t>Areas of application – Analog communication</a:t>
            </a:r>
          </a:p>
          <a:p>
            <a:pPr lvl="1">
              <a:buFont typeface="Wingdings" panose="05000000000000000000" pitchFamily="2" charset="2"/>
              <a:buChar char="ü"/>
            </a:pPr>
            <a:r>
              <a:rPr lang="en-US" altLang="en-US" dirty="0"/>
              <a:t>Old telephone networks</a:t>
            </a:r>
          </a:p>
          <a:p>
            <a:pPr lvl="1">
              <a:buFont typeface="Wingdings" panose="05000000000000000000" pitchFamily="2" charset="2"/>
              <a:buChar char="ü"/>
            </a:pPr>
            <a:r>
              <a:rPr lang="en-US" altLang="en-US" dirty="0"/>
              <a:t>Most television broadcasting at present</a:t>
            </a:r>
          </a:p>
          <a:p>
            <a:pPr lvl="1">
              <a:buFont typeface="Wingdings" panose="05000000000000000000" pitchFamily="2" charset="2"/>
              <a:buChar char="ü"/>
            </a:pPr>
            <a:r>
              <a:rPr lang="en-US" altLang="en-US" dirty="0"/>
              <a:t>Radio broadcasting</a:t>
            </a:r>
          </a:p>
          <a:p>
            <a:pPr lvl="1">
              <a:buFont typeface="Wingdings" panose="05000000000000000000" pitchFamily="2" charset="2"/>
              <a:buChar char="ü"/>
            </a:pPr>
            <a:r>
              <a:rPr lang="en-US" dirty="0"/>
              <a:t>Digital data transmission – analog channel</a:t>
            </a:r>
          </a:p>
        </p:txBody>
      </p:sp>
      <p:sp>
        <p:nvSpPr>
          <p:cNvPr id="2" name="Slide Number Placeholder 1"/>
          <p:cNvSpPr>
            <a:spLocks noGrp="1"/>
          </p:cNvSpPr>
          <p:nvPr>
            <p:ph type="sldNum" sz="quarter" idx="12"/>
          </p:nvPr>
        </p:nvSpPr>
        <p:spPr/>
        <p:txBody>
          <a:bodyPr/>
          <a:lstStyle/>
          <a:p>
            <a:fld id="{D57F1E4F-1CFF-5643-939E-217C01CDF565}" type="slidenum">
              <a:rPr lang="en-US" smtClean="0"/>
              <a:t>9</a:t>
            </a:fld>
            <a:endParaRPr lang="en-US" dirty="0"/>
          </a:p>
        </p:txBody>
      </p:sp>
      <p:pic>
        <p:nvPicPr>
          <p:cNvPr id="7" name="Picture 6"/>
          <p:cNvPicPr>
            <a:picLocks noChangeAspect="1"/>
          </p:cNvPicPr>
          <p:nvPr/>
        </p:nvPicPr>
        <p:blipFill>
          <a:blip r:embed="rId3">
            <a:lum bright="-40000" contrast="20000"/>
          </a:blip>
          <a:stretch>
            <a:fillRect/>
          </a:stretch>
        </p:blipFill>
        <p:spPr>
          <a:xfrm flipH="1">
            <a:off x="6215350" y="3132466"/>
            <a:ext cx="2577845" cy="23838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Types of Communication Systems and Sources</a:t>
            </a:r>
            <a:endParaRPr lang="en-GB" sz="3600" dirty="0"/>
          </a:p>
        </p:txBody>
      </p:sp>
      <p:sp>
        <p:nvSpPr>
          <p:cNvPr id="3" name="Content Placeholder 2"/>
          <p:cNvSpPr>
            <a:spLocks noGrp="1"/>
          </p:cNvSpPr>
          <p:nvPr>
            <p:ph idx="1"/>
          </p:nvPr>
        </p:nvSpPr>
        <p:spPr>
          <a:xfrm>
            <a:off x="338203" y="1358292"/>
            <a:ext cx="4207291" cy="3502478"/>
          </a:xfrm>
        </p:spPr>
        <p:txBody>
          <a:bodyPr>
            <a:noAutofit/>
          </a:bodyPr>
          <a:lstStyle/>
          <a:p>
            <a:r>
              <a:rPr lang="en-US" sz="2400" dirty="0"/>
              <a:t>Communication Systems are classified based on the type of signal sent on the Channel</a:t>
            </a:r>
          </a:p>
          <a:p>
            <a:r>
              <a:rPr lang="en-US" sz="2400" dirty="0"/>
              <a:t>Analog Source</a:t>
            </a:r>
          </a:p>
          <a:p>
            <a:pPr lvl="1"/>
            <a:r>
              <a:rPr lang="en-US" sz="2400" dirty="0"/>
              <a:t>information source produces messages that are defined within a continuum. i.e. analog messages are characterized by data whole value vary over continuous range</a:t>
            </a:r>
          </a:p>
          <a:p>
            <a:r>
              <a:rPr lang="en-US" sz="2400" dirty="0"/>
              <a:t>A digital source of information produces a finite set of possible messages</a:t>
            </a:r>
            <a:endParaRPr lang="en-GB" sz="2400" dirty="0"/>
          </a:p>
        </p:txBody>
      </p:sp>
      <p:sp>
        <p:nvSpPr>
          <p:cNvPr id="5" name="Slide Number Placeholder 4"/>
          <p:cNvSpPr>
            <a:spLocks noGrp="1"/>
          </p:cNvSpPr>
          <p:nvPr>
            <p:ph type="sldNum" sz="quarter" idx="12"/>
          </p:nvPr>
        </p:nvSpPr>
        <p:spPr/>
        <p:txBody>
          <a:bodyPr/>
          <a:lstStyle/>
          <a:p>
            <a:fld id="{D57F1E4F-1CFF-5643-939E-217C01CDF565}" type="slidenum">
              <a:rPr lang="en-US" smtClean="0"/>
              <a:t>10</a:t>
            </a:fld>
            <a:endParaRPr lang="en-US" dirty="0"/>
          </a:p>
        </p:txBody>
      </p:sp>
      <p:pic>
        <p:nvPicPr>
          <p:cNvPr id="4" name="Picture 3"/>
          <p:cNvPicPr>
            <a:picLocks noChangeAspect="1"/>
          </p:cNvPicPr>
          <p:nvPr/>
        </p:nvPicPr>
        <p:blipFill>
          <a:blip r:embed="rId3"/>
          <a:stretch>
            <a:fillRect/>
          </a:stretch>
        </p:blipFill>
        <p:spPr>
          <a:xfrm>
            <a:off x="4545494" y="1358292"/>
            <a:ext cx="4407694" cy="350247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932029" y="278376"/>
            <a:ext cx="7704667" cy="531772"/>
          </a:xfrm>
        </p:spPr>
        <p:txBody>
          <a:bodyPr>
            <a:normAutofit fontScale="90000"/>
          </a:bodyPr>
          <a:lstStyle/>
          <a:p>
            <a:r>
              <a:rPr lang="en-US" altLang="en-US" dirty="0"/>
              <a:t>Transmission Modes</a:t>
            </a:r>
          </a:p>
        </p:txBody>
      </p:sp>
      <p:sp>
        <p:nvSpPr>
          <p:cNvPr id="13315" name="Rectangle 3"/>
          <p:cNvSpPr>
            <a:spLocks noGrp="1" noChangeArrowheads="1"/>
          </p:cNvSpPr>
          <p:nvPr>
            <p:ph idx="1"/>
          </p:nvPr>
        </p:nvSpPr>
        <p:spPr>
          <a:xfrm>
            <a:off x="352367" y="972344"/>
            <a:ext cx="8500084" cy="5315721"/>
          </a:xfrm>
        </p:spPr>
        <p:txBody>
          <a:bodyPr>
            <a:noAutofit/>
          </a:bodyPr>
          <a:lstStyle/>
          <a:p>
            <a:pPr>
              <a:buFont typeface="Arial" panose="020B0604020202020204" pitchFamily="34" charset="0"/>
              <a:buChar char="•"/>
            </a:pPr>
            <a:r>
              <a:rPr lang="en-US" altLang="en-US" sz="2800" dirty="0"/>
              <a:t>Simplex (SX) – one direction only, i.e. </a:t>
            </a:r>
            <a:r>
              <a:rPr lang="en-US" sz="2800" dirty="0"/>
              <a:t>the receiver only receives without sending back acknowledgement </a:t>
            </a:r>
            <a:r>
              <a:rPr lang="en-US" altLang="en-US" sz="2800" dirty="0"/>
              <a:t>e.g. TV</a:t>
            </a:r>
          </a:p>
          <a:p>
            <a:pPr>
              <a:buFont typeface="Arial" panose="020B0604020202020204" pitchFamily="34" charset="0"/>
              <a:buChar char="•"/>
            </a:pPr>
            <a:r>
              <a:rPr lang="en-US" altLang="en-US" sz="2800" dirty="0"/>
              <a:t>Half Duplex (HDX) – both directions but not at the same time. </a:t>
            </a:r>
            <a:r>
              <a:rPr lang="en-US" sz="2800" dirty="0"/>
              <a:t>At a point in time the transmitter becomes the receiver and vice versa</a:t>
            </a:r>
            <a:r>
              <a:rPr lang="en-US" altLang="en-US" sz="2800" dirty="0"/>
              <a:t> e.g. walkie-talkie</a:t>
            </a:r>
          </a:p>
          <a:p>
            <a:pPr>
              <a:buFont typeface="Arial" panose="020B0604020202020204" pitchFamily="34" charset="0"/>
              <a:buChar char="•"/>
            </a:pPr>
            <a:r>
              <a:rPr lang="en-US" altLang="en-US" sz="2800" dirty="0"/>
              <a:t>Full Duplex (FDX) – transmit and receive simultaneously between two stations at same time. No need to switch modes as HDX. e.g. standard telephone system</a:t>
            </a:r>
          </a:p>
          <a:p>
            <a:pPr>
              <a:buFont typeface="Arial" panose="020B0604020202020204" pitchFamily="34" charset="0"/>
              <a:buChar char="•"/>
            </a:pPr>
            <a:r>
              <a:rPr lang="en-US" altLang="en-US" sz="2800" dirty="0"/>
              <a:t>Full/Full Duplex (F/FDX) - transmit and receive simultaneously but not necessarily just between two stations, e.g. data communications circuits</a:t>
            </a:r>
          </a:p>
        </p:txBody>
      </p:sp>
      <p:sp>
        <p:nvSpPr>
          <p:cNvPr id="2" name="Slide Number Placeholder 1"/>
          <p:cNvSpPr>
            <a:spLocks noGrp="1"/>
          </p:cNvSpPr>
          <p:nvPr>
            <p:ph type="sldNum" sz="quarter" idx="12"/>
          </p:nvPr>
        </p:nvSpPr>
        <p:spPr/>
        <p:txBody>
          <a:bodyPr/>
          <a:lstStyle/>
          <a:p>
            <a:fld id="{D57F1E4F-1CFF-5643-939E-217C01CDF565}" type="slidenum">
              <a:rPr lang="en-US" smtClean="0"/>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Basic Structure of Communication System</a:t>
            </a:r>
            <a:endParaRPr lang="en-GB" sz="4000" dirty="0"/>
          </a:p>
        </p:txBody>
      </p:sp>
      <p:sp>
        <p:nvSpPr>
          <p:cNvPr id="3" name="Content Placeholder 2"/>
          <p:cNvSpPr>
            <a:spLocks noGrp="1"/>
          </p:cNvSpPr>
          <p:nvPr>
            <p:ph idx="1"/>
          </p:nvPr>
        </p:nvSpPr>
        <p:spPr>
          <a:xfrm>
            <a:off x="413359" y="3889780"/>
            <a:ext cx="8213911" cy="2085135"/>
          </a:xfrm>
        </p:spPr>
        <p:txBody>
          <a:bodyPr>
            <a:noAutofit/>
          </a:bodyPr>
          <a:lstStyle/>
          <a:p>
            <a:pPr indent="0" algn="just">
              <a:spcAft>
                <a:spcPts val="470"/>
              </a:spcAft>
            </a:pPr>
            <a:r>
              <a:rPr lang="en-US" sz="1800" b="1" dirty="0">
                <a:latin typeface="Arial" panose="020B0604020202020204"/>
              </a:rPr>
              <a:t>Three</a:t>
            </a:r>
            <a:r>
              <a:rPr lang="en-US" sz="1400" b="1" dirty="0">
                <a:latin typeface="Arial" panose="020B0604020202020204"/>
              </a:rPr>
              <a:t> basic elements</a:t>
            </a:r>
          </a:p>
          <a:p>
            <a:pPr marL="598170" indent="-257175">
              <a:lnSpc>
                <a:spcPts val="1620"/>
              </a:lnSpc>
              <a:spcAft>
                <a:spcPts val="160"/>
              </a:spcAft>
              <a:buFont typeface="Wingdings" panose="05000000000000000000" pitchFamily="2" charset="2"/>
              <a:buChar char="ü"/>
            </a:pPr>
            <a:r>
              <a:rPr lang="en-US" sz="2000" b="1" dirty="0">
                <a:solidFill>
                  <a:srgbClr val="006500"/>
                </a:solidFill>
                <a:latin typeface="Arial" panose="020B0604020202020204"/>
              </a:rPr>
              <a:t>Transmitter</a:t>
            </a:r>
            <a:r>
              <a:rPr lang="en-US" sz="2000" dirty="0">
                <a:solidFill>
                  <a:srgbClr val="33339A"/>
                </a:solidFill>
                <a:latin typeface="Arial" panose="020B0604020202020204"/>
              </a:rPr>
              <a:t>: converts message into a form suitable for transmission. </a:t>
            </a:r>
          </a:p>
          <a:p>
            <a:pPr marL="598170" indent="-257175">
              <a:lnSpc>
                <a:spcPts val="1620"/>
              </a:lnSpc>
              <a:spcAft>
                <a:spcPts val="160"/>
              </a:spcAft>
              <a:buFont typeface="Wingdings" panose="05000000000000000000" pitchFamily="2" charset="2"/>
              <a:buChar char="ü"/>
            </a:pPr>
            <a:r>
              <a:rPr lang="en-US" sz="2000" b="1" dirty="0">
                <a:solidFill>
                  <a:srgbClr val="006500"/>
                </a:solidFill>
                <a:latin typeface="Arial" panose="020B0604020202020204"/>
              </a:rPr>
              <a:t>Channel</a:t>
            </a:r>
            <a:r>
              <a:rPr lang="en-US" sz="2000" dirty="0">
                <a:solidFill>
                  <a:srgbClr val="33339A"/>
                </a:solidFill>
                <a:latin typeface="Arial" panose="020B0604020202020204"/>
              </a:rPr>
              <a:t>: the physical medium, introduces distortion, noise, interference, etc.</a:t>
            </a:r>
          </a:p>
          <a:p>
            <a:pPr marL="598170" indent="-257175">
              <a:lnSpc>
                <a:spcPts val="1620"/>
              </a:lnSpc>
              <a:spcAft>
                <a:spcPts val="160"/>
              </a:spcAft>
              <a:buFont typeface="Wingdings" panose="05000000000000000000" pitchFamily="2" charset="2"/>
              <a:buChar char="ü"/>
            </a:pPr>
            <a:r>
              <a:rPr lang="en-US" sz="2000" b="1" dirty="0">
                <a:solidFill>
                  <a:srgbClr val="006500"/>
                </a:solidFill>
                <a:latin typeface="Arial" panose="020B0604020202020204"/>
              </a:rPr>
              <a:t>Receiver</a:t>
            </a:r>
            <a:r>
              <a:rPr lang="en-US" sz="2000" dirty="0">
                <a:solidFill>
                  <a:srgbClr val="33339A"/>
                </a:solidFill>
                <a:latin typeface="Arial" panose="020B0604020202020204"/>
              </a:rPr>
              <a:t>: reconstruct a recognizable form of the message</a:t>
            </a:r>
          </a:p>
          <a:p>
            <a:endParaRPr lang="en-GB" sz="2000" dirty="0"/>
          </a:p>
        </p:txBody>
      </p:sp>
      <p:sp>
        <p:nvSpPr>
          <p:cNvPr id="4" name="Slide Number Placeholder 3"/>
          <p:cNvSpPr>
            <a:spLocks noGrp="1"/>
          </p:cNvSpPr>
          <p:nvPr>
            <p:ph type="sldNum" sz="quarter" idx="12"/>
          </p:nvPr>
        </p:nvSpPr>
        <p:spPr/>
        <p:txBody>
          <a:bodyPr/>
          <a:lstStyle/>
          <a:p>
            <a:fld id="{D57F1E4F-1CFF-5643-939E-217C01CDF565}" type="slidenum">
              <a:rPr lang="en-US" smtClean="0"/>
              <a:t>12</a:t>
            </a:fld>
            <a:endParaRPr lang="en-US" dirty="0"/>
          </a:p>
        </p:txBody>
      </p:sp>
      <p:pic>
        <p:nvPicPr>
          <p:cNvPr id="7" name="Picture 6"/>
          <p:cNvPicPr>
            <a:picLocks noChangeAspect="1"/>
          </p:cNvPicPr>
          <p:nvPr/>
        </p:nvPicPr>
        <p:blipFill>
          <a:blip r:embed="rId3"/>
          <a:stretch>
            <a:fillRect/>
          </a:stretch>
        </p:blipFill>
        <p:spPr>
          <a:xfrm>
            <a:off x="207817" y="1553285"/>
            <a:ext cx="8936185" cy="233649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Basic Structure of Communication System</a:t>
            </a:r>
          </a:p>
        </p:txBody>
      </p:sp>
      <p:sp>
        <p:nvSpPr>
          <p:cNvPr id="3" name="Content Placeholder 2"/>
          <p:cNvSpPr>
            <a:spLocks noGrp="1"/>
          </p:cNvSpPr>
          <p:nvPr>
            <p:ph idx="1"/>
          </p:nvPr>
        </p:nvSpPr>
        <p:spPr>
          <a:xfrm>
            <a:off x="338203" y="1099930"/>
            <a:ext cx="8514248" cy="4769164"/>
          </a:xfrm>
        </p:spPr>
        <p:txBody>
          <a:bodyPr>
            <a:normAutofit fontScale="92500" lnSpcReduction="10000"/>
          </a:bodyPr>
          <a:lstStyle/>
          <a:p>
            <a:pPr marL="0" indent="0">
              <a:buNone/>
            </a:pPr>
            <a:r>
              <a:rPr lang="en-US" sz="3900" b="1" dirty="0"/>
              <a:t>Transmitter</a:t>
            </a:r>
          </a:p>
          <a:p>
            <a:pPr>
              <a:buFont typeface="Wingdings" panose="05000000000000000000" pitchFamily="2" charset="2"/>
              <a:buChar char="§"/>
            </a:pPr>
            <a:r>
              <a:rPr lang="en-US" dirty="0"/>
              <a:t>Collection of electronic circuits designed converts electrical signal into a form suitable for transmission based on the characteristics of the transmission channel.</a:t>
            </a:r>
          </a:p>
          <a:p>
            <a:pPr>
              <a:buFont typeface="Wingdings" panose="05000000000000000000" pitchFamily="2" charset="2"/>
              <a:buChar char="§"/>
            </a:pPr>
            <a:r>
              <a:rPr lang="en-US" dirty="0"/>
              <a:t>The transmitter performs matching of message signal to the channel in a process called </a:t>
            </a:r>
            <a:r>
              <a:rPr lang="en-US" b="1" dirty="0"/>
              <a:t>modulation</a:t>
            </a:r>
            <a:r>
              <a:rPr lang="en-US" dirty="0"/>
              <a:t>.</a:t>
            </a:r>
          </a:p>
          <a:p>
            <a:pPr>
              <a:buFont typeface="Wingdings" panose="05000000000000000000" pitchFamily="2" charset="2"/>
              <a:buChar char="§"/>
            </a:pPr>
            <a:r>
              <a:rPr lang="en-US" dirty="0"/>
              <a:t>The modulation process translates the information signal to frequencies that match the allocation of the channel. </a:t>
            </a:r>
            <a:br>
              <a:rPr lang="en-US" dirty="0"/>
            </a:br>
            <a:endParaRPr lang="en-US" dirty="0"/>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t>13</a:t>
            </a:fld>
            <a:endParaRPr kumimoji="0" lang="en-US" sz="1800" b="0" i="0" u="none" strike="noStrike" kern="0" cap="none" spc="0" normalizeH="0" baseline="0" noProof="0" dirty="0">
              <a:ln>
                <a:noFill/>
              </a:ln>
              <a:solidFill>
                <a:sysClr val="windowText" lastClr="000000"/>
              </a:solidFill>
              <a:effectLst/>
              <a:uLnTx/>
              <a:uFillTx/>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Transmitter</a:t>
            </a:r>
          </a:p>
        </p:txBody>
      </p:sp>
      <p:sp>
        <p:nvSpPr>
          <p:cNvPr id="3" name="Content Placeholder 2"/>
          <p:cNvSpPr>
            <a:spLocks noGrp="1"/>
          </p:cNvSpPr>
          <p:nvPr>
            <p:ph idx="1"/>
          </p:nvPr>
        </p:nvSpPr>
        <p:spPr/>
        <p:txBody>
          <a:bodyPr>
            <a:normAutofit/>
          </a:bodyPr>
          <a:lstStyle/>
          <a:p>
            <a:r>
              <a:rPr lang="en-US" sz="3600" dirty="0"/>
              <a:t>What factors influence the choice of modulation, FM, AM, </a:t>
            </a:r>
            <a:r>
              <a:rPr lang="en-US" sz="3600" dirty="0" err="1"/>
              <a:t>etc</a:t>
            </a:r>
            <a:r>
              <a:rPr lang="en-US" sz="3600" dirty="0"/>
              <a:t>?</a:t>
            </a:r>
          </a:p>
          <a:p>
            <a:pPr>
              <a:buFont typeface="Wingdings" panose="05000000000000000000" pitchFamily="2" charset="2"/>
              <a:buChar char="§"/>
            </a:pPr>
            <a:r>
              <a:rPr lang="en-US" sz="3600" dirty="0"/>
              <a:t>The amount of bandwidth allocated</a:t>
            </a:r>
          </a:p>
          <a:p>
            <a:pPr>
              <a:buFont typeface="Wingdings" panose="05000000000000000000" pitchFamily="2" charset="2"/>
              <a:buChar char="§"/>
            </a:pPr>
            <a:r>
              <a:rPr lang="en-US" sz="3600" dirty="0"/>
              <a:t>The types of noise and interference that the signal encounters in transmission</a:t>
            </a:r>
          </a:p>
          <a:p>
            <a:pPr>
              <a:buFont typeface="Wingdings" panose="05000000000000000000" pitchFamily="2" charset="2"/>
              <a:buChar char="§"/>
            </a:pPr>
            <a:r>
              <a:rPr lang="en-US" sz="3600" dirty="0"/>
              <a:t>Transmitter / Receiver type </a:t>
            </a:r>
            <a:br>
              <a:rPr lang="en-US" sz="3600" dirty="0"/>
            </a:br>
            <a:endParaRPr lang="en-US" sz="3600" dirty="0"/>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t>14</a:t>
            </a:fld>
            <a:endParaRPr kumimoji="0" lang="en-US" sz="1800" b="0" i="0" u="none" strike="noStrike" kern="0" cap="none" spc="0" normalizeH="0" baseline="0" noProof="0" dirty="0">
              <a:ln>
                <a:noFill/>
              </a:ln>
              <a:solidFill>
                <a:sysClr val="windowText" lastClr="000000"/>
              </a:solidFill>
              <a:effectLst/>
              <a:uLnTx/>
              <a:uFillTx/>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Communication Channel</a:t>
            </a:r>
          </a:p>
        </p:txBody>
      </p:sp>
      <p:sp>
        <p:nvSpPr>
          <p:cNvPr id="3" name="Content Placeholder 2"/>
          <p:cNvSpPr>
            <a:spLocks noGrp="1"/>
          </p:cNvSpPr>
          <p:nvPr>
            <p:ph idx="1"/>
          </p:nvPr>
        </p:nvSpPr>
        <p:spPr/>
        <p:txBody>
          <a:bodyPr>
            <a:normAutofit lnSpcReduction="10000"/>
          </a:bodyPr>
          <a:lstStyle/>
          <a:p>
            <a:r>
              <a:rPr lang="en-US" dirty="0"/>
              <a:t>The channel is central to the operation of a communication system</a:t>
            </a:r>
          </a:p>
          <a:p>
            <a:pPr lvl="1"/>
            <a:r>
              <a:rPr lang="en-US" dirty="0"/>
              <a:t>Linear (e.g., mobile radio) or nonlinear (e.g., satellite)</a:t>
            </a:r>
          </a:p>
          <a:p>
            <a:pPr lvl="1"/>
            <a:r>
              <a:rPr lang="en-US" dirty="0"/>
              <a:t>Time invariant (e.g., fiber) or time varying (e.g., mobile radio)</a:t>
            </a:r>
          </a:p>
          <a:p>
            <a:r>
              <a:rPr lang="en-US" dirty="0"/>
              <a:t>Pursuit for wider bandwidth</a:t>
            </a:r>
          </a:p>
          <a:p>
            <a:pPr lvl="1"/>
            <a:r>
              <a:rPr lang="en-US" dirty="0"/>
              <a:t>Copper wire: 1 MHz</a:t>
            </a:r>
          </a:p>
          <a:p>
            <a:pPr lvl="1"/>
            <a:r>
              <a:rPr lang="en-US" dirty="0"/>
              <a:t>Coaxial cable: 100 MHz</a:t>
            </a:r>
          </a:p>
          <a:p>
            <a:pPr lvl="1"/>
            <a:r>
              <a:rPr lang="en-US" dirty="0"/>
              <a:t>Microwave: GHz</a:t>
            </a:r>
          </a:p>
          <a:p>
            <a:pPr lvl="1"/>
            <a:r>
              <a:rPr lang="en-US" dirty="0"/>
              <a:t>Optical fiber: THz</a:t>
            </a:r>
          </a:p>
          <a:p>
            <a:pPr lvl="2"/>
            <a:r>
              <a:rPr lang="en-US" dirty="0"/>
              <a:t>Highest capacity among all practical signals</a:t>
            </a:r>
          </a:p>
          <a:p>
            <a:endParaRPr lang="en-US" dirty="0"/>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t>15</a:t>
            </a:fld>
            <a:endParaRPr kumimoji="0" lang="en-US" sz="1800" b="0" i="0" u="none" strike="noStrike" kern="0" cap="none" spc="0" normalizeH="0" baseline="0" noProof="0" dirty="0">
              <a:ln>
                <a:noFill/>
              </a:ln>
              <a:solidFill>
                <a:sysClr val="windowText" lastClr="000000"/>
              </a:solidFill>
              <a:effectLst/>
              <a:uLnTx/>
              <a:uFillTx/>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Communication Channels</a:t>
            </a:r>
          </a:p>
        </p:txBody>
      </p:sp>
      <p:sp>
        <p:nvSpPr>
          <p:cNvPr id="3" name="Content Placeholder 2"/>
          <p:cNvSpPr>
            <a:spLocks noGrp="1"/>
          </p:cNvSpPr>
          <p:nvPr>
            <p:ph idx="1"/>
          </p:nvPr>
        </p:nvSpPr>
        <p:spPr/>
        <p:txBody>
          <a:bodyPr>
            <a:noAutofit/>
          </a:bodyPr>
          <a:lstStyle/>
          <a:p>
            <a:pPr>
              <a:buFont typeface="Wingdings" panose="05000000000000000000" pitchFamily="2" charset="2"/>
              <a:buChar char="§"/>
            </a:pPr>
            <a:r>
              <a:rPr lang="en-US" dirty="0"/>
              <a:t>Communication medium poses a serious challenge such as distortion, interference, and noise to the transmitted signal</a:t>
            </a:r>
          </a:p>
          <a:p>
            <a:pPr>
              <a:buFont typeface="Wingdings" panose="05000000000000000000" pitchFamily="2" charset="2"/>
              <a:buChar char="§"/>
            </a:pPr>
            <a:r>
              <a:rPr lang="en-US" dirty="0"/>
              <a:t>Transmitted signal get corrupted in a random manner by a variety of ways (additive noise ) as they pass through the channel</a:t>
            </a:r>
          </a:p>
          <a:p>
            <a:pPr>
              <a:buFont typeface="Wingdings" panose="05000000000000000000" pitchFamily="2" charset="2"/>
              <a:buChar char="§"/>
            </a:pPr>
            <a:r>
              <a:rPr lang="en-US" dirty="0"/>
              <a:t>In the design of a communication system, the system designer works with mathematical models</a:t>
            </a:r>
            <a:br>
              <a:rPr lang="en-US" dirty="0"/>
            </a:br>
            <a:r>
              <a:rPr lang="en-US" dirty="0"/>
              <a:t>that statistically characterize the signal distortion encountered on physical channels. </a:t>
            </a:r>
            <a:br>
              <a:rPr lang="en-US" dirty="0"/>
            </a:br>
            <a:br>
              <a:rPr lang="en-US" dirty="0"/>
            </a:br>
            <a:endParaRPr lang="en-US" dirty="0"/>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t>16</a:t>
            </a:fld>
            <a:endParaRPr kumimoji="0" lang="en-US" sz="1800" b="0" i="0" u="none" strike="noStrike" kern="0" cap="none" spc="0" normalizeH="0" baseline="0" noProof="0" dirty="0">
              <a:ln>
                <a:noFill/>
              </a:ln>
              <a:solidFill>
                <a:sysClr val="windowText" lastClr="000000"/>
              </a:solidFill>
              <a:effectLst/>
              <a:uLnTx/>
              <a:uFillTx/>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8538" y="132520"/>
            <a:ext cx="8613913" cy="800074"/>
          </a:xfrm>
        </p:spPr>
        <p:txBody>
          <a:bodyPr/>
          <a:lstStyle/>
          <a:p>
            <a:r>
              <a:rPr lang="en-US" dirty="0"/>
              <a:t>Types of communication channels</a:t>
            </a:r>
          </a:p>
        </p:txBody>
      </p:sp>
      <p:sp>
        <p:nvSpPr>
          <p:cNvPr id="3" name="Content Placeholder 2"/>
          <p:cNvSpPr>
            <a:spLocks noGrp="1"/>
          </p:cNvSpPr>
          <p:nvPr>
            <p:ph idx="1"/>
          </p:nvPr>
        </p:nvSpPr>
        <p:spPr>
          <a:xfrm>
            <a:off x="238538" y="1099930"/>
            <a:ext cx="8613913" cy="4769164"/>
          </a:xfrm>
        </p:spPr>
        <p:txBody>
          <a:bodyPr/>
          <a:lstStyle/>
          <a:p>
            <a:r>
              <a:rPr lang="en-US" dirty="0"/>
              <a:t>Conducting pair of wires</a:t>
            </a:r>
          </a:p>
          <a:p>
            <a:pPr lvl="1"/>
            <a:r>
              <a:rPr lang="en-US" dirty="0"/>
              <a:t>Commonly use in telephony and telegraphy – transmitter and receiver is physical wired to each other.</a:t>
            </a:r>
          </a:p>
          <a:p>
            <a:r>
              <a:rPr lang="en-US" dirty="0"/>
              <a:t>Coaxial cables</a:t>
            </a:r>
          </a:p>
          <a:p>
            <a:pPr lvl="1"/>
            <a:r>
              <a:rPr lang="en-US" dirty="0"/>
              <a:t>Provide greater bandwidth, lower losses and minimal crosstalk</a:t>
            </a:r>
          </a:p>
          <a:p>
            <a:pPr lvl="1"/>
            <a:br>
              <a:rPr lang="en-US" dirty="0"/>
            </a:br>
            <a:endParaRPr lang="en-US" dirty="0"/>
          </a:p>
        </p:txBody>
      </p:sp>
      <p:sp>
        <p:nvSpPr>
          <p:cNvPr id="4" name="Slide Number Placeholder 3"/>
          <p:cNvSpPr>
            <a:spLocks noGrp="1"/>
          </p:cNvSpPr>
          <p:nvPr>
            <p:ph type="sldNum" sz="quarter" idx="12"/>
          </p:nvPr>
        </p:nvSpPr>
        <p:spPr>
          <a:xfrm>
            <a:off x="7868432" y="6450261"/>
            <a:ext cx="984019" cy="365125"/>
          </a:xfrm>
        </p:spPr>
        <p:txBody>
          <a:bodyPr/>
          <a:lstStyle/>
          <a:p>
            <a:pPr marL="0" marR="0" lvl="0" indent="0" defTabSz="914400" eaLnBrk="1" fontAlgn="auto" latinLnBrk="0" hangingPunct="1">
              <a:lnSpc>
                <a:spcPct val="100000"/>
              </a:lnSpc>
              <a:spcBef>
                <a:spcPts val="0"/>
              </a:spcBef>
              <a:spcAft>
                <a:spcPts val="0"/>
              </a:spcAft>
              <a:buClrTx/>
              <a:buSzTx/>
              <a:buFontTx/>
              <a:buNone/>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t>17</a:t>
            </a:fld>
            <a:endParaRPr lang="en-US" sz="1800" kern="0" dirty="0">
              <a:solidFill>
                <a:sysClr val="windowText" lastClr="000000"/>
              </a:solidFill>
            </a:endParaRPr>
          </a:p>
        </p:txBody>
      </p:sp>
      <p:pic>
        <p:nvPicPr>
          <p:cNvPr id="5" name="Picture 4"/>
          <p:cNvPicPr>
            <a:picLocks noChangeAspect="1"/>
          </p:cNvPicPr>
          <p:nvPr/>
        </p:nvPicPr>
        <p:blipFill>
          <a:blip r:embed="rId2"/>
          <a:stretch>
            <a:fillRect/>
          </a:stretch>
        </p:blipFill>
        <p:spPr>
          <a:xfrm>
            <a:off x="2227702" y="3733011"/>
            <a:ext cx="5311988" cy="257358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www.online-sciences.com/wp-content/uploads/2015/03/optical-fibre.jpg"/>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a:fillRect/>
          </a:stretch>
        </p:blipFill>
        <p:spPr bwMode="auto">
          <a:xfrm>
            <a:off x="5062123" y="2399514"/>
            <a:ext cx="3956819" cy="235430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302927" y="250000"/>
            <a:ext cx="8239823" cy="753056"/>
          </a:xfrm>
        </p:spPr>
        <p:txBody>
          <a:bodyPr>
            <a:noAutofit/>
          </a:bodyPr>
          <a:lstStyle/>
          <a:p>
            <a:r>
              <a:rPr lang="en-US" sz="4400" dirty="0"/>
              <a:t>Types of communication channels</a:t>
            </a:r>
          </a:p>
        </p:txBody>
      </p:sp>
      <p:sp>
        <p:nvSpPr>
          <p:cNvPr id="3" name="Content Placeholder 2"/>
          <p:cNvSpPr>
            <a:spLocks noGrp="1"/>
          </p:cNvSpPr>
          <p:nvPr>
            <p:ph idx="1"/>
          </p:nvPr>
        </p:nvSpPr>
        <p:spPr>
          <a:xfrm>
            <a:off x="302928" y="1106699"/>
            <a:ext cx="4793015" cy="4830638"/>
          </a:xfrm>
        </p:spPr>
        <p:txBody>
          <a:bodyPr>
            <a:noAutofit/>
          </a:bodyPr>
          <a:lstStyle/>
          <a:p>
            <a:pPr>
              <a:lnSpc>
                <a:spcPct val="70000"/>
              </a:lnSpc>
            </a:pPr>
            <a:r>
              <a:rPr lang="en-US" sz="2400" b="1" dirty="0"/>
              <a:t>Fiber-optic cables</a:t>
            </a:r>
          </a:p>
          <a:p>
            <a:pPr lvl="1">
              <a:lnSpc>
                <a:spcPct val="70000"/>
              </a:lnSpc>
            </a:pPr>
            <a:r>
              <a:rPr lang="en-US" sz="2400" dirty="0"/>
              <a:t>Transmission of information using light pulses</a:t>
            </a:r>
          </a:p>
          <a:p>
            <a:pPr lvl="1">
              <a:lnSpc>
                <a:spcPct val="70000"/>
              </a:lnSpc>
            </a:pPr>
            <a:r>
              <a:rPr lang="en-US" sz="2400" dirty="0"/>
              <a:t>The main advantage of these cables is that they provide large bandwidth </a:t>
            </a:r>
          </a:p>
          <a:p>
            <a:pPr lvl="1">
              <a:lnSpc>
                <a:spcPct val="70000"/>
              </a:lnSpc>
            </a:pPr>
            <a:r>
              <a:rPr lang="en-US" sz="2400" dirty="0"/>
              <a:t>The </a:t>
            </a:r>
            <a:r>
              <a:rPr lang="en-US" sz="2400" dirty="0" err="1"/>
              <a:t>fibre</a:t>
            </a:r>
            <a:r>
              <a:rPr lang="en-US" sz="2400" dirty="0"/>
              <a:t>-optic cable can carry information such as voice, video and computer data </a:t>
            </a:r>
          </a:p>
          <a:p>
            <a:pPr lvl="1">
              <a:lnSpc>
                <a:spcPct val="70000"/>
              </a:lnSpc>
            </a:pPr>
            <a:r>
              <a:rPr lang="en-US" sz="2400" dirty="0"/>
              <a:t>The two most commonly used light sources in </a:t>
            </a:r>
            <a:r>
              <a:rPr lang="en-US" sz="2400" dirty="0" err="1"/>
              <a:t>fibre</a:t>
            </a:r>
            <a:r>
              <a:rPr lang="en-US" sz="2400" dirty="0"/>
              <a:t> optic</a:t>
            </a:r>
            <a:br>
              <a:rPr lang="en-US" sz="2400" dirty="0"/>
            </a:br>
            <a:r>
              <a:rPr lang="en-US" sz="2400" dirty="0"/>
              <a:t>systems are LEDs and semiconductor lasers</a:t>
            </a:r>
          </a:p>
          <a:p>
            <a:pPr lvl="1">
              <a:lnSpc>
                <a:spcPct val="70000"/>
              </a:lnSpc>
            </a:pPr>
            <a:r>
              <a:rPr lang="en-US" sz="2400" dirty="0"/>
              <a:t>Communication system with </a:t>
            </a:r>
            <a:r>
              <a:rPr lang="en-US" sz="2400" dirty="0" err="1"/>
              <a:t>fibre</a:t>
            </a:r>
            <a:r>
              <a:rPr lang="en-US" sz="2400" dirty="0"/>
              <a:t> optic cables are free from interference, unlike coaxial cables </a:t>
            </a:r>
            <a:br>
              <a:rPr lang="en-US" sz="2400" dirty="0"/>
            </a:br>
            <a:br>
              <a:rPr lang="en-US" sz="2400" dirty="0"/>
            </a:br>
            <a:endParaRPr lang="en-US" sz="2400" dirty="0"/>
          </a:p>
        </p:txBody>
      </p:sp>
      <p:sp>
        <p:nvSpPr>
          <p:cNvPr id="4" name="Slide Number Placeholder 3"/>
          <p:cNvSpPr>
            <a:spLocks noGrp="1"/>
          </p:cNvSpPr>
          <p:nvPr>
            <p:ph type="sldNum" sz="quarter" idx="12"/>
          </p:nvPr>
        </p:nvSpPr>
        <p:spPr>
          <a:xfrm>
            <a:off x="7425344" y="6459786"/>
            <a:ext cx="984019" cy="365125"/>
          </a:xfrm>
        </p:spPr>
        <p:txBody>
          <a:bodyPr>
            <a:normAutofit/>
          </a:bodyPr>
          <a:lstStyle/>
          <a:p>
            <a:pPr defTabSz="914400">
              <a:defRPr/>
            </a:pPr>
            <a:fld id="{48F63A3B-78C7-47BE-AE5E-E10140E04643}" type="slidenum">
              <a:rPr kumimoji="0" lang="en-US" b="0" i="0" u="none" strike="noStrike" kern="0" cap="none" spc="0" normalizeH="0" baseline="0" noProof="0" smtClean="0">
                <a:ln>
                  <a:noFill/>
                </a:ln>
                <a:effectLst/>
                <a:uLnTx/>
                <a:uFillTx/>
              </a:rPr>
              <a:t>18</a:t>
            </a:fld>
            <a:endParaRPr lang="en-US" kern="0"/>
          </a:p>
        </p:txBody>
      </p:sp>
      <p:sp>
        <p:nvSpPr>
          <p:cNvPr id="6" name="Rectangle 5"/>
          <p:cNvSpPr/>
          <p:nvPr/>
        </p:nvSpPr>
        <p:spPr>
          <a:xfrm>
            <a:off x="302927" y="5716173"/>
            <a:ext cx="8620057" cy="923330"/>
          </a:xfrm>
          <a:prstGeom prst="rect">
            <a:avLst/>
          </a:prstGeom>
        </p:spPr>
        <p:txBody>
          <a:bodyPr wrap="square">
            <a:spAutoFit/>
          </a:bodyPr>
          <a:lstStyle/>
          <a:p>
            <a:r>
              <a:rPr lang="en-US" b="1" dirty="0">
                <a:solidFill>
                  <a:srgbClr val="000000"/>
                </a:solidFill>
                <a:latin typeface="NimbusRomNo9L-Medi"/>
              </a:rPr>
              <a:t>Benefits of </a:t>
            </a:r>
            <a:r>
              <a:rPr lang="en-US" b="1" dirty="0" err="1">
                <a:solidFill>
                  <a:srgbClr val="000000"/>
                </a:solidFill>
                <a:latin typeface="NimbusRomNo9L-Medi"/>
              </a:rPr>
              <a:t>fibre</a:t>
            </a:r>
            <a:r>
              <a:rPr lang="en-US" b="1" dirty="0">
                <a:solidFill>
                  <a:srgbClr val="000000"/>
                </a:solidFill>
                <a:latin typeface="NimbusRomNo9L-Medi"/>
              </a:rPr>
              <a:t>-optic cables over conventional electrical cables </a:t>
            </a:r>
            <a:r>
              <a:rPr lang="en-US" b="1" dirty="0">
                <a:solidFill>
                  <a:srgbClr val="000000"/>
                </a:solidFill>
                <a:latin typeface="NimbusRomNo9L-Medi"/>
                <a:sym typeface="Wingdings" panose="05000000000000000000" pitchFamily="2" charset="2"/>
              </a:rPr>
              <a:t> check handout</a:t>
            </a:r>
            <a:r>
              <a:rPr lang="en-US" dirty="0"/>
              <a:t> </a:t>
            </a:r>
            <a:br>
              <a:rPr lang="en-US" dirty="0"/>
            </a:b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8538" y="132520"/>
            <a:ext cx="8613913" cy="800074"/>
          </a:xfrm>
        </p:spPr>
        <p:txBody>
          <a:bodyPr/>
          <a:lstStyle/>
          <a:p>
            <a:r>
              <a:rPr lang="en-US" dirty="0"/>
              <a:t>Types of communication channels</a:t>
            </a:r>
          </a:p>
        </p:txBody>
      </p:sp>
      <p:sp>
        <p:nvSpPr>
          <p:cNvPr id="3" name="Content Placeholder 2"/>
          <p:cNvSpPr>
            <a:spLocks noGrp="1"/>
          </p:cNvSpPr>
          <p:nvPr>
            <p:ph idx="1"/>
          </p:nvPr>
        </p:nvSpPr>
        <p:spPr>
          <a:xfrm>
            <a:off x="238538" y="932594"/>
            <a:ext cx="4956917" cy="5367998"/>
          </a:xfrm>
        </p:spPr>
        <p:txBody>
          <a:bodyPr>
            <a:normAutofit fontScale="92500" lnSpcReduction="10000"/>
          </a:bodyPr>
          <a:lstStyle/>
          <a:p>
            <a:r>
              <a:rPr lang="en-US" b="1" dirty="0"/>
              <a:t>Transmission lines</a:t>
            </a:r>
          </a:p>
          <a:p>
            <a:pPr lvl="1"/>
            <a:r>
              <a:rPr lang="en-US" dirty="0"/>
              <a:t>The practical examples of the electric waves, which are transmitted along the transmission lines are the electrical power signals and the telephone messages </a:t>
            </a:r>
          </a:p>
          <a:p>
            <a:pPr lvl="1"/>
            <a:endParaRPr lang="en-US" dirty="0"/>
          </a:p>
          <a:p>
            <a:pPr lvl="1"/>
            <a:r>
              <a:rPr lang="en-US" dirty="0"/>
              <a:t>Transmission lines and waveguides serve as</a:t>
            </a:r>
            <a:br>
              <a:rPr lang="en-US" dirty="0"/>
            </a:br>
            <a:r>
              <a:rPr lang="en-US" dirty="0"/>
              <a:t>guided structure used to guide the propagation or transmission of energy from the source</a:t>
            </a:r>
            <a:br>
              <a:rPr lang="en-US" dirty="0"/>
            </a:br>
            <a:r>
              <a:rPr lang="en-US" dirty="0"/>
              <a:t>to the load</a:t>
            </a:r>
          </a:p>
        </p:txBody>
      </p:sp>
      <p:sp>
        <p:nvSpPr>
          <p:cNvPr id="4" name="Slide Number Placeholder 3"/>
          <p:cNvSpPr>
            <a:spLocks noGrp="1"/>
          </p:cNvSpPr>
          <p:nvPr>
            <p:ph type="sldNum" sz="quarter" idx="12"/>
          </p:nvPr>
        </p:nvSpPr>
        <p:spPr>
          <a:xfrm>
            <a:off x="7868432" y="6450261"/>
            <a:ext cx="984019" cy="365125"/>
          </a:xfrm>
        </p:spPr>
        <p:txBody>
          <a:bodyPr/>
          <a:lstStyle/>
          <a:p>
            <a:pPr marL="0" marR="0" lvl="0" indent="0" defTabSz="914400" eaLnBrk="1" fontAlgn="auto" latinLnBrk="0" hangingPunct="1">
              <a:lnSpc>
                <a:spcPct val="100000"/>
              </a:lnSpc>
              <a:spcBef>
                <a:spcPts val="0"/>
              </a:spcBef>
              <a:spcAft>
                <a:spcPts val="0"/>
              </a:spcAft>
              <a:buClrTx/>
              <a:buSzTx/>
              <a:buFontTx/>
              <a:buNone/>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t>19</a:t>
            </a:fld>
            <a:endParaRPr lang="en-US" sz="1800" kern="0" dirty="0">
              <a:solidFill>
                <a:sysClr val="windowText" lastClr="000000"/>
              </a:solidFill>
            </a:endParaRPr>
          </a:p>
        </p:txBody>
      </p:sp>
      <p:pic>
        <p:nvPicPr>
          <p:cNvPr id="6" name="Picture 5"/>
          <p:cNvPicPr>
            <a:picLocks noChangeAspect="1"/>
          </p:cNvPicPr>
          <p:nvPr/>
        </p:nvPicPr>
        <p:blipFill rotWithShape="1">
          <a:blip r:embed="rId3"/>
          <a:srcRect r="4306"/>
          <a:stretch>
            <a:fillRect/>
          </a:stretch>
        </p:blipFill>
        <p:spPr>
          <a:xfrm>
            <a:off x="5063406" y="1922840"/>
            <a:ext cx="3970407" cy="3123343"/>
          </a:xfrm>
          <a:prstGeom prst="rect">
            <a:avLst/>
          </a:prstGeom>
        </p:spPr>
      </p:pic>
      <p:sp>
        <p:nvSpPr>
          <p:cNvPr id="12" name="TextBox 11"/>
          <p:cNvSpPr txBox="1"/>
          <p:nvPr/>
        </p:nvSpPr>
        <p:spPr>
          <a:xfrm>
            <a:off x="5195455" y="5119389"/>
            <a:ext cx="3838358" cy="369332"/>
          </a:xfrm>
          <a:prstGeom prst="rect">
            <a:avLst/>
          </a:prstGeom>
          <a:noFill/>
        </p:spPr>
        <p:txBody>
          <a:bodyPr wrap="none" rtlCol="0">
            <a:spAutoFit/>
          </a:bodyPr>
          <a:lstStyle/>
          <a:p>
            <a:r>
              <a:rPr lang="en-US" dirty="0"/>
              <a:t>Figure 1.3: Open wire transmission line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communication channels</a:t>
            </a:r>
          </a:p>
        </p:txBody>
      </p:sp>
      <p:sp>
        <p:nvSpPr>
          <p:cNvPr id="3" name="Content Placeholder 2"/>
          <p:cNvSpPr>
            <a:spLocks noGrp="1"/>
          </p:cNvSpPr>
          <p:nvPr>
            <p:ph idx="1"/>
          </p:nvPr>
        </p:nvSpPr>
        <p:spPr>
          <a:xfrm>
            <a:off x="238538" y="1099930"/>
            <a:ext cx="8613913" cy="5132428"/>
          </a:xfrm>
        </p:spPr>
        <p:txBody>
          <a:bodyPr>
            <a:normAutofit fontScale="92500" lnSpcReduction="10000"/>
          </a:bodyPr>
          <a:lstStyle/>
          <a:p>
            <a:r>
              <a:rPr lang="en-US" b="1" dirty="0"/>
              <a:t>Radio communication</a:t>
            </a:r>
          </a:p>
          <a:p>
            <a:pPr lvl="1"/>
            <a:r>
              <a:rPr lang="en-US" dirty="0"/>
              <a:t>Radio communication is a wireless communication, requiring no physical wires between transmitter and receiver to carry the signal</a:t>
            </a:r>
          </a:p>
          <a:p>
            <a:pPr lvl="1"/>
            <a:r>
              <a:rPr lang="en-US" dirty="0"/>
              <a:t>Have frequencies ranging from 300 GHz to as low as</a:t>
            </a:r>
            <a:br>
              <a:rPr lang="en-US" dirty="0"/>
            </a:br>
            <a:r>
              <a:rPr lang="en-US" dirty="0"/>
              <a:t>3kHz, and corresponding wavelengths from 1 millimeter to 100 kilometers</a:t>
            </a:r>
          </a:p>
          <a:p>
            <a:pPr lvl="1"/>
            <a:r>
              <a:rPr lang="en-US" dirty="0"/>
              <a:t>Requires two antennas – transmitter and receiver</a:t>
            </a:r>
          </a:p>
          <a:p>
            <a:pPr lvl="1"/>
            <a:r>
              <a:rPr lang="en-US" dirty="0"/>
              <a:t>The medium attenuates the signal and causes it to</a:t>
            </a:r>
            <a:br>
              <a:rPr lang="en-US" dirty="0"/>
            </a:br>
            <a:r>
              <a:rPr lang="en-US" dirty="0"/>
              <a:t>appear much lower in amplitude at the receiver </a:t>
            </a:r>
          </a:p>
          <a:p>
            <a:pPr lvl="1"/>
            <a:r>
              <a:rPr lang="en-US" dirty="0"/>
              <a:t>Radio communication makes it possible to communication over very long distances, even from earth</a:t>
            </a:r>
            <a:br>
              <a:rPr lang="en-US" dirty="0"/>
            </a:br>
            <a:r>
              <a:rPr lang="en-US" dirty="0"/>
              <a:t>to moon. </a:t>
            </a:r>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t>20</a:t>
            </a:fld>
            <a:endParaRPr kumimoji="0" lang="en-US" sz="1800" b="0" i="0" u="none" strike="noStrike" kern="0" cap="none" spc="0" normalizeH="0" baseline="0" noProof="0" dirty="0">
              <a:ln>
                <a:noFill/>
              </a:ln>
              <a:solidFill>
                <a:sysClr val="windowText" lastClr="000000"/>
              </a:solidFill>
              <a:effectLst/>
              <a:uLnTx/>
              <a:uFillTx/>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7" name="Rectangle 6"/>
          <p:cNvSpPr>
            <a:spLocks noGrp="1" noRot="1" noChangeAspect="1" noMove="1" noResize="1" noEditPoints="1" noAdjustHandles="1" noChangeArrowheads="1" noChangeShapeType="1" noTextEdit="1"/>
          </p:cNvSpPr>
          <p:nvPr/>
        </p:nvSpPr>
        <p:spPr>
          <a:xfrm>
            <a:off x="0" y="0"/>
            <a:ext cx="9144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a:spLocks noGrp="1" noRot="1" noChangeAspect="1" noMove="1" noResize="1" noEditPoints="1" noAdjustHandles="1" noChangeArrowheads="1" noChangeShapeType="1" noTextEdit="1"/>
          </p:cNvSpPr>
          <p:nvPr/>
        </p:nvSpPr>
        <p:spPr>
          <a:xfrm>
            <a:off x="1"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a:spLocks noGrp="1" noRot="1" noChangeAspect="1" noMove="1" noResize="1" noEditPoints="1" noAdjustHandles="1" noChangeArrowheads="1" noChangeShapeType="1" noTextEdit="1"/>
          </p:cNvSpPr>
          <p:nvPr/>
        </p:nvSpPr>
        <p:spPr>
          <a:xfrm>
            <a:off x="12" y="6334316"/>
            <a:ext cx="9143989"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0" name="Straight Connector 9"/>
          <p:cNvCxnSpPr>
            <a:cxnSpLocks noGrp="1" noRot="1" noChangeAspect="1" noMove="1" noResize="1" noEditPoints="1" noAdjustHandles="1" noChangeArrowheads="1" noChangeShapeType="1"/>
          </p:cNvCxnSpPr>
          <p:nvPr/>
        </p:nvCxnSpPr>
        <p:spPr>
          <a:xfrm>
            <a:off x="4933055" y="2086188"/>
            <a:ext cx="338328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a:stretch>
            <a:fillRect/>
          </a:stretch>
        </p:blipFill>
        <p:spPr>
          <a:xfrm>
            <a:off x="277959" y="1672335"/>
            <a:ext cx="4497592" cy="3193290"/>
          </a:xfrm>
          <a:prstGeom prst="rect">
            <a:avLst/>
          </a:prstGeom>
        </p:spPr>
      </p:pic>
      <p:sp>
        <p:nvSpPr>
          <p:cNvPr id="2" name="Title 1"/>
          <p:cNvSpPr>
            <a:spLocks noGrp="1"/>
          </p:cNvSpPr>
          <p:nvPr>
            <p:ph type="title"/>
          </p:nvPr>
        </p:nvSpPr>
        <p:spPr>
          <a:xfrm>
            <a:off x="4891154" y="634947"/>
            <a:ext cx="3762987" cy="1450757"/>
          </a:xfrm>
        </p:spPr>
        <p:txBody>
          <a:bodyPr>
            <a:normAutofit/>
          </a:bodyPr>
          <a:lstStyle/>
          <a:p>
            <a:pPr>
              <a:lnSpc>
                <a:spcPct val="65000"/>
              </a:lnSpc>
            </a:pPr>
            <a:r>
              <a:rPr lang="en-US" sz="4400" dirty="0"/>
              <a:t>Electromagnetic wave propagation</a:t>
            </a:r>
          </a:p>
        </p:txBody>
      </p:sp>
      <p:sp>
        <p:nvSpPr>
          <p:cNvPr id="3" name="Content Placeholder 2"/>
          <p:cNvSpPr>
            <a:spLocks noGrp="1"/>
          </p:cNvSpPr>
          <p:nvPr>
            <p:ph idx="1"/>
          </p:nvPr>
        </p:nvSpPr>
        <p:spPr>
          <a:xfrm>
            <a:off x="4891154" y="2198914"/>
            <a:ext cx="3762988" cy="4076416"/>
          </a:xfrm>
        </p:spPr>
        <p:txBody>
          <a:bodyPr>
            <a:normAutofit fontScale="85000" lnSpcReduction="20000"/>
          </a:bodyPr>
          <a:lstStyle/>
          <a:p>
            <a:pPr>
              <a:buFont typeface="Wingdings" panose="05000000000000000000" pitchFamily="2" charset="2"/>
              <a:buChar char="§"/>
            </a:pPr>
            <a:r>
              <a:rPr lang="en-US" dirty="0"/>
              <a:t>Electromagnetic energy is coupled to the propagation medium by an antenna which serves as the radiator </a:t>
            </a:r>
          </a:p>
          <a:p>
            <a:pPr>
              <a:buFont typeface="Wingdings" panose="05000000000000000000" pitchFamily="2" charset="2"/>
              <a:buChar char="§"/>
            </a:pPr>
            <a:r>
              <a:rPr lang="en-US" dirty="0"/>
              <a:t>Propagation mode is grouped into </a:t>
            </a:r>
          </a:p>
          <a:p>
            <a:pPr lvl="1">
              <a:buFont typeface="Arial" panose="020B0604020202020204" pitchFamily="34" charset="0"/>
              <a:buChar char="•"/>
            </a:pPr>
            <a:r>
              <a:rPr lang="en-US" dirty="0"/>
              <a:t>ground-wave propagation</a:t>
            </a:r>
          </a:p>
          <a:p>
            <a:pPr lvl="1">
              <a:buFont typeface="Arial" panose="020B0604020202020204" pitchFamily="34" charset="0"/>
              <a:buChar char="•"/>
            </a:pPr>
            <a:r>
              <a:rPr lang="en-US" dirty="0"/>
              <a:t>sky-wave propagation</a:t>
            </a:r>
          </a:p>
          <a:p>
            <a:pPr lvl="1">
              <a:buFont typeface="Arial" panose="020B0604020202020204" pitchFamily="34" charset="0"/>
              <a:buChar char="•"/>
            </a:pPr>
            <a:r>
              <a:rPr lang="en-US" dirty="0"/>
              <a:t>line-of-sight (LOS) propagation as indicated in </a:t>
            </a:r>
            <a:r>
              <a:rPr lang="en-US" i="1" dirty="0"/>
              <a:t>Figure </a:t>
            </a:r>
            <a:r>
              <a:rPr lang="en-US" dirty="0"/>
              <a:t>1.4 </a:t>
            </a:r>
          </a:p>
        </p:txBody>
      </p:sp>
      <p:sp>
        <p:nvSpPr>
          <p:cNvPr id="4" name="Slide Number Placeholder 3"/>
          <p:cNvSpPr>
            <a:spLocks noGrp="1"/>
          </p:cNvSpPr>
          <p:nvPr>
            <p:ph type="sldNum" sz="quarter" idx="12"/>
          </p:nvPr>
        </p:nvSpPr>
        <p:spPr>
          <a:xfrm>
            <a:off x="7425344" y="6459786"/>
            <a:ext cx="984019" cy="365125"/>
          </a:xfrm>
        </p:spPr>
        <p:txBody>
          <a:bodyPr>
            <a:normAutofit/>
          </a:bodyPr>
          <a:lstStyle/>
          <a:p>
            <a:pPr defTabSz="914400">
              <a:defRPr/>
            </a:pPr>
            <a:fld id="{48F63A3B-78C7-47BE-AE5E-E10140E04643}" type="slidenum">
              <a:rPr kumimoji="0" lang="en-US" b="0" i="0" u="none" strike="noStrike" kern="0" cap="none" spc="0" normalizeH="0" baseline="0" noProof="0" smtClean="0">
                <a:ln>
                  <a:noFill/>
                </a:ln>
                <a:effectLst/>
                <a:uLnTx/>
                <a:uFillTx/>
              </a:rPr>
              <a:t>21</a:t>
            </a:fld>
            <a:endParaRPr lang="en-US" ker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7" name="Rectangle 6"/>
          <p:cNvSpPr>
            <a:spLocks noGrp="1" noRot="1" noChangeAspect="1" noMove="1" noResize="1" noEditPoints="1" noAdjustHandles="1" noChangeArrowheads="1" noChangeShapeType="1" noTextEdit="1"/>
          </p:cNvSpPr>
          <p:nvPr/>
        </p:nvSpPr>
        <p:spPr>
          <a:xfrm>
            <a:off x="1" y="0"/>
            <a:ext cx="9139736"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8" name="Rectangle 7"/>
          <p:cNvSpPr>
            <a:spLocks noGrp="1" noRot="1" noChangeAspect="1" noMove="1" noResize="1" noEditPoints="1" noAdjustHandles="1" noChangeArrowheads="1" noChangeShapeType="1" noTextEdit="1"/>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a:spLocks noGrp="1" noRot="1" noChangeAspect="1" noMove="1" noResize="1" noEditPoints="1" noAdjustHandles="1" noChangeArrowheads="1" noChangeShapeType="1" noTextEdit="1"/>
          </p:cNvSpPr>
          <p:nvPr/>
        </p:nvSpPr>
        <p:spPr>
          <a:xfrm>
            <a:off x="3030053"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5" name="Picture 4"/>
          <p:cNvPicPr/>
          <p:nvPr/>
        </p:nvPicPr>
        <p:blipFill>
          <a:blip r:embed="rId3"/>
          <a:stretch>
            <a:fillRect/>
          </a:stretch>
        </p:blipFill>
        <p:spPr>
          <a:xfrm>
            <a:off x="3995803" y="175364"/>
            <a:ext cx="4296427" cy="6334526"/>
          </a:xfrm>
          <a:prstGeom prst="rect">
            <a:avLst/>
          </a:prstGeom>
        </p:spPr>
      </p:pic>
      <p:sp>
        <p:nvSpPr>
          <p:cNvPr id="2" name="Title 1"/>
          <p:cNvSpPr>
            <a:spLocks noGrp="1"/>
          </p:cNvSpPr>
          <p:nvPr>
            <p:ph type="title"/>
          </p:nvPr>
        </p:nvSpPr>
        <p:spPr>
          <a:xfrm>
            <a:off x="252664" y="516836"/>
            <a:ext cx="2430248" cy="1059301"/>
          </a:xfrm>
        </p:spPr>
        <p:txBody>
          <a:bodyPr>
            <a:normAutofit/>
          </a:bodyPr>
          <a:lstStyle/>
          <a:p>
            <a:r>
              <a:rPr lang="en-US" sz="3300" dirty="0">
                <a:solidFill>
                  <a:srgbClr val="FFFFFF"/>
                </a:solidFill>
              </a:rPr>
              <a:t>Propagation mode</a:t>
            </a:r>
          </a:p>
        </p:txBody>
      </p:sp>
      <p:sp>
        <p:nvSpPr>
          <p:cNvPr id="3" name="Content Placeholder 2"/>
          <p:cNvSpPr>
            <a:spLocks noGrp="1"/>
          </p:cNvSpPr>
          <p:nvPr>
            <p:ph idx="1"/>
          </p:nvPr>
        </p:nvSpPr>
        <p:spPr>
          <a:xfrm>
            <a:off x="252664" y="1684421"/>
            <a:ext cx="2721434" cy="4825469"/>
          </a:xfrm>
        </p:spPr>
        <p:txBody>
          <a:bodyPr>
            <a:noAutofit/>
          </a:bodyPr>
          <a:lstStyle/>
          <a:p>
            <a:pPr>
              <a:lnSpc>
                <a:spcPct val="70000"/>
              </a:lnSpc>
            </a:pPr>
            <a:r>
              <a:rPr lang="en-US" sz="1800" dirty="0">
                <a:solidFill>
                  <a:srgbClr val="FFFFFF"/>
                </a:solidFill>
              </a:rPr>
              <a:t>Ground-wave</a:t>
            </a:r>
          </a:p>
          <a:p>
            <a:pPr lvl="1">
              <a:lnSpc>
                <a:spcPct val="70000"/>
              </a:lnSpc>
            </a:pPr>
            <a:r>
              <a:rPr lang="en-US" sz="1800" dirty="0">
                <a:solidFill>
                  <a:srgbClr val="FFFFFF"/>
                </a:solidFill>
              </a:rPr>
              <a:t>Frequency range in MF band (0.3 to 3 MHz)</a:t>
            </a:r>
          </a:p>
          <a:p>
            <a:pPr lvl="1">
              <a:lnSpc>
                <a:spcPct val="70000"/>
              </a:lnSpc>
            </a:pPr>
            <a:r>
              <a:rPr lang="en-US" sz="1800" dirty="0">
                <a:solidFill>
                  <a:srgbClr val="FFFFFF"/>
                </a:solidFill>
              </a:rPr>
              <a:t>Typical application is AM and maritime radio broadcasting</a:t>
            </a:r>
          </a:p>
          <a:p>
            <a:pPr>
              <a:lnSpc>
                <a:spcPct val="70000"/>
              </a:lnSpc>
            </a:pPr>
            <a:r>
              <a:rPr lang="en-US" sz="1800" dirty="0">
                <a:solidFill>
                  <a:srgbClr val="FFFFFF"/>
                </a:solidFill>
              </a:rPr>
              <a:t>Sky-wave</a:t>
            </a:r>
          </a:p>
          <a:p>
            <a:pPr lvl="1">
              <a:lnSpc>
                <a:spcPct val="70000"/>
              </a:lnSpc>
            </a:pPr>
            <a:r>
              <a:rPr lang="en-US" sz="1800" dirty="0">
                <a:solidFill>
                  <a:srgbClr val="FFFFFF"/>
                </a:solidFill>
              </a:rPr>
              <a:t>Results from transmitted signals being reflected or refracted from the ionosphere. </a:t>
            </a:r>
          </a:p>
          <a:p>
            <a:pPr>
              <a:lnSpc>
                <a:spcPct val="70000"/>
              </a:lnSpc>
            </a:pPr>
            <a:r>
              <a:rPr lang="en-US" sz="1800" dirty="0">
                <a:solidFill>
                  <a:srgbClr val="FFFFFF"/>
                </a:solidFill>
              </a:rPr>
              <a:t>Line-of-sight (LOS)</a:t>
            </a:r>
          </a:p>
          <a:p>
            <a:pPr lvl="1">
              <a:lnSpc>
                <a:spcPct val="70000"/>
              </a:lnSpc>
            </a:pPr>
            <a:r>
              <a:rPr lang="en-US" sz="1800" dirty="0">
                <a:solidFill>
                  <a:srgbClr val="FFFFFF"/>
                </a:solidFill>
              </a:rPr>
              <a:t>Terrestrial communication </a:t>
            </a:r>
          </a:p>
          <a:p>
            <a:pPr lvl="1">
              <a:lnSpc>
                <a:spcPct val="70000"/>
              </a:lnSpc>
            </a:pPr>
            <a:r>
              <a:rPr lang="en-US" sz="1800" dirty="0">
                <a:solidFill>
                  <a:srgbClr val="FFFFFF"/>
                </a:solidFill>
              </a:rPr>
              <a:t>VHF and UHF frequency bands</a:t>
            </a:r>
          </a:p>
          <a:p>
            <a:pPr lvl="1">
              <a:lnSpc>
                <a:spcPct val="70000"/>
              </a:lnSpc>
            </a:pPr>
            <a:r>
              <a:rPr lang="en-US" sz="1800" dirty="0">
                <a:solidFill>
                  <a:srgbClr val="FFFFFF"/>
                </a:solidFill>
              </a:rPr>
              <a:t>Attenuation is a worrying factor in LOS communication</a:t>
            </a:r>
          </a:p>
        </p:txBody>
      </p:sp>
      <p:sp>
        <p:nvSpPr>
          <p:cNvPr id="4" name="Slide Number Placeholder 3"/>
          <p:cNvSpPr>
            <a:spLocks noGrp="1"/>
          </p:cNvSpPr>
          <p:nvPr>
            <p:ph type="sldNum" sz="quarter" idx="12"/>
          </p:nvPr>
        </p:nvSpPr>
        <p:spPr>
          <a:xfrm>
            <a:off x="7425344" y="6459786"/>
            <a:ext cx="984019" cy="365125"/>
          </a:xfrm>
        </p:spPr>
        <p:txBody>
          <a:bodyPr>
            <a:normAutofit/>
          </a:bodyPr>
          <a:lstStyle/>
          <a:p>
            <a:pPr defTabSz="914400">
              <a:defRPr/>
            </a:pPr>
            <a:fld id="{48F63A3B-78C7-47BE-AE5E-E10140E04643}" type="slidenum">
              <a:rPr kumimoji="0" lang="en-US" b="0" i="0" u="none" strike="noStrike" kern="0" cap="none" spc="0" normalizeH="0" baseline="0" noProof="0" smtClean="0">
                <a:ln>
                  <a:noFill/>
                </a:ln>
                <a:solidFill>
                  <a:schemeClr val="tx2"/>
                </a:solidFill>
                <a:effectLst/>
                <a:uLnTx/>
                <a:uFillTx/>
              </a:rPr>
              <a:t>22</a:t>
            </a:fld>
            <a:endParaRPr lang="en-US" kern="0">
              <a:solidFill>
                <a:schemeClr val="tx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38539" y="165652"/>
            <a:ext cx="8448262" cy="616225"/>
          </a:xfrm>
        </p:spPr>
        <p:txBody>
          <a:bodyPr>
            <a:normAutofit fontScale="90000"/>
          </a:bodyPr>
          <a:lstStyle/>
          <a:p>
            <a:r>
              <a:rPr lang="en-US" dirty="0"/>
              <a:t>ADC and Transmission Channel cont’d</a:t>
            </a:r>
            <a:endParaRPr lang="en-GB" dirty="0"/>
          </a:p>
        </p:txBody>
      </p:sp>
      <p:sp>
        <p:nvSpPr>
          <p:cNvPr id="3" name="Content Placeholder 2"/>
          <p:cNvSpPr>
            <a:spLocks noGrp="1"/>
          </p:cNvSpPr>
          <p:nvPr>
            <p:ph idx="1"/>
          </p:nvPr>
        </p:nvSpPr>
        <p:spPr/>
        <p:txBody>
          <a:bodyPr/>
          <a:lstStyle/>
          <a:p>
            <a:r>
              <a:rPr lang="en-US" dirty="0"/>
              <a:t>EM Spectrum</a:t>
            </a:r>
            <a:endParaRPr lang="en-GB" dirty="0"/>
          </a:p>
        </p:txBody>
      </p:sp>
      <p:sp>
        <p:nvSpPr>
          <p:cNvPr id="2" name="Slide Number Placeholder 1"/>
          <p:cNvSpPr>
            <a:spLocks noGrp="1"/>
          </p:cNvSpPr>
          <p:nvPr>
            <p:ph type="sldNum" sz="quarter" idx="12"/>
          </p:nvPr>
        </p:nvSpPr>
        <p:spPr/>
        <p:txBody>
          <a:bodyPr/>
          <a:lstStyle/>
          <a:p>
            <a:fld id="{D57F1E4F-1CFF-5643-939E-217C01CDF565}" type="slidenum">
              <a:rPr lang="en-US" smtClean="0"/>
              <a:t>23</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0918" y="781877"/>
            <a:ext cx="5771965" cy="597810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Noise in Communication Channel</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dirty="0"/>
              <a:t>Noise is random, undesirable electric energy that enters the communication system via the medium and interferes with the transmitted message. </a:t>
            </a:r>
          </a:p>
          <a:p>
            <a:pPr>
              <a:buFont typeface="Wingdings" panose="05000000000000000000" pitchFamily="2" charset="2"/>
              <a:buChar char="§"/>
            </a:pPr>
            <a:r>
              <a:rPr lang="en-US" dirty="0"/>
              <a:t>Noise is one of the serious problems of electronic</a:t>
            </a:r>
            <a:br>
              <a:rPr lang="en-US" dirty="0"/>
            </a:br>
            <a:r>
              <a:rPr lang="en-US" dirty="0"/>
              <a:t>communication but can be controlled</a:t>
            </a:r>
          </a:p>
          <a:p>
            <a:pPr>
              <a:buFont typeface="Wingdings" panose="05000000000000000000" pitchFamily="2" charset="2"/>
              <a:buChar char="§"/>
            </a:pPr>
            <a:r>
              <a:rPr lang="en-US" dirty="0"/>
              <a:t>There are ways to deal with noise, and reduce the possibility of degradation of signal due to noise. </a:t>
            </a:r>
            <a:br>
              <a:rPr lang="en-US" dirty="0"/>
            </a:br>
            <a:endParaRPr lang="en-US" dirty="0"/>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t>24</a:t>
            </a:fld>
            <a:endParaRPr kumimoji="0" lang="en-US" sz="1800" b="0" i="0" u="none" strike="noStrike" kern="0" cap="none" spc="0" normalizeH="0" baseline="0" noProof="0" dirty="0">
              <a:ln>
                <a:noFill/>
              </a:ln>
              <a:solidFill>
                <a:sysClr val="windowText" lastClr="000000"/>
              </a:solidFill>
              <a:effectLst/>
              <a:uLnTx/>
              <a:uFillTx/>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Noise in Communication Channel</a:t>
            </a:r>
            <a:endParaRPr lang="en-GB" dirty="0"/>
          </a:p>
        </p:txBody>
      </p:sp>
      <p:sp>
        <p:nvSpPr>
          <p:cNvPr id="3" name="Content Placeholder 2"/>
          <p:cNvSpPr>
            <a:spLocks noGrp="1"/>
          </p:cNvSpPr>
          <p:nvPr>
            <p:ph idx="1"/>
          </p:nvPr>
        </p:nvSpPr>
        <p:spPr>
          <a:xfrm>
            <a:off x="238538" y="1099930"/>
            <a:ext cx="8613913" cy="5112980"/>
          </a:xfrm>
        </p:spPr>
        <p:txBody>
          <a:bodyPr>
            <a:normAutofit fontScale="92500" lnSpcReduction="10000"/>
          </a:bodyPr>
          <a:lstStyle/>
          <a:p>
            <a:r>
              <a:rPr lang="en-US" sz="2800" dirty="0"/>
              <a:t>Unavoidable presence of noise in the channel</a:t>
            </a:r>
          </a:p>
          <a:p>
            <a:pPr lvl="1">
              <a:buFont typeface="Wingdings" panose="05000000000000000000" pitchFamily="2" charset="2"/>
              <a:buChar char="ü"/>
            </a:pPr>
            <a:r>
              <a:rPr lang="en-US" sz="2400" dirty="0"/>
              <a:t>Noise refers to unwanted waves that disturb communications</a:t>
            </a:r>
          </a:p>
          <a:p>
            <a:pPr lvl="1">
              <a:buFont typeface="Wingdings" panose="05000000000000000000" pitchFamily="2" charset="2"/>
              <a:buChar char="ü"/>
            </a:pPr>
            <a:r>
              <a:rPr lang="en-US" sz="2400" dirty="0"/>
              <a:t>Signal is contaminated by noise along the path.</a:t>
            </a:r>
          </a:p>
          <a:p>
            <a:r>
              <a:rPr lang="en-US" sz="2800" dirty="0"/>
              <a:t>External noise: interference from nearby channels, man made noise, natural noise...</a:t>
            </a:r>
          </a:p>
          <a:p>
            <a:r>
              <a:rPr lang="en-US" sz="2800" dirty="0"/>
              <a:t>Internal noise: thermal noise, random emission... in electronic devices.</a:t>
            </a:r>
          </a:p>
          <a:p>
            <a:r>
              <a:rPr lang="en-US" sz="2800" dirty="0"/>
              <a:t>Noise is one of the basic factors that set limits on communications.</a:t>
            </a:r>
          </a:p>
          <a:p>
            <a:r>
              <a:rPr lang="en-US" sz="2800" dirty="0"/>
              <a:t>We shall look at </a:t>
            </a:r>
          </a:p>
          <a:p>
            <a:pPr lvl="1">
              <a:buFont typeface="Wingdings" panose="05000000000000000000" pitchFamily="2" charset="2"/>
              <a:buChar char="ü"/>
            </a:pPr>
            <a:r>
              <a:rPr lang="en-US" sz="2400" dirty="0"/>
              <a:t>Addictive noise channel</a:t>
            </a:r>
          </a:p>
          <a:p>
            <a:pPr lvl="1">
              <a:buFont typeface="Wingdings" panose="05000000000000000000" pitchFamily="2" charset="2"/>
              <a:buChar char="ü"/>
            </a:pPr>
            <a:r>
              <a:rPr lang="en-US" sz="2400" dirty="0"/>
              <a:t>Linear filter channel</a:t>
            </a:r>
          </a:p>
          <a:p>
            <a:pPr lvl="1">
              <a:buFont typeface="Wingdings" panose="05000000000000000000" pitchFamily="2" charset="2"/>
              <a:buChar char="ü"/>
            </a:pPr>
            <a:r>
              <a:rPr lang="en-US" sz="2400" dirty="0"/>
              <a:t>Linear time-variant channel</a:t>
            </a:r>
          </a:p>
          <a:p>
            <a:endParaRPr lang="en-GB" sz="2800" dirty="0"/>
          </a:p>
        </p:txBody>
      </p:sp>
      <p:sp>
        <p:nvSpPr>
          <p:cNvPr id="4" name="Slide Number Placeholder 3"/>
          <p:cNvSpPr>
            <a:spLocks noGrp="1"/>
          </p:cNvSpPr>
          <p:nvPr>
            <p:ph type="sldNum" sz="quarter" idx="12"/>
          </p:nvPr>
        </p:nvSpPr>
        <p:spPr/>
        <p:txBody>
          <a:bodyPr/>
          <a:lstStyle/>
          <a:p>
            <a:fld id="{D57F1E4F-1CFF-5643-939E-217C01CDF565}" type="slidenum">
              <a:rPr lang="en-US" smtClean="0"/>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Receiver</a:t>
            </a:r>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
            </a:pPr>
            <a:r>
              <a:rPr lang="en-US" dirty="0"/>
              <a:t>A receiver is a collection of electronic circuits designed to convert the signal from the channel</a:t>
            </a:r>
            <a:br>
              <a:rPr lang="en-US" dirty="0"/>
            </a:br>
            <a:r>
              <a:rPr lang="en-US" dirty="0"/>
              <a:t>back to the original information. </a:t>
            </a:r>
          </a:p>
          <a:p>
            <a:pPr>
              <a:buFont typeface="Wingdings" panose="05000000000000000000" pitchFamily="2" charset="2"/>
              <a:buChar char="§"/>
            </a:pPr>
            <a:r>
              <a:rPr lang="en-US" dirty="0"/>
              <a:t>It consists of amplifier, detector, mixer, oscillator, transducer, tuned circuits, filters and so on. </a:t>
            </a:r>
          </a:p>
          <a:p>
            <a:pPr>
              <a:buFont typeface="Wingdings" panose="05000000000000000000" pitchFamily="2" charset="2"/>
              <a:buChar char="§"/>
            </a:pPr>
            <a:r>
              <a:rPr lang="en-US" dirty="0"/>
              <a:t>Its operations include amplification to compensate for transmission loss, and demodulation, decoding and filtering to reverse the signal-processing</a:t>
            </a:r>
            <a:br>
              <a:rPr lang="en-US" dirty="0"/>
            </a:br>
            <a:r>
              <a:rPr lang="en-US" dirty="0"/>
              <a:t>performed at the transmitter. </a:t>
            </a:r>
            <a:br>
              <a:rPr lang="en-US" dirty="0"/>
            </a:br>
            <a:endParaRPr lang="en-US" dirty="0"/>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t>26</a:t>
            </a:fld>
            <a:endParaRPr kumimoji="0" lang="en-US" sz="1800" b="0" i="0" u="none" strike="noStrike" kern="0" cap="none" spc="0" normalizeH="0" baseline="0" noProof="0" dirty="0">
              <a:ln>
                <a:noFill/>
              </a:ln>
              <a:solidFill>
                <a:sysClr val="windowText" lastClr="000000"/>
              </a:solidFill>
              <a:effectLst/>
              <a:uLnTx/>
              <a:uFillTx/>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t>Mathematical Models of Communication Channels</a:t>
            </a:r>
            <a:r>
              <a:rPr lang="en-US" sz="3200" dirty="0"/>
              <a:t> </a:t>
            </a:r>
          </a:p>
        </p:txBody>
      </p:sp>
      <p:sp>
        <p:nvSpPr>
          <p:cNvPr id="3" name="Content Placeholder 2"/>
          <p:cNvSpPr>
            <a:spLocks noGrp="1"/>
          </p:cNvSpPr>
          <p:nvPr>
            <p:ph idx="1"/>
          </p:nvPr>
        </p:nvSpPr>
        <p:spPr/>
        <p:txBody>
          <a:bodyPr/>
          <a:lstStyle/>
          <a:p>
            <a:r>
              <a:rPr lang="en-US" dirty="0"/>
              <a:t>Additive noise channel model</a:t>
            </a:r>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t>27</a:t>
            </a:fld>
            <a:endParaRPr kumimoji="0" lang="en-US" sz="1800" b="0" i="0" u="none" strike="noStrike" kern="0" cap="none" spc="0" normalizeH="0" baseline="0" noProof="0" dirty="0">
              <a:ln>
                <a:noFill/>
              </a:ln>
              <a:solidFill>
                <a:sysClr val="windowText" lastClr="000000"/>
              </a:solidFill>
              <a:effectLst/>
              <a:uLnTx/>
              <a:uFillTx/>
            </a:endParaRPr>
          </a:p>
        </p:txBody>
      </p:sp>
      <p:pic>
        <p:nvPicPr>
          <p:cNvPr id="5" name="Picture 4"/>
          <p:cNvPicPr>
            <a:picLocks noChangeAspect="1"/>
          </p:cNvPicPr>
          <p:nvPr/>
        </p:nvPicPr>
        <p:blipFill>
          <a:blip r:embed="rId2"/>
          <a:stretch>
            <a:fillRect/>
          </a:stretch>
        </p:blipFill>
        <p:spPr>
          <a:xfrm>
            <a:off x="1516544" y="1808112"/>
            <a:ext cx="6057900" cy="33528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Autofit/>
          </a:bodyPr>
          <a:lstStyle/>
          <a:p>
            <a:r>
              <a:rPr lang="en-US" sz="3200" dirty="0"/>
              <a:t>Mathematical Models of Communication Channels </a:t>
            </a:r>
            <a:endParaRPr lang="en-GB" sz="3200" dirty="0"/>
          </a:p>
        </p:txBody>
      </p:sp>
      <p:sp>
        <p:nvSpPr>
          <p:cNvPr id="3" name="Content Placeholder 2"/>
          <p:cNvSpPr>
            <a:spLocks noGrp="1"/>
          </p:cNvSpPr>
          <p:nvPr>
            <p:ph idx="1"/>
          </p:nvPr>
        </p:nvSpPr>
        <p:spPr>
          <a:xfrm>
            <a:off x="238538" y="977563"/>
            <a:ext cx="8268754" cy="2283438"/>
          </a:xfrm>
        </p:spPr>
        <p:txBody>
          <a:bodyPr>
            <a:noAutofit/>
          </a:bodyPr>
          <a:lstStyle/>
          <a:p>
            <a:r>
              <a:rPr lang="en-US" sz="2400" dirty="0"/>
              <a:t>The linear filter channel</a:t>
            </a:r>
          </a:p>
          <a:p>
            <a:pPr lvl="1">
              <a:buFont typeface="Wingdings" panose="05000000000000000000" pitchFamily="2" charset="2"/>
              <a:buChar char="ü"/>
            </a:pPr>
            <a:r>
              <a:rPr lang="en-US" sz="2400" dirty="0"/>
              <a:t>In some physical channels such as wireline telephone channels, filters are used to ensure that the transmitted signals do not exceed specified bandwidth limitations and, thus, do not interfere with one another. </a:t>
            </a:r>
          </a:p>
          <a:p>
            <a:pPr lvl="1">
              <a:buFont typeface="Wingdings" panose="05000000000000000000" pitchFamily="2" charset="2"/>
              <a:buChar char="ü"/>
            </a:pPr>
            <a:r>
              <a:rPr lang="en-US" sz="2400" dirty="0"/>
              <a:t>Such channels are generally characterized mathematically as linear filter channels with additive noise</a:t>
            </a:r>
            <a:endParaRPr lang="en-GB" sz="2400" dirty="0"/>
          </a:p>
        </p:txBody>
      </p:sp>
      <p:sp>
        <p:nvSpPr>
          <p:cNvPr id="2" name="Slide Number Placeholder 1"/>
          <p:cNvSpPr>
            <a:spLocks noGrp="1"/>
          </p:cNvSpPr>
          <p:nvPr>
            <p:ph type="sldNum" sz="quarter" idx="12"/>
          </p:nvPr>
        </p:nvSpPr>
        <p:spPr/>
        <p:txBody>
          <a:bodyPr/>
          <a:lstStyle/>
          <a:p>
            <a:fld id="{D57F1E4F-1CFF-5643-939E-217C01CDF565}" type="slidenum">
              <a:rPr lang="en-US" smtClean="0"/>
              <a:t>28</a:t>
            </a:fld>
            <a:endParaRPr lang="en-US" dirty="0"/>
          </a:p>
        </p:txBody>
      </p:sp>
      <p:sp>
        <p:nvSpPr>
          <p:cNvPr id="5" name="Rectangle 2"/>
          <p:cNvSpPr>
            <a:spLocks noChangeArrowheads="1"/>
          </p:cNvSpPr>
          <p:nvPr/>
        </p:nvSpPr>
        <p:spPr bwMode="auto">
          <a:xfrm>
            <a:off x="1" y="718752"/>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en-GB" sz="1350"/>
          </a:p>
        </p:txBody>
      </p:sp>
      <p:graphicFrame>
        <p:nvGraphicFramePr>
          <p:cNvPr id="6" name="Object 5"/>
          <p:cNvGraphicFramePr>
            <a:graphicFrameLocks noChangeAspect="1"/>
          </p:cNvGraphicFramePr>
          <p:nvPr/>
        </p:nvGraphicFramePr>
        <p:xfrm>
          <a:off x="2070088" y="3575448"/>
          <a:ext cx="5798344" cy="988219"/>
        </p:xfrm>
        <a:graphic>
          <a:graphicData uri="http://schemas.openxmlformats.org/presentationml/2006/ole">
            <mc:AlternateContent xmlns:mc="http://schemas.openxmlformats.org/markup-compatibility/2006">
              <mc:Choice xmlns:v="urn:schemas-microsoft-com:vml" Requires="v">
                <p:oleObj spid="_x0000_s1025" name="Equation" r:id="rId4" imgW="4305300" imgH="774700" progId="Equation.DSMT4">
                  <p:embed/>
                </p:oleObj>
              </mc:Choice>
              <mc:Fallback>
                <p:oleObj name="Equation" r:id="rId4" imgW="4305300" imgH="774700" progId="Equation.DSMT4">
                  <p:embed/>
                  <p:pic>
                    <p:nvPicPr>
                      <p:cNvPr id="6"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70088" y="3575448"/>
                        <a:ext cx="5798344" cy="988219"/>
                      </a:xfrm>
                      <a:prstGeom prst="rect">
                        <a:avLst/>
                      </a:prstGeom>
                      <a:noFill/>
                    </p:spPr>
                  </p:pic>
                </p:oleObj>
              </mc:Fallback>
            </mc:AlternateContent>
          </a:graphicData>
        </a:graphic>
      </p:graphicFrame>
      <p:pic>
        <p:nvPicPr>
          <p:cNvPr id="8" name="Picture 7"/>
          <p:cNvPicPr>
            <a:picLocks noChangeAspect="1"/>
          </p:cNvPicPr>
          <p:nvPr/>
        </p:nvPicPr>
        <p:blipFill>
          <a:blip r:embed="rId6"/>
          <a:stretch>
            <a:fillRect/>
          </a:stretch>
        </p:blipFill>
        <p:spPr>
          <a:xfrm>
            <a:off x="2383836" y="4709372"/>
            <a:ext cx="4323315" cy="159518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Channel Bandwidth and Info. Capacity</a:t>
            </a:r>
            <a:endParaRPr lang="en-GB" dirty="0"/>
          </a:p>
        </p:txBody>
      </p:sp>
      <p:sp>
        <p:nvSpPr>
          <p:cNvPr id="3" name="Content Placeholder 2"/>
          <p:cNvSpPr>
            <a:spLocks noGrp="1"/>
          </p:cNvSpPr>
          <p:nvPr>
            <p:ph idx="1"/>
          </p:nvPr>
        </p:nvSpPr>
        <p:spPr>
          <a:xfrm>
            <a:off x="424071" y="995751"/>
            <a:ext cx="8262730" cy="4618233"/>
          </a:xfrm>
        </p:spPr>
        <p:txBody>
          <a:bodyPr>
            <a:normAutofit fontScale="92500"/>
          </a:bodyPr>
          <a:lstStyle/>
          <a:p>
            <a:r>
              <a:rPr lang="en-US" sz="2800" dirty="0"/>
              <a:t>The fundamental parameters that control the rate and quality of information transmission are the channel bandwidth </a:t>
            </a:r>
            <a:r>
              <a:rPr lang="en-US" sz="2800" b="1" dirty="0"/>
              <a:t>B</a:t>
            </a:r>
            <a:r>
              <a:rPr lang="en-US" sz="2800" dirty="0"/>
              <a:t> and the signal power </a:t>
            </a:r>
            <a:r>
              <a:rPr lang="en-US" sz="2800" b="1" dirty="0"/>
              <a:t>S</a:t>
            </a:r>
          </a:p>
          <a:p>
            <a:r>
              <a:rPr lang="en-US" sz="2800" dirty="0"/>
              <a:t>The  bandwidth  of  a  channel  is  the  range  of frequencies  that  it  can  transmit  with reasonable fidelity</a:t>
            </a:r>
          </a:p>
          <a:p>
            <a:r>
              <a:rPr lang="en-US" sz="2800" dirty="0"/>
              <a:t>Signal power </a:t>
            </a:r>
            <a:r>
              <a:rPr lang="en-US" sz="2800" b="1" dirty="0"/>
              <a:t>S</a:t>
            </a:r>
            <a:r>
              <a:rPr lang="en-US" sz="2800" dirty="0"/>
              <a:t> relate to </a:t>
            </a:r>
          </a:p>
          <a:p>
            <a:pPr lvl="1">
              <a:buFont typeface="Wingdings" panose="05000000000000000000" pitchFamily="2" charset="2"/>
              <a:buChar char="ü"/>
            </a:pPr>
            <a:r>
              <a:rPr lang="en-US" sz="2400" dirty="0"/>
              <a:t>Quality of information </a:t>
            </a:r>
            <a:r>
              <a:rPr lang="en-US" sz="2400" dirty="0">
                <a:sym typeface="Wingdings" panose="05000000000000000000" pitchFamily="2" charset="2"/>
              </a:rPr>
              <a:t> Increasing S, reduces the effect of channel  noise.</a:t>
            </a:r>
          </a:p>
          <a:p>
            <a:pPr lvl="1">
              <a:buFont typeface="Wingdings" panose="05000000000000000000" pitchFamily="2" charset="2"/>
              <a:buChar char="ü"/>
            </a:pPr>
            <a:r>
              <a:rPr lang="en-US" sz="2400" dirty="0">
                <a:sym typeface="Wingdings" panose="05000000000000000000" pitchFamily="2" charset="2"/>
              </a:rPr>
              <a:t>Bandwidth </a:t>
            </a:r>
            <a:r>
              <a:rPr lang="en-US" sz="2400" b="1" dirty="0">
                <a:sym typeface="Wingdings" panose="05000000000000000000" pitchFamily="2" charset="2"/>
              </a:rPr>
              <a:t>B,</a:t>
            </a:r>
            <a:r>
              <a:rPr lang="en-US" sz="2400" dirty="0">
                <a:sym typeface="Wingdings" panose="05000000000000000000" pitchFamily="2" charset="2"/>
              </a:rPr>
              <a:t>   </a:t>
            </a:r>
            <a:r>
              <a:rPr lang="en-US" sz="2400" b="1" dirty="0">
                <a:sym typeface="Wingdings" panose="05000000000000000000" pitchFamily="2" charset="2"/>
              </a:rPr>
              <a:t>S</a:t>
            </a:r>
            <a:r>
              <a:rPr lang="en-US" sz="2400" dirty="0">
                <a:sym typeface="Wingdings" panose="05000000000000000000" pitchFamily="2" charset="2"/>
              </a:rPr>
              <a:t> and </a:t>
            </a:r>
            <a:r>
              <a:rPr lang="en-US" sz="2400" b="1" dirty="0">
                <a:sym typeface="Wingdings" panose="05000000000000000000" pitchFamily="2" charset="2"/>
              </a:rPr>
              <a:t>B</a:t>
            </a:r>
            <a:r>
              <a:rPr lang="en-US" sz="2400" dirty="0">
                <a:sym typeface="Wingdings" panose="05000000000000000000" pitchFamily="2" charset="2"/>
              </a:rPr>
              <a:t> are exchangeable i.e. increasing one  (may) reduces the other </a:t>
            </a:r>
          </a:p>
          <a:p>
            <a:r>
              <a:rPr lang="en-US" sz="2800" dirty="0"/>
              <a:t>SNR is proportional to </a:t>
            </a:r>
            <a:r>
              <a:rPr lang="en-US" sz="2800" b="1" dirty="0"/>
              <a:t>S</a:t>
            </a:r>
            <a:r>
              <a:rPr lang="en-US" sz="2800" dirty="0"/>
              <a:t> </a:t>
            </a:r>
            <a:r>
              <a:rPr lang="en-US" sz="2800" dirty="0">
                <a:sym typeface="Wingdings" panose="05000000000000000000" pitchFamily="2" charset="2"/>
              </a:rPr>
              <a:t> </a:t>
            </a:r>
            <a:r>
              <a:rPr lang="en-US" sz="2800" b="1" dirty="0">
                <a:sym typeface="Wingdings" panose="05000000000000000000" pitchFamily="2" charset="2"/>
              </a:rPr>
              <a:t>SNR</a:t>
            </a:r>
            <a:r>
              <a:rPr lang="en-US" sz="2800" dirty="0">
                <a:sym typeface="Wingdings" panose="05000000000000000000" pitchFamily="2" charset="2"/>
              </a:rPr>
              <a:t> are interchangeable</a:t>
            </a:r>
          </a:p>
        </p:txBody>
      </p:sp>
      <p:sp>
        <p:nvSpPr>
          <p:cNvPr id="6" name="Slide Number Placeholder 5"/>
          <p:cNvSpPr>
            <a:spLocks noGrp="1"/>
          </p:cNvSpPr>
          <p:nvPr>
            <p:ph type="sldNum" sz="quarter" idx="12"/>
          </p:nvPr>
        </p:nvSpPr>
        <p:spPr/>
        <p:txBody>
          <a:bodyPr/>
          <a:lstStyle/>
          <a:p>
            <a:fld id="{D57F1E4F-1CFF-5643-939E-217C01CDF565}" type="slidenum">
              <a:rPr lang="en-US" smtClean="0"/>
              <a:t>29</a:t>
            </a:fld>
            <a:endParaRPr lang="en-US" dirty="0"/>
          </a:p>
        </p:txBody>
      </p:sp>
      <p:sp>
        <p:nvSpPr>
          <p:cNvPr id="4" name="Rectangle 2"/>
          <p:cNvSpPr>
            <a:spLocks noChangeArrowheads="1"/>
          </p:cNvSpPr>
          <p:nvPr/>
        </p:nvSpPr>
        <p:spPr bwMode="auto">
          <a:xfrm>
            <a:off x="1" y="718752"/>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en-GB" sz="1350"/>
          </a:p>
        </p:txBody>
      </p:sp>
      <p:graphicFrame>
        <p:nvGraphicFramePr>
          <p:cNvPr id="5" name="Object 4"/>
          <p:cNvGraphicFramePr>
            <a:graphicFrameLocks noChangeAspect="1"/>
          </p:cNvGraphicFramePr>
          <p:nvPr/>
        </p:nvGraphicFramePr>
        <p:xfrm>
          <a:off x="3475049" y="5412649"/>
          <a:ext cx="2160774" cy="795002"/>
        </p:xfrm>
        <a:graphic>
          <a:graphicData uri="http://schemas.openxmlformats.org/presentationml/2006/ole">
            <mc:AlternateContent xmlns:mc="http://schemas.openxmlformats.org/markup-compatibility/2006">
              <mc:Choice xmlns:v="urn:schemas-microsoft-com:vml" Requires="v">
                <p:oleObj spid="_x0000_s2049" name="Equation" r:id="rId4" imgW="1028700" imgH="330200" progId="Equation.DSMT4">
                  <p:embed/>
                </p:oleObj>
              </mc:Choice>
              <mc:Fallback>
                <p:oleObj name="Equation" r:id="rId4" imgW="1028700" imgH="330200" progId="Equation.DSMT4">
                  <p:embed/>
                  <p:pic>
                    <p:nvPicPr>
                      <p:cNvPr id="5"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75049" y="5412649"/>
                        <a:ext cx="2160774" cy="795002"/>
                      </a:xfrm>
                      <a:prstGeom prst="rect">
                        <a:avLst/>
                      </a:prstGeom>
                      <a:noFill/>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Autofit/>
          </a:bodyPr>
          <a:lstStyle/>
          <a:p>
            <a:r>
              <a:rPr lang="en-US" sz="3600" dirty="0"/>
              <a:t>Channel Bandwidth and Info. Capacity cont’d</a:t>
            </a:r>
            <a:endParaRPr lang="en-GB" sz="3600" dirty="0"/>
          </a:p>
        </p:txBody>
      </p:sp>
      <p:sp>
        <p:nvSpPr>
          <p:cNvPr id="3" name="Content Placeholder 2"/>
          <p:cNvSpPr>
            <a:spLocks noGrp="1"/>
          </p:cNvSpPr>
          <p:nvPr>
            <p:ph idx="1"/>
          </p:nvPr>
        </p:nvSpPr>
        <p:spPr/>
        <p:txBody>
          <a:bodyPr>
            <a:normAutofit fontScale="92500" lnSpcReduction="10000"/>
          </a:bodyPr>
          <a:lstStyle/>
          <a:p>
            <a:r>
              <a:rPr lang="en-US" dirty="0"/>
              <a:t>Thus, if we double the channel bandwidth, the required SNR is just a square root of the former SNR, and tripling the channel bandwidth reduces the corresponding SNR to just a cube root of the former SNR</a:t>
            </a:r>
          </a:p>
          <a:p>
            <a:pPr lvl="1">
              <a:buFont typeface="Wingdings" panose="05000000000000000000" pitchFamily="2" charset="2"/>
              <a:buChar char="ü"/>
            </a:pPr>
            <a:r>
              <a:rPr lang="en-US" dirty="0"/>
              <a:t>small increase in channel bandwidth  has greater advantage in terms of reduced transmission power whereas  large increase in transmitted power has marginal effect on situation where bandwidth has been reduced</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Hence, in practice, the exchange between </a:t>
            </a:r>
            <a:r>
              <a:rPr lang="en-US" b="1" dirty="0"/>
              <a:t>B</a:t>
            </a:r>
            <a:r>
              <a:rPr lang="en-US" dirty="0"/>
              <a:t> and </a:t>
            </a:r>
            <a:r>
              <a:rPr lang="en-US" b="1" dirty="0"/>
              <a:t>SNR</a:t>
            </a:r>
            <a:r>
              <a:rPr lang="en-US" dirty="0"/>
              <a:t> is usually in the sense of increasing </a:t>
            </a:r>
            <a:r>
              <a:rPr lang="en-US" b="1" dirty="0"/>
              <a:t>B</a:t>
            </a:r>
            <a:r>
              <a:rPr lang="en-US" dirty="0"/>
              <a:t> to reduce transmitted power, and rarely the other way around.</a:t>
            </a:r>
            <a:endParaRPr lang="en-GB" dirty="0"/>
          </a:p>
          <a:p>
            <a:pPr lvl="1"/>
            <a:endParaRPr lang="en-GB" dirty="0"/>
          </a:p>
        </p:txBody>
      </p:sp>
      <p:sp>
        <p:nvSpPr>
          <p:cNvPr id="2" name="Slide Number Placeholder 1"/>
          <p:cNvSpPr>
            <a:spLocks noGrp="1"/>
          </p:cNvSpPr>
          <p:nvPr>
            <p:ph type="sldNum" sz="quarter" idx="12"/>
          </p:nvPr>
        </p:nvSpPr>
        <p:spPr/>
        <p:txBody>
          <a:bodyPr/>
          <a:lstStyle/>
          <a:p>
            <a:fld id="{D57F1E4F-1CFF-5643-939E-217C01CDF565}" type="slidenum">
              <a:rPr lang="en-US" smtClean="0"/>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Autofit/>
          </a:bodyPr>
          <a:lstStyle/>
          <a:p>
            <a:r>
              <a:rPr lang="en-US" sz="4000" dirty="0"/>
              <a:t>Channel Bandwidth and Info. Capacity</a:t>
            </a:r>
            <a:endParaRPr lang="en-GB" sz="4000" dirty="0"/>
          </a:p>
        </p:txBody>
      </p:sp>
      <p:sp>
        <p:nvSpPr>
          <p:cNvPr id="3" name="Content Placeholder 2"/>
          <p:cNvSpPr>
            <a:spLocks noGrp="1"/>
          </p:cNvSpPr>
          <p:nvPr>
            <p:ph idx="1"/>
          </p:nvPr>
        </p:nvSpPr>
        <p:spPr>
          <a:xfrm>
            <a:off x="788476" y="1026210"/>
            <a:ext cx="7838794" cy="741612"/>
          </a:xfrm>
        </p:spPr>
        <p:txBody>
          <a:bodyPr>
            <a:noAutofit/>
          </a:bodyPr>
          <a:lstStyle/>
          <a:p>
            <a:r>
              <a:rPr lang="en-US" sz="2400" dirty="0"/>
              <a:t>Information capacity, </a:t>
            </a:r>
            <a:r>
              <a:rPr lang="en-US" sz="2400" i="1" dirty="0"/>
              <a:t>C</a:t>
            </a:r>
            <a:r>
              <a:rPr lang="en-US" sz="2400" dirty="0"/>
              <a:t> of a channel is given by the Shannon’s equation</a:t>
            </a:r>
          </a:p>
        </p:txBody>
      </p:sp>
      <p:sp>
        <p:nvSpPr>
          <p:cNvPr id="2" name="Slide Number Placeholder 1"/>
          <p:cNvSpPr>
            <a:spLocks noGrp="1"/>
          </p:cNvSpPr>
          <p:nvPr>
            <p:ph type="sldNum" sz="quarter" idx="12"/>
          </p:nvPr>
        </p:nvSpPr>
        <p:spPr/>
        <p:txBody>
          <a:bodyPr/>
          <a:lstStyle/>
          <a:p>
            <a:fld id="{D57F1E4F-1CFF-5643-939E-217C01CDF565}" type="slidenum">
              <a:rPr lang="en-US" smtClean="0"/>
              <a:t>31</a:t>
            </a:fld>
            <a:endParaRPr lang="en-US" dirty="0"/>
          </a:p>
        </p:txBody>
      </p:sp>
      <p:sp>
        <p:nvSpPr>
          <p:cNvPr id="6" name="Rectangle 2"/>
          <p:cNvSpPr>
            <a:spLocks noChangeArrowheads="1"/>
          </p:cNvSpPr>
          <p:nvPr/>
        </p:nvSpPr>
        <p:spPr bwMode="auto">
          <a:xfrm>
            <a:off x="2391035" y="3647303"/>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en-GB" sz="1350"/>
          </a:p>
        </p:txBody>
      </p:sp>
      <p:graphicFrame>
        <p:nvGraphicFramePr>
          <p:cNvPr id="7" name="Object 6"/>
          <p:cNvGraphicFramePr>
            <a:graphicFrameLocks noChangeAspect="1"/>
          </p:cNvGraphicFramePr>
          <p:nvPr/>
        </p:nvGraphicFramePr>
        <p:xfrm>
          <a:off x="3049296" y="1767822"/>
          <a:ext cx="3317153" cy="556055"/>
        </p:xfrm>
        <a:graphic>
          <a:graphicData uri="http://schemas.openxmlformats.org/presentationml/2006/ole">
            <mc:AlternateContent xmlns:mc="http://schemas.openxmlformats.org/markup-compatibility/2006">
              <mc:Choice xmlns:v="urn:schemas-microsoft-com:vml" Requires="v">
                <p:oleObj spid="_x0000_s3073" name="Equation" r:id="rId4" imgW="1651000" imgH="254000" progId="Equation.DSMT4">
                  <p:embed/>
                </p:oleObj>
              </mc:Choice>
              <mc:Fallback>
                <p:oleObj name="Equation" r:id="rId4" imgW="1651000" imgH="254000" progId="Equation.DSMT4">
                  <p:embed/>
                  <p:pic>
                    <p:nvPicPr>
                      <p:cNvPr id="7"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9296" y="1767822"/>
                        <a:ext cx="3317153" cy="556055"/>
                      </a:xfrm>
                      <a:prstGeom prst="rect">
                        <a:avLst/>
                      </a:prstGeom>
                      <a:noFill/>
                    </p:spPr>
                  </p:pic>
                </p:oleObj>
              </mc:Fallback>
            </mc:AlternateContent>
          </a:graphicData>
        </a:graphic>
      </p:graphicFrame>
      <p:sp>
        <p:nvSpPr>
          <p:cNvPr id="9" name="TextBox 8"/>
          <p:cNvSpPr txBox="1"/>
          <p:nvPr/>
        </p:nvSpPr>
        <p:spPr>
          <a:xfrm>
            <a:off x="788476" y="2405113"/>
            <a:ext cx="7838794" cy="830997"/>
          </a:xfrm>
          <a:prstGeom prst="rect">
            <a:avLst/>
          </a:prstGeom>
          <a:noFill/>
        </p:spPr>
        <p:txBody>
          <a:bodyPr wrap="square" rtlCol="0">
            <a:spAutoFit/>
          </a:bodyPr>
          <a:lstStyle/>
          <a:p>
            <a:pPr marL="257175" indent="-257175">
              <a:buFont typeface="Wingdings" panose="05000000000000000000" pitchFamily="2" charset="2"/>
              <a:buChar char="ü"/>
            </a:pPr>
            <a:r>
              <a:rPr lang="en-US" sz="2400" i="1" dirty="0">
                <a:solidFill>
                  <a:srgbClr val="002060"/>
                </a:solidFill>
              </a:rPr>
              <a:t>C</a:t>
            </a:r>
            <a:r>
              <a:rPr lang="en-US" sz="2400" dirty="0">
                <a:solidFill>
                  <a:srgbClr val="002060"/>
                </a:solidFill>
              </a:rPr>
              <a:t> describes the limitations imposed  on communication by channel bandwidth and SNR</a:t>
            </a:r>
            <a:endParaRPr lang="en-GB" sz="2400" dirty="0">
              <a:solidFill>
                <a:srgbClr val="002060"/>
              </a:solidFill>
            </a:endParaRPr>
          </a:p>
        </p:txBody>
      </p:sp>
      <p:sp>
        <p:nvSpPr>
          <p:cNvPr id="10" name="TextBox 9"/>
          <p:cNvSpPr txBox="1"/>
          <p:nvPr/>
        </p:nvSpPr>
        <p:spPr>
          <a:xfrm>
            <a:off x="788477" y="3424753"/>
            <a:ext cx="7337608" cy="830997"/>
          </a:xfrm>
          <a:prstGeom prst="rect">
            <a:avLst/>
          </a:prstGeom>
          <a:noFill/>
        </p:spPr>
        <p:txBody>
          <a:bodyPr wrap="square" rtlCol="0">
            <a:spAutoFit/>
          </a:bodyPr>
          <a:lstStyle/>
          <a:p>
            <a:pPr marL="257175" indent="-257175">
              <a:buFont typeface="Wingdings" panose="05000000000000000000" pitchFamily="2" charset="2"/>
              <a:buChar char="ü"/>
            </a:pPr>
            <a:r>
              <a:rPr lang="en-US" sz="2400" dirty="0">
                <a:solidFill>
                  <a:srgbClr val="FF0000"/>
                </a:solidFill>
              </a:rPr>
              <a:t>Defined as the maximum rate at which information can be transmitted across the channel without error</a:t>
            </a:r>
            <a:endParaRPr lang="en-GB" sz="2400" dirty="0">
              <a:solidFill>
                <a:srgbClr val="FF0000"/>
              </a:solidFill>
            </a:endParaRPr>
          </a:p>
        </p:txBody>
      </p:sp>
      <mc:AlternateContent xmlns:mc="http://schemas.openxmlformats.org/markup-compatibility/2006" xmlns:a14="http://schemas.microsoft.com/office/drawing/2010/main">
        <mc:Choice Requires="a14">
          <p:sp>
            <p:nvSpPr>
              <p:cNvPr id="8" name="TextBox 7"/>
              <p:cNvSpPr txBox="1"/>
              <p:nvPr/>
            </p:nvSpPr>
            <p:spPr>
              <a:xfrm>
                <a:off x="788476" y="4615013"/>
                <a:ext cx="7329270" cy="1631216"/>
              </a:xfrm>
              <a:prstGeom prst="rect">
                <a:avLst/>
              </a:prstGeom>
              <a:noFill/>
            </p:spPr>
            <p:txBody>
              <a:bodyPr wrap="square" rtlCol="0">
                <a:spAutoFit/>
              </a:bodyPr>
              <a:lstStyle/>
              <a:p>
                <a:pPr marL="257168" indent="-257168">
                  <a:buFont typeface="Wingdings" panose="05000000000000000000" pitchFamily="2" charset="2"/>
                  <a:buChar char="ü"/>
                </a:pPr>
                <a:r>
                  <a:rPr lang="en-US" sz="2000" dirty="0"/>
                  <a:t>Bandwidth required by a modulated signal depends on the baseband frequency range (or data rate) and the modulation scheme.</a:t>
                </a:r>
              </a:p>
              <a:p>
                <a:pPr marL="257168" indent="-257168">
                  <a:buFont typeface="Wingdings" panose="05000000000000000000" pitchFamily="2" charset="2"/>
                  <a:buChar char="ü"/>
                </a:pPr>
                <a:r>
                  <a:rPr lang="en-US" sz="2000" dirty="0"/>
                  <a:t>Hartley’s Law: </a:t>
                </a:r>
                <a14:m>
                  <m:oMath xmlns:m="http://schemas.openxmlformats.org/officeDocument/2006/math">
                    <m:r>
                      <a:rPr lang="en-US" sz="2000" b="1" i="1" dirty="0">
                        <a:latin typeface="Cambria Math" panose="02040503050406030204" pitchFamily="18" charset="0"/>
                      </a:rPr>
                      <m:t>𝑰</m:t>
                    </m:r>
                    <m:r>
                      <a:rPr lang="en-US" sz="2000" b="1" i="1" dirty="0">
                        <a:latin typeface="Cambria Math" panose="02040503050406030204" pitchFamily="18" charset="0"/>
                      </a:rPr>
                      <m:t> = </m:t>
                    </m:r>
                    <m:r>
                      <a:rPr lang="en-US" sz="2000" b="1" i="1" dirty="0">
                        <a:latin typeface="Cambria Math" panose="02040503050406030204" pitchFamily="18" charset="0"/>
                      </a:rPr>
                      <m:t>𝒌</m:t>
                    </m:r>
                    <m:r>
                      <a:rPr lang="en-US" sz="2000" b="1" i="1" dirty="0">
                        <a:latin typeface="Cambria Math" panose="02040503050406030204" pitchFamily="18" charset="0"/>
                      </a:rPr>
                      <m:t> </m:t>
                    </m:r>
                    <m:r>
                      <a:rPr lang="en-US" sz="2000" b="1" i="1" dirty="0">
                        <a:latin typeface="Cambria Math" panose="02040503050406030204" pitchFamily="18" charset="0"/>
                      </a:rPr>
                      <m:t>𝒕</m:t>
                    </m:r>
                    <m:r>
                      <a:rPr lang="en-US" sz="2000" b="1" i="1" dirty="0">
                        <a:latin typeface="Cambria Math" panose="02040503050406030204" pitchFamily="18" charset="0"/>
                      </a:rPr>
                      <m:t> </m:t>
                    </m:r>
                    <m:r>
                      <a:rPr lang="en-US" sz="2000" b="1" i="1" dirty="0">
                        <a:latin typeface="Cambria Math" panose="02040503050406030204" pitchFamily="18" charset="0"/>
                      </a:rPr>
                      <m:t>𝑩</m:t>
                    </m:r>
                  </m:oMath>
                </a14:m>
                <a:r>
                  <a:rPr lang="en-US" sz="2000" dirty="0"/>
                  <a:t> where   I = amount of information; k = system constant; t = time available; B = channel bandwidth</a:t>
                </a:r>
              </a:p>
            </p:txBody>
          </p:sp>
        </mc:Choice>
        <mc:Fallback xmlns="">
          <p:sp>
            <p:nvSpPr>
              <p:cNvPr id="8" name="TextBox 7"/>
              <p:cNvSpPr txBox="1">
                <a:spLocks noRot="1" noChangeAspect="1" noMove="1" noResize="1" noEditPoints="1" noAdjustHandles="1" noChangeArrowheads="1" noChangeShapeType="1" noTextEdit="1"/>
              </p:cNvSpPr>
              <p:nvPr/>
            </p:nvSpPr>
            <p:spPr>
              <a:xfrm>
                <a:off x="788476" y="4615013"/>
                <a:ext cx="7329270" cy="1631216"/>
              </a:xfrm>
              <a:prstGeom prst="rect">
                <a:avLst/>
              </a:prstGeom>
              <a:blipFill rotWithShape="1">
                <a:blip r:embed="rId6"/>
                <a:stretch>
                  <a:fillRect l="-748" t="-1866" b="-5597"/>
                </a:stretch>
              </a:blipFill>
            </p:spPr>
            <p:txBody>
              <a:bodyPr/>
              <a:lstStyle/>
              <a:p>
                <a:r>
                  <a:rPr lang="en-US">
                    <a:noFill/>
                  </a:rPr>
                  <a:t> </a:t>
                </a:r>
                <a:endParaRPr lang="en-US">
                  <a:noFill/>
                </a:endParaRPr>
              </a:p>
            </p:txBody>
          </p:sp>
        </mc:Fallback>
      </mc:AlternateContent>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10820</Words>
  <Application>Microsoft Office PowerPoint</Application>
  <PresentationFormat>On-screen Show (4:3)</PresentationFormat>
  <Paragraphs>332</Paragraphs>
  <Slides>31</Slides>
  <Notes>23</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Retrospect</vt:lpstr>
      <vt:lpstr>PowerPoint Presentation</vt:lpstr>
      <vt:lpstr>University of Energy and Natural Resources, Sunyani   Dept. of Computer &amp; Electrical Eng.   ELNG 307 – ANALOG AND DIGITAL COMMUNICATIONS</vt:lpstr>
      <vt:lpstr>Chapter 0 – Overview of course</vt:lpstr>
      <vt:lpstr>Course Outline</vt:lpstr>
      <vt:lpstr>Course Objectives</vt:lpstr>
      <vt:lpstr>References</vt:lpstr>
      <vt:lpstr>PART ONE – Introduction to Communication Systems</vt:lpstr>
      <vt:lpstr>Introduction to Communication Systems</vt:lpstr>
      <vt:lpstr>Introduction to Communication Systems</vt:lpstr>
      <vt:lpstr>Types of Communication Systems and Sources</vt:lpstr>
      <vt:lpstr>Transmission Modes</vt:lpstr>
      <vt:lpstr>Basic Structure of Communication System</vt:lpstr>
      <vt:lpstr>Basic Structure of Communication System</vt:lpstr>
      <vt:lpstr>Transmitter</vt:lpstr>
      <vt:lpstr>Communication Channel</vt:lpstr>
      <vt:lpstr>Communication Channels</vt:lpstr>
      <vt:lpstr>Types of communication channels</vt:lpstr>
      <vt:lpstr>Types of communication channels</vt:lpstr>
      <vt:lpstr>Types of communication channels</vt:lpstr>
      <vt:lpstr>Types of communication channels</vt:lpstr>
      <vt:lpstr>Electromagnetic wave propagation</vt:lpstr>
      <vt:lpstr>Propagation mode</vt:lpstr>
      <vt:lpstr>ADC and Transmission Channel cont’d</vt:lpstr>
      <vt:lpstr>Noise in Communication Channel</vt:lpstr>
      <vt:lpstr>Noise in Communication Channel</vt:lpstr>
      <vt:lpstr>Receiver</vt:lpstr>
      <vt:lpstr>Mathematical Models of Communication Channels </vt:lpstr>
      <vt:lpstr>Mathematical Models of Communication Channels </vt:lpstr>
      <vt:lpstr>Channel Bandwidth and Info. Capacity</vt:lpstr>
      <vt:lpstr>Channel Bandwidth and Info. Capacity cont’d</vt:lpstr>
      <vt:lpstr>Channel Bandwidth and Info. Capacity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Samuel Tweneboah-Koduah</dc:creator>
  <cp:lastModifiedBy>Andrew Gyimah</cp:lastModifiedBy>
  <cp:revision>36</cp:revision>
  <dcterms:created xsi:type="dcterms:W3CDTF">2016-08-19T18:23:00Z</dcterms:created>
  <dcterms:modified xsi:type="dcterms:W3CDTF">2024-01-31T08:01:16Z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1033-10.2.0.5934</vt:lpwstr>
  </property>
</Properties>
</file>