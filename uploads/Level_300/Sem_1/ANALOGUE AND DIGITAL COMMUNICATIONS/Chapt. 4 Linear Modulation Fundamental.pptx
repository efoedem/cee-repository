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3"/>
  </p:notesMasterIdLst>
  <p:sldIdLst>
    <p:sldId id="257" r:id="rId2"/>
    <p:sldId id="258" r:id="rId3"/>
    <p:sldId id="262" r:id="rId4"/>
    <p:sldId id="343" r:id="rId5"/>
    <p:sldId id="344" r:id="rId6"/>
    <p:sldId id="287" r:id="rId7"/>
    <p:sldId id="288" r:id="rId8"/>
    <p:sldId id="289" r:id="rId9"/>
    <p:sldId id="290" r:id="rId10"/>
    <p:sldId id="291" r:id="rId11"/>
    <p:sldId id="345" r:id="rId12"/>
    <p:sldId id="292" r:id="rId13"/>
    <p:sldId id="293" r:id="rId14"/>
    <p:sldId id="294" r:id="rId15"/>
    <p:sldId id="346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310" r:id="rId32"/>
    <p:sldId id="311" r:id="rId33"/>
    <p:sldId id="312" r:id="rId34"/>
    <p:sldId id="313" r:id="rId35"/>
    <p:sldId id="314" r:id="rId36"/>
    <p:sldId id="315" r:id="rId37"/>
    <p:sldId id="316" r:id="rId38"/>
    <p:sldId id="370" r:id="rId39"/>
    <p:sldId id="347" r:id="rId40"/>
    <p:sldId id="348" r:id="rId41"/>
    <p:sldId id="349" r:id="rId42"/>
    <p:sldId id="350" r:id="rId43"/>
    <p:sldId id="351" r:id="rId44"/>
    <p:sldId id="352" r:id="rId45"/>
    <p:sldId id="353" r:id="rId46"/>
    <p:sldId id="354" r:id="rId47"/>
    <p:sldId id="355" r:id="rId48"/>
    <p:sldId id="356" r:id="rId49"/>
    <p:sldId id="357" r:id="rId50"/>
    <p:sldId id="358" r:id="rId51"/>
    <p:sldId id="359" r:id="rId52"/>
    <p:sldId id="360" r:id="rId53"/>
    <p:sldId id="361" r:id="rId54"/>
    <p:sldId id="362" r:id="rId55"/>
    <p:sldId id="363" r:id="rId56"/>
    <p:sldId id="364" r:id="rId57"/>
    <p:sldId id="365" r:id="rId58"/>
    <p:sldId id="366" r:id="rId59"/>
    <p:sldId id="367" r:id="rId60"/>
    <p:sldId id="368" r:id="rId61"/>
    <p:sldId id="369" r:id="rId62"/>
    <p:sldId id="317" r:id="rId63"/>
    <p:sldId id="318" r:id="rId64"/>
    <p:sldId id="319" r:id="rId65"/>
    <p:sldId id="321" r:id="rId66"/>
    <p:sldId id="322" r:id="rId67"/>
    <p:sldId id="341" r:id="rId68"/>
    <p:sldId id="324" r:id="rId69"/>
    <p:sldId id="326" r:id="rId70"/>
    <p:sldId id="327" r:id="rId71"/>
    <p:sldId id="328" r:id="rId72"/>
    <p:sldId id="329" r:id="rId73"/>
    <p:sldId id="320" r:id="rId74"/>
    <p:sldId id="330" r:id="rId75"/>
    <p:sldId id="331" r:id="rId76"/>
    <p:sldId id="332" r:id="rId77"/>
    <p:sldId id="333" r:id="rId78"/>
    <p:sldId id="334" r:id="rId79"/>
    <p:sldId id="339" r:id="rId80"/>
    <p:sldId id="340" r:id="rId81"/>
    <p:sldId id="342" r:id="rId8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099" autoAdjust="0"/>
  </p:normalViewPr>
  <p:slideViewPr>
    <p:cSldViewPr snapToGrid="0">
      <p:cViewPr varScale="1">
        <p:scale>
          <a:sx n="61" d="100"/>
          <a:sy n="61" d="100"/>
        </p:scale>
        <p:origin x="67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E9A656-794E-45B2-9D04-A7B690456746}" type="datetimeFigureOut">
              <a:rPr lang="en-US" smtClean="0"/>
              <a:t>10/19/2016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CEBD6-1881-43F9-B099-8C505BE28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473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D89D2A-0E16-49BE-8EA8-9D2461F27A06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56037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569B4D-2B65-4B26-A854-D8AEC28F7E7B}" type="slidenum">
              <a:rPr kumimoji="0" lang="en-GB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0202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D89D2A-0E16-49BE-8EA8-9D2461F27A06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972279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i="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𝑔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(𝑡)=𝐴_𝑐 [├ 1+𝑚(𝑡)]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02027-3D3C-40BE-86EA-46FEF78F751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669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i="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𝑔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(𝑡)=𝐴_𝑐 [├ 1+𝑚(𝑡)]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02027-3D3C-40BE-86EA-46FEF78F751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044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|</m:t>
                    </m:r>
                    <m:d>
                      <m:dPr>
                        <m:begChr m:val=""/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𝑎</m:t>
                            </m:r>
                          </m:sub>
                        </m:s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|&gt;1</m:t>
                    </m:r>
                  </m:oMath>
                </a14:m>
                <a:r>
                  <a:rPr lang="en-US" dirty="0"/>
                  <a:t> for all t,</a:t>
                </a:r>
                <a:r>
                  <a:rPr lang="en-US" baseline="0" dirty="0"/>
                  <a:t> the carrier becomes over modulated resulting in carrier phase reversal whenever the factor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en-US" sz="120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US" sz="1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sSub>
                          <m:sSubPr>
                            <m:ctrlP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𝑎</m:t>
                            </m:r>
                          </m:sub>
                        </m:s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crosses the time</a:t>
                </a:r>
                <a:r>
                  <a:rPr lang="en-US" baseline="0" dirty="0"/>
                  <a:t> axis or zero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i="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|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├ 𝑘_𝑎 𝑚(𝑡)|&gt;1</a:t>
                </a:r>
                <a:r>
                  <a:rPr lang="en-US" dirty="0" smtClean="0"/>
                  <a:t> for all t,</a:t>
                </a:r>
                <a:r>
                  <a:rPr lang="en-US" baseline="0" dirty="0" smtClean="0"/>
                  <a:t> the carrier becomes over modulated resulting in carrier phase reversal whenever the factor </a:t>
                </a:r>
                <a:r>
                  <a:rPr lang="en-US" sz="1200" i="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├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1+𝑘_𝑎 𝑚(𝑡)</a:t>
                </a:r>
                <a:r>
                  <a:rPr lang="en-US" dirty="0" smtClean="0"/>
                  <a:t> crosses the time</a:t>
                </a:r>
                <a:r>
                  <a:rPr lang="en-US" baseline="0" dirty="0" smtClean="0"/>
                  <a:t> axis or zero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02027-3D3C-40BE-86EA-46FEF78F751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8800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02027-3D3C-40BE-86EA-46FEF78F751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407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i="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±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𝑓_𝑐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02027-3D3C-40BE-86EA-46FEF78F751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436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ratio of change in amplitude of modulating signal to the amplitude of carrier</a:t>
            </a:r>
            <a:r>
              <a:rPr lang="en-US" baseline="0" dirty="0"/>
              <a:t> wave is know as modulation index or factor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02027-3D3C-40BE-86EA-46FEF78F751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216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16CE2-E59E-4A9F-B022-55D079DA2D35}" type="slidenum">
              <a:rPr lang="en-GB" smtClean="0">
                <a:solidFill>
                  <a:prstClr val="black"/>
                </a:solidFill>
              </a:rPr>
              <a:pPr/>
              <a:t>16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231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02027-3D3C-40BE-86EA-46FEF78F751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705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02027-3D3C-40BE-86EA-46FEF78F751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235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02027-3D3C-40BE-86EA-46FEF78F751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812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02027-3D3C-40BE-86EA-46FEF78F751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876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0D35C0-AFCB-41B6-944A-B7BB2D91D5C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955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desired AM wave is obtained by passing </a:t>
            </a:r>
            <a:r>
              <a:rPr lang="en-US" dirty="0" err="1"/>
              <a:t>vo</a:t>
            </a:r>
            <a:r>
              <a:rPr lang="en-US" dirty="0"/>
              <a:t>(t) through a BPF </a:t>
            </a:r>
            <a:r>
              <a:rPr lang="en-US" dirty="0" err="1"/>
              <a:t>centred</a:t>
            </a:r>
            <a:r>
              <a:rPr lang="en-US" baseline="0" dirty="0"/>
              <a:t> at </a:t>
            </a:r>
            <a:r>
              <a:rPr lang="en-US" baseline="0" dirty="0" err="1"/>
              <a:t>wc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0D35C0-AFCB-41B6-944A-B7BB2D91D5C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335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</a:t>
                </a:r>
                <a:r>
                  <a:rPr lang="en-US" sz="1200" i="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𝑜=𝑎_𝑜+𝑎_1 𝑉_𝑖𝑛+𝑎_2 𝑉_𝑖𝑛^2+𝑎_3 𝑉_𝑖𝑛^3+...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02027-3D3C-40BE-86EA-46FEF78F751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6807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02027-3D3C-40BE-86EA-46FEF78F751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7493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02027-3D3C-40BE-86EA-46FEF78F751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9079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𝑣</a:t>
                </a:r>
                <a:r>
                  <a:rPr lang="en-US" sz="1200" i="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2=[├ 𝐴_𝑐 cos2𝜋𝑓_𝑐 𝑡+𝑚(𝑡)][1/2+2/𝜋 cos2𝜋𝑓_𝑐 𝑡−2/3𝜋 cos6𝜋𝑓_𝑐 𝑡+−+−]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02027-3D3C-40BE-86EA-46FEF78F751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357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The lower cutoff-frequency for the band pass filter should be between w and fc – w and the upper cut-off frequency between fc + w and 2fc. 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cos</m:t>
                              </m:r>
                              <m:r>
                                <a:rPr lang="en-US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lang="en-US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𝑚</m:t>
                              </m:r>
                              <m:r>
                                <a:rPr lang="en-US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lang="en-US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lang="en-US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𝜋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cos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lang="en-US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𝜋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cos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6</m:t>
                          </m:r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+−+−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 smtClean="0"/>
                  <a:t>The lower cutoff-frequency for the band pass filter should be between w and fc – w and the upper cut-off frequency between fc + w and 2fc. 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dirty="0" smtClean="0"/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𝑣</a:t>
                </a:r>
                <a:r>
                  <a:rPr lang="en-US" sz="1200" i="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2=[├ 𝐴_𝑐 cos2𝜋𝑓_𝑐 𝑡+𝑚(𝑡)][1/2+2/𝜋 cos2𝜋𝑓_𝑐 𝑡−2/3𝜋 cos6𝜋𝑓_𝑐 𝑡+−+−]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02027-3D3C-40BE-86EA-46FEF78F751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97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desired AM wave is obtained by passing </a:t>
            </a:r>
            <a:r>
              <a:rPr lang="en-US" dirty="0" err="1"/>
              <a:t>vo</a:t>
            </a:r>
            <a:r>
              <a:rPr lang="en-US" dirty="0"/>
              <a:t>(t) through a BPF </a:t>
            </a:r>
            <a:r>
              <a:rPr lang="en-US" dirty="0" err="1"/>
              <a:t>centred</a:t>
            </a:r>
            <a:r>
              <a:rPr lang="en-US" baseline="0" dirty="0"/>
              <a:t> at </a:t>
            </a:r>
            <a:r>
              <a:rPr lang="en-US" baseline="0" dirty="0" err="1"/>
              <a:t>wc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0D35C0-AFCB-41B6-944A-B7BB2D91D5C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8852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desired AM wave is obtained by passing </a:t>
            </a:r>
            <a:r>
              <a:rPr lang="en-US" dirty="0" err="1"/>
              <a:t>vo</a:t>
            </a:r>
            <a:r>
              <a:rPr lang="en-US" dirty="0"/>
              <a:t>(t) through a BPF </a:t>
            </a:r>
            <a:r>
              <a:rPr lang="en-US" dirty="0" err="1"/>
              <a:t>centred</a:t>
            </a:r>
            <a:r>
              <a:rPr lang="en-US" baseline="0" dirty="0"/>
              <a:t> at </a:t>
            </a:r>
            <a:r>
              <a:rPr lang="en-US" baseline="0" dirty="0" err="1"/>
              <a:t>wc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0D35C0-AFCB-41B6-944A-B7BB2D91D5C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769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𝑠(𝑡)=𝐴_𝑐 𝑚(𝑡)𝑐𝑜𝑠(𝜔_𝑐 𝑡+𝜙_𝑐 )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0D35C0-AFCB-41B6-944A-B7BB2D91D5C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4386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𝑠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)=</m:t>
                      </m:r>
                      <m:sSub>
                        <m:sSubPr>
                          <m:ctrlP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e>
                        <m:sub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sub>
                      </m:sSub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𝑚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𝑐𝑜𝑠</m:t>
                      </m:r>
                      <m:d>
                        <m:dPr>
                          <m:ctrlP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𝑠(𝑡)=𝐴_𝑐 𝑚(𝑡)𝑐𝑜𝑠(𝜔_𝑐 𝑡+𝜙_𝑐 )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0D35C0-AFCB-41B6-944A-B7BB2D91D5C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1608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𝑐(𝑡)=𝐴_𝑐 cos(2𝜋𝑓_𝑐 𝑡+𝜙_𝑐 )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0D35C0-AFCB-41B6-944A-B7BB2D91D5C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5208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0D35C0-AFCB-41B6-944A-B7BB2D91D5C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2877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0D35C0-AFCB-41B6-944A-B7BB2D91D5C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1422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i="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├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𝑠(𝑡)=𝐴_𝑐 𝐴_𝑚 cos(𝜔_𝑚 𝑡)cos(𝜔_𝑐 𝑡+𝜙_𝑐 )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02027-3D3C-40BE-86EA-46FEF78F751F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1431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0D35C0-AFCB-41B6-944A-B7BB2D91D5C9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5275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0D35C0-AFCB-41B6-944A-B7BB2D91D5C9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5435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𝑥_1 (𝑡)=𝐴_𝑐 [├ 1+𝐾_𝑎 𝑚(𝑡)]cos𝜔_𝑐 𝑡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0D35C0-AFCB-41B6-944A-B7BB2D91D5C9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87164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𝑥_1 (𝑡)=𝐴_𝑐 [├ 1+𝐾_𝑎 𝑚(𝑡)]cos𝜔_𝑐 𝑡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0D35C0-AFCB-41B6-944A-B7BB2D91D5C9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9180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i="1" dirty="0"/>
              <a:t>K</a:t>
            </a:r>
            <a:r>
              <a:rPr lang="en-US" sz="1200" i="1" baseline="-25000" dirty="0"/>
              <a:t>a</a:t>
            </a:r>
            <a:r>
              <a:rPr lang="en-US" sz="1200" i="1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the amplitude sensitivity of the modulator measured in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 volts.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0D35C0-AFCB-41B6-944A-B7BB2D91D5C9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1923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carrier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alternates between positive and negative current, at any given time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makes one pair of diodes conduct, and reverse-biases the other pair.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conducting pair carry the signal from the left transformer secondary to the primary of the transformer at the right.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 the positive half-cycles of the carrier, diodes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and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conduct (i.e. forward biased), and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and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are set open. Hence, terminal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connected to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terminal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connected to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Basically, the modulator multiplies the message signal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by +1 and therefore,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 the negative half-cycles of the carrier, diodes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and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are set open, and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and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are conducting, thus connecting terminal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terminal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way, the output is proportional to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during the positive half-cycle and to –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(i.e.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 –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)) during the negative half-cycle.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0D35C0-AFCB-41B6-944A-B7BB2D91D5C9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8413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carrier signal is ideally a square wave, whose Fourier expansion contains the fundamental and a series of reducing-amplitude odd harmonics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0D35C0-AFCB-41B6-944A-B7BB2D91D5C9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4333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i="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■8(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@├ ┤) )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02027-3D3C-40BE-86EA-46FEF78F751F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7302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fld id="{F33C461A-F760-4085-8AEB-FBF9AACE76FA}" type="slidenum">
              <a:rPr lang="en-US" altLang="en-US">
                <a:latin typeface="Arial" panose="020B0604020202020204" pitchFamily="34" charset="0"/>
              </a:rPr>
              <a:pPr/>
              <a:t>66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843577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fld id="{A0C8EFB8-FF5E-4056-B07C-9D64648F9BBF}" type="slidenum">
              <a:rPr lang="en-US" altLang="en-US">
                <a:latin typeface="Arial" panose="020B0604020202020204" pitchFamily="34" charset="0"/>
              </a:rPr>
              <a:pPr/>
              <a:t>68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5685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fld id="{39224E9D-8AF6-4D08-A831-E9AAA9E3C696}" type="slidenum">
              <a:rPr lang="en-US" altLang="en-US">
                <a:latin typeface="Arial" panose="020B0604020202020204" pitchFamily="34" charset="0"/>
              </a:rPr>
              <a:pPr/>
              <a:t>69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598309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fld id="{276BB728-48B2-473D-AD6E-F1039B13A5F2}" type="slidenum">
              <a:rPr lang="en-US" altLang="en-US">
                <a:latin typeface="Arial" panose="020B0604020202020204" pitchFamily="34" charset="0"/>
              </a:rPr>
              <a:pPr/>
              <a:t>70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988328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fld id="{BE363189-D7EC-42C3-B1E2-C1DD41FEAF76}" type="slidenum">
              <a:rPr lang="en-US" altLang="en-US">
                <a:latin typeface="Arial" panose="020B0604020202020204" pitchFamily="34" charset="0"/>
              </a:rPr>
              <a:pPr/>
              <a:t>71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10681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fld id="{05EE7555-4BAD-4254-92B7-2233EE795ED4}" type="slidenum">
              <a:rPr lang="en-US" altLang="en-US">
                <a:latin typeface="Arial" panose="020B0604020202020204" pitchFamily="34" charset="0"/>
              </a:rPr>
              <a:pPr/>
              <a:t>72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462112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fld id="{D338D37A-10E4-4683-81B2-03BEBF5C36B7}" type="slidenum">
              <a:rPr lang="en-US" altLang="en-US">
                <a:latin typeface="Arial" panose="020B0604020202020204" pitchFamily="34" charset="0"/>
              </a:rPr>
              <a:pPr/>
              <a:t>76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374463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fld id="{1A5D279D-8EDC-468D-8C9B-FD8527A8367B}" type="slidenum">
              <a:rPr lang="en-US" altLang="en-US">
                <a:latin typeface="Arial" panose="020B0604020202020204" pitchFamily="34" charset="0"/>
              </a:rPr>
              <a:pPr/>
              <a:t>77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897777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fld id="{E16C801B-0C0E-4692-BA6E-AD83BAA6D980}" type="slidenum">
              <a:rPr lang="en-US" altLang="en-US">
                <a:latin typeface="Arial" panose="020B0604020202020204" pitchFamily="34" charset="0"/>
              </a:rPr>
              <a:pPr/>
              <a:t>78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87752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Mainly used for television video transmission.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1CEBD6-1881-43F9-B099-8C505BE28E73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583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5D87C4-1ACF-43E4-B981-5289D2FD0812}" type="datetime1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10/19/2016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76225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3DF6EE-7FA4-46BA-A5DA-F3D93772C470}" type="datetime1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10/19/2016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3" y="6416514"/>
            <a:ext cx="264310" cy="299623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-64294" y="6665118"/>
            <a:ext cx="5167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UENR</a:t>
            </a: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23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7663" indent="-347663">
              <a:buFont typeface="Wingdings" panose="05000000000000000000" pitchFamily="2" charset="2"/>
              <a:buChar char="§"/>
              <a:defRPr/>
            </a:lvl1pPr>
            <a:lvl2pPr marL="630238" indent="-236538">
              <a:defRPr/>
            </a:lvl2pPr>
            <a:lvl3pPr marL="804863" indent="-182563">
              <a:buFont typeface="Arial" panose="020B0604020202020204" pitchFamily="34" charset="0"/>
              <a:buChar char="•"/>
              <a:defRPr/>
            </a:lvl3pPr>
            <a:lvl4pPr marL="969963" indent="-182563">
              <a:buSzPct val="45000"/>
              <a:buFont typeface="Wingdings" panose="05000000000000000000" pitchFamily="2" charset="2"/>
              <a:buChar char="v"/>
              <a:defRPr/>
            </a:lvl4pPr>
            <a:lvl5pPr marL="1087438" indent="-182563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83361" y="6459786"/>
            <a:ext cx="1854203" cy="365125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351D4F-6A12-4D21-99A8-197E08B34999}" type="datetime1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10/19/2016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01239" y="6459786"/>
            <a:ext cx="3617103" cy="365125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68432" y="6450261"/>
            <a:ext cx="98401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3" y="6416514"/>
            <a:ext cx="264310" cy="299623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-64294" y="6665118"/>
            <a:ext cx="5167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UENR</a:t>
            </a: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754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DAFA38-6267-40DB-9F64-980A3488F4C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0047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538" y="132520"/>
            <a:ext cx="8613913" cy="8000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538" y="1099930"/>
            <a:ext cx="8613913" cy="476916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defTabSz="457200"/>
            <a:fld id="{7E568439-A370-4C0B-97EF-B1CEBC00DA49}" type="datetime1">
              <a:rPr lang="en-US" smtClean="0"/>
              <a:pPr defTabSz="457200"/>
              <a:t>10/19/2016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defTabSz="45720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defTabSz="457200"/>
            <a:fld id="{48F63A3B-78C7-47BE-AE5E-E10140E04643}" type="slidenum">
              <a:rPr lang="en-US" smtClean="0"/>
              <a:pPr defTabSz="45720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1540" y="93440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16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47663" indent="-347663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3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238" indent="-2381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4863" indent="-18256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69963" indent="-18256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45000"/>
        <a:buFont typeface="Wingdings" panose="05000000000000000000" pitchFamily="2" charset="2"/>
        <a:buChar char="v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7438" indent="-18256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emf"/><Relationship Id="rId5" Type="http://schemas.openxmlformats.org/officeDocument/2006/relationships/image" Target="../media/image12.png"/><Relationship Id="rId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0.png"/><Relationship Id="rId5" Type="http://schemas.openxmlformats.org/officeDocument/2006/relationships/image" Target="../media/image310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notesSlide" Target="../notesSlides/notesSlide10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1.png"/><Relationship Id="rId5" Type="http://schemas.openxmlformats.org/officeDocument/2006/relationships/image" Target="../media/image18.wmf"/><Relationship Id="rId10" Type="http://schemas.openxmlformats.org/officeDocument/2006/relationships/image" Target="../media/image20.wmf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7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20.png"/><Relationship Id="rId4" Type="http://schemas.openxmlformats.org/officeDocument/2006/relationships/image" Target="../media/image30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32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1.png"/><Relationship Id="rId5" Type="http://schemas.openxmlformats.org/officeDocument/2006/relationships/image" Target="../media/image53.png"/><Relationship Id="rId4" Type="http://schemas.openxmlformats.org/officeDocument/2006/relationships/image" Target="../media/image30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0.png"/><Relationship Id="rId5" Type="http://schemas.openxmlformats.org/officeDocument/2006/relationships/image" Target="../media/image35.png"/><Relationship Id="rId4" Type="http://schemas.openxmlformats.org/officeDocument/2006/relationships/image" Target="../media/image33.e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em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5.emf"/><Relationship Id="rId4" Type="http://schemas.openxmlformats.org/officeDocument/2006/relationships/image" Target="../media/image2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6.png"/><Relationship Id="rId4" Type="http://schemas.openxmlformats.org/officeDocument/2006/relationships/image" Target="../media/image33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7" Type="http://schemas.openxmlformats.org/officeDocument/2006/relationships/image" Target="../media/image52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51.wmf"/><Relationship Id="rId4" Type="http://schemas.openxmlformats.org/officeDocument/2006/relationships/oleObject" Target="../embeddings/oleObject6.bin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7" Type="http://schemas.openxmlformats.org/officeDocument/2006/relationships/image" Target="../media/image54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53.wmf"/><Relationship Id="rId4" Type="http://schemas.openxmlformats.org/officeDocument/2006/relationships/oleObject" Target="../embeddings/oleObject8.bin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7" Type="http://schemas.openxmlformats.org/officeDocument/2006/relationships/image" Target="../media/image56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55.wmf"/><Relationship Id="rId4" Type="http://schemas.openxmlformats.org/officeDocument/2006/relationships/oleObject" Target="../embeddings/oleObject10.bin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7" Type="http://schemas.openxmlformats.org/officeDocument/2006/relationships/image" Target="../media/image58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57.wmf"/><Relationship Id="rId4" Type="http://schemas.openxmlformats.org/officeDocument/2006/relationships/oleObject" Target="../embeddings/oleObject12.bin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7.png"/><Relationship Id="rId4" Type="http://schemas.openxmlformats.org/officeDocument/2006/relationships/image" Target="../media/image6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aisat.ac.in/wp-content/uploads/2013/06/ec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8" y="747239"/>
            <a:ext cx="8864547" cy="3250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68" y="28439"/>
            <a:ext cx="1408952" cy="15971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2391" y="115346"/>
            <a:ext cx="1053924" cy="1053924"/>
          </a:xfrm>
          <a:prstGeom prst="rect">
            <a:avLst/>
          </a:prstGeom>
        </p:spPr>
      </p:pic>
      <p:pic>
        <p:nvPicPr>
          <p:cNvPr id="1028" name="Picture 4" descr="https://www.cubic.com/portals/0/Images/Solutions/Communications-Electronics/banner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8" y="3905209"/>
            <a:ext cx="6338888" cy="2462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s3.amazonaws.com/minglebox-photo/717bcb981318663626918.8a0af24f.m_ec6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4689" y="3905209"/>
            <a:ext cx="3681626" cy="2439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697018" y="1895352"/>
            <a:ext cx="4461164" cy="954107"/>
          </a:xfrm>
          <a:prstGeom prst="rect">
            <a:avLst/>
          </a:prstGeom>
          <a:solidFill>
            <a:srgbClr val="ADBED8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ELNG 307 – ANALOG AND DIGITAL COMMUNICATIONS</a:t>
            </a:r>
          </a:p>
        </p:txBody>
      </p:sp>
    </p:spTree>
    <p:extLst>
      <p:ext uri="{BB962C8B-B14F-4D97-AF65-F5344CB8AC3E}">
        <p14:creationId xmlns:p14="http://schemas.microsoft.com/office/powerpoint/2010/main" val="1926856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4010" y="438149"/>
            <a:ext cx="8154450" cy="5029778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dirty="0"/>
              <a:t>University of Energy and Natural Resources, Sunyani</a:t>
            </a: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Dept. of Computer &amp; Electrical Eng.</a:t>
            </a: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en-US" sz="3600" b="1" dirty="0"/>
              <a:t>ELNG 307 – ANALOG AND DIGITAL COMMUNICATIONS</a:t>
            </a:r>
            <a:endParaRPr lang="en-GB" sz="3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1" y="5615074"/>
            <a:ext cx="6686549" cy="844712"/>
          </a:xfrm>
        </p:spPr>
        <p:txBody>
          <a:bodyPr>
            <a:normAutofit/>
          </a:bodyPr>
          <a:lstStyle/>
          <a:p>
            <a:r>
              <a:rPr lang="en-US" dirty="0"/>
              <a:t>Tweneboah-Koduah 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27312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Chapter 4 – Linear Modulation Fundamental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There are too many people praying for mountains of difficulty to be removed, when what they really need is the courage to climb them!</a:t>
            </a:r>
            <a:br>
              <a:rPr lang="en-US" dirty="0"/>
            </a:br>
            <a:r>
              <a:rPr lang="en-US" dirty="0"/>
              <a:t>						– Unknown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039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71600"/>
            <a:ext cx="8391525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5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81" y="3962400"/>
            <a:ext cx="8885238" cy="223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5412" name="Rectangle 4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600" b="1">
                <a:solidFill>
                  <a:schemeClr val="tx1"/>
                </a:solidFill>
              </a:rPr>
              <a:t>Analogue Modulation Methods</a:t>
            </a:r>
            <a:endParaRPr lang="en-US" altLang="en-US" sz="5400" b="1" i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801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0"/>
            <a:ext cx="521335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54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57400"/>
            <a:ext cx="3046413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621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5364"/>
            <a:ext cx="8229600" cy="715962"/>
          </a:xfrm>
        </p:spPr>
        <p:txBody>
          <a:bodyPr/>
          <a:lstStyle/>
          <a:p>
            <a:r>
              <a:rPr lang="en-US" dirty="0"/>
              <a:t>Amplitude modulation (AM)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41638"/>
                <a:ext cx="8229600" cy="538003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The message </a:t>
                </a:r>
                <a:r>
                  <a:rPr lang="en-US" i="1" dirty="0"/>
                  <a:t>m(t)</a:t>
                </a:r>
                <a:r>
                  <a:rPr lang="en-US" dirty="0"/>
                  <a:t> is transmitted through the communication channel by impressing it on a carrier or </a:t>
                </a:r>
                <a:r>
                  <a:rPr lang="en-US" dirty="0" err="1"/>
                  <a:t>bandpass</a:t>
                </a:r>
                <a:r>
                  <a:rPr lang="en-US" dirty="0"/>
                  <a:t> signal of the form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36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60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360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6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for AM</a:t>
                </a:r>
              </a:p>
              <a:p>
                <a:r>
                  <a:rPr lang="en-US" dirty="0"/>
                  <a:t>Depending on the relationship between m(t) and A</a:t>
                </a:r>
                <a:r>
                  <a:rPr lang="en-US" baseline="-25000" dirty="0"/>
                  <a:t>c</a:t>
                </a:r>
                <a:r>
                  <a:rPr lang="en-US" dirty="0"/>
                  <a:t>(t), we have various types of AM schemes</a:t>
                </a:r>
              </a:p>
              <a:p>
                <a:pPr lvl="1"/>
                <a:r>
                  <a:rPr lang="en-US" dirty="0"/>
                  <a:t>Convention or Ordinary AM</a:t>
                </a:r>
              </a:p>
              <a:p>
                <a:pPr lvl="1"/>
                <a:r>
                  <a:rPr lang="en-US" dirty="0"/>
                  <a:t>Double-sideband (DSB) modulation</a:t>
                </a:r>
              </a:p>
              <a:p>
                <a:pPr lvl="1"/>
                <a:r>
                  <a:rPr lang="en-US" dirty="0"/>
                  <a:t>Single-Sideband (SSB)</a:t>
                </a:r>
              </a:p>
              <a:p>
                <a:pPr lvl="1"/>
                <a:r>
                  <a:rPr lang="en-US" dirty="0"/>
                  <a:t>Vestigial-Sideband (VSB) modulation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41638"/>
                <a:ext cx="8229600" cy="5380037"/>
              </a:xfrm>
              <a:blipFill>
                <a:blip r:embed="rId3"/>
                <a:stretch>
                  <a:fillRect l="-2963" t="-3061" b="-2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067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8229600" cy="715962"/>
          </a:xfrm>
        </p:spPr>
        <p:txBody>
          <a:bodyPr/>
          <a:lstStyle/>
          <a:p>
            <a:r>
              <a:rPr lang="en-US" dirty="0"/>
              <a:t>Amplitude modulation (AM)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2821" y="868362"/>
                <a:ext cx="8566484" cy="1951038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sz="2400" dirty="0"/>
                  <a:t>The message </a:t>
                </a:r>
                <a:r>
                  <a:rPr lang="en-US" sz="2400" i="1" dirty="0"/>
                  <a:t>m(t)</a:t>
                </a:r>
                <a:r>
                  <a:rPr lang="en-US" sz="2400" dirty="0"/>
                  <a:t> is transmitted through the communication channel by impressing it on a carrier or </a:t>
                </a:r>
                <a:r>
                  <a:rPr lang="en-US" sz="2400" dirty="0" err="1"/>
                  <a:t>bandpass</a:t>
                </a:r>
                <a:r>
                  <a:rPr lang="en-US" sz="2400" dirty="0"/>
                  <a:t> signal of the form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	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for AM</a:t>
                </a:r>
              </a:p>
              <a:p>
                <a:r>
                  <a:rPr lang="en-US" sz="2400" dirty="0"/>
                  <a:t>The conventional AM modulated signal is 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2821" y="868362"/>
                <a:ext cx="8566484" cy="1951038"/>
              </a:xfrm>
              <a:blipFill>
                <a:blip r:embed="rId3"/>
                <a:stretch>
                  <a:fillRect l="-1707" t="-4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/>
              <p:cNvSpPr txBox="1">
                <a:spLocks/>
              </p:cNvSpPr>
              <p:nvPr/>
            </p:nvSpPr>
            <p:spPr bwMode="auto">
              <a:xfrm>
                <a:off x="457200" y="4003243"/>
                <a:ext cx="8229600" cy="19510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/>
                  <a:t>The AM modulated signal is normally written as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sz="2000" dirty="0"/>
                  <a:t>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 is called complex envelop of AM signal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2000" dirty="0"/>
                  <a:t> is the amplitude sensitivity of the modulator measured in per volts</a:t>
                </a:r>
              </a:p>
            </p:txBody>
          </p:sp>
        </mc:Choice>
        <mc:Fallback xmlns="">
          <p:sp>
            <p:nvSpPr>
              <p:cNvPr id="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4003243"/>
                <a:ext cx="8229600" cy="1951038"/>
              </a:xfrm>
              <a:prstGeom prst="rect">
                <a:avLst/>
              </a:prstGeom>
              <a:blipFill>
                <a:blip r:embed="rId4"/>
                <a:stretch>
                  <a:fillRect l="-815" t="-2188" b="-343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714369" y="5666830"/>
                <a:ext cx="1861407" cy="5749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sz="2000" b="1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b="1" dirty="0"/>
                  <a:t>,		V</a:t>
                </a:r>
                <a:r>
                  <a:rPr lang="en-US" sz="2000" b="1" baseline="30000" dirty="0"/>
                  <a:t>-1</a:t>
                </a:r>
                <a:endParaRPr lang="en-US" sz="2000" b="1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369" y="5666830"/>
                <a:ext cx="1861407" cy="574901"/>
              </a:xfrm>
              <a:prstGeom prst="rect">
                <a:avLst/>
              </a:prstGeom>
              <a:blipFill>
                <a:blip r:embed="rId5"/>
                <a:stretch>
                  <a:fillRect b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6726" y="2575468"/>
            <a:ext cx="5130547" cy="142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54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Amplitude modulation (AM)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72051" y="1121295"/>
            <a:ext cx="6799898" cy="48060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962457"/>
            <a:ext cx="4403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Effects of </a:t>
            </a:r>
            <a:r>
              <a:rPr lang="en-US" sz="2000" i="1" dirty="0" err="1"/>
              <a:t>k</a:t>
            </a:r>
            <a:r>
              <a:rPr lang="en-US" sz="2000" i="1" baseline="-25000" dirty="0" err="1"/>
              <a:t>a</a:t>
            </a:r>
            <a:r>
              <a:rPr lang="en-US" sz="2000" dirty="0"/>
              <a:t> – the modulation sensitivity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57200" y="2889332"/>
                <a:ext cx="247599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0">
                        <a:latin typeface="Cambria Math" panose="02040503050406030204" pitchFamily="18" charset="0"/>
                      </a:rPr>
                      <m:t>|&lt;1</m:t>
                    </m:r>
                  </m:oMath>
                </a14:m>
                <a:r>
                  <a:rPr lang="en-US" sz="2000" dirty="0"/>
                  <a:t> for all </a:t>
                </a:r>
                <a:r>
                  <a:rPr lang="en-US" sz="2000" i="1" dirty="0"/>
                  <a:t>t</a:t>
                </a:r>
                <a:endParaRPr lang="en-US" sz="20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889332"/>
                <a:ext cx="2475999" cy="400110"/>
              </a:xfrm>
              <a:prstGeom prst="rect">
                <a:avLst/>
              </a:prstGeom>
              <a:blipFill>
                <a:blip r:embed="rId5"/>
                <a:stretch>
                  <a:fillRect l="-985" t="-125758" b="-189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745961" y="3200931"/>
                <a:ext cx="247599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|&gt;1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for all </a:t>
                </a:r>
                <a:r>
                  <a:rPr lang="en-US" sz="2000" i="1" dirty="0">
                    <a:solidFill>
                      <a:srgbClr val="FF0000"/>
                    </a:solidFill>
                  </a:rPr>
                  <a:t>t</a:t>
                </a:r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961" y="3200931"/>
                <a:ext cx="2475999" cy="400110"/>
              </a:xfrm>
              <a:prstGeom prst="rect">
                <a:avLst/>
              </a:prstGeom>
              <a:blipFill>
                <a:blip r:embed="rId6"/>
                <a:stretch>
                  <a:fillRect l="-1232" t="-122727" r="-1724" b="-192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7267017" y="3524310"/>
            <a:ext cx="1876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all </a:t>
            </a:r>
            <a:r>
              <a:rPr lang="en-US" i="1" dirty="0"/>
              <a:t>t</a:t>
            </a:r>
            <a:r>
              <a:rPr lang="en-US" dirty="0"/>
              <a:t>, we </a:t>
            </a:r>
            <a:r>
              <a:rPr lang="en-US" dirty="0" err="1"/>
              <a:t>overmodulation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509368" y="5777219"/>
                <a:ext cx="463463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Carrier phase reverse whenever the factor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crosses the time axis or zero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9368" y="5777219"/>
                <a:ext cx="4634632" cy="646331"/>
              </a:xfrm>
              <a:prstGeom prst="rect">
                <a:avLst/>
              </a:prstGeom>
              <a:blipFill>
                <a:blip r:embed="rId7"/>
                <a:stretch>
                  <a:fillRect l="-1184" t="-26415" b="-10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5906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dirty="0"/>
              <a:t>Amplitude modulation (AM)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135563"/>
              </a:xfrm>
            </p:spPr>
            <p:txBody>
              <a:bodyPr/>
              <a:lstStyle/>
              <a:p>
                <a:r>
                  <a:rPr lang="en-US" sz="2800" dirty="0"/>
                  <a:t>Effect of carrier frequency</a:t>
                </a:r>
              </a:p>
              <a:p>
                <a:pPr lvl="1"/>
                <a:r>
                  <a:rPr lang="en-US" sz="2400" dirty="0"/>
                  <a:t>For detection and visualization of the envelop demands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</a:rPr>
                        <m:t>≫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sz="2800" dirty="0"/>
              </a:p>
              <a:p>
                <a:r>
                  <a:rPr lang="en-US" sz="2800" dirty="0"/>
                  <a:t>where </a:t>
                </a:r>
                <a:r>
                  <a:rPr lang="en-US" sz="2800" i="1" dirty="0"/>
                  <a:t>W</a:t>
                </a:r>
                <a:r>
                  <a:rPr lang="en-US" sz="2800" dirty="0"/>
                  <a:t> is the message bandwidth</a:t>
                </a:r>
              </a:p>
              <a:p>
                <a:pPr marL="0" indent="0">
                  <a:buNone/>
                </a:pPr>
                <a:r>
                  <a:rPr lang="en-US" sz="2800" b="1" dirty="0"/>
                  <a:t>Bandwidth of AM wave</a:t>
                </a:r>
              </a:p>
              <a:p>
                <a:r>
                  <a:rPr lang="en-US" sz="2800" dirty="0"/>
                  <a:t>Taking FT of the AM wave </a:t>
                </a:r>
                <a:r>
                  <a:rPr lang="en-US" sz="2800" i="1" dirty="0"/>
                  <a:t>s(t),</a:t>
                </a:r>
                <a:r>
                  <a:rPr lang="en-US" sz="2800" dirty="0"/>
                  <a:t> we get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8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135563"/>
              </a:xfrm>
              <a:blipFill>
                <a:blip r:embed="rId3"/>
                <a:stretch>
                  <a:fillRect l="-2593" t="-2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101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5974"/>
          </a:xfrm>
        </p:spPr>
        <p:txBody>
          <a:bodyPr>
            <a:normAutofit fontScale="90000"/>
          </a:bodyPr>
          <a:lstStyle/>
          <a:p>
            <a:r>
              <a:rPr lang="en-US" dirty="0"/>
              <a:t>Amplitude modulation (AM)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2861657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2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20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200" i="0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22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en-US" sz="2200" dirty="0"/>
                  <a:t>Suppose the baseband signal m(t) is bandlimited to the interval </a:t>
                </a:r>
                <a14:m>
                  <m:oMath xmlns:m="http://schemas.openxmlformats.org/officeDocument/2006/math">
                    <m:r>
                      <a:rPr lang="en-US" sz="22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200" dirty="0"/>
                  <a:t> (Fig a).</a:t>
                </a:r>
              </a:p>
              <a:p>
                <a:pPr marL="0" indent="0">
                  <a:buNone/>
                </a:pPr>
                <a:r>
                  <a:rPr lang="en-US" sz="2200" dirty="0"/>
                  <a:t>Fig. b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20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>
                    <a:sym typeface="Wingdings" panose="05000000000000000000" pitchFamily="2" charset="2"/>
                  </a:rPr>
                  <a:t> This spectrum consist of two delta functions weighted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en-US" sz="22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/>
                  <a:t> and occurring at </a:t>
                </a:r>
                <a14:m>
                  <m:oMath xmlns:m="http://schemas.openxmlformats.org/officeDocument/2006/math">
                    <m:r>
                      <a:rPr lang="en-US" sz="2200">
                        <a:latin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200" dirty="0"/>
                  <a:t>, scaled in amplitude by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en-US" sz="22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2861657"/>
              </a:xfrm>
              <a:blipFill>
                <a:blip r:embed="rId3"/>
                <a:stretch>
                  <a:fillRect l="-2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76" y="4080857"/>
            <a:ext cx="8905848" cy="274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702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389965" y="968188"/>
            <a:ext cx="8377518" cy="473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 dirty="0"/>
              <a:t>The frequency spectrum of AM waveform contains </a:t>
            </a:r>
            <a:r>
              <a:rPr lang="en-US" altLang="en-US" sz="3200" dirty="0">
                <a:solidFill>
                  <a:srgbClr val="FF3300"/>
                </a:solidFill>
              </a:rPr>
              <a:t>three parts</a:t>
            </a:r>
            <a:r>
              <a:rPr lang="en-US" altLang="en-US" sz="3200" dirty="0"/>
              <a:t>:</a:t>
            </a:r>
            <a:endParaRPr lang="en-US" altLang="en-US" sz="3200" b="1" dirty="0"/>
          </a:p>
          <a:p>
            <a:pPr lvl="1"/>
            <a:r>
              <a:rPr lang="en-US" altLang="en-US" sz="2800" dirty="0"/>
              <a:t>1.	A component at the </a:t>
            </a:r>
            <a:r>
              <a:rPr lang="en-US" altLang="en-US" sz="2800" u="sng" dirty="0">
                <a:solidFill>
                  <a:srgbClr val="FF3300"/>
                </a:solidFill>
              </a:rPr>
              <a:t>carrier</a:t>
            </a:r>
            <a:r>
              <a:rPr lang="en-US" altLang="en-US" sz="2800" dirty="0">
                <a:solidFill>
                  <a:srgbClr val="FF3300"/>
                </a:solidFill>
              </a:rPr>
              <a:t> </a:t>
            </a:r>
            <a:r>
              <a:rPr lang="en-US" altLang="en-US" sz="2800" dirty="0"/>
              <a:t>frequency  </a:t>
            </a:r>
            <a:r>
              <a:rPr lang="en-US" altLang="en-US" sz="2800" b="1" i="1" dirty="0"/>
              <a:t>f</a:t>
            </a:r>
            <a:r>
              <a:rPr lang="en-US" altLang="en-US" sz="2800" b="1" i="1" baseline="-25000" dirty="0"/>
              <a:t>c</a:t>
            </a:r>
            <a:r>
              <a:rPr lang="en-US" altLang="en-US" sz="2800" dirty="0"/>
              <a:t> </a:t>
            </a:r>
          </a:p>
          <a:p>
            <a:pPr lvl="1">
              <a:spcBef>
                <a:spcPct val="50000"/>
              </a:spcBef>
            </a:pPr>
            <a:r>
              <a:rPr lang="en-US" altLang="en-US" sz="2800" dirty="0"/>
              <a:t>2.	An </a:t>
            </a:r>
            <a:r>
              <a:rPr lang="en-US" altLang="en-US" sz="2800" u="sng" dirty="0"/>
              <a:t>upper side band</a:t>
            </a:r>
            <a:r>
              <a:rPr lang="en-US" altLang="en-US" sz="2800" dirty="0"/>
              <a:t> (</a:t>
            </a:r>
            <a:r>
              <a:rPr lang="en-US" altLang="en-US" sz="2800" dirty="0">
                <a:solidFill>
                  <a:srgbClr val="FF3300"/>
                </a:solidFill>
              </a:rPr>
              <a:t>USB</a:t>
            </a:r>
            <a:r>
              <a:rPr lang="en-US" altLang="en-US" sz="2800" dirty="0"/>
              <a:t>), whose highest  frequency 	component is at   </a:t>
            </a:r>
            <a:r>
              <a:rPr lang="en-US" altLang="en-US" sz="2800" b="1" i="1" dirty="0"/>
              <a:t>f</a:t>
            </a:r>
            <a:r>
              <a:rPr lang="en-US" altLang="en-US" sz="2800" b="1" i="1" baseline="-25000" dirty="0"/>
              <a:t>c </a:t>
            </a:r>
            <a:r>
              <a:rPr lang="en-US" altLang="en-US" sz="2800" b="1" i="1" dirty="0"/>
              <a:t>+ </a:t>
            </a:r>
            <a:r>
              <a:rPr lang="en-US" altLang="en-US" sz="2800" b="1" i="1" dirty="0" err="1"/>
              <a:t>f</a:t>
            </a:r>
            <a:r>
              <a:rPr lang="en-US" altLang="en-US" sz="2800" b="1" i="1" baseline="-25000" dirty="0" err="1"/>
              <a:t>m</a:t>
            </a:r>
            <a:endParaRPr lang="en-US" altLang="en-US" sz="2800" dirty="0"/>
          </a:p>
          <a:p>
            <a:pPr lvl="1">
              <a:spcBef>
                <a:spcPct val="50000"/>
              </a:spcBef>
            </a:pPr>
            <a:r>
              <a:rPr lang="en-US" altLang="en-US" sz="2800" dirty="0"/>
              <a:t>3.	A </a:t>
            </a:r>
            <a:r>
              <a:rPr lang="en-US" altLang="en-US" sz="2800" u="sng" dirty="0"/>
              <a:t>lower side band</a:t>
            </a:r>
            <a:r>
              <a:rPr lang="en-US" altLang="en-US" sz="2800" dirty="0"/>
              <a:t> (</a:t>
            </a:r>
            <a:r>
              <a:rPr lang="en-US" altLang="en-US" sz="2800" dirty="0">
                <a:solidFill>
                  <a:srgbClr val="FF3300"/>
                </a:solidFill>
              </a:rPr>
              <a:t>LSB</a:t>
            </a:r>
            <a:r>
              <a:rPr lang="en-US" altLang="en-US" sz="2800" dirty="0"/>
              <a:t>), whose highest  frequency 	component is at   </a:t>
            </a:r>
            <a:r>
              <a:rPr lang="en-US" altLang="en-US" sz="2800" b="1" i="1" dirty="0"/>
              <a:t>f</a:t>
            </a:r>
            <a:r>
              <a:rPr lang="en-US" altLang="en-US" sz="2800" b="1" i="1" baseline="-25000" dirty="0"/>
              <a:t>c</a:t>
            </a:r>
            <a:r>
              <a:rPr lang="en-US" altLang="en-US" sz="2800" b="1" i="1" dirty="0"/>
              <a:t> - </a:t>
            </a:r>
            <a:r>
              <a:rPr lang="en-US" altLang="en-US" sz="2800" b="1" i="1" dirty="0" err="1"/>
              <a:t>f</a:t>
            </a:r>
            <a:r>
              <a:rPr lang="en-US" altLang="en-US" sz="2800" b="1" i="1" baseline="-25000" dirty="0" err="1"/>
              <a:t>m</a:t>
            </a:r>
            <a:endParaRPr lang="en-US" altLang="en-US" sz="2800" dirty="0"/>
          </a:p>
          <a:p>
            <a:pPr>
              <a:spcBef>
                <a:spcPct val="50000"/>
              </a:spcBef>
            </a:pPr>
            <a:r>
              <a:rPr lang="en-US" altLang="en-US" sz="2800" i="1" dirty="0"/>
              <a:t>The bandwidth of the modulated waveform is </a:t>
            </a:r>
            <a:r>
              <a:rPr lang="en-US" altLang="en-US" sz="2800" dirty="0"/>
              <a:t>twice</a:t>
            </a:r>
            <a:r>
              <a:rPr lang="en-US" altLang="en-US" sz="2800" i="1" dirty="0"/>
              <a:t> the information signal bandwidth.</a:t>
            </a:r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228600" y="0"/>
            <a:ext cx="8915400" cy="968188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en-US" sz="3600" b="1" dirty="0">
                <a:solidFill>
                  <a:schemeClr val="tx1"/>
                </a:solidFill>
              </a:rPr>
              <a:t>Frequency Spectrum of an AM signal</a:t>
            </a:r>
            <a:endParaRPr lang="en-US" altLang="en-US" sz="5400" b="1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408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 1.4 MHz carrier is modulated by a music signal that has frequency components from 20 Hz to 15 kHz. Determine the range of frequencies generated for the upper and lower sidebands.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Solution</a:t>
            </a:r>
          </a:p>
          <a:p>
            <a:r>
              <a:rPr lang="en-US" sz="2400" dirty="0"/>
              <a:t>The upper side band is equal to the sum of carrier and intelligence frequencies. Therefore, the upper side band (</a:t>
            </a:r>
            <a:r>
              <a:rPr lang="en-US" sz="2400" dirty="0" err="1"/>
              <a:t>usb</a:t>
            </a:r>
            <a:r>
              <a:rPr lang="en-US" sz="2400" dirty="0"/>
              <a:t>) will include the frequencies from</a:t>
            </a:r>
          </a:p>
        </p:txBody>
      </p:sp>
    </p:spTree>
    <p:extLst>
      <p:ext uri="{BB962C8B-B14F-4D97-AF65-F5344CB8AC3E}">
        <p14:creationId xmlns:p14="http://schemas.microsoft.com/office/powerpoint/2010/main" val="4072152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 1.4 MHz carrier is modulated by a music signal that has frequency components from 20 Hz to 15 kHz. Determine the range of frequencies generated for the upper and lower sidebands.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Solution</a:t>
            </a:r>
          </a:p>
          <a:p>
            <a:r>
              <a:rPr lang="en-US" sz="2400" dirty="0"/>
              <a:t>The upper side band is equal to the sum of carrier and intelligence frequencies. Therefore, the upper side band (</a:t>
            </a:r>
            <a:r>
              <a:rPr lang="en-US" sz="2400" dirty="0" err="1"/>
              <a:t>usb</a:t>
            </a:r>
            <a:r>
              <a:rPr lang="en-US" sz="2400" dirty="0"/>
              <a:t>) will include the frequencies from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3481" y="3285222"/>
            <a:ext cx="6317037" cy="286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512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dirty="0"/>
              <a:t>AM modulation index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/>
              <a:lstStyle/>
              <a:p>
                <a:r>
                  <a:rPr lang="en-US" sz="2400" dirty="0"/>
                  <a:t>For undistorted AM to occur, the modulating signal voltage must be less than the carrier voltage.</a:t>
                </a:r>
              </a:p>
              <a:p>
                <a:r>
                  <a:rPr lang="en-US" sz="2400" dirty="0"/>
                  <a:t>Therefore the relationship between the amplitude of the modulating signal and the amplitude of the carrier signal is important. </a:t>
                </a:r>
              </a:p>
              <a:p>
                <a:r>
                  <a:rPr lang="en-US" sz="2400" dirty="0"/>
                  <a:t>This relationship, known as the </a:t>
                </a:r>
                <a:r>
                  <a:rPr lang="en-US" sz="2400" i="1" dirty="0"/>
                  <a:t>modulation index </a:t>
                </a:r>
                <a:r>
                  <a:rPr lang="en-US" sz="2400" b="1" i="1" dirty="0"/>
                  <a:t>m</a:t>
                </a:r>
                <a:r>
                  <a:rPr lang="en-US" sz="2400" dirty="0"/>
                  <a:t> (also called the modulating factor or coefficient, or the degree of modulation) – can be represented by </a:t>
                </a:r>
                <a:r>
                  <a:rPr lang="en-US" sz="2400" i="1" dirty="0">
                    <a:latin typeface="Symbol" panose="05050102010706020507" pitchFamily="18" charset="2"/>
                  </a:rPr>
                  <a:t>m.</a:t>
                </a:r>
              </a:p>
              <a:p>
                <a:r>
                  <a:rPr lang="en-US" sz="2400" dirty="0"/>
                  <a:t>The modulation index is given by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>
                <a:blip r:embed="rId3"/>
                <a:stretch>
                  <a:fillRect l="-2074" t="-1714" r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2884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Text Box 3"/>
          <p:cNvSpPr txBox="1">
            <a:spLocks noChangeArrowheads="1"/>
          </p:cNvSpPr>
          <p:nvPr/>
        </p:nvSpPr>
        <p:spPr bwMode="auto">
          <a:xfrm>
            <a:off x="227694" y="908104"/>
            <a:ext cx="8688611" cy="5546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en-US" sz="2800" b="1" dirty="0"/>
              <a:t>What is the significance of modulation index ?</a:t>
            </a:r>
            <a:endParaRPr lang="en-US" altLang="en-US" sz="2800" i="1" dirty="0"/>
          </a:p>
          <a:p>
            <a:pPr>
              <a:lnSpc>
                <a:spcPct val="130000"/>
              </a:lnSpc>
              <a:spcBef>
                <a:spcPct val="50000"/>
              </a:spcBef>
              <a:buFontTx/>
              <a:buChar char="•"/>
            </a:pPr>
            <a:r>
              <a:rPr lang="en-US" altLang="en-US" sz="3200" b="1" dirty="0"/>
              <a:t>m</a:t>
            </a:r>
            <a:r>
              <a:rPr lang="en-US" altLang="en-US" sz="2800" dirty="0"/>
              <a:t> is merely defined as a parameter, which determines the amount of modulation. </a:t>
            </a:r>
          </a:p>
          <a:p>
            <a:pPr>
              <a:lnSpc>
                <a:spcPct val="130000"/>
              </a:lnSpc>
              <a:spcBef>
                <a:spcPct val="50000"/>
              </a:spcBef>
              <a:buFontTx/>
              <a:buChar char="•"/>
            </a:pPr>
            <a:r>
              <a:rPr lang="en-US" altLang="en-US" sz="2800" dirty="0"/>
              <a:t>What is the degree of modulation required to establish a desirable AM communication link? </a:t>
            </a: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en-US" sz="2800" b="1" dirty="0"/>
              <a:t>Answer is to maintain </a:t>
            </a:r>
            <a:r>
              <a:rPr lang="en-US" altLang="en-US" sz="2800" b="1" u="sng" dirty="0">
                <a:solidFill>
                  <a:srgbClr val="FF3300"/>
                </a:solidFill>
              </a:rPr>
              <a:t>m&lt;1.0</a:t>
            </a:r>
            <a:r>
              <a:rPr lang="en-US" altLang="en-US" sz="2800" b="1" dirty="0"/>
              <a:t> (m &lt; 100%). </a:t>
            </a:r>
          </a:p>
          <a:p>
            <a:pPr>
              <a:lnSpc>
                <a:spcPct val="130000"/>
              </a:lnSpc>
              <a:spcBef>
                <a:spcPct val="50000"/>
              </a:spcBef>
              <a:buFontTx/>
              <a:buChar char="•"/>
            </a:pPr>
            <a:r>
              <a:rPr lang="en-US" altLang="en-US" sz="2800" dirty="0"/>
              <a:t>This is important </a:t>
            </a:r>
            <a:r>
              <a:rPr lang="en-US" altLang="en-US" sz="2800" u="sng" dirty="0"/>
              <a:t>for successful retrieval</a:t>
            </a:r>
            <a:r>
              <a:rPr lang="en-US" altLang="en-US" sz="2800" dirty="0"/>
              <a:t> of the original transmitted information at the receiver end.</a:t>
            </a:r>
            <a:endParaRPr lang="en-US" altLang="en-US" sz="3200" dirty="0"/>
          </a:p>
        </p:txBody>
      </p:sp>
      <p:sp>
        <p:nvSpPr>
          <p:cNvPr id="125965" name="Rectangle 13"/>
          <p:cNvSpPr>
            <a:spLocks noChangeArrowheads="1"/>
          </p:cNvSpPr>
          <p:nvPr/>
        </p:nvSpPr>
        <p:spPr bwMode="auto">
          <a:xfrm>
            <a:off x="0" y="0"/>
            <a:ext cx="9144000" cy="1295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3200" b="1" u="sng" dirty="0">
              <a:solidFill>
                <a:schemeClr val="tx1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AM modulation index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320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40975" y="165654"/>
            <a:ext cx="8345828" cy="574607"/>
          </a:xfrm>
        </p:spPr>
        <p:txBody>
          <a:bodyPr>
            <a:normAutofit fontScale="90000"/>
          </a:bodyPr>
          <a:lstStyle/>
          <a:p>
            <a:r>
              <a:rPr lang="en-US" dirty="0"/>
              <a:t>AM modulation index using envelope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846731" y="436940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solidFill>
                <a:prstClr val="black"/>
              </a:solidFill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/>
          </p:nvPr>
        </p:nvGraphicFramePr>
        <p:xfrm>
          <a:off x="2207558" y="1027131"/>
          <a:ext cx="4652684" cy="610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Equation" r:id="rId4" imgW="2057400" imgH="254000" progId="Equation.DSMT4">
                  <p:embed/>
                </p:oleObj>
              </mc:Choice>
              <mc:Fallback>
                <p:oleObj name="Equation" r:id="rId4" imgW="2057400" imgH="254000" progId="Equation.DSMT4">
                  <p:embed/>
                  <p:pic>
                    <p:nvPicPr>
                      <p:cNvPr id="7" name="Object 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58" y="1027131"/>
                        <a:ext cx="4652684" cy="610533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1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974" y="688791"/>
            <a:ext cx="8385851" cy="37668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2500" y="4554070"/>
            <a:ext cx="45325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 </a:t>
            </a:r>
            <a:r>
              <a:rPr lang="en-US" b="1" dirty="0" err="1"/>
              <a:t>Ei</a:t>
            </a:r>
            <a:r>
              <a:rPr lang="en-US" b="1" dirty="0"/>
              <a:t> = </a:t>
            </a:r>
            <a:r>
              <a:rPr lang="en-US" b="1" dirty="0" err="1"/>
              <a:t>Em</a:t>
            </a:r>
            <a:r>
              <a:rPr lang="en-GB" b="1" dirty="0"/>
              <a:t>, B = </a:t>
            </a:r>
            <a:r>
              <a:rPr lang="en-GB" b="1" dirty="0" err="1"/>
              <a:t>Emax</a:t>
            </a:r>
            <a:r>
              <a:rPr lang="en-GB" b="1" dirty="0"/>
              <a:t>, A = </a:t>
            </a:r>
            <a:r>
              <a:rPr lang="en-GB" b="1" dirty="0" err="1"/>
              <a:t>Emin</a:t>
            </a:r>
            <a:endParaRPr lang="en-GB" b="1" dirty="0"/>
          </a:p>
          <a:p>
            <a:r>
              <a:rPr lang="en-US" dirty="0" err="1"/>
              <a:t>Emax</a:t>
            </a:r>
            <a:r>
              <a:rPr lang="en-US" dirty="0"/>
              <a:t> is the maximum voltage  peak-to-peak AM signal</a:t>
            </a:r>
          </a:p>
          <a:p>
            <a:r>
              <a:rPr lang="en-US" dirty="0" err="1"/>
              <a:t>Emin</a:t>
            </a:r>
            <a:r>
              <a:rPr lang="en-US" dirty="0"/>
              <a:t> is the minimum voltage  peak-to-peak AM signal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70150" y="2466656"/>
            <a:ext cx="410746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794599" y="3042801"/>
            <a:ext cx="405856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Object 13"/>
          <p:cNvGraphicFramePr>
            <a:graphicFrameLocks noChangeAspect="1"/>
          </p:cNvGraphicFramePr>
          <p:nvPr>
            <p:extLst/>
          </p:nvPr>
        </p:nvGraphicFramePr>
        <p:xfrm>
          <a:off x="5611768" y="3598738"/>
          <a:ext cx="3213531" cy="1541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Equation" r:id="rId7" imgW="2082800" imgH="1041400" progId="Equation.DSMT4">
                  <p:embed/>
                </p:oleObj>
              </mc:Choice>
              <mc:Fallback>
                <p:oleObj name="Equation" r:id="rId7" imgW="2082800" imgH="1041400" progId="Equation.DSMT4">
                  <p:embed/>
                  <p:pic>
                    <p:nvPicPr>
                      <p:cNvPr id="1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1768" y="3598738"/>
                        <a:ext cx="3213531" cy="15413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/>
          </p:nvPr>
        </p:nvGraphicFramePr>
        <p:xfrm>
          <a:off x="5056566" y="5110983"/>
          <a:ext cx="3911800" cy="1309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Equation" r:id="rId9" imgW="2209680" imgH="761760" progId="Equation.DSMT4">
                  <p:embed/>
                </p:oleObj>
              </mc:Choice>
              <mc:Fallback>
                <p:oleObj name="Equation" r:id="rId9" imgW="2209680" imgH="761760" progId="Equation.DSMT4">
                  <p:embed/>
                  <p:pic>
                    <p:nvPicPr>
                      <p:cNvPr id="1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6566" y="5110983"/>
                        <a:ext cx="3911800" cy="13096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71675" y="5945208"/>
            <a:ext cx="2684581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b="1" i="1" dirty="0"/>
              <a:t>m</a:t>
            </a:r>
            <a:r>
              <a:rPr lang="en-US" dirty="0"/>
              <a:t>  is the modulation index</a:t>
            </a:r>
          </a:p>
        </p:txBody>
      </p:sp>
    </p:spTree>
    <p:extLst>
      <p:ext uri="{BB962C8B-B14F-4D97-AF65-F5344CB8AC3E}">
        <p14:creationId xmlns:p14="http://schemas.microsoft.com/office/powerpoint/2010/main" val="4058541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AM modulation index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sub>
                            </m:sSub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sub>
                            </m:sSub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  <a:p>
                <a:r>
                  <a:rPr lang="en-US" sz="2400" dirty="0"/>
                  <a:t>Percentage modulation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%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sub>
                          </m:sSub>
                        </m:den>
                      </m:f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100%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/>
                  <a:t>Over-modulation</a:t>
                </a:r>
              </a:p>
              <a:p>
                <a:r>
                  <a:rPr lang="en-US" sz="2400" dirty="0"/>
                  <a:t>If the AM waveform’s minimum value </a:t>
                </a:r>
                <a:r>
                  <a:rPr lang="en-US" sz="2400" dirty="0" err="1"/>
                  <a:t>Emin</a:t>
                </a:r>
                <a:r>
                  <a:rPr lang="en-US" sz="2400" dirty="0"/>
                  <a:t> falls to 0 then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×100%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=100%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ym typeface="Wingdings" panose="05000000000000000000" pitchFamily="2" charset="2"/>
                  </a:rPr>
                  <a:t> </a:t>
                </a:r>
                <a:r>
                  <a:rPr lang="en-US" sz="2400" dirty="0" err="1">
                    <a:sym typeface="Wingdings" panose="05000000000000000000" pitchFamily="2" charset="2"/>
                  </a:rPr>
                  <a:t>Em</a:t>
                </a:r>
                <a:r>
                  <a:rPr lang="en-US" sz="2400" dirty="0">
                    <a:sym typeface="Wingdings" panose="05000000000000000000" pitchFamily="2" charset="2"/>
                  </a:rPr>
                  <a:t> is greater than </a:t>
                </a:r>
                <a:r>
                  <a:rPr lang="en-US" sz="2400" dirty="0" err="1">
                    <a:sym typeface="Wingdings" panose="05000000000000000000" pitchFamily="2" charset="2"/>
                  </a:rPr>
                  <a:t>Ec</a:t>
                </a:r>
                <a:endParaRPr lang="en-US" sz="2400" dirty="0">
                  <a:sym typeface="Wingdings" panose="05000000000000000000" pitchFamily="2" charset="2"/>
                </a:endParaRPr>
              </a:p>
              <a:p>
                <a:r>
                  <a:rPr lang="en-US" sz="2400" dirty="0">
                    <a:sym typeface="Wingdings" panose="05000000000000000000" pitchFamily="2" charset="2"/>
                  </a:rPr>
                  <a:t>Over-modulation generate a “gap” in the modulated signal, which produces distortion called </a:t>
                </a:r>
                <a:r>
                  <a:rPr lang="en-US" sz="2400" b="1" dirty="0">
                    <a:sym typeface="Wingdings" panose="05000000000000000000" pitchFamily="2" charset="2"/>
                  </a:rPr>
                  <a:t>side-band splatter. </a:t>
                </a:r>
                <a:r>
                  <a:rPr lang="en-US" sz="2400" dirty="0">
                    <a:sym typeface="Wingdings" panose="05000000000000000000" pitchFamily="2" charset="2"/>
                  </a:rPr>
                  <a:t>This produces transmission of frequencies outside a station's normal allocated frequency range.</a:t>
                </a:r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  <a:blipFill>
                <a:blip r:embed="rId3"/>
                <a:stretch>
                  <a:fillRect l="-2222" b="-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http://www.vias.org/basicradio/img/basic_radio_hoag_Page_369-141.gif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05"/>
          <a:stretch/>
        </p:blipFill>
        <p:spPr bwMode="auto">
          <a:xfrm>
            <a:off x="5980336" y="1115583"/>
            <a:ext cx="2950464" cy="1486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068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AM power and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135563"/>
              </a:xfrm>
            </p:spPr>
            <p:txBody>
              <a:bodyPr/>
              <a:lstStyle/>
              <a:p>
                <a:r>
                  <a:rPr lang="en-US" sz="2400" dirty="0"/>
                  <a:t>Given that the total normalize power of a </a:t>
                </a:r>
                <a:r>
                  <a:rPr lang="en-US" sz="2400" dirty="0" err="1"/>
                  <a:t>bandpass</a:t>
                </a:r>
                <a:r>
                  <a:rPr lang="en-US" sz="2400" dirty="0"/>
                  <a:t> signal as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〈"/>
                          <m:endChr m:val="〉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d>
                                <m:dPr>
                                  <m:begChr m:val="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where g(t) is the envelop of AM wave.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The normalized average power of AM signal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〈"/>
                          <m:endChr m:val="〉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d>
                                <m:dPr>
                                  <m:begChr m:val="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begChr m:val="〈"/>
                          <m:endChr m:val="〉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begChr m:val="〈"/>
                          <m:endChr m:val="〉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1+2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begChr m:val="〈"/>
                          <m:endChr m:val="〉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begChr m:val="〈"/>
                          <m:endChr m:val="〉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For no DC level, the power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begChr m:val="〈"/>
                          <m:endChr m:val="〉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135563"/>
              </a:xfrm>
              <a:blipFill>
                <a:blip r:embed="rId3"/>
                <a:stretch>
                  <a:fillRect l="-2222" t="-1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109587" y="5941497"/>
            <a:ext cx="1967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Carrier power, 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92670" y="5849164"/>
            <a:ext cx="2236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Sideband power, Ps</a:t>
            </a:r>
          </a:p>
        </p:txBody>
      </p:sp>
    </p:spTree>
    <p:extLst>
      <p:ext uri="{BB962C8B-B14F-4D97-AF65-F5344CB8AC3E}">
        <p14:creationId xmlns:p14="http://schemas.microsoft.com/office/powerpoint/2010/main" val="2022553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92162"/>
          </a:xfrm>
        </p:spPr>
        <p:txBody>
          <a:bodyPr/>
          <a:lstStyle/>
          <a:p>
            <a:r>
              <a:rPr lang="en-US" dirty="0"/>
              <a:t>AM power and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Modulation efficiency or power efficiency is the percentage of the total power of the</a:t>
                </a:r>
                <a:br>
                  <a:rPr lang="en-US" dirty="0"/>
                </a:br>
                <a:r>
                  <a:rPr lang="en-US" dirty="0"/>
                  <a:t>modulated signal that conveys information.</a:t>
                </a:r>
              </a:p>
              <a:p>
                <a:r>
                  <a:rPr lang="en-US" dirty="0"/>
                  <a:t>In AM signaling, only the sideband components convey information, so the modulation efficiency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𝑢𝑠𝑒𝑓𝑢𝑙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𝑝𝑜𝑤𝑒𝑟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𝑝𝑜𝑤𝑒𝑟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〈"/>
                              <m:endChr m:val="〉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p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</a:rPr>
                            <m:t>1+</m:t>
                          </m:r>
                          <m:d>
                            <m:dPr>
                              <m:begChr m:val="〈"/>
                              <m:endChr m:val="〉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p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100%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059363"/>
              </a:xfrm>
              <a:blipFill>
                <a:blip r:embed="rId3"/>
                <a:stretch>
                  <a:fillRect l="-2741" t="-2530" r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016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92162"/>
          </a:xfrm>
        </p:spPr>
        <p:txBody>
          <a:bodyPr/>
          <a:lstStyle/>
          <a:p>
            <a:r>
              <a:rPr lang="en-US" dirty="0"/>
              <a:t>AM power and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203" y="1066800"/>
            <a:ext cx="8348597" cy="5059363"/>
          </a:xfrm>
        </p:spPr>
        <p:txBody>
          <a:bodyPr/>
          <a:lstStyle/>
          <a:p>
            <a:r>
              <a:rPr lang="en-US" dirty="0"/>
              <a:t>Modulation efficiency or power efficiency is the percentage of the total power of the</a:t>
            </a:r>
            <a:br>
              <a:rPr lang="en-US" dirty="0"/>
            </a:br>
            <a:r>
              <a:rPr lang="en-US" dirty="0"/>
              <a:t>modulated signal that conveys information.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329367" y="2551565"/>
                <a:ext cx="4485266" cy="7622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𝑆𝐵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𝑆𝐵</m:t>
                              </m:r>
                            </m:sub>
                          </m:sSub>
                        </m:den>
                      </m:f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2+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0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367" y="2551565"/>
                <a:ext cx="4485266" cy="7622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38204" y="3565832"/>
            <a:ext cx="834859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is seen that </a:t>
            </a:r>
            <a:r>
              <a:rPr kumimoji="0" lang="en-GB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η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increases monotonically with </a:t>
            </a:r>
            <a:r>
              <a:rPr kumimoji="0" lang="en-GB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μ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and </a:t>
            </a:r>
            <a:r>
              <a:rPr kumimoji="0" lang="en-GB" altLang="en-U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η</a:t>
            </a:r>
            <a:r>
              <a:rPr kumimoji="0" lang="en-GB" altLang="en-US" sz="2400" b="0" i="1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max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occurs at </a:t>
            </a:r>
            <a:r>
              <a:rPr kumimoji="0" lang="en-GB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μ = 1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for which </a:t>
            </a:r>
            <a:r>
              <a:rPr lang="en-GB" altLang="en-US" sz="2400" i="1" dirty="0" err="1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η</a:t>
            </a:r>
            <a:r>
              <a:rPr lang="en-GB" altLang="en-US" sz="2400" i="1" baseline="-30000" dirty="0" err="1">
                <a:ea typeface="Calibri" panose="020F0502020204030204" pitchFamily="34" charset="0"/>
                <a:cs typeface="Times New Roman" panose="02020603050405020304" pitchFamily="18" charset="0"/>
              </a:rPr>
              <a:t>max</a:t>
            </a:r>
            <a:r>
              <a:rPr lang="en-GB" altLang="en-US" sz="2400" i="1" baseline="-30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altLang="en-US" sz="2400" i="1" dirty="0">
                <a:ea typeface="Calibri" panose="020F0502020204030204" pitchFamily="34" charset="0"/>
                <a:cs typeface="Times New Roman" panose="02020603050405020304" pitchFamily="18" charset="0"/>
              </a:rPr>
              <a:t>= 33 %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altLang="en-US" sz="2400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Thus, for tone modulation, under best conditions (</a:t>
            </a:r>
            <a:r>
              <a:rPr kumimoji="0" lang="en-GB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μ = 1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 only one-third</a:t>
            </a:r>
            <a:r>
              <a:rPr kumimoji="0" lang="en-GB" alt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kumimoji="0" lang="en-GB" alt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GB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transmitted power is used for carrying message.</a:t>
            </a:r>
            <a:endParaRPr kumimoji="0" lang="en-GB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256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4.2 </a:t>
            </a:r>
            <a:r>
              <a:rPr lang="en-US" dirty="0" err="1"/>
              <a:t>pg</a:t>
            </a:r>
            <a:r>
              <a:rPr lang="en-US" dirty="0"/>
              <a:t> 85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38538" y="1099929"/>
                <a:ext cx="8613913" cy="5150399"/>
              </a:xfrm>
            </p:spPr>
            <p:txBody>
              <a:bodyPr/>
              <a:lstStyle/>
              <a:p>
                <a:r>
                  <a:rPr lang="en-US" dirty="0"/>
                  <a:t>Suppose that the modulating signal, </a:t>
                </a:r>
                <a:r>
                  <a:rPr lang="en-US" i="1" dirty="0"/>
                  <a:t>m</a:t>
                </a:r>
                <a:r>
                  <a:rPr lang="en-US" dirty="0"/>
                  <a:t>(</a:t>
                </a:r>
                <a:r>
                  <a:rPr lang="en-US" i="1" dirty="0"/>
                  <a:t>t</a:t>
                </a:r>
                <a:r>
                  <a:rPr lang="en-US" dirty="0"/>
                  <a:t>) is sinusoid of the form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Determine the DSB AM signal, its upper and lower sidebands and spectrum, taking the</a:t>
                </a:r>
                <a:br>
                  <a:rPr lang="en-US" dirty="0"/>
                </a:br>
                <a:r>
                  <a:rPr lang="en-US" dirty="0"/>
                  <a:t>modulation index as </a:t>
                </a:r>
                <a:r>
                  <a:rPr lang="en-US" i="1" dirty="0">
                    <a:latin typeface="Symbol" panose="05050102010706020507" pitchFamily="18" charset="2"/>
                  </a:rPr>
                  <a:t>m</a:t>
                </a:r>
                <a:r>
                  <a:rPr lang="en-US" dirty="0"/>
                  <a:t>. 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538" y="1099929"/>
                <a:ext cx="8613913" cy="5150399"/>
              </a:xfrm>
              <a:blipFill>
                <a:blip r:embed="rId3"/>
                <a:stretch>
                  <a:fillRect l="-1769" t="-2485" r="-1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51885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4.3 </a:t>
            </a:r>
            <a:r>
              <a:rPr lang="en-US" dirty="0" err="1"/>
              <a:t>pg</a:t>
            </a:r>
            <a:r>
              <a:rPr lang="en-US" dirty="0"/>
              <a:t>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that on an AM signal, the </a:t>
            </a:r>
            <a:r>
              <a:rPr lang="en-US" i="1" dirty="0"/>
              <a:t>A</a:t>
            </a:r>
            <a:r>
              <a:rPr lang="en-US" i="1" baseline="-25000" dirty="0"/>
              <a:t>max</a:t>
            </a:r>
            <a:r>
              <a:rPr lang="en-US" baseline="-25000" dirty="0"/>
              <a:t>(</a:t>
            </a:r>
            <a:r>
              <a:rPr lang="en-US" i="1" baseline="-25000" dirty="0"/>
              <a:t>p-p</a:t>
            </a:r>
            <a:r>
              <a:rPr lang="en-US" baseline="-25000" dirty="0"/>
              <a:t>)</a:t>
            </a:r>
            <a:r>
              <a:rPr lang="en-US" dirty="0"/>
              <a:t> value read from the </a:t>
            </a:r>
            <a:r>
              <a:rPr lang="en-US" dirty="0" err="1"/>
              <a:t>graticule</a:t>
            </a:r>
            <a:r>
              <a:rPr lang="en-US" dirty="0"/>
              <a:t> on the oscilloscope</a:t>
            </a:r>
            <a:br>
              <a:rPr lang="en-US" dirty="0"/>
            </a:br>
            <a:r>
              <a:rPr lang="en-US" dirty="0"/>
              <a:t>screen is 5.9 divisions and </a:t>
            </a:r>
            <a:r>
              <a:rPr lang="en-US" i="1" dirty="0"/>
              <a:t>A</a:t>
            </a:r>
            <a:r>
              <a:rPr lang="en-US" i="1" baseline="-25000" dirty="0"/>
              <a:t>min</a:t>
            </a:r>
            <a:r>
              <a:rPr lang="en-US" baseline="-25000" dirty="0"/>
              <a:t>(</a:t>
            </a:r>
            <a:r>
              <a:rPr lang="en-US" i="1" baseline="-25000" dirty="0"/>
              <a:t>p-p</a:t>
            </a:r>
            <a:r>
              <a:rPr lang="en-US" baseline="-25000" dirty="0"/>
              <a:t>)</a:t>
            </a:r>
            <a:r>
              <a:rPr lang="en-US" dirty="0"/>
              <a:t> is 1.2 divisions.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i</a:t>
            </a:r>
            <a:r>
              <a:rPr lang="en-US" dirty="0"/>
              <a:t>. What is the modulation index?</a:t>
            </a:r>
            <a:br>
              <a:rPr lang="en-US" dirty="0"/>
            </a:br>
            <a:r>
              <a:rPr lang="en-US" dirty="0"/>
              <a:t>	ii. Calculate </a:t>
            </a:r>
            <a:r>
              <a:rPr lang="en-US" i="1" dirty="0"/>
              <a:t>A</a:t>
            </a:r>
            <a:r>
              <a:rPr lang="en-US" i="1" baseline="-25000" dirty="0"/>
              <a:t>c</a:t>
            </a:r>
            <a:r>
              <a:rPr lang="en-US" dirty="0"/>
              <a:t>, </a:t>
            </a:r>
            <a:r>
              <a:rPr lang="en-US" i="1" dirty="0"/>
              <a:t>A</a:t>
            </a:r>
            <a:r>
              <a:rPr lang="en-US" i="1" baseline="-25000" dirty="0"/>
              <a:t>m</a:t>
            </a:r>
            <a:r>
              <a:rPr lang="en-US" dirty="0"/>
              <a:t>, and </a:t>
            </a:r>
            <a:r>
              <a:rPr lang="en-US" i="1" dirty="0"/>
              <a:t>m </a:t>
            </a:r>
            <a:r>
              <a:rPr lang="en-US" dirty="0"/>
              <a:t>if the vertical scale is 2 V per division. (Hint: Sketch the signal)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617248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4.4 </a:t>
            </a:r>
            <a:r>
              <a:rPr lang="en-US" dirty="0" err="1"/>
              <a:t>pg</a:t>
            </a:r>
            <a:r>
              <a:rPr lang="en-US" dirty="0"/>
              <a:t>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Derive an expression for </a:t>
            </a:r>
            <a:r>
              <a:rPr lang="en-US" dirty="0" err="1"/>
              <a:t>multitone</a:t>
            </a:r>
            <a:r>
              <a:rPr lang="en-US" dirty="0"/>
              <a:t> amplitude modulation, total transmitted power and total</a:t>
            </a:r>
            <a:br>
              <a:rPr lang="en-US" dirty="0"/>
            </a:br>
            <a:r>
              <a:rPr lang="en-US" dirty="0"/>
              <a:t>modulation index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0781972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 of ordinary AM wave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538" y="1099930"/>
            <a:ext cx="5753188" cy="476916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Power-law or Square-law modulator</a:t>
            </a:r>
          </a:p>
          <a:p>
            <a:r>
              <a:rPr lang="en-US" dirty="0"/>
              <a:t>The Square-law modulator consist of </a:t>
            </a:r>
            <a:r>
              <a:rPr lang="en-US" b="1" dirty="0"/>
              <a:t>Summer </a:t>
            </a:r>
            <a:r>
              <a:rPr lang="en-US" dirty="0"/>
              <a:t>– It adds the carrier and the modulating signal</a:t>
            </a:r>
          </a:p>
          <a:p>
            <a:r>
              <a:rPr lang="en-US" b="1" dirty="0"/>
              <a:t>Non-linear device </a:t>
            </a:r>
            <a:r>
              <a:rPr lang="en-US" dirty="0"/>
              <a:t>– a device with non-linear input-output relation and </a:t>
            </a:r>
            <a:r>
              <a:rPr lang="en-US" b="1" dirty="0"/>
              <a:t>Band-pass filter (BPF)</a:t>
            </a:r>
            <a:br>
              <a:rPr lang="en-US" b="1" dirty="0"/>
            </a:br>
            <a:r>
              <a:rPr lang="en-US" dirty="0"/>
              <a:t>– this extract the deserved signal from the modulator product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5978" y="1099930"/>
            <a:ext cx="3068022" cy="20221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611" y="4168609"/>
            <a:ext cx="3308295" cy="167177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19545" y="2110983"/>
            <a:ext cx="3515216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7253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 of ordinary AM wave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38538" y="3356811"/>
                <a:ext cx="8613913" cy="2837136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Power-law or Square-law modulator</a:t>
                </a:r>
              </a:p>
              <a:p>
                <a:r>
                  <a:rPr lang="en-US" dirty="0"/>
                  <a:t>The input-to-output voltage (</a:t>
                </a:r>
                <a:r>
                  <a:rPr lang="en-US" i="1" dirty="0" err="1"/>
                  <a:t>v</a:t>
                </a:r>
                <a:r>
                  <a:rPr lang="en-US" i="1" baseline="-25000" dirty="0" err="1"/>
                  <a:t>o</a:t>
                </a:r>
                <a:r>
                  <a:rPr lang="en-US" i="1" dirty="0"/>
                  <a:t>(t), v</a:t>
                </a:r>
                <a:r>
                  <a:rPr lang="en-US" i="1" baseline="-25000" dirty="0"/>
                  <a:t>in</a:t>
                </a:r>
                <a:r>
                  <a:rPr lang="en-US" i="1" dirty="0"/>
                  <a:t>(t)</a:t>
                </a:r>
                <a:r>
                  <a:rPr lang="en-US" dirty="0"/>
                  <a:t>) relation of current passing through a diode connected to a load resistor is given by the following polynomial approximation: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)+....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538" y="3356811"/>
                <a:ext cx="8613913" cy="2837136"/>
              </a:xfrm>
              <a:blipFill>
                <a:blip r:embed="rId2"/>
                <a:stretch>
                  <a:fillRect l="-2689" t="-4301" r="-1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823" y="1032135"/>
            <a:ext cx="4403342" cy="222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6796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 of ordinary AM wave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38537" y="1118937"/>
                <a:ext cx="8613913" cy="5113421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Power-law or Square-law modulator</a:t>
                </a:r>
              </a:p>
              <a:p>
                <a:r>
                  <a:rPr lang="en-US" dirty="0"/>
                  <a:t>The input-to-output voltage (</a:t>
                </a:r>
                <a:r>
                  <a:rPr lang="en-US" i="1" dirty="0" err="1"/>
                  <a:t>v</a:t>
                </a:r>
                <a:r>
                  <a:rPr lang="en-US" i="1" baseline="-25000" dirty="0" err="1"/>
                  <a:t>o</a:t>
                </a:r>
                <a:r>
                  <a:rPr lang="en-US" i="1" dirty="0"/>
                  <a:t>(t), v</a:t>
                </a:r>
                <a:r>
                  <a:rPr lang="en-US" i="1" baseline="-25000" dirty="0"/>
                  <a:t>in</a:t>
                </a:r>
                <a:r>
                  <a:rPr lang="en-US" i="1" dirty="0"/>
                  <a:t>(t)</a:t>
                </a:r>
                <a:r>
                  <a:rPr lang="en-US" dirty="0"/>
                  <a:t>) relation of current passing through a diode connected to a load resistor is given by the following polynomial approximation: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)+....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If v</a:t>
                </a:r>
                <a:r>
                  <a:rPr lang="en-US" baseline="-25000" dirty="0"/>
                  <a:t>in</a:t>
                </a:r>
                <a:r>
                  <a:rPr lang="en-US" dirty="0"/>
                  <a:t>(t) is considered to be very small, then its higher terms can be neglected leaving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537" y="1118937"/>
                <a:ext cx="8613913" cy="5113421"/>
              </a:xfrm>
              <a:blipFill>
                <a:blip r:embed="rId2"/>
                <a:stretch>
                  <a:fillRect l="-2689" t="-2387" r="-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130591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 of ordinary AM wave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38537" y="1118937"/>
                <a:ext cx="8613913" cy="4750157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800" b="1" dirty="0"/>
                  <a:t>Power-law or Square-law modulator</a:t>
                </a:r>
              </a:p>
              <a:p>
                <a:r>
                  <a:rPr lang="en-US" sz="2800" dirty="0"/>
                  <a:t>If v</a:t>
                </a:r>
                <a:r>
                  <a:rPr lang="en-US" sz="2800" baseline="-25000" dirty="0"/>
                  <a:t>in</a:t>
                </a:r>
                <a:r>
                  <a:rPr lang="en-US" sz="2800" dirty="0"/>
                  <a:t>(t) is considered to be very small, then its higher terms can be neglected leaving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  <m:sup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  <a:p>
                <a:r>
                  <a:rPr lang="en-US" sz="2800" dirty="0"/>
                  <a:t>Taking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sz="28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cos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800" dirty="0"/>
                  <a:t>, the output is given as</a:t>
                </a:r>
              </a:p>
              <a:p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537" y="1118937"/>
                <a:ext cx="8613913" cy="4750157"/>
              </a:xfrm>
              <a:blipFill>
                <a:blip r:embed="rId3"/>
                <a:stretch>
                  <a:fillRect l="-2477" t="-2182" r="-2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98" y="3791946"/>
            <a:ext cx="5546538" cy="246306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361913" y="3791946"/>
            <a:ext cx="2490537" cy="255454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For the square-law modulator to work, the carrier frequency should be at least three times the maximum frequency of the baseband signal.</a:t>
            </a:r>
          </a:p>
        </p:txBody>
      </p:sp>
    </p:spTree>
    <p:extLst>
      <p:ext uri="{BB962C8B-B14F-4D97-AF65-F5344CB8AC3E}">
        <p14:creationId xmlns:p14="http://schemas.microsoft.com/office/powerpoint/2010/main" val="2609991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7706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Generation of ordinary AM wave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57200" y="911268"/>
                <a:ext cx="8229600" cy="5190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Power-law or Square-law modulator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required AM signal with a carrier freq. </a:t>
                </a:r>
                <a:r>
                  <a:rPr lang="en-US" sz="2000" i="1" dirty="0"/>
                  <a:t>fc</a:t>
                </a:r>
                <a:r>
                  <a:rPr lang="en-US" sz="2000" dirty="0"/>
                  <a:t> can be separated using a </a:t>
                </a:r>
                <a:r>
                  <a:rPr lang="en-US" sz="2000" dirty="0" err="1"/>
                  <a:t>bandpass</a:t>
                </a:r>
                <a:r>
                  <a:rPr lang="en-US" sz="2000" dirty="0"/>
                  <a:t> filter at the o/p of square law device.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filter o/p is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)=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+2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mr>
                        <m:mr>
                          <m:e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1+2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00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000" b="0" i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mr>
                      </m:m>
                    </m:oMath>
                  </m:oMathPara>
                </a14:m>
                <a:endParaRPr lang="en-US" sz="20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2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𝜋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, we get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1+2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5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Comparing this with the standard representation of AM signal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7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1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Therefore modulation index of the output signal is given by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=2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911268"/>
                <a:ext cx="8229600" cy="5190460"/>
              </a:xfrm>
              <a:prstGeom prst="rect">
                <a:avLst/>
              </a:prstGeom>
              <a:blipFill>
                <a:blip r:embed="rId3"/>
                <a:stretch>
                  <a:fillRect l="-741" t="-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56404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7641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Generation of ordinary AM wave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57200" y="3765884"/>
                <a:ext cx="8229600" cy="24314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/>
                  <a:t>Switching modulator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Consider a semiconductor diode used as an ideal switch to which a carrier wave </a:t>
                </a:r>
                <a:r>
                  <a:rPr lang="en-US" sz="2400" i="1" dirty="0"/>
                  <a:t>c(t)</a:t>
                </a:r>
                <a:r>
                  <a:rPr lang="en-US" sz="2400" dirty="0"/>
                  <a:t> and message signal </a:t>
                </a:r>
                <a:r>
                  <a:rPr lang="en-US" sz="2400" i="1" dirty="0"/>
                  <a:t>m(t)</a:t>
                </a:r>
                <a:r>
                  <a:rPr lang="en-US" sz="2400" dirty="0"/>
                  <a:t> are simultaneously applied.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total input signal at the diode terminal at any instant is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765884"/>
                <a:ext cx="8229600" cy="2431435"/>
              </a:xfrm>
              <a:prstGeom prst="rect">
                <a:avLst/>
              </a:prstGeom>
              <a:blipFill>
                <a:blip r:embed="rId3"/>
                <a:stretch>
                  <a:fillRect l="-1852" t="-3258" b="-36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0770"/>
            <a:ext cx="9144000" cy="233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20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7" y="3508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Switching modulator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04800" y="914400"/>
                <a:ext cx="822960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100" dirty="0"/>
                  <a:t>When the peak amplitude of </a:t>
                </a:r>
                <a:r>
                  <a:rPr lang="en-US" sz="2100" i="1" dirty="0"/>
                  <a:t>c(t)</a:t>
                </a:r>
                <a:r>
                  <a:rPr lang="en-US" sz="2100" dirty="0"/>
                  <a:t> is maintained more than that of information signal, the operation is assumed to be dependent on only </a:t>
                </a:r>
                <a:r>
                  <a:rPr lang="en-US" sz="2100" i="1" dirty="0"/>
                  <a:t>c(t)</a:t>
                </a:r>
                <a:r>
                  <a:rPr lang="en-US" sz="2100" dirty="0"/>
                  <a:t> irrespective of </a:t>
                </a:r>
                <a:r>
                  <a:rPr lang="en-US" sz="2100" i="1" dirty="0"/>
                  <a:t>m(t)</a:t>
                </a:r>
                <a:r>
                  <a:rPr lang="en-US" sz="2100" dirty="0"/>
                  <a:t>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100" dirty="0"/>
                  <a:t>When </a:t>
                </a:r>
                <a:r>
                  <a:rPr lang="en-US" sz="2100" i="1" dirty="0"/>
                  <a:t>c(t)</a:t>
                </a:r>
                <a:r>
                  <a:rPr lang="en-US" sz="2100" dirty="0"/>
                  <a:t> is positive,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sz="21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100" dirty="0"/>
                  <a:t> since the diode is forward biased.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100" dirty="0"/>
                  <a:t>Similarly, when </a:t>
                </a:r>
                <a:r>
                  <a:rPr lang="en-US" sz="2100" i="1" dirty="0"/>
                  <a:t>c(t)</a:t>
                </a:r>
                <a:r>
                  <a:rPr lang="en-US" sz="2100" dirty="0"/>
                  <a:t> is negative,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100" dirty="0"/>
                  <a:t> since diode is reverse biased.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100" dirty="0"/>
                  <a:t>Based upon the above operation, switching response of the diode is periodic rectangular wave with an amplitude of unity.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100" dirty="0"/>
                  <a:t>The o/p of the diode is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914400"/>
                <a:ext cx="8229600" cy="2677656"/>
              </a:xfrm>
              <a:prstGeom prst="rect">
                <a:avLst/>
              </a:prstGeom>
              <a:blipFill>
                <a:blip r:embed="rId3"/>
                <a:stretch>
                  <a:fillRect l="-741" t="-1367" r="-1407" b="-3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074037" y="3615976"/>
                <a:ext cx="4995919" cy="10081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)=</m:t>
                            </m:r>
                            <m:d>
                              <m:dPr>
                                <m:begChr m:val="{"/>
                                <m:endChr m:val="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𝑖𝑛</m:t>
                                          </m:r>
                                        </m:sub>
                                      </m:s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),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)&gt;0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</m: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)&lt;0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  <m:mr>
                          <m:e>
                            <m:d>
                              <m:dPr>
                                <m:begChr m:val="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𝑖𝑛</m:t>
                                    </m:r>
                                  </m:sub>
                                </m:sSub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)⋅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)+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037" y="3615976"/>
                <a:ext cx="4995919" cy="10081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442" y="4737058"/>
            <a:ext cx="7049111" cy="17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36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856" y="28619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Switching modulator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96744" y="4050082"/>
            <a:ext cx="822671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required AM signal centered at </a:t>
            </a:r>
            <a:r>
              <a:rPr lang="en-US" sz="2400" i="1" dirty="0"/>
              <a:t>fc</a:t>
            </a:r>
            <a:r>
              <a:rPr lang="en-US" sz="2400" dirty="0"/>
              <a:t> can be separated using band pass filter. 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The filter output is given by the </a:t>
            </a:r>
            <a:r>
              <a:rPr lang="en-US" sz="2400" dirty="0" err="1">
                <a:solidFill>
                  <a:srgbClr val="FF0000"/>
                </a:solidFill>
              </a:rPr>
              <a:t>ff</a:t>
            </a:r>
            <a:r>
              <a:rPr lang="en-US" sz="2400" dirty="0">
                <a:solidFill>
                  <a:srgbClr val="FF0000"/>
                </a:solidFill>
              </a:rPr>
              <a:t>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04800" y="924908"/>
                <a:ext cx="8610600" cy="3491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diode response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i="1" dirty="0"/>
                  <a:t>,</a:t>
                </a:r>
                <a:r>
                  <a:rPr lang="en-US" sz="2400" dirty="0"/>
                  <a:t> is a product of switching response </a:t>
                </a:r>
                <a:r>
                  <a:rPr lang="en-US" sz="2400" i="1" dirty="0"/>
                  <a:t>p(t)</a:t>
                </a:r>
                <a:r>
                  <a:rPr lang="en-US" sz="2400" dirty="0"/>
                  <a:t> and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as seen earlier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)⋅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Thus,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+−+−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924908"/>
                <a:ext cx="8610600" cy="3491020"/>
              </a:xfrm>
              <a:prstGeom prst="rect">
                <a:avLst/>
              </a:prstGeom>
              <a:blipFill>
                <a:blip r:embed="rId3"/>
                <a:stretch>
                  <a:fillRect l="-1062" t="-13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6277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Switching modulator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90500" y="1059505"/>
            <a:ext cx="8763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required AM signal centered at fc can be separated using band pass filter.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The filter output is given by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901874" y="2581286"/>
                <a:ext cx="7573612" cy="34785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800" i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800" i="0">
                                <a:latin typeface="Cambria Math" panose="02040503050406030204" pitchFamily="18" charset="0"/>
                              </a:rPr>
                              <m:t>)=</m:t>
                            </m:r>
                            <m:f>
                              <m:f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8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"/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sz="2800" i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sz="2800" i="0"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US" sz="28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mr>
                        <m:mr>
                          <m:e>
                            <m:d>
                              <m:dPr>
                                <m:begChr m:val="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For</m:t>
                                </m:r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single</m:t>
                                </m:r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tone</m:t>
                                </m:r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info</m:t>
                                </m:r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let</m:t>
                                </m:r>
                                <m:r>
                                  <m:rPr>
                                    <m:nor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800" i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800" i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US" sz="2800" i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sz="2800" i="0">
                                    <a:latin typeface="Cambria Math" panose="02040503050406030204" pitchFamily="18" charset="0"/>
                                  </a:rPr>
                                  <m:t>(2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mr>
                        <m:m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800" i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800" i="0">
                                <a:latin typeface="Cambria Math" panose="02040503050406030204" pitchFamily="18" charset="0"/>
                              </a:rPr>
                              <m:t>)=</m:t>
                            </m:r>
                            <m:f>
                              <m:f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8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sz="2800">
                                    <a:latin typeface="Cambria Math" panose="02040503050406030204" pitchFamily="18" charset="0"/>
                                  </a:rPr>
                                  <m:t>(2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sz="2800" i="0"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US" sz="28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Therefore</m:t>
                            </m:r>
                            <m:r>
                              <m:rPr>
                                <m:nor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nor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modulation</m:t>
                            </m:r>
                            <m:r>
                              <m:rPr>
                                <m:nor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index</m:t>
                            </m:r>
                            <m:r>
                              <m:rPr>
                                <m:nor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280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74" y="2581286"/>
                <a:ext cx="7573612" cy="34785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1009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Demodulation of conventional AM signal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537" y="1118937"/>
            <a:ext cx="8613913" cy="4750157"/>
          </a:xfrm>
        </p:spPr>
        <p:txBody>
          <a:bodyPr>
            <a:noAutofit/>
          </a:bodyPr>
          <a:lstStyle/>
          <a:p>
            <a:r>
              <a:rPr lang="en-US" dirty="0"/>
              <a:t>Demodulation is the process of recovering the information signal (baseband) from the incoming modulated signal at the receiver. </a:t>
            </a:r>
          </a:p>
          <a:p>
            <a:endParaRPr lang="en-US" dirty="0"/>
          </a:p>
          <a:p>
            <a:r>
              <a:rPr lang="en-US" dirty="0"/>
              <a:t>There are two methods:</a:t>
            </a:r>
          </a:p>
          <a:p>
            <a:r>
              <a:rPr lang="en-US" dirty="0"/>
              <a:t>Square law demodulator and </a:t>
            </a:r>
          </a:p>
          <a:p>
            <a:r>
              <a:rPr lang="en-US" sz="4400" b="1" dirty="0"/>
              <a:t>Envelop detector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0753596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Demodulation of conventional AM signal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537" y="1118937"/>
            <a:ext cx="8613913" cy="50689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Envelop detector</a:t>
            </a:r>
          </a:p>
          <a:p>
            <a:r>
              <a:rPr lang="en-US" dirty="0"/>
              <a:t>Envelope detector is a simple and highly effective device use to demodulate AM wave. </a:t>
            </a:r>
          </a:p>
          <a:p>
            <a:r>
              <a:rPr lang="en-US" dirty="0"/>
              <a:t>It consist of diode and a resistor-capacitor (RC) filter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5" name="Picture 2" descr="http://www.allsyllabus.com/aj/note/EEE/Analog_Communication/Unit2/Envelop%20detector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543" y="3653397"/>
            <a:ext cx="52959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13889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2251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 dirty="0"/>
              <a:t>Envelop detector </a:t>
            </a:r>
          </a:p>
          <a:p>
            <a:r>
              <a:rPr lang="en-US" sz="2800" dirty="0"/>
              <a:t>During the positive half cycles of the input signals, the diode </a:t>
            </a:r>
            <a:r>
              <a:rPr lang="en-US" sz="2800" b="1" dirty="0"/>
              <a:t>D</a:t>
            </a:r>
            <a:r>
              <a:rPr lang="en-US" sz="2800" dirty="0"/>
              <a:t> is forward biased and the capacitor </a:t>
            </a:r>
            <a:r>
              <a:rPr lang="en-US" sz="2800" b="1" dirty="0"/>
              <a:t>C</a:t>
            </a:r>
            <a:r>
              <a:rPr lang="en-US" sz="2800" dirty="0"/>
              <a:t> charges up quickly to the peak of the input signal. </a:t>
            </a:r>
          </a:p>
          <a:p>
            <a:r>
              <a:rPr lang="en-US" sz="2800" dirty="0"/>
              <a:t>When the input signal falls below the peak value, the diode becomes reverse biased and the capacitor </a:t>
            </a:r>
            <a:r>
              <a:rPr lang="en-US" sz="2800" b="1" dirty="0"/>
              <a:t>C</a:t>
            </a:r>
            <a:r>
              <a:rPr lang="en-US" sz="2800" dirty="0"/>
              <a:t> discharges through the load resistor R</a:t>
            </a:r>
            <a:r>
              <a:rPr lang="en-US" sz="2800" baseline="-25000" dirty="0"/>
              <a:t>L</a:t>
            </a:r>
            <a:r>
              <a:rPr lang="en-US" sz="2800" dirty="0"/>
              <a:t>.</a:t>
            </a:r>
          </a:p>
          <a:p>
            <a:r>
              <a:rPr lang="en-US" sz="2800" dirty="0"/>
              <a:t>The discharge process continues until the next positive half cycle. </a:t>
            </a:r>
          </a:p>
          <a:p>
            <a:r>
              <a:rPr lang="en-US" sz="2800" dirty="0"/>
              <a:t>When the input signal becomes greater than the voltage across the capacitor, the diode conducts again and the process is repeated.</a:t>
            </a:r>
          </a:p>
          <a:p>
            <a:r>
              <a:rPr lang="en-US" dirty="0"/>
              <a:t>As a result only positive half cycle of AM wave appears across </a:t>
            </a:r>
            <a:r>
              <a:rPr lang="en-US" i="1" dirty="0"/>
              <a:t>R</a:t>
            </a:r>
            <a:r>
              <a:rPr lang="en-US" i="1" baseline="-25000" dirty="0"/>
              <a:t>L</a:t>
            </a:r>
            <a:r>
              <a:rPr lang="en-US" sz="280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Demodulation of conventional AM signal</a:t>
            </a:r>
          </a:p>
        </p:txBody>
      </p:sp>
    </p:spTree>
    <p:extLst>
      <p:ext uri="{BB962C8B-B14F-4D97-AF65-F5344CB8AC3E}">
        <p14:creationId xmlns:p14="http://schemas.microsoft.com/office/powerpoint/2010/main" val="22700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32251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sz="2800" b="1" dirty="0"/>
                  <a:t>Envelop detector </a:t>
                </a:r>
              </a:p>
              <a:p>
                <a:r>
                  <a:rPr lang="en-US" sz="2800" dirty="0"/>
                  <a:t>Selection of RC time constant</a:t>
                </a:r>
              </a:p>
              <a:p>
                <a:pPr lvl="1"/>
                <a:r>
                  <a:rPr lang="en-US" sz="2400" dirty="0"/>
                  <a:t>The capacitor charges through </a:t>
                </a:r>
                <a:r>
                  <a:rPr lang="en-US" sz="2400" i="1" dirty="0" err="1"/>
                  <a:t>Rs</a:t>
                </a:r>
                <a:r>
                  <a:rPr lang="en-US" sz="2400" dirty="0"/>
                  <a:t> when the diode is on, and discharges through </a:t>
                </a:r>
                <a:r>
                  <a:rPr lang="en-US" sz="2400" i="1" dirty="0"/>
                  <a:t>R</a:t>
                </a:r>
                <a:r>
                  <a:rPr lang="en-US" sz="2400" i="1" baseline="-25000" dirty="0"/>
                  <a:t>L</a:t>
                </a:r>
                <a:r>
                  <a:rPr lang="en-US" sz="2400" i="1" dirty="0"/>
                  <a:t> </a:t>
                </a:r>
                <a:r>
                  <a:rPr lang="en-US" sz="2400" dirty="0"/>
                  <a:t>when the diode is off.</a:t>
                </a:r>
              </a:p>
              <a:p>
                <a:pPr lvl="1"/>
                <a:r>
                  <a:rPr lang="en-US" sz="2400" dirty="0"/>
                  <a:t>The charging time constant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 should be short or small as compared to the carrier period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.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≪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. </a:t>
                </a:r>
                <a:r>
                  <a:rPr lang="en-US" sz="2400" dirty="0">
                    <a:solidFill>
                      <a:srgbClr val="FF0000"/>
                    </a:solidFill>
                  </a:rPr>
                  <a:t>So that the capacitor charges quickly.</a:t>
                </a:r>
                <a:r>
                  <a:rPr lang="en-US" sz="2400" dirty="0"/>
                  <a:t> </a:t>
                </a:r>
              </a:p>
              <a:p>
                <a:pPr lvl="1"/>
                <a:r>
                  <a:rPr lang="en-US" sz="2400" dirty="0"/>
                  <a:t>The discharging time constant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 should be large to ensure that the capacitor discharges slowly through the load resistor </a:t>
                </a:r>
                <a:r>
                  <a:rPr lang="en-US" sz="2400" i="1" dirty="0"/>
                  <a:t>R</a:t>
                </a:r>
                <a:r>
                  <a:rPr lang="en-US" sz="2400" i="1" baseline="-25000" dirty="0"/>
                  <a:t>L</a:t>
                </a:r>
                <a:r>
                  <a:rPr lang="en-US" sz="2400" dirty="0"/>
                  <a:t> between positive peak of the carrier wave. i.e.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r>
                      <a:rPr lang="en-US" sz="2400">
                        <a:latin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≪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</m:oMath>
                </a14:m>
                <a:r>
                  <a:rPr lang="en-US" sz="2400" dirty="0"/>
                  <a:t>, where </a:t>
                </a:r>
                <a:r>
                  <a:rPr lang="en-US" sz="2400" i="1" dirty="0"/>
                  <a:t>W</a:t>
                </a:r>
                <a:r>
                  <a:rPr lang="en-US" sz="2400" dirty="0"/>
                  <a:t> is max modulating freq.</a:t>
                </a:r>
              </a:p>
              <a:p>
                <a:r>
                  <a:rPr lang="en-US" sz="2800" dirty="0"/>
                  <a:t>The result is that the capacitor voltage or detector output is nearly the same as the envelope of AM wave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322518"/>
              </a:xfrm>
              <a:blipFill>
                <a:blip r:embed="rId2"/>
                <a:stretch>
                  <a:fillRect l="-2444" t="-1833" r="-1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Demodulation of conventional AM signal</a:t>
            </a:r>
          </a:p>
        </p:txBody>
      </p:sp>
    </p:spTree>
    <p:extLst>
      <p:ext uri="{BB962C8B-B14F-4D97-AF65-F5344CB8AC3E}">
        <p14:creationId xmlns:p14="http://schemas.microsoft.com/office/powerpoint/2010/main" val="26184267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Advantages, disadvantages and applications of AM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568480" y="1192067"/>
          <a:ext cx="7954028" cy="3901440"/>
        </p:xfrm>
        <a:graphic>
          <a:graphicData uri="http://schemas.openxmlformats.org/drawingml/2006/table">
            <a:tbl>
              <a:tblPr/>
              <a:tblGrid>
                <a:gridCol w="3977014">
                  <a:extLst>
                    <a:ext uri="{9D8B030D-6E8A-4147-A177-3AD203B41FA5}">
                      <a16:colId xmlns:a16="http://schemas.microsoft.com/office/drawing/2014/main" val="2446123763"/>
                    </a:ext>
                  </a:extLst>
                </a:gridCol>
                <a:gridCol w="3977014">
                  <a:extLst>
                    <a:ext uri="{9D8B030D-6E8A-4147-A177-3AD203B41FA5}">
                      <a16:colId xmlns:a16="http://schemas.microsoft.com/office/drawing/2014/main" val="4094086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NimbusRomNo9L-Medi"/>
                        </a:rPr>
                        <a:t>Advantages </a:t>
                      </a:r>
                      <a:endParaRPr lang="en-US" sz="280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NimbusRomNo9L-Medi"/>
                        </a:rPr>
                        <a:t>Disadvantages</a:t>
                      </a:r>
                      <a:endParaRPr lang="en-US" sz="28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002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NimbusRomNo9L-Regu"/>
                        </a:rPr>
                        <a:t>AM transmission are less complex </a:t>
                      </a:r>
                      <a:endParaRPr lang="en-US" sz="28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NimbusRomNo9L-Regu"/>
                        </a:rPr>
                        <a:t>Power wasted in the transmitted signal. Most of the transmitted power is in the carrier wave which does not carry any information</a:t>
                      </a:r>
                      <a:endParaRPr lang="en-US" sz="28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4290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NimbusRomNo9L-Regu"/>
                        </a:rPr>
                        <a:t>Receivers as simple and detection is easy </a:t>
                      </a:r>
                      <a:endParaRPr lang="en-US" sz="280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NimbusRomNo9L-Regu"/>
                        </a:rPr>
                        <a:t>AM is wasteful of channel bandwidth</a:t>
                      </a:r>
                      <a:b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NimbusRomNo9L-Regu"/>
                        </a:rPr>
                      </a:b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NimbusRomNo9L-Regu"/>
                        </a:rPr>
                        <a:t>The transmitted signal requires twice the bandwidth of the message. This is due to the transmission of both sidebands.</a:t>
                      </a:r>
                      <a:endParaRPr lang="en-US" sz="28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2418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NimbusRomNo9L-Regu"/>
                        </a:rPr>
                        <a:t>AM receivers are cost efficient </a:t>
                      </a:r>
                      <a:endParaRPr lang="en-US" sz="280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NimbusRomNo9L-Regu"/>
                        </a:rPr>
                        <a:t>Easily affected by channel noise</a:t>
                      </a:r>
                      <a:endParaRPr lang="en-US" sz="280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6296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NimbusRomNo9L-Regu"/>
                        </a:rPr>
                        <a:t>AM requires larger bandwidth</a:t>
                      </a:r>
                      <a:endParaRPr lang="en-US" sz="280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53446665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>
              <a:defRPr/>
            </a:pPr>
            <a:fld id="{48F63A3B-78C7-47BE-AE5E-E10140E04643}" type="slidenum">
              <a:rPr lang="en-US" sz="1800" kern="0" smtClean="0"/>
              <a:pPr defTabSz="914400">
                <a:defRPr/>
              </a:pPr>
              <a:t>37</a:t>
            </a:fld>
            <a:endParaRPr lang="en-US" sz="1800" kern="0" dirty="0"/>
          </a:p>
        </p:txBody>
      </p:sp>
      <p:sp>
        <p:nvSpPr>
          <p:cNvPr id="7" name="Rectangle 6"/>
          <p:cNvSpPr/>
          <p:nvPr/>
        </p:nvSpPr>
        <p:spPr>
          <a:xfrm>
            <a:off x="568480" y="5273454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NimbusRomNo9L-Medi"/>
              </a:rPr>
              <a:t>Applications</a:t>
            </a:r>
            <a:br>
              <a:rPr lang="en-US" b="1" dirty="0">
                <a:solidFill>
                  <a:srgbClr val="000000"/>
                </a:solidFill>
                <a:latin typeface="NimbusRomNo9L-Medi"/>
              </a:rPr>
            </a:br>
            <a:r>
              <a:rPr lang="en-US" dirty="0" err="1">
                <a:solidFill>
                  <a:srgbClr val="000000"/>
                </a:solidFill>
                <a:latin typeface="NimbusRomNo9L-Regu"/>
              </a:rPr>
              <a:t>i</a:t>
            </a:r>
            <a:r>
              <a:rPr lang="en-US" dirty="0">
                <a:solidFill>
                  <a:srgbClr val="000000"/>
                </a:solidFill>
                <a:latin typeface="NimbusRomNo9L-Regu"/>
              </a:rPr>
              <a:t>) Radio broadcasting</a:t>
            </a:r>
            <a:br>
              <a:rPr lang="en-US" dirty="0">
                <a:solidFill>
                  <a:srgbClr val="000000"/>
                </a:solidFill>
                <a:latin typeface="NimbusRomNo9L-Regu"/>
              </a:rPr>
            </a:br>
            <a:r>
              <a:rPr lang="en-US" dirty="0">
                <a:solidFill>
                  <a:srgbClr val="000000"/>
                </a:solidFill>
                <a:latin typeface="NimbusRomNo9L-Regu"/>
              </a:rPr>
              <a:t>ii) Picture transmission in TV system, </a:t>
            </a:r>
            <a:r>
              <a:rPr lang="en-US" dirty="0" err="1">
                <a:solidFill>
                  <a:srgbClr val="000000"/>
                </a:solidFill>
                <a:latin typeface="NimbusRomNo9L-Regu"/>
              </a:rPr>
              <a:t>etc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4028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DSB-SC Modulation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DSB-SC overcomes the shortcomings of DSB-FC, where only a fraction of the total transmitted power is affected by the intelligent signal.</a:t>
            </a:r>
          </a:p>
          <a:p>
            <a:r>
              <a:rPr lang="en-US" dirty="0"/>
              <a:t>The efficiency of conventional AM is around 33.3 % based on the modulation index.</a:t>
            </a:r>
          </a:p>
          <a:p>
            <a:r>
              <a:rPr lang="en-US" dirty="0"/>
              <a:t>This problem is solved by suppressing the carrier component of the modulated wave, hence DSB-SC.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761220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DSB-SC Modulation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DSB-SC is obtained by product modulator that simply multiples the message signal </a:t>
            </a:r>
            <a:r>
              <a:rPr lang="en-US" i="1" dirty="0"/>
              <a:t>m(t)</a:t>
            </a:r>
            <a:r>
              <a:rPr lang="en-US" dirty="0"/>
              <a:t> by the carrier wave c(t)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-42863" y="3581400"/>
          <a:ext cx="9229726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Visio" r:id="rId3" imgW="6248378" imgH="1343131" progId="Visio.Drawing.15">
                  <p:embed/>
                </p:oleObj>
              </mc:Choice>
              <mc:Fallback>
                <p:oleObj name="Visio" r:id="rId3" imgW="6248378" imgH="1343131" progId="Visio.Drawing.15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42863" y="3581400"/>
                        <a:ext cx="9229726" cy="192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547503" y="5685850"/>
                <a:ext cx="404899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2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200" i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32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200" i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3200" i="0"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503" y="5685850"/>
                <a:ext cx="4048994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8511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4849"/>
          </a:xfrm>
        </p:spPr>
        <p:txBody>
          <a:bodyPr>
            <a:normAutofit fontScale="90000"/>
          </a:bodyPr>
          <a:lstStyle/>
          <a:p>
            <a:r>
              <a:rPr lang="en-US" dirty="0"/>
              <a:t>DSB-SC Modulation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05200"/>
            <a:ext cx="8229600" cy="2620963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0" y="1447800"/>
          <a:ext cx="9229726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Visio" r:id="rId3" imgW="6248378" imgH="1343131" progId="Visio.Drawing.15">
                  <p:embed/>
                </p:oleObj>
              </mc:Choice>
              <mc:Fallback>
                <p:oleObj name="Visio" r:id="rId3" imgW="6248378" imgH="1343131" progId="Visio.Drawing.15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447800"/>
                        <a:ext cx="9229726" cy="192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547503" y="1015425"/>
                <a:ext cx="404899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2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200" i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32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200" i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3200" i="0"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503" y="1015425"/>
                <a:ext cx="4048994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111525"/>
            <a:ext cx="4335506" cy="21897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1035" y="3250150"/>
            <a:ext cx="3465765" cy="22296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02484" y="5613182"/>
            <a:ext cx="682475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modulated signal </a:t>
            </a:r>
            <a:r>
              <a:rPr lang="en-US" i="1" dirty="0"/>
              <a:t>s(t)</a:t>
            </a:r>
            <a:r>
              <a:rPr lang="en-US" dirty="0"/>
              <a:t> undergoes phase reversal whenever the message signal </a:t>
            </a:r>
            <a:r>
              <a:rPr lang="en-US" i="1" dirty="0"/>
              <a:t>m(t)</a:t>
            </a:r>
            <a:r>
              <a:rPr lang="en-US" dirty="0"/>
              <a:t> crosses zero</a:t>
            </a:r>
          </a:p>
        </p:txBody>
      </p:sp>
    </p:spTree>
    <p:extLst>
      <p:ext uri="{BB962C8B-B14F-4D97-AF65-F5344CB8AC3E}">
        <p14:creationId xmlns:p14="http://schemas.microsoft.com/office/powerpoint/2010/main" val="113318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Bandwidth requirement of DSB-SC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DSB-SC wave form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To get the bandwidth, we take Fourier transform of s(t)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619" t="-2682" r="-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021" y="3598002"/>
            <a:ext cx="7412945" cy="256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7362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Bandwidth requirement of DSB-SC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012" y="2567455"/>
            <a:ext cx="4153061" cy="29407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3923" y="984740"/>
            <a:ext cx="5063141" cy="17496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38" y="3106145"/>
            <a:ext cx="4445082" cy="18633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38539" y="5508229"/>
                <a:ext cx="861391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Since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contains both the upper and the lower sidebands, it is called a double-sideband (DSB) AM signal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39" y="5508229"/>
                <a:ext cx="8613912" cy="707886"/>
              </a:xfrm>
              <a:prstGeom prst="rect">
                <a:avLst/>
              </a:prstGeom>
              <a:blipFill>
                <a:blip r:embed="rId6"/>
                <a:stretch>
                  <a:fillRect l="-708" t="-5172" r="-566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8400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Bandwidth requirement of DSB-SC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538" y="1099930"/>
            <a:ext cx="8613913" cy="52407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frequency content of the modulated signal s(t) in the frequency band |𝑓|&gt;𝑓</a:t>
            </a:r>
            <a:r>
              <a:rPr lang="en-US" baseline="-25000" dirty="0"/>
              <a:t>𝑐</a:t>
            </a:r>
            <a:r>
              <a:rPr lang="en-US" dirty="0"/>
              <a:t> is called the </a:t>
            </a:r>
            <a:r>
              <a:rPr lang="en-US" b="1" dirty="0"/>
              <a:t>upper sideband</a:t>
            </a:r>
            <a:r>
              <a:rPr lang="en-US" dirty="0"/>
              <a:t> of 𝑆(𝑓), and </a:t>
            </a:r>
          </a:p>
          <a:p>
            <a:r>
              <a:rPr lang="en-US" dirty="0"/>
              <a:t>the frequency content in the frequency band |𝑓|&lt;𝑓</a:t>
            </a:r>
            <a:r>
              <a:rPr lang="en-US" baseline="-25000" dirty="0"/>
              <a:t>𝑐</a:t>
            </a:r>
            <a:r>
              <a:rPr lang="en-US" dirty="0"/>
              <a:t> is called the </a:t>
            </a:r>
            <a:r>
              <a:rPr lang="en-US" b="1" dirty="0"/>
              <a:t>lower sideband </a:t>
            </a:r>
            <a:r>
              <a:rPr lang="en-US" dirty="0"/>
              <a:t>of 𝑆(𝑓)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upper sideband of 𝑆(𝑓) contains all the</a:t>
            </a:r>
            <a:br>
              <a:rPr lang="en-US" dirty="0"/>
            </a:br>
            <a:r>
              <a:rPr lang="en-US" dirty="0"/>
              <a:t>frequencies in 𝑀(𝑓). A similar statement applies to the lower sideband of 𝑆(𝑓).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DSB-SC signal does not contain carrier component.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All power transmitted is within m(t) since the carrier is suppressed, hence the name </a:t>
            </a:r>
            <a:r>
              <a:rPr lang="en-US" i="1" dirty="0"/>
              <a:t>SC.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595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4.1 </a:t>
            </a:r>
            <a:r>
              <a:rPr lang="en-US" dirty="0" err="1"/>
              <a:t>pg</a:t>
            </a:r>
            <a:r>
              <a:rPr lang="en-US" dirty="0"/>
              <a:t> 68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that the modulating signal m(t) is a sinusoid of the form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i="1">
                          <a:solidFill>
                            <a:schemeClr val="tx1"/>
                          </a:solidFill>
                        </a:rPr>
                        <m:t>      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≪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Determine the DSB-SC AM signal and its upper and lower sidebands. Take the carrier signal as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br>
                  <a:rPr lang="en-US" dirty="0"/>
                </a:b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831" t="-2682" r="-1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765315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content of DSB-SC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power content of the DSB-SC signal will be found by assuming that the phase of the signal is set to zero (i.e. </a:t>
            </a:r>
            <a:r>
              <a:rPr lang="en-US" sz="2400" i="1" dirty="0">
                <a:latin typeface="Symbol" panose="05050102010706020507" pitchFamily="18" charset="2"/>
              </a:rPr>
              <a:t>f</a:t>
            </a:r>
            <a:r>
              <a:rPr lang="en-US" sz="2400" i="1" baseline="-25000" dirty="0"/>
              <a:t>c</a:t>
            </a:r>
            <a:r>
              <a:rPr lang="en-US" sz="2400" i="1" dirty="0"/>
              <a:t> </a:t>
            </a:r>
            <a:r>
              <a:rPr lang="en-US" sz="2400" dirty="0"/>
              <a:t>= 0). </a:t>
            </a:r>
          </a:p>
          <a:p>
            <a:r>
              <a:rPr lang="en-US" sz="2400" dirty="0"/>
              <a:t>This is because the power in a signal is independent of the phase of the signal.</a:t>
            </a:r>
          </a:p>
          <a:p>
            <a:r>
              <a:rPr lang="en-US" sz="2400" dirty="0"/>
              <a:t>The time-average autocorrelation function of the signal, </a:t>
            </a:r>
            <a:r>
              <a:rPr lang="en-US" sz="2400" i="1" dirty="0"/>
              <a:t>s</a:t>
            </a:r>
            <a:r>
              <a:rPr lang="en-US" sz="2400" dirty="0"/>
              <a:t>(</a:t>
            </a:r>
            <a:r>
              <a:rPr lang="en-US" sz="2400" i="1" dirty="0"/>
              <a:t>t</a:t>
            </a:r>
            <a:r>
              <a:rPr lang="en-US" sz="2400" dirty="0"/>
              <a:t>) is given by 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706" y="3484512"/>
            <a:ext cx="7167576" cy="266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173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content of DSB-SC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538" y="3231715"/>
            <a:ext cx="8613913" cy="2637378"/>
          </a:xfrm>
        </p:spPr>
        <p:txBody>
          <a:bodyPr>
            <a:normAutofit/>
          </a:bodyPr>
          <a:lstStyle/>
          <a:p>
            <a:r>
              <a:rPr lang="en-US" sz="2400" dirty="0"/>
              <a:t>PSD of s(t) is obtained by taking Fourier transform both sides of Eqn. 4.1.3</a:t>
            </a:r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825" y="932593"/>
            <a:ext cx="5923616" cy="2203427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1769451" y="3994452"/>
            <a:ext cx="5552085" cy="2242290"/>
            <a:chOff x="1769451" y="3994452"/>
            <a:chExt cx="5552085" cy="224229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69451" y="3994452"/>
              <a:ext cx="5552085" cy="2165225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2916278" y="5713522"/>
              <a:ext cx="367408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14566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content of DSB-SC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The power content is obtained by using the autocorrelation of the signal as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  <m:sup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(0)=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  <m:sup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mr>
                        <m:mr>
                          <m:e/>
                        </m:mr>
                      </m:m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:r>
                  <a:rPr lang="en-US" i="1" dirty="0"/>
                  <a:t>P</a:t>
                </a:r>
                <a:r>
                  <a:rPr lang="en-US" i="1" baseline="-25000" dirty="0"/>
                  <a:t>m</a:t>
                </a:r>
                <a:r>
                  <a:rPr lang="en-US" i="1" dirty="0"/>
                  <a:t> </a:t>
                </a:r>
                <a:r>
                  <a:rPr lang="en-US" dirty="0"/>
                  <a:t>= </a:t>
                </a:r>
                <a:r>
                  <a:rPr lang="en-US" i="1" dirty="0"/>
                  <a:t>R</a:t>
                </a:r>
                <a:r>
                  <a:rPr lang="en-US" i="1" baseline="-25000" dirty="0"/>
                  <a:t>m</a:t>
                </a:r>
                <a:r>
                  <a:rPr lang="en-US" dirty="0"/>
                  <a:t>(0) is the power of the message signal.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689" t="-2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9605437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4.2 </a:t>
            </a:r>
            <a:r>
              <a:rPr lang="en-US" dirty="0" err="1"/>
              <a:t>pg</a:t>
            </a:r>
            <a:r>
              <a:rPr lang="en-US" dirty="0"/>
              <a:t>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a follow up to Example 4.1, determine the PSD of the modulated signal, the power in the</a:t>
            </a:r>
            <a:br>
              <a:rPr lang="en-US" dirty="0"/>
            </a:br>
            <a:r>
              <a:rPr lang="en-US" dirty="0"/>
              <a:t>modulated signal, and the power in each of the sidebands.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207727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Self-check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signal m(t) bandlimited to 5 kHz is DSB modulated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to yield s(t). For what value of carrier frequency fc, will the bandwidth of s(t) be 2% of fc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07103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Self-check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Determine the power-spectral density of the modulated signal, the power in the modulated signal, and the power in each of the sidebands. Given the modulated signal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)=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4080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538" y="132520"/>
            <a:ext cx="8613913" cy="800074"/>
          </a:xfrm>
        </p:spPr>
        <p:txBody>
          <a:bodyPr/>
          <a:lstStyle/>
          <a:p>
            <a:r>
              <a:rPr lang="en-US" dirty="0"/>
              <a:t>Generation (modulation) of DSB-SC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538" y="1099930"/>
            <a:ext cx="8613913" cy="4769164"/>
          </a:xfrm>
        </p:spPr>
        <p:txBody>
          <a:bodyPr/>
          <a:lstStyle/>
          <a:p>
            <a:r>
              <a:rPr lang="en-US" dirty="0"/>
              <a:t>A DSB-SC wave consists of the product of the modulating signal </a:t>
            </a:r>
            <a:r>
              <a:rPr lang="en-US" i="1" dirty="0"/>
              <a:t>m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and the carrier signal,</a:t>
            </a:r>
            <a:br>
              <a:rPr lang="en-US" dirty="0"/>
            </a:br>
            <a:r>
              <a:rPr lang="en-US" dirty="0"/>
              <a:t>usually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to yield </a:t>
            </a:r>
            <a:r>
              <a:rPr lang="en-US" i="1" dirty="0"/>
              <a:t>s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68432" y="6450261"/>
            <a:ext cx="984019" cy="365125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lang="en-US" sz="1800" kern="0" dirty="0">
              <a:solidFill>
                <a:sysClr val="windowText" lastClr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30" y="2664946"/>
            <a:ext cx="8312728" cy="337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1208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 (modulation) of DSB-SC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Nonlinear modulator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506" y="1765017"/>
            <a:ext cx="9144000" cy="19250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82251" y="4530859"/>
                <a:ext cx="8168453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0000"/>
                    </a:solidFill>
                    <a:latin typeface="NimbusRomNo9L-Regu"/>
                  </a:rPr>
                  <a:t>The input-output relationship of either of the NL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𝑎𝑥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251" y="4530859"/>
                <a:ext cx="8168453" cy="954107"/>
              </a:xfrm>
              <a:prstGeom prst="rect">
                <a:avLst/>
              </a:prstGeom>
              <a:blipFill>
                <a:blip r:embed="rId4"/>
                <a:stretch>
                  <a:fillRect l="-1493" t="-6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6657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 (modulation) of DSB-SC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Balanced modulator</a:t>
            </a:r>
          </a:p>
          <a:p>
            <a:pPr lvl="1"/>
            <a:r>
              <a:rPr lang="en-US" sz="3200" dirty="0"/>
              <a:t>The balanced modulator consist of amplitude modulators interconnected in a way to suppress</a:t>
            </a:r>
            <a:br>
              <a:rPr lang="en-US" sz="3200" dirty="0"/>
            </a:br>
            <a:r>
              <a:rPr lang="en-US" sz="3200" dirty="0"/>
              <a:t>the carrier. </a:t>
            </a:r>
          </a:p>
          <a:p>
            <a:pPr lvl="1"/>
            <a:r>
              <a:rPr lang="en-US" sz="3200" dirty="0"/>
              <a:t>One input to the amplitude modulator is from an oscillator that generate the carrier</a:t>
            </a:r>
            <a:br>
              <a:rPr lang="en-US" sz="3200" dirty="0"/>
            </a:br>
            <a:r>
              <a:rPr lang="en-US" sz="3200" dirty="0"/>
              <a:t>wave. </a:t>
            </a:r>
          </a:p>
          <a:p>
            <a:pPr lvl="1"/>
            <a:r>
              <a:rPr lang="en-US" sz="3200" dirty="0"/>
              <a:t>The second input to the top modulator is the message signal </a:t>
            </a:r>
            <a:r>
              <a:rPr lang="en-US" sz="3200" i="1" dirty="0"/>
              <a:t>m</a:t>
            </a:r>
            <a:r>
              <a:rPr lang="en-US" sz="3200" dirty="0"/>
              <a:t>(</a:t>
            </a:r>
            <a:r>
              <a:rPr lang="en-US" sz="3200" i="1" dirty="0"/>
              <a:t>t</a:t>
            </a:r>
            <a:r>
              <a:rPr lang="en-US" sz="3200" dirty="0"/>
              <a:t>) while the bottom one takes </a:t>
            </a:r>
            <a:r>
              <a:rPr lang="en-US" sz="3200" i="1" dirty="0">
                <a:latin typeface="Symbol" panose="05050102010706020507" pitchFamily="18" charset="2"/>
              </a:rPr>
              <a:t>- </a:t>
            </a:r>
            <a:r>
              <a:rPr lang="en-US" sz="3200" i="1" dirty="0"/>
              <a:t>m</a:t>
            </a:r>
            <a:r>
              <a:rPr lang="en-US" sz="3200" dirty="0"/>
              <a:t>(</a:t>
            </a:r>
            <a:r>
              <a:rPr lang="en-US" sz="3200" i="1" dirty="0"/>
              <a:t>t</a:t>
            </a:r>
            <a:r>
              <a:rPr lang="en-US" sz="3200" dirty="0"/>
              <a:t>). </a:t>
            </a:r>
            <a:br>
              <a:rPr lang="en-US" sz="3200" dirty="0"/>
            </a:br>
            <a:endParaRPr lang="en-US" sz="3200" dirty="0"/>
          </a:p>
          <a:p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382140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 (modulation) of DSB-SC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The outputs of the AM modulators are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The output of the summer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123" t="-6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53" y="3758102"/>
            <a:ext cx="5161550" cy="271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077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 (modulation) of DSB-SC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The output of the summer is 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982" t="-1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631402" y="3687922"/>
                <a:ext cx="7653403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Finally,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)=2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800" i="0"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402" y="3687922"/>
                <a:ext cx="7653403" cy="954107"/>
              </a:xfrm>
              <a:prstGeom prst="rect">
                <a:avLst/>
              </a:prstGeom>
              <a:blipFill>
                <a:blip r:embed="rId4"/>
                <a:stretch>
                  <a:fillRect l="-1673" t="-6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402" y="2562856"/>
            <a:ext cx="7828179" cy="95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686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 (modulation) of DSB-SC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Finally,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)=2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800" dirty="0"/>
                  <a:t>The balanced modulator output is equal to the product of the modulating signal </a:t>
                </a:r>
                <a:r>
                  <a:rPr lang="en-US" sz="2800" i="1" dirty="0"/>
                  <a:t>m</a:t>
                </a:r>
                <a:r>
                  <a:rPr lang="en-US" sz="2800" dirty="0"/>
                  <a:t>(</a:t>
                </a:r>
                <a:r>
                  <a:rPr lang="en-US" sz="2800" i="1" dirty="0"/>
                  <a:t>t</a:t>
                </a:r>
                <a:r>
                  <a:rPr lang="en-US" sz="2800" dirty="0"/>
                  <a:t>) and carrier </a:t>
                </a:r>
                <a:r>
                  <a:rPr lang="en-US" sz="2800" i="1" dirty="0"/>
                  <a:t>c</a:t>
                </a:r>
                <a:r>
                  <a:rPr lang="en-US" sz="2800" dirty="0"/>
                  <a:t>(</a:t>
                </a:r>
                <a:r>
                  <a:rPr lang="en-US" sz="2800" i="1" dirty="0"/>
                  <a:t>t</a:t>
                </a:r>
                <a:r>
                  <a:rPr lang="en-US" sz="2800" dirty="0"/>
                  <a:t>) except the scaling factor 2</a:t>
                </a:r>
                <a:r>
                  <a:rPr lang="en-US" sz="2800" i="1" dirty="0"/>
                  <a:t>K</a:t>
                </a:r>
                <a:r>
                  <a:rPr lang="en-US" sz="2800" i="1" baseline="-25000" dirty="0"/>
                  <a:t>a</a:t>
                </a:r>
                <a:r>
                  <a:rPr lang="en-US" sz="2800" i="1" dirty="0"/>
                  <a:t>.</a:t>
                </a:r>
              </a:p>
              <a:p>
                <a:pPr marL="0" indent="0">
                  <a:buNone/>
                </a:pPr>
                <a:br>
                  <a:rPr lang="en-US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265" t="-1788" r="-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175489" y="5615673"/>
                <a:ext cx="679301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32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200" i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32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32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3200" i="0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32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32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489" y="5615673"/>
                <a:ext cx="6793013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57" y="3389718"/>
            <a:ext cx="6245475" cy="232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578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 (modulation) of DSB-SC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Switching (Ring) modulator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30" y="1665866"/>
            <a:ext cx="8312728" cy="275941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38538" y="4622167"/>
            <a:ext cx="861391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Ring modulators frequency mix or heterodyne two waveforms, and output the sum and difference of the frequencies present in each waveform.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Multiplication in the time domain is the dual of convolution in the frequency domain, so the output waveform contains the sum and difference of the input spectral components.</a:t>
            </a:r>
          </a:p>
        </p:txBody>
      </p:sp>
    </p:spTree>
    <p:extLst>
      <p:ext uri="{BB962C8B-B14F-4D97-AF65-F5344CB8AC3E}">
        <p14:creationId xmlns:p14="http://schemas.microsoft.com/office/powerpoint/2010/main" val="356746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 (modulation) of DSB-SC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38538" y="932594"/>
                <a:ext cx="8613913" cy="539305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Switching (Ring) modulator</a:t>
                </a:r>
              </a:p>
              <a:p>
                <a:pPr lvl="1"/>
                <a:r>
                  <a:rPr lang="en-US" dirty="0"/>
                  <a:t>c(t) is a square wave with Fourier series as</a:t>
                </a:r>
              </a:p>
              <a:p>
                <a:pPr marL="20116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nary>
                      <m:r>
                        <m:rPr>
                          <m:sty m:val="p"/>
                        </m:rP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 The output s(t) is given by</a:t>
                </a:r>
              </a:p>
              <a:p>
                <a:pPr marL="20116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+......</m:t>
                      </m:r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The DSB-SC wave is extracted from </a:t>
                </a:r>
                <a:r>
                  <a:rPr lang="en-US" i="1" dirty="0"/>
                  <a:t>s</a:t>
                </a:r>
                <a:r>
                  <a:rPr lang="en-US" dirty="0"/>
                  <a:t>(</a:t>
                </a:r>
                <a:r>
                  <a:rPr lang="en-US" i="1" dirty="0"/>
                  <a:t>t</a:t>
                </a:r>
                <a:r>
                  <a:rPr lang="en-US" dirty="0"/>
                  <a:t>) by passing it through an ideal BPF having carrier frequency </a:t>
                </a:r>
                <a:r>
                  <a:rPr lang="en-US" i="1" dirty="0"/>
                  <a:t>f</a:t>
                </a:r>
                <a:r>
                  <a:rPr lang="en-US" i="1" baseline="-25000" dirty="0"/>
                  <a:t>c</a:t>
                </a:r>
                <a:r>
                  <a:rPr lang="en-US" i="1" dirty="0"/>
                  <a:t> </a:t>
                </a:r>
                <a:r>
                  <a:rPr lang="en-US" dirty="0"/>
                  <a:t>and bandwidth equal to </a:t>
                </a:r>
                <a:r>
                  <a:rPr lang="en-US" i="1" dirty="0"/>
                  <a:t>2W </a:t>
                </a:r>
                <a:r>
                  <a:rPr lang="en-US" dirty="0"/>
                  <a:t>Hz.</a:t>
                </a:r>
              </a:p>
              <a:p>
                <a:pPr lvl="1"/>
                <a:r>
                  <a:rPr lang="en-US" dirty="0"/>
                  <a:t>The output of the BPF is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538" y="932594"/>
                <a:ext cx="8613913" cy="5393050"/>
              </a:xfrm>
              <a:blipFill>
                <a:blip r:embed="rId3"/>
                <a:stretch>
                  <a:fillRect l="-2477" t="-2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615628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dirty="0"/>
              <a:t>Demodulation of DSB-SC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5135563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sz="2800" dirty="0"/>
                  <a:t>In the absence of noise and ideal channel, </a:t>
                </a:r>
                <a:r>
                  <a:rPr lang="en-US" sz="2800" b="1" dirty="0"/>
                  <a:t>the received signal is equal to the modulated signal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)=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/>
              </a:p>
              <a:p>
                <a:r>
                  <a:rPr lang="en-US" sz="2800" dirty="0"/>
                  <a:t>Demodulation is done by multiplying </a:t>
                </a:r>
                <a:r>
                  <a:rPr lang="en-US" sz="2800" i="1" dirty="0"/>
                  <a:t>r(t)</a:t>
                </a:r>
                <a:r>
                  <a:rPr lang="en-US" sz="2800" dirty="0"/>
                  <a:t> by a sinusoid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endParaRPr lang="en-US" sz="2800" b="0" dirty="0"/>
              </a:p>
              <a:p>
                <a:r>
                  <a:rPr lang="en-US" sz="2800" dirty="0"/>
                  <a:t>Pass the resulting signal through ideal LPF with bandwidth </a:t>
                </a:r>
                <a:r>
                  <a:rPr lang="en-US" sz="2800" i="1" dirty="0"/>
                  <a:t>W</a:t>
                </a:r>
              </a:p>
              <a:p>
                <a:pPr marL="0" indent="0">
                  <a:buNone/>
                </a:pPr>
                <a:r>
                  <a:rPr lang="en-US" sz="2800" dirty="0"/>
                  <a:t>Thus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)·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80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80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(4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5135563"/>
              </a:xfrm>
              <a:blipFill>
                <a:blip r:embed="rId3"/>
                <a:stretch>
                  <a:fillRect l="-2444" t="-1900" r="-2148" b="-17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640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DSB-SC Advantages &amp; disadvantages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238538" y="1018394"/>
          <a:ext cx="8613912" cy="5221505"/>
        </p:xfrm>
        <a:graphic>
          <a:graphicData uri="http://schemas.openxmlformats.org/drawingml/2006/table">
            <a:tbl>
              <a:tblPr/>
              <a:tblGrid>
                <a:gridCol w="3780009">
                  <a:extLst>
                    <a:ext uri="{9D8B030D-6E8A-4147-A177-3AD203B41FA5}">
                      <a16:colId xmlns:a16="http://schemas.microsoft.com/office/drawing/2014/main" val="3263634528"/>
                    </a:ext>
                  </a:extLst>
                </a:gridCol>
                <a:gridCol w="4833903">
                  <a:extLst>
                    <a:ext uri="{9D8B030D-6E8A-4147-A177-3AD203B41FA5}">
                      <a16:colId xmlns:a16="http://schemas.microsoft.com/office/drawing/2014/main" val="2299736767"/>
                    </a:ext>
                  </a:extLst>
                </a:gridCol>
              </a:tblGrid>
              <a:tr h="364298">
                <a:tc>
                  <a:txBody>
                    <a:bodyPr/>
                    <a:lstStyle/>
                    <a:p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NimbusRomNo9L-Medi"/>
                        </a:rPr>
                        <a:t>Advantages </a:t>
                      </a:r>
                      <a:endParaRPr lang="en-US" sz="2800">
                        <a:effectLst/>
                      </a:endParaRPr>
                    </a:p>
                  </a:txBody>
                  <a:tcPr marL="89978" marR="89978" marT="44989" marB="4498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NimbusRomNo9L-Medi"/>
                        </a:rPr>
                        <a:t>Disadvantages</a:t>
                      </a:r>
                      <a:endParaRPr lang="en-US" sz="2800" dirty="0">
                        <a:effectLst/>
                      </a:endParaRPr>
                    </a:p>
                  </a:txBody>
                  <a:tcPr marL="89978" marR="89978" marT="44989" marB="4498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792167"/>
                  </a:ext>
                </a:extLst>
              </a:tr>
              <a:tr h="638618">
                <a:tc>
                  <a:txBody>
                    <a:bodyPr/>
                    <a:lstStyle/>
                    <a:p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NimbusRomNo9L-Regu"/>
                        </a:rPr>
                        <a:t>Low Power consumption or power saying </a:t>
                      </a:r>
                      <a:endParaRPr lang="en-US" sz="2800">
                        <a:effectLst/>
                      </a:endParaRPr>
                    </a:p>
                  </a:txBody>
                  <a:tcPr marL="89978" marR="89978" marT="44989" marB="4498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NimbusRomNo9L-Regu"/>
                        </a:rPr>
                        <a:t>Design of receiver is complex</a:t>
                      </a:r>
                      <a:endParaRPr lang="en-US" sz="2800">
                        <a:effectLst/>
                      </a:endParaRPr>
                    </a:p>
                  </a:txBody>
                  <a:tcPr marL="89978" marR="89978" marT="44989" marB="4498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9722743"/>
                  </a:ext>
                </a:extLst>
              </a:tr>
              <a:tr h="467383">
                <a:tc>
                  <a:txBody>
                    <a:bodyPr/>
                    <a:lstStyle/>
                    <a:p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NimbusRomNo9L-Regu"/>
                        </a:rPr>
                        <a:t>The modulation system is simple </a:t>
                      </a:r>
                      <a:endParaRPr lang="en-US" sz="2800">
                        <a:effectLst/>
                      </a:endParaRPr>
                    </a:p>
                  </a:txBody>
                  <a:tcPr marL="89978" marR="89978" marT="44989" marB="4498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NimbusRomNo9L-Regu"/>
                        </a:rPr>
                        <a:t>Bandwidth required is same as that of AM</a:t>
                      </a:r>
                      <a:endParaRPr lang="en-US" sz="2800">
                        <a:effectLst/>
                      </a:endParaRPr>
                    </a:p>
                  </a:txBody>
                  <a:tcPr marL="89978" marR="89978" marT="44989" marB="4498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5139893"/>
                  </a:ext>
                </a:extLst>
              </a:tr>
              <a:tr h="1028241"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NimbusRomNo9L-Regu"/>
                        </a:rPr>
                        <a:t>Efficiency is more than AM </a:t>
                      </a:r>
                      <a:endParaRPr lang="en-US" sz="2800" dirty="0">
                        <a:effectLst/>
                      </a:endParaRPr>
                    </a:p>
                  </a:txBody>
                  <a:tcPr marL="89978" marR="89978" marT="44989" marB="4498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NimbusRomNo9L-Regu"/>
                        </a:rPr>
                        <a:t>The receiver must generate a replica of the carrier in order to demodulate a DSB-SC signal</a:t>
                      </a:r>
                      <a:endParaRPr lang="en-US" sz="2800" dirty="0">
                        <a:effectLst/>
                      </a:endParaRPr>
                    </a:p>
                  </a:txBody>
                  <a:tcPr marL="89978" marR="89978" marT="44989" marB="4498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1800324"/>
                  </a:ext>
                </a:extLst>
              </a:tr>
              <a:tr h="853436">
                <a:tc>
                  <a:txBody>
                    <a:bodyPr/>
                    <a:lstStyle/>
                    <a:p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NimbusRomNo9L-Regu"/>
                        </a:rPr>
                        <a:t>Carrier wave is suppressed </a:t>
                      </a:r>
                      <a:endParaRPr lang="en-US" sz="2800">
                        <a:effectLst/>
                      </a:endParaRPr>
                    </a:p>
                  </a:txBody>
                  <a:tcPr marL="89978" marR="89978" marT="44989" marB="4498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NimbusRomNo9L-Regu"/>
                        </a:rPr>
                        <a:t>Any phase and/or frequency error will result in a distorted estimate of the message signal</a:t>
                      </a:r>
                      <a:endParaRPr lang="en-US" sz="2800" dirty="0">
                        <a:effectLst/>
                      </a:endParaRPr>
                    </a:p>
                  </a:txBody>
                  <a:tcPr marL="89978" marR="89978" marT="44989" marB="4498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9244370"/>
                  </a:ext>
                </a:extLst>
              </a:tr>
              <a:tr h="654335">
                <a:tc>
                  <a:txBody>
                    <a:bodyPr/>
                    <a:lstStyle/>
                    <a:p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NimbusRomNo9L-Regu"/>
                        </a:rPr>
                        <a:t>Linear modulation type is required </a:t>
                      </a:r>
                      <a:endParaRPr lang="en-US" sz="2800">
                        <a:effectLst/>
                      </a:endParaRPr>
                    </a:p>
                  </a:txBody>
                  <a:tcPr marL="89978" marR="89978" marT="44989" marB="4498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NimbusRomNo9L-Regu"/>
                        </a:rPr>
                        <a:t>It is difficult to generate a perfect replica of the transmitted carrier</a:t>
                      </a:r>
                      <a:endParaRPr lang="en-US" sz="2800" dirty="0">
                        <a:effectLst/>
                      </a:endParaRPr>
                    </a:p>
                  </a:txBody>
                  <a:tcPr marL="89978" marR="89978" marT="44989" marB="4498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2303923"/>
                  </a:ext>
                </a:extLst>
              </a:tr>
              <a:tr h="1215194">
                <a:tc>
                  <a:txBody>
                    <a:bodyPr/>
                    <a:lstStyle/>
                    <a:p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NimbusRomNo9L-Regu"/>
                        </a:rPr>
                        <a:t>It can be used for point to point</a:t>
                      </a:r>
                      <a:b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NimbusRomNo9L-Regu"/>
                        </a:rPr>
                      </a:b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NimbusRomNo9L-Regu"/>
                        </a:rPr>
                        <a:t>communication</a:t>
                      </a:r>
                      <a:endParaRPr lang="en-US" sz="2800">
                        <a:effectLst/>
                      </a:endParaRPr>
                    </a:p>
                  </a:txBody>
                  <a:tcPr marL="89978" marR="89978" marT="44989" marB="4498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NimbusRomNo9L-Regu"/>
                        </a:rPr>
                        <a:t>A simple modification to the technique</a:t>
                      </a:r>
                      <a:b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NimbusRomNo9L-Regu"/>
                        </a:rPr>
                      </a:b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NimbusRomNo9L-Regu"/>
                        </a:rPr>
                        <a:t>results in a less efficient transmission but simplifies the detection process greatly</a:t>
                      </a:r>
                      <a:endParaRPr lang="en-US" sz="2800" dirty="0">
                        <a:effectLst/>
                      </a:endParaRPr>
                    </a:p>
                  </a:txBody>
                  <a:tcPr marL="89978" marR="89978" marT="44989" marB="4498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6655381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012413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4.3 </a:t>
            </a:r>
            <a:r>
              <a:rPr lang="en-US" dirty="0" err="1"/>
              <a:t>pg</a:t>
            </a:r>
            <a:r>
              <a:rPr lang="en-US" dirty="0"/>
              <a:t>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value of </a:t>
            </a:r>
            <a:r>
              <a:rPr lang="en-US" i="1" dirty="0" err="1"/>
              <a:t>A</a:t>
            </a:r>
            <a:r>
              <a:rPr lang="en-US" i="1" baseline="-25000" dirty="0" err="1"/>
              <a:t>o</a:t>
            </a:r>
            <a:r>
              <a:rPr lang="en-US" i="1" dirty="0"/>
              <a:t> </a:t>
            </a:r>
            <a:r>
              <a:rPr lang="en-US" dirty="0"/>
              <a:t>as well as the frequencies of the modulating signal and the carrier.</a:t>
            </a:r>
            <a:br>
              <a:rPr lang="en-US" dirty="0"/>
            </a:br>
            <a:r>
              <a:rPr lang="en-US" dirty="0"/>
              <a:t>What is the power in the modulated signal? Indicate assumptions, if any.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6196604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Single-Sideband (SSB-SC) 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Either of the sidebands (i.e. USB or LSB) contains the complete intelligent signal.</a:t>
            </a:r>
          </a:p>
          <a:p>
            <a:r>
              <a:rPr lang="en-US" dirty="0"/>
              <a:t>It is possible to transmit one of the sidebands</a:t>
            </a:r>
          </a:p>
          <a:p>
            <a:r>
              <a:rPr lang="en-US" dirty="0"/>
              <a:t>SSB is widely used in military communication application</a:t>
            </a:r>
          </a:p>
          <a:p>
            <a:r>
              <a:rPr lang="en-US" dirty="0"/>
              <a:t>Bandwidth for SSB is half of the bandwidth of AM or DSB-SC.</a:t>
            </a:r>
          </a:p>
          <a:p>
            <a:r>
              <a:rPr lang="en-US" dirty="0"/>
              <a:t>SSB conserve bandwidth by transmitting only one sideband.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631367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Single-Sideband (SSB-SC) 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538" y="1099930"/>
            <a:ext cx="8613913" cy="1297472"/>
          </a:xfrm>
        </p:spPr>
        <p:txBody>
          <a:bodyPr/>
          <a:lstStyle/>
          <a:p>
            <a:r>
              <a:rPr lang="en-US" dirty="0"/>
              <a:t>Consider DSB-SC modulated wave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581" y="1620180"/>
            <a:ext cx="7487825" cy="16886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5190" y="2028070"/>
            <a:ext cx="1114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Eqn. 4.3.1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>
              <a:xfrm>
                <a:off x="238538" y="3308808"/>
                <a:ext cx="8613913" cy="2916627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 lnSpcReduction="10000"/>
              </a:bodyPr>
              <a:lstStyle>
                <a:lvl1pPr marL="347663" indent="-347663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§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30238" indent="-236538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804863" indent="-182563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82563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4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087438" indent="-182563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Eqn. 4.3.1 has two-side </a:t>
                </a:r>
                <a:r>
                  <a:rPr lang="en-US" dirty="0" err="1"/>
                  <a:t>freqs</a:t>
                </a:r>
                <a:endParaRPr lang="en-US" dirty="0"/>
              </a:p>
              <a:p>
                <a:r>
                  <a:rPr lang="en-US" dirty="0"/>
                  <a:t>SSB can be generated from the LSSB or USSB 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Using USSB 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, suppressing the second term in Eqn. 4.3.1, hence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𝑈𝑆𝑆𝐵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38" y="3308808"/>
                <a:ext cx="8613913" cy="2916627"/>
              </a:xfrm>
              <a:prstGeom prst="rect">
                <a:avLst/>
              </a:prstGeom>
              <a:blipFill>
                <a:blip r:embed="rId3"/>
                <a:stretch>
                  <a:fillRect l="-2619" t="-5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1202499" y="5235879"/>
            <a:ext cx="6764054" cy="11148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9603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Single-Sideband (SSB) 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>
              <a:xfrm>
                <a:off x="238538" y="1032160"/>
                <a:ext cx="8613913" cy="5193276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 fontScale="85000" lnSpcReduction="10000"/>
              </a:bodyPr>
              <a:lstStyle>
                <a:lvl1pPr marL="347663" indent="-347663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§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30238" indent="-236538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804863" indent="-182563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82563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45000"/>
                  <a:buFont typeface="Wingdings" panose="05000000000000000000" pitchFamily="2" charset="2"/>
                  <a:buChar char="v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087438" indent="-182563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ym typeface="Wingdings" panose="05000000000000000000" pitchFamily="2" charset="2"/>
                  </a:rPr>
                  <a:t>Using LSSB 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, suppressing the first term in Eqn. 4.3.1, yields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𝑆𝑆𝐵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Finally, SSB equation is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𝑆𝑆𝐵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)∓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 the plus sign applies to lower SSB and the minus sign to upper SSB </a:t>
                </a: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38" y="1032160"/>
                <a:ext cx="8613913" cy="5193276"/>
              </a:xfrm>
              <a:prstGeom prst="rect">
                <a:avLst/>
              </a:prstGeom>
              <a:blipFill>
                <a:blip r:embed="rId2"/>
                <a:stretch>
                  <a:fillRect l="-2194" t="-2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72262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538" y="132520"/>
            <a:ext cx="8613913" cy="800074"/>
          </a:xfrm>
        </p:spPr>
        <p:txBody>
          <a:bodyPr/>
          <a:lstStyle/>
          <a:p>
            <a:r>
              <a:rPr lang="en-US" dirty="0"/>
              <a:t>Generation of SSB-SC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945" y="1544614"/>
            <a:ext cx="6699097" cy="476885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68432" y="6450261"/>
            <a:ext cx="984019" cy="365125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lang="en-US" sz="1800" kern="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199" y="1084651"/>
            <a:ext cx="81106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NimbusRomNo9L-Regu"/>
              </a:rPr>
              <a:t>The Hilbert transform filter is used</a:t>
            </a:r>
            <a:r>
              <a:rPr lang="en-US" dirty="0"/>
              <a:t> to filter out the unwanted sideband before transmission</a:t>
            </a:r>
          </a:p>
        </p:txBody>
      </p:sp>
    </p:spTree>
    <p:extLst>
      <p:ext uri="{BB962C8B-B14F-4D97-AF65-F5344CB8AC3E}">
        <p14:creationId xmlns:p14="http://schemas.microsoft.com/office/powerpoint/2010/main" val="290241552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Generation SSB-SC – filtering method</a:t>
            </a:r>
          </a:p>
        </p:txBody>
      </p:sp>
      <p:grpSp>
        <p:nvGrpSpPr>
          <p:cNvPr id="26628" name="Group 4"/>
          <p:cNvGrpSpPr>
            <a:grpSpLocks/>
          </p:cNvGrpSpPr>
          <p:nvPr/>
        </p:nvGrpSpPr>
        <p:grpSpPr bwMode="auto">
          <a:xfrm>
            <a:off x="141288" y="832982"/>
            <a:ext cx="8926512" cy="5419725"/>
            <a:chOff x="89" y="798"/>
            <a:chExt cx="5623" cy="3485"/>
          </a:xfrm>
        </p:grpSpPr>
        <p:grpSp>
          <p:nvGrpSpPr>
            <p:cNvPr id="26633" name="Group 5"/>
            <p:cNvGrpSpPr>
              <a:grpSpLocks/>
            </p:cNvGrpSpPr>
            <p:nvPr/>
          </p:nvGrpSpPr>
          <p:grpSpPr bwMode="auto">
            <a:xfrm>
              <a:off x="3305" y="2698"/>
              <a:ext cx="1530" cy="956"/>
              <a:chOff x="3216" y="2448"/>
              <a:chExt cx="1530" cy="956"/>
            </a:xfrm>
          </p:grpSpPr>
          <p:sp>
            <p:nvSpPr>
              <p:cNvPr id="26689" name="Freeform 6"/>
              <p:cNvSpPr>
                <a:spLocks/>
              </p:cNvSpPr>
              <p:nvPr/>
            </p:nvSpPr>
            <p:spPr bwMode="auto">
              <a:xfrm>
                <a:off x="3216" y="2448"/>
                <a:ext cx="500" cy="935"/>
              </a:xfrm>
              <a:custGeom>
                <a:avLst/>
                <a:gdLst>
                  <a:gd name="T0" fmla="*/ 0 w 500"/>
                  <a:gd name="T1" fmla="*/ 935 h 935"/>
                  <a:gd name="T2" fmla="*/ 24 w 500"/>
                  <a:gd name="T3" fmla="*/ 697 h 935"/>
                  <a:gd name="T4" fmla="*/ 96 w 500"/>
                  <a:gd name="T5" fmla="*/ 119 h 935"/>
                  <a:gd name="T6" fmla="*/ 173 w 500"/>
                  <a:gd name="T7" fmla="*/ 26 h 935"/>
                  <a:gd name="T8" fmla="*/ 246 w 500"/>
                  <a:gd name="T9" fmla="*/ 11 h 935"/>
                  <a:gd name="T10" fmla="*/ 308 w 500"/>
                  <a:gd name="T11" fmla="*/ 20 h 935"/>
                  <a:gd name="T12" fmla="*/ 372 w 500"/>
                  <a:gd name="T13" fmla="*/ 113 h 935"/>
                  <a:gd name="T14" fmla="*/ 469 w 500"/>
                  <a:gd name="T15" fmla="*/ 697 h 935"/>
                  <a:gd name="T16" fmla="*/ 500 w 500"/>
                  <a:gd name="T17" fmla="*/ 935 h 935"/>
                  <a:gd name="T18" fmla="*/ 0 w 500"/>
                  <a:gd name="T19" fmla="*/ 935 h 93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00"/>
                  <a:gd name="T31" fmla="*/ 0 h 935"/>
                  <a:gd name="T32" fmla="*/ 500 w 500"/>
                  <a:gd name="T33" fmla="*/ 935 h 93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00" h="935">
                    <a:moveTo>
                      <a:pt x="0" y="935"/>
                    </a:moveTo>
                    <a:lnTo>
                      <a:pt x="24" y="697"/>
                    </a:lnTo>
                    <a:cubicBezTo>
                      <a:pt x="40" y="561"/>
                      <a:pt x="71" y="231"/>
                      <a:pt x="96" y="119"/>
                    </a:cubicBezTo>
                    <a:cubicBezTo>
                      <a:pt x="121" y="7"/>
                      <a:pt x="148" y="44"/>
                      <a:pt x="173" y="26"/>
                    </a:cubicBezTo>
                    <a:cubicBezTo>
                      <a:pt x="198" y="8"/>
                      <a:pt x="224" y="12"/>
                      <a:pt x="246" y="11"/>
                    </a:cubicBezTo>
                    <a:cubicBezTo>
                      <a:pt x="268" y="10"/>
                      <a:pt x="287" y="3"/>
                      <a:pt x="308" y="20"/>
                    </a:cubicBezTo>
                    <a:cubicBezTo>
                      <a:pt x="329" y="37"/>
                      <a:pt x="345" y="0"/>
                      <a:pt x="372" y="113"/>
                    </a:cubicBezTo>
                    <a:cubicBezTo>
                      <a:pt x="399" y="226"/>
                      <a:pt x="448" y="560"/>
                      <a:pt x="469" y="697"/>
                    </a:cubicBezTo>
                    <a:lnTo>
                      <a:pt x="500" y="935"/>
                    </a:lnTo>
                    <a:lnTo>
                      <a:pt x="0" y="935"/>
                    </a:lnTo>
                    <a:close/>
                  </a:path>
                </a:pathLst>
              </a:custGeom>
              <a:solidFill>
                <a:srgbClr val="FFFF9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endParaRPr lang="en-MY" altLang="en-US"/>
              </a:p>
            </p:txBody>
          </p:sp>
          <p:sp>
            <p:nvSpPr>
              <p:cNvPr id="26690" name="Text Box 7"/>
              <p:cNvSpPr txBox="1">
                <a:spLocks noChangeArrowheads="1"/>
              </p:cNvSpPr>
              <p:nvPr/>
            </p:nvSpPr>
            <p:spPr bwMode="auto">
              <a:xfrm>
                <a:off x="3915" y="2640"/>
                <a:ext cx="831" cy="7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2400" b="1">
                    <a:latin typeface="Times New Roman" panose="02020603050405020304" pitchFamily="18" charset="0"/>
                  </a:rPr>
                  <a:t>Filter</a:t>
                </a:r>
              </a:p>
              <a:p>
                <a:pPr algn="ctr"/>
                <a:r>
                  <a:rPr lang="en-US" altLang="en-US" sz="2400" b="1">
                    <a:latin typeface="Times New Roman" panose="02020603050405020304" pitchFamily="18" charset="0"/>
                  </a:rPr>
                  <a:t>response</a:t>
                </a:r>
              </a:p>
              <a:p>
                <a:pPr algn="ctr"/>
                <a:r>
                  <a:rPr lang="en-US" altLang="en-US" sz="2400" b="1">
                    <a:latin typeface="Times New Roman" panose="02020603050405020304" pitchFamily="18" charset="0"/>
                  </a:rPr>
                  <a:t>curve</a:t>
                </a:r>
              </a:p>
            </p:txBody>
          </p:sp>
          <p:sp>
            <p:nvSpPr>
              <p:cNvPr id="26691" name="Line 8"/>
              <p:cNvSpPr>
                <a:spLocks noChangeShapeType="1"/>
              </p:cNvSpPr>
              <p:nvPr/>
            </p:nvSpPr>
            <p:spPr bwMode="auto">
              <a:xfrm flipH="1" flipV="1">
                <a:off x="3648" y="2858"/>
                <a:ext cx="288" cy="16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6634" name="Rectangle 9"/>
            <p:cNvSpPr>
              <a:spLocks noChangeArrowheads="1"/>
            </p:cNvSpPr>
            <p:nvPr/>
          </p:nvSpPr>
          <p:spPr bwMode="auto">
            <a:xfrm>
              <a:off x="3209" y="1738"/>
              <a:ext cx="1008" cy="528"/>
            </a:xfrm>
            <a:prstGeom prst="rect">
              <a:avLst/>
            </a:prstGeom>
            <a:solidFill>
              <a:srgbClr val="FF0000"/>
            </a:solidFill>
            <a:ln w="9525">
              <a:miter lim="800000"/>
              <a:headEnd/>
              <a:tailEnd/>
            </a:ln>
            <a:scene3d>
              <a:camera prst="legacyPerspectiv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folHlink"/>
              </a:extrusionClr>
              <a:contourClr>
                <a:srgbClr val="FF0000"/>
              </a:contourClr>
            </a:sp3d>
          </p:spPr>
          <p:txBody>
            <a:bodyPr wrap="none" anchor="ctr">
              <a:flatTx/>
            </a:bodyPr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Sideband</a:t>
              </a:r>
            </a:p>
            <a:p>
              <a:pPr algn="ctr"/>
              <a:r>
                <a:rPr lang="en-US" altLang="en-US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filter</a:t>
              </a:r>
            </a:p>
          </p:txBody>
        </p:sp>
        <p:grpSp>
          <p:nvGrpSpPr>
            <p:cNvPr id="26635" name="Group 10"/>
            <p:cNvGrpSpPr>
              <a:grpSpLocks/>
            </p:cNvGrpSpPr>
            <p:nvPr/>
          </p:nvGrpSpPr>
          <p:grpSpPr bwMode="auto">
            <a:xfrm>
              <a:off x="89" y="1248"/>
              <a:ext cx="2688" cy="2038"/>
              <a:chOff x="0" y="970"/>
              <a:chExt cx="2688" cy="2063"/>
            </a:xfrm>
          </p:grpSpPr>
          <p:grpSp>
            <p:nvGrpSpPr>
              <p:cNvPr id="26676" name="Group 11"/>
              <p:cNvGrpSpPr>
                <a:grpSpLocks/>
              </p:cNvGrpSpPr>
              <p:nvPr/>
            </p:nvGrpSpPr>
            <p:grpSpPr bwMode="auto">
              <a:xfrm>
                <a:off x="1680" y="1460"/>
                <a:ext cx="1008" cy="556"/>
                <a:chOff x="1968" y="1488"/>
                <a:chExt cx="1008" cy="556"/>
              </a:xfrm>
            </p:grpSpPr>
            <p:sp>
              <p:nvSpPr>
                <p:cNvPr id="26687" name="Rectangle 12"/>
                <p:cNvSpPr>
                  <a:spLocks noChangeArrowheads="1"/>
                </p:cNvSpPr>
                <p:nvPr/>
              </p:nvSpPr>
              <p:spPr bwMode="auto">
                <a:xfrm>
                  <a:off x="1968" y="1516"/>
                  <a:ext cx="1008" cy="528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miter lim="800000"/>
                  <a:headEnd/>
                  <a:tailEnd/>
                </a:ln>
                <a:scene3d>
                  <a:camera prst="legacyPerspectiveTopRight"/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chemeClr val="folHlink"/>
                  </a:extrusionClr>
                  <a:contourClr>
                    <a:srgbClr val="FF0000"/>
                  </a:contourClr>
                </a:sp3d>
              </p:spPr>
              <p:txBody>
                <a:bodyPr wrap="none" anchor="ctr">
                  <a:flatTx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endParaRPr lang="en-MY" altLang="en-US"/>
                </a:p>
              </p:txBody>
            </p:sp>
            <p:sp>
              <p:nvSpPr>
                <p:cNvPr id="26688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1978" y="1488"/>
                  <a:ext cx="980" cy="5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en-US" sz="2400" b="1" dirty="0">
                      <a:solidFill>
                        <a:schemeClr val="bg1"/>
                      </a:solidFill>
                      <a:latin typeface="Times New Roman" panose="02020603050405020304" pitchFamily="18" charset="0"/>
                    </a:rPr>
                    <a:t>Balanced</a:t>
                  </a:r>
                </a:p>
                <a:p>
                  <a:pPr algn="ctr"/>
                  <a:r>
                    <a:rPr lang="en-US" altLang="en-US" sz="2400" b="1" dirty="0">
                      <a:solidFill>
                        <a:schemeClr val="bg1"/>
                      </a:solidFill>
                      <a:latin typeface="Times New Roman" panose="02020603050405020304" pitchFamily="18" charset="0"/>
                    </a:rPr>
                    <a:t>modulator</a:t>
                  </a:r>
                  <a:endParaRPr lang="en-US" alt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6677" name="AutoShape 14"/>
              <p:cNvSpPr>
                <a:spLocks noChangeArrowheads="1"/>
              </p:cNvSpPr>
              <p:nvPr/>
            </p:nvSpPr>
            <p:spPr bwMode="auto">
              <a:xfrm rot="5400000">
                <a:off x="1440" y="2208"/>
                <a:ext cx="528" cy="528"/>
              </a:xfrm>
              <a:prstGeom prst="triangle">
                <a:avLst>
                  <a:gd name="adj" fmla="val 50000"/>
                </a:avLst>
              </a:prstGeom>
              <a:solidFill>
                <a:srgbClr val="FF0000"/>
              </a:solidFill>
              <a:ln w="9525">
                <a:miter lim="800000"/>
                <a:headEnd/>
                <a:tailEnd/>
              </a:ln>
              <a:scene3d>
                <a:camera prst="legacyPerspectiv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chemeClr val="folHlink"/>
                </a:extrusionClr>
                <a:contourClr>
                  <a:srgbClr val="FF0000"/>
                </a:contourClr>
              </a:sp3d>
            </p:spPr>
            <p:txBody>
              <a:bodyPr wrap="none" anchor="ctr">
                <a:flatTx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endParaRPr lang="en-MY" altLang="en-US"/>
              </a:p>
            </p:txBody>
          </p:sp>
          <p:grpSp>
            <p:nvGrpSpPr>
              <p:cNvPr id="26678" name="Group 15"/>
              <p:cNvGrpSpPr>
                <a:grpSpLocks/>
              </p:cNvGrpSpPr>
              <p:nvPr/>
            </p:nvGrpSpPr>
            <p:grpSpPr bwMode="auto">
              <a:xfrm>
                <a:off x="75" y="970"/>
                <a:ext cx="872" cy="986"/>
                <a:chOff x="651" y="970"/>
                <a:chExt cx="872" cy="986"/>
              </a:xfrm>
            </p:grpSpPr>
            <p:sp>
              <p:nvSpPr>
                <p:cNvPr id="26682" name="Oval 16"/>
                <p:cNvSpPr>
                  <a:spLocks noChangeArrowheads="1"/>
                </p:cNvSpPr>
                <p:nvPr/>
              </p:nvSpPr>
              <p:spPr bwMode="auto">
                <a:xfrm>
                  <a:off x="882" y="1524"/>
                  <a:ext cx="432" cy="432"/>
                </a:xfrm>
                <a:prstGeom prst="ellipse">
                  <a:avLst/>
                </a:prstGeom>
                <a:solidFill>
                  <a:srgbClr val="FF0000"/>
                </a:solidFill>
                <a:ln w="9525">
                  <a:round/>
                  <a:headEnd/>
                  <a:tailEnd/>
                </a:ln>
                <a:scene3d>
                  <a:camera prst="legacyPerspectiveTopRight"/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chemeClr val="bg2"/>
                  </a:extrusionClr>
                  <a:contourClr>
                    <a:srgbClr val="FF0000"/>
                  </a:contourClr>
                </a:sp3d>
              </p:spPr>
              <p:txBody>
                <a:bodyPr wrap="none" anchor="ctr">
                  <a:flatTx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endParaRPr lang="en-MY" altLang="en-US"/>
                </a:p>
              </p:txBody>
            </p:sp>
            <p:grpSp>
              <p:nvGrpSpPr>
                <p:cNvPr id="26683" name="Group 17"/>
                <p:cNvGrpSpPr>
                  <a:grpSpLocks/>
                </p:cNvGrpSpPr>
                <p:nvPr/>
              </p:nvGrpSpPr>
              <p:grpSpPr bwMode="auto">
                <a:xfrm>
                  <a:off x="1008" y="1632"/>
                  <a:ext cx="186" cy="205"/>
                  <a:chOff x="212" y="1797"/>
                  <a:chExt cx="218" cy="221"/>
                </a:xfrm>
              </p:grpSpPr>
              <p:sp>
                <p:nvSpPr>
                  <p:cNvPr id="26685" name="Freeform 18"/>
                  <p:cNvSpPr>
                    <a:spLocks/>
                  </p:cNvSpPr>
                  <p:nvPr/>
                </p:nvSpPr>
                <p:spPr bwMode="auto">
                  <a:xfrm>
                    <a:off x="212" y="1797"/>
                    <a:ext cx="109" cy="114"/>
                  </a:xfrm>
                  <a:custGeom>
                    <a:avLst/>
                    <a:gdLst>
                      <a:gd name="T0" fmla="*/ 1 w 1066"/>
                      <a:gd name="T1" fmla="*/ 1 h 1065"/>
                      <a:gd name="T2" fmla="*/ 1 w 1066"/>
                      <a:gd name="T3" fmla="*/ 0 h 1065"/>
                      <a:gd name="T4" fmla="*/ 1 w 1066"/>
                      <a:gd name="T5" fmla="*/ 0 h 1065"/>
                      <a:gd name="T6" fmla="*/ 0 w 1066"/>
                      <a:gd name="T7" fmla="*/ 0 h 1065"/>
                      <a:gd name="T8" fmla="*/ 0 w 1066"/>
                      <a:gd name="T9" fmla="*/ 1 h 106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066"/>
                      <a:gd name="T16" fmla="*/ 0 h 1065"/>
                      <a:gd name="T17" fmla="*/ 1066 w 1066"/>
                      <a:gd name="T18" fmla="*/ 1065 h 106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066" h="1065">
                        <a:moveTo>
                          <a:pt x="1066" y="1065"/>
                        </a:moveTo>
                        <a:cubicBezTo>
                          <a:pt x="1016" y="934"/>
                          <a:pt x="854" y="455"/>
                          <a:pt x="766" y="279"/>
                        </a:cubicBezTo>
                        <a:cubicBezTo>
                          <a:pt x="678" y="103"/>
                          <a:pt x="612" y="20"/>
                          <a:pt x="538" y="10"/>
                        </a:cubicBezTo>
                        <a:cubicBezTo>
                          <a:pt x="464" y="0"/>
                          <a:pt x="411" y="41"/>
                          <a:pt x="321" y="217"/>
                        </a:cubicBezTo>
                        <a:cubicBezTo>
                          <a:pt x="231" y="393"/>
                          <a:pt x="67" y="888"/>
                          <a:pt x="0" y="1065"/>
                        </a:cubicBezTo>
                      </a:path>
                    </a:pathLst>
                  </a:custGeom>
                  <a:noFill/>
                  <a:ln w="38100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MY" altLang="en-US"/>
                  </a:p>
                </p:txBody>
              </p:sp>
              <p:sp>
                <p:nvSpPr>
                  <p:cNvPr id="26686" name="Freeform 19"/>
                  <p:cNvSpPr>
                    <a:spLocks/>
                  </p:cNvSpPr>
                  <p:nvPr/>
                </p:nvSpPr>
                <p:spPr bwMode="auto">
                  <a:xfrm flipV="1">
                    <a:off x="321" y="1904"/>
                    <a:ext cx="109" cy="114"/>
                  </a:xfrm>
                  <a:custGeom>
                    <a:avLst/>
                    <a:gdLst>
                      <a:gd name="T0" fmla="*/ 1 w 1066"/>
                      <a:gd name="T1" fmla="*/ 1 h 1065"/>
                      <a:gd name="T2" fmla="*/ 1 w 1066"/>
                      <a:gd name="T3" fmla="*/ 0 h 1065"/>
                      <a:gd name="T4" fmla="*/ 1 w 1066"/>
                      <a:gd name="T5" fmla="*/ 0 h 1065"/>
                      <a:gd name="T6" fmla="*/ 0 w 1066"/>
                      <a:gd name="T7" fmla="*/ 0 h 1065"/>
                      <a:gd name="T8" fmla="*/ 0 w 1066"/>
                      <a:gd name="T9" fmla="*/ 1 h 106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066"/>
                      <a:gd name="T16" fmla="*/ 0 h 1065"/>
                      <a:gd name="T17" fmla="*/ 1066 w 1066"/>
                      <a:gd name="T18" fmla="*/ 1065 h 106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066" h="1065">
                        <a:moveTo>
                          <a:pt x="1066" y="1065"/>
                        </a:moveTo>
                        <a:cubicBezTo>
                          <a:pt x="1016" y="934"/>
                          <a:pt x="854" y="455"/>
                          <a:pt x="766" y="279"/>
                        </a:cubicBezTo>
                        <a:cubicBezTo>
                          <a:pt x="678" y="103"/>
                          <a:pt x="612" y="20"/>
                          <a:pt x="538" y="10"/>
                        </a:cubicBezTo>
                        <a:cubicBezTo>
                          <a:pt x="464" y="0"/>
                          <a:pt x="411" y="41"/>
                          <a:pt x="321" y="217"/>
                        </a:cubicBezTo>
                        <a:cubicBezTo>
                          <a:pt x="231" y="393"/>
                          <a:pt x="67" y="888"/>
                          <a:pt x="0" y="1065"/>
                        </a:cubicBezTo>
                      </a:path>
                    </a:pathLst>
                  </a:custGeom>
                  <a:noFill/>
                  <a:ln w="38100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MY" altLang="en-US"/>
                  </a:p>
                </p:txBody>
              </p:sp>
            </p:grpSp>
            <p:sp>
              <p:nvSpPr>
                <p:cNvPr id="26684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651" y="970"/>
                  <a:ext cx="872" cy="5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en-US" sz="2400" b="1">
                      <a:solidFill>
                        <a:schemeClr val="accent2"/>
                      </a:solidFill>
                      <a:latin typeface="Times New Roman" panose="02020603050405020304" pitchFamily="18" charset="0"/>
                    </a:rPr>
                    <a:t>Carrier</a:t>
                  </a:r>
                </a:p>
                <a:p>
                  <a:pPr algn="ctr"/>
                  <a:r>
                    <a:rPr lang="en-US" altLang="en-US" sz="2400" b="1">
                      <a:latin typeface="Times New Roman" panose="02020603050405020304" pitchFamily="18" charset="0"/>
                    </a:rPr>
                    <a:t>oscillator</a:t>
                  </a:r>
                </a:p>
              </p:txBody>
            </p:sp>
          </p:grpSp>
          <p:grpSp>
            <p:nvGrpSpPr>
              <p:cNvPr id="26679" name="Group 21"/>
              <p:cNvGrpSpPr>
                <a:grpSpLocks/>
              </p:cNvGrpSpPr>
              <p:nvPr/>
            </p:nvGrpSpPr>
            <p:grpSpPr bwMode="auto">
              <a:xfrm>
                <a:off x="0" y="2208"/>
                <a:ext cx="1118" cy="825"/>
                <a:chOff x="0" y="2208"/>
                <a:chExt cx="1118" cy="825"/>
              </a:xfrm>
            </p:grpSpPr>
            <p:sp>
              <p:nvSpPr>
                <p:cNvPr id="26680" name="Freeform 22"/>
                <p:cNvSpPr>
                  <a:spLocks/>
                </p:cNvSpPr>
                <p:nvPr/>
              </p:nvSpPr>
              <p:spPr bwMode="auto">
                <a:xfrm>
                  <a:off x="480" y="2208"/>
                  <a:ext cx="288" cy="528"/>
                </a:xfrm>
                <a:custGeom>
                  <a:avLst/>
                  <a:gdLst>
                    <a:gd name="T0" fmla="*/ 0 w 529"/>
                    <a:gd name="T1" fmla="*/ 0 h 1104"/>
                    <a:gd name="T2" fmla="*/ 16 w 529"/>
                    <a:gd name="T3" fmla="*/ 1 h 1104"/>
                    <a:gd name="T4" fmla="*/ 32 w 529"/>
                    <a:gd name="T5" fmla="*/ 5 h 1104"/>
                    <a:gd name="T6" fmla="*/ 42 w 529"/>
                    <a:gd name="T7" fmla="*/ 9 h 1104"/>
                    <a:gd name="T8" fmla="*/ 54 w 529"/>
                    <a:gd name="T9" fmla="*/ 15 h 1104"/>
                    <a:gd name="T10" fmla="*/ 66 w 529"/>
                    <a:gd name="T11" fmla="*/ 23 h 1104"/>
                    <a:gd name="T12" fmla="*/ 72 w 529"/>
                    <a:gd name="T13" fmla="*/ 30 h 1104"/>
                    <a:gd name="T14" fmla="*/ 78 w 529"/>
                    <a:gd name="T15" fmla="*/ 37 h 1104"/>
                    <a:gd name="T16" fmla="*/ 82 w 529"/>
                    <a:gd name="T17" fmla="*/ 45 h 1104"/>
                    <a:gd name="T18" fmla="*/ 85 w 529"/>
                    <a:gd name="T19" fmla="*/ 58 h 1104"/>
                    <a:gd name="T20" fmla="*/ 83 w 529"/>
                    <a:gd name="T21" fmla="*/ 73 h 1104"/>
                    <a:gd name="T22" fmla="*/ 75 w 529"/>
                    <a:gd name="T23" fmla="*/ 88 h 1104"/>
                    <a:gd name="T24" fmla="*/ 63 w 529"/>
                    <a:gd name="T25" fmla="*/ 100 h 1104"/>
                    <a:gd name="T26" fmla="*/ 46 w 529"/>
                    <a:gd name="T27" fmla="*/ 110 h 1104"/>
                    <a:gd name="T28" fmla="*/ 32 w 529"/>
                    <a:gd name="T29" fmla="*/ 116 h 1104"/>
                    <a:gd name="T30" fmla="*/ 15 w 529"/>
                    <a:gd name="T31" fmla="*/ 120 h 1104"/>
                    <a:gd name="T32" fmla="*/ 0 w 529"/>
                    <a:gd name="T33" fmla="*/ 121 h 1104"/>
                    <a:gd name="T34" fmla="*/ 0 w 529"/>
                    <a:gd name="T35" fmla="*/ 0 h 1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529"/>
                    <a:gd name="T55" fmla="*/ 0 h 1104"/>
                    <a:gd name="T56" fmla="*/ 529 w 529"/>
                    <a:gd name="T57" fmla="*/ 1104 h 1104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529" h="1104">
                      <a:moveTo>
                        <a:pt x="0" y="0"/>
                      </a:moveTo>
                      <a:lnTo>
                        <a:pt x="99" y="14"/>
                      </a:lnTo>
                      <a:cubicBezTo>
                        <a:pt x="132" y="22"/>
                        <a:pt x="170" y="36"/>
                        <a:pt x="197" y="47"/>
                      </a:cubicBezTo>
                      <a:cubicBezTo>
                        <a:pt x="224" y="58"/>
                        <a:pt x="240" y="65"/>
                        <a:pt x="263" y="80"/>
                      </a:cubicBezTo>
                      <a:cubicBezTo>
                        <a:pt x="286" y="95"/>
                        <a:pt x="313" y="113"/>
                        <a:pt x="338" y="135"/>
                      </a:cubicBezTo>
                      <a:cubicBezTo>
                        <a:pt x="363" y="157"/>
                        <a:pt x="395" y="190"/>
                        <a:pt x="413" y="212"/>
                      </a:cubicBezTo>
                      <a:cubicBezTo>
                        <a:pt x="431" y="234"/>
                        <a:pt x="437" y="250"/>
                        <a:pt x="449" y="270"/>
                      </a:cubicBezTo>
                      <a:cubicBezTo>
                        <a:pt x="461" y="290"/>
                        <a:pt x="475" y="311"/>
                        <a:pt x="485" y="335"/>
                      </a:cubicBezTo>
                      <a:cubicBezTo>
                        <a:pt x="495" y="359"/>
                        <a:pt x="503" y="385"/>
                        <a:pt x="510" y="417"/>
                      </a:cubicBezTo>
                      <a:cubicBezTo>
                        <a:pt x="517" y="449"/>
                        <a:pt x="527" y="486"/>
                        <a:pt x="528" y="528"/>
                      </a:cubicBezTo>
                      <a:cubicBezTo>
                        <a:pt x="529" y="570"/>
                        <a:pt x="526" y="622"/>
                        <a:pt x="516" y="668"/>
                      </a:cubicBezTo>
                      <a:cubicBezTo>
                        <a:pt x="506" y="714"/>
                        <a:pt x="486" y="765"/>
                        <a:pt x="465" y="807"/>
                      </a:cubicBezTo>
                      <a:cubicBezTo>
                        <a:pt x="444" y="849"/>
                        <a:pt x="418" y="885"/>
                        <a:pt x="389" y="918"/>
                      </a:cubicBezTo>
                      <a:cubicBezTo>
                        <a:pt x="360" y="951"/>
                        <a:pt x="320" y="984"/>
                        <a:pt x="288" y="1008"/>
                      </a:cubicBezTo>
                      <a:cubicBezTo>
                        <a:pt x="256" y="1032"/>
                        <a:pt x="226" y="1047"/>
                        <a:pt x="194" y="1061"/>
                      </a:cubicBezTo>
                      <a:cubicBezTo>
                        <a:pt x="162" y="1075"/>
                        <a:pt x="125" y="1087"/>
                        <a:pt x="93" y="1094"/>
                      </a:cubicBezTo>
                      <a:lnTo>
                        <a:pt x="0" y="110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9525">
                  <a:miter lim="800000"/>
                  <a:headEnd/>
                  <a:tailEnd/>
                </a:ln>
                <a:scene3d>
                  <a:camera prst="legacyPerspectiveTopRight"/>
                  <a:lightRig rig="legacyFlat3" dir="b"/>
                </a:scene3d>
                <a:sp3d extrusionH="430200" prstMaterial="legacyMatte">
                  <a:bevelT w="13500" h="13500" prst="angle"/>
                  <a:bevelB w="13500" h="13500" prst="angle"/>
                  <a:extrusionClr>
                    <a:schemeClr val="folHlink"/>
                  </a:extrusionClr>
                  <a:contourClr>
                    <a:srgbClr val="FF0000"/>
                  </a:contourClr>
                </a:sp3d>
              </p:spPr>
              <p:txBody>
                <a:bodyPr wrap="none" anchor="ctr">
                  <a:flatTx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endParaRPr lang="en-MY" altLang="en-US"/>
                </a:p>
              </p:txBody>
            </p:sp>
            <p:sp>
              <p:nvSpPr>
                <p:cNvPr id="26681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0" y="2736"/>
                  <a:ext cx="1118" cy="2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n-US" altLang="en-US" sz="2400" b="1">
                      <a:latin typeface="Times New Roman" panose="02020603050405020304" pitchFamily="18" charset="0"/>
                    </a:rPr>
                    <a:t>Microphone</a:t>
                  </a:r>
                </a:p>
              </p:txBody>
            </p:sp>
          </p:grpSp>
        </p:grpSp>
        <p:sp>
          <p:nvSpPr>
            <p:cNvPr id="26636" name="Text Box 24"/>
            <p:cNvSpPr txBox="1">
              <a:spLocks noChangeArrowheads="1"/>
            </p:cNvSpPr>
            <p:nvPr/>
          </p:nvSpPr>
          <p:spPr bwMode="auto">
            <a:xfrm>
              <a:off x="1262" y="2992"/>
              <a:ext cx="872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 b="1">
                  <a:latin typeface="Times New Roman" panose="02020603050405020304" pitchFamily="18" charset="0"/>
                </a:rPr>
                <a:t>Audio</a:t>
              </a:r>
            </a:p>
            <a:p>
              <a:pPr algn="ctr"/>
              <a:r>
                <a:rPr lang="en-US" altLang="en-US" sz="2400" b="1">
                  <a:latin typeface="Times New Roman" panose="02020603050405020304" pitchFamily="18" charset="0"/>
                </a:rPr>
                <a:t>amplifier</a:t>
              </a:r>
            </a:p>
          </p:txBody>
        </p:sp>
        <p:grpSp>
          <p:nvGrpSpPr>
            <p:cNvPr id="26637" name="Group 25"/>
            <p:cNvGrpSpPr>
              <a:grpSpLocks/>
            </p:cNvGrpSpPr>
            <p:nvPr/>
          </p:nvGrpSpPr>
          <p:grpSpPr bwMode="auto">
            <a:xfrm>
              <a:off x="4286" y="1738"/>
              <a:ext cx="872" cy="1056"/>
              <a:chOff x="4197" y="1488"/>
              <a:chExt cx="872" cy="1056"/>
            </a:xfrm>
          </p:grpSpPr>
          <p:sp>
            <p:nvSpPr>
              <p:cNvPr id="26674" name="AutoShape 26"/>
              <p:cNvSpPr>
                <a:spLocks noChangeArrowheads="1"/>
              </p:cNvSpPr>
              <p:nvPr/>
            </p:nvSpPr>
            <p:spPr bwMode="auto">
              <a:xfrm rot="5400000">
                <a:off x="4416" y="1488"/>
                <a:ext cx="528" cy="528"/>
              </a:xfrm>
              <a:prstGeom prst="triangle">
                <a:avLst>
                  <a:gd name="adj" fmla="val 50000"/>
                </a:avLst>
              </a:prstGeom>
              <a:solidFill>
                <a:srgbClr val="FF0000"/>
              </a:solidFill>
              <a:ln w="9525">
                <a:miter lim="800000"/>
                <a:headEnd/>
                <a:tailEnd/>
              </a:ln>
              <a:scene3d>
                <a:camera prst="legacyPerspectiv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chemeClr val="folHlink"/>
                </a:extrusionClr>
                <a:contourClr>
                  <a:srgbClr val="FF0000"/>
                </a:contourClr>
              </a:sp3d>
            </p:spPr>
            <p:txBody>
              <a:bodyPr wrap="none" anchor="ctr">
                <a:flatTx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endParaRPr lang="en-MY" altLang="en-US"/>
              </a:p>
            </p:txBody>
          </p:sp>
          <p:sp>
            <p:nvSpPr>
              <p:cNvPr id="26675" name="Text Box 27"/>
              <p:cNvSpPr txBox="1">
                <a:spLocks noChangeArrowheads="1"/>
              </p:cNvSpPr>
              <p:nvPr/>
            </p:nvSpPr>
            <p:spPr bwMode="auto">
              <a:xfrm>
                <a:off x="4197" y="2015"/>
                <a:ext cx="872" cy="5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2400" b="1">
                    <a:latin typeface="Times New Roman" panose="02020603050405020304" pitchFamily="18" charset="0"/>
                  </a:rPr>
                  <a:t>Linear</a:t>
                </a:r>
              </a:p>
              <a:p>
                <a:pPr algn="ctr"/>
                <a:r>
                  <a:rPr lang="en-US" altLang="en-US" sz="2400" b="1">
                    <a:latin typeface="Times New Roman" panose="02020603050405020304" pitchFamily="18" charset="0"/>
                  </a:rPr>
                  <a:t>amplifier</a:t>
                </a:r>
              </a:p>
            </p:txBody>
          </p:sp>
        </p:grpSp>
        <p:grpSp>
          <p:nvGrpSpPr>
            <p:cNvPr id="26638" name="Group 28"/>
            <p:cNvGrpSpPr>
              <a:grpSpLocks/>
            </p:cNvGrpSpPr>
            <p:nvPr/>
          </p:nvGrpSpPr>
          <p:grpSpPr bwMode="auto">
            <a:xfrm>
              <a:off x="857" y="1978"/>
              <a:ext cx="912" cy="768"/>
              <a:chOff x="768" y="1728"/>
              <a:chExt cx="912" cy="768"/>
            </a:xfrm>
          </p:grpSpPr>
          <p:sp>
            <p:nvSpPr>
              <p:cNvPr id="26672" name="Line 29"/>
              <p:cNvSpPr>
                <a:spLocks noChangeShapeType="1"/>
              </p:cNvSpPr>
              <p:nvPr/>
            </p:nvSpPr>
            <p:spPr bwMode="auto">
              <a:xfrm>
                <a:off x="768" y="2496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73" name="Line 30"/>
              <p:cNvSpPr>
                <a:spLocks noChangeShapeType="1"/>
              </p:cNvSpPr>
              <p:nvPr/>
            </p:nvSpPr>
            <p:spPr bwMode="auto">
              <a:xfrm>
                <a:off x="768" y="1728"/>
                <a:ext cx="9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6639" name="Line 31"/>
            <p:cNvSpPr>
              <a:spLocks noChangeShapeType="1"/>
            </p:cNvSpPr>
            <p:nvPr/>
          </p:nvSpPr>
          <p:spPr bwMode="auto">
            <a:xfrm>
              <a:off x="2777" y="197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6640" name="Group 32"/>
            <p:cNvGrpSpPr>
              <a:grpSpLocks/>
            </p:cNvGrpSpPr>
            <p:nvPr/>
          </p:nvGrpSpPr>
          <p:grpSpPr bwMode="auto">
            <a:xfrm>
              <a:off x="4891" y="798"/>
              <a:ext cx="821" cy="1200"/>
              <a:chOff x="4802" y="548"/>
              <a:chExt cx="821" cy="1200"/>
            </a:xfrm>
          </p:grpSpPr>
          <p:sp>
            <p:nvSpPr>
              <p:cNvPr id="26669" name="AutoShape 33"/>
              <p:cNvSpPr>
                <a:spLocks noChangeArrowheads="1"/>
              </p:cNvSpPr>
              <p:nvPr/>
            </p:nvSpPr>
            <p:spPr bwMode="auto">
              <a:xfrm flipV="1">
                <a:off x="5040" y="836"/>
                <a:ext cx="384" cy="336"/>
              </a:xfrm>
              <a:prstGeom prst="triangle">
                <a:avLst>
                  <a:gd name="adj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endParaRPr lang="en-MY" altLang="en-US"/>
              </a:p>
            </p:txBody>
          </p:sp>
          <p:sp>
            <p:nvSpPr>
              <p:cNvPr id="26670" name="Text Box 34"/>
              <p:cNvSpPr txBox="1">
                <a:spLocks noChangeArrowheads="1"/>
              </p:cNvSpPr>
              <p:nvPr/>
            </p:nvSpPr>
            <p:spPr bwMode="auto">
              <a:xfrm>
                <a:off x="4802" y="548"/>
                <a:ext cx="821" cy="2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400" b="1">
                    <a:latin typeface="Times New Roman" panose="02020603050405020304" pitchFamily="18" charset="0"/>
                  </a:rPr>
                  <a:t>Antenna</a:t>
                </a:r>
              </a:p>
            </p:txBody>
          </p:sp>
          <p:sp>
            <p:nvSpPr>
              <p:cNvPr id="26671" name="Line 35"/>
              <p:cNvSpPr>
                <a:spLocks noChangeShapeType="1"/>
              </p:cNvSpPr>
              <p:nvPr/>
            </p:nvSpPr>
            <p:spPr bwMode="auto">
              <a:xfrm>
                <a:off x="5232" y="836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6641" name="Line 36"/>
            <p:cNvSpPr>
              <a:spLocks noChangeShapeType="1"/>
            </p:cNvSpPr>
            <p:nvPr/>
          </p:nvSpPr>
          <p:spPr bwMode="auto">
            <a:xfrm>
              <a:off x="2489" y="3633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6642" name="Group 37"/>
            <p:cNvGrpSpPr>
              <a:grpSpLocks/>
            </p:cNvGrpSpPr>
            <p:nvPr/>
          </p:nvGrpSpPr>
          <p:grpSpPr bwMode="auto">
            <a:xfrm>
              <a:off x="3209" y="2806"/>
              <a:ext cx="928" cy="1466"/>
              <a:chOff x="3141" y="2567"/>
              <a:chExt cx="928" cy="1466"/>
            </a:xfrm>
          </p:grpSpPr>
          <p:grpSp>
            <p:nvGrpSpPr>
              <p:cNvPr id="26658" name="Group 38"/>
              <p:cNvGrpSpPr>
                <a:grpSpLocks/>
              </p:cNvGrpSpPr>
              <p:nvPr/>
            </p:nvGrpSpPr>
            <p:grpSpPr bwMode="auto">
              <a:xfrm flipH="1">
                <a:off x="3264" y="2567"/>
                <a:ext cx="336" cy="816"/>
                <a:chOff x="2448" y="2688"/>
                <a:chExt cx="336" cy="816"/>
              </a:xfrm>
            </p:grpSpPr>
            <p:sp>
              <p:nvSpPr>
                <p:cNvPr id="26661" name="Line 39"/>
                <p:cNvSpPr>
                  <a:spLocks noChangeShapeType="1"/>
                </p:cNvSpPr>
                <p:nvPr/>
              </p:nvSpPr>
              <p:spPr bwMode="auto">
                <a:xfrm>
                  <a:off x="2448" y="2736"/>
                  <a:ext cx="0" cy="768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662" name="Line 40"/>
                <p:cNvSpPr>
                  <a:spLocks noChangeShapeType="1"/>
                </p:cNvSpPr>
                <p:nvPr/>
              </p:nvSpPr>
              <p:spPr bwMode="auto">
                <a:xfrm>
                  <a:off x="2544" y="2880"/>
                  <a:ext cx="0" cy="624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663" name="Line 41"/>
                <p:cNvSpPr>
                  <a:spLocks noChangeShapeType="1"/>
                </p:cNvSpPr>
                <p:nvPr/>
              </p:nvSpPr>
              <p:spPr bwMode="auto">
                <a:xfrm>
                  <a:off x="2640" y="2832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664" name="Line 42"/>
                <p:cNvSpPr>
                  <a:spLocks noChangeShapeType="1"/>
                </p:cNvSpPr>
                <p:nvPr/>
              </p:nvSpPr>
              <p:spPr bwMode="auto">
                <a:xfrm>
                  <a:off x="2784" y="2688"/>
                  <a:ext cx="0" cy="81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665" name="Line 43"/>
                <p:cNvSpPr>
                  <a:spLocks noChangeShapeType="1"/>
                </p:cNvSpPr>
                <p:nvPr/>
              </p:nvSpPr>
              <p:spPr bwMode="auto">
                <a:xfrm>
                  <a:off x="2688" y="2880"/>
                  <a:ext cx="0" cy="624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666" name="Line 44"/>
                <p:cNvSpPr>
                  <a:spLocks noChangeShapeType="1"/>
                </p:cNvSpPr>
                <p:nvPr/>
              </p:nvSpPr>
              <p:spPr bwMode="auto">
                <a:xfrm>
                  <a:off x="2592" y="2736"/>
                  <a:ext cx="0" cy="768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667" name="Line 45"/>
                <p:cNvSpPr>
                  <a:spLocks noChangeShapeType="1"/>
                </p:cNvSpPr>
                <p:nvPr/>
              </p:nvSpPr>
              <p:spPr bwMode="auto">
                <a:xfrm>
                  <a:off x="2496" y="2688"/>
                  <a:ext cx="0" cy="816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668" name="Line 46"/>
                <p:cNvSpPr>
                  <a:spLocks noChangeShapeType="1"/>
                </p:cNvSpPr>
                <p:nvPr/>
              </p:nvSpPr>
              <p:spPr bwMode="auto">
                <a:xfrm>
                  <a:off x="2736" y="2832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6659" name="Text Box 47"/>
              <p:cNvSpPr txBox="1">
                <a:spLocks noChangeArrowheads="1"/>
              </p:cNvSpPr>
              <p:nvPr/>
            </p:nvSpPr>
            <p:spPr bwMode="auto">
              <a:xfrm>
                <a:off x="3141" y="3504"/>
                <a:ext cx="928" cy="5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2400" b="1">
                    <a:solidFill>
                      <a:srgbClr val="CC0000"/>
                    </a:solidFill>
                    <a:latin typeface="Times New Roman" panose="02020603050405020304" pitchFamily="18" charset="0"/>
                  </a:rPr>
                  <a:t>Upper</a:t>
                </a:r>
              </a:p>
              <a:p>
                <a:pPr algn="ctr"/>
                <a:r>
                  <a:rPr lang="en-US" altLang="en-US" sz="2400" b="1">
                    <a:solidFill>
                      <a:srgbClr val="CC0000"/>
                    </a:solidFill>
                    <a:latin typeface="Times New Roman" panose="02020603050405020304" pitchFamily="18" charset="0"/>
                  </a:rPr>
                  <a:t>sidebands</a:t>
                </a:r>
                <a:endParaRPr lang="en-US" altLang="en-US" sz="2400" b="1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60" name="Line 48"/>
              <p:cNvSpPr>
                <a:spLocks noChangeShapeType="1"/>
              </p:cNvSpPr>
              <p:nvPr/>
            </p:nvSpPr>
            <p:spPr bwMode="auto">
              <a:xfrm flipV="1">
                <a:off x="3648" y="3047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6643" name="Text Box 49"/>
            <p:cNvSpPr txBox="1">
              <a:spLocks noChangeArrowheads="1"/>
            </p:cNvSpPr>
            <p:nvPr/>
          </p:nvSpPr>
          <p:spPr bwMode="auto">
            <a:xfrm>
              <a:off x="2720" y="1114"/>
              <a:ext cx="596" cy="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 b="1" dirty="0">
                  <a:latin typeface="Times New Roman" panose="02020603050405020304" pitchFamily="18" charset="0"/>
                </a:rPr>
                <a:t>DSB</a:t>
              </a:r>
            </a:p>
            <a:p>
              <a:pPr algn="ctr"/>
              <a:r>
                <a:rPr lang="en-US" altLang="en-US" sz="2400" b="1" dirty="0">
                  <a:latin typeface="Times New Roman" panose="02020603050405020304" pitchFamily="18" charset="0"/>
                </a:rPr>
                <a:t>signal</a:t>
              </a:r>
            </a:p>
          </p:txBody>
        </p:sp>
        <p:sp>
          <p:nvSpPr>
            <p:cNvPr id="26644" name="Text Box 50"/>
            <p:cNvSpPr txBox="1">
              <a:spLocks noChangeArrowheads="1"/>
            </p:cNvSpPr>
            <p:nvPr/>
          </p:nvSpPr>
          <p:spPr bwMode="auto">
            <a:xfrm>
              <a:off x="4014" y="1114"/>
              <a:ext cx="596" cy="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 b="1">
                  <a:latin typeface="Times New Roman" panose="02020603050405020304" pitchFamily="18" charset="0"/>
                </a:rPr>
                <a:t>SSB</a:t>
              </a:r>
            </a:p>
            <a:p>
              <a:pPr algn="ctr"/>
              <a:r>
                <a:rPr lang="en-US" altLang="en-US" sz="2400" b="1">
                  <a:latin typeface="Times New Roman" panose="02020603050405020304" pitchFamily="18" charset="0"/>
                </a:rPr>
                <a:t>signal</a:t>
              </a:r>
            </a:p>
          </p:txBody>
        </p:sp>
        <p:grpSp>
          <p:nvGrpSpPr>
            <p:cNvPr id="26645" name="Group 51"/>
            <p:cNvGrpSpPr>
              <a:grpSpLocks/>
            </p:cNvGrpSpPr>
            <p:nvPr/>
          </p:nvGrpSpPr>
          <p:grpSpPr bwMode="auto">
            <a:xfrm>
              <a:off x="2357" y="2817"/>
              <a:ext cx="928" cy="1466"/>
              <a:chOff x="2268" y="2567"/>
              <a:chExt cx="928" cy="1466"/>
            </a:xfrm>
          </p:grpSpPr>
          <p:grpSp>
            <p:nvGrpSpPr>
              <p:cNvPr id="26646" name="Group 52"/>
              <p:cNvGrpSpPr>
                <a:grpSpLocks/>
              </p:cNvGrpSpPr>
              <p:nvPr/>
            </p:nvGrpSpPr>
            <p:grpSpPr bwMode="auto">
              <a:xfrm>
                <a:off x="2784" y="2567"/>
                <a:ext cx="384" cy="816"/>
                <a:chOff x="2784" y="2567"/>
                <a:chExt cx="384" cy="816"/>
              </a:xfrm>
            </p:grpSpPr>
            <p:grpSp>
              <p:nvGrpSpPr>
                <p:cNvPr id="26648" name="Group 53"/>
                <p:cNvGrpSpPr>
                  <a:grpSpLocks/>
                </p:cNvGrpSpPr>
                <p:nvPr/>
              </p:nvGrpSpPr>
              <p:grpSpPr bwMode="auto">
                <a:xfrm>
                  <a:off x="2832" y="2567"/>
                  <a:ext cx="336" cy="816"/>
                  <a:chOff x="2448" y="2688"/>
                  <a:chExt cx="336" cy="816"/>
                </a:xfrm>
              </p:grpSpPr>
              <p:sp>
                <p:nvSpPr>
                  <p:cNvPr id="26650" name="Line 54"/>
                  <p:cNvSpPr>
                    <a:spLocks noChangeShapeType="1"/>
                  </p:cNvSpPr>
                  <p:nvPr/>
                </p:nvSpPr>
                <p:spPr bwMode="auto">
                  <a:xfrm>
                    <a:off x="2448" y="2736"/>
                    <a:ext cx="0" cy="768"/>
                  </a:xfrm>
                  <a:prstGeom prst="line">
                    <a:avLst/>
                  </a:prstGeom>
                  <a:noFill/>
                  <a:ln w="9525">
                    <a:solidFill>
                      <a:schemeClr val="accent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6651" name="Line 55"/>
                  <p:cNvSpPr>
                    <a:spLocks noChangeShapeType="1"/>
                  </p:cNvSpPr>
                  <p:nvPr/>
                </p:nvSpPr>
                <p:spPr bwMode="auto">
                  <a:xfrm>
                    <a:off x="2544" y="2880"/>
                    <a:ext cx="0" cy="624"/>
                  </a:xfrm>
                  <a:prstGeom prst="line">
                    <a:avLst/>
                  </a:prstGeom>
                  <a:noFill/>
                  <a:ln w="9525">
                    <a:solidFill>
                      <a:schemeClr val="accent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6652" name="Line 56"/>
                  <p:cNvSpPr>
                    <a:spLocks noChangeShapeType="1"/>
                  </p:cNvSpPr>
                  <p:nvPr/>
                </p:nvSpPr>
                <p:spPr bwMode="auto">
                  <a:xfrm>
                    <a:off x="2640" y="2832"/>
                    <a:ext cx="0" cy="672"/>
                  </a:xfrm>
                  <a:prstGeom prst="line">
                    <a:avLst/>
                  </a:prstGeom>
                  <a:noFill/>
                  <a:ln w="9525">
                    <a:solidFill>
                      <a:schemeClr val="accent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6653" name="Line 57"/>
                  <p:cNvSpPr>
                    <a:spLocks noChangeShapeType="1"/>
                  </p:cNvSpPr>
                  <p:nvPr/>
                </p:nvSpPr>
                <p:spPr bwMode="auto">
                  <a:xfrm>
                    <a:off x="2784" y="2688"/>
                    <a:ext cx="0" cy="816"/>
                  </a:xfrm>
                  <a:prstGeom prst="line">
                    <a:avLst/>
                  </a:prstGeom>
                  <a:noFill/>
                  <a:ln w="9525">
                    <a:solidFill>
                      <a:schemeClr val="accent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6654" name="Line 58"/>
                  <p:cNvSpPr>
                    <a:spLocks noChangeShapeType="1"/>
                  </p:cNvSpPr>
                  <p:nvPr/>
                </p:nvSpPr>
                <p:spPr bwMode="auto">
                  <a:xfrm>
                    <a:off x="2688" y="2880"/>
                    <a:ext cx="0" cy="624"/>
                  </a:xfrm>
                  <a:prstGeom prst="line">
                    <a:avLst/>
                  </a:prstGeom>
                  <a:noFill/>
                  <a:ln w="9525">
                    <a:solidFill>
                      <a:schemeClr val="accent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6655" name="Line 59"/>
                  <p:cNvSpPr>
                    <a:spLocks noChangeShapeType="1"/>
                  </p:cNvSpPr>
                  <p:nvPr/>
                </p:nvSpPr>
                <p:spPr bwMode="auto">
                  <a:xfrm>
                    <a:off x="2592" y="2736"/>
                    <a:ext cx="0" cy="768"/>
                  </a:xfrm>
                  <a:prstGeom prst="line">
                    <a:avLst/>
                  </a:prstGeom>
                  <a:noFill/>
                  <a:ln w="9525">
                    <a:solidFill>
                      <a:schemeClr val="accent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6656" name="Line 60"/>
                  <p:cNvSpPr>
                    <a:spLocks noChangeShapeType="1"/>
                  </p:cNvSpPr>
                  <p:nvPr/>
                </p:nvSpPr>
                <p:spPr bwMode="auto">
                  <a:xfrm>
                    <a:off x="2496" y="2688"/>
                    <a:ext cx="0" cy="816"/>
                  </a:xfrm>
                  <a:prstGeom prst="line">
                    <a:avLst/>
                  </a:prstGeom>
                  <a:noFill/>
                  <a:ln w="9525">
                    <a:solidFill>
                      <a:schemeClr val="accent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6657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2736" y="2832"/>
                    <a:ext cx="0" cy="672"/>
                  </a:xfrm>
                  <a:prstGeom prst="line">
                    <a:avLst/>
                  </a:prstGeom>
                  <a:noFill/>
                  <a:ln w="9525">
                    <a:solidFill>
                      <a:schemeClr val="accent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6649" name="Line 62"/>
                <p:cNvSpPr>
                  <a:spLocks noChangeShapeType="1"/>
                </p:cNvSpPr>
                <p:nvPr/>
              </p:nvSpPr>
              <p:spPr bwMode="auto">
                <a:xfrm flipV="1">
                  <a:off x="2784" y="3047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accent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6647" name="Text Box 63"/>
              <p:cNvSpPr txBox="1">
                <a:spLocks noChangeArrowheads="1"/>
              </p:cNvSpPr>
              <p:nvPr/>
            </p:nvSpPr>
            <p:spPr bwMode="auto">
              <a:xfrm>
                <a:off x="2268" y="3504"/>
                <a:ext cx="928" cy="5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2400" b="1">
                    <a:solidFill>
                      <a:srgbClr val="008000"/>
                    </a:solidFill>
                    <a:latin typeface="Times New Roman" panose="02020603050405020304" pitchFamily="18" charset="0"/>
                  </a:rPr>
                  <a:t>Lower</a:t>
                </a:r>
              </a:p>
              <a:p>
                <a:pPr algn="ctr"/>
                <a:r>
                  <a:rPr lang="en-US" altLang="en-US" sz="2400" b="1">
                    <a:solidFill>
                      <a:srgbClr val="008000"/>
                    </a:solidFill>
                    <a:latin typeface="Times New Roman" panose="02020603050405020304" pitchFamily="18" charset="0"/>
                  </a:rPr>
                  <a:t>sidebands</a:t>
                </a:r>
                <a:endParaRPr lang="en-US" altLang="en-US" sz="2400">
                  <a:solidFill>
                    <a:schemeClr val="accent1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6629" name="Line 64"/>
          <p:cNvSpPr>
            <a:spLocks noChangeShapeType="1"/>
          </p:cNvSpPr>
          <p:nvPr/>
        </p:nvSpPr>
        <p:spPr bwMode="auto">
          <a:xfrm>
            <a:off x="6748463" y="2639557"/>
            <a:ext cx="3635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0" name="Line 65"/>
          <p:cNvSpPr>
            <a:spLocks noChangeShapeType="1"/>
          </p:cNvSpPr>
          <p:nvPr/>
        </p:nvSpPr>
        <p:spPr bwMode="auto">
          <a:xfrm>
            <a:off x="7997825" y="2653845"/>
            <a:ext cx="493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1" name="Line 66"/>
          <p:cNvSpPr>
            <a:spLocks noChangeShapeType="1"/>
          </p:cNvSpPr>
          <p:nvPr/>
        </p:nvSpPr>
        <p:spPr bwMode="auto">
          <a:xfrm>
            <a:off x="3284538" y="3780970"/>
            <a:ext cx="565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2" name="Line 67"/>
          <p:cNvSpPr>
            <a:spLocks noChangeShapeType="1"/>
          </p:cNvSpPr>
          <p:nvPr/>
        </p:nvSpPr>
        <p:spPr bwMode="auto">
          <a:xfrm flipH="1" flipV="1">
            <a:off x="3838575" y="3142795"/>
            <a:ext cx="11113" cy="638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5613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Single-Sideband (SSB) AM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5298141"/>
            <a:ext cx="8229600" cy="9681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selection of the sideband is done by using Hilbert transform filter</a:t>
            </a:r>
          </a:p>
        </p:txBody>
      </p:sp>
      <p:pic>
        <p:nvPicPr>
          <p:cNvPr id="7170" name="Picture 2" descr="http://www.allsyllabus.com/aj/note/EEE/Analog_Communication/Unit3/Single%20Side%20Band%20Suppressed%20Carrier%20modulation1.PNG"/>
          <p:cNvPicPr>
            <a:picLocks noChangeAspect="1" noChangeArrowheads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779" y="941355"/>
            <a:ext cx="6592443" cy="4079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20017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Example </a:t>
            </a:r>
          </a:p>
        </p:txBody>
      </p:sp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391376" y="1101399"/>
            <a:ext cx="8308236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71475" indent="-371475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indent="0" eaLnBrk="1" hangingPunct="1"/>
            <a:r>
              <a:rPr lang="en-US" altLang="en-US" sz="2400" dirty="0">
                <a:latin typeface="Tahoma" panose="020B0604030504040204" pitchFamily="34" charset="0"/>
              </a:rPr>
              <a:t>a) For an AM DSB-FC wave with a peak unmodulated carrier voltage </a:t>
            </a:r>
            <a:r>
              <a:rPr lang="en-US" altLang="en-US" sz="2400" dirty="0" err="1">
                <a:latin typeface="Tahoma" panose="020B0604030504040204" pitchFamily="34" charset="0"/>
              </a:rPr>
              <a:t>V</a:t>
            </a:r>
            <a:r>
              <a:rPr lang="en-US" altLang="en-US" sz="2400" baseline="-25000" dirty="0" err="1">
                <a:latin typeface="Tahoma" panose="020B0604030504040204" pitchFamily="34" charset="0"/>
              </a:rPr>
              <a:t>c</a:t>
            </a:r>
            <a:r>
              <a:rPr lang="en-US" altLang="en-US" sz="2400" dirty="0">
                <a:latin typeface="Tahoma" panose="020B0604030504040204" pitchFamily="34" charset="0"/>
              </a:rPr>
              <a:t> = 10 </a:t>
            </a:r>
            <a:r>
              <a:rPr lang="en-US" altLang="en-US" sz="2400" dirty="0" err="1">
                <a:latin typeface="Tahoma" panose="020B0604030504040204" pitchFamily="34" charset="0"/>
              </a:rPr>
              <a:t>Vp</a:t>
            </a:r>
            <a:r>
              <a:rPr lang="en-US" altLang="en-US" sz="2400" dirty="0">
                <a:latin typeface="Tahoma" panose="020B0604030504040204" pitchFamily="34" charset="0"/>
              </a:rPr>
              <a:t>, frequency of 100kHz, a load resistor of R</a:t>
            </a:r>
            <a:r>
              <a:rPr lang="en-US" altLang="en-US" sz="2400" baseline="-25000" dirty="0">
                <a:latin typeface="Tahoma" panose="020B0604030504040204" pitchFamily="34" charset="0"/>
              </a:rPr>
              <a:t>L</a:t>
            </a:r>
            <a:r>
              <a:rPr lang="en-US" altLang="en-US" sz="2400" dirty="0">
                <a:latin typeface="Tahoma" panose="020B0604030504040204" pitchFamily="34" charset="0"/>
              </a:rPr>
              <a:t> = 10 </a:t>
            </a:r>
            <a:r>
              <a:rPr lang="en-US" altLang="en-US" sz="2400" dirty="0">
                <a:latin typeface="Tahoma" panose="020B0604030504040204" pitchFamily="34" charset="0"/>
                <a:sym typeface="Symbol" panose="05050102010706020507" pitchFamily="18" charset="2"/>
              </a:rPr>
              <a:t>, frequency of modulating signal of 10 kHz and m = 1, determine the following:</a:t>
            </a:r>
          </a:p>
          <a:p>
            <a:pPr marL="885825" lvl="1" indent="-514350">
              <a:buFont typeface="+mj-lt"/>
              <a:buAutoNum type="romanLcPeriod"/>
            </a:pPr>
            <a:r>
              <a:rPr lang="en-US" altLang="en-US" sz="2400" dirty="0">
                <a:latin typeface="Tahoma" panose="020B0604030504040204" pitchFamily="34" charset="0"/>
                <a:sym typeface="Symbol" panose="05050102010706020507" pitchFamily="18" charset="2"/>
              </a:rPr>
              <a:t>Powers of the carrier and the upper and lower sidebands.</a:t>
            </a:r>
          </a:p>
          <a:p>
            <a:pPr marL="885825" lvl="1" indent="-514350">
              <a:buFont typeface="+mj-lt"/>
              <a:buAutoNum type="romanLcPeriod"/>
            </a:pPr>
            <a:r>
              <a:rPr lang="en-US" altLang="en-US" sz="2400" dirty="0">
                <a:latin typeface="Tahoma" panose="020B0604030504040204" pitchFamily="34" charset="0"/>
                <a:sym typeface="Symbol" panose="05050102010706020507" pitchFamily="18" charset="2"/>
              </a:rPr>
              <a:t>Total power of the modulated wave.</a:t>
            </a:r>
          </a:p>
          <a:p>
            <a:pPr marL="885825" lvl="1" indent="-514350">
              <a:buFont typeface="+mj-lt"/>
              <a:buAutoNum type="romanLcPeriod"/>
            </a:pPr>
            <a:r>
              <a:rPr lang="en-US" altLang="en-US" sz="2400" dirty="0">
                <a:latin typeface="Tahoma" panose="020B0604030504040204" pitchFamily="34" charset="0"/>
                <a:sym typeface="Symbol" panose="05050102010706020507" pitchFamily="18" charset="2"/>
              </a:rPr>
              <a:t>Bandwidth of the transmitted wave.</a:t>
            </a:r>
          </a:p>
          <a:p>
            <a:pPr marL="885825" lvl="1" indent="-514350">
              <a:buFont typeface="+mj-lt"/>
              <a:buAutoNum type="romanLcPeriod"/>
            </a:pPr>
            <a:r>
              <a:rPr lang="en-US" altLang="en-US" sz="2400" dirty="0">
                <a:latin typeface="Tahoma" panose="020B0604030504040204" pitchFamily="34" charset="0"/>
                <a:sym typeface="Symbol" panose="05050102010706020507" pitchFamily="18" charset="2"/>
              </a:rPr>
              <a:t>Draw the power and frequency spectrum.</a:t>
            </a:r>
          </a:p>
          <a:p>
            <a:pPr marL="0" indent="0"/>
            <a:r>
              <a:rPr lang="en-US" altLang="en-US" sz="2400" dirty="0">
                <a:latin typeface="Tahoma" panose="020B0604030504040204" pitchFamily="34" charset="0"/>
                <a:sym typeface="Symbol" panose="05050102010706020507" pitchFamily="18" charset="2"/>
              </a:rPr>
              <a:t>b) For the same given values, determine questions (ii)-(iv) for a  AM DSB-SC, AM SSB-FC and  AM SSB-SC systems. Determine also the percentage of power saved in each of the system design.</a:t>
            </a:r>
          </a:p>
          <a:p>
            <a:pPr eaLnBrk="1" hangingPunct="1"/>
            <a:endParaRPr lang="en-US" altLang="en-US" sz="2400" dirty="0"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495161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Solution for DSB-FC</a:t>
            </a:r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ii)</a:t>
            </a: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Solution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064144"/>
              </p:ext>
            </p:extLst>
          </p:nvPr>
        </p:nvGraphicFramePr>
        <p:xfrm>
          <a:off x="1794986" y="4082680"/>
          <a:ext cx="4149090" cy="1786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0" name="Equation" r:id="rId4" imgW="1815840" imgH="812520" progId="Equation.3">
                  <p:embed/>
                </p:oleObj>
              </mc:Choice>
              <mc:Fallback>
                <p:oleObj name="Equation" r:id="rId4" imgW="1815840" imgH="812520" progId="Equation.3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4986" y="4082680"/>
                        <a:ext cx="4149090" cy="17864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1980885"/>
              </p:ext>
            </p:extLst>
          </p:nvPr>
        </p:nvGraphicFramePr>
        <p:xfrm>
          <a:off x="1579563" y="1755775"/>
          <a:ext cx="4579937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1" name="수식" r:id="rId6" imgW="2184120" imgH="863280" progId="Equation.3">
                  <p:embed/>
                </p:oleObj>
              </mc:Choice>
              <mc:Fallback>
                <p:oleObj name="수식" r:id="rId6" imgW="2184120" imgH="863280" progId="Equation.3">
                  <p:embed/>
                  <p:pic>
                    <p:nvPicPr>
                      <p:cNvPr id="102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9563" y="1755775"/>
                        <a:ext cx="4579937" cy="19621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584191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>
          <a:xfrm>
            <a:off x="442913" y="0"/>
            <a:ext cx="7467600" cy="100208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Solution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143000"/>
            <a:ext cx="4467225" cy="50292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000" dirty="0"/>
              <a:t>Solution: For DSB-SC</a:t>
            </a:r>
          </a:p>
          <a:p>
            <a:pPr eaLnBrk="1" hangingPunct="1">
              <a:buFontTx/>
              <a:buNone/>
            </a:pPr>
            <a:r>
              <a:rPr lang="en-US" altLang="en-US" sz="3600" dirty="0"/>
              <a:t>ii)</a:t>
            </a:r>
          </a:p>
          <a:p>
            <a:pPr eaLnBrk="1" hangingPunct="1">
              <a:buFontTx/>
              <a:buNone/>
            </a:pPr>
            <a:endParaRPr lang="en-US" altLang="en-US" sz="3600" dirty="0"/>
          </a:p>
          <a:p>
            <a:pPr eaLnBrk="1" hangingPunct="1">
              <a:buFontTx/>
              <a:buNone/>
            </a:pPr>
            <a:endParaRPr lang="en-US" altLang="en-US" sz="3600" dirty="0"/>
          </a:p>
          <a:p>
            <a:pPr eaLnBrk="1" hangingPunct="1">
              <a:buFontTx/>
              <a:buNone/>
            </a:pPr>
            <a:r>
              <a:rPr lang="en-US" altLang="en-US" sz="3600" dirty="0"/>
              <a:t>iii)</a:t>
            </a:r>
            <a:r>
              <a:rPr lang="en-US" altLang="en-US" sz="2000" dirty="0"/>
              <a:t>Bandwidth=2xf</a:t>
            </a:r>
            <a:r>
              <a:rPr lang="en-US" altLang="en-US" sz="2000" baseline="-25000" dirty="0"/>
              <a:t>mmax</a:t>
            </a:r>
            <a:r>
              <a:rPr lang="en-US" altLang="en-US" sz="2000" dirty="0"/>
              <a:t>=2(10kz)=20kHz</a:t>
            </a:r>
            <a:endParaRPr lang="en-US" altLang="en-US" sz="2000" baseline="-25000" dirty="0"/>
          </a:p>
          <a:p>
            <a:pPr eaLnBrk="1" hangingPunct="1">
              <a:buFontTx/>
              <a:buNone/>
            </a:pPr>
            <a:endParaRPr lang="en-US" altLang="en-US" sz="3600" dirty="0"/>
          </a:p>
          <a:p>
            <a:pPr eaLnBrk="1" hangingPunct="1">
              <a:buFontTx/>
              <a:buNone/>
            </a:pPr>
            <a:endParaRPr lang="en-US" altLang="en-US" sz="3600" dirty="0"/>
          </a:p>
          <a:p>
            <a:pPr eaLnBrk="1" hangingPunct="1">
              <a:buFontTx/>
              <a:buNone/>
            </a:pPr>
            <a:r>
              <a:rPr lang="en-US" altLang="en-US" sz="3600" dirty="0"/>
              <a:t>iv)</a:t>
            </a:r>
          </a:p>
          <a:p>
            <a:pPr eaLnBrk="1" hangingPunct="1">
              <a:buFontTx/>
              <a:buNone/>
            </a:pPr>
            <a:endParaRPr lang="en-US" altLang="en-US" sz="3600" dirty="0"/>
          </a:p>
        </p:txBody>
      </p:sp>
      <p:graphicFrame>
        <p:nvGraphicFramePr>
          <p:cNvPr id="2050" name="Object 15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433557987"/>
              </p:ext>
            </p:extLst>
          </p:nvPr>
        </p:nvGraphicFramePr>
        <p:xfrm>
          <a:off x="5124450" y="1803400"/>
          <a:ext cx="3468688" cy="14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0" name="수식" r:id="rId4" imgW="1968480" imgH="825480" progId="Equation.3">
                  <p:embed/>
                </p:oleObj>
              </mc:Choice>
              <mc:Fallback>
                <p:oleObj name="수식" r:id="rId4" imgW="1968480" imgH="825480" progId="Equation.3">
                  <p:embed/>
                  <p:pic>
                    <p:nvPicPr>
                      <p:cNvPr id="205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4450" y="1803400"/>
                        <a:ext cx="3468688" cy="145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4"/>
          <p:cNvGraphicFramePr>
            <a:graphicFrameLocks noChangeAspect="1"/>
          </p:cNvGraphicFramePr>
          <p:nvPr/>
        </p:nvGraphicFramePr>
        <p:xfrm>
          <a:off x="1276350" y="1811338"/>
          <a:ext cx="3044825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1" name="Equation" r:id="rId6" imgW="1612800" imgH="812520" progId="Equation.3">
                  <p:embed/>
                </p:oleObj>
              </mc:Choice>
              <mc:Fallback>
                <p:oleObj name="Equation" r:id="rId6" imgW="1612800" imgH="812520" progId="Equation.3">
                  <p:embed/>
                  <p:pic>
                    <p:nvPicPr>
                      <p:cNvPr id="205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350" y="1811338"/>
                        <a:ext cx="3044825" cy="147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54" name="Group 14"/>
          <p:cNvGrpSpPr>
            <a:grpSpLocks/>
          </p:cNvGrpSpPr>
          <p:nvPr/>
        </p:nvGrpSpPr>
        <p:grpSpPr bwMode="auto">
          <a:xfrm>
            <a:off x="1589088" y="4495800"/>
            <a:ext cx="3711575" cy="1676400"/>
            <a:chOff x="2153" y="3015"/>
            <a:chExt cx="2640" cy="1121"/>
          </a:xfrm>
        </p:grpSpPr>
        <p:sp>
          <p:nvSpPr>
            <p:cNvPr id="2055" name="Line 6"/>
            <p:cNvSpPr>
              <a:spLocks noChangeShapeType="1"/>
            </p:cNvSpPr>
            <p:nvPr/>
          </p:nvSpPr>
          <p:spPr bwMode="auto">
            <a:xfrm>
              <a:off x="2153" y="3879"/>
              <a:ext cx="26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" name="Line 7"/>
            <p:cNvSpPr>
              <a:spLocks noChangeShapeType="1"/>
            </p:cNvSpPr>
            <p:nvPr/>
          </p:nvSpPr>
          <p:spPr bwMode="auto">
            <a:xfrm flipV="1">
              <a:off x="3449" y="3015"/>
              <a:ext cx="0" cy="8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" name="Line 8"/>
            <p:cNvSpPr>
              <a:spLocks noChangeShapeType="1"/>
            </p:cNvSpPr>
            <p:nvPr/>
          </p:nvSpPr>
          <p:spPr bwMode="auto">
            <a:xfrm flipV="1">
              <a:off x="2873" y="3399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" name="Line 9"/>
            <p:cNvSpPr>
              <a:spLocks noChangeShapeType="1"/>
            </p:cNvSpPr>
            <p:nvPr/>
          </p:nvSpPr>
          <p:spPr bwMode="auto">
            <a:xfrm flipV="1">
              <a:off x="3977" y="3399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" name="Text Box 11"/>
            <p:cNvSpPr txBox="1">
              <a:spLocks noChangeArrowheads="1"/>
            </p:cNvSpPr>
            <p:nvPr/>
          </p:nvSpPr>
          <p:spPr bwMode="auto">
            <a:xfrm>
              <a:off x="3638" y="3891"/>
              <a:ext cx="751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latin typeface="Tahoma" panose="020B0604030504040204" pitchFamily="34" charset="0"/>
                </a:rPr>
                <a:t>110kHz</a:t>
              </a:r>
              <a:endParaRPr lang="en-US" altLang="en-US" b="1" baseline="-25000">
                <a:latin typeface="Tahoma" panose="020B0604030504040204" pitchFamily="34" charset="0"/>
              </a:endParaRPr>
            </a:p>
          </p:txBody>
        </p:sp>
        <p:sp>
          <p:nvSpPr>
            <p:cNvPr id="2060" name="Text Box 12"/>
            <p:cNvSpPr txBox="1">
              <a:spLocks noChangeArrowheads="1"/>
            </p:cNvSpPr>
            <p:nvPr/>
          </p:nvSpPr>
          <p:spPr bwMode="auto">
            <a:xfrm>
              <a:off x="2529" y="3879"/>
              <a:ext cx="647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latin typeface="Tahoma" panose="020B0604030504040204" pitchFamily="34" charset="0"/>
                </a:rPr>
                <a:t>90kHz</a:t>
              </a:r>
              <a:endParaRPr lang="en-US" altLang="en-US" b="1" baseline="-25000"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63825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0"/>
            <a:ext cx="7467600" cy="1062037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Solution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093786"/>
            <a:ext cx="4059238" cy="5078414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400" dirty="0"/>
              <a:t>Solution: For SSB-FC</a:t>
            </a:r>
          </a:p>
          <a:p>
            <a:pPr eaLnBrk="1" hangingPunct="1">
              <a:buFontTx/>
              <a:buNone/>
            </a:pPr>
            <a:r>
              <a:rPr lang="en-US" altLang="en-US" sz="4000" dirty="0"/>
              <a:t>ii)</a:t>
            </a:r>
          </a:p>
          <a:p>
            <a:pPr eaLnBrk="1" hangingPunct="1">
              <a:buFontTx/>
              <a:buNone/>
            </a:pPr>
            <a:endParaRPr lang="en-US" altLang="en-US" sz="4000" dirty="0"/>
          </a:p>
          <a:p>
            <a:pPr eaLnBrk="1" hangingPunct="1">
              <a:buFontTx/>
              <a:buNone/>
            </a:pPr>
            <a:endParaRPr lang="en-US" altLang="en-US" sz="4000" dirty="0"/>
          </a:p>
          <a:p>
            <a:pPr eaLnBrk="1" hangingPunct="1">
              <a:buFontTx/>
              <a:buNone/>
            </a:pPr>
            <a:r>
              <a:rPr lang="en-US" altLang="en-US" sz="4000" dirty="0"/>
              <a:t>iii)</a:t>
            </a:r>
            <a:r>
              <a:rPr lang="en-US" altLang="en-US" sz="2400" dirty="0"/>
              <a:t>Bandwidth=</a:t>
            </a:r>
            <a:r>
              <a:rPr lang="en-US" altLang="en-US" sz="2400" dirty="0" err="1"/>
              <a:t>f</a:t>
            </a:r>
            <a:r>
              <a:rPr lang="en-US" altLang="en-US" sz="2400" baseline="-25000" dirty="0" err="1"/>
              <a:t>mmax</a:t>
            </a:r>
            <a:r>
              <a:rPr lang="en-US" altLang="en-US" sz="2400" dirty="0"/>
              <a:t>=10kHz</a:t>
            </a:r>
          </a:p>
          <a:p>
            <a:pPr eaLnBrk="1" hangingPunct="1">
              <a:buFontTx/>
              <a:buNone/>
            </a:pPr>
            <a:r>
              <a:rPr lang="en-US" altLang="en-US" sz="2400" dirty="0"/>
              <a:t>                          </a:t>
            </a:r>
            <a:endParaRPr lang="en-US" altLang="en-US" sz="2400" baseline="-25000" dirty="0"/>
          </a:p>
          <a:p>
            <a:pPr eaLnBrk="1" hangingPunct="1">
              <a:buFontTx/>
              <a:buNone/>
            </a:pPr>
            <a:r>
              <a:rPr lang="en-US" altLang="en-US" sz="4000" dirty="0"/>
              <a:t>iv)</a:t>
            </a:r>
          </a:p>
          <a:p>
            <a:pPr eaLnBrk="1" hangingPunct="1">
              <a:buFontTx/>
              <a:buNone/>
            </a:pPr>
            <a:endParaRPr lang="en-US" altLang="en-US" sz="4000" dirty="0"/>
          </a:p>
        </p:txBody>
      </p:sp>
      <p:graphicFrame>
        <p:nvGraphicFramePr>
          <p:cNvPr id="3074" name="Object 13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133390183"/>
              </p:ext>
            </p:extLst>
          </p:nvPr>
        </p:nvGraphicFramePr>
        <p:xfrm>
          <a:off x="5427504" y="1625283"/>
          <a:ext cx="2727643" cy="1019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6" name="수식" r:id="rId4" imgW="2209680" imgH="825480" progId="Equation.3">
                  <p:embed/>
                </p:oleObj>
              </mc:Choice>
              <mc:Fallback>
                <p:oleObj name="수식" r:id="rId4" imgW="2209680" imgH="825480" progId="Equation.3">
                  <p:embed/>
                  <p:pic>
                    <p:nvPicPr>
                      <p:cNvPr id="307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7504" y="1625283"/>
                        <a:ext cx="2727643" cy="1019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4"/>
          <p:cNvGraphicFramePr>
            <a:graphicFrameLocks noChangeAspect="1"/>
          </p:cNvGraphicFramePr>
          <p:nvPr/>
        </p:nvGraphicFramePr>
        <p:xfrm>
          <a:off x="1428750" y="1671638"/>
          <a:ext cx="2709863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7" name="Equation" r:id="rId6" imgW="1434960" imgH="812520" progId="Equation.3">
                  <p:embed/>
                </p:oleObj>
              </mc:Choice>
              <mc:Fallback>
                <p:oleObj name="Equation" r:id="rId6" imgW="1434960" imgH="812520" progId="Equation.3">
                  <p:embed/>
                  <p:pic>
                    <p:nvPicPr>
                      <p:cNvPr id="307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1671638"/>
                        <a:ext cx="2709863" cy="147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8" name="Group 22"/>
          <p:cNvGrpSpPr>
            <a:grpSpLocks/>
          </p:cNvGrpSpPr>
          <p:nvPr/>
        </p:nvGrpSpPr>
        <p:grpSpPr bwMode="auto">
          <a:xfrm>
            <a:off x="1360488" y="4648200"/>
            <a:ext cx="4191000" cy="1770063"/>
            <a:chOff x="857" y="2928"/>
            <a:chExt cx="2640" cy="1115"/>
          </a:xfrm>
        </p:grpSpPr>
        <p:sp>
          <p:nvSpPr>
            <p:cNvPr id="3079" name="Line 15"/>
            <p:cNvSpPr>
              <a:spLocks noChangeShapeType="1"/>
            </p:cNvSpPr>
            <p:nvPr/>
          </p:nvSpPr>
          <p:spPr bwMode="auto">
            <a:xfrm>
              <a:off x="857" y="3792"/>
              <a:ext cx="26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0" name="Line 16"/>
            <p:cNvSpPr>
              <a:spLocks noChangeShapeType="1"/>
            </p:cNvSpPr>
            <p:nvPr/>
          </p:nvSpPr>
          <p:spPr bwMode="auto">
            <a:xfrm flipV="1">
              <a:off x="2153" y="2928"/>
              <a:ext cx="0" cy="8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1" name="Line 17"/>
            <p:cNvSpPr>
              <a:spLocks noChangeShapeType="1"/>
            </p:cNvSpPr>
            <p:nvPr/>
          </p:nvSpPr>
          <p:spPr bwMode="auto">
            <a:xfrm flipV="1">
              <a:off x="1577" y="3312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2" name="Line 18"/>
            <p:cNvSpPr>
              <a:spLocks noChangeShapeType="1"/>
            </p:cNvSpPr>
            <p:nvPr/>
          </p:nvSpPr>
          <p:spPr bwMode="auto">
            <a:xfrm flipV="1">
              <a:off x="2681" y="3312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3" name="Text Box 19"/>
            <p:cNvSpPr txBox="1">
              <a:spLocks noChangeArrowheads="1"/>
            </p:cNvSpPr>
            <p:nvPr/>
          </p:nvSpPr>
          <p:spPr bwMode="auto">
            <a:xfrm>
              <a:off x="1747" y="3789"/>
              <a:ext cx="6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latin typeface="Tahoma" panose="020B0604030504040204" pitchFamily="34" charset="0"/>
                </a:rPr>
                <a:t>100kHz</a:t>
              </a:r>
              <a:endParaRPr lang="en-US" altLang="en-US" b="1" baseline="-25000">
                <a:latin typeface="Tahoma" panose="020B0604030504040204" pitchFamily="34" charset="0"/>
              </a:endParaRPr>
            </a:p>
          </p:txBody>
        </p:sp>
        <p:sp>
          <p:nvSpPr>
            <p:cNvPr id="3084" name="Text Box 20"/>
            <p:cNvSpPr txBox="1">
              <a:spLocks noChangeArrowheads="1"/>
            </p:cNvSpPr>
            <p:nvPr/>
          </p:nvSpPr>
          <p:spPr bwMode="auto">
            <a:xfrm>
              <a:off x="2479" y="3812"/>
              <a:ext cx="6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latin typeface="Tahoma" panose="020B0604030504040204" pitchFamily="34" charset="0"/>
                </a:rPr>
                <a:t>110kHz</a:t>
              </a:r>
              <a:endParaRPr lang="en-US" altLang="en-US" b="1" baseline="-25000">
                <a:latin typeface="Tahoma" panose="020B0604030504040204" pitchFamily="34" charset="0"/>
              </a:endParaRPr>
            </a:p>
          </p:txBody>
        </p:sp>
        <p:sp>
          <p:nvSpPr>
            <p:cNvPr id="3085" name="Text Box 21"/>
            <p:cNvSpPr txBox="1">
              <a:spLocks noChangeArrowheads="1"/>
            </p:cNvSpPr>
            <p:nvPr/>
          </p:nvSpPr>
          <p:spPr bwMode="auto">
            <a:xfrm>
              <a:off x="1385" y="3792"/>
              <a:ext cx="43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>
                  <a:solidFill>
                    <a:srgbClr val="969696"/>
                  </a:solidFill>
                  <a:latin typeface="Tahoma" panose="020B0604030504040204" pitchFamily="34" charset="0"/>
                </a:rPr>
                <a:t>f</a:t>
              </a:r>
              <a:r>
                <a:rPr lang="en-US" altLang="en-US" b="1" baseline="-25000">
                  <a:solidFill>
                    <a:srgbClr val="969696"/>
                  </a:solidFill>
                  <a:latin typeface="Tahoma" panose="020B0604030504040204" pitchFamily="34" charset="0"/>
                </a:rPr>
                <a:t>c</a:t>
              </a:r>
              <a:r>
                <a:rPr lang="en-US" altLang="en-US" b="1">
                  <a:solidFill>
                    <a:srgbClr val="969696"/>
                  </a:solidFill>
                  <a:latin typeface="Tahoma" panose="020B0604030504040204" pitchFamily="34" charset="0"/>
                </a:rPr>
                <a:t>-f</a:t>
              </a:r>
              <a:r>
                <a:rPr lang="en-US" altLang="en-US" b="1" baseline="-25000">
                  <a:solidFill>
                    <a:srgbClr val="969696"/>
                  </a:solidFill>
                  <a:latin typeface="Tahoma" panose="020B0604030504040204" pitchFamily="34" charset="0"/>
                </a:rPr>
                <a:t>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518179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467600" cy="100171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Solution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143000"/>
            <a:ext cx="4349750" cy="50292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dirty="0"/>
              <a:t>Solution: For SSB-SC</a:t>
            </a:r>
          </a:p>
          <a:p>
            <a:pPr eaLnBrk="1" hangingPunct="1">
              <a:buFontTx/>
              <a:buNone/>
            </a:pPr>
            <a:r>
              <a:rPr lang="en-US" altLang="en-US" dirty="0"/>
              <a:t>ii)</a:t>
            </a:r>
          </a:p>
          <a:p>
            <a:pPr eaLnBrk="1" hangingPunct="1">
              <a:buFontTx/>
              <a:buNone/>
            </a:pPr>
            <a:endParaRPr lang="en-US" altLang="en-US" dirty="0"/>
          </a:p>
          <a:p>
            <a:pPr eaLnBrk="1" hangingPunct="1">
              <a:buFontTx/>
              <a:buNone/>
            </a:pPr>
            <a:endParaRPr lang="en-US" altLang="en-US" dirty="0"/>
          </a:p>
          <a:p>
            <a:pPr eaLnBrk="1" hangingPunct="1">
              <a:buFontTx/>
              <a:buNone/>
            </a:pPr>
            <a:r>
              <a:rPr lang="en-US" altLang="en-US" dirty="0"/>
              <a:t>iii)</a:t>
            </a:r>
            <a:r>
              <a:rPr lang="en-US" altLang="en-US" sz="2400" dirty="0"/>
              <a:t>Bandwidth = </a:t>
            </a:r>
            <a:r>
              <a:rPr lang="en-US" altLang="en-US" sz="2400" dirty="0" err="1"/>
              <a:t>f</a:t>
            </a:r>
            <a:r>
              <a:rPr lang="en-US" altLang="en-US" sz="2400" baseline="-25000" dirty="0" err="1"/>
              <a:t>mmax</a:t>
            </a:r>
            <a:r>
              <a:rPr lang="en-US" altLang="en-US" sz="2400" dirty="0"/>
              <a:t>=10kHz</a:t>
            </a:r>
            <a:endParaRPr lang="en-US" altLang="en-US" sz="1800" dirty="0"/>
          </a:p>
          <a:p>
            <a:pPr eaLnBrk="1" hangingPunct="1">
              <a:buFontTx/>
              <a:buNone/>
            </a:pPr>
            <a:r>
              <a:rPr lang="en-US" altLang="en-US" sz="1800" dirty="0"/>
              <a:t>                          </a:t>
            </a:r>
            <a:endParaRPr lang="en-US" altLang="en-US" sz="1800" baseline="-25000" dirty="0"/>
          </a:p>
          <a:p>
            <a:pPr eaLnBrk="1" hangingPunct="1">
              <a:buFontTx/>
              <a:buNone/>
            </a:pPr>
            <a:r>
              <a:rPr lang="en-US" altLang="en-US" dirty="0"/>
              <a:t>iv)</a:t>
            </a:r>
          </a:p>
          <a:p>
            <a:pPr eaLnBrk="1" hangingPunct="1">
              <a:buFontTx/>
              <a:buNone/>
            </a:pPr>
            <a:endParaRPr lang="en-US" altLang="en-US" dirty="0"/>
          </a:p>
        </p:txBody>
      </p:sp>
      <p:graphicFrame>
        <p:nvGraphicFramePr>
          <p:cNvPr id="4098" name="Object 5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12398675"/>
              </p:ext>
            </p:extLst>
          </p:nvPr>
        </p:nvGraphicFramePr>
        <p:xfrm>
          <a:off x="5089121" y="1610589"/>
          <a:ext cx="3304674" cy="1233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2" name="수식" r:id="rId4" imgW="2209680" imgH="825480" progId="Equation.3">
                  <p:embed/>
                </p:oleObj>
              </mc:Choice>
              <mc:Fallback>
                <p:oleObj name="수식" r:id="rId4" imgW="2209680" imgH="825480" progId="Equation.3">
                  <p:embed/>
                  <p:pic>
                    <p:nvPicPr>
                      <p:cNvPr id="409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9121" y="1610589"/>
                        <a:ext cx="3304674" cy="12339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4"/>
          <p:cNvGraphicFramePr>
            <a:graphicFrameLocks noChangeAspect="1"/>
          </p:cNvGraphicFramePr>
          <p:nvPr/>
        </p:nvGraphicFramePr>
        <p:xfrm>
          <a:off x="1787525" y="1671638"/>
          <a:ext cx="2301875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3" name="Equation" r:id="rId6" imgW="1218960" imgH="812520" progId="Equation.3">
                  <p:embed/>
                </p:oleObj>
              </mc:Choice>
              <mc:Fallback>
                <p:oleObj name="Equation" r:id="rId6" imgW="1218960" imgH="812520" progId="Equation.3">
                  <p:embed/>
                  <p:pic>
                    <p:nvPicPr>
                      <p:cNvPr id="409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7525" y="1671638"/>
                        <a:ext cx="2301875" cy="147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" name="Line 15"/>
          <p:cNvSpPr>
            <a:spLocks noChangeShapeType="1"/>
          </p:cNvSpPr>
          <p:nvPr/>
        </p:nvSpPr>
        <p:spPr bwMode="auto">
          <a:xfrm>
            <a:off x="1911350" y="5946775"/>
            <a:ext cx="419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3" name="Line 16"/>
          <p:cNvSpPr>
            <a:spLocks noChangeShapeType="1"/>
          </p:cNvSpPr>
          <p:nvPr/>
        </p:nvSpPr>
        <p:spPr bwMode="auto">
          <a:xfrm flipV="1">
            <a:off x="3968750" y="4575175"/>
            <a:ext cx="0" cy="13716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4" name="Line 17"/>
          <p:cNvSpPr>
            <a:spLocks noChangeShapeType="1"/>
          </p:cNvSpPr>
          <p:nvPr/>
        </p:nvSpPr>
        <p:spPr bwMode="auto">
          <a:xfrm flipV="1">
            <a:off x="3054350" y="5184775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5" name="Line 18"/>
          <p:cNvSpPr>
            <a:spLocks noChangeShapeType="1"/>
          </p:cNvSpPr>
          <p:nvPr/>
        </p:nvSpPr>
        <p:spPr bwMode="auto">
          <a:xfrm flipV="1">
            <a:off x="4806950" y="5184775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6" name="Text Box 19"/>
          <p:cNvSpPr txBox="1">
            <a:spLocks noChangeArrowheads="1"/>
          </p:cNvSpPr>
          <p:nvPr/>
        </p:nvSpPr>
        <p:spPr bwMode="auto">
          <a:xfrm>
            <a:off x="3876675" y="6130925"/>
            <a:ext cx="352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969696"/>
                </a:solidFill>
                <a:latin typeface="Tahoma" panose="020B0604030504040204" pitchFamily="34" charset="0"/>
              </a:rPr>
              <a:t>f</a:t>
            </a:r>
            <a:r>
              <a:rPr lang="en-US" altLang="en-US" b="1" baseline="-25000">
                <a:solidFill>
                  <a:srgbClr val="969696"/>
                </a:solidFill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4107" name="Text Box 20"/>
          <p:cNvSpPr txBox="1">
            <a:spLocks noChangeArrowheads="1"/>
          </p:cNvSpPr>
          <p:nvPr/>
        </p:nvSpPr>
        <p:spPr bwMode="auto">
          <a:xfrm>
            <a:off x="4254500" y="5934075"/>
            <a:ext cx="1055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latin typeface="Tahoma" panose="020B0604030504040204" pitchFamily="34" charset="0"/>
              </a:rPr>
              <a:t>110kHz</a:t>
            </a:r>
            <a:endParaRPr lang="en-US" altLang="en-US" b="1" baseline="-25000">
              <a:latin typeface="Tahoma" panose="020B0604030504040204" pitchFamily="34" charset="0"/>
            </a:endParaRPr>
          </a:p>
        </p:txBody>
      </p:sp>
      <p:sp>
        <p:nvSpPr>
          <p:cNvPr id="4108" name="Text Box 21"/>
          <p:cNvSpPr txBox="1">
            <a:spLocks noChangeArrowheads="1"/>
          </p:cNvSpPr>
          <p:nvPr/>
        </p:nvSpPr>
        <p:spPr bwMode="auto">
          <a:xfrm>
            <a:off x="2749550" y="5946775"/>
            <a:ext cx="684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969696"/>
                </a:solidFill>
                <a:latin typeface="Tahoma" panose="020B0604030504040204" pitchFamily="34" charset="0"/>
              </a:rPr>
              <a:t>f</a:t>
            </a:r>
            <a:r>
              <a:rPr lang="en-US" altLang="en-US" b="1" baseline="-25000">
                <a:solidFill>
                  <a:srgbClr val="969696"/>
                </a:solidFill>
                <a:latin typeface="Tahoma" panose="020B0604030504040204" pitchFamily="34" charset="0"/>
              </a:rPr>
              <a:t>c</a:t>
            </a:r>
            <a:r>
              <a:rPr lang="en-US" altLang="en-US" b="1">
                <a:solidFill>
                  <a:srgbClr val="969696"/>
                </a:solidFill>
                <a:latin typeface="Tahoma" panose="020B0604030504040204" pitchFamily="34" charset="0"/>
              </a:rPr>
              <a:t>-f</a:t>
            </a:r>
            <a:r>
              <a:rPr lang="en-US" altLang="en-US" b="1" baseline="-25000">
                <a:solidFill>
                  <a:srgbClr val="969696"/>
                </a:solidFill>
                <a:latin typeface="Tahoma" panose="020B0604030504040204" pitchFamily="34" charset="0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82293572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SSB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SSB is used in the systems which require minimum bandwidth such as telephone</a:t>
            </a:r>
            <a:br>
              <a:rPr lang="en-US" dirty="0"/>
            </a:br>
            <a:r>
              <a:rPr lang="en-US" dirty="0"/>
              <a:t>multiplex system</a:t>
            </a:r>
          </a:p>
          <a:p>
            <a:r>
              <a:rPr lang="en-US" dirty="0"/>
              <a:t>Point to point communications at frequency below 30 MHz -mobile communications,</a:t>
            </a:r>
            <a:br>
              <a:rPr lang="en-US" dirty="0"/>
            </a:br>
            <a:r>
              <a:rPr lang="en-US" dirty="0"/>
              <a:t>military, navigation radio etc. where power saving is needed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4985326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SSB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Power conservation</a:t>
            </a:r>
          </a:p>
          <a:p>
            <a:pPr lvl="1"/>
            <a:r>
              <a:rPr lang="en-US" dirty="0"/>
              <a:t>Less power is required to transmit either of the sideband</a:t>
            </a:r>
          </a:p>
          <a:p>
            <a:r>
              <a:rPr lang="en-US" dirty="0"/>
              <a:t>Bandwidth conservation</a:t>
            </a:r>
          </a:p>
          <a:p>
            <a:pPr lvl="1"/>
            <a:r>
              <a:rPr lang="en-US" dirty="0"/>
              <a:t>It requires half as much bandwidth as DSB AM </a:t>
            </a:r>
            <a:r>
              <a:rPr lang="en-US" dirty="0">
                <a:sym typeface="Wingdings" panose="05000000000000000000" pitchFamily="2" charset="2"/>
              </a:rPr>
              <a:t>50 % reduction in bandwidth</a:t>
            </a:r>
          </a:p>
          <a:p>
            <a:r>
              <a:rPr lang="en-US" dirty="0">
                <a:sym typeface="Wingdings" panose="05000000000000000000" pitchFamily="2" charset="2"/>
              </a:rPr>
              <a:t>Selective fading e.g. sideband, carrier and sideband phase shift</a:t>
            </a:r>
          </a:p>
          <a:p>
            <a:r>
              <a:rPr lang="en-US" dirty="0">
                <a:sym typeface="Wingdings" panose="05000000000000000000" pitchFamily="2" charset="2"/>
              </a:rPr>
              <a:t>Noise reduction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Thermal noise is reduce by half that of a DSB system since the bandwidth required is also half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92557411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SSB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Complex receivers</a:t>
            </a:r>
          </a:p>
          <a:p>
            <a:r>
              <a:rPr lang="en-US" dirty="0"/>
              <a:t>Tuning difficulties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9287788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400" b="1" dirty="0"/>
              <a:t>Vestigial sideband (VSB)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199" y="1129554"/>
            <a:ext cx="8135471" cy="5123328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sz="2800" dirty="0"/>
              <a:t>Also called asymmetric sideband system.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Allowing a part of unwanted sideband, called a </a:t>
            </a:r>
            <a:r>
              <a:rPr lang="en-US" b="1" dirty="0"/>
              <a:t>vestige</a:t>
            </a:r>
            <a:r>
              <a:rPr lang="en-US" dirty="0"/>
              <a:t> to appear at the output of the modulator</a:t>
            </a:r>
            <a:r>
              <a:rPr lang="en-US" sz="2800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800" dirty="0"/>
              <a:t>Compromise between DSB &amp; SSB.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sz="2800" dirty="0"/>
              <a:t>Easy to generate.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sz="2800" dirty="0"/>
              <a:t>Bandwidth is only ~ 25% greater than SSB signals.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sz="2800" dirty="0"/>
              <a:t>Derived by filtering DSB, one pass band is passed almost completely while just a trace or vestige of the other sideband is included.</a:t>
            </a:r>
          </a:p>
        </p:txBody>
      </p:sp>
    </p:spTree>
    <p:extLst>
      <p:ext uri="{BB962C8B-B14F-4D97-AF65-F5344CB8AC3E}">
        <p14:creationId xmlns:p14="http://schemas.microsoft.com/office/powerpoint/2010/main" val="287003663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Vestigial sideband (VSB)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3" name="Rectangle 3"/>
              <p:cNvSpPr>
                <a:spLocks noGrp="1" noChangeArrowheads="1"/>
              </p:cNvSpPr>
              <p:nvPr>
                <p:ph sz="quarter" idx="1"/>
              </p:nvPr>
            </p:nvSpPr>
            <p:spPr>
              <a:xfrm>
                <a:off x="347867" y="1155279"/>
                <a:ext cx="8395251" cy="4873625"/>
              </a:xfrm>
            </p:spPr>
            <p:txBody>
              <a:bodyPr>
                <a:normAutofit fontScale="92500" lnSpcReduction="10000"/>
              </a:bodyPr>
              <a:lstStyle/>
              <a:p>
                <a:pPr eaLnBrk="1" hangingPunct="1">
                  <a:buFont typeface="Wingdings" panose="05000000000000000000" pitchFamily="2" charset="2"/>
                  <a:buChar char="Ø"/>
                </a:pPr>
                <a:r>
                  <a:rPr lang="en-US" altLang="en-US" dirty="0"/>
                  <a:t>AM wave is applied to a vestigial sideband filter, producing a modulation scheme – VSB + C</a:t>
                </a:r>
              </a:p>
              <a:p>
                <a:pPr eaLnBrk="1" hangingPunct="1">
                  <a:buFont typeface="Wingdings" panose="05000000000000000000" pitchFamily="2" charset="2"/>
                  <a:buChar char="Ø"/>
                </a:pPr>
                <a:endParaRPr lang="en-US" altLang="en-US" dirty="0"/>
              </a:p>
              <a:p>
                <a:pPr eaLnBrk="1" hangingPunct="1">
                  <a:buFont typeface="Wingdings" panose="05000000000000000000" pitchFamily="2" charset="2"/>
                  <a:buChar char="Ø"/>
                </a:pPr>
                <a:endParaRPr lang="en-US" altLang="en-US" dirty="0"/>
              </a:p>
              <a:p>
                <a:pPr eaLnBrk="1" hangingPunct="1">
                  <a:buFont typeface="Wingdings" panose="05000000000000000000" pitchFamily="2" charset="2"/>
                  <a:buChar char="Ø"/>
                </a:pPr>
                <a:endParaRPr lang="en-US" altLang="en-US" dirty="0"/>
              </a:p>
              <a:p>
                <a:pPr eaLnBrk="1" hangingPunct="1">
                  <a:buFont typeface="Wingdings" panose="05000000000000000000" pitchFamily="2" charset="2"/>
                  <a:buChar char="Ø"/>
                </a:pPr>
                <a:endParaRPr lang="en-US" altLang="en-US" dirty="0"/>
              </a:p>
              <a:p>
                <a:pPr eaLnBrk="1" hangingPunct="1">
                  <a:buFont typeface="Wingdings" panose="05000000000000000000" pitchFamily="2" charset="2"/>
                  <a:buChar char="Ø"/>
                </a:pPr>
                <a:endParaRPr lang="en-US" altLang="en-US" dirty="0"/>
              </a:p>
              <a:p>
                <a:pPr eaLnBrk="1" hangingPunct="1">
                  <a:buFont typeface="Wingdings" panose="05000000000000000000" pitchFamily="2" charset="2"/>
                  <a:buChar char="Ø"/>
                </a:pPr>
                <a:r>
                  <a:rPr lang="en-US" altLang="en-US" dirty="0"/>
                  <a:t>The output of the vestigial filter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)=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72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47867" y="1155279"/>
                <a:ext cx="8395251" cy="4873625"/>
              </a:xfrm>
              <a:blipFill>
                <a:blip r:embed="rId3"/>
                <a:stretch>
                  <a:fillRect l="-2542" t="-3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979" y="1968591"/>
            <a:ext cx="7557025" cy="25514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897439" y="3244334"/>
                <a:ext cx="334912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)=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439" y="3244334"/>
                <a:ext cx="3349122" cy="369332"/>
              </a:xfrm>
              <a:prstGeom prst="rect">
                <a:avLst/>
              </a:prstGeom>
              <a:blipFill>
                <a:blip r:embed="rId5"/>
                <a:stretch>
                  <a:fillRect t="-119672" r="-14727" b="-183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506979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Vestigial sideband (VSB)</a:t>
            </a:r>
            <a:endParaRPr lang="en-US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133668"/>
            <a:ext cx="7467600" cy="48736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/>
              <a:t>VSB Frequency Spectrum</a:t>
            </a:r>
          </a:p>
        </p:txBody>
      </p:sp>
      <p:grpSp>
        <p:nvGrpSpPr>
          <p:cNvPr id="31748" name="Group 4"/>
          <p:cNvGrpSpPr>
            <a:grpSpLocks noChangeAspect="1"/>
          </p:cNvGrpSpPr>
          <p:nvPr/>
        </p:nvGrpSpPr>
        <p:grpSpPr bwMode="auto">
          <a:xfrm>
            <a:off x="1215712" y="1398493"/>
            <a:ext cx="6659563" cy="3422650"/>
            <a:chOff x="2520" y="2580"/>
            <a:chExt cx="7200" cy="4320"/>
          </a:xfrm>
        </p:grpSpPr>
        <p:sp>
          <p:nvSpPr>
            <p:cNvPr id="31749" name="AutoShape 5"/>
            <p:cNvSpPr>
              <a:spLocks noChangeAspect="1" noChangeArrowheads="1"/>
            </p:cNvSpPr>
            <p:nvPr/>
          </p:nvSpPr>
          <p:spPr bwMode="auto">
            <a:xfrm>
              <a:off x="2520" y="2580"/>
              <a:ext cx="7200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endParaRPr lang="en-MY" altLang="en-US"/>
            </a:p>
          </p:txBody>
        </p:sp>
        <p:sp>
          <p:nvSpPr>
            <p:cNvPr id="31750" name="Line 6"/>
            <p:cNvSpPr>
              <a:spLocks noChangeShapeType="1"/>
            </p:cNvSpPr>
            <p:nvPr/>
          </p:nvSpPr>
          <p:spPr bwMode="auto">
            <a:xfrm>
              <a:off x="3420" y="5203"/>
              <a:ext cx="49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1" name="Rectangle 7"/>
            <p:cNvSpPr>
              <a:spLocks noChangeArrowheads="1"/>
            </p:cNvSpPr>
            <p:nvPr/>
          </p:nvSpPr>
          <p:spPr bwMode="auto">
            <a:xfrm>
              <a:off x="3870" y="4277"/>
              <a:ext cx="1500" cy="92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prstDash val="dashDot"/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endParaRPr lang="en-MY" altLang="en-US"/>
            </a:p>
          </p:txBody>
        </p:sp>
        <p:sp>
          <p:nvSpPr>
            <p:cNvPr id="31752" name="Rectangle 8"/>
            <p:cNvSpPr>
              <a:spLocks noChangeArrowheads="1"/>
            </p:cNvSpPr>
            <p:nvPr/>
          </p:nvSpPr>
          <p:spPr bwMode="auto">
            <a:xfrm>
              <a:off x="5970" y="4277"/>
              <a:ext cx="1350" cy="927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rgbClr val="000000"/>
              </a:solidFill>
              <a:prstDash val="dashDot"/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endParaRPr lang="en-MY" altLang="en-US"/>
            </a:p>
          </p:txBody>
        </p:sp>
        <p:sp>
          <p:nvSpPr>
            <p:cNvPr id="31753" name="Line 9"/>
            <p:cNvSpPr>
              <a:spLocks noChangeShapeType="1"/>
            </p:cNvSpPr>
            <p:nvPr/>
          </p:nvSpPr>
          <p:spPr bwMode="auto">
            <a:xfrm flipV="1">
              <a:off x="5670" y="3814"/>
              <a:ext cx="1" cy="138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4" name="Text Box 10"/>
            <p:cNvSpPr txBox="1">
              <a:spLocks noChangeArrowheads="1"/>
            </p:cNvSpPr>
            <p:nvPr/>
          </p:nvSpPr>
          <p:spPr bwMode="auto">
            <a:xfrm>
              <a:off x="5520" y="5203"/>
              <a:ext cx="450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sz="1200">
                  <a:latin typeface="Times New Roman" panose="02020603050405020304" pitchFamily="18" charset="0"/>
                </a:rPr>
                <a:t>fc</a:t>
              </a:r>
              <a:endParaRPr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31755" name="Rectangle 11"/>
            <p:cNvSpPr>
              <a:spLocks noChangeArrowheads="1"/>
            </p:cNvSpPr>
            <p:nvPr/>
          </p:nvSpPr>
          <p:spPr bwMode="auto">
            <a:xfrm>
              <a:off x="4620" y="4277"/>
              <a:ext cx="750" cy="926"/>
            </a:xfrm>
            <a:prstGeom prst="rect">
              <a:avLst/>
            </a:prstGeom>
            <a:solidFill>
              <a:srgbClr val="FF00FF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endParaRPr lang="en-MY" altLang="en-US"/>
            </a:p>
          </p:txBody>
        </p:sp>
        <p:sp>
          <p:nvSpPr>
            <p:cNvPr id="31756" name="AutoShape 12"/>
            <p:cNvSpPr>
              <a:spLocks noChangeArrowheads="1"/>
            </p:cNvSpPr>
            <p:nvPr/>
          </p:nvSpPr>
          <p:spPr bwMode="auto">
            <a:xfrm>
              <a:off x="4620" y="3197"/>
              <a:ext cx="2850" cy="2314"/>
            </a:xfrm>
            <a:prstGeom prst="roundRect">
              <a:avLst>
                <a:gd name="adj" fmla="val 16667"/>
              </a:avLst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endParaRPr lang="en-MY" altLang="en-US"/>
            </a:p>
          </p:txBody>
        </p:sp>
        <p:sp>
          <p:nvSpPr>
            <p:cNvPr id="31757" name="Rectangle 13"/>
            <p:cNvSpPr>
              <a:spLocks noChangeArrowheads="1"/>
            </p:cNvSpPr>
            <p:nvPr/>
          </p:nvSpPr>
          <p:spPr bwMode="auto">
            <a:xfrm>
              <a:off x="3420" y="5203"/>
              <a:ext cx="4950" cy="463"/>
            </a:xfrm>
            <a:prstGeom prst="rect">
              <a:avLst/>
            </a:prstGeom>
            <a:solidFill>
              <a:srgbClr val="CC99FF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endParaRPr lang="en-MY" altLang="en-US"/>
            </a:p>
          </p:txBody>
        </p:sp>
        <p:sp>
          <p:nvSpPr>
            <p:cNvPr id="31758" name="Text Box 14"/>
            <p:cNvSpPr txBox="1">
              <a:spLocks noChangeArrowheads="1"/>
            </p:cNvSpPr>
            <p:nvPr/>
          </p:nvSpPr>
          <p:spPr bwMode="auto">
            <a:xfrm>
              <a:off x="5370" y="5203"/>
              <a:ext cx="600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1600" b="1" baseline="-250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c</a:t>
              </a:r>
              <a:endParaRPr lang="en-US" altLang="en-US" sz="2400" b="1" baseline="-25000" dirty="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1759" name="Text Box 15"/>
            <p:cNvSpPr txBox="1">
              <a:spLocks noChangeArrowheads="1"/>
            </p:cNvSpPr>
            <p:nvPr/>
          </p:nvSpPr>
          <p:spPr bwMode="auto">
            <a:xfrm>
              <a:off x="4170" y="4431"/>
              <a:ext cx="900" cy="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b="1" dirty="0">
                  <a:latin typeface="Times New Roman" panose="02020603050405020304" pitchFamily="18" charset="0"/>
                </a:rPr>
                <a:t>   LSB</a:t>
              </a:r>
              <a:endParaRPr lang="en-US" altLang="en-US" sz="2800" b="1" dirty="0">
                <a:latin typeface="Verdana" panose="020B0604030504040204" pitchFamily="34" charset="0"/>
              </a:endParaRPr>
            </a:p>
          </p:txBody>
        </p:sp>
        <p:sp>
          <p:nvSpPr>
            <p:cNvPr id="31760" name="Text Box 16"/>
            <p:cNvSpPr txBox="1">
              <a:spLocks noChangeArrowheads="1"/>
            </p:cNvSpPr>
            <p:nvPr/>
          </p:nvSpPr>
          <p:spPr bwMode="auto">
            <a:xfrm>
              <a:off x="6120" y="4431"/>
              <a:ext cx="900" cy="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b="1" dirty="0">
                  <a:latin typeface="Times New Roman" panose="02020603050405020304" pitchFamily="18" charset="0"/>
                </a:rPr>
                <a:t>   USB</a:t>
              </a:r>
              <a:endParaRPr lang="en-US" altLang="en-US" sz="2800" b="1" dirty="0">
                <a:latin typeface="Verdana" panose="020B0604030504040204" pitchFamily="34" charset="0"/>
              </a:endParaRPr>
            </a:p>
          </p:txBody>
        </p:sp>
        <p:sp>
          <p:nvSpPr>
            <p:cNvPr id="31761" name="Text Box 17"/>
            <p:cNvSpPr txBox="1">
              <a:spLocks noChangeArrowheads="1"/>
            </p:cNvSpPr>
            <p:nvPr/>
          </p:nvSpPr>
          <p:spPr bwMode="auto">
            <a:xfrm>
              <a:off x="5520" y="3351"/>
              <a:ext cx="1200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sz="1200">
                  <a:latin typeface="Times New Roman" panose="02020603050405020304" pitchFamily="18" charset="0"/>
                </a:rPr>
                <a:t>Carrier</a:t>
              </a:r>
              <a:endParaRPr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31762" name="Line 18"/>
            <p:cNvSpPr>
              <a:spLocks noChangeShapeType="1"/>
            </p:cNvSpPr>
            <p:nvPr/>
          </p:nvSpPr>
          <p:spPr bwMode="auto">
            <a:xfrm flipH="1">
              <a:off x="7470" y="3351"/>
              <a:ext cx="750" cy="4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3" name="Text Box 19"/>
            <p:cNvSpPr txBox="1">
              <a:spLocks noChangeArrowheads="1"/>
            </p:cNvSpPr>
            <p:nvPr/>
          </p:nvSpPr>
          <p:spPr bwMode="auto">
            <a:xfrm>
              <a:off x="8070" y="3043"/>
              <a:ext cx="1200" cy="6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CN" sz="1200">
                  <a:latin typeface="Times New Roman" panose="02020603050405020304" pitchFamily="18" charset="0"/>
                </a:rPr>
                <a:t>VSB</a:t>
              </a:r>
              <a:endParaRPr lang="en-US" altLang="en-US">
                <a:latin typeface="Verdana" panose="020B060403050404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38537" y="4222376"/>
                <a:ext cx="8613914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Transmission bandwidth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where </a:t>
                </a:r>
                <a:r>
                  <a:rPr lang="en-US" sz="2400" i="1" dirty="0" err="1"/>
                  <a:t>f</a:t>
                </a:r>
                <a:r>
                  <a:rPr lang="en-US" sz="2400" i="1" baseline="-25000" dirty="0" err="1"/>
                  <a:t>v</a:t>
                </a:r>
                <a:r>
                  <a:rPr lang="en-US" sz="2400" dirty="0"/>
                  <a:t> is the vestige bandwidth and </a:t>
                </a:r>
                <a:r>
                  <a:rPr lang="en-US" sz="2400" i="1" dirty="0"/>
                  <a:t>W</a:t>
                </a:r>
                <a:r>
                  <a:rPr lang="en-US" sz="2400" dirty="0"/>
                  <a:t> is the message bandwidth</a:t>
                </a:r>
              </a:p>
              <a:p>
                <a:r>
                  <a:rPr lang="en-US" sz="2400" i="1" dirty="0" err="1"/>
                  <a:t>f</a:t>
                </a:r>
                <a:r>
                  <a:rPr lang="en-US" sz="2400" i="1" baseline="-25000" dirty="0" err="1"/>
                  <a:t>v</a:t>
                </a:r>
                <a:r>
                  <a:rPr lang="en-US" sz="2400" dirty="0"/>
                  <a:t> is usually 25 % of </a:t>
                </a:r>
                <a:r>
                  <a:rPr lang="en-US" sz="2400" i="1" dirty="0"/>
                  <a:t>W</a:t>
                </a:r>
                <a:r>
                  <a:rPr lang="en-US" sz="2400" dirty="0"/>
                  <a:t> </a:t>
                </a:r>
                <a:r>
                  <a:rPr lang="en-US" sz="2400" dirty="0">
                    <a:sym typeface="Wingdings" panose="05000000000000000000" pitchFamily="2" charset="2"/>
                  </a:rPr>
                  <a:t> VSB lies between SSB bandwidth </a:t>
                </a:r>
                <a:r>
                  <a:rPr lang="en-US" sz="2400" i="1" dirty="0">
                    <a:sym typeface="Wingdings" panose="05000000000000000000" pitchFamily="2" charset="2"/>
                  </a:rPr>
                  <a:t>W</a:t>
                </a:r>
                <a:r>
                  <a:rPr lang="en-US" sz="2400" dirty="0">
                    <a:sym typeface="Wingdings" panose="05000000000000000000" pitchFamily="2" charset="2"/>
                  </a:rPr>
                  <a:t> and DSB-SC, 2</a:t>
                </a:r>
                <a:r>
                  <a:rPr lang="en-US" sz="2400" i="1" dirty="0">
                    <a:sym typeface="Wingdings" panose="05000000000000000000" pitchFamily="2" charset="2"/>
                  </a:rPr>
                  <a:t>W.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37" y="4222376"/>
                <a:ext cx="8613914" cy="1938992"/>
              </a:xfrm>
              <a:prstGeom prst="rect">
                <a:avLst/>
              </a:prstGeom>
              <a:blipFill>
                <a:blip r:embed="rId3"/>
                <a:stretch>
                  <a:fillRect l="-1062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883065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Demodulation of VSB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80" y="2155864"/>
            <a:ext cx="7239627" cy="3071126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7670810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VSB &amp; SSB-SC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Vestigial sideband (VSB) modulation distinguishes itself from SSB modulation in two practical</a:t>
            </a:r>
            <a:br>
              <a:rPr lang="en-US" dirty="0"/>
            </a:br>
            <a:r>
              <a:rPr lang="en-US" dirty="0"/>
              <a:t>respects: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Instead of completely removing a sideband, a trace or vestige of that sideband is transmitted; 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Instead of transmitting the other sideband in full, almost the whole of this second band is</a:t>
            </a:r>
            <a:br>
              <a:rPr lang="en-US" dirty="0"/>
            </a:br>
            <a:r>
              <a:rPr lang="en-US" dirty="0"/>
              <a:t>also transmitted.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5027898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Conventional 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25" y="1724563"/>
            <a:ext cx="8821737" cy="3951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575100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3647</TotalTime>
  <Words>5731</Words>
  <Application>Microsoft Office PowerPoint</Application>
  <PresentationFormat>On-screen Show (4:3)</PresentationFormat>
  <Paragraphs>571</Paragraphs>
  <Slides>81</Slides>
  <Notes>47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81</vt:i4>
      </vt:variant>
    </vt:vector>
  </HeadingPairs>
  <TitlesOfParts>
    <vt:vector size="98" baseType="lpstr">
      <vt:lpstr>NimbusRomNo9L-Medi</vt:lpstr>
      <vt:lpstr>NimbusRomNo9L-Regu</vt:lpstr>
      <vt:lpstr>SimSun</vt:lpstr>
      <vt:lpstr>Arial</vt:lpstr>
      <vt:lpstr>Calibri</vt:lpstr>
      <vt:lpstr>Calibri Light</vt:lpstr>
      <vt:lpstr>Cambria Math</vt:lpstr>
      <vt:lpstr>Comic Sans MS</vt:lpstr>
      <vt:lpstr>Symbol</vt:lpstr>
      <vt:lpstr>Tahoma</vt:lpstr>
      <vt:lpstr>Times New Roman</vt:lpstr>
      <vt:lpstr>Verdana</vt:lpstr>
      <vt:lpstr>Wingdings</vt:lpstr>
      <vt:lpstr>Retrospect</vt:lpstr>
      <vt:lpstr>Equation</vt:lpstr>
      <vt:lpstr>Visio</vt:lpstr>
      <vt:lpstr>수식</vt:lpstr>
      <vt:lpstr>PowerPoint Presentation</vt:lpstr>
      <vt:lpstr>University of Energy and Natural Resources, Sunyani   Dept. of Computer &amp; Electrical Eng.   ELNG 307 – ANALOG AND DIGITAL COMMUNICATIONS</vt:lpstr>
      <vt:lpstr>Chapter 4 – Linear Modulation Fundamental</vt:lpstr>
      <vt:lpstr>PowerPoint Presentation</vt:lpstr>
      <vt:lpstr>PowerPoint Presentation</vt:lpstr>
      <vt:lpstr>Amplitude modulation (AM)</vt:lpstr>
      <vt:lpstr>Amplitude modulation (AM)</vt:lpstr>
      <vt:lpstr>Amplitude modulation (AM)</vt:lpstr>
      <vt:lpstr>Amplitude modulation (AM)</vt:lpstr>
      <vt:lpstr>Amplitude modulation (AM)</vt:lpstr>
      <vt:lpstr>PowerPoint Presentation</vt:lpstr>
      <vt:lpstr>Example</vt:lpstr>
      <vt:lpstr>Example</vt:lpstr>
      <vt:lpstr>AM modulation index</vt:lpstr>
      <vt:lpstr>PowerPoint Presentation</vt:lpstr>
      <vt:lpstr>AM modulation index using envelope</vt:lpstr>
      <vt:lpstr>AM modulation index</vt:lpstr>
      <vt:lpstr>AM power and efficiency</vt:lpstr>
      <vt:lpstr>AM power and efficiency</vt:lpstr>
      <vt:lpstr>AM power and efficiency</vt:lpstr>
      <vt:lpstr>Example 4.2 pg 85</vt:lpstr>
      <vt:lpstr>Example 4.3 pg 86</vt:lpstr>
      <vt:lpstr>Example 4.4 pg 87</vt:lpstr>
      <vt:lpstr>Generation of ordinary AM wave</vt:lpstr>
      <vt:lpstr>Generation of ordinary AM wave</vt:lpstr>
      <vt:lpstr>Generation of ordinary AM wave</vt:lpstr>
      <vt:lpstr>Generation of ordinary AM wave</vt:lpstr>
      <vt:lpstr>Generation of ordinary AM wave</vt:lpstr>
      <vt:lpstr>Generation of ordinary AM wave</vt:lpstr>
      <vt:lpstr>Switching modulator</vt:lpstr>
      <vt:lpstr>Switching modulator</vt:lpstr>
      <vt:lpstr>Switching modulator</vt:lpstr>
      <vt:lpstr>Demodulation of conventional AM signal</vt:lpstr>
      <vt:lpstr>Demodulation of conventional AM signal</vt:lpstr>
      <vt:lpstr>Demodulation of conventional AM signal</vt:lpstr>
      <vt:lpstr>Demodulation of conventional AM signal</vt:lpstr>
      <vt:lpstr>Advantages, disadvantages and applications of AM</vt:lpstr>
      <vt:lpstr>DSB-SC Modulation</vt:lpstr>
      <vt:lpstr>DSB-SC Modulation</vt:lpstr>
      <vt:lpstr>DSB-SC Modulation</vt:lpstr>
      <vt:lpstr>Bandwidth requirement of DSB-SC</vt:lpstr>
      <vt:lpstr>Bandwidth requirement of DSB-SC</vt:lpstr>
      <vt:lpstr>Bandwidth requirement of DSB-SC</vt:lpstr>
      <vt:lpstr>Example 4.1 pg 68</vt:lpstr>
      <vt:lpstr>Power content of DSB-SC</vt:lpstr>
      <vt:lpstr>Power content of DSB-SC</vt:lpstr>
      <vt:lpstr>Power content of DSB-SC</vt:lpstr>
      <vt:lpstr>Example 4.2 pg 70</vt:lpstr>
      <vt:lpstr>Self-check</vt:lpstr>
      <vt:lpstr>Self-check</vt:lpstr>
      <vt:lpstr>Generation (modulation) of DSB-SC</vt:lpstr>
      <vt:lpstr>Generation (modulation) of DSB-SC</vt:lpstr>
      <vt:lpstr>Generation (modulation) of DSB-SC</vt:lpstr>
      <vt:lpstr>Generation (modulation) of DSB-SC</vt:lpstr>
      <vt:lpstr>Generation (modulation) of DSB-SC</vt:lpstr>
      <vt:lpstr>Generation (modulation) of DSB-SC</vt:lpstr>
      <vt:lpstr>Generation (modulation) of DSB-SC</vt:lpstr>
      <vt:lpstr>Generation (modulation) of DSB-SC</vt:lpstr>
      <vt:lpstr>Demodulation of DSB-SC</vt:lpstr>
      <vt:lpstr>DSB-SC Advantages &amp; disadvantages</vt:lpstr>
      <vt:lpstr>Example 4.3 pg 78</vt:lpstr>
      <vt:lpstr>Single-Sideband (SSB-SC) AM</vt:lpstr>
      <vt:lpstr>Single-Sideband (SSB-SC) AM</vt:lpstr>
      <vt:lpstr>Single-Sideband (SSB) AM</vt:lpstr>
      <vt:lpstr>Generation of SSB-SC</vt:lpstr>
      <vt:lpstr>Generation SSB-SC – filtering method</vt:lpstr>
      <vt:lpstr>Single-Sideband (SSB) AM</vt:lpstr>
      <vt:lpstr>Example </vt:lpstr>
      <vt:lpstr>Solution</vt:lpstr>
      <vt:lpstr>Solution</vt:lpstr>
      <vt:lpstr>Solution</vt:lpstr>
      <vt:lpstr>Solution</vt:lpstr>
      <vt:lpstr>Applications of SSB</vt:lpstr>
      <vt:lpstr>Advantages of SSB</vt:lpstr>
      <vt:lpstr>Disadvantages of SSB</vt:lpstr>
      <vt:lpstr>Vestigial sideband (VSB)</vt:lpstr>
      <vt:lpstr>Vestigial sideband (VSB)</vt:lpstr>
      <vt:lpstr>Vestigial sideband (VSB)</vt:lpstr>
      <vt:lpstr>Demodulation of VSB</vt:lpstr>
      <vt:lpstr>VSB &amp; SSB-SC</vt:lpstr>
      <vt:lpstr>Conventional 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Samuel Tweneboah-Koduah</dc:creator>
  <cp:lastModifiedBy>Samuel Tweneboah-Koduah</cp:lastModifiedBy>
  <cp:revision>45</cp:revision>
  <dcterms:created xsi:type="dcterms:W3CDTF">2016-09-16T21:31:29Z</dcterms:created>
  <dcterms:modified xsi:type="dcterms:W3CDTF">2016-10-20T12:34:54Z</dcterms:modified>
</cp:coreProperties>
</file>