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1460"/>
    <p:restoredTop sz="94547"/>
  </p:normalViewPr>
  <p:slideViewPr>
    <p:cSldViewPr snapToGrid="0" snapToObjects="1">
      <p:cViewPr>
        <p:scale>
          <a:sx n="94" d="100"/>
          <a:sy n="94" d="100"/>
        </p:scale>
        <p:origin x="2072" y="3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EC5326-596D-194F-BA7E-2A0FDAA7BF20}" type="datetimeFigureOut">
              <a:rPr lang="en-GH" smtClean="0"/>
              <a:t>26/08/2021</a:t>
            </a:fld>
            <a:endParaRPr lang="en-G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CDE2C2-E9E4-E04A-B0E4-3F6CCD11EA40}" type="slidenum">
              <a:rPr lang="en-GH" smtClean="0"/>
              <a:t>‹#›</a:t>
            </a:fld>
            <a:endParaRPr lang="en-GH"/>
          </a:p>
        </p:txBody>
      </p:sp>
    </p:spTree>
    <p:extLst>
      <p:ext uri="{BB962C8B-B14F-4D97-AF65-F5344CB8AC3E}">
        <p14:creationId xmlns:p14="http://schemas.microsoft.com/office/powerpoint/2010/main" val="2714691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Date Placeholder 6"/>
          <p:cNvSpPr>
            <a:spLocks noGrp="1"/>
          </p:cNvSpPr>
          <p:nvPr>
            <p:ph type="dt" sz="half" idx="10"/>
          </p:nvPr>
        </p:nvSpPr>
        <p:spPr/>
        <p:txBody>
          <a:bodyPr/>
          <a:lstStyle/>
          <a:p>
            <a:fld id="{2A832532-3B17-5749-A84B-A43934EC6B91}" type="datetime1">
              <a:rPr lang="en-US" smtClean="0"/>
              <a:t>8/26/21</a:t>
            </a:fld>
            <a:endParaRPr lang="en-GH"/>
          </a:p>
        </p:txBody>
      </p:sp>
      <p:sp>
        <p:nvSpPr>
          <p:cNvPr id="8" name="Footer Placeholder 7"/>
          <p:cNvSpPr>
            <a:spLocks noGrp="1"/>
          </p:cNvSpPr>
          <p:nvPr>
            <p:ph type="ftr" sz="quarter" idx="11"/>
          </p:nvPr>
        </p:nvSpPr>
        <p:spPr/>
        <p:txBody>
          <a:bodyPr/>
          <a:lstStyle/>
          <a:p>
            <a:endParaRPr lang="en-GH"/>
          </a:p>
        </p:txBody>
      </p:sp>
      <p:sp>
        <p:nvSpPr>
          <p:cNvPr id="9" name="Slide Number Placeholder 8"/>
          <p:cNvSpPr>
            <a:spLocks noGrp="1"/>
          </p:cNvSpPr>
          <p:nvPr>
            <p:ph type="sldNum" sz="quarter" idx="12"/>
          </p:nvPr>
        </p:nvSpPr>
        <p:spPr/>
        <p:txBody>
          <a:bodyPr/>
          <a:lstStyle/>
          <a:p>
            <a:fld id="{DC9343CD-AD41-EB41-8188-98BA88D5B910}" type="slidenum">
              <a:rPr lang="en-GH" smtClean="0"/>
              <a:t>‹#›</a:t>
            </a:fld>
            <a:endParaRPr lang="en-GH"/>
          </a:p>
        </p:txBody>
      </p:sp>
    </p:spTree>
    <p:extLst>
      <p:ext uri="{BB962C8B-B14F-4D97-AF65-F5344CB8AC3E}">
        <p14:creationId xmlns:p14="http://schemas.microsoft.com/office/powerpoint/2010/main" val="44790497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576BA0F-726D-274D-A8EE-81D41A8DB865}" type="datetime1">
              <a:rPr lang="en-US" smtClean="0"/>
              <a:t>8/26/21</a:t>
            </a:fld>
            <a:endParaRPr lang="en-GH"/>
          </a:p>
        </p:txBody>
      </p:sp>
      <p:sp>
        <p:nvSpPr>
          <p:cNvPr id="8" name="Footer Placeholder 7"/>
          <p:cNvSpPr>
            <a:spLocks noGrp="1"/>
          </p:cNvSpPr>
          <p:nvPr>
            <p:ph type="ftr" sz="quarter" idx="11"/>
          </p:nvPr>
        </p:nvSpPr>
        <p:spPr/>
        <p:txBody>
          <a:bodyPr/>
          <a:lstStyle/>
          <a:p>
            <a:endParaRPr lang="en-GH"/>
          </a:p>
        </p:txBody>
      </p:sp>
      <p:sp>
        <p:nvSpPr>
          <p:cNvPr id="9" name="Slide Number Placeholder 8"/>
          <p:cNvSpPr>
            <a:spLocks noGrp="1"/>
          </p:cNvSpPr>
          <p:nvPr>
            <p:ph type="sldNum" sz="quarter" idx="12"/>
          </p:nvPr>
        </p:nvSpPr>
        <p:spPr/>
        <p:txBody>
          <a:bodyPr/>
          <a:lstStyle/>
          <a:p>
            <a:fld id="{DC9343CD-AD41-EB41-8188-98BA88D5B910}" type="slidenum">
              <a:rPr lang="en-GH" smtClean="0"/>
              <a:t>‹#›</a:t>
            </a:fld>
            <a:endParaRPr lang="en-GH"/>
          </a:p>
        </p:txBody>
      </p:sp>
    </p:spTree>
    <p:extLst>
      <p:ext uri="{BB962C8B-B14F-4D97-AF65-F5344CB8AC3E}">
        <p14:creationId xmlns:p14="http://schemas.microsoft.com/office/powerpoint/2010/main" val="3517059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p:txBody>
          <a:bodyPr/>
          <a:lstStyle/>
          <a:p>
            <a:fld id="{AB9ADD98-8B7C-7646-A976-0652C4FC5003}" type="datetime1">
              <a:rPr lang="en-US" smtClean="0"/>
              <a:t>8/26/21</a:t>
            </a:fld>
            <a:endParaRPr lang="en-GH"/>
          </a:p>
        </p:txBody>
      </p:sp>
      <p:sp>
        <p:nvSpPr>
          <p:cNvPr id="8" name="Footer Placeholder 7"/>
          <p:cNvSpPr>
            <a:spLocks noGrp="1"/>
          </p:cNvSpPr>
          <p:nvPr>
            <p:ph type="ftr" sz="quarter" idx="11"/>
          </p:nvPr>
        </p:nvSpPr>
        <p:spPr/>
        <p:txBody>
          <a:bodyPr/>
          <a:lstStyle/>
          <a:p>
            <a:endParaRPr lang="en-GH"/>
          </a:p>
        </p:txBody>
      </p:sp>
      <p:sp>
        <p:nvSpPr>
          <p:cNvPr id="9" name="Slide Number Placeholder 8"/>
          <p:cNvSpPr>
            <a:spLocks noGrp="1"/>
          </p:cNvSpPr>
          <p:nvPr>
            <p:ph type="sldNum" sz="quarter" idx="12"/>
          </p:nvPr>
        </p:nvSpPr>
        <p:spPr/>
        <p:txBody>
          <a:bodyPr/>
          <a:lstStyle/>
          <a:p>
            <a:fld id="{DC9343CD-AD41-EB41-8188-98BA88D5B910}" type="slidenum">
              <a:rPr lang="en-GH" smtClean="0"/>
              <a:t>‹#›</a:t>
            </a:fld>
            <a:endParaRPr lang="en-GH"/>
          </a:p>
        </p:txBody>
      </p:sp>
    </p:spTree>
    <p:extLst>
      <p:ext uri="{BB962C8B-B14F-4D97-AF65-F5344CB8AC3E}">
        <p14:creationId xmlns:p14="http://schemas.microsoft.com/office/powerpoint/2010/main" val="273855776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F73673E4-F32A-F742-8781-EDF8708CC69C}" type="datetime1">
              <a:rPr lang="en-US" smtClean="0"/>
              <a:t>8/26/21</a:t>
            </a:fld>
            <a:endParaRPr lang="en-GH"/>
          </a:p>
        </p:txBody>
      </p:sp>
      <p:sp>
        <p:nvSpPr>
          <p:cNvPr id="9" name="Footer Placeholder 8"/>
          <p:cNvSpPr>
            <a:spLocks noGrp="1"/>
          </p:cNvSpPr>
          <p:nvPr>
            <p:ph type="ftr" sz="quarter" idx="11"/>
          </p:nvPr>
        </p:nvSpPr>
        <p:spPr/>
        <p:txBody>
          <a:bodyPr/>
          <a:lstStyle/>
          <a:p>
            <a:endParaRPr lang="en-GH"/>
          </a:p>
        </p:txBody>
      </p:sp>
      <p:sp>
        <p:nvSpPr>
          <p:cNvPr id="10" name="Slide Number Placeholder 9"/>
          <p:cNvSpPr>
            <a:spLocks noGrp="1"/>
          </p:cNvSpPr>
          <p:nvPr>
            <p:ph type="sldNum" sz="quarter" idx="12"/>
          </p:nvPr>
        </p:nvSpPr>
        <p:spPr/>
        <p:txBody>
          <a:bodyPr/>
          <a:lstStyle/>
          <a:p>
            <a:fld id="{DC9343CD-AD41-EB41-8188-98BA88D5B910}" type="slidenum">
              <a:rPr lang="en-GH" smtClean="0"/>
              <a:t>‹#›</a:t>
            </a:fld>
            <a:endParaRPr lang="en-GH"/>
          </a:p>
        </p:txBody>
      </p:sp>
    </p:spTree>
    <p:extLst>
      <p:ext uri="{BB962C8B-B14F-4D97-AF65-F5344CB8AC3E}">
        <p14:creationId xmlns:p14="http://schemas.microsoft.com/office/powerpoint/2010/main" val="1387597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Date Placeholder 6"/>
          <p:cNvSpPr>
            <a:spLocks noGrp="1"/>
          </p:cNvSpPr>
          <p:nvPr>
            <p:ph type="dt" sz="half" idx="10"/>
          </p:nvPr>
        </p:nvSpPr>
        <p:spPr/>
        <p:txBody>
          <a:bodyPr/>
          <a:lstStyle/>
          <a:p>
            <a:fld id="{C9CC09B4-1F6B-444F-8648-956140875EC4}" type="datetime1">
              <a:rPr lang="en-US" smtClean="0"/>
              <a:t>8/26/21</a:t>
            </a:fld>
            <a:endParaRPr lang="en-GH"/>
          </a:p>
        </p:txBody>
      </p:sp>
      <p:sp>
        <p:nvSpPr>
          <p:cNvPr id="8" name="Footer Placeholder 7"/>
          <p:cNvSpPr>
            <a:spLocks noGrp="1"/>
          </p:cNvSpPr>
          <p:nvPr>
            <p:ph type="ftr" sz="quarter" idx="11"/>
          </p:nvPr>
        </p:nvSpPr>
        <p:spPr/>
        <p:txBody>
          <a:bodyPr/>
          <a:lstStyle/>
          <a:p>
            <a:endParaRPr lang="en-GH"/>
          </a:p>
        </p:txBody>
      </p:sp>
      <p:sp>
        <p:nvSpPr>
          <p:cNvPr id="9" name="Slide Number Placeholder 8"/>
          <p:cNvSpPr>
            <a:spLocks noGrp="1"/>
          </p:cNvSpPr>
          <p:nvPr>
            <p:ph type="sldNum" sz="quarter" idx="12"/>
          </p:nvPr>
        </p:nvSpPr>
        <p:spPr/>
        <p:txBody>
          <a:bodyPr/>
          <a:lstStyle/>
          <a:p>
            <a:fld id="{DC9343CD-AD41-EB41-8188-98BA88D5B910}" type="slidenum">
              <a:rPr lang="en-GH" smtClean="0"/>
              <a:t>‹#›</a:t>
            </a:fld>
            <a:endParaRPr lang="en-GH"/>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2627551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AA738142-E95D-CC40-AF01-35BC655D50EA}" type="datetime1">
              <a:rPr lang="en-US" smtClean="0"/>
              <a:t>8/26/21</a:t>
            </a:fld>
            <a:endParaRPr lang="en-GH"/>
          </a:p>
        </p:txBody>
      </p:sp>
      <p:sp>
        <p:nvSpPr>
          <p:cNvPr id="4" name="Footer Placeholder 3"/>
          <p:cNvSpPr>
            <a:spLocks noGrp="1"/>
          </p:cNvSpPr>
          <p:nvPr>
            <p:ph type="ftr" sz="quarter" idx="11"/>
          </p:nvPr>
        </p:nvSpPr>
        <p:spPr/>
        <p:txBody>
          <a:bodyPr/>
          <a:lstStyle/>
          <a:p>
            <a:endParaRPr lang="en-GH"/>
          </a:p>
        </p:txBody>
      </p:sp>
      <p:sp>
        <p:nvSpPr>
          <p:cNvPr id="5" name="Slide Number Placeholder 4"/>
          <p:cNvSpPr>
            <a:spLocks noGrp="1"/>
          </p:cNvSpPr>
          <p:nvPr>
            <p:ph type="sldNum" sz="quarter" idx="12"/>
          </p:nvPr>
        </p:nvSpPr>
        <p:spPr/>
        <p:txBody>
          <a:bodyPr/>
          <a:lstStyle/>
          <a:p>
            <a:fld id="{DC9343CD-AD41-EB41-8188-98BA88D5B910}" type="slidenum">
              <a:rPr lang="en-GH" smtClean="0"/>
              <a:t>‹#›</a:t>
            </a:fld>
            <a:endParaRPr lang="en-GH"/>
          </a:p>
        </p:txBody>
      </p:sp>
    </p:spTree>
    <p:extLst>
      <p:ext uri="{BB962C8B-B14F-4D97-AF65-F5344CB8AC3E}">
        <p14:creationId xmlns:p14="http://schemas.microsoft.com/office/powerpoint/2010/main" val="1793565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D0BDCE-7DC3-664D-9382-1023266571FA}" type="datetime1">
              <a:rPr lang="en-US" smtClean="0"/>
              <a:t>8/26/21</a:t>
            </a:fld>
            <a:endParaRPr lang="en-GH"/>
          </a:p>
        </p:txBody>
      </p:sp>
      <p:sp>
        <p:nvSpPr>
          <p:cNvPr id="3" name="Footer Placeholder 2"/>
          <p:cNvSpPr>
            <a:spLocks noGrp="1"/>
          </p:cNvSpPr>
          <p:nvPr>
            <p:ph type="ftr" sz="quarter" idx="11"/>
          </p:nvPr>
        </p:nvSpPr>
        <p:spPr/>
        <p:txBody>
          <a:bodyPr/>
          <a:lstStyle/>
          <a:p>
            <a:endParaRPr lang="en-GH"/>
          </a:p>
        </p:txBody>
      </p:sp>
      <p:sp>
        <p:nvSpPr>
          <p:cNvPr id="4" name="Slide Number Placeholder 3"/>
          <p:cNvSpPr>
            <a:spLocks noGrp="1"/>
          </p:cNvSpPr>
          <p:nvPr>
            <p:ph type="sldNum" sz="quarter" idx="12"/>
          </p:nvPr>
        </p:nvSpPr>
        <p:spPr/>
        <p:txBody>
          <a:bodyPr/>
          <a:lstStyle/>
          <a:p>
            <a:fld id="{DC9343CD-AD41-EB41-8188-98BA88D5B910}" type="slidenum">
              <a:rPr lang="en-GH" smtClean="0"/>
              <a:t>‹#›</a:t>
            </a:fld>
            <a:endParaRPr lang="en-GH"/>
          </a:p>
        </p:txBody>
      </p:sp>
    </p:spTree>
    <p:extLst>
      <p:ext uri="{BB962C8B-B14F-4D97-AF65-F5344CB8AC3E}">
        <p14:creationId xmlns:p14="http://schemas.microsoft.com/office/powerpoint/2010/main" val="834849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Date Placeholder 8"/>
          <p:cNvSpPr>
            <a:spLocks noGrp="1"/>
          </p:cNvSpPr>
          <p:nvPr>
            <p:ph type="dt" sz="half" idx="10"/>
          </p:nvPr>
        </p:nvSpPr>
        <p:spPr/>
        <p:txBody>
          <a:bodyPr/>
          <a:lstStyle/>
          <a:p>
            <a:fld id="{E561C7F3-178F-1647-817C-3BD7356D325D}" type="datetime1">
              <a:rPr lang="en-US" smtClean="0"/>
              <a:t>8/26/21</a:t>
            </a:fld>
            <a:endParaRPr lang="en-GH"/>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GH"/>
          </a:p>
        </p:txBody>
      </p:sp>
      <p:sp>
        <p:nvSpPr>
          <p:cNvPr id="11" name="Slide Number Placeholder 10"/>
          <p:cNvSpPr>
            <a:spLocks noGrp="1"/>
          </p:cNvSpPr>
          <p:nvPr>
            <p:ph type="sldNum" sz="quarter" idx="12"/>
          </p:nvPr>
        </p:nvSpPr>
        <p:spPr/>
        <p:txBody>
          <a:bodyPr/>
          <a:lstStyle/>
          <a:p>
            <a:fld id="{DC9343CD-AD41-EB41-8188-98BA88D5B910}" type="slidenum">
              <a:rPr lang="en-GH" smtClean="0"/>
              <a:t>‹#›</a:t>
            </a:fld>
            <a:endParaRPr lang="en-GH"/>
          </a:p>
        </p:txBody>
      </p:sp>
    </p:spTree>
    <p:extLst>
      <p:ext uri="{BB962C8B-B14F-4D97-AF65-F5344CB8AC3E}">
        <p14:creationId xmlns:p14="http://schemas.microsoft.com/office/powerpoint/2010/main" val="4192159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27A6070-2020-AE4C-B88B-B095AD3C812A}" type="datetime1">
              <a:rPr lang="en-US" smtClean="0"/>
              <a:t>8/26/21</a:t>
            </a:fld>
            <a:endParaRPr lang="en-GH"/>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GH"/>
          </a:p>
        </p:txBody>
      </p:sp>
      <p:sp>
        <p:nvSpPr>
          <p:cNvPr id="10" name="Slide Number Placeholder 9"/>
          <p:cNvSpPr>
            <a:spLocks noGrp="1"/>
          </p:cNvSpPr>
          <p:nvPr>
            <p:ph type="sldNum" sz="quarter" idx="12"/>
          </p:nvPr>
        </p:nvSpPr>
        <p:spPr/>
        <p:txBody>
          <a:bodyPr/>
          <a:lstStyle/>
          <a:p>
            <a:fld id="{DC9343CD-AD41-EB41-8188-98BA88D5B910}" type="slidenum">
              <a:rPr lang="en-GH" smtClean="0"/>
              <a:t>‹#›</a:t>
            </a:fld>
            <a:endParaRPr lang="en-GH"/>
          </a:p>
        </p:txBody>
      </p:sp>
    </p:spTree>
    <p:extLst>
      <p:ext uri="{BB962C8B-B14F-4D97-AF65-F5344CB8AC3E}">
        <p14:creationId xmlns:p14="http://schemas.microsoft.com/office/powerpoint/2010/main" val="4183700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A082143-A5FC-0347-9549-7138252A95A0}" type="datetime1">
              <a:rPr lang="en-US" smtClean="0"/>
              <a:t>8/26/21</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DC9343CD-AD41-EB41-8188-98BA88D5B910}" type="slidenum">
              <a:rPr lang="en-GH" smtClean="0"/>
              <a:t>‹#›</a:t>
            </a:fld>
            <a:endParaRPr lang="en-GH"/>
          </a:p>
        </p:txBody>
      </p:sp>
    </p:spTree>
    <p:extLst>
      <p:ext uri="{BB962C8B-B14F-4D97-AF65-F5344CB8AC3E}">
        <p14:creationId xmlns:p14="http://schemas.microsoft.com/office/powerpoint/2010/main" val="4193968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BFEA9D2-E86E-6F45-8C04-F242AF9200ED}" type="datetime1">
              <a:rPr lang="en-US" smtClean="0"/>
              <a:t>8/26/21</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DC9343CD-AD41-EB41-8188-98BA88D5B910}" type="slidenum">
              <a:rPr lang="en-GH" smtClean="0"/>
              <a:t>‹#›</a:t>
            </a:fld>
            <a:endParaRPr lang="en-GH"/>
          </a:p>
        </p:txBody>
      </p:sp>
    </p:spTree>
    <p:extLst>
      <p:ext uri="{BB962C8B-B14F-4D97-AF65-F5344CB8AC3E}">
        <p14:creationId xmlns:p14="http://schemas.microsoft.com/office/powerpoint/2010/main" val="3246694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287BA857-163E-ED4D-B0A0-C4E218313218}" type="datetime1">
              <a:rPr lang="en-US" smtClean="0"/>
              <a:t>8/26/21</a:t>
            </a:fld>
            <a:endParaRPr lang="en-GH"/>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GH"/>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DC9343CD-AD41-EB41-8188-98BA88D5B910}" type="slidenum">
              <a:rPr lang="en-GH" smtClean="0"/>
              <a:t>‹#›</a:t>
            </a:fld>
            <a:endParaRPr lang="en-GH"/>
          </a:p>
        </p:txBody>
      </p:sp>
    </p:spTree>
    <p:extLst>
      <p:ext uri="{BB962C8B-B14F-4D97-AF65-F5344CB8AC3E}">
        <p14:creationId xmlns:p14="http://schemas.microsoft.com/office/powerpoint/2010/main" val="110009558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image" Target="../media/image11.tiff"/><Relationship Id="rId1" Type="http://schemas.openxmlformats.org/officeDocument/2006/relationships/slideLayout" Target="../slideLayouts/slideLayout2.xml"/><Relationship Id="rId5" Type="http://schemas.openxmlformats.org/officeDocument/2006/relationships/image" Target="../media/image14.tiff"/><Relationship Id="rId4" Type="http://schemas.openxmlformats.org/officeDocument/2006/relationships/image" Target="../media/image13.tiff"/></Relationships>
</file>

<file path=ppt/slides/_rels/slide15.xml.rels><?xml version="1.0" encoding="UTF-8" standalone="yes"?>
<Relationships xmlns="http://schemas.openxmlformats.org/package/2006/relationships"><Relationship Id="rId2" Type="http://schemas.openxmlformats.org/officeDocument/2006/relationships/image" Target="../media/image15.tif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38EC0-8AE9-DB41-8FAD-37FF9906553D}"/>
              </a:ext>
            </a:extLst>
          </p:cNvPr>
          <p:cNvSpPr>
            <a:spLocks noGrp="1"/>
          </p:cNvSpPr>
          <p:nvPr>
            <p:ph type="ctrTitle"/>
          </p:nvPr>
        </p:nvSpPr>
        <p:spPr/>
        <p:txBody>
          <a:bodyPr>
            <a:normAutofit/>
          </a:bodyPr>
          <a:lstStyle/>
          <a:p>
            <a:r>
              <a:rPr lang="en-GH" dirty="0"/>
              <a:t>ELNG  406 – POWER SYSTEM PLANNING AND OPTIMIZATION</a:t>
            </a:r>
          </a:p>
        </p:txBody>
      </p:sp>
      <p:sp>
        <p:nvSpPr>
          <p:cNvPr id="3" name="Subtitle 2">
            <a:extLst>
              <a:ext uri="{FF2B5EF4-FFF2-40B4-BE49-F238E27FC236}">
                <a16:creationId xmlns:a16="http://schemas.microsoft.com/office/drawing/2014/main" id="{4B5728FA-AA6C-5144-AC12-B736FCD3A37C}"/>
              </a:ext>
            </a:extLst>
          </p:cNvPr>
          <p:cNvSpPr>
            <a:spLocks noGrp="1"/>
          </p:cNvSpPr>
          <p:nvPr>
            <p:ph type="subTitle" idx="1"/>
          </p:nvPr>
        </p:nvSpPr>
        <p:spPr/>
        <p:txBody>
          <a:bodyPr>
            <a:normAutofit/>
          </a:bodyPr>
          <a:lstStyle/>
          <a:p>
            <a:r>
              <a:rPr lang="en-GH" sz="3200" dirty="0"/>
              <a:t>UNIT COMMINTMENT</a:t>
            </a:r>
          </a:p>
          <a:p>
            <a:r>
              <a:rPr lang="en-GH" dirty="0"/>
              <a:t>K. A. KYEREMEH</a:t>
            </a:r>
            <a:r>
              <a:rPr lang="en-GH" sz="3200" dirty="0"/>
              <a:t> </a:t>
            </a:r>
          </a:p>
        </p:txBody>
      </p:sp>
    </p:spTree>
    <p:extLst>
      <p:ext uri="{BB962C8B-B14F-4D97-AF65-F5344CB8AC3E}">
        <p14:creationId xmlns:p14="http://schemas.microsoft.com/office/powerpoint/2010/main" val="68679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0185-8C14-0744-9F0A-0716F783B75C}"/>
              </a:ext>
            </a:extLst>
          </p:cNvPr>
          <p:cNvSpPr>
            <a:spLocks noGrp="1"/>
          </p:cNvSpPr>
          <p:nvPr>
            <p:ph type="title"/>
          </p:nvPr>
        </p:nvSpPr>
        <p:spPr/>
        <p:txBody>
          <a:bodyPr/>
          <a:lstStyle/>
          <a:p>
            <a:r>
              <a:rPr lang="en-GH" dirty="0"/>
              <a:t>INTRODUCTION </a:t>
            </a:r>
          </a:p>
        </p:txBody>
      </p:sp>
      <p:sp>
        <p:nvSpPr>
          <p:cNvPr id="3" name="Content Placeholder 2">
            <a:extLst>
              <a:ext uri="{FF2B5EF4-FFF2-40B4-BE49-F238E27FC236}">
                <a16:creationId xmlns:a16="http://schemas.microsoft.com/office/drawing/2014/main" id="{C1E2BBE2-9F8D-0149-B9D3-17A8C342E277}"/>
              </a:ext>
            </a:extLst>
          </p:cNvPr>
          <p:cNvSpPr>
            <a:spLocks noGrp="1"/>
          </p:cNvSpPr>
          <p:nvPr>
            <p:ph idx="1"/>
          </p:nvPr>
        </p:nvSpPr>
        <p:spPr/>
        <p:txBody>
          <a:bodyPr>
            <a:normAutofit/>
          </a:bodyPr>
          <a:lstStyle/>
          <a:p>
            <a:pPr marL="0" indent="0" algn="just">
              <a:lnSpc>
                <a:spcPct val="150000"/>
              </a:lnSpc>
              <a:buNone/>
            </a:pPr>
            <a:r>
              <a:rPr lang="en-GB" sz="2000" dirty="0"/>
              <a:t>Since generators cannot instantly turn on and produce power, unit commitment (UC) must be planned in advance so that enough generation is always available to handle system demand with an adequate reserve margin in the event that generators or transmission lines go out or load demand increases.</a:t>
            </a:r>
          </a:p>
          <a:p>
            <a:pPr algn="just">
              <a:lnSpc>
                <a:spcPct val="150000"/>
              </a:lnSpc>
            </a:pPr>
            <a:endParaRPr lang="en-GH" sz="2000" dirty="0"/>
          </a:p>
        </p:txBody>
      </p:sp>
      <p:sp>
        <p:nvSpPr>
          <p:cNvPr id="4" name="Slide Number Placeholder 3">
            <a:extLst>
              <a:ext uri="{FF2B5EF4-FFF2-40B4-BE49-F238E27FC236}">
                <a16:creationId xmlns:a16="http://schemas.microsoft.com/office/drawing/2014/main" id="{A9CEFE21-5A18-D14F-936C-5C17D4397D13}"/>
              </a:ext>
            </a:extLst>
          </p:cNvPr>
          <p:cNvSpPr>
            <a:spLocks noGrp="1"/>
          </p:cNvSpPr>
          <p:nvPr>
            <p:ph type="sldNum" sz="quarter" idx="12"/>
          </p:nvPr>
        </p:nvSpPr>
        <p:spPr/>
        <p:txBody>
          <a:bodyPr/>
          <a:lstStyle/>
          <a:p>
            <a:fld id="{DC9343CD-AD41-EB41-8188-98BA88D5B910}" type="slidenum">
              <a:rPr lang="en-GH" smtClean="0"/>
              <a:t>2</a:t>
            </a:fld>
            <a:endParaRPr lang="en-GH"/>
          </a:p>
        </p:txBody>
      </p:sp>
    </p:spTree>
    <p:extLst>
      <p:ext uri="{BB962C8B-B14F-4D97-AF65-F5344CB8AC3E}">
        <p14:creationId xmlns:p14="http://schemas.microsoft.com/office/powerpoint/2010/main" val="1380435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F6AD5-85A0-5D42-91E5-A89AF6CD400C}"/>
              </a:ext>
            </a:extLst>
          </p:cNvPr>
          <p:cNvSpPr>
            <a:spLocks noGrp="1"/>
          </p:cNvSpPr>
          <p:nvPr>
            <p:ph type="title"/>
          </p:nvPr>
        </p:nvSpPr>
        <p:spPr/>
        <p:txBody>
          <a:bodyPr/>
          <a:lstStyle/>
          <a:p>
            <a:r>
              <a:rPr lang="en-GH" dirty="0"/>
              <a:t>INTRODUCTION</a:t>
            </a:r>
          </a:p>
        </p:txBody>
      </p:sp>
      <p:sp>
        <p:nvSpPr>
          <p:cNvPr id="3" name="Content Placeholder 2">
            <a:extLst>
              <a:ext uri="{FF2B5EF4-FFF2-40B4-BE49-F238E27FC236}">
                <a16:creationId xmlns:a16="http://schemas.microsoft.com/office/drawing/2014/main" id="{483818FB-ACDB-6046-87FB-BB3736B24857}"/>
              </a:ext>
            </a:extLst>
          </p:cNvPr>
          <p:cNvSpPr>
            <a:spLocks noGrp="1"/>
          </p:cNvSpPr>
          <p:nvPr>
            <p:ph idx="1"/>
          </p:nvPr>
        </p:nvSpPr>
        <p:spPr/>
        <p:txBody>
          <a:bodyPr>
            <a:noAutofit/>
          </a:bodyPr>
          <a:lstStyle/>
          <a:p>
            <a:pPr algn="just">
              <a:lnSpc>
                <a:spcPct val="150000"/>
              </a:lnSpc>
            </a:pPr>
            <a:r>
              <a:rPr lang="en-GB" sz="2000" dirty="0"/>
              <a:t>Unit commitment handles the unit generation schedule in a power system for minimizing operating cost and satisfying prevailing constraints such as load demand and system reserve requirements over a set of time periods</a:t>
            </a:r>
          </a:p>
          <a:p>
            <a:pPr algn="just">
              <a:lnSpc>
                <a:spcPct val="150000"/>
              </a:lnSpc>
            </a:pPr>
            <a:r>
              <a:rPr lang="en-GB" sz="2000" dirty="0"/>
              <a:t>The classic UC problem is aimed at determining the start - up and shutdown schedules of thermal units to meet forecasted demand over certain time periods (24 h to 1 week) and belongs to a class of combinatorial optimization problems.</a:t>
            </a:r>
          </a:p>
          <a:p>
            <a:pPr algn="just">
              <a:lnSpc>
                <a:spcPct val="150000"/>
              </a:lnSpc>
            </a:pPr>
            <a:endParaRPr lang="en-GH" sz="2000" dirty="0"/>
          </a:p>
        </p:txBody>
      </p:sp>
      <p:sp>
        <p:nvSpPr>
          <p:cNvPr id="4" name="Slide Number Placeholder 3">
            <a:extLst>
              <a:ext uri="{FF2B5EF4-FFF2-40B4-BE49-F238E27FC236}">
                <a16:creationId xmlns:a16="http://schemas.microsoft.com/office/drawing/2014/main" id="{C24A2C5E-D08E-E946-A5C1-3DF355E0E426}"/>
              </a:ext>
            </a:extLst>
          </p:cNvPr>
          <p:cNvSpPr>
            <a:spLocks noGrp="1"/>
          </p:cNvSpPr>
          <p:nvPr>
            <p:ph type="sldNum" sz="quarter" idx="12"/>
          </p:nvPr>
        </p:nvSpPr>
        <p:spPr/>
        <p:txBody>
          <a:bodyPr/>
          <a:lstStyle/>
          <a:p>
            <a:fld id="{DC9343CD-AD41-EB41-8188-98BA88D5B910}" type="slidenum">
              <a:rPr lang="en-GH" smtClean="0"/>
              <a:t>3</a:t>
            </a:fld>
            <a:endParaRPr lang="en-GH"/>
          </a:p>
        </p:txBody>
      </p:sp>
    </p:spTree>
    <p:extLst>
      <p:ext uri="{BB962C8B-B14F-4D97-AF65-F5344CB8AC3E}">
        <p14:creationId xmlns:p14="http://schemas.microsoft.com/office/powerpoint/2010/main" val="36069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B1AA6-E544-3C4D-A54B-5F97F2677B12}"/>
              </a:ext>
            </a:extLst>
          </p:cNvPr>
          <p:cNvSpPr>
            <a:spLocks noGrp="1"/>
          </p:cNvSpPr>
          <p:nvPr>
            <p:ph type="title"/>
          </p:nvPr>
        </p:nvSpPr>
        <p:spPr/>
        <p:txBody>
          <a:bodyPr/>
          <a:lstStyle/>
          <a:p>
            <a:r>
              <a:rPr lang="en-GH" dirty="0"/>
              <a:t>METHODS FOR SOLVING UC	</a:t>
            </a:r>
          </a:p>
        </p:txBody>
      </p:sp>
      <p:sp>
        <p:nvSpPr>
          <p:cNvPr id="3" name="Content Placeholder 2">
            <a:extLst>
              <a:ext uri="{FF2B5EF4-FFF2-40B4-BE49-F238E27FC236}">
                <a16:creationId xmlns:a16="http://schemas.microsoft.com/office/drawing/2014/main" id="{7FEFA223-7A5A-C944-8219-9477430C8DBB}"/>
              </a:ext>
            </a:extLst>
          </p:cNvPr>
          <p:cNvSpPr>
            <a:spLocks noGrp="1"/>
          </p:cNvSpPr>
          <p:nvPr>
            <p:ph idx="1"/>
          </p:nvPr>
        </p:nvSpPr>
        <p:spPr/>
        <p:txBody>
          <a:bodyPr>
            <a:noAutofit/>
          </a:bodyPr>
          <a:lstStyle/>
          <a:p>
            <a:pPr algn="just">
              <a:lnSpc>
                <a:spcPct val="150000"/>
              </a:lnSpc>
            </a:pPr>
            <a:r>
              <a:rPr lang="en-GB" dirty="0"/>
              <a:t>The methods that have been studied so far fall into roughly three categories: heuristic search, mathematical programming, and hybrid methods.</a:t>
            </a:r>
          </a:p>
          <a:p>
            <a:pPr algn="just">
              <a:lnSpc>
                <a:spcPct val="150000"/>
              </a:lnSpc>
            </a:pPr>
            <a:r>
              <a:rPr lang="en-GB" dirty="0"/>
              <a:t>Optimization techniques such as the priority list, augmented </a:t>
            </a:r>
            <a:r>
              <a:rPr lang="en-GB" dirty="0" err="1"/>
              <a:t>Lagrangian</a:t>
            </a:r>
            <a:r>
              <a:rPr lang="en-GB" dirty="0"/>
              <a:t> relaxation, dynamic programming, and the branch – and – bound algorithm have been used to solve the classic UC problem.</a:t>
            </a:r>
          </a:p>
          <a:p>
            <a:pPr algn="just">
              <a:lnSpc>
                <a:spcPct val="150000"/>
              </a:lnSpc>
            </a:pPr>
            <a:r>
              <a:rPr lang="en-GB" dirty="0"/>
              <a:t>Genetic algorithms (GA), simulated annealing (SA), analytic hierarchy process (AHP), and particle swarm optimization (PSO) have also been used for UC problem since the beginning of the last decade.</a:t>
            </a:r>
          </a:p>
          <a:p>
            <a:pPr algn="just">
              <a:lnSpc>
                <a:spcPct val="150000"/>
              </a:lnSpc>
            </a:pPr>
            <a:endParaRPr lang="en-GB" dirty="0"/>
          </a:p>
          <a:p>
            <a:pPr algn="just">
              <a:lnSpc>
                <a:spcPct val="150000"/>
              </a:lnSpc>
            </a:pPr>
            <a:endParaRPr lang="en-GB" dirty="0"/>
          </a:p>
          <a:p>
            <a:pPr algn="just">
              <a:lnSpc>
                <a:spcPct val="150000"/>
              </a:lnSpc>
            </a:pPr>
            <a:endParaRPr lang="en-GH" dirty="0"/>
          </a:p>
        </p:txBody>
      </p:sp>
      <p:sp>
        <p:nvSpPr>
          <p:cNvPr id="4" name="Slide Number Placeholder 3">
            <a:extLst>
              <a:ext uri="{FF2B5EF4-FFF2-40B4-BE49-F238E27FC236}">
                <a16:creationId xmlns:a16="http://schemas.microsoft.com/office/drawing/2014/main" id="{A1C447A5-2765-914B-AD35-8FA50365E9D0}"/>
              </a:ext>
            </a:extLst>
          </p:cNvPr>
          <p:cNvSpPr>
            <a:spLocks noGrp="1"/>
          </p:cNvSpPr>
          <p:nvPr>
            <p:ph type="sldNum" sz="quarter" idx="12"/>
          </p:nvPr>
        </p:nvSpPr>
        <p:spPr/>
        <p:txBody>
          <a:bodyPr/>
          <a:lstStyle/>
          <a:p>
            <a:fld id="{DC9343CD-AD41-EB41-8188-98BA88D5B910}" type="slidenum">
              <a:rPr lang="en-GH" smtClean="0"/>
              <a:t>4</a:t>
            </a:fld>
            <a:endParaRPr lang="en-GH"/>
          </a:p>
        </p:txBody>
      </p:sp>
    </p:spTree>
    <p:extLst>
      <p:ext uri="{BB962C8B-B14F-4D97-AF65-F5344CB8AC3E}">
        <p14:creationId xmlns:p14="http://schemas.microsoft.com/office/powerpoint/2010/main" val="2070118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4FC14-3B72-8347-944A-59566298E3B3}"/>
              </a:ext>
            </a:extLst>
          </p:cNvPr>
          <p:cNvSpPr>
            <a:spLocks noGrp="1"/>
          </p:cNvSpPr>
          <p:nvPr>
            <p:ph type="title"/>
          </p:nvPr>
        </p:nvSpPr>
        <p:spPr/>
        <p:txBody>
          <a:bodyPr/>
          <a:lstStyle/>
          <a:p>
            <a:r>
              <a:rPr lang="en-GH" dirty="0"/>
              <a:t>pRIORITY METHOD</a:t>
            </a:r>
          </a:p>
        </p:txBody>
      </p:sp>
      <p:sp>
        <p:nvSpPr>
          <p:cNvPr id="3" name="Content Placeholder 2">
            <a:extLst>
              <a:ext uri="{FF2B5EF4-FFF2-40B4-BE49-F238E27FC236}">
                <a16:creationId xmlns:a16="http://schemas.microsoft.com/office/drawing/2014/main" id="{10BBA430-AE3E-DC4B-8C25-451AD144D588}"/>
              </a:ext>
            </a:extLst>
          </p:cNvPr>
          <p:cNvSpPr>
            <a:spLocks noGrp="1"/>
          </p:cNvSpPr>
          <p:nvPr>
            <p:ph idx="1"/>
          </p:nvPr>
        </p:nvSpPr>
        <p:spPr/>
        <p:txBody>
          <a:bodyPr>
            <a:noAutofit/>
          </a:bodyPr>
          <a:lstStyle/>
          <a:p>
            <a:pPr algn="just">
              <a:lnSpc>
                <a:spcPct val="150000"/>
              </a:lnSpc>
            </a:pPr>
            <a:r>
              <a:rPr lang="en-GB" sz="1900" dirty="0"/>
              <a:t>The classic UC problem is to minimize total operational cost and is subject to minimum up - and downtime constraints, crew constraints, unit capability limits, generation constraints, and reserve constraints.</a:t>
            </a:r>
          </a:p>
          <a:p>
            <a:pPr algn="just">
              <a:lnSpc>
                <a:spcPct val="150000"/>
              </a:lnSpc>
            </a:pPr>
            <a:r>
              <a:rPr lang="en-GB" sz="1900" dirty="0"/>
              <a:t>Thus the objective function of UC consists of the generation cost function and start - up cost function of the generators</a:t>
            </a:r>
          </a:p>
          <a:p>
            <a:pPr algn="just">
              <a:lnSpc>
                <a:spcPct val="150000"/>
              </a:lnSpc>
            </a:pPr>
            <a:r>
              <a:rPr lang="en-GB" sz="1900" dirty="0"/>
              <a:t>There are two types of start – up cost model: one is bringing the unit online from a cold start and the other is bringing it from bank status, in which the unit is turned off but still close to operating temperature.</a:t>
            </a:r>
          </a:p>
          <a:p>
            <a:pPr algn="just">
              <a:lnSpc>
                <a:spcPct val="150000"/>
              </a:lnSpc>
            </a:pPr>
            <a:endParaRPr lang="en-GB" sz="1900" dirty="0"/>
          </a:p>
          <a:p>
            <a:pPr algn="just">
              <a:lnSpc>
                <a:spcPct val="150000"/>
              </a:lnSpc>
            </a:pPr>
            <a:endParaRPr lang="en-GB" sz="1900" dirty="0"/>
          </a:p>
          <a:p>
            <a:pPr algn="just">
              <a:lnSpc>
                <a:spcPct val="150000"/>
              </a:lnSpc>
            </a:pPr>
            <a:endParaRPr lang="en-GH" sz="1900" dirty="0"/>
          </a:p>
        </p:txBody>
      </p:sp>
      <p:sp>
        <p:nvSpPr>
          <p:cNvPr id="4" name="Slide Number Placeholder 3">
            <a:extLst>
              <a:ext uri="{FF2B5EF4-FFF2-40B4-BE49-F238E27FC236}">
                <a16:creationId xmlns:a16="http://schemas.microsoft.com/office/drawing/2014/main" id="{44DD73DD-F7C6-1D4E-879C-FBD0886B7C4C}"/>
              </a:ext>
            </a:extLst>
          </p:cNvPr>
          <p:cNvSpPr>
            <a:spLocks noGrp="1"/>
          </p:cNvSpPr>
          <p:nvPr>
            <p:ph type="sldNum" sz="quarter" idx="12"/>
          </p:nvPr>
        </p:nvSpPr>
        <p:spPr/>
        <p:txBody>
          <a:bodyPr/>
          <a:lstStyle/>
          <a:p>
            <a:fld id="{DC9343CD-AD41-EB41-8188-98BA88D5B910}" type="slidenum">
              <a:rPr lang="en-GH" smtClean="0"/>
              <a:t>5</a:t>
            </a:fld>
            <a:endParaRPr lang="en-GH"/>
          </a:p>
        </p:txBody>
      </p:sp>
    </p:spTree>
    <p:extLst>
      <p:ext uri="{BB962C8B-B14F-4D97-AF65-F5344CB8AC3E}">
        <p14:creationId xmlns:p14="http://schemas.microsoft.com/office/powerpoint/2010/main" val="3136228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63756-4FA7-6B46-B5EE-C4E4E686AC8A}"/>
              </a:ext>
            </a:extLst>
          </p:cNvPr>
          <p:cNvSpPr>
            <a:spLocks noGrp="1"/>
          </p:cNvSpPr>
          <p:nvPr>
            <p:ph type="title"/>
          </p:nvPr>
        </p:nvSpPr>
        <p:spPr/>
        <p:txBody>
          <a:bodyPr/>
          <a:lstStyle/>
          <a:p>
            <a:r>
              <a:rPr lang="en-GH" dirty="0"/>
              <a:t>PRIORITY MEHTOD</a:t>
            </a:r>
          </a:p>
        </p:txBody>
      </p:sp>
      <p:sp>
        <p:nvSpPr>
          <p:cNvPr id="3" name="Content Placeholder 2">
            <a:extLst>
              <a:ext uri="{FF2B5EF4-FFF2-40B4-BE49-F238E27FC236}">
                <a16:creationId xmlns:a16="http://schemas.microsoft.com/office/drawing/2014/main" id="{9DCD7426-4A1C-2D4C-9869-93F30CEA06FC}"/>
              </a:ext>
            </a:extLst>
          </p:cNvPr>
          <p:cNvSpPr>
            <a:spLocks noGrp="1"/>
          </p:cNvSpPr>
          <p:nvPr>
            <p:ph idx="1"/>
          </p:nvPr>
        </p:nvSpPr>
        <p:spPr/>
        <p:txBody>
          <a:bodyPr/>
          <a:lstStyle/>
          <a:p>
            <a:r>
              <a:rPr lang="en-GH" dirty="0"/>
              <a:t>The start – up cost model when cooling can be expressed in the exponential function below:</a:t>
            </a:r>
          </a:p>
          <a:p>
            <a:endParaRPr lang="en-GH" dirty="0"/>
          </a:p>
        </p:txBody>
      </p:sp>
      <p:pic>
        <p:nvPicPr>
          <p:cNvPr id="4" name="Picture 3">
            <a:extLst>
              <a:ext uri="{FF2B5EF4-FFF2-40B4-BE49-F238E27FC236}">
                <a16:creationId xmlns:a16="http://schemas.microsoft.com/office/drawing/2014/main" id="{E7D87921-69B1-7542-A548-60EFCE9C2E2C}"/>
              </a:ext>
            </a:extLst>
          </p:cNvPr>
          <p:cNvPicPr>
            <a:picLocks noChangeAspect="1"/>
          </p:cNvPicPr>
          <p:nvPr/>
        </p:nvPicPr>
        <p:blipFill>
          <a:blip r:embed="rId2"/>
          <a:stretch>
            <a:fillRect/>
          </a:stretch>
        </p:blipFill>
        <p:spPr>
          <a:xfrm>
            <a:off x="4998747" y="3429000"/>
            <a:ext cx="2635624" cy="533400"/>
          </a:xfrm>
          <a:prstGeom prst="rect">
            <a:avLst/>
          </a:prstGeom>
        </p:spPr>
      </p:pic>
      <p:pic>
        <p:nvPicPr>
          <p:cNvPr id="5" name="Picture 4">
            <a:extLst>
              <a:ext uri="{FF2B5EF4-FFF2-40B4-BE49-F238E27FC236}">
                <a16:creationId xmlns:a16="http://schemas.microsoft.com/office/drawing/2014/main" id="{F91FC7CB-A338-E34D-90E1-5151BC8C7913}"/>
              </a:ext>
            </a:extLst>
          </p:cNvPr>
          <p:cNvPicPr>
            <a:picLocks noChangeAspect="1"/>
          </p:cNvPicPr>
          <p:nvPr/>
        </p:nvPicPr>
        <p:blipFill>
          <a:blip r:embed="rId3"/>
          <a:stretch>
            <a:fillRect/>
          </a:stretch>
        </p:blipFill>
        <p:spPr>
          <a:xfrm>
            <a:off x="3140029" y="4245258"/>
            <a:ext cx="6664908" cy="1648050"/>
          </a:xfrm>
          <a:prstGeom prst="rect">
            <a:avLst/>
          </a:prstGeom>
        </p:spPr>
      </p:pic>
      <p:sp>
        <p:nvSpPr>
          <p:cNvPr id="6" name="Slide Number Placeholder 5">
            <a:extLst>
              <a:ext uri="{FF2B5EF4-FFF2-40B4-BE49-F238E27FC236}">
                <a16:creationId xmlns:a16="http://schemas.microsoft.com/office/drawing/2014/main" id="{B1432542-90EC-7448-B9AE-38845D6F8D9B}"/>
              </a:ext>
            </a:extLst>
          </p:cNvPr>
          <p:cNvSpPr>
            <a:spLocks noGrp="1"/>
          </p:cNvSpPr>
          <p:nvPr>
            <p:ph type="sldNum" sz="quarter" idx="12"/>
          </p:nvPr>
        </p:nvSpPr>
        <p:spPr/>
        <p:txBody>
          <a:bodyPr/>
          <a:lstStyle/>
          <a:p>
            <a:fld id="{DC9343CD-AD41-EB41-8188-98BA88D5B910}" type="slidenum">
              <a:rPr lang="en-GH" smtClean="0"/>
              <a:t>6</a:t>
            </a:fld>
            <a:endParaRPr lang="en-GH"/>
          </a:p>
        </p:txBody>
      </p:sp>
    </p:spTree>
    <p:extLst>
      <p:ext uri="{BB962C8B-B14F-4D97-AF65-F5344CB8AC3E}">
        <p14:creationId xmlns:p14="http://schemas.microsoft.com/office/powerpoint/2010/main" val="3895777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1D5B5-131D-AB49-94AB-BFF209288111}"/>
              </a:ext>
            </a:extLst>
          </p:cNvPr>
          <p:cNvSpPr>
            <a:spLocks noGrp="1"/>
          </p:cNvSpPr>
          <p:nvPr>
            <p:ph type="title"/>
          </p:nvPr>
        </p:nvSpPr>
        <p:spPr/>
        <p:txBody>
          <a:bodyPr/>
          <a:lstStyle/>
          <a:p>
            <a:r>
              <a:rPr lang="en-GB" dirty="0"/>
              <a:t>P</a:t>
            </a:r>
            <a:r>
              <a:rPr lang="en-GH" dirty="0"/>
              <a:t>riority method</a:t>
            </a:r>
          </a:p>
        </p:txBody>
      </p:sp>
      <p:sp>
        <p:nvSpPr>
          <p:cNvPr id="3" name="Content Placeholder 2">
            <a:extLst>
              <a:ext uri="{FF2B5EF4-FFF2-40B4-BE49-F238E27FC236}">
                <a16:creationId xmlns:a16="http://schemas.microsoft.com/office/drawing/2014/main" id="{15B2A5C1-7350-0548-83B1-D4CD5F74D5FD}"/>
              </a:ext>
            </a:extLst>
          </p:cNvPr>
          <p:cNvSpPr>
            <a:spLocks noGrp="1"/>
          </p:cNvSpPr>
          <p:nvPr>
            <p:ph idx="1"/>
          </p:nvPr>
        </p:nvSpPr>
        <p:spPr/>
        <p:txBody>
          <a:bodyPr/>
          <a:lstStyle/>
          <a:p>
            <a:r>
              <a:rPr lang="en-GB" dirty="0"/>
              <a:t>The start - up cost model when banking can be expressed as a linear function as below:</a:t>
            </a:r>
          </a:p>
          <a:p>
            <a:pPr marL="0" indent="0">
              <a:buNone/>
            </a:pPr>
            <a:endParaRPr lang="en-GH" dirty="0"/>
          </a:p>
        </p:txBody>
      </p:sp>
      <p:pic>
        <p:nvPicPr>
          <p:cNvPr id="4" name="Picture 3">
            <a:extLst>
              <a:ext uri="{FF2B5EF4-FFF2-40B4-BE49-F238E27FC236}">
                <a16:creationId xmlns:a16="http://schemas.microsoft.com/office/drawing/2014/main" id="{D6859CF5-7CDD-6F44-BF77-F814481BCB77}"/>
              </a:ext>
            </a:extLst>
          </p:cNvPr>
          <p:cNvPicPr>
            <a:picLocks noChangeAspect="1"/>
          </p:cNvPicPr>
          <p:nvPr/>
        </p:nvPicPr>
        <p:blipFill>
          <a:blip r:embed="rId2"/>
          <a:stretch>
            <a:fillRect/>
          </a:stretch>
        </p:blipFill>
        <p:spPr>
          <a:xfrm>
            <a:off x="4688086" y="3429000"/>
            <a:ext cx="2537467" cy="615144"/>
          </a:xfrm>
          <a:prstGeom prst="rect">
            <a:avLst/>
          </a:prstGeom>
        </p:spPr>
      </p:pic>
      <p:pic>
        <p:nvPicPr>
          <p:cNvPr id="5" name="Picture 4">
            <a:extLst>
              <a:ext uri="{FF2B5EF4-FFF2-40B4-BE49-F238E27FC236}">
                <a16:creationId xmlns:a16="http://schemas.microsoft.com/office/drawing/2014/main" id="{320DAF3F-77C7-034B-AF5F-0E70D5965808}"/>
              </a:ext>
            </a:extLst>
          </p:cNvPr>
          <p:cNvPicPr>
            <a:picLocks noChangeAspect="1"/>
          </p:cNvPicPr>
          <p:nvPr/>
        </p:nvPicPr>
        <p:blipFill>
          <a:blip r:embed="rId3"/>
          <a:stretch>
            <a:fillRect/>
          </a:stretch>
        </p:blipFill>
        <p:spPr>
          <a:xfrm>
            <a:off x="3409771" y="4675662"/>
            <a:ext cx="6113946" cy="682625"/>
          </a:xfrm>
          <a:prstGeom prst="rect">
            <a:avLst/>
          </a:prstGeom>
        </p:spPr>
      </p:pic>
      <p:sp>
        <p:nvSpPr>
          <p:cNvPr id="6" name="Slide Number Placeholder 5">
            <a:extLst>
              <a:ext uri="{FF2B5EF4-FFF2-40B4-BE49-F238E27FC236}">
                <a16:creationId xmlns:a16="http://schemas.microsoft.com/office/drawing/2014/main" id="{2C7591DF-2B67-154D-84BD-294EDFC71CD8}"/>
              </a:ext>
            </a:extLst>
          </p:cNvPr>
          <p:cNvSpPr>
            <a:spLocks noGrp="1"/>
          </p:cNvSpPr>
          <p:nvPr>
            <p:ph type="sldNum" sz="quarter" idx="12"/>
          </p:nvPr>
        </p:nvSpPr>
        <p:spPr/>
        <p:txBody>
          <a:bodyPr/>
          <a:lstStyle/>
          <a:p>
            <a:fld id="{DC9343CD-AD41-EB41-8188-98BA88D5B910}" type="slidenum">
              <a:rPr lang="en-GH" smtClean="0"/>
              <a:t>7</a:t>
            </a:fld>
            <a:endParaRPr lang="en-GH"/>
          </a:p>
        </p:txBody>
      </p:sp>
    </p:spTree>
    <p:extLst>
      <p:ext uri="{BB962C8B-B14F-4D97-AF65-F5344CB8AC3E}">
        <p14:creationId xmlns:p14="http://schemas.microsoft.com/office/powerpoint/2010/main" val="4181158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9F85B-0BF0-FA42-908B-02A6308AAD1D}"/>
              </a:ext>
            </a:extLst>
          </p:cNvPr>
          <p:cNvSpPr>
            <a:spLocks noGrp="1"/>
          </p:cNvSpPr>
          <p:nvPr>
            <p:ph type="title"/>
          </p:nvPr>
        </p:nvSpPr>
        <p:spPr/>
        <p:txBody>
          <a:bodyPr/>
          <a:lstStyle/>
          <a:p>
            <a:r>
              <a:rPr lang="en-GB" dirty="0"/>
              <a:t>P</a:t>
            </a:r>
            <a:r>
              <a:rPr lang="en-GH" dirty="0"/>
              <a:t>riority method</a:t>
            </a:r>
          </a:p>
        </p:txBody>
      </p:sp>
      <p:sp>
        <p:nvSpPr>
          <p:cNvPr id="3" name="Content Placeholder 2">
            <a:extLst>
              <a:ext uri="{FF2B5EF4-FFF2-40B4-BE49-F238E27FC236}">
                <a16:creationId xmlns:a16="http://schemas.microsoft.com/office/drawing/2014/main" id="{B5DC2D0A-DF91-104C-8AC8-04E562E029BD}"/>
              </a:ext>
            </a:extLst>
          </p:cNvPr>
          <p:cNvSpPr>
            <a:spLocks noGrp="1"/>
          </p:cNvSpPr>
          <p:nvPr>
            <p:ph idx="1"/>
          </p:nvPr>
        </p:nvSpPr>
        <p:spPr/>
        <p:txBody>
          <a:bodyPr/>
          <a:lstStyle/>
          <a:p>
            <a:pPr algn="just">
              <a:lnSpc>
                <a:spcPct val="150000"/>
              </a:lnSpc>
            </a:pPr>
            <a:r>
              <a:rPr lang="en-GB" dirty="0"/>
              <a:t>The simplest unit commitment solution is to list all combinations of units on and off, as well as the corresponding total cost to create a rank list, and then make the decision according to the rank table. </a:t>
            </a:r>
          </a:p>
          <a:p>
            <a:pPr algn="just">
              <a:lnSpc>
                <a:spcPct val="150000"/>
              </a:lnSpc>
            </a:pPr>
            <a:r>
              <a:rPr lang="en-GB" dirty="0"/>
              <a:t>This method is called the priority list. The rank is based on the minimum average production cost of the unit. The average production cost of the unit is defined as</a:t>
            </a:r>
          </a:p>
          <a:p>
            <a:pPr algn="just">
              <a:lnSpc>
                <a:spcPct val="150000"/>
              </a:lnSpc>
            </a:pPr>
            <a:endParaRPr lang="en-GB" dirty="0"/>
          </a:p>
          <a:p>
            <a:pPr algn="just">
              <a:lnSpc>
                <a:spcPct val="150000"/>
              </a:lnSpc>
            </a:pPr>
            <a:endParaRPr lang="en-GH" dirty="0"/>
          </a:p>
        </p:txBody>
      </p:sp>
      <p:pic>
        <p:nvPicPr>
          <p:cNvPr id="4" name="Picture 3">
            <a:extLst>
              <a:ext uri="{FF2B5EF4-FFF2-40B4-BE49-F238E27FC236}">
                <a16:creationId xmlns:a16="http://schemas.microsoft.com/office/drawing/2014/main" id="{AEE278BE-A204-E34E-99D5-4307CFD2A060}"/>
              </a:ext>
            </a:extLst>
          </p:cNvPr>
          <p:cNvPicPr>
            <a:picLocks noChangeAspect="1"/>
          </p:cNvPicPr>
          <p:nvPr/>
        </p:nvPicPr>
        <p:blipFill>
          <a:blip r:embed="rId2"/>
          <a:stretch>
            <a:fillRect/>
          </a:stretch>
        </p:blipFill>
        <p:spPr>
          <a:xfrm>
            <a:off x="4482353" y="4881912"/>
            <a:ext cx="1416423" cy="646087"/>
          </a:xfrm>
          <a:prstGeom prst="rect">
            <a:avLst/>
          </a:prstGeom>
        </p:spPr>
      </p:pic>
      <p:pic>
        <p:nvPicPr>
          <p:cNvPr id="5" name="Picture 4">
            <a:extLst>
              <a:ext uri="{FF2B5EF4-FFF2-40B4-BE49-F238E27FC236}">
                <a16:creationId xmlns:a16="http://schemas.microsoft.com/office/drawing/2014/main" id="{BB10EC4B-0136-8C48-81AF-9892AC1DEC13}"/>
              </a:ext>
            </a:extLst>
          </p:cNvPr>
          <p:cNvPicPr>
            <a:picLocks noChangeAspect="1"/>
          </p:cNvPicPr>
          <p:nvPr/>
        </p:nvPicPr>
        <p:blipFill>
          <a:blip r:embed="rId3"/>
          <a:stretch>
            <a:fillRect/>
          </a:stretch>
        </p:blipFill>
        <p:spPr>
          <a:xfrm>
            <a:off x="6293225" y="5422660"/>
            <a:ext cx="4809183" cy="978139"/>
          </a:xfrm>
          <a:prstGeom prst="rect">
            <a:avLst/>
          </a:prstGeom>
        </p:spPr>
      </p:pic>
      <p:sp>
        <p:nvSpPr>
          <p:cNvPr id="6" name="Slide Number Placeholder 5">
            <a:extLst>
              <a:ext uri="{FF2B5EF4-FFF2-40B4-BE49-F238E27FC236}">
                <a16:creationId xmlns:a16="http://schemas.microsoft.com/office/drawing/2014/main" id="{0AC560A7-8049-FE41-B345-CC275429C8F9}"/>
              </a:ext>
            </a:extLst>
          </p:cNvPr>
          <p:cNvSpPr>
            <a:spLocks noGrp="1"/>
          </p:cNvSpPr>
          <p:nvPr>
            <p:ph type="sldNum" sz="quarter" idx="12"/>
          </p:nvPr>
        </p:nvSpPr>
        <p:spPr/>
        <p:txBody>
          <a:bodyPr/>
          <a:lstStyle/>
          <a:p>
            <a:fld id="{DC9343CD-AD41-EB41-8188-98BA88D5B910}" type="slidenum">
              <a:rPr lang="en-GH" smtClean="0"/>
              <a:t>8</a:t>
            </a:fld>
            <a:endParaRPr lang="en-GH"/>
          </a:p>
        </p:txBody>
      </p:sp>
    </p:spTree>
    <p:extLst>
      <p:ext uri="{BB962C8B-B14F-4D97-AF65-F5344CB8AC3E}">
        <p14:creationId xmlns:p14="http://schemas.microsoft.com/office/powerpoint/2010/main" val="3575520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1A603-E22D-A34C-812B-FE0377703B3A}"/>
              </a:ext>
            </a:extLst>
          </p:cNvPr>
          <p:cNvSpPr>
            <a:spLocks noGrp="1"/>
          </p:cNvSpPr>
          <p:nvPr>
            <p:ph type="title"/>
          </p:nvPr>
        </p:nvSpPr>
        <p:spPr/>
        <p:txBody>
          <a:bodyPr/>
          <a:lstStyle/>
          <a:p>
            <a:r>
              <a:rPr lang="en-GH" dirty="0"/>
              <a:t>Priority method</a:t>
            </a:r>
          </a:p>
        </p:txBody>
      </p:sp>
      <p:sp>
        <p:nvSpPr>
          <p:cNvPr id="3" name="Content Placeholder 2">
            <a:extLst>
              <a:ext uri="{FF2B5EF4-FFF2-40B4-BE49-F238E27FC236}">
                <a16:creationId xmlns:a16="http://schemas.microsoft.com/office/drawing/2014/main" id="{1DC0D6CF-CDF7-254B-B1F6-7B50E8A7C1CA}"/>
              </a:ext>
            </a:extLst>
          </p:cNvPr>
          <p:cNvSpPr>
            <a:spLocks noGrp="1"/>
          </p:cNvSpPr>
          <p:nvPr>
            <p:ph idx="1"/>
          </p:nvPr>
        </p:nvSpPr>
        <p:spPr/>
        <p:txBody>
          <a:bodyPr/>
          <a:lstStyle/>
          <a:p>
            <a:r>
              <a:rPr lang="en-GB" dirty="0"/>
              <a:t>The incremental rate of the unit is defined as</a:t>
            </a:r>
          </a:p>
          <a:p>
            <a:endParaRPr lang="en-GB" dirty="0"/>
          </a:p>
          <a:p>
            <a:endParaRPr lang="en-GB" dirty="0"/>
          </a:p>
          <a:p>
            <a:endParaRPr lang="en-GB" dirty="0"/>
          </a:p>
        </p:txBody>
      </p:sp>
      <p:pic>
        <p:nvPicPr>
          <p:cNvPr id="4" name="Picture 3">
            <a:extLst>
              <a:ext uri="{FF2B5EF4-FFF2-40B4-BE49-F238E27FC236}">
                <a16:creationId xmlns:a16="http://schemas.microsoft.com/office/drawing/2014/main" id="{381A0458-AA39-274A-99CD-101EA68D6F8F}"/>
              </a:ext>
            </a:extLst>
          </p:cNvPr>
          <p:cNvPicPr>
            <a:picLocks noChangeAspect="1"/>
          </p:cNvPicPr>
          <p:nvPr/>
        </p:nvPicPr>
        <p:blipFill>
          <a:blip r:embed="rId2"/>
          <a:stretch>
            <a:fillRect/>
          </a:stretch>
        </p:blipFill>
        <p:spPr>
          <a:xfrm>
            <a:off x="5065431" y="3257737"/>
            <a:ext cx="1144491" cy="561228"/>
          </a:xfrm>
          <a:prstGeom prst="rect">
            <a:avLst/>
          </a:prstGeom>
        </p:spPr>
      </p:pic>
      <p:pic>
        <p:nvPicPr>
          <p:cNvPr id="5" name="Picture 4">
            <a:extLst>
              <a:ext uri="{FF2B5EF4-FFF2-40B4-BE49-F238E27FC236}">
                <a16:creationId xmlns:a16="http://schemas.microsoft.com/office/drawing/2014/main" id="{A0EAA7B4-4E7F-5F44-8E8E-8059221842D0}"/>
              </a:ext>
            </a:extLst>
          </p:cNvPr>
          <p:cNvPicPr>
            <a:picLocks noChangeAspect="1"/>
          </p:cNvPicPr>
          <p:nvPr/>
        </p:nvPicPr>
        <p:blipFill>
          <a:blip r:embed="rId3"/>
          <a:stretch>
            <a:fillRect/>
          </a:stretch>
        </p:blipFill>
        <p:spPr>
          <a:xfrm>
            <a:off x="2654299" y="4036896"/>
            <a:ext cx="6691939" cy="1037127"/>
          </a:xfrm>
          <a:prstGeom prst="rect">
            <a:avLst/>
          </a:prstGeom>
        </p:spPr>
      </p:pic>
      <p:sp>
        <p:nvSpPr>
          <p:cNvPr id="6" name="Slide Number Placeholder 5">
            <a:extLst>
              <a:ext uri="{FF2B5EF4-FFF2-40B4-BE49-F238E27FC236}">
                <a16:creationId xmlns:a16="http://schemas.microsoft.com/office/drawing/2014/main" id="{83BE757F-DF05-504A-AAB5-9C6F3DBCE7AF}"/>
              </a:ext>
            </a:extLst>
          </p:cNvPr>
          <p:cNvSpPr>
            <a:spLocks noGrp="1"/>
          </p:cNvSpPr>
          <p:nvPr>
            <p:ph type="sldNum" sz="quarter" idx="12"/>
          </p:nvPr>
        </p:nvSpPr>
        <p:spPr/>
        <p:txBody>
          <a:bodyPr/>
          <a:lstStyle/>
          <a:p>
            <a:fld id="{DC9343CD-AD41-EB41-8188-98BA88D5B910}" type="slidenum">
              <a:rPr lang="en-GH" smtClean="0"/>
              <a:t>9</a:t>
            </a:fld>
            <a:endParaRPr lang="en-GH"/>
          </a:p>
        </p:txBody>
      </p:sp>
    </p:spTree>
    <p:extLst>
      <p:ext uri="{BB962C8B-B14F-4D97-AF65-F5344CB8AC3E}">
        <p14:creationId xmlns:p14="http://schemas.microsoft.com/office/powerpoint/2010/main" val="4111758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85E22-7D6D-7B43-9379-4B06BC6ECA39}"/>
              </a:ext>
            </a:extLst>
          </p:cNvPr>
          <p:cNvSpPr>
            <a:spLocks noGrp="1"/>
          </p:cNvSpPr>
          <p:nvPr>
            <p:ph type="title"/>
          </p:nvPr>
        </p:nvSpPr>
        <p:spPr/>
        <p:txBody>
          <a:bodyPr/>
          <a:lstStyle/>
          <a:p>
            <a:r>
              <a:rPr lang="en-GB" dirty="0"/>
              <a:t>E</a:t>
            </a:r>
            <a:r>
              <a:rPr lang="en-GH" dirty="0"/>
              <a:t>xample 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8A03E7-3BBC-CF4C-AD78-DD09BC4AEAB6}"/>
                  </a:ext>
                </a:extLst>
              </p:cNvPr>
              <p:cNvSpPr>
                <a:spLocks noGrp="1"/>
              </p:cNvSpPr>
              <p:nvPr>
                <p:ph idx="1"/>
              </p:nvPr>
            </p:nvSpPr>
            <p:spPr/>
            <p:txBody>
              <a:bodyPr/>
              <a:lstStyle/>
              <a:p>
                <a:pPr algn="just">
                  <a:lnSpc>
                    <a:spcPct val="150000"/>
                  </a:lnSpc>
                </a:pPr>
                <a:r>
                  <a:rPr lang="en-GB" dirty="0"/>
                  <a:t>T</a:t>
                </a:r>
                <a:r>
                  <a:rPr lang="en-GH" dirty="0"/>
                  <a:t>here are five generator units, and the minimum average production costs </a:t>
                </a:r>
                <a14:m>
                  <m:oMath xmlns:m="http://schemas.openxmlformats.org/officeDocument/2006/math">
                    <m:sSub>
                      <m:sSubPr>
                        <m:ctrlPr>
                          <a:rPr lang="en-GH" i="1" smtClean="0">
                            <a:latin typeface="Cambria Math" panose="02040503050406030204" pitchFamily="18" charset="0"/>
                            <a:ea typeface="Cambria Math" panose="02040503050406030204" pitchFamily="18" charset="0"/>
                          </a:rPr>
                        </m:ctrlPr>
                      </m:sSubPr>
                      <m:e>
                        <m:r>
                          <a:rPr lang="en-GH" i="1">
                            <a:latin typeface="Cambria Math" panose="02040503050406030204" pitchFamily="18" charset="0"/>
                            <a:ea typeface="Cambria Math" panose="02040503050406030204" pitchFamily="18" charset="0"/>
                          </a:rPr>
                          <m:t>𝜇</m:t>
                        </m:r>
                      </m:e>
                      <m:sub>
                        <m:r>
                          <a:rPr lang="en-US" b="0" i="1" smtClean="0">
                            <a:latin typeface="Cambria Math" panose="02040503050406030204" pitchFamily="18" charset="0"/>
                            <a:ea typeface="Cambria Math" panose="02040503050406030204" pitchFamily="18" charset="0"/>
                          </a:rPr>
                          <m:t>𝑚𝑖𝑛</m:t>
                        </m:r>
                      </m:sub>
                    </m:sSub>
                  </m:oMath>
                </a14:m>
                <a:r>
                  <a:rPr lang="en-GH" dirty="0"/>
                  <a:t> are computed as shown in the Table on the next slide. </a:t>
                </a:r>
              </a:p>
              <a:p>
                <a:pPr algn="just">
                  <a:lnSpc>
                    <a:spcPct val="150000"/>
                  </a:lnSpc>
                </a:pPr>
                <a:r>
                  <a:rPr lang="en-GB" dirty="0"/>
                  <a:t>T</a:t>
                </a:r>
                <a:r>
                  <a:rPr lang="en-GH" dirty="0"/>
                  <a:t>he priority order of these units based on the minimum average production cost is also shown </a:t>
                </a:r>
                <a:r>
                  <a:rPr lang="en-GB" dirty="0"/>
                  <a:t>in the table on the next slide</a:t>
                </a:r>
              </a:p>
              <a:p>
                <a:pPr algn="just">
                  <a:lnSpc>
                    <a:spcPct val="150000"/>
                  </a:lnSpc>
                </a:pPr>
                <a:endParaRPr lang="en-GH" dirty="0"/>
              </a:p>
            </p:txBody>
          </p:sp>
        </mc:Choice>
        <mc:Fallback xmlns="">
          <p:sp>
            <p:nvSpPr>
              <p:cNvPr id="3" name="Content Placeholder 2">
                <a:extLst>
                  <a:ext uri="{FF2B5EF4-FFF2-40B4-BE49-F238E27FC236}">
                    <a16:creationId xmlns:a16="http://schemas.microsoft.com/office/drawing/2014/main" id="{6E8A03E7-3BBC-CF4C-AD78-DD09BC4AEAB6}"/>
                  </a:ext>
                </a:extLst>
              </p:cNvPr>
              <p:cNvSpPr>
                <a:spLocks noGrp="1" noRot="1" noChangeAspect="1" noMove="1" noResize="1" noEditPoints="1" noAdjustHandles="1" noChangeArrowheads="1" noChangeShapeType="1" noTextEdit="1"/>
              </p:cNvSpPr>
              <p:nvPr>
                <p:ph idx="1"/>
              </p:nvPr>
            </p:nvSpPr>
            <p:spPr>
              <a:blipFill>
                <a:blip r:embed="rId2"/>
                <a:stretch>
                  <a:fillRect l="-492" r="-656"/>
                </a:stretch>
              </a:blipFill>
            </p:spPr>
            <p:txBody>
              <a:bodyPr/>
              <a:lstStyle/>
              <a:p>
                <a:r>
                  <a:rPr lang="en-GH">
                    <a:noFill/>
                  </a:rPr>
                  <a:t> </a:t>
                </a:r>
              </a:p>
            </p:txBody>
          </p:sp>
        </mc:Fallback>
      </mc:AlternateContent>
      <p:sp>
        <p:nvSpPr>
          <p:cNvPr id="4" name="Slide Number Placeholder 3">
            <a:extLst>
              <a:ext uri="{FF2B5EF4-FFF2-40B4-BE49-F238E27FC236}">
                <a16:creationId xmlns:a16="http://schemas.microsoft.com/office/drawing/2014/main" id="{7E11AD59-E31B-E94E-96D1-63C420B7A8B9}"/>
              </a:ext>
            </a:extLst>
          </p:cNvPr>
          <p:cNvSpPr>
            <a:spLocks noGrp="1"/>
          </p:cNvSpPr>
          <p:nvPr>
            <p:ph type="sldNum" sz="quarter" idx="12"/>
          </p:nvPr>
        </p:nvSpPr>
        <p:spPr/>
        <p:txBody>
          <a:bodyPr/>
          <a:lstStyle/>
          <a:p>
            <a:fld id="{DC9343CD-AD41-EB41-8188-98BA88D5B910}" type="slidenum">
              <a:rPr lang="en-GH" smtClean="0"/>
              <a:t>10</a:t>
            </a:fld>
            <a:endParaRPr lang="en-GH"/>
          </a:p>
        </p:txBody>
      </p:sp>
    </p:spTree>
    <p:extLst>
      <p:ext uri="{BB962C8B-B14F-4D97-AF65-F5344CB8AC3E}">
        <p14:creationId xmlns:p14="http://schemas.microsoft.com/office/powerpoint/2010/main" val="1352999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F7231-2A78-7A47-80FF-DAE4BB254870}"/>
              </a:ext>
            </a:extLst>
          </p:cNvPr>
          <p:cNvSpPr>
            <a:spLocks noGrp="1"/>
          </p:cNvSpPr>
          <p:nvPr>
            <p:ph type="title"/>
          </p:nvPr>
        </p:nvSpPr>
        <p:spPr/>
        <p:txBody>
          <a:bodyPr/>
          <a:lstStyle/>
          <a:p>
            <a:r>
              <a:rPr lang="en-GB" dirty="0"/>
              <a:t>E</a:t>
            </a:r>
            <a:r>
              <a:rPr lang="en-GH" dirty="0"/>
              <a:t>xample 1</a:t>
            </a:r>
          </a:p>
        </p:txBody>
      </p:sp>
      <p:pic>
        <p:nvPicPr>
          <p:cNvPr id="4" name="Picture 3">
            <a:extLst>
              <a:ext uri="{FF2B5EF4-FFF2-40B4-BE49-F238E27FC236}">
                <a16:creationId xmlns:a16="http://schemas.microsoft.com/office/drawing/2014/main" id="{AE57322E-B22A-E74C-90FC-A1279F179453}"/>
              </a:ext>
            </a:extLst>
          </p:cNvPr>
          <p:cNvPicPr>
            <a:picLocks noChangeAspect="1"/>
          </p:cNvPicPr>
          <p:nvPr/>
        </p:nvPicPr>
        <p:blipFill>
          <a:blip r:embed="rId2"/>
          <a:stretch>
            <a:fillRect/>
          </a:stretch>
        </p:blipFill>
        <p:spPr>
          <a:xfrm>
            <a:off x="127372" y="2153412"/>
            <a:ext cx="7322123" cy="2439790"/>
          </a:xfrm>
          <a:prstGeom prst="rect">
            <a:avLst/>
          </a:prstGeom>
        </p:spPr>
      </p:pic>
      <p:pic>
        <p:nvPicPr>
          <p:cNvPr id="5" name="Picture 4">
            <a:extLst>
              <a:ext uri="{FF2B5EF4-FFF2-40B4-BE49-F238E27FC236}">
                <a16:creationId xmlns:a16="http://schemas.microsoft.com/office/drawing/2014/main" id="{995AB972-41C8-F441-8919-CFA6E765DD0E}"/>
              </a:ext>
            </a:extLst>
          </p:cNvPr>
          <p:cNvPicPr>
            <a:picLocks noChangeAspect="1"/>
          </p:cNvPicPr>
          <p:nvPr/>
        </p:nvPicPr>
        <p:blipFill>
          <a:blip r:embed="rId3"/>
          <a:stretch>
            <a:fillRect/>
          </a:stretch>
        </p:blipFill>
        <p:spPr>
          <a:xfrm>
            <a:off x="2976177" y="4593201"/>
            <a:ext cx="8761371" cy="2094469"/>
          </a:xfrm>
          <a:prstGeom prst="rect">
            <a:avLst/>
          </a:prstGeom>
        </p:spPr>
      </p:pic>
      <p:sp>
        <p:nvSpPr>
          <p:cNvPr id="6" name="Slide Number Placeholder 5">
            <a:extLst>
              <a:ext uri="{FF2B5EF4-FFF2-40B4-BE49-F238E27FC236}">
                <a16:creationId xmlns:a16="http://schemas.microsoft.com/office/drawing/2014/main" id="{C98C3E33-B3B0-E741-946D-CB933097757E}"/>
              </a:ext>
            </a:extLst>
          </p:cNvPr>
          <p:cNvSpPr>
            <a:spLocks noGrp="1"/>
          </p:cNvSpPr>
          <p:nvPr>
            <p:ph type="sldNum" sz="quarter" idx="12"/>
          </p:nvPr>
        </p:nvSpPr>
        <p:spPr>
          <a:xfrm>
            <a:off x="127372" y="6321910"/>
            <a:ext cx="365760" cy="365760"/>
          </a:xfrm>
        </p:spPr>
        <p:txBody>
          <a:bodyPr/>
          <a:lstStyle/>
          <a:p>
            <a:fld id="{DC9343CD-AD41-EB41-8188-98BA88D5B910}" type="slidenum">
              <a:rPr lang="en-GH" smtClean="0"/>
              <a:t>11</a:t>
            </a:fld>
            <a:endParaRPr lang="en-GH" dirty="0"/>
          </a:p>
        </p:txBody>
      </p:sp>
    </p:spTree>
    <p:extLst>
      <p:ext uri="{BB962C8B-B14F-4D97-AF65-F5344CB8AC3E}">
        <p14:creationId xmlns:p14="http://schemas.microsoft.com/office/powerpoint/2010/main" val="161091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013D0-C070-A94E-9D22-84701F6BCFC7}"/>
              </a:ext>
            </a:extLst>
          </p:cNvPr>
          <p:cNvSpPr>
            <a:spLocks noGrp="1"/>
          </p:cNvSpPr>
          <p:nvPr>
            <p:ph type="title"/>
          </p:nvPr>
        </p:nvSpPr>
        <p:spPr/>
        <p:txBody>
          <a:bodyPr/>
          <a:lstStyle/>
          <a:p>
            <a:r>
              <a:rPr lang="en-GH" dirty="0"/>
              <a:t>solution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23EEB50-4512-0840-A04D-5C9DCB658074}"/>
                  </a:ext>
                </a:extLst>
              </p:cNvPr>
              <p:cNvSpPr>
                <a:spLocks noGrp="1"/>
              </p:cNvSpPr>
              <p:nvPr>
                <p:ph idx="1"/>
              </p:nvPr>
            </p:nvSpPr>
            <p:spPr>
              <a:xfrm>
                <a:off x="2231136" y="2638044"/>
                <a:ext cx="7729728" cy="4013768"/>
              </a:xfrm>
            </p:spPr>
            <p:txBody>
              <a:bodyPr>
                <a:normAutofit fontScale="92500" lnSpcReduction="20000"/>
              </a:bodyPr>
              <a:lstStyle/>
              <a:p>
                <a:pPr algn="just">
                  <a:lnSpc>
                    <a:spcPct val="150000"/>
                  </a:lnSpc>
                </a:pPr>
                <a:r>
                  <a:rPr lang="en-GB" dirty="0"/>
                  <a:t>S</a:t>
                </a:r>
                <a:r>
                  <a:rPr lang="en-GH" dirty="0"/>
                  <a:t>tep (1): </a:t>
                </a:r>
                <a:r>
                  <a:rPr lang="en-GB" dirty="0"/>
                  <a:t>Compute the minimum average production cost of all units, and order the units from the smallest value of </a:t>
                </a:r>
                <a14:m>
                  <m:oMath xmlns:m="http://schemas.openxmlformats.org/officeDocument/2006/math">
                    <m:sSub>
                      <m:sSubPr>
                        <m:ctrlPr>
                          <a:rPr lang="en-GH" i="1">
                            <a:latin typeface="Cambria Math" panose="02040503050406030204" pitchFamily="18" charset="0"/>
                            <a:ea typeface="Cambria Math" panose="02040503050406030204" pitchFamily="18" charset="0"/>
                          </a:rPr>
                        </m:ctrlPr>
                      </m:sSubPr>
                      <m:e>
                        <m:r>
                          <a:rPr lang="en-GH" i="1">
                            <a:latin typeface="Cambria Math" panose="02040503050406030204" pitchFamily="18" charset="0"/>
                            <a:ea typeface="Cambria Math" panose="02040503050406030204" pitchFamily="18" charset="0"/>
                          </a:rPr>
                          <m:t>𝜇</m:t>
                        </m:r>
                      </m:e>
                      <m:sub>
                        <m:r>
                          <a:rPr lang="en-US" i="1">
                            <a:latin typeface="Cambria Math" panose="02040503050406030204" pitchFamily="18" charset="0"/>
                            <a:ea typeface="Cambria Math" panose="02040503050406030204" pitchFamily="18" charset="0"/>
                          </a:rPr>
                          <m:t>𝑚𝑖𝑛</m:t>
                        </m:r>
                      </m:sub>
                    </m:sSub>
                  </m:oMath>
                </a14:m>
                <a:r>
                  <a:rPr lang="en-GB" dirty="0"/>
                  <a:t>. Form the priority list.</a:t>
                </a:r>
              </a:p>
              <a:p>
                <a:pPr algn="just">
                  <a:lnSpc>
                    <a:spcPct val="150000"/>
                  </a:lnSpc>
                </a:pPr>
                <a:r>
                  <a:rPr lang="en-GB" dirty="0"/>
                  <a:t>Step (2): If the load is increasing during that hour, determine how many units can be started up according to the minimum downtime of the unit. Then select the top units for turning on from the priority list according to the amount of load increasing.</a:t>
                </a:r>
              </a:p>
              <a:p>
                <a:pPr algn="just">
                  <a:lnSpc>
                    <a:spcPct val="150000"/>
                  </a:lnSpc>
                </a:pPr>
                <a:r>
                  <a:rPr lang="en-GB" dirty="0"/>
                  <a:t>Step (3): If the load is dropping during that hour, determine how many units can be stopped according to the minimum up time of the unit. Then select the last units for stopping from the priority list according to the amount of load dropping</a:t>
                </a:r>
              </a:p>
              <a:p>
                <a:pPr algn="just">
                  <a:lnSpc>
                    <a:spcPct val="150000"/>
                  </a:lnSpc>
                </a:pPr>
                <a:r>
                  <a:rPr lang="en-GB" dirty="0"/>
                  <a:t>Step (4): Repeat the process for the next hour.</a:t>
                </a:r>
              </a:p>
              <a:p>
                <a:pPr algn="just">
                  <a:lnSpc>
                    <a:spcPct val="150000"/>
                  </a:lnSpc>
                </a:pPr>
                <a:endParaRPr lang="en-GB" dirty="0"/>
              </a:p>
            </p:txBody>
          </p:sp>
        </mc:Choice>
        <mc:Fallback xmlns="">
          <p:sp>
            <p:nvSpPr>
              <p:cNvPr id="3" name="Content Placeholder 2">
                <a:extLst>
                  <a:ext uri="{FF2B5EF4-FFF2-40B4-BE49-F238E27FC236}">
                    <a16:creationId xmlns:a16="http://schemas.microsoft.com/office/drawing/2014/main" id="{623EEB50-4512-0840-A04D-5C9DCB658074}"/>
                  </a:ext>
                </a:extLst>
              </p:cNvPr>
              <p:cNvSpPr>
                <a:spLocks noGrp="1" noRot="1" noChangeAspect="1" noMove="1" noResize="1" noEditPoints="1" noAdjustHandles="1" noChangeArrowheads="1" noChangeShapeType="1" noTextEdit="1"/>
              </p:cNvSpPr>
              <p:nvPr>
                <p:ph idx="1"/>
              </p:nvPr>
            </p:nvSpPr>
            <p:spPr>
              <a:xfrm>
                <a:off x="2231136" y="2638044"/>
                <a:ext cx="7729728" cy="4013768"/>
              </a:xfrm>
              <a:blipFill>
                <a:blip r:embed="rId2"/>
                <a:stretch>
                  <a:fillRect l="-328" r="-492"/>
                </a:stretch>
              </a:blipFill>
            </p:spPr>
            <p:txBody>
              <a:bodyPr/>
              <a:lstStyle/>
              <a:p>
                <a:r>
                  <a:rPr lang="en-GH">
                    <a:noFill/>
                  </a:rPr>
                  <a:t> </a:t>
                </a:r>
              </a:p>
            </p:txBody>
          </p:sp>
        </mc:Fallback>
      </mc:AlternateContent>
      <p:sp>
        <p:nvSpPr>
          <p:cNvPr id="4" name="Slide Number Placeholder 3">
            <a:extLst>
              <a:ext uri="{FF2B5EF4-FFF2-40B4-BE49-F238E27FC236}">
                <a16:creationId xmlns:a16="http://schemas.microsoft.com/office/drawing/2014/main" id="{C2A501D7-5B57-3E4C-9D84-319FDC0C8D2C}"/>
              </a:ext>
            </a:extLst>
          </p:cNvPr>
          <p:cNvSpPr>
            <a:spLocks noGrp="1"/>
          </p:cNvSpPr>
          <p:nvPr>
            <p:ph type="sldNum" sz="quarter" idx="12"/>
          </p:nvPr>
        </p:nvSpPr>
        <p:spPr/>
        <p:txBody>
          <a:bodyPr/>
          <a:lstStyle/>
          <a:p>
            <a:fld id="{DC9343CD-AD41-EB41-8188-98BA88D5B910}" type="slidenum">
              <a:rPr lang="en-GH" smtClean="0"/>
              <a:t>12</a:t>
            </a:fld>
            <a:endParaRPr lang="en-GH"/>
          </a:p>
        </p:txBody>
      </p:sp>
    </p:spTree>
    <p:extLst>
      <p:ext uri="{BB962C8B-B14F-4D97-AF65-F5344CB8AC3E}">
        <p14:creationId xmlns:p14="http://schemas.microsoft.com/office/powerpoint/2010/main" val="1807642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F63C3-9A8A-224A-8CD9-9A59F972E1AC}"/>
              </a:ext>
            </a:extLst>
          </p:cNvPr>
          <p:cNvSpPr>
            <a:spLocks noGrp="1"/>
          </p:cNvSpPr>
          <p:nvPr>
            <p:ph type="title"/>
          </p:nvPr>
        </p:nvSpPr>
        <p:spPr/>
        <p:txBody>
          <a:bodyPr/>
          <a:lstStyle/>
          <a:p>
            <a:r>
              <a:rPr lang="en-GB" dirty="0"/>
              <a:t>E</a:t>
            </a:r>
            <a:r>
              <a:rPr lang="en-GH" dirty="0"/>
              <a:t>xample 2 </a:t>
            </a:r>
          </a:p>
        </p:txBody>
      </p:sp>
      <p:sp>
        <p:nvSpPr>
          <p:cNvPr id="3" name="Content Placeholder 2">
            <a:extLst>
              <a:ext uri="{FF2B5EF4-FFF2-40B4-BE49-F238E27FC236}">
                <a16:creationId xmlns:a16="http://schemas.microsoft.com/office/drawing/2014/main" id="{431BCFC3-7261-7146-96AE-DCBD54D18243}"/>
              </a:ext>
            </a:extLst>
          </p:cNvPr>
          <p:cNvSpPr>
            <a:spLocks noGrp="1"/>
          </p:cNvSpPr>
          <p:nvPr>
            <p:ph idx="1"/>
          </p:nvPr>
        </p:nvSpPr>
        <p:spPr/>
        <p:txBody>
          <a:bodyPr>
            <a:normAutofit/>
          </a:bodyPr>
          <a:lstStyle/>
          <a:p>
            <a:pPr algn="just">
              <a:lnSpc>
                <a:spcPct val="150000"/>
              </a:lnSpc>
            </a:pPr>
            <a:r>
              <a:rPr lang="en-GB" sz="2000" dirty="0"/>
              <a:t>Use priority list method to solve the unit commitment for a simple four – unit system. The data of the units and the load pattern are listed in the Tables in the next slide.</a:t>
            </a:r>
          </a:p>
          <a:p>
            <a:pPr algn="just">
              <a:lnSpc>
                <a:spcPct val="150000"/>
              </a:lnSpc>
            </a:pPr>
            <a:r>
              <a:rPr lang="en-GB" sz="2000" dirty="0"/>
              <a:t>the symbol “ − ” in the initial state means the unit is offline. For example, “ 8 ” means the unit has been online for 8 hours, and “ − 6 ” means the unit has been offline for 6 hours</a:t>
            </a:r>
          </a:p>
          <a:p>
            <a:pPr algn="just">
              <a:lnSpc>
                <a:spcPct val="150000"/>
              </a:lnSpc>
            </a:pPr>
            <a:endParaRPr lang="en-GH" sz="2000" dirty="0"/>
          </a:p>
        </p:txBody>
      </p:sp>
      <p:sp>
        <p:nvSpPr>
          <p:cNvPr id="4" name="Slide Number Placeholder 3">
            <a:extLst>
              <a:ext uri="{FF2B5EF4-FFF2-40B4-BE49-F238E27FC236}">
                <a16:creationId xmlns:a16="http://schemas.microsoft.com/office/drawing/2014/main" id="{7CEFDEFE-6CDB-304A-9D2D-6A383C92C99C}"/>
              </a:ext>
            </a:extLst>
          </p:cNvPr>
          <p:cNvSpPr>
            <a:spLocks noGrp="1"/>
          </p:cNvSpPr>
          <p:nvPr>
            <p:ph type="sldNum" sz="quarter" idx="12"/>
          </p:nvPr>
        </p:nvSpPr>
        <p:spPr/>
        <p:txBody>
          <a:bodyPr/>
          <a:lstStyle/>
          <a:p>
            <a:fld id="{DC9343CD-AD41-EB41-8188-98BA88D5B910}" type="slidenum">
              <a:rPr lang="en-GH" smtClean="0"/>
              <a:t>13</a:t>
            </a:fld>
            <a:endParaRPr lang="en-GH"/>
          </a:p>
        </p:txBody>
      </p:sp>
    </p:spTree>
    <p:extLst>
      <p:ext uri="{BB962C8B-B14F-4D97-AF65-F5344CB8AC3E}">
        <p14:creationId xmlns:p14="http://schemas.microsoft.com/office/powerpoint/2010/main" val="13979968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8C18B-38BA-6549-A74D-5A04789259BD}"/>
              </a:ext>
            </a:extLst>
          </p:cNvPr>
          <p:cNvSpPr>
            <a:spLocks noGrp="1"/>
          </p:cNvSpPr>
          <p:nvPr>
            <p:ph type="title"/>
          </p:nvPr>
        </p:nvSpPr>
        <p:spPr/>
        <p:txBody>
          <a:bodyPr/>
          <a:lstStyle/>
          <a:p>
            <a:r>
              <a:rPr lang="en-GB" dirty="0"/>
              <a:t>E</a:t>
            </a:r>
            <a:r>
              <a:rPr lang="en-GH" dirty="0"/>
              <a:t>xample 2</a:t>
            </a:r>
          </a:p>
        </p:txBody>
      </p:sp>
      <p:pic>
        <p:nvPicPr>
          <p:cNvPr id="4" name="Picture 3">
            <a:extLst>
              <a:ext uri="{FF2B5EF4-FFF2-40B4-BE49-F238E27FC236}">
                <a16:creationId xmlns:a16="http://schemas.microsoft.com/office/drawing/2014/main" id="{6B6B0C08-F881-EE49-931B-EF956E61E28F}"/>
              </a:ext>
            </a:extLst>
          </p:cNvPr>
          <p:cNvPicPr>
            <a:picLocks noChangeAspect="1"/>
          </p:cNvPicPr>
          <p:nvPr/>
        </p:nvPicPr>
        <p:blipFill>
          <a:blip r:embed="rId2"/>
          <a:stretch>
            <a:fillRect/>
          </a:stretch>
        </p:blipFill>
        <p:spPr>
          <a:xfrm>
            <a:off x="0" y="2638043"/>
            <a:ext cx="7306712" cy="2066545"/>
          </a:xfrm>
          <a:prstGeom prst="rect">
            <a:avLst/>
          </a:prstGeom>
        </p:spPr>
      </p:pic>
      <p:pic>
        <p:nvPicPr>
          <p:cNvPr id="5" name="Picture 4">
            <a:extLst>
              <a:ext uri="{FF2B5EF4-FFF2-40B4-BE49-F238E27FC236}">
                <a16:creationId xmlns:a16="http://schemas.microsoft.com/office/drawing/2014/main" id="{3A8A2D2A-D2C4-2D48-ABCB-D0E6AF83AB75}"/>
              </a:ext>
            </a:extLst>
          </p:cNvPr>
          <p:cNvPicPr>
            <a:picLocks noChangeAspect="1"/>
          </p:cNvPicPr>
          <p:nvPr/>
        </p:nvPicPr>
        <p:blipFill>
          <a:blip r:embed="rId3"/>
          <a:stretch>
            <a:fillRect/>
          </a:stretch>
        </p:blipFill>
        <p:spPr>
          <a:xfrm>
            <a:off x="7327698" y="4051659"/>
            <a:ext cx="4864302" cy="2456718"/>
          </a:xfrm>
          <a:prstGeom prst="rect">
            <a:avLst/>
          </a:prstGeom>
        </p:spPr>
      </p:pic>
      <p:pic>
        <p:nvPicPr>
          <p:cNvPr id="6" name="Picture 5">
            <a:extLst>
              <a:ext uri="{FF2B5EF4-FFF2-40B4-BE49-F238E27FC236}">
                <a16:creationId xmlns:a16="http://schemas.microsoft.com/office/drawing/2014/main" id="{2879A711-D9DE-0242-B5B2-CEE9CF3892A7}"/>
              </a:ext>
            </a:extLst>
          </p:cNvPr>
          <p:cNvPicPr>
            <a:picLocks noChangeAspect="1"/>
          </p:cNvPicPr>
          <p:nvPr/>
        </p:nvPicPr>
        <p:blipFill>
          <a:blip r:embed="rId4"/>
          <a:stretch>
            <a:fillRect/>
          </a:stretch>
        </p:blipFill>
        <p:spPr>
          <a:xfrm>
            <a:off x="1537447" y="2261921"/>
            <a:ext cx="1653988" cy="275665"/>
          </a:xfrm>
          <a:prstGeom prst="rect">
            <a:avLst/>
          </a:prstGeom>
        </p:spPr>
      </p:pic>
      <p:pic>
        <p:nvPicPr>
          <p:cNvPr id="7" name="Picture 6">
            <a:extLst>
              <a:ext uri="{FF2B5EF4-FFF2-40B4-BE49-F238E27FC236}">
                <a16:creationId xmlns:a16="http://schemas.microsoft.com/office/drawing/2014/main" id="{6A0E0B0B-2E94-9A48-A1E8-BC90AD6E1DE5}"/>
              </a:ext>
            </a:extLst>
          </p:cNvPr>
          <p:cNvPicPr>
            <a:picLocks noChangeAspect="1"/>
          </p:cNvPicPr>
          <p:nvPr/>
        </p:nvPicPr>
        <p:blipFill>
          <a:blip r:embed="rId5"/>
          <a:stretch>
            <a:fillRect/>
          </a:stretch>
        </p:blipFill>
        <p:spPr>
          <a:xfrm>
            <a:off x="9241163" y="3707238"/>
            <a:ext cx="1459962" cy="201374"/>
          </a:xfrm>
          <a:prstGeom prst="rect">
            <a:avLst/>
          </a:prstGeom>
        </p:spPr>
      </p:pic>
      <p:sp>
        <p:nvSpPr>
          <p:cNvPr id="8" name="Slide Number Placeholder 7">
            <a:extLst>
              <a:ext uri="{FF2B5EF4-FFF2-40B4-BE49-F238E27FC236}">
                <a16:creationId xmlns:a16="http://schemas.microsoft.com/office/drawing/2014/main" id="{2AC52F7E-E47A-2C4E-875C-E8981D9B1F9B}"/>
              </a:ext>
            </a:extLst>
          </p:cNvPr>
          <p:cNvSpPr>
            <a:spLocks noGrp="1"/>
          </p:cNvSpPr>
          <p:nvPr>
            <p:ph type="sldNum" sz="quarter" idx="12"/>
          </p:nvPr>
        </p:nvSpPr>
        <p:spPr>
          <a:xfrm>
            <a:off x="138819" y="6325497"/>
            <a:ext cx="365760" cy="365760"/>
          </a:xfrm>
        </p:spPr>
        <p:txBody>
          <a:bodyPr/>
          <a:lstStyle/>
          <a:p>
            <a:fld id="{DC9343CD-AD41-EB41-8188-98BA88D5B910}" type="slidenum">
              <a:rPr lang="en-GH" smtClean="0"/>
              <a:t>14</a:t>
            </a:fld>
            <a:endParaRPr lang="en-GH"/>
          </a:p>
        </p:txBody>
      </p:sp>
    </p:spTree>
    <p:extLst>
      <p:ext uri="{BB962C8B-B14F-4D97-AF65-F5344CB8AC3E}">
        <p14:creationId xmlns:p14="http://schemas.microsoft.com/office/powerpoint/2010/main" val="3002808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90C13-A229-FE40-9C89-653BF3E7F259}"/>
              </a:ext>
            </a:extLst>
          </p:cNvPr>
          <p:cNvSpPr>
            <a:spLocks noGrp="1"/>
          </p:cNvSpPr>
          <p:nvPr>
            <p:ph type="title"/>
          </p:nvPr>
        </p:nvSpPr>
        <p:spPr/>
        <p:txBody>
          <a:bodyPr>
            <a:normAutofit fontScale="90000"/>
          </a:bodyPr>
          <a:lstStyle/>
          <a:p>
            <a:r>
              <a:rPr lang="en-GB" dirty="0"/>
              <a:t>S</a:t>
            </a:r>
            <a:r>
              <a:rPr lang="en-GH" dirty="0"/>
              <a:t>olution</a:t>
            </a:r>
            <a:br>
              <a:rPr lang="en-GH" dirty="0"/>
            </a:br>
            <a:r>
              <a:rPr lang="en-GH" dirty="0"/>
              <a:t>The ordering of the unit combinations </a:t>
            </a:r>
          </a:p>
        </p:txBody>
      </p:sp>
      <p:pic>
        <p:nvPicPr>
          <p:cNvPr id="4" name="Picture 3">
            <a:extLst>
              <a:ext uri="{FF2B5EF4-FFF2-40B4-BE49-F238E27FC236}">
                <a16:creationId xmlns:a16="http://schemas.microsoft.com/office/drawing/2014/main" id="{6FD5D380-0E37-9C4E-ADC0-178615C02DAB}"/>
              </a:ext>
            </a:extLst>
          </p:cNvPr>
          <p:cNvPicPr>
            <a:picLocks noChangeAspect="1"/>
          </p:cNvPicPr>
          <p:nvPr/>
        </p:nvPicPr>
        <p:blipFill>
          <a:blip r:embed="rId2"/>
          <a:stretch>
            <a:fillRect/>
          </a:stretch>
        </p:blipFill>
        <p:spPr>
          <a:xfrm>
            <a:off x="2524808" y="2153412"/>
            <a:ext cx="7142383" cy="4542944"/>
          </a:xfrm>
          <a:prstGeom prst="rect">
            <a:avLst/>
          </a:prstGeom>
        </p:spPr>
      </p:pic>
      <p:sp>
        <p:nvSpPr>
          <p:cNvPr id="5" name="Slide Number Placeholder 4">
            <a:extLst>
              <a:ext uri="{FF2B5EF4-FFF2-40B4-BE49-F238E27FC236}">
                <a16:creationId xmlns:a16="http://schemas.microsoft.com/office/drawing/2014/main" id="{ACB872FF-EFA0-2F46-A002-B852980355B4}"/>
              </a:ext>
            </a:extLst>
          </p:cNvPr>
          <p:cNvSpPr>
            <a:spLocks noGrp="1"/>
          </p:cNvSpPr>
          <p:nvPr>
            <p:ph type="sldNum" sz="quarter" idx="12"/>
          </p:nvPr>
        </p:nvSpPr>
        <p:spPr/>
        <p:txBody>
          <a:bodyPr/>
          <a:lstStyle/>
          <a:p>
            <a:fld id="{DC9343CD-AD41-EB41-8188-98BA88D5B910}" type="slidenum">
              <a:rPr lang="en-GH" smtClean="0"/>
              <a:t>15</a:t>
            </a:fld>
            <a:endParaRPr lang="en-GH"/>
          </a:p>
        </p:txBody>
      </p:sp>
    </p:spTree>
    <p:extLst>
      <p:ext uri="{BB962C8B-B14F-4D97-AF65-F5344CB8AC3E}">
        <p14:creationId xmlns:p14="http://schemas.microsoft.com/office/powerpoint/2010/main" val="302105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40577-9526-E240-8817-543D9F607009}"/>
              </a:ext>
            </a:extLst>
          </p:cNvPr>
          <p:cNvSpPr>
            <a:spLocks noGrp="1"/>
          </p:cNvSpPr>
          <p:nvPr>
            <p:ph type="title"/>
          </p:nvPr>
        </p:nvSpPr>
        <p:spPr/>
        <p:txBody>
          <a:bodyPr/>
          <a:lstStyle/>
          <a:p>
            <a:r>
              <a:rPr lang="en-GH" dirty="0"/>
              <a:t>solution</a:t>
            </a:r>
          </a:p>
        </p:txBody>
      </p:sp>
      <p:sp>
        <p:nvSpPr>
          <p:cNvPr id="3" name="Content Placeholder 2">
            <a:extLst>
              <a:ext uri="{FF2B5EF4-FFF2-40B4-BE49-F238E27FC236}">
                <a16:creationId xmlns:a16="http://schemas.microsoft.com/office/drawing/2014/main" id="{E872490C-83FC-A44D-AD82-81FD2CA7B62E}"/>
              </a:ext>
            </a:extLst>
          </p:cNvPr>
          <p:cNvSpPr>
            <a:spLocks noGrp="1"/>
          </p:cNvSpPr>
          <p:nvPr>
            <p:ph idx="1"/>
          </p:nvPr>
        </p:nvSpPr>
        <p:spPr/>
        <p:txBody>
          <a:bodyPr>
            <a:normAutofit fontScale="92500" lnSpcReduction="10000"/>
          </a:bodyPr>
          <a:lstStyle/>
          <a:p>
            <a:pPr algn="just">
              <a:lnSpc>
                <a:spcPct val="150000"/>
              </a:lnSpc>
            </a:pPr>
            <a:r>
              <a:rPr lang="en-GB" dirty="0"/>
              <a:t>Neglecting the constraints of unit minimum up/down time. Solve UC problem using the priority list order.</a:t>
            </a:r>
          </a:p>
          <a:p>
            <a:pPr algn="just">
              <a:lnSpc>
                <a:spcPct val="150000"/>
              </a:lnSpc>
            </a:pPr>
            <a:r>
              <a:rPr lang="en-GB" dirty="0"/>
              <a:t>In case 1, units are committed in order until the load is satisfied. </a:t>
            </a:r>
          </a:p>
          <a:p>
            <a:pPr algn="just">
              <a:lnSpc>
                <a:spcPct val="150000"/>
              </a:lnSpc>
            </a:pPr>
            <a:r>
              <a:rPr lang="en-GB" dirty="0"/>
              <a:t>The total cost for the interval is the sum of the eight dispatch costs plus the transitional costs for starting any units. </a:t>
            </a:r>
          </a:p>
          <a:p>
            <a:pPr algn="just">
              <a:lnSpc>
                <a:spcPct val="150000"/>
              </a:lnSpc>
            </a:pPr>
            <a:r>
              <a:rPr lang="en-GB" dirty="0"/>
              <a:t>It can be known from the average production cost in the Table on slide 14  that the priority order for the four units is unit 3, unit 2, unit 1, unit 4. </a:t>
            </a:r>
          </a:p>
          <a:p>
            <a:pPr algn="just">
              <a:lnSpc>
                <a:spcPct val="150000"/>
              </a:lnSpc>
            </a:pPr>
            <a:endParaRPr lang="en-GH" dirty="0"/>
          </a:p>
        </p:txBody>
      </p:sp>
      <p:sp>
        <p:nvSpPr>
          <p:cNvPr id="5" name="Slide Number Placeholder 4">
            <a:extLst>
              <a:ext uri="{FF2B5EF4-FFF2-40B4-BE49-F238E27FC236}">
                <a16:creationId xmlns:a16="http://schemas.microsoft.com/office/drawing/2014/main" id="{4039E469-3EB6-534F-AAB6-8E8BD9D24013}"/>
              </a:ext>
            </a:extLst>
          </p:cNvPr>
          <p:cNvSpPr>
            <a:spLocks noGrp="1"/>
          </p:cNvSpPr>
          <p:nvPr>
            <p:ph type="sldNum" sz="quarter" idx="12"/>
          </p:nvPr>
        </p:nvSpPr>
        <p:spPr/>
        <p:txBody>
          <a:bodyPr/>
          <a:lstStyle/>
          <a:p>
            <a:fld id="{DC9343CD-AD41-EB41-8188-98BA88D5B910}" type="slidenum">
              <a:rPr lang="en-GH" smtClean="0"/>
              <a:t>16</a:t>
            </a:fld>
            <a:endParaRPr lang="en-GH"/>
          </a:p>
        </p:txBody>
      </p:sp>
    </p:spTree>
    <p:extLst>
      <p:ext uri="{BB962C8B-B14F-4D97-AF65-F5344CB8AC3E}">
        <p14:creationId xmlns:p14="http://schemas.microsoft.com/office/powerpoint/2010/main" val="25630923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EE746-B782-FD49-B491-5EBC7C9B42E5}"/>
              </a:ext>
            </a:extLst>
          </p:cNvPr>
          <p:cNvSpPr>
            <a:spLocks noGrp="1"/>
          </p:cNvSpPr>
          <p:nvPr>
            <p:ph type="title"/>
          </p:nvPr>
        </p:nvSpPr>
        <p:spPr/>
        <p:txBody>
          <a:bodyPr/>
          <a:lstStyle/>
          <a:p>
            <a:r>
              <a:rPr lang="en-GH" dirty="0"/>
              <a:t>solution</a:t>
            </a:r>
          </a:p>
        </p:txBody>
      </p:sp>
      <p:sp>
        <p:nvSpPr>
          <p:cNvPr id="3" name="Content Placeholder 2">
            <a:extLst>
              <a:ext uri="{FF2B5EF4-FFF2-40B4-BE49-F238E27FC236}">
                <a16:creationId xmlns:a16="http://schemas.microsoft.com/office/drawing/2014/main" id="{85358C8A-FAE2-B84A-854A-5315F02C597D}"/>
              </a:ext>
            </a:extLst>
          </p:cNvPr>
          <p:cNvSpPr>
            <a:spLocks noGrp="1"/>
          </p:cNvSpPr>
          <p:nvPr>
            <p:ph idx="1"/>
          </p:nvPr>
        </p:nvSpPr>
        <p:spPr/>
        <p:txBody>
          <a:bodyPr>
            <a:normAutofit fontScale="92500" lnSpcReduction="20000"/>
          </a:bodyPr>
          <a:lstStyle/>
          <a:p>
            <a:pPr algn="just">
              <a:lnSpc>
                <a:spcPct val="150000"/>
              </a:lnSpc>
            </a:pPr>
            <a:r>
              <a:rPr lang="en-GB" sz="2000" dirty="0"/>
              <a:t>All possible commitments start from state 12 since the load at first hour is 450 MW, and maximum net capacity from state 1 to state 11 is only 440 MW. </a:t>
            </a:r>
          </a:p>
          <a:p>
            <a:pPr algn="just">
              <a:lnSpc>
                <a:spcPct val="150000"/>
              </a:lnSpc>
            </a:pPr>
            <a:r>
              <a:rPr lang="en-GB" sz="2000" dirty="0"/>
              <a:t>In addition, state 13 is discarded since it does not satisfy the order of the priority list. </a:t>
            </a:r>
          </a:p>
          <a:p>
            <a:pPr algn="just">
              <a:lnSpc>
                <a:spcPct val="150000"/>
              </a:lnSpc>
            </a:pPr>
            <a:r>
              <a:rPr lang="en-GB" sz="2000" dirty="0"/>
              <a:t>The UC results for the priority ordered method are listed in the Table on the next slide .</a:t>
            </a:r>
          </a:p>
          <a:p>
            <a:pPr algn="just">
              <a:lnSpc>
                <a:spcPct val="150000"/>
              </a:lnSpc>
            </a:pPr>
            <a:endParaRPr lang="en-GH" sz="2000" dirty="0"/>
          </a:p>
        </p:txBody>
      </p:sp>
      <p:sp>
        <p:nvSpPr>
          <p:cNvPr id="4" name="Slide Number Placeholder 3">
            <a:extLst>
              <a:ext uri="{FF2B5EF4-FFF2-40B4-BE49-F238E27FC236}">
                <a16:creationId xmlns:a16="http://schemas.microsoft.com/office/drawing/2014/main" id="{D6277A97-567C-2641-883F-123AEA621D41}"/>
              </a:ext>
            </a:extLst>
          </p:cNvPr>
          <p:cNvSpPr>
            <a:spLocks noGrp="1"/>
          </p:cNvSpPr>
          <p:nvPr>
            <p:ph type="sldNum" sz="quarter" idx="12"/>
          </p:nvPr>
        </p:nvSpPr>
        <p:spPr/>
        <p:txBody>
          <a:bodyPr/>
          <a:lstStyle/>
          <a:p>
            <a:fld id="{DC9343CD-AD41-EB41-8188-98BA88D5B910}" type="slidenum">
              <a:rPr lang="en-GH" smtClean="0"/>
              <a:t>17</a:t>
            </a:fld>
            <a:endParaRPr lang="en-GH"/>
          </a:p>
        </p:txBody>
      </p:sp>
    </p:spTree>
    <p:extLst>
      <p:ext uri="{BB962C8B-B14F-4D97-AF65-F5344CB8AC3E}">
        <p14:creationId xmlns:p14="http://schemas.microsoft.com/office/powerpoint/2010/main" val="40483383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3C5F2-3E34-9541-ADBF-BE4F4026AAAD}"/>
              </a:ext>
            </a:extLst>
          </p:cNvPr>
          <p:cNvSpPr>
            <a:spLocks noGrp="1"/>
          </p:cNvSpPr>
          <p:nvPr>
            <p:ph type="title"/>
          </p:nvPr>
        </p:nvSpPr>
        <p:spPr/>
        <p:txBody>
          <a:bodyPr/>
          <a:lstStyle/>
          <a:p>
            <a:r>
              <a:rPr lang="en-GB" dirty="0"/>
              <a:t>U</a:t>
            </a:r>
            <a:r>
              <a:rPr lang="en-GH" dirty="0"/>
              <a:t>c results by priority list</a:t>
            </a:r>
          </a:p>
        </p:txBody>
      </p:sp>
      <p:pic>
        <p:nvPicPr>
          <p:cNvPr id="4" name="Picture 3">
            <a:extLst>
              <a:ext uri="{FF2B5EF4-FFF2-40B4-BE49-F238E27FC236}">
                <a16:creationId xmlns:a16="http://schemas.microsoft.com/office/drawing/2014/main" id="{D832CADD-6BB8-8B4A-979A-35E38626A49D}"/>
              </a:ext>
            </a:extLst>
          </p:cNvPr>
          <p:cNvPicPr>
            <a:picLocks noChangeAspect="1"/>
          </p:cNvPicPr>
          <p:nvPr/>
        </p:nvPicPr>
        <p:blipFill>
          <a:blip r:embed="rId2"/>
          <a:stretch>
            <a:fillRect/>
          </a:stretch>
        </p:blipFill>
        <p:spPr>
          <a:xfrm>
            <a:off x="1741642" y="2638044"/>
            <a:ext cx="8708715" cy="2834716"/>
          </a:xfrm>
          <a:prstGeom prst="rect">
            <a:avLst/>
          </a:prstGeom>
        </p:spPr>
      </p:pic>
      <p:sp>
        <p:nvSpPr>
          <p:cNvPr id="5" name="Slide Number Placeholder 4">
            <a:extLst>
              <a:ext uri="{FF2B5EF4-FFF2-40B4-BE49-F238E27FC236}">
                <a16:creationId xmlns:a16="http://schemas.microsoft.com/office/drawing/2014/main" id="{5CBD671A-0658-E84A-91D9-E852FE9BFFFE}"/>
              </a:ext>
            </a:extLst>
          </p:cNvPr>
          <p:cNvSpPr>
            <a:spLocks noGrp="1"/>
          </p:cNvSpPr>
          <p:nvPr>
            <p:ph type="sldNum" sz="quarter" idx="12"/>
          </p:nvPr>
        </p:nvSpPr>
        <p:spPr/>
        <p:txBody>
          <a:bodyPr/>
          <a:lstStyle/>
          <a:p>
            <a:fld id="{DC9343CD-AD41-EB41-8188-98BA88D5B910}" type="slidenum">
              <a:rPr lang="en-GH" smtClean="0"/>
              <a:t>18</a:t>
            </a:fld>
            <a:endParaRPr lang="en-GH"/>
          </a:p>
        </p:txBody>
      </p:sp>
    </p:spTree>
    <p:extLst>
      <p:ext uri="{BB962C8B-B14F-4D97-AF65-F5344CB8AC3E}">
        <p14:creationId xmlns:p14="http://schemas.microsoft.com/office/powerpoint/2010/main" val="4065153584"/>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{4197AA9F-93B4-7440-A7B8-0E94E4BFC94E}tf10001120</Template>
  <TotalTime>5306</TotalTime>
  <Words>955</Words>
  <Application>Microsoft Macintosh PowerPoint</Application>
  <PresentationFormat>Widescreen</PresentationFormat>
  <Paragraphs>69</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 Math</vt:lpstr>
      <vt:lpstr>Gill Sans MT</vt:lpstr>
      <vt:lpstr>Parcel</vt:lpstr>
      <vt:lpstr>ELNG  406 – POWER SYSTEM PLANNING AND OPTIMIZATION</vt:lpstr>
      <vt:lpstr>INTRODUCTION </vt:lpstr>
      <vt:lpstr>INTRODUCTION</vt:lpstr>
      <vt:lpstr>METHODS FOR SOLVING UC </vt:lpstr>
      <vt:lpstr>pRIORITY METHOD</vt:lpstr>
      <vt:lpstr>PRIORITY MEHTOD</vt:lpstr>
      <vt:lpstr>Priority method</vt:lpstr>
      <vt:lpstr>Priority method</vt:lpstr>
      <vt:lpstr>Priority method</vt:lpstr>
      <vt:lpstr>Example 1</vt:lpstr>
      <vt:lpstr>Example 1</vt:lpstr>
      <vt:lpstr>solution</vt:lpstr>
      <vt:lpstr>Example 2 </vt:lpstr>
      <vt:lpstr>Example 2</vt:lpstr>
      <vt:lpstr>Solution The ordering of the unit combinations </vt:lpstr>
      <vt:lpstr>solution</vt:lpstr>
      <vt:lpstr>solution</vt:lpstr>
      <vt:lpstr>Uc results by priority 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ELNG  406 – POWER SYSTEM PLANNING AND OPTIMIZATION</dc:title>
  <dc:creator>Kwabena Amoako Kyeremeh</dc:creator>
  <cp:lastModifiedBy>Kwabena Amoako Kyeremeh</cp:lastModifiedBy>
  <cp:revision>12</cp:revision>
  <dcterms:created xsi:type="dcterms:W3CDTF">2021-07-16T11:07:37Z</dcterms:created>
  <dcterms:modified xsi:type="dcterms:W3CDTF">2021-08-27T14:03:38Z</dcterms:modified>
</cp:coreProperties>
</file>