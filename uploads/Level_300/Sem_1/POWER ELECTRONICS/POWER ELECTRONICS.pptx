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2" r:id="rId1"/>
  </p:sldMasterIdLst>
  <p:notesMasterIdLst>
    <p:notesMasterId r:id="rId43"/>
  </p:notesMasterIdLst>
  <p:sldIdLst>
    <p:sldId id="257" r:id="rId2"/>
    <p:sldId id="325" r:id="rId3"/>
    <p:sldId id="326" r:id="rId4"/>
    <p:sldId id="327" r:id="rId5"/>
    <p:sldId id="360" r:id="rId6"/>
    <p:sldId id="361" r:id="rId7"/>
    <p:sldId id="362" r:id="rId8"/>
    <p:sldId id="363" r:id="rId9"/>
    <p:sldId id="364" r:id="rId10"/>
    <p:sldId id="365" r:id="rId11"/>
    <p:sldId id="396" r:id="rId12"/>
    <p:sldId id="397" r:id="rId13"/>
    <p:sldId id="366" r:id="rId14"/>
    <p:sldId id="328" r:id="rId15"/>
    <p:sldId id="329" r:id="rId16"/>
    <p:sldId id="367" r:id="rId17"/>
    <p:sldId id="368" r:id="rId18"/>
    <p:sldId id="370" r:id="rId19"/>
    <p:sldId id="369" r:id="rId20"/>
    <p:sldId id="372" r:id="rId21"/>
    <p:sldId id="371" r:id="rId22"/>
    <p:sldId id="373" r:id="rId23"/>
    <p:sldId id="374" r:id="rId24"/>
    <p:sldId id="375" r:id="rId25"/>
    <p:sldId id="376" r:id="rId26"/>
    <p:sldId id="377" r:id="rId27"/>
    <p:sldId id="378" r:id="rId28"/>
    <p:sldId id="381" r:id="rId29"/>
    <p:sldId id="382" r:id="rId30"/>
    <p:sldId id="383" r:id="rId31"/>
    <p:sldId id="385" r:id="rId32"/>
    <p:sldId id="386" r:id="rId33"/>
    <p:sldId id="387" r:id="rId34"/>
    <p:sldId id="388" r:id="rId35"/>
    <p:sldId id="389" r:id="rId36"/>
    <p:sldId id="390" r:id="rId37"/>
    <p:sldId id="391" r:id="rId38"/>
    <p:sldId id="392" r:id="rId39"/>
    <p:sldId id="393" r:id="rId40"/>
    <p:sldId id="394" r:id="rId41"/>
    <p:sldId id="395" r:id="rId42"/>
  </p:sldIdLst>
  <p:sldSz cx="12192000" cy="6950075"/>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FFFF"/>
    <a:srgbClr val="0000CC"/>
    <a:srgbClr val="FF3386"/>
    <a:srgbClr val="009750"/>
    <a:srgbClr val="FF006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4C1A8A3-306A-4EB7-A6B1-4F7E0EB9C5D6}" styleName="Medium Style 3 - Acc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5202B0CA-FC54-4496-8BCA-5EF66A818D29}" styleName="Dark Style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1651" autoAdjust="0"/>
    <p:restoredTop sz="95165" autoAdjust="0"/>
  </p:normalViewPr>
  <p:slideViewPr>
    <p:cSldViewPr snapToGrid="0">
      <p:cViewPr varScale="1">
        <p:scale>
          <a:sx n="79" d="100"/>
          <a:sy n="79" d="100"/>
        </p:scale>
        <p:origin x="1003" y="82"/>
      </p:cViewPr>
      <p:guideLst/>
    </p:cSldViewPr>
  </p:slideViewPr>
  <p:outlineViewPr>
    <p:cViewPr>
      <p:scale>
        <a:sx n="33" d="100"/>
        <a:sy n="33" d="100"/>
      </p:scale>
      <p:origin x="0" y="0"/>
    </p:cViewPr>
  </p:outlineViewPr>
  <p:notesTextViewPr>
    <p:cViewPr>
      <p:scale>
        <a:sx n="3" d="2"/>
        <a:sy n="3" d="2"/>
      </p:scale>
      <p:origin x="0" y="0"/>
    </p:cViewPr>
  </p:notesTextViewPr>
  <p:sorterViewPr>
    <p:cViewPr>
      <p:scale>
        <a:sx n="99" d="100"/>
        <a:sy n="99"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F3AB4F7-4168-49C1-B10C-72746DCF44C5}" type="datetimeFigureOut">
              <a:rPr lang="en-US" smtClean="0"/>
              <a:t>8/22/2024</a:t>
            </a:fld>
            <a:endParaRPr lang="en-US"/>
          </a:p>
        </p:txBody>
      </p:sp>
      <p:sp>
        <p:nvSpPr>
          <p:cNvPr id="4" name="Slide Image Placeholder 3"/>
          <p:cNvSpPr>
            <a:spLocks noGrp="1" noRot="1" noChangeAspect="1"/>
          </p:cNvSpPr>
          <p:nvPr>
            <p:ph type="sldImg" idx="2"/>
          </p:nvPr>
        </p:nvSpPr>
        <p:spPr>
          <a:xfrm>
            <a:off x="722313" y="1143000"/>
            <a:ext cx="5413375"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B723A5C-25BF-445E-8497-D8A03AE08D56}" type="slidenum">
              <a:rPr lang="en-US" smtClean="0"/>
              <a:t>‹#›</a:t>
            </a:fld>
            <a:endParaRPr lang="en-US"/>
          </a:p>
        </p:txBody>
      </p:sp>
    </p:spTree>
    <p:extLst>
      <p:ext uri="{BB962C8B-B14F-4D97-AF65-F5344CB8AC3E}">
        <p14:creationId xmlns:p14="http://schemas.microsoft.com/office/powerpoint/2010/main" val="411940082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Instantaneous power is generally a time-varying quantity. If the passive sign convention illustrated in (a) is observed, the device is absorbing power if p(t) is positive at a specified value of time t. The device is supplying power if p(t) is negative. Source frequently have an assumed current direction consistent with supplying power.   </a:t>
            </a:r>
          </a:p>
        </p:txBody>
      </p:sp>
      <p:sp>
        <p:nvSpPr>
          <p:cNvPr id="4" name="Slide Number Placeholder 3"/>
          <p:cNvSpPr>
            <a:spLocks noGrp="1"/>
          </p:cNvSpPr>
          <p:nvPr>
            <p:ph type="sldNum" sz="quarter" idx="5"/>
          </p:nvPr>
        </p:nvSpPr>
        <p:spPr/>
        <p:txBody>
          <a:bodyPr/>
          <a:lstStyle/>
          <a:p>
            <a:fld id="{7B723A5C-25BF-445E-8497-D8A03AE08D56}" type="slidenum">
              <a:rPr lang="en-US" smtClean="0"/>
              <a:t>14</a:t>
            </a:fld>
            <a:endParaRPr lang="en-US"/>
          </a:p>
        </p:txBody>
      </p:sp>
    </p:spTree>
    <p:extLst>
      <p:ext uri="{BB962C8B-B14F-4D97-AF65-F5344CB8AC3E}">
        <p14:creationId xmlns:p14="http://schemas.microsoft.com/office/powerpoint/2010/main" val="348406700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B723A5C-25BF-445E-8497-D8A03AE08D56}" type="slidenum">
              <a:rPr lang="en-US" smtClean="0"/>
              <a:t>15</a:t>
            </a:fld>
            <a:endParaRPr lang="en-US"/>
          </a:p>
        </p:txBody>
      </p:sp>
    </p:spTree>
    <p:extLst>
      <p:ext uri="{BB962C8B-B14F-4D97-AF65-F5344CB8AC3E}">
        <p14:creationId xmlns:p14="http://schemas.microsoft.com/office/powerpoint/2010/main" val="138654879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B723A5C-25BF-445E-8497-D8A03AE08D56}" type="slidenum">
              <a:rPr lang="en-US" smtClean="0"/>
              <a:t>16</a:t>
            </a:fld>
            <a:endParaRPr lang="en-US"/>
          </a:p>
        </p:txBody>
      </p:sp>
    </p:spTree>
    <p:extLst>
      <p:ext uri="{BB962C8B-B14F-4D97-AF65-F5344CB8AC3E}">
        <p14:creationId xmlns:p14="http://schemas.microsoft.com/office/powerpoint/2010/main" val="128643729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B723A5C-25BF-445E-8497-D8A03AE08D56}" type="slidenum">
              <a:rPr lang="en-US" smtClean="0"/>
              <a:t>17</a:t>
            </a:fld>
            <a:endParaRPr lang="en-US"/>
          </a:p>
        </p:txBody>
      </p:sp>
    </p:spTree>
    <p:extLst>
      <p:ext uri="{BB962C8B-B14F-4D97-AF65-F5344CB8AC3E}">
        <p14:creationId xmlns:p14="http://schemas.microsoft.com/office/powerpoint/2010/main" val="295534963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B723A5C-25BF-445E-8497-D8A03AE08D56}" type="slidenum">
              <a:rPr lang="en-US" smtClean="0"/>
              <a:t>18</a:t>
            </a:fld>
            <a:endParaRPr lang="en-US"/>
          </a:p>
        </p:txBody>
      </p:sp>
    </p:spTree>
    <p:extLst>
      <p:ext uri="{BB962C8B-B14F-4D97-AF65-F5344CB8AC3E}">
        <p14:creationId xmlns:p14="http://schemas.microsoft.com/office/powerpoint/2010/main" val="153478884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B723A5C-25BF-445E-8497-D8A03AE08D56}" type="slidenum">
              <a:rPr lang="en-US" smtClean="0"/>
              <a:t>19</a:t>
            </a:fld>
            <a:endParaRPr lang="en-US"/>
          </a:p>
        </p:txBody>
      </p:sp>
    </p:spTree>
    <p:extLst>
      <p:ext uri="{BB962C8B-B14F-4D97-AF65-F5344CB8AC3E}">
        <p14:creationId xmlns:p14="http://schemas.microsoft.com/office/powerpoint/2010/main" val="334406703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B723A5C-25BF-445E-8497-D8A03AE08D56}" type="slidenum">
              <a:rPr lang="en-US" smtClean="0"/>
              <a:t>20</a:t>
            </a:fld>
            <a:endParaRPr lang="en-US"/>
          </a:p>
        </p:txBody>
      </p:sp>
    </p:spTree>
    <p:extLst>
      <p:ext uri="{BB962C8B-B14F-4D97-AF65-F5344CB8AC3E}">
        <p14:creationId xmlns:p14="http://schemas.microsoft.com/office/powerpoint/2010/main" val="52275723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B723A5C-25BF-445E-8497-D8A03AE08D56}" type="slidenum">
              <a:rPr lang="en-US" smtClean="0"/>
              <a:t>21</a:t>
            </a:fld>
            <a:endParaRPr lang="en-US"/>
          </a:p>
        </p:txBody>
      </p:sp>
    </p:spTree>
    <p:extLst>
      <p:ext uri="{BB962C8B-B14F-4D97-AF65-F5344CB8AC3E}">
        <p14:creationId xmlns:p14="http://schemas.microsoft.com/office/powerpoint/2010/main" val="108022236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B723A5C-25BF-445E-8497-D8A03AE08D56}" type="slidenum">
              <a:rPr lang="en-US" smtClean="0"/>
              <a:t>22</a:t>
            </a:fld>
            <a:endParaRPr lang="en-US"/>
          </a:p>
        </p:txBody>
      </p:sp>
    </p:spTree>
    <p:extLst>
      <p:ext uri="{BB962C8B-B14F-4D97-AF65-F5344CB8AC3E}">
        <p14:creationId xmlns:p14="http://schemas.microsoft.com/office/powerpoint/2010/main" val="375648302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B723A5C-25BF-445E-8497-D8A03AE08D56}" type="slidenum">
              <a:rPr lang="en-US" smtClean="0"/>
              <a:t>23</a:t>
            </a:fld>
            <a:endParaRPr lang="en-US"/>
          </a:p>
        </p:txBody>
      </p:sp>
    </p:spTree>
    <p:extLst>
      <p:ext uri="{BB962C8B-B14F-4D97-AF65-F5344CB8AC3E}">
        <p14:creationId xmlns:p14="http://schemas.microsoft.com/office/powerpoint/2010/main" val="316847133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B723A5C-25BF-445E-8497-D8A03AE08D56}" type="slidenum">
              <a:rPr lang="en-US" smtClean="0"/>
              <a:t>24</a:t>
            </a:fld>
            <a:endParaRPr lang="en-US"/>
          </a:p>
        </p:txBody>
      </p:sp>
    </p:spTree>
    <p:extLst>
      <p:ext uri="{BB962C8B-B14F-4D97-AF65-F5344CB8AC3E}">
        <p14:creationId xmlns:p14="http://schemas.microsoft.com/office/powerpoint/2010/main" val="331553791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B723A5C-25BF-445E-8497-D8A03AE08D56}" type="slidenum">
              <a:rPr lang="en-US" smtClean="0"/>
              <a:t>25</a:t>
            </a:fld>
            <a:endParaRPr lang="en-US"/>
          </a:p>
        </p:txBody>
      </p:sp>
    </p:spTree>
    <p:extLst>
      <p:ext uri="{BB962C8B-B14F-4D97-AF65-F5344CB8AC3E}">
        <p14:creationId xmlns:p14="http://schemas.microsoft.com/office/powerpoint/2010/main" val="24510421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B723A5C-25BF-445E-8497-D8A03AE08D56}" type="slidenum">
              <a:rPr lang="en-US" smtClean="0"/>
              <a:t>26</a:t>
            </a:fld>
            <a:endParaRPr lang="en-US"/>
          </a:p>
        </p:txBody>
      </p:sp>
    </p:spTree>
    <p:extLst>
      <p:ext uri="{BB962C8B-B14F-4D97-AF65-F5344CB8AC3E}">
        <p14:creationId xmlns:p14="http://schemas.microsoft.com/office/powerpoint/2010/main" val="196460590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B723A5C-25BF-445E-8497-D8A03AE08D56}" type="slidenum">
              <a:rPr lang="en-US" smtClean="0"/>
              <a:t>27</a:t>
            </a:fld>
            <a:endParaRPr lang="en-US"/>
          </a:p>
        </p:txBody>
      </p:sp>
    </p:spTree>
    <p:extLst>
      <p:ext uri="{BB962C8B-B14F-4D97-AF65-F5344CB8AC3E}">
        <p14:creationId xmlns:p14="http://schemas.microsoft.com/office/powerpoint/2010/main" val="36703746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B723A5C-25BF-445E-8497-D8A03AE08D56}" type="slidenum">
              <a:rPr lang="en-US" smtClean="0"/>
              <a:t>28</a:t>
            </a:fld>
            <a:endParaRPr lang="en-US"/>
          </a:p>
        </p:txBody>
      </p:sp>
    </p:spTree>
    <p:extLst>
      <p:ext uri="{BB962C8B-B14F-4D97-AF65-F5344CB8AC3E}">
        <p14:creationId xmlns:p14="http://schemas.microsoft.com/office/powerpoint/2010/main" val="395813759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B723A5C-25BF-445E-8497-D8A03AE08D56}" type="slidenum">
              <a:rPr lang="en-US" smtClean="0"/>
              <a:t>29</a:t>
            </a:fld>
            <a:endParaRPr lang="en-US"/>
          </a:p>
        </p:txBody>
      </p:sp>
    </p:spTree>
    <p:extLst>
      <p:ext uri="{BB962C8B-B14F-4D97-AF65-F5344CB8AC3E}">
        <p14:creationId xmlns:p14="http://schemas.microsoft.com/office/powerpoint/2010/main" val="106306892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B723A5C-25BF-445E-8497-D8A03AE08D56}" type="slidenum">
              <a:rPr lang="en-US" smtClean="0"/>
              <a:t>30</a:t>
            </a:fld>
            <a:endParaRPr lang="en-US"/>
          </a:p>
        </p:txBody>
      </p:sp>
    </p:spTree>
    <p:extLst>
      <p:ext uri="{BB962C8B-B14F-4D97-AF65-F5344CB8AC3E}">
        <p14:creationId xmlns:p14="http://schemas.microsoft.com/office/powerpoint/2010/main" val="75161882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B723A5C-25BF-445E-8497-D8A03AE08D56}" type="slidenum">
              <a:rPr lang="en-US" smtClean="0"/>
              <a:t>31</a:t>
            </a:fld>
            <a:endParaRPr lang="en-US"/>
          </a:p>
        </p:txBody>
      </p:sp>
    </p:spTree>
    <p:extLst>
      <p:ext uri="{BB962C8B-B14F-4D97-AF65-F5344CB8AC3E}">
        <p14:creationId xmlns:p14="http://schemas.microsoft.com/office/powerpoint/2010/main" val="147201519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B723A5C-25BF-445E-8497-D8A03AE08D56}" type="slidenum">
              <a:rPr lang="en-US" smtClean="0"/>
              <a:t>32</a:t>
            </a:fld>
            <a:endParaRPr lang="en-US"/>
          </a:p>
        </p:txBody>
      </p:sp>
    </p:spTree>
    <p:extLst>
      <p:ext uri="{BB962C8B-B14F-4D97-AF65-F5344CB8AC3E}">
        <p14:creationId xmlns:p14="http://schemas.microsoft.com/office/powerpoint/2010/main" val="376695327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B723A5C-25BF-445E-8497-D8A03AE08D56}" type="slidenum">
              <a:rPr lang="en-US" smtClean="0"/>
              <a:t>33</a:t>
            </a:fld>
            <a:endParaRPr lang="en-US"/>
          </a:p>
        </p:txBody>
      </p:sp>
    </p:spTree>
    <p:extLst>
      <p:ext uri="{BB962C8B-B14F-4D97-AF65-F5344CB8AC3E}">
        <p14:creationId xmlns:p14="http://schemas.microsoft.com/office/powerpoint/2010/main" val="191931674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B723A5C-25BF-445E-8497-D8A03AE08D56}" type="slidenum">
              <a:rPr lang="en-US" smtClean="0"/>
              <a:t>34</a:t>
            </a:fld>
            <a:endParaRPr lang="en-US"/>
          </a:p>
        </p:txBody>
      </p:sp>
    </p:spTree>
    <p:extLst>
      <p:ext uri="{BB962C8B-B14F-4D97-AF65-F5344CB8AC3E}">
        <p14:creationId xmlns:p14="http://schemas.microsoft.com/office/powerpoint/2010/main" val="378005671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B723A5C-25BF-445E-8497-D8A03AE08D56}" type="slidenum">
              <a:rPr lang="en-US" smtClean="0"/>
              <a:t>35</a:t>
            </a:fld>
            <a:endParaRPr lang="en-US"/>
          </a:p>
        </p:txBody>
      </p:sp>
    </p:spTree>
    <p:extLst>
      <p:ext uri="{BB962C8B-B14F-4D97-AF65-F5344CB8AC3E}">
        <p14:creationId xmlns:p14="http://schemas.microsoft.com/office/powerpoint/2010/main" val="178708087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B723A5C-25BF-445E-8497-D8A03AE08D56}" type="slidenum">
              <a:rPr lang="en-US" smtClean="0"/>
              <a:t>36</a:t>
            </a:fld>
            <a:endParaRPr lang="en-US"/>
          </a:p>
        </p:txBody>
      </p:sp>
    </p:spTree>
    <p:extLst>
      <p:ext uri="{BB962C8B-B14F-4D97-AF65-F5344CB8AC3E}">
        <p14:creationId xmlns:p14="http://schemas.microsoft.com/office/powerpoint/2010/main" val="105549691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B723A5C-25BF-445E-8497-D8A03AE08D56}" type="slidenum">
              <a:rPr lang="en-US" smtClean="0"/>
              <a:t>37</a:t>
            </a:fld>
            <a:endParaRPr lang="en-US"/>
          </a:p>
        </p:txBody>
      </p:sp>
    </p:spTree>
    <p:extLst>
      <p:ext uri="{BB962C8B-B14F-4D97-AF65-F5344CB8AC3E}">
        <p14:creationId xmlns:p14="http://schemas.microsoft.com/office/powerpoint/2010/main" val="337887911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B723A5C-25BF-445E-8497-D8A03AE08D56}" type="slidenum">
              <a:rPr lang="en-US" smtClean="0"/>
              <a:t>38</a:t>
            </a:fld>
            <a:endParaRPr lang="en-US"/>
          </a:p>
        </p:txBody>
      </p:sp>
    </p:spTree>
    <p:extLst>
      <p:ext uri="{BB962C8B-B14F-4D97-AF65-F5344CB8AC3E}">
        <p14:creationId xmlns:p14="http://schemas.microsoft.com/office/powerpoint/2010/main" val="73523284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B723A5C-25BF-445E-8497-D8A03AE08D56}" type="slidenum">
              <a:rPr lang="en-US" smtClean="0"/>
              <a:t>39</a:t>
            </a:fld>
            <a:endParaRPr lang="en-US"/>
          </a:p>
        </p:txBody>
      </p:sp>
    </p:spTree>
    <p:extLst>
      <p:ext uri="{BB962C8B-B14F-4D97-AF65-F5344CB8AC3E}">
        <p14:creationId xmlns:p14="http://schemas.microsoft.com/office/powerpoint/2010/main" val="413935176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B723A5C-25BF-445E-8497-D8A03AE08D56}" type="slidenum">
              <a:rPr lang="en-US" smtClean="0"/>
              <a:t>40</a:t>
            </a:fld>
            <a:endParaRPr lang="en-US"/>
          </a:p>
        </p:txBody>
      </p:sp>
    </p:spTree>
    <p:extLst>
      <p:ext uri="{BB962C8B-B14F-4D97-AF65-F5344CB8AC3E}">
        <p14:creationId xmlns:p14="http://schemas.microsoft.com/office/powerpoint/2010/main" val="27900555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B723A5C-25BF-445E-8497-D8A03AE08D56}" type="slidenum">
              <a:rPr lang="en-US" smtClean="0"/>
              <a:t>41</a:t>
            </a:fld>
            <a:endParaRPr lang="en-US"/>
          </a:p>
        </p:txBody>
      </p:sp>
    </p:spTree>
    <p:extLst>
      <p:ext uri="{BB962C8B-B14F-4D97-AF65-F5344CB8AC3E}">
        <p14:creationId xmlns:p14="http://schemas.microsoft.com/office/powerpoint/2010/main" val="421746222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hyperlink" Target="https://www.knust.edu.gh/" TargetMode="External"/><Relationship Id="rId7"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hyperlink" Target="https://www.facebook.com/knust.Ghana/" TargetMode="External"/><Relationship Id="rId5" Type="http://schemas.openxmlformats.org/officeDocument/2006/relationships/image" Target="../media/image2.jpeg"/><Relationship Id="rId4" Type="http://schemas.openxmlformats.org/officeDocument/2006/relationships/hyperlink" Target="https://twitter.com/_knust_" TargetMode="Externa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37432"/>
            <a:ext cx="9144000" cy="2419656"/>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50399"/>
            <a:ext cx="9144000" cy="1677992"/>
          </a:xfrm>
        </p:spPr>
        <p:txBody>
          <a:bodyPr/>
          <a:lstStyle>
            <a:lvl1pPr marL="0" indent="0" algn="ctr">
              <a:buNone/>
              <a:defRPr sz="2400"/>
            </a:lvl1pPr>
            <a:lvl2pPr marL="457191" indent="0" algn="ctr">
              <a:buNone/>
              <a:defRPr sz="2000"/>
            </a:lvl2pPr>
            <a:lvl3pPr marL="914382" indent="0" algn="ctr">
              <a:buNone/>
              <a:defRPr sz="1800"/>
            </a:lvl3pPr>
            <a:lvl4pPr marL="1371573" indent="0" algn="ctr">
              <a:buNone/>
              <a:defRPr sz="1600"/>
            </a:lvl4pPr>
            <a:lvl5pPr marL="1828764" indent="0" algn="ctr">
              <a:buNone/>
              <a:defRPr sz="1600"/>
            </a:lvl5pPr>
            <a:lvl6pPr marL="2285955" indent="0" algn="ctr">
              <a:buNone/>
              <a:defRPr sz="1600"/>
            </a:lvl6pPr>
            <a:lvl7pPr marL="2743146" indent="0" algn="ctr">
              <a:buNone/>
              <a:defRPr sz="1600"/>
            </a:lvl7pPr>
            <a:lvl8pPr marL="3200337" indent="0" algn="ctr">
              <a:buNone/>
              <a:defRPr sz="1600"/>
            </a:lvl8pPr>
            <a:lvl9pPr marL="3657528"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96966DD-5AE4-46F3-88B1-988F776BF6BC}" type="datetimeFigureOut">
              <a:rPr lang="en-US" smtClean="0"/>
              <a:t>8/22/2024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F794D71-FCCD-4D15-9917-1C27922B1847}" type="slidenum">
              <a:rPr lang="en-US" smtClean="0"/>
              <a:t>‹#›</a:t>
            </a:fld>
            <a:endParaRPr lang="en-US"/>
          </a:p>
        </p:txBody>
      </p:sp>
    </p:spTree>
    <p:extLst>
      <p:ext uri="{BB962C8B-B14F-4D97-AF65-F5344CB8AC3E}">
        <p14:creationId xmlns:p14="http://schemas.microsoft.com/office/powerpoint/2010/main" val="410463623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96966DD-5AE4-46F3-88B1-988F776BF6BC}" type="datetimeFigureOut">
              <a:rPr lang="en-US" smtClean="0"/>
              <a:t>8/22/2024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F794D71-FCCD-4D15-9917-1C27922B1847}" type="slidenum">
              <a:rPr lang="en-US" smtClean="0"/>
              <a:t>‹#›</a:t>
            </a:fld>
            <a:endParaRPr lang="en-US"/>
          </a:p>
        </p:txBody>
      </p:sp>
    </p:spTree>
    <p:extLst>
      <p:ext uri="{BB962C8B-B14F-4D97-AF65-F5344CB8AC3E}">
        <p14:creationId xmlns:p14="http://schemas.microsoft.com/office/powerpoint/2010/main" val="155694264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32693"/>
            <a:ext cx="10515600" cy="2891038"/>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651081"/>
            <a:ext cx="10515600" cy="1520328"/>
          </a:xfrm>
        </p:spPr>
        <p:txBody>
          <a:bodyPr/>
          <a:lstStyle>
            <a:lvl1pPr marL="0" indent="0">
              <a:buNone/>
              <a:defRPr sz="2400">
                <a:solidFill>
                  <a:schemeClr val="tx1">
                    <a:tint val="75000"/>
                  </a:schemeClr>
                </a:solidFill>
              </a:defRPr>
            </a:lvl1pPr>
            <a:lvl2pPr marL="457191" indent="0">
              <a:buNone/>
              <a:defRPr sz="2000">
                <a:solidFill>
                  <a:schemeClr val="tx1">
                    <a:tint val="75000"/>
                  </a:schemeClr>
                </a:solidFill>
              </a:defRPr>
            </a:lvl2pPr>
            <a:lvl3pPr marL="914382" indent="0">
              <a:buNone/>
              <a:defRPr sz="1800">
                <a:solidFill>
                  <a:schemeClr val="tx1">
                    <a:tint val="75000"/>
                  </a:schemeClr>
                </a:solidFill>
              </a:defRPr>
            </a:lvl3pPr>
            <a:lvl4pPr marL="1371573" indent="0">
              <a:buNone/>
              <a:defRPr sz="1600">
                <a:solidFill>
                  <a:schemeClr val="tx1">
                    <a:tint val="75000"/>
                  </a:schemeClr>
                </a:solidFill>
              </a:defRPr>
            </a:lvl4pPr>
            <a:lvl5pPr marL="1828764" indent="0">
              <a:buNone/>
              <a:defRPr sz="1600">
                <a:solidFill>
                  <a:schemeClr val="tx1">
                    <a:tint val="75000"/>
                  </a:schemeClr>
                </a:solidFill>
              </a:defRPr>
            </a:lvl5pPr>
            <a:lvl6pPr marL="2285955" indent="0">
              <a:buNone/>
              <a:defRPr sz="1600">
                <a:solidFill>
                  <a:schemeClr val="tx1">
                    <a:tint val="75000"/>
                  </a:schemeClr>
                </a:solidFill>
              </a:defRPr>
            </a:lvl6pPr>
            <a:lvl7pPr marL="2743146" indent="0">
              <a:buNone/>
              <a:defRPr sz="1600">
                <a:solidFill>
                  <a:schemeClr val="tx1">
                    <a:tint val="75000"/>
                  </a:schemeClr>
                </a:solidFill>
              </a:defRPr>
            </a:lvl7pPr>
            <a:lvl8pPr marL="3200337" indent="0">
              <a:buNone/>
              <a:defRPr sz="1600">
                <a:solidFill>
                  <a:schemeClr val="tx1">
                    <a:tint val="75000"/>
                  </a:schemeClr>
                </a:solidFill>
              </a:defRPr>
            </a:lvl8pPr>
            <a:lvl9pPr marL="3657528"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96966DD-5AE4-46F3-88B1-988F776BF6BC}" type="datetimeFigureOut">
              <a:rPr lang="en-US" smtClean="0"/>
              <a:t>8/22/2024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F794D71-FCCD-4D15-9917-1C27922B1847}" type="slidenum">
              <a:rPr lang="en-US" smtClean="0"/>
              <a:t>‹#›</a:t>
            </a:fld>
            <a:endParaRPr lang="en-US"/>
          </a:p>
        </p:txBody>
      </p:sp>
    </p:spTree>
    <p:extLst>
      <p:ext uri="{BB962C8B-B14F-4D97-AF65-F5344CB8AC3E}">
        <p14:creationId xmlns:p14="http://schemas.microsoft.com/office/powerpoint/2010/main" val="131784109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50138"/>
            <a:ext cx="5181600" cy="440975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50138"/>
            <a:ext cx="5181600" cy="440975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96966DD-5AE4-46F3-88B1-988F776BF6BC}" type="datetimeFigureOut">
              <a:rPr lang="en-US" smtClean="0"/>
              <a:t>8/22/2024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F794D71-FCCD-4D15-9917-1C27922B1847}" type="slidenum">
              <a:rPr lang="en-US" smtClean="0"/>
              <a:t>‹#›</a:t>
            </a:fld>
            <a:endParaRPr lang="en-US"/>
          </a:p>
        </p:txBody>
      </p:sp>
    </p:spTree>
    <p:extLst>
      <p:ext uri="{BB962C8B-B14F-4D97-AF65-F5344CB8AC3E}">
        <p14:creationId xmlns:p14="http://schemas.microsoft.com/office/powerpoint/2010/main" val="34956718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70028"/>
            <a:ext cx="10515600" cy="1343360"/>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91" y="1703734"/>
            <a:ext cx="5157787" cy="834974"/>
          </a:xfrm>
        </p:spPr>
        <p:txBody>
          <a:bodyPr anchor="b"/>
          <a:lstStyle>
            <a:lvl1pPr marL="0" indent="0">
              <a:buNone/>
              <a:defRPr sz="2400" b="1"/>
            </a:lvl1pPr>
            <a:lvl2pPr marL="457191" indent="0">
              <a:buNone/>
              <a:defRPr sz="2000" b="1"/>
            </a:lvl2pPr>
            <a:lvl3pPr marL="914382" indent="0">
              <a:buNone/>
              <a:defRPr sz="1800" b="1"/>
            </a:lvl3pPr>
            <a:lvl4pPr marL="1371573" indent="0">
              <a:buNone/>
              <a:defRPr sz="1600" b="1"/>
            </a:lvl4pPr>
            <a:lvl5pPr marL="1828764" indent="0">
              <a:buNone/>
              <a:defRPr sz="1600" b="1"/>
            </a:lvl5pPr>
            <a:lvl6pPr marL="2285955" indent="0">
              <a:buNone/>
              <a:defRPr sz="1600" b="1"/>
            </a:lvl6pPr>
            <a:lvl7pPr marL="2743146" indent="0">
              <a:buNone/>
              <a:defRPr sz="1600" b="1"/>
            </a:lvl7pPr>
            <a:lvl8pPr marL="3200337" indent="0">
              <a:buNone/>
              <a:defRPr sz="1600" b="1"/>
            </a:lvl8pPr>
            <a:lvl9pPr marL="3657528"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91" y="2538710"/>
            <a:ext cx="5157787" cy="37340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703734"/>
            <a:ext cx="5183188" cy="834974"/>
          </a:xfrm>
        </p:spPr>
        <p:txBody>
          <a:bodyPr anchor="b"/>
          <a:lstStyle>
            <a:lvl1pPr marL="0" indent="0">
              <a:buNone/>
              <a:defRPr sz="2400" b="1"/>
            </a:lvl1pPr>
            <a:lvl2pPr marL="457191" indent="0">
              <a:buNone/>
              <a:defRPr sz="2000" b="1"/>
            </a:lvl2pPr>
            <a:lvl3pPr marL="914382" indent="0">
              <a:buNone/>
              <a:defRPr sz="1800" b="1"/>
            </a:lvl3pPr>
            <a:lvl4pPr marL="1371573" indent="0">
              <a:buNone/>
              <a:defRPr sz="1600" b="1"/>
            </a:lvl4pPr>
            <a:lvl5pPr marL="1828764" indent="0">
              <a:buNone/>
              <a:defRPr sz="1600" b="1"/>
            </a:lvl5pPr>
            <a:lvl6pPr marL="2285955" indent="0">
              <a:buNone/>
              <a:defRPr sz="1600" b="1"/>
            </a:lvl6pPr>
            <a:lvl7pPr marL="2743146" indent="0">
              <a:buNone/>
              <a:defRPr sz="1600" b="1"/>
            </a:lvl7pPr>
            <a:lvl8pPr marL="3200337" indent="0">
              <a:buNone/>
              <a:defRPr sz="1600" b="1"/>
            </a:lvl8pPr>
            <a:lvl9pPr marL="3657528"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38710"/>
            <a:ext cx="5183188" cy="37340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96966DD-5AE4-46F3-88B1-988F776BF6BC}" type="datetimeFigureOut">
              <a:rPr lang="en-US" smtClean="0"/>
              <a:t>8/22/2024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F794D71-FCCD-4D15-9917-1C27922B1847}" type="slidenum">
              <a:rPr lang="en-US" smtClean="0"/>
              <a:t>‹#›</a:t>
            </a:fld>
            <a:endParaRPr lang="en-US"/>
          </a:p>
        </p:txBody>
      </p:sp>
    </p:spTree>
    <p:extLst>
      <p:ext uri="{BB962C8B-B14F-4D97-AF65-F5344CB8AC3E}">
        <p14:creationId xmlns:p14="http://schemas.microsoft.com/office/powerpoint/2010/main" val="330246978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96966DD-5AE4-46F3-88B1-988F776BF6BC}" type="datetimeFigureOut">
              <a:rPr lang="en-US" smtClean="0"/>
              <a:t>8/22/2024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F794D71-FCCD-4D15-9917-1C27922B1847}" type="slidenum">
              <a:rPr lang="en-US" smtClean="0"/>
              <a:t>‹#›</a:t>
            </a:fld>
            <a:endParaRPr lang="en-US"/>
          </a:p>
        </p:txBody>
      </p:sp>
    </p:spTree>
    <p:extLst>
      <p:ext uri="{BB962C8B-B14F-4D97-AF65-F5344CB8AC3E}">
        <p14:creationId xmlns:p14="http://schemas.microsoft.com/office/powerpoint/2010/main" val="9415218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96966DD-5AE4-46F3-88B1-988F776BF6BC}" type="datetimeFigureOut">
              <a:rPr lang="en-US" smtClean="0"/>
              <a:t>8/22/2024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F794D71-FCCD-4D15-9917-1C27922B1847}" type="slidenum">
              <a:rPr lang="en-US" smtClean="0"/>
              <a:t>‹#›</a:t>
            </a:fld>
            <a:endParaRPr lang="en-US"/>
          </a:p>
        </p:txBody>
      </p:sp>
    </p:spTree>
    <p:extLst>
      <p:ext uri="{BB962C8B-B14F-4D97-AF65-F5344CB8AC3E}">
        <p14:creationId xmlns:p14="http://schemas.microsoft.com/office/powerpoint/2010/main" val="122456483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93" y="463338"/>
            <a:ext cx="3932237" cy="1621684"/>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1000683"/>
            <a:ext cx="6172200" cy="4939058"/>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93" y="2085023"/>
            <a:ext cx="3932237" cy="3862762"/>
          </a:xfrm>
        </p:spPr>
        <p:txBody>
          <a:bodyPr/>
          <a:lstStyle>
            <a:lvl1pPr marL="0" indent="0">
              <a:buNone/>
              <a:defRPr sz="1600"/>
            </a:lvl1pPr>
            <a:lvl2pPr marL="457191" indent="0">
              <a:buNone/>
              <a:defRPr sz="1400"/>
            </a:lvl2pPr>
            <a:lvl3pPr marL="914382" indent="0">
              <a:buNone/>
              <a:defRPr sz="1200"/>
            </a:lvl3pPr>
            <a:lvl4pPr marL="1371573" indent="0">
              <a:buNone/>
              <a:defRPr sz="1000"/>
            </a:lvl4pPr>
            <a:lvl5pPr marL="1828764" indent="0">
              <a:buNone/>
              <a:defRPr sz="1000"/>
            </a:lvl5pPr>
            <a:lvl6pPr marL="2285955" indent="0">
              <a:buNone/>
              <a:defRPr sz="1000"/>
            </a:lvl6pPr>
            <a:lvl7pPr marL="2743146" indent="0">
              <a:buNone/>
              <a:defRPr sz="1000"/>
            </a:lvl7pPr>
            <a:lvl8pPr marL="3200337" indent="0">
              <a:buNone/>
              <a:defRPr sz="1000"/>
            </a:lvl8pPr>
            <a:lvl9pPr marL="3657528"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96966DD-5AE4-46F3-88B1-988F776BF6BC}" type="datetimeFigureOut">
              <a:rPr lang="en-US" smtClean="0"/>
              <a:t>8/22/2024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F794D71-FCCD-4D15-9917-1C27922B1847}" type="slidenum">
              <a:rPr lang="en-US" smtClean="0"/>
              <a:t>‹#›</a:t>
            </a:fld>
            <a:endParaRPr lang="en-US"/>
          </a:p>
        </p:txBody>
      </p:sp>
    </p:spTree>
    <p:extLst>
      <p:ext uri="{BB962C8B-B14F-4D97-AF65-F5344CB8AC3E}">
        <p14:creationId xmlns:p14="http://schemas.microsoft.com/office/powerpoint/2010/main" val="427344153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93" y="463338"/>
            <a:ext cx="3932237" cy="1621684"/>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1000683"/>
            <a:ext cx="6172200" cy="4939058"/>
          </a:xfrm>
        </p:spPr>
        <p:txBody>
          <a:bodyPr anchor="t"/>
          <a:lstStyle>
            <a:lvl1pPr marL="0" indent="0">
              <a:buNone/>
              <a:defRPr sz="3200"/>
            </a:lvl1pPr>
            <a:lvl2pPr marL="457191" indent="0">
              <a:buNone/>
              <a:defRPr sz="2800"/>
            </a:lvl2pPr>
            <a:lvl3pPr marL="914382" indent="0">
              <a:buNone/>
              <a:defRPr sz="2400"/>
            </a:lvl3pPr>
            <a:lvl4pPr marL="1371573" indent="0">
              <a:buNone/>
              <a:defRPr sz="2000"/>
            </a:lvl4pPr>
            <a:lvl5pPr marL="1828764" indent="0">
              <a:buNone/>
              <a:defRPr sz="2000"/>
            </a:lvl5pPr>
            <a:lvl6pPr marL="2285955" indent="0">
              <a:buNone/>
              <a:defRPr sz="2000"/>
            </a:lvl6pPr>
            <a:lvl7pPr marL="2743146" indent="0">
              <a:buNone/>
              <a:defRPr sz="2000"/>
            </a:lvl7pPr>
            <a:lvl8pPr marL="3200337" indent="0">
              <a:buNone/>
              <a:defRPr sz="2000"/>
            </a:lvl8pPr>
            <a:lvl9pPr marL="3657528"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93" y="2085023"/>
            <a:ext cx="3932237" cy="3862762"/>
          </a:xfrm>
        </p:spPr>
        <p:txBody>
          <a:bodyPr/>
          <a:lstStyle>
            <a:lvl1pPr marL="0" indent="0">
              <a:buNone/>
              <a:defRPr sz="1600"/>
            </a:lvl1pPr>
            <a:lvl2pPr marL="457191" indent="0">
              <a:buNone/>
              <a:defRPr sz="1400"/>
            </a:lvl2pPr>
            <a:lvl3pPr marL="914382" indent="0">
              <a:buNone/>
              <a:defRPr sz="1200"/>
            </a:lvl3pPr>
            <a:lvl4pPr marL="1371573" indent="0">
              <a:buNone/>
              <a:defRPr sz="1000"/>
            </a:lvl4pPr>
            <a:lvl5pPr marL="1828764" indent="0">
              <a:buNone/>
              <a:defRPr sz="1000"/>
            </a:lvl5pPr>
            <a:lvl6pPr marL="2285955" indent="0">
              <a:buNone/>
              <a:defRPr sz="1000"/>
            </a:lvl6pPr>
            <a:lvl7pPr marL="2743146" indent="0">
              <a:buNone/>
              <a:defRPr sz="1000"/>
            </a:lvl7pPr>
            <a:lvl8pPr marL="3200337" indent="0">
              <a:buNone/>
              <a:defRPr sz="1000"/>
            </a:lvl8pPr>
            <a:lvl9pPr marL="3657528"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96966DD-5AE4-46F3-88B1-988F776BF6BC}" type="datetimeFigureOut">
              <a:rPr lang="en-US" smtClean="0"/>
              <a:t>8/22/2024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F794D71-FCCD-4D15-9917-1C27922B1847}" type="slidenum">
              <a:rPr lang="en-US" smtClean="0"/>
              <a:t>‹#›</a:t>
            </a:fld>
            <a:endParaRPr lang="en-US"/>
          </a:p>
        </p:txBody>
      </p:sp>
    </p:spTree>
    <p:extLst>
      <p:ext uri="{BB962C8B-B14F-4D97-AF65-F5344CB8AC3E}">
        <p14:creationId xmlns:p14="http://schemas.microsoft.com/office/powerpoint/2010/main" val="158164189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96966DD-5AE4-46F3-88B1-988F776BF6BC}" type="datetimeFigureOut">
              <a:rPr lang="en-US" smtClean="0"/>
              <a:t>8/22/2024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F794D71-FCCD-4D15-9917-1C27922B1847}" type="slidenum">
              <a:rPr lang="en-US" smtClean="0"/>
              <a:t>‹#›</a:t>
            </a:fld>
            <a:endParaRPr lang="en-US"/>
          </a:p>
        </p:txBody>
      </p:sp>
    </p:spTree>
    <p:extLst>
      <p:ext uri="{BB962C8B-B14F-4D97-AF65-F5344CB8AC3E}">
        <p14:creationId xmlns:p14="http://schemas.microsoft.com/office/powerpoint/2010/main" val="216422957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70029"/>
            <a:ext cx="2628900" cy="5889867"/>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70029"/>
            <a:ext cx="7734300" cy="588986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96966DD-5AE4-46F3-88B1-988F776BF6BC}" type="datetimeFigureOut">
              <a:rPr lang="en-US" smtClean="0"/>
              <a:t>8/22/2024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F794D71-FCCD-4D15-9917-1C27922B1847}" type="slidenum">
              <a:rPr lang="en-US" smtClean="0"/>
              <a:t>‹#›</a:t>
            </a:fld>
            <a:endParaRPr lang="en-US"/>
          </a:p>
        </p:txBody>
      </p:sp>
    </p:spTree>
    <p:extLst>
      <p:ext uri="{BB962C8B-B14F-4D97-AF65-F5344CB8AC3E}">
        <p14:creationId xmlns:p14="http://schemas.microsoft.com/office/powerpoint/2010/main" val="64021205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2_Title and Content">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2309D597-4D42-4128-AFE4-30FF4AF3F863}" type="datetime1">
              <a:rPr lang="en-US" smtClean="0"/>
              <a:t>8/22/2024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4801FD5-11B4-DE43-ACA2-E85EEB9A6F9C}" type="slidenum">
              <a:rPr lang="en-US" smtClean="0"/>
              <a:t>‹#›</a:t>
            </a:fld>
            <a:endParaRPr lang="en-US"/>
          </a:p>
        </p:txBody>
      </p:sp>
      <p:grpSp>
        <p:nvGrpSpPr>
          <p:cNvPr id="7" name="Group 6"/>
          <p:cNvGrpSpPr/>
          <p:nvPr userDrawn="1"/>
        </p:nvGrpSpPr>
        <p:grpSpPr>
          <a:xfrm>
            <a:off x="0" y="6073407"/>
            <a:ext cx="12192000" cy="876671"/>
            <a:chOff x="0" y="5992943"/>
            <a:chExt cx="9144000" cy="865057"/>
          </a:xfrm>
        </p:grpSpPr>
        <p:sp>
          <p:nvSpPr>
            <p:cNvPr id="8" name="Rectangle 7"/>
            <p:cNvSpPr/>
            <p:nvPr/>
          </p:nvSpPr>
          <p:spPr>
            <a:xfrm>
              <a:off x="0" y="6377674"/>
              <a:ext cx="9144000" cy="480326"/>
            </a:xfrm>
            <a:prstGeom prst="rect">
              <a:avLst/>
            </a:prstGeom>
            <a:solidFill>
              <a:schemeClr val="accent3">
                <a:lumMod val="40000"/>
                <a:lumOff val="60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24"/>
            </a:p>
          </p:txBody>
        </p:sp>
        <p:sp>
          <p:nvSpPr>
            <p:cNvPr id="9" name="Rectangle 8"/>
            <p:cNvSpPr/>
            <p:nvPr/>
          </p:nvSpPr>
          <p:spPr>
            <a:xfrm>
              <a:off x="0" y="5992943"/>
              <a:ext cx="9144000" cy="363407"/>
            </a:xfrm>
            <a:prstGeom prst="rect">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24"/>
            </a:p>
          </p:txBody>
        </p:sp>
        <p:pic>
          <p:nvPicPr>
            <p:cNvPr id="10" name="Picture 9" descr="KNUST_logo Vector.png"/>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947208" y="6021427"/>
              <a:ext cx="205238" cy="283189"/>
            </a:xfrm>
            <a:prstGeom prst="rect">
              <a:avLst/>
            </a:prstGeom>
          </p:spPr>
        </p:pic>
        <p:sp>
          <p:nvSpPr>
            <p:cNvPr id="11" name="TextBox 10">
              <a:hlinkClick r:id="rId3"/>
            </p:cNvPr>
            <p:cNvSpPr txBox="1"/>
            <p:nvPr/>
          </p:nvSpPr>
          <p:spPr>
            <a:xfrm>
              <a:off x="7137936" y="6036146"/>
              <a:ext cx="1548864" cy="275733"/>
            </a:xfrm>
            <a:prstGeom prst="rect">
              <a:avLst/>
            </a:prstGeom>
            <a:noFill/>
          </p:spPr>
          <p:txBody>
            <a:bodyPr wrap="square" rtlCol="0">
              <a:spAutoFit/>
            </a:bodyPr>
            <a:lstStyle/>
            <a:p>
              <a:r>
                <a:rPr lang="en-US" sz="1216" dirty="0" err="1">
                  <a:solidFill>
                    <a:schemeClr val="bg1"/>
                  </a:solidFill>
                  <a:latin typeface="Helvetica"/>
                  <a:cs typeface="Helvetica"/>
                </a:rPr>
                <a:t>www.knust.edu.gh</a:t>
              </a:r>
              <a:endParaRPr lang="en-US" sz="1216" dirty="0">
                <a:solidFill>
                  <a:schemeClr val="bg1"/>
                </a:solidFill>
                <a:latin typeface="Helvetica"/>
                <a:cs typeface="Helvetica"/>
              </a:endParaRPr>
            </a:p>
          </p:txBody>
        </p:sp>
        <p:pic>
          <p:nvPicPr>
            <p:cNvPr id="12" name="Picture 11">
              <a:hlinkClick r:id="rId4"/>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561258" y="6042056"/>
              <a:ext cx="268162" cy="268162"/>
            </a:xfrm>
            <a:prstGeom prst="rect">
              <a:avLst/>
            </a:prstGeom>
          </p:spPr>
        </p:pic>
        <p:pic>
          <p:nvPicPr>
            <p:cNvPr id="13" name="Picture 12">
              <a:hlinkClick r:id="rId6"/>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6197791" y="6029719"/>
              <a:ext cx="292217" cy="292217"/>
            </a:xfrm>
            <a:prstGeom prst="rect">
              <a:avLst/>
            </a:prstGeom>
          </p:spPr>
        </p:pic>
      </p:grpSp>
      <p:sp>
        <p:nvSpPr>
          <p:cNvPr id="14" name="Title 1"/>
          <p:cNvSpPr>
            <a:spLocks noGrp="1"/>
          </p:cNvSpPr>
          <p:nvPr>
            <p:ph type="title"/>
          </p:nvPr>
        </p:nvSpPr>
        <p:spPr>
          <a:xfrm>
            <a:off x="609600" y="278325"/>
            <a:ext cx="10972800" cy="1158346"/>
          </a:xfrm>
          <a:prstGeom prst="rect">
            <a:avLst/>
          </a:prstGeom>
        </p:spPr>
        <p:txBody>
          <a:bodyPr/>
          <a:lstStyle/>
          <a:p>
            <a:pPr algn="l"/>
            <a:r>
              <a:rPr lang="en-US" dirty="0">
                <a:solidFill>
                  <a:srgbClr val="008000"/>
                </a:solidFill>
                <a:latin typeface="Helvetica"/>
                <a:cs typeface="Helvetica"/>
              </a:rPr>
              <a:t>Introduction</a:t>
            </a:r>
          </a:p>
        </p:txBody>
      </p:sp>
    </p:spTree>
    <p:extLst>
      <p:ext uri="{BB962C8B-B14F-4D97-AF65-F5344CB8AC3E}">
        <p14:creationId xmlns:p14="http://schemas.microsoft.com/office/powerpoint/2010/main" val="151158644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70028"/>
            <a:ext cx="10515600" cy="134336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50138"/>
            <a:ext cx="10515600" cy="4409759"/>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441692"/>
            <a:ext cx="2743200" cy="370027"/>
          </a:xfrm>
          <a:prstGeom prst="rect">
            <a:avLst/>
          </a:prstGeom>
        </p:spPr>
        <p:txBody>
          <a:bodyPr vert="horz" lIns="91440" tIns="45720" rIns="91440" bIns="45720" rtlCol="0" anchor="ctr"/>
          <a:lstStyle>
            <a:lvl1pPr algn="l">
              <a:defRPr sz="1200">
                <a:solidFill>
                  <a:schemeClr val="tx1">
                    <a:tint val="75000"/>
                  </a:schemeClr>
                </a:solidFill>
              </a:defRPr>
            </a:lvl1pPr>
          </a:lstStyle>
          <a:p>
            <a:fld id="{B96966DD-5AE4-46F3-88B1-988F776BF6BC}" type="datetimeFigureOut">
              <a:rPr lang="en-US" smtClean="0"/>
              <a:t>8/22/2024</a:t>
            </a:fld>
            <a:endParaRPr lang="en-US"/>
          </a:p>
        </p:txBody>
      </p:sp>
      <p:sp>
        <p:nvSpPr>
          <p:cNvPr id="5" name="Footer Placeholder 4"/>
          <p:cNvSpPr>
            <a:spLocks noGrp="1"/>
          </p:cNvSpPr>
          <p:nvPr>
            <p:ph type="ftr" sz="quarter" idx="3"/>
          </p:nvPr>
        </p:nvSpPr>
        <p:spPr>
          <a:xfrm>
            <a:off x="4038600" y="6441692"/>
            <a:ext cx="4114800" cy="370027"/>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441692"/>
            <a:ext cx="2743200" cy="370027"/>
          </a:xfrm>
          <a:prstGeom prst="rect">
            <a:avLst/>
          </a:prstGeom>
        </p:spPr>
        <p:txBody>
          <a:bodyPr vert="horz" lIns="91440" tIns="45720" rIns="91440" bIns="45720" rtlCol="0" anchor="ctr"/>
          <a:lstStyle>
            <a:lvl1pPr algn="r">
              <a:defRPr sz="1200">
                <a:solidFill>
                  <a:schemeClr val="tx1">
                    <a:tint val="75000"/>
                  </a:schemeClr>
                </a:solidFill>
              </a:defRPr>
            </a:lvl1pPr>
          </a:lstStyle>
          <a:p>
            <a:fld id="{BF794D71-FCCD-4D15-9917-1C27922B1847}" type="slidenum">
              <a:rPr lang="en-US" smtClean="0"/>
              <a:t>‹#›</a:t>
            </a:fld>
            <a:endParaRPr lang="en-US"/>
          </a:p>
        </p:txBody>
      </p:sp>
    </p:spTree>
    <p:extLst>
      <p:ext uri="{BB962C8B-B14F-4D97-AF65-F5344CB8AC3E}">
        <p14:creationId xmlns:p14="http://schemas.microsoft.com/office/powerpoint/2010/main" val="2515232412"/>
      </p:ext>
    </p:extLst>
  </p:cSld>
  <p:clrMap bg1="lt1" tx1="dk1" bg2="lt2" tx2="dk2" accent1="accent1" accent2="accent2" accent3="accent3" accent4="accent4" accent5="accent5" accent6="accent6" hlink="hlink" folHlink="folHlink"/>
  <p:sldLayoutIdLst>
    <p:sldLayoutId id="2147483663" r:id="rId1"/>
    <p:sldLayoutId id="2147483664" r:id="rId2"/>
    <p:sldLayoutId id="2147483665" r:id="rId3"/>
    <p:sldLayoutId id="2147483666" r:id="rId4"/>
    <p:sldLayoutId id="2147483667" r:id="rId5"/>
    <p:sldLayoutId id="2147483668" r:id="rId6"/>
    <p:sldLayoutId id="2147483669" r:id="rId7"/>
    <p:sldLayoutId id="2147483670" r:id="rId8"/>
    <p:sldLayoutId id="2147483671" r:id="rId9"/>
    <p:sldLayoutId id="2147483672" r:id="rId10"/>
    <p:sldLayoutId id="2147483673" r:id="rId11"/>
    <p:sldLayoutId id="2147483661" r:id="rId12"/>
  </p:sldLayoutIdLst>
  <p:txStyles>
    <p:titleStyle>
      <a:lvl1pPr algn="l" defTabSz="914382"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596" indent="-228596" algn="l" defTabSz="914382"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787" indent="-228596" algn="l" defTabSz="914382"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78" indent="-228596" algn="l" defTabSz="914382"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169" indent="-228596" algn="l" defTabSz="91438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360" indent="-228596" algn="l" defTabSz="91438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551" indent="-228596" algn="l" defTabSz="91438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42" indent="-228596" algn="l" defTabSz="91438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33" indent="-228596" algn="l" defTabSz="91438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24" indent="-228596" algn="l" defTabSz="91438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82" rtl="0" eaLnBrk="1" latinLnBrk="0" hangingPunct="1">
        <a:defRPr sz="1800" kern="1200">
          <a:solidFill>
            <a:schemeClr val="tx1"/>
          </a:solidFill>
          <a:latin typeface="+mn-lt"/>
          <a:ea typeface="+mn-ea"/>
          <a:cs typeface="+mn-cs"/>
        </a:defRPr>
      </a:lvl1pPr>
      <a:lvl2pPr marL="457191" algn="l" defTabSz="914382" rtl="0" eaLnBrk="1" latinLnBrk="0" hangingPunct="1">
        <a:defRPr sz="1800" kern="1200">
          <a:solidFill>
            <a:schemeClr val="tx1"/>
          </a:solidFill>
          <a:latin typeface="+mn-lt"/>
          <a:ea typeface="+mn-ea"/>
          <a:cs typeface="+mn-cs"/>
        </a:defRPr>
      </a:lvl2pPr>
      <a:lvl3pPr marL="914382" algn="l" defTabSz="914382" rtl="0" eaLnBrk="1" latinLnBrk="0" hangingPunct="1">
        <a:defRPr sz="1800" kern="1200">
          <a:solidFill>
            <a:schemeClr val="tx1"/>
          </a:solidFill>
          <a:latin typeface="+mn-lt"/>
          <a:ea typeface="+mn-ea"/>
          <a:cs typeface="+mn-cs"/>
        </a:defRPr>
      </a:lvl3pPr>
      <a:lvl4pPr marL="1371573" algn="l" defTabSz="914382" rtl="0" eaLnBrk="1" latinLnBrk="0" hangingPunct="1">
        <a:defRPr sz="1800" kern="1200">
          <a:solidFill>
            <a:schemeClr val="tx1"/>
          </a:solidFill>
          <a:latin typeface="+mn-lt"/>
          <a:ea typeface="+mn-ea"/>
          <a:cs typeface="+mn-cs"/>
        </a:defRPr>
      </a:lvl4pPr>
      <a:lvl5pPr marL="1828764" algn="l" defTabSz="914382" rtl="0" eaLnBrk="1" latinLnBrk="0" hangingPunct="1">
        <a:defRPr sz="1800" kern="1200">
          <a:solidFill>
            <a:schemeClr val="tx1"/>
          </a:solidFill>
          <a:latin typeface="+mn-lt"/>
          <a:ea typeface="+mn-ea"/>
          <a:cs typeface="+mn-cs"/>
        </a:defRPr>
      </a:lvl5pPr>
      <a:lvl6pPr marL="2285955" algn="l" defTabSz="914382" rtl="0" eaLnBrk="1" latinLnBrk="0" hangingPunct="1">
        <a:defRPr sz="1800" kern="1200">
          <a:solidFill>
            <a:schemeClr val="tx1"/>
          </a:solidFill>
          <a:latin typeface="+mn-lt"/>
          <a:ea typeface="+mn-ea"/>
          <a:cs typeface="+mn-cs"/>
        </a:defRPr>
      </a:lvl6pPr>
      <a:lvl7pPr marL="2743146" algn="l" defTabSz="914382" rtl="0" eaLnBrk="1" latinLnBrk="0" hangingPunct="1">
        <a:defRPr sz="1800" kern="1200">
          <a:solidFill>
            <a:schemeClr val="tx1"/>
          </a:solidFill>
          <a:latin typeface="+mn-lt"/>
          <a:ea typeface="+mn-ea"/>
          <a:cs typeface="+mn-cs"/>
        </a:defRPr>
      </a:lvl7pPr>
      <a:lvl8pPr marL="3200337" algn="l" defTabSz="914382" rtl="0" eaLnBrk="1" latinLnBrk="0" hangingPunct="1">
        <a:defRPr sz="1800" kern="1200">
          <a:solidFill>
            <a:schemeClr val="tx1"/>
          </a:solidFill>
          <a:latin typeface="+mn-lt"/>
          <a:ea typeface="+mn-ea"/>
          <a:cs typeface="+mn-cs"/>
        </a:defRPr>
      </a:lvl8pPr>
      <a:lvl9pPr marL="3657528" algn="l" defTabSz="914382"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image" Target="../media/image6.png"/><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 Id="rId5" Type="http://schemas.openxmlformats.org/officeDocument/2006/relationships/image" Target="../media/image21.png"/><Relationship Id="rId4" Type="http://schemas.openxmlformats.org/officeDocument/2006/relationships/image" Target="../media/image20.png"/></Relationships>
</file>

<file path=ppt/slides/_rels/slide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 Id="rId5" Type="http://schemas.openxmlformats.org/officeDocument/2006/relationships/image" Target="../media/image25.png"/><Relationship Id="rId4" Type="http://schemas.openxmlformats.org/officeDocument/2006/relationships/image" Target="../media/image24.png"/></Relationships>
</file>

<file path=ppt/slides/_rels/slide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2.xml"/><Relationship Id="rId4" Type="http://schemas.openxmlformats.org/officeDocument/2006/relationships/image" Target="../media/image28.png"/></Relationships>
</file>

<file path=ppt/slides/_rels/slide9.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310.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35.png"/><Relationship Id="rId5" Type="http://schemas.openxmlformats.org/officeDocument/2006/relationships/image" Target="../media/image34.png"/><Relationship Id="rId4" Type="http://schemas.openxmlformats.org/officeDocument/2006/relationships/image" Target="../media/image33.png"/></Relationships>
</file>

<file path=ppt/slides/_rels/slide15.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37.png"/></Relationships>
</file>

<file path=ppt/slides/_rels/slide16.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380.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41.png"/><Relationship Id="rId5" Type="http://schemas.openxmlformats.org/officeDocument/2006/relationships/image" Target="../media/image40.png"/><Relationship Id="rId4" Type="http://schemas.openxmlformats.org/officeDocument/2006/relationships/image" Target="../media/image39.png"/></Relationships>
</file>

<file path=ppt/slides/_rels/slide18.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45.png"/><Relationship Id="rId4" Type="http://schemas.openxmlformats.org/officeDocument/2006/relationships/image" Target="../media/image44.png"/></Relationships>
</file>

<file path=ppt/slides/_rels/slide20.xml.rels><?xml version="1.0" encoding="UTF-8" standalone="yes"?>
<Relationships xmlns="http://schemas.openxmlformats.org/package/2006/relationships"><Relationship Id="rId3" Type="http://schemas.openxmlformats.org/officeDocument/2006/relationships/image" Target="../media/image46.png"/><Relationship Id="rId7" Type="http://schemas.openxmlformats.org/officeDocument/2006/relationships/image" Target="../media/image50.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49.png"/><Relationship Id="rId5" Type="http://schemas.openxmlformats.org/officeDocument/2006/relationships/image" Target="../media/image48.png"/><Relationship Id="rId4" Type="http://schemas.openxmlformats.org/officeDocument/2006/relationships/image" Target="../media/image47.png"/></Relationships>
</file>

<file path=ppt/slides/_rels/slide21.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image" Target="../media/image53.png"/><Relationship Id="rId4" Type="http://schemas.openxmlformats.org/officeDocument/2006/relationships/image" Target="../media/image52.png"/></Relationships>
</file>

<file path=ppt/slides/_rels/slide22.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56.png"/></Relationships>
</file>

<file path=ppt/slides/_rels/slide24.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image" Target="../media/image60.png"/><Relationship Id="rId5" Type="http://schemas.openxmlformats.org/officeDocument/2006/relationships/image" Target="../media/image59.png"/><Relationship Id="rId4" Type="http://schemas.openxmlformats.org/officeDocument/2006/relationships/image" Target="../media/image58.png"/></Relationships>
</file>

<file path=ppt/slides/_rels/slide25.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13.xml"/><Relationship Id="rId1" Type="http://schemas.openxmlformats.org/officeDocument/2006/relationships/slideLayout" Target="../slideLayouts/slideLayout2.xml"/><Relationship Id="rId5" Type="http://schemas.openxmlformats.org/officeDocument/2006/relationships/image" Target="../media/image64.png"/><Relationship Id="rId4" Type="http://schemas.openxmlformats.org/officeDocument/2006/relationships/image" Target="../media/image63.png"/></Relationships>
</file>

<file path=ppt/slides/_rels/slide27.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image" Target="../media/image68.png"/><Relationship Id="rId5" Type="http://schemas.openxmlformats.org/officeDocument/2006/relationships/image" Target="../media/image67.png"/><Relationship Id="rId4" Type="http://schemas.openxmlformats.org/officeDocument/2006/relationships/image" Target="../media/image66.png"/></Relationships>
</file>

<file path=ppt/slides/_rels/slide28.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image" Target="../media/image72.png"/><Relationship Id="rId5" Type="http://schemas.openxmlformats.org/officeDocument/2006/relationships/image" Target="../media/image71.png"/><Relationship Id="rId4" Type="http://schemas.openxmlformats.org/officeDocument/2006/relationships/image" Target="../media/image70.png"/></Relationships>
</file>

<file path=ppt/slides/_rels/slide29.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notesSlide" Target="../notesSlides/notesSlide16.xml"/><Relationship Id="rId1" Type="http://schemas.openxmlformats.org/officeDocument/2006/relationships/slideLayout" Target="../slideLayouts/slideLayout2.xml"/><Relationship Id="rId5" Type="http://schemas.openxmlformats.org/officeDocument/2006/relationships/image" Target="../media/image75.png"/><Relationship Id="rId4" Type="http://schemas.openxmlformats.org/officeDocument/2006/relationships/image" Target="../media/image74.png"/></Relationships>
</file>

<file path=ppt/slides/_rels/slide30.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77.png"/></Relationships>
</file>

<file path=ppt/slides/_rels/slide31.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82.png"/><Relationship Id="rId7" Type="http://schemas.openxmlformats.org/officeDocument/2006/relationships/image" Target="../media/image86.png"/><Relationship Id="rId2" Type="http://schemas.openxmlformats.org/officeDocument/2006/relationships/notesSlide" Target="../notesSlides/notesSlide22.xml"/><Relationship Id="rId1" Type="http://schemas.openxmlformats.org/officeDocument/2006/relationships/slideLayout" Target="../slideLayouts/slideLayout2.xml"/><Relationship Id="rId6" Type="http://schemas.openxmlformats.org/officeDocument/2006/relationships/image" Target="../media/image85.png"/><Relationship Id="rId5" Type="http://schemas.openxmlformats.org/officeDocument/2006/relationships/image" Target="../media/image84.png"/><Relationship Id="rId4" Type="http://schemas.openxmlformats.org/officeDocument/2006/relationships/image" Target="../media/image83.png"/></Relationships>
</file>

<file path=ppt/slides/_rels/slide36.xml.rels><?xml version="1.0" encoding="UTF-8" standalone="yes"?>
<Relationships xmlns="http://schemas.openxmlformats.org/package/2006/relationships"><Relationship Id="rId3" Type="http://schemas.openxmlformats.org/officeDocument/2006/relationships/image" Target="../media/image87.png"/><Relationship Id="rId2" Type="http://schemas.openxmlformats.org/officeDocument/2006/relationships/notesSlide" Target="../notesSlides/notesSlide23.xml"/><Relationship Id="rId1" Type="http://schemas.openxmlformats.org/officeDocument/2006/relationships/slideLayout" Target="../slideLayouts/slideLayout2.xml"/><Relationship Id="rId6" Type="http://schemas.openxmlformats.org/officeDocument/2006/relationships/image" Target="../media/image90.png"/><Relationship Id="rId5" Type="http://schemas.openxmlformats.org/officeDocument/2006/relationships/image" Target="../media/image89.png"/><Relationship Id="rId4" Type="http://schemas.openxmlformats.org/officeDocument/2006/relationships/image" Target="../media/image88.png"/></Relationships>
</file>

<file path=ppt/slides/_rels/slide37.xml.rels><?xml version="1.0" encoding="UTF-8" standalone="yes"?>
<Relationships xmlns="http://schemas.openxmlformats.org/package/2006/relationships"><Relationship Id="rId3" Type="http://schemas.openxmlformats.org/officeDocument/2006/relationships/image" Target="../media/image91.png"/><Relationship Id="rId2" Type="http://schemas.openxmlformats.org/officeDocument/2006/relationships/notesSlide" Target="../notesSlides/notesSlide24.xml"/><Relationship Id="rId1" Type="http://schemas.openxmlformats.org/officeDocument/2006/relationships/slideLayout" Target="../slideLayouts/slideLayout2.xml"/><Relationship Id="rId5" Type="http://schemas.openxmlformats.org/officeDocument/2006/relationships/image" Target="../media/image93.png"/><Relationship Id="rId4" Type="http://schemas.openxmlformats.org/officeDocument/2006/relationships/image" Target="../media/image92.png"/></Relationships>
</file>

<file path=ppt/slides/_rels/slide38.xml.rels><?xml version="1.0" encoding="UTF-8" standalone="yes"?>
<Relationships xmlns="http://schemas.openxmlformats.org/package/2006/relationships"><Relationship Id="rId3" Type="http://schemas.openxmlformats.org/officeDocument/2006/relationships/image" Target="../media/image94.png"/><Relationship Id="rId2" Type="http://schemas.openxmlformats.org/officeDocument/2006/relationships/notesSlide" Target="../notesSlides/notesSlide25.xml"/><Relationship Id="rId1" Type="http://schemas.openxmlformats.org/officeDocument/2006/relationships/slideLayout" Target="../slideLayouts/slideLayout2.xml"/><Relationship Id="rId4" Type="http://schemas.openxmlformats.org/officeDocument/2006/relationships/image" Target="../media/image95.png"/></Relationships>
</file>

<file path=ppt/slides/_rels/slide39.xml.rels><?xml version="1.0" encoding="UTF-8" standalone="yes"?>
<Relationships xmlns="http://schemas.openxmlformats.org/package/2006/relationships"><Relationship Id="rId3" Type="http://schemas.openxmlformats.org/officeDocument/2006/relationships/image" Target="../media/image96.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97.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98.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162F296C-38A9-457F-AD57-B654F597C116}"/>
              </a:ext>
            </a:extLst>
          </p:cNvPr>
          <p:cNvSpPr>
            <a:spLocks noGrp="1"/>
          </p:cNvSpPr>
          <p:nvPr>
            <p:ph type="sldNum" sz="quarter" idx="12"/>
          </p:nvPr>
        </p:nvSpPr>
        <p:spPr>
          <a:xfrm>
            <a:off x="10588433" y="6441693"/>
            <a:ext cx="835958" cy="370027"/>
          </a:xfrm>
        </p:spPr>
        <p:txBody>
          <a:bodyPr/>
          <a:lstStyle/>
          <a:p>
            <a:fld id="{F4801FD5-11B4-DE43-ACA2-E85EEB9A6F9C}" type="slidenum">
              <a:rPr lang="en-US" smtClean="0">
                <a:latin typeface="Calibri" panose="020F0502020204030204" pitchFamily="34" charset="0"/>
                <a:cs typeface="Calibri" panose="020F0502020204030204" pitchFamily="34" charset="0"/>
              </a:rPr>
              <a:t>1</a:t>
            </a:fld>
            <a:endParaRPr lang="en-US">
              <a:latin typeface="Calibri" panose="020F0502020204030204" pitchFamily="34" charset="0"/>
              <a:cs typeface="Calibri" panose="020F0502020204030204" pitchFamily="34" charset="0"/>
            </a:endParaRPr>
          </a:p>
        </p:txBody>
      </p:sp>
      <p:sp>
        <p:nvSpPr>
          <p:cNvPr id="8" name="TextBox 7">
            <a:extLst>
              <a:ext uri="{FF2B5EF4-FFF2-40B4-BE49-F238E27FC236}">
                <a16:creationId xmlns:a16="http://schemas.microsoft.com/office/drawing/2014/main" id="{99E9620A-FB3A-4A33-B39B-68ECCEA51646}"/>
              </a:ext>
            </a:extLst>
          </p:cNvPr>
          <p:cNvSpPr txBox="1"/>
          <p:nvPr/>
        </p:nvSpPr>
        <p:spPr>
          <a:xfrm>
            <a:off x="1021537" y="4760225"/>
            <a:ext cx="9166696" cy="584775"/>
          </a:xfrm>
          <a:prstGeom prst="rect">
            <a:avLst/>
          </a:prstGeom>
          <a:noFill/>
        </p:spPr>
        <p:txBody>
          <a:bodyPr wrap="square" rtlCol="0">
            <a:spAutoFit/>
          </a:bodyPr>
          <a:lstStyle/>
          <a:p>
            <a:pPr algn="ctr"/>
            <a:r>
              <a:rPr lang="en-US" sz="3200" b="1" dirty="0">
                <a:latin typeface="Century Gothic" panose="020B0502020202020204" pitchFamily="34" charset="0"/>
                <a:cs typeface="Calibri" panose="020F0502020204030204" pitchFamily="34" charset="0"/>
              </a:rPr>
              <a:t>2023/2024 Academic Year</a:t>
            </a:r>
          </a:p>
        </p:txBody>
      </p:sp>
      <p:sp>
        <p:nvSpPr>
          <p:cNvPr id="9" name="TextBox 8">
            <a:extLst>
              <a:ext uri="{FF2B5EF4-FFF2-40B4-BE49-F238E27FC236}">
                <a16:creationId xmlns:a16="http://schemas.microsoft.com/office/drawing/2014/main" id="{A5F07752-B837-490E-B932-8EC006F26B8C}"/>
              </a:ext>
            </a:extLst>
          </p:cNvPr>
          <p:cNvSpPr txBox="1"/>
          <p:nvPr/>
        </p:nvSpPr>
        <p:spPr>
          <a:xfrm>
            <a:off x="1082374" y="3146076"/>
            <a:ext cx="10479751" cy="1077218"/>
          </a:xfrm>
          <a:prstGeom prst="rect">
            <a:avLst/>
          </a:prstGeom>
          <a:noFill/>
          <a:ln>
            <a:noFill/>
          </a:ln>
        </p:spPr>
        <p:txBody>
          <a:bodyPr wrap="square" rtlCol="0">
            <a:spAutoFit/>
          </a:bodyPr>
          <a:lstStyle/>
          <a:p>
            <a:r>
              <a:rPr lang="en-US" sz="3200" b="1" dirty="0">
                <a:solidFill>
                  <a:srgbClr val="FF0066"/>
                </a:solidFill>
                <a:latin typeface="Century Gothic" panose="020B0502020202020204" pitchFamily="34" charset="0"/>
                <a:ea typeface="Calibri" panose="020F0502020204030204" pitchFamily="34" charset="0"/>
                <a:cs typeface="Diwan Thuluth" pitchFamily="2" charset="-78"/>
              </a:rPr>
              <a:t>Department of Computer &amp; Electrical Engineering </a:t>
            </a:r>
          </a:p>
          <a:p>
            <a:r>
              <a:rPr lang="en-US" sz="3200" b="1" dirty="0">
                <a:solidFill>
                  <a:srgbClr val="FF0066"/>
                </a:solidFill>
                <a:latin typeface="Century Gothic" panose="020B0502020202020204" pitchFamily="34" charset="0"/>
                <a:ea typeface="Calibri" panose="020F0502020204030204" pitchFamily="34" charset="0"/>
                <a:cs typeface="Diwan Thuluth" pitchFamily="2" charset="-78"/>
              </a:rPr>
              <a:t> School of Engineering </a:t>
            </a:r>
            <a:endParaRPr lang="en-US" sz="3200" dirty="0">
              <a:solidFill>
                <a:srgbClr val="FF0066"/>
              </a:solidFill>
              <a:latin typeface="Century Gothic" panose="020B0502020202020204" pitchFamily="34" charset="0"/>
              <a:ea typeface="Calibri" panose="020F0502020204030204" pitchFamily="34" charset="0"/>
              <a:cs typeface="Diwan Thuluth" pitchFamily="2" charset="-78"/>
            </a:endParaRPr>
          </a:p>
        </p:txBody>
      </p:sp>
      <p:sp>
        <p:nvSpPr>
          <p:cNvPr id="2" name="Title 1">
            <a:extLst>
              <a:ext uri="{FF2B5EF4-FFF2-40B4-BE49-F238E27FC236}">
                <a16:creationId xmlns:a16="http://schemas.microsoft.com/office/drawing/2014/main" id="{30B93F5A-1ED3-525C-F27B-9F3761F9BC19}"/>
              </a:ext>
            </a:extLst>
          </p:cNvPr>
          <p:cNvSpPr txBox="1">
            <a:spLocks/>
          </p:cNvSpPr>
          <p:nvPr/>
        </p:nvSpPr>
        <p:spPr>
          <a:xfrm>
            <a:off x="203358" y="1664619"/>
            <a:ext cx="10803054" cy="1416207"/>
          </a:xfrm>
          <a:prstGeom prst="rect">
            <a:avLst/>
          </a:prstGeom>
          <a:ln>
            <a:solidFill>
              <a:schemeClr val="bg1"/>
            </a:solidFill>
          </a:ln>
        </p:spPr>
        <p:style>
          <a:lnRef idx="2">
            <a:schemeClr val="accent6"/>
          </a:lnRef>
          <a:fillRef idx="1">
            <a:schemeClr val="lt1"/>
          </a:fillRef>
          <a:effectRef idx="0">
            <a:schemeClr val="accent6"/>
          </a:effectRef>
          <a:fontRef idx="minor">
            <a:schemeClr val="dk1"/>
          </a:fontRef>
        </p:style>
        <p:txBody>
          <a:bodyPr vert="horz" lIns="92668" tIns="46334" rIns="92668" bIns="46334"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3600" b="1" dirty="0">
                <a:latin typeface="Century Gothic" panose="020B0502020202020204" pitchFamily="34" charset="0"/>
                <a:cs typeface="Calibri" panose="020F0502020204030204" pitchFamily="34" charset="0"/>
              </a:rPr>
              <a:t>ELNG 304- POWER ELECTRONICS</a:t>
            </a:r>
          </a:p>
          <a:p>
            <a:r>
              <a:rPr lang="en-US" sz="3600" b="1" dirty="0">
                <a:latin typeface="Century Gothic" panose="020B0502020202020204" pitchFamily="34" charset="0"/>
                <a:cs typeface="Calibri" panose="020F0502020204030204" pitchFamily="34" charset="0"/>
              </a:rPr>
              <a:t>DC/DC Converter –II</a:t>
            </a:r>
          </a:p>
        </p:txBody>
      </p:sp>
      <p:cxnSp>
        <p:nvCxnSpPr>
          <p:cNvPr id="5" name="Straight Connector 4">
            <a:extLst>
              <a:ext uri="{FF2B5EF4-FFF2-40B4-BE49-F238E27FC236}">
                <a16:creationId xmlns:a16="http://schemas.microsoft.com/office/drawing/2014/main" id="{F0E08B9C-8230-9740-06F3-80E558350F18}"/>
              </a:ext>
            </a:extLst>
          </p:cNvPr>
          <p:cNvCxnSpPr/>
          <p:nvPr/>
        </p:nvCxnSpPr>
        <p:spPr>
          <a:xfrm>
            <a:off x="719084" y="3015575"/>
            <a:ext cx="10572002" cy="0"/>
          </a:xfrm>
          <a:prstGeom prst="line">
            <a:avLst/>
          </a:prstGeom>
          <a:ln w="28575"/>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152554389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6">
            <a:extLst>
              <a:ext uri="{FF2B5EF4-FFF2-40B4-BE49-F238E27FC236}">
                <a16:creationId xmlns:a16="http://schemas.microsoft.com/office/drawing/2014/main" id="{56080804-F19F-41A7-8595-943961648C5E}"/>
              </a:ext>
            </a:extLst>
          </p:cNvPr>
          <p:cNvSpPr>
            <a:spLocks noGrp="1"/>
          </p:cNvSpPr>
          <p:nvPr>
            <p:ph type="sldNum" sz="quarter" idx="12"/>
          </p:nvPr>
        </p:nvSpPr>
        <p:spPr>
          <a:xfrm>
            <a:off x="8610600" y="6441692"/>
            <a:ext cx="2743200" cy="370027"/>
          </a:xfrm>
        </p:spPr>
        <p:txBody>
          <a:bodyPr/>
          <a:lstStyle/>
          <a:p>
            <a:fld id="{F4801FD5-11B4-DE43-ACA2-E85EEB9A6F9C}" type="slidenum">
              <a:rPr lang="en-US" smtClean="0">
                <a:latin typeface="Garamond" panose="02020404030301010803" pitchFamily="18" charset="0"/>
              </a:rPr>
              <a:t>2</a:t>
            </a:fld>
            <a:endParaRPr lang="en-US">
              <a:latin typeface="Garamond" panose="02020404030301010803" pitchFamily="18" charset="0"/>
            </a:endParaRPr>
          </a:p>
        </p:txBody>
      </p:sp>
      <p:sp>
        <p:nvSpPr>
          <p:cNvPr id="5" name="Title 1">
            <a:extLst>
              <a:ext uri="{FF2B5EF4-FFF2-40B4-BE49-F238E27FC236}">
                <a16:creationId xmlns:a16="http://schemas.microsoft.com/office/drawing/2014/main" id="{4710AE4B-0DB8-4451-B9E4-10BAE11B4D3A}"/>
              </a:ext>
            </a:extLst>
          </p:cNvPr>
          <p:cNvSpPr>
            <a:spLocks noGrp="1"/>
          </p:cNvSpPr>
          <p:nvPr>
            <p:ph type="title"/>
          </p:nvPr>
        </p:nvSpPr>
        <p:spPr>
          <a:xfrm>
            <a:off x="1712068" y="82938"/>
            <a:ext cx="8472791" cy="558382"/>
          </a:xfrm>
        </p:spPr>
        <p:txBody>
          <a:bodyPr>
            <a:noAutofit/>
          </a:bodyPr>
          <a:lstStyle/>
          <a:p>
            <a:pPr algn="ctr"/>
            <a:r>
              <a:rPr lang="en-US" sz="3200" b="1" u="sng" dirty="0">
                <a:solidFill>
                  <a:srgbClr val="FF3386"/>
                </a:solidFill>
                <a:latin typeface="Century Gothic" panose="020B0502020202020204" pitchFamily="34" charset="0"/>
                <a:cs typeface="Helvetica"/>
              </a:rPr>
              <a:t>THE BOOST/STEP-UP CONVERTER</a:t>
            </a:r>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6BAA1F11-5BEF-4D80-964F-A7332E36BFA0}"/>
                  </a:ext>
                </a:extLst>
              </p:cNvPr>
              <p:cNvSpPr txBox="1"/>
              <p:nvPr/>
            </p:nvSpPr>
            <p:spPr>
              <a:xfrm>
                <a:off x="282102" y="864161"/>
                <a:ext cx="11702375" cy="5145383"/>
              </a:xfrm>
              <a:prstGeom prst="rect">
                <a:avLst/>
              </a:prstGeom>
              <a:noFill/>
              <a:ln>
                <a:solidFill>
                  <a:srgbClr val="FF0066"/>
                </a:solidFill>
              </a:ln>
            </p:spPr>
            <p:txBody>
              <a:bodyPr wrap="square" rtlCol="0">
                <a:spAutoFit/>
              </a:bodyPr>
              <a:lstStyle/>
              <a:p>
                <a:pPr>
                  <a:buClr>
                    <a:schemeClr val="accent2"/>
                  </a:buClr>
                </a:pPr>
                <a:r>
                  <a:rPr lang="en-GB" sz="2400" b="1" dirty="0">
                    <a:latin typeface="Century Gothic" panose="020B0502020202020204" pitchFamily="34" charset="0"/>
                  </a:rPr>
                  <a:t> 	</a:t>
                </a:r>
                <a:endParaRPr lang="en-GB" sz="2400" b="1" dirty="0">
                  <a:solidFill>
                    <a:srgbClr val="0000CC"/>
                  </a:solidFill>
                  <a:latin typeface="Century Gothic" panose="020B0502020202020204" pitchFamily="34" charset="0"/>
                </a:endParaRPr>
              </a:p>
              <a:p>
                <a:pPr>
                  <a:buClr>
                    <a:schemeClr val="accent2"/>
                  </a:buClr>
                </a:pPr>
                <a:endParaRPr lang="en-GB" sz="2400" b="1" dirty="0">
                  <a:solidFill>
                    <a:srgbClr val="0000CC"/>
                  </a:solidFill>
                  <a:latin typeface="Century Gothic" panose="020B0502020202020204" pitchFamily="34" charset="0"/>
                </a:endParaRPr>
              </a:p>
              <a:p>
                <a:pPr>
                  <a:buClr>
                    <a:schemeClr val="accent2"/>
                  </a:buClr>
                </a:pPr>
                <a:endParaRPr lang="en-GB" sz="2400" b="1" dirty="0">
                  <a:solidFill>
                    <a:srgbClr val="0000CC"/>
                  </a:solidFill>
                  <a:latin typeface="Century Gothic" panose="020B0502020202020204" pitchFamily="34" charset="0"/>
                </a:endParaRPr>
              </a:p>
              <a:p>
                <a:pPr marL="457200" indent="-457200">
                  <a:buClr>
                    <a:schemeClr val="accent2"/>
                  </a:buClr>
                  <a:buFont typeface="Arial" panose="020B0604020202020204" pitchFamily="34" charset="0"/>
                  <a:buChar char="•"/>
                </a:pPr>
                <a:endParaRPr lang="en-GB" sz="2400" b="1" dirty="0">
                  <a:solidFill>
                    <a:srgbClr val="0000CC"/>
                  </a:solidFill>
                  <a:latin typeface="Century Gothic" panose="020B0502020202020204" pitchFamily="34" charset="0"/>
                </a:endParaRPr>
              </a:p>
              <a:p>
                <a:pPr algn="ctr">
                  <a:buClr>
                    <a:schemeClr val="accent2"/>
                  </a:buClr>
                </a:pPr>
                <a:r>
                  <a:rPr lang="en-GB" sz="2400" b="1" dirty="0">
                    <a:latin typeface="Century Gothic" panose="020B0502020202020204" pitchFamily="34" charset="0"/>
                  </a:rPr>
                  <a:t>	 </a:t>
                </a:r>
                <a:endParaRPr lang="en-GB" sz="2400" b="1" kern="100" dirty="0">
                  <a:latin typeface="Century Gothic" panose="020B0502020202020204" pitchFamily="34" charset="0"/>
                  <a:ea typeface="Calibri" panose="020F0502020204030204" pitchFamily="34" charset="0"/>
                  <a:cs typeface="Times New Roman" panose="02020603050405020304" pitchFamily="18" charset="0"/>
                </a:endParaRPr>
              </a:p>
              <a:p>
                <a:pPr>
                  <a:buClr>
                    <a:schemeClr val="accent2"/>
                  </a:buClr>
                </a:pPr>
                <a:r>
                  <a:rPr lang="en-GB" sz="2400" b="1" kern="100" dirty="0">
                    <a:latin typeface="Century Gothic" panose="020B0502020202020204" pitchFamily="34" charset="0"/>
                    <a:ea typeface="Calibri" panose="020F0502020204030204" pitchFamily="34" charset="0"/>
                    <a:cs typeface="Times New Roman" panose="02020603050405020304" pitchFamily="18" charset="0"/>
                  </a:rPr>
                  <a:t>Assumptions:</a:t>
                </a:r>
              </a:p>
              <a:p>
                <a:pPr marL="342900" indent="-342900">
                  <a:lnSpc>
                    <a:spcPct val="200000"/>
                  </a:lnSpc>
                  <a:buClr>
                    <a:srgbClr val="FF0000"/>
                  </a:buClr>
                  <a:buFont typeface="Arial" panose="020B0604020202020204" pitchFamily="34" charset="0"/>
                  <a:buChar char="•"/>
                </a:pPr>
                <a:r>
                  <a:rPr lang="en-GB" sz="2400" b="1" kern="100" dirty="0">
                    <a:latin typeface="Century Gothic" panose="020B0502020202020204" pitchFamily="34" charset="0"/>
                    <a:ea typeface="Calibri" panose="020F0502020204030204" pitchFamily="34" charset="0"/>
                    <a:cs typeface="Times New Roman" panose="02020603050405020304" pitchFamily="18" charset="0"/>
                  </a:rPr>
                  <a:t>Circuit is operating in steady-state condition</a:t>
                </a:r>
              </a:p>
              <a:p>
                <a:pPr marL="342900" indent="-342900">
                  <a:lnSpc>
                    <a:spcPct val="200000"/>
                  </a:lnSpc>
                  <a:buClr>
                    <a:srgbClr val="FF0000"/>
                  </a:buClr>
                  <a:buFont typeface="Arial" panose="020B0604020202020204" pitchFamily="34" charset="0"/>
                  <a:buChar char="•"/>
                </a:pPr>
                <a:r>
                  <a:rPr lang="en-GB" sz="2400" b="1" kern="100" dirty="0">
                    <a:effectLst/>
                    <a:latin typeface="Century Gothic" panose="020B0502020202020204" pitchFamily="34" charset="0"/>
                    <a:ea typeface="Calibri" panose="020F0502020204030204" pitchFamily="34" charset="0"/>
                    <a:cs typeface="Times New Roman" panose="02020603050405020304" pitchFamily="18" charset="0"/>
                  </a:rPr>
                  <a:t>Inductor current is always positive</a:t>
                </a:r>
              </a:p>
              <a:p>
                <a:pPr marL="342900" indent="-342900">
                  <a:lnSpc>
                    <a:spcPct val="200000"/>
                  </a:lnSpc>
                  <a:buClr>
                    <a:srgbClr val="FF0000"/>
                  </a:buClr>
                  <a:buFont typeface="Arial" panose="020B0604020202020204" pitchFamily="34" charset="0"/>
                  <a:buChar char="•"/>
                </a:pPr>
                <a:r>
                  <a:rPr lang="en-GB" sz="2400" b="1" kern="100" dirty="0">
                    <a:latin typeface="Century Gothic" panose="020B0502020202020204" pitchFamily="34" charset="0"/>
                    <a:ea typeface="Calibri" panose="020F0502020204030204" pitchFamily="34" charset="0"/>
                    <a:cs typeface="Times New Roman" panose="02020603050405020304" pitchFamily="18" charset="0"/>
                  </a:rPr>
                  <a:t>Capacitor is very large </a:t>
                </a:r>
                <a14:m>
                  <m:oMath xmlns:m="http://schemas.openxmlformats.org/officeDocument/2006/math">
                    <m:r>
                      <a:rPr lang="en-GB" sz="2400" b="1" i="1" kern="100" smtClean="0">
                        <a:latin typeface="Cambria Math" panose="02040503050406030204" pitchFamily="18" charset="0"/>
                        <a:ea typeface="Calibri" panose="020F0502020204030204" pitchFamily="34" charset="0"/>
                        <a:cs typeface="Times New Roman" panose="02020603050405020304" pitchFamily="18" charset="0"/>
                      </a:rPr>
                      <m:t>→</m:t>
                    </m:r>
                  </m:oMath>
                </a14:m>
                <a:r>
                  <a:rPr lang="en-GB" sz="2400" b="1" kern="100" dirty="0">
                    <a:effectLst/>
                    <a:latin typeface="Century Gothic" panose="020B0502020202020204" pitchFamily="34" charset="0"/>
                    <a:ea typeface="Calibri" panose="020F0502020204030204" pitchFamily="34" charset="0"/>
                    <a:cs typeface="Times New Roman" panose="02020603050405020304" pitchFamily="18" charset="0"/>
                  </a:rPr>
                  <a:t> output voltage is held at constant voltage </a:t>
                </a:r>
                <a14:m>
                  <m:oMath xmlns:m="http://schemas.openxmlformats.org/officeDocument/2006/math">
                    <m:sSub>
                      <m:sSubPr>
                        <m:ctrlPr>
                          <a:rPr lang="en-GB" sz="2400" b="1" i="1" kern="100" smtClean="0">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2400" b="1" i="0" kern="100" smtClean="0">
                            <a:effectLst/>
                            <a:latin typeface="Cambria Math" panose="02040503050406030204" pitchFamily="18" charset="0"/>
                            <a:ea typeface="Calibri" panose="020F0502020204030204" pitchFamily="34" charset="0"/>
                            <a:cs typeface="Times New Roman" panose="02020603050405020304" pitchFamily="18" charset="0"/>
                          </a:rPr>
                          <m:t>𝐕</m:t>
                        </m:r>
                      </m:e>
                      <m:sub>
                        <m:r>
                          <a:rPr lang="en-US" sz="2400" b="1" i="0" kern="100" smtClean="0">
                            <a:effectLst/>
                            <a:latin typeface="Cambria Math" panose="02040503050406030204" pitchFamily="18" charset="0"/>
                            <a:ea typeface="Calibri" panose="020F0502020204030204" pitchFamily="34" charset="0"/>
                            <a:cs typeface="Times New Roman" panose="02020603050405020304" pitchFamily="18" charset="0"/>
                          </a:rPr>
                          <m:t>𝐎</m:t>
                        </m:r>
                      </m:sub>
                    </m:sSub>
                    <m:r>
                      <a:rPr lang="en-US" sz="2400" b="1" i="0" kern="100" smtClean="0">
                        <a:effectLst/>
                        <a:latin typeface="Cambria Math" panose="02040503050406030204" pitchFamily="18" charset="0"/>
                        <a:ea typeface="Calibri" panose="020F0502020204030204" pitchFamily="34" charset="0"/>
                        <a:cs typeface="Times New Roman" panose="02020603050405020304" pitchFamily="18" charset="0"/>
                      </a:rPr>
                      <m:t> </m:t>
                    </m:r>
                  </m:oMath>
                </a14:m>
                <a:endParaRPr lang="en-GB" sz="2400" b="1" kern="100" dirty="0">
                  <a:effectLst/>
                  <a:latin typeface="Century Gothic" panose="020B0502020202020204" pitchFamily="34" charset="0"/>
                  <a:ea typeface="Calibri" panose="020F0502020204030204" pitchFamily="34" charset="0"/>
                  <a:cs typeface="Times New Roman" panose="02020603050405020304" pitchFamily="18" charset="0"/>
                </a:endParaRPr>
              </a:p>
              <a:p>
                <a:pPr marL="342900" indent="-342900">
                  <a:lnSpc>
                    <a:spcPct val="200000"/>
                  </a:lnSpc>
                  <a:buClr>
                    <a:srgbClr val="FF0000"/>
                  </a:buClr>
                  <a:buFont typeface="Arial" panose="020B0604020202020204" pitchFamily="34" charset="0"/>
                  <a:buChar char="•"/>
                </a:pPr>
                <a:r>
                  <a:rPr lang="en-GB" sz="2400" b="1" kern="100" dirty="0">
                    <a:latin typeface="Century Gothic" panose="020B0502020202020204" pitchFamily="34" charset="0"/>
                    <a:ea typeface="Calibri" panose="020F0502020204030204" pitchFamily="34" charset="0"/>
                    <a:cs typeface="Times New Roman" panose="02020603050405020304" pitchFamily="18" charset="0"/>
                  </a:rPr>
                  <a:t>Component are ideals</a:t>
                </a:r>
                <a:endParaRPr lang="en-GB" sz="2400" b="1" kern="100" dirty="0">
                  <a:effectLst/>
                  <a:latin typeface="Century Gothic" panose="020B0502020202020204" pitchFamily="34" charset="0"/>
                  <a:ea typeface="Calibri" panose="020F0502020204030204" pitchFamily="34" charset="0"/>
                  <a:cs typeface="Times New Roman" panose="02020603050405020304" pitchFamily="18" charset="0"/>
                </a:endParaRPr>
              </a:p>
            </p:txBody>
          </p:sp>
        </mc:Choice>
        <mc:Fallback xmlns="">
          <p:sp>
            <p:nvSpPr>
              <p:cNvPr id="6" name="TextBox 5">
                <a:extLst>
                  <a:ext uri="{FF2B5EF4-FFF2-40B4-BE49-F238E27FC236}">
                    <a16:creationId xmlns:a16="http://schemas.microsoft.com/office/drawing/2014/main" id="{6BAA1F11-5BEF-4D80-964F-A7332E36BFA0}"/>
                  </a:ext>
                </a:extLst>
              </p:cNvPr>
              <p:cNvSpPr txBox="1">
                <a:spLocks noRot="1" noChangeAspect="1" noMove="1" noResize="1" noEditPoints="1" noAdjustHandles="1" noChangeArrowheads="1" noChangeShapeType="1" noTextEdit="1"/>
              </p:cNvSpPr>
              <p:nvPr/>
            </p:nvSpPr>
            <p:spPr>
              <a:xfrm>
                <a:off x="282102" y="864161"/>
                <a:ext cx="11702375" cy="5145383"/>
              </a:xfrm>
              <a:prstGeom prst="rect">
                <a:avLst/>
              </a:prstGeom>
              <a:blipFill>
                <a:blip r:embed="rId2"/>
                <a:stretch>
                  <a:fillRect l="-728" b="-1655"/>
                </a:stretch>
              </a:blipFill>
              <a:ln>
                <a:solidFill>
                  <a:srgbClr val="FF0066"/>
                </a:solidFill>
              </a:ln>
            </p:spPr>
            <p:txBody>
              <a:bodyPr/>
              <a:lstStyle/>
              <a:p>
                <a:r>
                  <a:rPr lang="en-US">
                    <a:noFill/>
                  </a:rPr>
                  <a:t> </a:t>
                </a:r>
              </a:p>
            </p:txBody>
          </p:sp>
        </mc:Fallback>
      </mc:AlternateContent>
      <p:sp>
        <p:nvSpPr>
          <p:cNvPr id="7" name="TextBox 6">
            <a:extLst>
              <a:ext uri="{FF2B5EF4-FFF2-40B4-BE49-F238E27FC236}">
                <a16:creationId xmlns:a16="http://schemas.microsoft.com/office/drawing/2014/main" id="{C36AA635-C21F-49F3-BF21-4CBE4C20709B}"/>
              </a:ext>
            </a:extLst>
          </p:cNvPr>
          <p:cNvSpPr txBox="1"/>
          <p:nvPr/>
        </p:nvSpPr>
        <p:spPr>
          <a:xfrm>
            <a:off x="5269122" y="6059046"/>
            <a:ext cx="823314" cy="373051"/>
          </a:xfrm>
          <a:prstGeom prst="rect">
            <a:avLst/>
          </a:prstGeom>
          <a:noFill/>
        </p:spPr>
        <p:txBody>
          <a:bodyPr wrap="square" rtlCol="0">
            <a:spAutoFit/>
          </a:bodyPr>
          <a:lstStyle/>
          <a:p>
            <a:pPr algn="ctr"/>
            <a:endParaRPr lang="en-GB" sz="1824" dirty="0">
              <a:latin typeface="Garamond" panose="02020404030301010803" pitchFamily="18" charset="0"/>
            </a:endParaRPr>
          </a:p>
        </p:txBody>
      </p:sp>
      <p:pic>
        <p:nvPicPr>
          <p:cNvPr id="3" name="Picture 2">
            <a:extLst>
              <a:ext uri="{FF2B5EF4-FFF2-40B4-BE49-F238E27FC236}">
                <a16:creationId xmlns:a16="http://schemas.microsoft.com/office/drawing/2014/main" id="{469625C9-119C-482A-AC35-4D34D6A45AD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779447" y="958990"/>
            <a:ext cx="3543607" cy="1607959"/>
          </a:xfrm>
          <a:prstGeom prst="rect">
            <a:avLst/>
          </a:prstGeom>
        </p:spPr>
      </p:pic>
    </p:spTree>
    <p:extLst>
      <p:ext uri="{BB962C8B-B14F-4D97-AF65-F5344CB8AC3E}">
        <p14:creationId xmlns:p14="http://schemas.microsoft.com/office/powerpoint/2010/main" val="212174479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6">
            <a:extLst>
              <a:ext uri="{FF2B5EF4-FFF2-40B4-BE49-F238E27FC236}">
                <a16:creationId xmlns:a16="http://schemas.microsoft.com/office/drawing/2014/main" id="{56080804-F19F-41A7-8595-943961648C5E}"/>
              </a:ext>
            </a:extLst>
          </p:cNvPr>
          <p:cNvSpPr>
            <a:spLocks noGrp="1"/>
          </p:cNvSpPr>
          <p:nvPr>
            <p:ph type="sldNum" sz="quarter" idx="12"/>
          </p:nvPr>
        </p:nvSpPr>
        <p:spPr>
          <a:xfrm>
            <a:off x="8610600" y="6441692"/>
            <a:ext cx="2743200" cy="370027"/>
          </a:xfrm>
        </p:spPr>
        <p:txBody>
          <a:bodyPr/>
          <a:lstStyle/>
          <a:p>
            <a:fld id="{F4801FD5-11B4-DE43-ACA2-E85EEB9A6F9C}" type="slidenum">
              <a:rPr lang="en-US" smtClean="0">
                <a:latin typeface="Garamond" panose="02020404030301010803" pitchFamily="18" charset="0"/>
              </a:rPr>
              <a:t>3</a:t>
            </a:fld>
            <a:endParaRPr lang="en-US">
              <a:latin typeface="Garamond" panose="02020404030301010803" pitchFamily="18" charset="0"/>
            </a:endParaRPr>
          </a:p>
        </p:txBody>
      </p:sp>
      <p:sp>
        <p:nvSpPr>
          <p:cNvPr id="5" name="Title 1">
            <a:extLst>
              <a:ext uri="{FF2B5EF4-FFF2-40B4-BE49-F238E27FC236}">
                <a16:creationId xmlns:a16="http://schemas.microsoft.com/office/drawing/2014/main" id="{4710AE4B-0DB8-4451-B9E4-10BAE11B4D3A}"/>
              </a:ext>
            </a:extLst>
          </p:cNvPr>
          <p:cNvSpPr>
            <a:spLocks noGrp="1"/>
          </p:cNvSpPr>
          <p:nvPr>
            <p:ph type="title"/>
          </p:nvPr>
        </p:nvSpPr>
        <p:spPr>
          <a:xfrm>
            <a:off x="3180947" y="0"/>
            <a:ext cx="6026397" cy="558382"/>
          </a:xfrm>
        </p:spPr>
        <p:txBody>
          <a:bodyPr>
            <a:noAutofit/>
          </a:bodyPr>
          <a:lstStyle/>
          <a:p>
            <a:pPr algn="ctr"/>
            <a:r>
              <a:rPr lang="en-US" sz="3200" b="1" u="sng" dirty="0">
                <a:solidFill>
                  <a:srgbClr val="FF3386"/>
                </a:solidFill>
                <a:latin typeface="Century Gothic" panose="020B0502020202020204" pitchFamily="34" charset="0"/>
                <a:cs typeface="Helvetica"/>
              </a:rPr>
              <a:t>BOOST CONVERTER ANALYSIS</a:t>
            </a:r>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6BAA1F11-5BEF-4D80-964F-A7332E36BFA0}"/>
                  </a:ext>
                </a:extLst>
              </p:cNvPr>
              <p:cNvSpPr txBox="1"/>
              <p:nvPr/>
            </p:nvSpPr>
            <p:spPr>
              <a:xfrm>
                <a:off x="136186" y="544590"/>
                <a:ext cx="11861227" cy="6001643"/>
              </a:xfrm>
              <a:prstGeom prst="rect">
                <a:avLst/>
              </a:prstGeom>
              <a:noFill/>
              <a:ln>
                <a:solidFill>
                  <a:srgbClr val="FF0066"/>
                </a:solidFill>
              </a:ln>
            </p:spPr>
            <p:txBody>
              <a:bodyPr wrap="square" rtlCol="0">
                <a:spAutoFit/>
              </a:bodyPr>
              <a:lstStyle/>
              <a:p>
                <a:pPr marL="457200" indent="-457200">
                  <a:buClr>
                    <a:schemeClr val="accent2"/>
                  </a:buClr>
                  <a:buFont typeface="Arial" panose="020B0604020202020204" pitchFamily="34" charset="0"/>
                  <a:buChar char="•"/>
                </a:pPr>
                <a:r>
                  <a:rPr lang="en-GB" sz="2400" b="1" dirty="0">
                    <a:solidFill>
                      <a:srgbClr val="0000CC"/>
                    </a:solidFill>
                    <a:latin typeface="Century Gothic" panose="020B0502020202020204" pitchFamily="34" charset="0"/>
                  </a:rPr>
                  <a:t>When switch is CLOSED : Diode is R.B</a:t>
                </a:r>
                <a:br>
                  <a:rPr lang="en-GB" sz="2400" b="1" dirty="0">
                    <a:solidFill>
                      <a:srgbClr val="0000CC"/>
                    </a:solidFill>
                    <a:latin typeface="Century Gothic" panose="020B0502020202020204" pitchFamily="34" charset="0"/>
                  </a:rPr>
                </a:br>
                <a:r>
                  <a:rPr lang="en-GB" sz="2400" b="1" dirty="0">
                    <a:solidFill>
                      <a:srgbClr val="0000CC"/>
                    </a:solidFill>
                    <a:latin typeface="Century Gothic" panose="020B0502020202020204" pitchFamily="34" charset="0"/>
                  </a:rPr>
                  <a:t>   Positive voltage across L, </a:t>
                </a:r>
                <a14:m>
                  <m:oMath xmlns:m="http://schemas.openxmlformats.org/officeDocument/2006/math">
                    <m:sSub>
                      <m:sSubPr>
                        <m:ctrlPr>
                          <a:rPr lang="en-GB" sz="2400" b="1" i="1" smtClean="0">
                            <a:solidFill>
                              <a:srgbClr val="FF0000"/>
                            </a:solidFill>
                            <a:latin typeface="Cambria Math" panose="02040503050406030204" pitchFamily="18" charset="0"/>
                          </a:rPr>
                        </m:ctrlPr>
                      </m:sSubPr>
                      <m:e>
                        <m:r>
                          <a:rPr lang="en-US" sz="2400" b="1" i="1" smtClean="0">
                            <a:solidFill>
                              <a:srgbClr val="FF0000"/>
                            </a:solidFill>
                            <a:latin typeface="Cambria Math" panose="02040503050406030204" pitchFamily="18" charset="0"/>
                          </a:rPr>
                          <m:t>𝑽</m:t>
                        </m:r>
                      </m:e>
                      <m:sub>
                        <m:r>
                          <a:rPr lang="en-US" sz="2400" b="1" i="1" smtClean="0">
                            <a:solidFill>
                              <a:srgbClr val="FF0000"/>
                            </a:solidFill>
                            <a:latin typeface="Cambria Math" panose="02040503050406030204" pitchFamily="18" charset="0"/>
                          </a:rPr>
                          <m:t>𝑳</m:t>
                        </m:r>
                      </m:sub>
                    </m:sSub>
                  </m:oMath>
                </a14:m>
                <a:r>
                  <a:rPr lang="en-GB" sz="2400" b="1" dirty="0">
                    <a:solidFill>
                      <a:srgbClr val="FF0000"/>
                    </a:solidFill>
                    <a:latin typeface="Century Gothic" panose="020B0502020202020204" pitchFamily="34" charset="0"/>
                  </a:rPr>
                  <a:t>=</a:t>
                </a:r>
                <a14:m>
                  <m:oMath xmlns:m="http://schemas.openxmlformats.org/officeDocument/2006/math">
                    <m:sSub>
                      <m:sSubPr>
                        <m:ctrlPr>
                          <a:rPr lang="en-GB" sz="2400" b="1" i="1" smtClean="0">
                            <a:solidFill>
                              <a:srgbClr val="FF0000"/>
                            </a:solidFill>
                            <a:latin typeface="Cambria Math" panose="02040503050406030204" pitchFamily="18" charset="0"/>
                          </a:rPr>
                        </m:ctrlPr>
                      </m:sSubPr>
                      <m:e>
                        <m:r>
                          <a:rPr lang="en-US" sz="2400" b="1" i="1" smtClean="0">
                            <a:solidFill>
                              <a:srgbClr val="FF0000"/>
                            </a:solidFill>
                            <a:latin typeface="Cambria Math" panose="02040503050406030204" pitchFamily="18" charset="0"/>
                          </a:rPr>
                          <m:t>𝑽</m:t>
                        </m:r>
                      </m:e>
                      <m:sub>
                        <m:r>
                          <a:rPr lang="en-US" sz="2400" b="1" i="1" smtClean="0">
                            <a:solidFill>
                              <a:srgbClr val="FF0000"/>
                            </a:solidFill>
                            <a:latin typeface="Cambria Math" panose="02040503050406030204" pitchFamily="18" charset="0"/>
                          </a:rPr>
                          <m:t>𝒔</m:t>
                        </m:r>
                      </m:sub>
                    </m:sSub>
                  </m:oMath>
                </a14:m>
                <a:r>
                  <a:rPr lang="en-GB" sz="2400" b="1" dirty="0">
                    <a:solidFill>
                      <a:srgbClr val="FF0000"/>
                    </a:solidFill>
                    <a:latin typeface="Century Gothic" panose="020B0502020202020204" pitchFamily="34" charset="0"/>
                  </a:rPr>
                  <a:t>-</a:t>
                </a:r>
                <a14:m>
                  <m:oMath xmlns:m="http://schemas.openxmlformats.org/officeDocument/2006/math">
                    <m:sSub>
                      <m:sSubPr>
                        <m:ctrlPr>
                          <a:rPr lang="en-GB" sz="2400" b="1" i="1" smtClean="0">
                            <a:solidFill>
                              <a:srgbClr val="FF0000"/>
                            </a:solidFill>
                            <a:latin typeface="Cambria Math" panose="02040503050406030204" pitchFamily="18" charset="0"/>
                          </a:rPr>
                        </m:ctrlPr>
                      </m:sSubPr>
                      <m:e>
                        <m:r>
                          <a:rPr lang="en-US" sz="2400" b="1" i="1" smtClean="0">
                            <a:solidFill>
                              <a:srgbClr val="FF0000"/>
                            </a:solidFill>
                            <a:latin typeface="Cambria Math" panose="02040503050406030204" pitchFamily="18" charset="0"/>
                          </a:rPr>
                          <m:t>𝑽</m:t>
                        </m:r>
                      </m:e>
                      <m:sub>
                        <m:r>
                          <a:rPr lang="en-US" sz="2400" b="1" i="1" smtClean="0">
                            <a:solidFill>
                              <a:srgbClr val="FF0000"/>
                            </a:solidFill>
                            <a:latin typeface="Cambria Math" panose="02040503050406030204" pitchFamily="18" charset="0"/>
                          </a:rPr>
                          <m:t>𝒐</m:t>
                        </m:r>
                      </m:sub>
                    </m:sSub>
                  </m:oMath>
                </a14:m>
                <a:endParaRPr lang="en-GB" sz="2400" b="1" dirty="0">
                  <a:solidFill>
                    <a:srgbClr val="0000CC"/>
                  </a:solidFill>
                  <a:latin typeface="Century Gothic" panose="020B0502020202020204" pitchFamily="34" charset="0"/>
                </a:endParaRPr>
              </a:p>
              <a:p>
                <a:pPr algn="ctr">
                  <a:buClr>
                    <a:schemeClr val="accent2"/>
                  </a:buClr>
                </a:pPr>
                <a:br>
                  <a:rPr lang="en-GB" sz="2400" b="1" dirty="0">
                    <a:solidFill>
                      <a:srgbClr val="0000CC"/>
                    </a:solidFill>
                    <a:latin typeface="Century Gothic" panose="020B0502020202020204" pitchFamily="34" charset="0"/>
                  </a:rPr>
                </a:br>
                <a:endParaRPr lang="en-GB" sz="2400" b="1" dirty="0">
                  <a:solidFill>
                    <a:srgbClr val="0000CC"/>
                  </a:solidFill>
                  <a:latin typeface="Century Gothic" panose="020B0502020202020204" pitchFamily="34" charset="0"/>
                </a:endParaRPr>
              </a:p>
              <a:p>
                <a:pPr marL="457200" indent="-457200">
                  <a:buClr>
                    <a:schemeClr val="accent2"/>
                  </a:buClr>
                  <a:buFont typeface="Arial" panose="020B0604020202020204" pitchFamily="34" charset="0"/>
                  <a:buChar char="•"/>
                </a:pPr>
                <a:endParaRPr lang="en-GB" sz="2400" b="1" dirty="0">
                  <a:solidFill>
                    <a:srgbClr val="0000CC"/>
                  </a:solidFill>
                  <a:latin typeface="Century Gothic" panose="020B0502020202020204" pitchFamily="34" charset="0"/>
                </a:endParaRPr>
              </a:p>
              <a:p>
                <a:pPr>
                  <a:buClr>
                    <a:schemeClr val="accent2"/>
                  </a:buClr>
                </a:pPr>
                <a:endParaRPr lang="en-GB" sz="2400" b="1" dirty="0">
                  <a:solidFill>
                    <a:srgbClr val="0000CC"/>
                  </a:solidFill>
                  <a:latin typeface="Century Gothic" panose="020B0502020202020204" pitchFamily="34" charset="0"/>
                </a:endParaRPr>
              </a:p>
              <a:p>
                <a:pPr marL="342900" indent="-342900">
                  <a:buClr>
                    <a:schemeClr val="accent2"/>
                  </a:buClr>
                  <a:buFont typeface="Arial" panose="020B0604020202020204" pitchFamily="34" charset="0"/>
                  <a:buChar char="•"/>
                </a:pPr>
                <a:br>
                  <a:rPr lang="en-GB" sz="2400" b="1" dirty="0">
                    <a:solidFill>
                      <a:srgbClr val="0000CC"/>
                    </a:solidFill>
                    <a:latin typeface="Century Gothic" panose="020B0502020202020204" pitchFamily="34" charset="0"/>
                  </a:rPr>
                </a:br>
                <a:r>
                  <a:rPr lang="en-GB" sz="2400" b="1" dirty="0">
                    <a:solidFill>
                      <a:srgbClr val="0000CC"/>
                    </a:solidFill>
                    <a:latin typeface="Century Gothic" panose="020B0502020202020204" pitchFamily="34" charset="0"/>
                  </a:rPr>
                  <a:t>When switch is OPEN: Diode is F.B</a:t>
                </a:r>
                <a:br>
                  <a:rPr lang="en-GB" sz="2400" b="1" dirty="0">
                    <a:solidFill>
                      <a:srgbClr val="0000CC"/>
                    </a:solidFill>
                    <a:latin typeface="Century Gothic" panose="020B0502020202020204" pitchFamily="34" charset="0"/>
                  </a:rPr>
                </a:br>
                <a14:m>
                  <m:oMath xmlns:m="http://schemas.openxmlformats.org/officeDocument/2006/math">
                    <m:sSub>
                      <m:sSubPr>
                        <m:ctrlPr>
                          <a:rPr lang="en-GB" sz="2400" b="1" i="1" smtClean="0">
                            <a:solidFill>
                              <a:srgbClr val="0000CC"/>
                            </a:solidFill>
                            <a:latin typeface="Cambria Math" panose="02040503050406030204" pitchFamily="18" charset="0"/>
                          </a:rPr>
                        </m:ctrlPr>
                      </m:sSubPr>
                      <m:e>
                        <m:r>
                          <a:rPr lang="en-US" sz="2400" b="1" i="1" smtClean="0">
                            <a:solidFill>
                              <a:srgbClr val="0000CC"/>
                            </a:solidFill>
                            <a:latin typeface="Cambria Math" panose="02040503050406030204" pitchFamily="18" charset="0"/>
                          </a:rPr>
                          <m:t>𝒊</m:t>
                        </m:r>
                      </m:e>
                      <m:sub>
                        <m:r>
                          <a:rPr lang="en-US" sz="2400" b="1" i="1" smtClean="0">
                            <a:solidFill>
                              <a:srgbClr val="0000CC"/>
                            </a:solidFill>
                            <a:latin typeface="Cambria Math" panose="02040503050406030204" pitchFamily="18" charset="0"/>
                          </a:rPr>
                          <m:t>𝑳</m:t>
                        </m:r>
                      </m:sub>
                    </m:sSub>
                  </m:oMath>
                </a14:m>
                <a:r>
                  <a:rPr lang="en-GB" sz="2400" b="1" i="1" dirty="0">
                    <a:solidFill>
                      <a:srgbClr val="0000CC"/>
                    </a:solidFill>
                    <a:latin typeface="Century Gothic" panose="020B0502020202020204" pitchFamily="34" charset="0"/>
                  </a:rPr>
                  <a:t> </a:t>
                </a:r>
                <a:r>
                  <a:rPr lang="en-GB" sz="2400" b="1" dirty="0">
                    <a:solidFill>
                      <a:srgbClr val="0000CC"/>
                    </a:solidFill>
                    <a:latin typeface="Century Gothic" panose="020B0502020202020204" pitchFamily="34" charset="0"/>
                  </a:rPr>
                  <a:t>continues to flow energy stored in L</a:t>
                </a:r>
                <a:br>
                  <a:rPr lang="en-GB" sz="2400" b="1" dirty="0">
                    <a:solidFill>
                      <a:srgbClr val="0000CC"/>
                    </a:solidFill>
                    <a:latin typeface="Century Gothic" panose="020B0502020202020204" pitchFamily="34" charset="0"/>
                  </a:rPr>
                </a:br>
                <a:r>
                  <a:rPr lang="en-GB" sz="2400" b="1" dirty="0">
                    <a:solidFill>
                      <a:srgbClr val="0000CC"/>
                    </a:solidFill>
                    <a:latin typeface="Century Gothic" panose="020B0502020202020204" pitchFamily="34" charset="0"/>
                  </a:rPr>
                  <a:t>           </a:t>
                </a:r>
                <a14:m>
                  <m:oMath xmlns:m="http://schemas.openxmlformats.org/officeDocument/2006/math">
                    <m:sSub>
                      <m:sSubPr>
                        <m:ctrlPr>
                          <a:rPr lang="en-GB" sz="2400" b="1" i="1" smtClean="0">
                            <a:solidFill>
                              <a:srgbClr val="FF0000"/>
                            </a:solidFill>
                            <a:latin typeface="Cambria Math" panose="02040503050406030204" pitchFamily="18" charset="0"/>
                          </a:rPr>
                        </m:ctrlPr>
                      </m:sSubPr>
                      <m:e>
                        <m:r>
                          <a:rPr lang="en-US" sz="2400" b="1" i="1" smtClean="0">
                            <a:solidFill>
                              <a:srgbClr val="FF0000"/>
                            </a:solidFill>
                            <a:latin typeface="Cambria Math" panose="02040503050406030204" pitchFamily="18" charset="0"/>
                          </a:rPr>
                          <m:t>𝑽</m:t>
                        </m:r>
                      </m:e>
                      <m:sub>
                        <m:r>
                          <a:rPr lang="en-US" sz="2400" b="1" i="1" smtClean="0">
                            <a:solidFill>
                              <a:srgbClr val="FF0000"/>
                            </a:solidFill>
                            <a:latin typeface="Cambria Math" panose="02040503050406030204" pitchFamily="18" charset="0"/>
                          </a:rPr>
                          <m:t>𝑳</m:t>
                        </m:r>
                      </m:sub>
                    </m:sSub>
                  </m:oMath>
                </a14:m>
                <a:r>
                  <a:rPr lang="en-GB" sz="2400" b="1" dirty="0">
                    <a:solidFill>
                      <a:srgbClr val="FF0000"/>
                    </a:solidFill>
                    <a:latin typeface="Century Gothic" panose="020B0502020202020204" pitchFamily="34" charset="0"/>
                  </a:rPr>
                  <a:t> = </a:t>
                </a:r>
                <a14:m>
                  <m:oMath xmlns:m="http://schemas.openxmlformats.org/officeDocument/2006/math">
                    <m:sSub>
                      <m:sSubPr>
                        <m:ctrlPr>
                          <a:rPr lang="en-GB" sz="2400" b="1" i="1" smtClean="0">
                            <a:solidFill>
                              <a:srgbClr val="FF0000"/>
                            </a:solidFill>
                            <a:latin typeface="Cambria Math" panose="02040503050406030204" pitchFamily="18" charset="0"/>
                          </a:rPr>
                        </m:ctrlPr>
                      </m:sSubPr>
                      <m:e>
                        <m:r>
                          <a:rPr lang="en-US" sz="2400" b="1" i="1" smtClean="0">
                            <a:solidFill>
                              <a:srgbClr val="FF0000"/>
                            </a:solidFill>
                            <a:latin typeface="Cambria Math" panose="02040503050406030204" pitchFamily="18" charset="0"/>
                          </a:rPr>
                          <m:t>𝑽</m:t>
                        </m:r>
                      </m:e>
                      <m:sub>
                        <m:r>
                          <a:rPr lang="en-US" sz="2400" b="1" i="1" smtClean="0">
                            <a:solidFill>
                              <a:srgbClr val="FF0000"/>
                            </a:solidFill>
                            <a:latin typeface="Cambria Math" panose="02040503050406030204" pitchFamily="18" charset="0"/>
                          </a:rPr>
                          <m:t>𝑺</m:t>
                        </m:r>
                      </m:sub>
                    </m:sSub>
                  </m:oMath>
                </a14:m>
                <a:r>
                  <a:rPr lang="en-GB" sz="2400" b="1" dirty="0">
                    <a:solidFill>
                      <a:srgbClr val="FF0000"/>
                    </a:solidFill>
                    <a:latin typeface="Century Gothic" panose="020B0502020202020204" pitchFamily="34" charset="0"/>
                  </a:rPr>
                  <a:t> </a:t>
                </a:r>
                <a:r>
                  <a:rPr lang="en-GB" sz="2400" b="1" dirty="0">
                    <a:solidFill>
                      <a:srgbClr val="0000CC"/>
                    </a:solidFill>
                    <a:latin typeface="Century Gothic" panose="020B0502020202020204" pitchFamily="34" charset="0"/>
                  </a:rPr>
                  <a:t>          </a:t>
                </a:r>
                <a:endParaRPr lang="en-GB" sz="2400" b="1" i="1" dirty="0">
                  <a:solidFill>
                    <a:srgbClr val="0000CC"/>
                  </a:solidFill>
                  <a:latin typeface="Century Gothic" panose="020B0502020202020204" pitchFamily="34" charset="0"/>
                </a:endParaRPr>
              </a:p>
              <a:p>
                <a:pPr marL="342900" indent="-342900">
                  <a:buClr>
                    <a:schemeClr val="accent2"/>
                  </a:buClr>
                  <a:buFont typeface="Arial" panose="020B0604020202020204" pitchFamily="34" charset="0"/>
                  <a:buChar char="•"/>
                </a:pPr>
                <a:endParaRPr lang="en-GB" sz="2400" kern="100" dirty="0">
                  <a:latin typeface="Century Gothic" panose="020B0502020202020204" pitchFamily="34" charset="0"/>
                  <a:ea typeface="Calibri" panose="020F0502020204030204" pitchFamily="34" charset="0"/>
                  <a:cs typeface="Times New Roman" panose="02020603050405020304" pitchFamily="18" charset="0"/>
                </a:endParaRPr>
              </a:p>
              <a:p>
                <a:pPr marL="927088" lvl="1" indent="-457200">
                  <a:spcBef>
                    <a:spcPts val="40"/>
                  </a:spcBef>
                  <a:buClr>
                    <a:srgbClr val="83992A"/>
                  </a:buClr>
                  <a:buSzPct val="114285"/>
                  <a:buFont typeface="Courier New" panose="02070309020205020404" pitchFamily="49" charset="0"/>
                  <a:buChar char="o"/>
                  <a:tabLst>
                    <a:tab pos="755632" algn="l"/>
                  </a:tabLst>
                </a:pPr>
                <a:endParaRPr lang="en-GB" sz="2400" kern="100" dirty="0">
                  <a:latin typeface="Century Gothic" panose="020B0502020202020204" pitchFamily="34" charset="0"/>
                  <a:ea typeface="Calibri" panose="020F0502020204030204" pitchFamily="34" charset="0"/>
                  <a:cs typeface="Times New Roman" panose="02020603050405020304" pitchFamily="18" charset="0"/>
                </a:endParaRPr>
              </a:p>
              <a:p>
                <a:pPr marL="927088" lvl="1" indent="-457200">
                  <a:spcBef>
                    <a:spcPts val="40"/>
                  </a:spcBef>
                  <a:buClr>
                    <a:srgbClr val="83992A"/>
                  </a:buClr>
                  <a:buSzPct val="114285"/>
                  <a:buFont typeface="Courier New" panose="02070309020205020404" pitchFamily="49" charset="0"/>
                  <a:buChar char="o"/>
                  <a:tabLst>
                    <a:tab pos="755632" algn="l"/>
                  </a:tabLst>
                </a:pPr>
                <a:endParaRPr lang="en-GB" sz="2400" kern="100" dirty="0">
                  <a:latin typeface="Century Gothic" panose="020B0502020202020204" pitchFamily="34" charset="0"/>
                  <a:ea typeface="Calibri" panose="020F0502020204030204" pitchFamily="34" charset="0"/>
                  <a:cs typeface="Times New Roman" panose="02020603050405020304" pitchFamily="18" charset="0"/>
                </a:endParaRPr>
              </a:p>
              <a:p>
                <a:pPr marL="927088" lvl="1" indent="-457200">
                  <a:spcBef>
                    <a:spcPts val="40"/>
                  </a:spcBef>
                  <a:buClr>
                    <a:srgbClr val="83992A"/>
                  </a:buClr>
                  <a:buSzPct val="114285"/>
                  <a:buFont typeface="Courier New" panose="02070309020205020404" pitchFamily="49" charset="0"/>
                  <a:buChar char="o"/>
                  <a:tabLst>
                    <a:tab pos="755632" algn="l"/>
                  </a:tabLst>
                </a:pPr>
                <a:endParaRPr lang="en-GB" sz="2400" kern="100" dirty="0">
                  <a:latin typeface="Century Gothic" panose="020B0502020202020204" pitchFamily="34" charset="0"/>
                  <a:ea typeface="Calibri" panose="020F0502020204030204" pitchFamily="34" charset="0"/>
                  <a:cs typeface="Times New Roman" panose="02020603050405020304" pitchFamily="18" charset="0"/>
                </a:endParaRPr>
              </a:p>
              <a:p>
                <a:pPr marL="469888" lvl="1">
                  <a:spcBef>
                    <a:spcPts val="40"/>
                  </a:spcBef>
                  <a:buClr>
                    <a:srgbClr val="83992A"/>
                  </a:buClr>
                  <a:buSzPct val="114285"/>
                  <a:tabLst>
                    <a:tab pos="755632" algn="l"/>
                  </a:tabLst>
                </a:pPr>
                <a:endParaRPr lang="en-GB" sz="2400" kern="100" dirty="0">
                  <a:latin typeface="Century Gothic" panose="020B0502020202020204" pitchFamily="34" charset="0"/>
                  <a:ea typeface="Calibri" panose="020F0502020204030204" pitchFamily="34" charset="0"/>
                  <a:cs typeface="Times New Roman" panose="02020603050405020304" pitchFamily="18" charset="0"/>
                </a:endParaRPr>
              </a:p>
              <a:p>
                <a:pPr marL="927088" lvl="1" indent="-457200">
                  <a:spcBef>
                    <a:spcPts val="40"/>
                  </a:spcBef>
                  <a:buClr>
                    <a:srgbClr val="83992A"/>
                  </a:buClr>
                  <a:buSzPct val="114285"/>
                  <a:buFont typeface="Courier New" panose="02070309020205020404" pitchFamily="49" charset="0"/>
                  <a:buChar char="o"/>
                  <a:tabLst>
                    <a:tab pos="755632" algn="l"/>
                  </a:tabLst>
                </a:pPr>
                <a:endParaRPr lang="en-GB" sz="2400" kern="100" dirty="0">
                  <a:latin typeface="Century Gothic" panose="020B0502020202020204" pitchFamily="34" charset="0"/>
                  <a:ea typeface="Calibri" panose="020F0502020204030204" pitchFamily="34" charset="0"/>
                  <a:cs typeface="Times New Roman" panose="02020603050405020304" pitchFamily="18" charset="0"/>
                </a:endParaRPr>
              </a:p>
            </p:txBody>
          </p:sp>
        </mc:Choice>
        <mc:Fallback xmlns="">
          <p:sp>
            <p:nvSpPr>
              <p:cNvPr id="6" name="TextBox 5">
                <a:extLst>
                  <a:ext uri="{FF2B5EF4-FFF2-40B4-BE49-F238E27FC236}">
                    <a16:creationId xmlns:a16="http://schemas.microsoft.com/office/drawing/2014/main" id="{6BAA1F11-5BEF-4D80-964F-A7332E36BFA0}"/>
                  </a:ext>
                </a:extLst>
              </p:cNvPr>
              <p:cNvSpPr txBox="1">
                <a:spLocks noRot="1" noChangeAspect="1" noMove="1" noResize="1" noEditPoints="1" noAdjustHandles="1" noChangeArrowheads="1" noChangeShapeType="1" noTextEdit="1"/>
              </p:cNvSpPr>
              <p:nvPr/>
            </p:nvSpPr>
            <p:spPr>
              <a:xfrm>
                <a:off x="136186" y="544590"/>
                <a:ext cx="11861227" cy="6001643"/>
              </a:xfrm>
              <a:prstGeom prst="rect">
                <a:avLst/>
              </a:prstGeom>
              <a:blipFill>
                <a:blip r:embed="rId2"/>
                <a:stretch>
                  <a:fillRect l="-616" t="-709"/>
                </a:stretch>
              </a:blipFill>
              <a:ln>
                <a:solidFill>
                  <a:srgbClr val="FF0066"/>
                </a:solidFill>
              </a:ln>
            </p:spPr>
            <p:txBody>
              <a:bodyPr/>
              <a:lstStyle/>
              <a:p>
                <a:r>
                  <a:rPr lang="en-US">
                    <a:noFill/>
                  </a:rPr>
                  <a:t> </a:t>
                </a:r>
              </a:p>
            </p:txBody>
          </p:sp>
        </mc:Fallback>
      </mc:AlternateContent>
      <p:sp>
        <p:nvSpPr>
          <p:cNvPr id="7" name="TextBox 6">
            <a:extLst>
              <a:ext uri="{FF2B5EF4-FFF2-40B4-BE49-F238E27FC236}">
                <a16:creationId xmlns:a16="http://schemas.microsoft.com/office/drawing/2014/main" id="{C36AA635-C21F-49F3-BF21-4CBE4C20709B}"/>
              </a:ext>
            </a:extLst>
          </p:cNvPr>
          <p:cNvSpPr txBox="1"/>
          <p:nvPr/>
        </p:nvSpPr>
        <p:spPr>
          <a:xfrm>
            <a:off x="5269122" y="6059046"/>
            <a:ext cx="823314" cy="373051"/>
          </a:xfrm>
          <a:prstGeom prst="rect">
            <a:avLst/>
          </a:prstGeom>
          <a:noFill/>
        </p:spPr>
        <p:txBody>
          <a:bodyPr wrap="square" rtlCol="0">
            <a:spAutoFit/>
          </a:bodyPr>
          <a:lstStyle/>
          <a:p>
            <a:pPr algn="ctr"/>
            <a:endParaRPr lang="en-GB" sz="1824" dirty="0">
              <a:latin typeface="Garamond" panose="02020404030301010803" pitchFamily="18" charset="0"/>
            </a:endParaRPr>
          </a:p>
        </p:txBody>
      </p:sp>
      <p:pic>
        <p:nvPicPr>
          <p:cNvPr id="12" name="Picture 11">
            <a:extLst>
              <a:ext uri="{FF2B5EF4-FFF2-40B4-BE49-F238E27FC236}">
                <a16:creationId xmlns:a16="http://schemas.microsoft.com/office/drawing/2014/main" id="{90901D38-9E2A-4368-883D-1610F281DB8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89113" y="1484433"/>
            <a:ext cx="5583668" cy="1559879"/>
          </a:xfrm>
          <a:prstGeom prst="rect">
            <a:avLst/>
          </a:prstGeom>
        </p:spPr>
      </p:pic>
      <p:pic>
        <p:nvPicPr>
          <p:cNvPr id="19" name="Picture 18">
            <a:extLst>
              <a:ext uri="{FF2B5EF4-FFF2-40B4-BE49-F238E27FC236}">
                <a16:creationId xmlns:a16="http://schemas.microsoft.com/office/drawing/2014/main" id="{17E5F1C3-4178-433F-90D0-60905E7376B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94587" y="4353055"/>
            <a:ext cx="5797644" cy="2079042"/>
          </a:xfrm>
          <a:prstGeom prst="rect">
            <a:avLst/>
          </a:prstGeom>
        </p:spPr>
      </p:pic>
      <p:cxnSp>
        <p:nvCxnSpPr>
          <p:cNvPr id="21" name="Straight Connector 20">
            <a:extLst>
              <a:ext uri="{FF2B5EF4-FFF2-40B4-BE49-F238E27FC236}">
                <a16:creationId xmlns:a16="http://schemas.microsoft.com/office/drawing/2014/main" id="{8CFE10F8-8235-4739-8456-33AB484B119F}"/>
              </a:ext>
            </a:extLst>
          </p:cNvPr>
          <p:cNvCxnSpPr>
            <a:stCxn id="6" idx="0"/>
            <a:endCxn id="6" idx="2"/>
          </p:cNvCxnSpPr>
          <p:nvPr/>
        </p:nvCxnSpPr>
        <p:spPr>
          <a:xfrm>
            <a:off x="6066800" y="544590"/>
            <a:ext cx="0" cy="6001643"/>
          </a:xfrm>
          <a:prstGeom prst="line">
            <a:avLst/>
          </a:prstGeom>
        </p:spPr>
        <p:style>
          <a:lnRef idx="1">
            <a:schemeClr val="accent1"/>
          </a:lnRef>
          <a:fillRef idx="0">
            <a:schemeClr val="accent1"/>
          </a:fillRef>
          <a:effectRef idx="0">
            <a:schemeClr val="accent1"/>
          </a:effectRef>
          <a:fontRef idx="minor">
            <a:schemeClr val="tx1"/>
          </a:fontRef>
        </p:style>
      </p:cxnSp>
      <p:pic>
        <p:nvPicPr>
          <p:cNvPr id="27" name="Picture 26">
            <a:extLst>
              <a:ext uri="{FF2B5EF4-FFF2-40B4-BE49-F238E27FC236}">
                <a16:creationId xmlns:a16="http://schemas.microsoft.com/office/drawing/2014/main" id="{47361AB6-A765-4C17-8C50-8AA0BA473F75}"/>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164065" y="584415"/>
            <a:ext cx="5577178" cy="1037113"/>
          </a:xfrm>
          <a:prstGeom prst="rect">
            <a:avLst/>
          </a:prstGeom>
        </p:spPr>
      </p:pic>
      <p:pic>
        <p:nvPicPr>
          <p:cNvPr id="32" name="Picture 31">
            <a:extLst>
              <a:ext uri="{FF2B5EF4-FFF2-40B4-BE49-F238E27FC236}">
                <a16:creationId xmlns:a16="http://schemas.microsoft.com/office/drawing/2014/main" id="{B7E0D334-7431-4836-B4F2-27D56339B7E8}"/>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274341" y="1923285"/>
            <a:ext cx="5515531" cy="1409387"/>
          </a:xfrm>
          <a:prstGeom prst="rect">
            <a:avLst/>
          </a:prstGeom>
        </p:spPr>
      </p:pic>
      <p:pic>
        <p:nvPicPr>
          <p:cNvPr id="35" name="Picture 34">
            <a:extLst>
              <a:ext uri="{FF2B5EF4-FFF2-40B4-BE49-F238E27FC236}">
                <a16:creationId xmlns:a16="http://schemas.microsoft.com/office/drawing/2014/main" id="{7020DBC1-0D6D-4459-98F2-34A0311EA6F3}"/>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6300257" y="3617402"/>
            <a:ext cx="5515529" cy="1134599"/>
          </a:xfrm>
          <a:prstGeom prst="rect">
            <a:avLst/>
          </a:prstGeom>
        </p:spPr>
      </p:pic>
      <p:pic>
        <p:nvPicPr>
          <p:cNvPr id="40" name="Picture 39">
            <a:extLst>
              <a:ext uri="{FF2B5EF4-FFF2-40B4-BE49-F238E27FC236}">
                <a16:creationId xmlns:a16="http://schemas.microsoft.com/office/drawing/2014/main" id="{AA0EAD0F-B51C-4164-9F49-1569B96D5A7D}"/>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6512785" y="5017487"/>
            <a:ext cx="5389117" cy="1387998"/>
          </a:xfrm>
          <a:prstGeom prst="rect">
            <a:avLst/>
          </a:prstGeom>
        </p:spPr>
      </p:pic>
    </p:spTree>
    <p:extLst>
      <p:ext uri="{BB962C8B-B14F-4D97-AF65-F5344CB8AC3E}">
        <p14:creationId xmlns:p14="http://schemas.microsoft.com/office/powerpoint/2010/main" val="314605860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6">
            <a:extLst>
              <a:ext uri="{FF2B5EF4-FFF2-40B4-BE49-F238E27FC236}">
                <a16:creationId xmlns:a16="http://schemas.microsoft.com/office/drawing/2014/main" id="{56080804-F19F-41A7-8595-943961648C5E}"/>
              </a:ext>
            </a:extLst>
          </p:cNvPr>
          <p:cNvSpPr>
            <a:spLocks noGrp="1"/>
          </p:cNvSpPr>
          <p:nvPr>
            <p:ph type="sldNum" sz="quarter" idx="12"/>
          </p:nvPr>
        </p:nvSpPr>
        <p:spPr>
          <a:xfrm>
            <a:off x="8610600" y="6441692"/>
            <a:ext cx="2743200" cy="370027"/>
          </a:xfrm>
        </p:spPr>
        <p:txBody>
          <a:bodyPr/>
          <a:lstStyle/>
          <a:p>
            <a:fld id="{F4801FD5-11B4-DE43-ACA2-E85EEB9A6F9C}" type="slidenum">
              <a:rPr lang="en-US" smtClean="0">
                <a:latin typeface="Garamond" panose="02020404030301010803" pitchFamily="18" charset="0"/>
              </a:rPr>
              <a:t>4</a:t>
            </a:fld>
            <a:endParaRPr lang="en-US">
              <a:latin typeface="Garamond" panose="02020404030301010803" pitchFamily="18" charset="0"/>
            </a:endParaRPr>
          </a:p>
        </p:txBody>
      </p:sp>
      <p:sp>
        <p:nvSpPr>
          <p:cNvPr id="5" name="Title 1">
            <a:extLst>
              <a:ext uri="{FF2B5EF4-FFF2-40B4-BE49-F238E27FC236}">
                <a16:creationId xmlns:a16="http://schemas.microsoft.com/office/drawing/2014/main" id="{4710AE4B-0DB8-4451-B9E4-10BAE11B4D3A}"/>
              </a:ext>
            </a:extLst>
          </p:cNvPr>
          <p:cNvSpPr>
            <a:spLocks noGrp="1"/>
          </p:cNvSpPr>
          <p:nvPr>
            <p:ph type="title"/>
          </p:nvPr>
        </p:nvSpPr>
        <p:spPr>
          <a:xfrm>
            <a:off x="3157348" y="-40404"/>
            <a:ext cx="6026397" cy="558382"/>
          </a:xfrm>
        </p:spPr>
        <p:txBody>
          <a:bodyPr>
            <a:noAutofit/>
          </a:bodyPr>
          <a:lstStyle/>
          <a:p>
            <a:pPr algn="ctr"/>
            <a:r>
              <a:rPr lang="en-US" sz="3200" b="1" u="sng" dirty="0">
                <a:solidFill>
                  <a:srgbClr val="FF3386"/>
                </a:solidFill>
                <a:latin typeface="Century Gothic" panose="020B0502020202020204" pitchFamily="34" charset="0"/>
                <a:cs typeface="Helvetica"/>
              </a:rPr>
              <a:t>BOOST CONVERTER</a:t>
            </a:r>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6BAA1F11-5BEF-4D80-964F-A7332E36BFA0}"/>
                  </a:ext>
                </a:extLst>
              </p:cNvPr>
              <p:cNvSpPr txBox="1"/>
              <p:nvPr/>
            </p:nvSpPr>
            <p:spPr>
              <a:xfrm>
                <a:off x="145914" y="565502"/>
                <a:ext cx="11896929" cy="5767669"/>
              </a:xfrm>
              <a:prstGeom prst="rect">
                <a:avLst/>
              </a:prstGeom>
              <a:noFill/>
              <a:ln>
                <a:solidFill>
                  <a:srgbClr val="FF0066"/>
                </a:solidFill>
              </a:ln>
            </p:spPr>
            <p:txBody>
              <a:bodyPr wrap="square" rtlCol="0">
                <a:spAutoFit/>
              </a:bodyPr>
              <a:lstStyle/>
              <a:p>
                <a:pPr marL="457200" indent="-457200">
                  <a:buClr>
                    <a:schemeClr val="accent2"/>
                  </a:buClr>
                  <a:buFont typeface="Wingdings" panose="05000000000000000000" pitchFamily="2" charset="2"/>
                  <a:buChar char="v"/>
                </a:pPr>
                <a:r>
                  <a:rPr lang="en-GB" sz="2400" b="1" dirty="0">
                    <a:latin typeface="Century Gothic" panose="020B0502020202020204" pitchFamily="34" charset="0"/>
                  </a:rPr>
                  <a:t> </a:t>
                </a:r>
                <a:r>
                  <a:rPr lang="en-GB" sz="2400" b="1" dirty="0">
                    <a:solidFill>
                      <a:srgbClr val="0000CC"/>
                    </a:solidFill>
                    <a:latin typeface="Century Gothic" panose="020B0502020202020204" pitchFamily="34" charset="0"/>
                  </a:rPr>
                  <a:t>When switch is Closed, the KVL across the circuit is</a:t>
                </a:r>
                <a:br>
                  <a:rPr lang="en-GB" sz="2400" b="1" dirty="0">
                    <a:solidFill>
                      <a:srgbClr val="0000CC"/>
                    </a:solidFill>
                    <a:latin typeface="Century Gothic" panose="020B0502020202020204" pitchFamily="34" charset="0"/>
                  </a:rPr>
                </a:br>
                <a:endParaRPr lang="en-GB" sz="2400" b="1" dirty="0">
                  <a:solidFill>
                    <a:srgbClr val="0000CC"/>
                  </a:solidFill>
                  <a:latin typeface="Century Gothic" panose="020B0502020202020204" pitchFamily="34" charset="0"/>
                </a:endParaRPr>
              </a:p>
              <a:p>
                <a:pPr>
                  <a:buClr>
                    <a:schemeClr val="accent2"/>
                  </a:buClr>
                </a:pPr>
                <a:r>
                  <a:rPr lang="en-GB" sz="2400" b="1" dirty="0">
                    <a:solidFill>
                      <a:srgbClr val="0000CC"/>
                    </a:solidFill>
                    <a:latin typeface="Century Gothic" panose="020B0502020202020204" pitchFamily="34" charset="0"/>
                  </a:rPr>
                  <a:t>	              </a:t>
                </a:r>
                <a14:m>
                  <m:oMath xmlns:m="http://schemas.openxmlformats.org/officeDocument/2006/math">
                    <m:sSub>
                      <m:sSubPr>
                        <m:ctrlPr>
                          <a:rPr lang="en-GB" sz="2400" b="1" i="1" smtClean="0">
                            <a:solidFill>
                              <a:srgbClr val="FF0000"/>
                            </a:solidFill>
                            <a:latin typeface="Cambria Math" panose="02040503050406030204" pitchFamily="18" charset="0"/>
                          </a:rPr>
                        </m:ctrlPr>
                      </m:sSubPr>
                      <m:e>
                        <m:r>
                          <a:rPr lang="en-US" sz="2400" b="1" i="1" smtClean="0">
                            <a:solidFill>
                              <a:srgbClr val="FF0000"/>
                            </a:solidFill>
                            <a:latin typeface="Cambria Math" panose="02040503050406030204" pitchFamily="18" charset="0"/>
                          </a:rPr>
                          <m:t>𝒗</m:t>
                        </m:r>
                      </m:e>
                      <m:sub>
                        <m:r>
                          <a:rPr lang="en-US" sz="2400" b="1" i="1" smtClean="0">
                            <a:solidFill>
                              <a:srgbClr val="FF0000"/>
                            </a:solidFill>
                            <a:latin typeface="Cambria Math" panose="02040503050406030204" pitchFamily="18" charset="0"/>
                          </a:rPr>
                          <m:t>𝑳</m:t>
                        </m:r>
                      </m:sub>
                    </m:sSub>
                  </m:oMath>
                </a14:m>
                <a:r>
                  <a:rPr lang="en-GB" sz="2400" b="1" dirty="0">
                    <a:solidFill>
                      <a:srgbClr val="FF0000"/>
                    </a:solidFill>
                    <a:latin typeface="Century Gothic" panose="020B0502020202020204" pitchFamily="34" charset="0"/>
                  </a:rPr>
                  <a:t> = </a:t>
                </a:r>
                <a14:m>
                  <m:oMath xmlns:m="http://schemas.openxmlformats.org/officeDocument/2006/math">
                    <m:sSub>
                      <m:sSubPr>
                        <m:ctrlPr>
                          <a:rPr lang="en-GB" sz="2400" b="1" i="1" smtClean="0">
                            <a:solidFill>
                              <a:srgbClr val="FF0000"/>
                            </a:solidFill>
                            <a:latin typeface="Cambria Math" panose="02040503050406030204" pitchFamily="18" charset="0"/>
                          </a:rPr>
                        </m:ctrlPr>
                      </m:sSubPr>
                      <m:e>
                        <m:r>
                          <a:rPr lang="en-US" sz="2400" b="1" i="1" smtClean="0">
                            <a:solidFill>
                              <a:srgbClr val="FF0000"/>
                            </a:solidFill>
                            <a:latin typeface="Cambria Math" panose="02040503050406030204" pitchFamily="18" charset="0"/>
                          </a:rPr>
                          <m:t>𝑽</m:t>
                        </m:r>
                      </m:e>
                      <m:sub>
                        <m:r>
                          <a:rPr lang="en-US" sz="2400" b="1" i="1" smtClean="0">
                            <a:solidFill>
                              <a:srgbClr val="FF0000"/>
                            </a:solidFill>
                            <a:latin typeface="Cambria Math" panose="02040503050406030204" pitchFamily="18" charset="0"/>
                          </a:rPr>
                          <m:t>𝒔</m:t>
                        </m:r>
                      </m:sub>
                    </m:sSub>
                  </m:oMath>
                </a14:m>
                <a:r>
                  <a:rPr lang="en-GB" sz="2400" b="1" dirty="0">
                    <a:solidFill>
                      <a:srgbClr val="0000CC"/>
                    </a:solidFill>
                    <a:latin typeface="Century Gothic" panose="020B0502020202020204" pitchFamily="34" charset="0"/>
                  </a:rPr>
                  <a:t> </a:t>
                </a:r>
                <a:r>
                  <a:rPr lang="en-GB" sz="2400" b="1" dirty="0">
                    <a:solidFill>
                      <a:srgbClr val="FF0000"/>
                    </a:solidFill>
                    <a:latin typeface="Century Gothic" panose="020B0502020202020204" pitchFamily="34" charset="0"/>
                  </a:rPr>
                  <a:t>= L</a:t>
                </a:r>
                <a14:m>
                  <m:oMath xmlns:m="http://schemas.openxmlformats.org/officeDocument/2006/math">
                    <m:f>
                      <m:fPr>
                        <m:ctrlPr>
                          <a:rPr lang="en-GB" sz="2400" b="1" i="1" smtClean="0">
                            <a:solidFill>
                              <a:srgbClr val="FF0000"/>
                            </a:solidFill>
                            <a:latin typeface="Cambria Math" panose="02040503050406030204" pitchFamily="18" charset="0"/>
                          </a:rPr>
                        </m:ctrlPr>
                      </m:fPr>
                      <m:num>
                        <m:sSub>
                          <m:sSubPr>
                            <m:ctrlPr>
                              <a:rPr lang="en-GB" sz="2400" b="1" i="1" smtClean="0">
                                <a:solidFill>
                                  <a:srgbClr val="FF0000"/>
                                </a:solidFill>
                                <a:latin typeface="Cambria Math" panose="02040503050406030204" pitchFamily="18" charset="0"/>
                              </a:rPr>
                            </m:ctrlPr>
                          </m:sSubPr>
                          <m:e>
                            <m:r>
                              <a:rPr lang="en-US" sz="2400" b="1" i="1" smtClean="0">
                                <a:solidFill>
                                  <a:srgbClr val="FF0000"/>
                                </a:solidFill>
                                <a:latin typeface="Cambria Math" panose="02040503050406030204" pitchFamily="18" charset="0"/>
                              </a:rPr>
                              <m:t>𝒅𝒊</m:t>
                            </m:r>
                          </m:e>
                          <m:sub>
                            <m:r>
                              <a:rPr lang="en-US" sz="2400" b="1" i="1" smtClean="0">
                                <a:solidFill>
                                  <a:srgbClr val="FF0000"/>
                                </a:solidFill>
                                <a:latin typeface="Cambria Math" panose="02040503050406030204" pitchFamily="18" charset="0"/>
                              </a:rPr>
                              <m:t>𝑳</m:t>
                            </m:r>
                          </m:sub>
                        </m:sSub>
                      </m:num>
                      <m:den>
                        <m:r>
                          <a:rPr lang="en-US" sz="2400" b="1" i="1" smtClean="0">
                            <a:solidFill>
                              <a:srgbClr val="FF0000"/>
                            </a:solidFill>
                            <a:latin typeface="Cambria Math" panose="02040503050406030204" pitchFamily="18" charset="0"/>
                          </a:rPr>
                          <m:t>𝒅𝒕</m:t>
                        </m:r>
                      </m:den>
                    </m:f>
                  </m:oMath>
                </a14:m>
                <a:r>
                  <a:rPr lang="en-GB" sz="2400" b="1" dirty="0">
                    <a:solidFill>
                      <a:srgbClr val="0000CC"/>
                    </a:solidFill>
                    <a:latin typeface="Century Gothic" panose="020B0502020202020204" pitchFamily="34" charset="0"/>
                  </a:rPr>
                  <a:t>   </a:t>
                </a:r>
                <a:r>
                  <a:rPr lang="en-GB" sz="2400" b="1" dirty="0">
                    <a:solidFill>
                      <a:srgbClr val="FF0000"/>
                    </a:solidFill>
                    <a:latin typeface="Century Gothic" panose="020B0502020202020204" pitchFamily="34" charset="0"/>
                  </a:rPr>
                  <a:t>→ </a:t>
                </a:r>
                <a:r>
                  <a:rPr lang="en-GB" sz="2400" b="1" dirty="0">
                    <a:solidFill>
                      <a:srgbClr val="0000CC"/>
                    </a:solidFill>
                    <a:latin typeface="Century Gothic" panose="020B0502020202020204" pitchFamily="34" charset="0"/>
                  </a:rPr>
                  <a:t>   </a:t>
                </a:r>
                <a:r>
                  <a:rPr lang="en-GB" sz="2400" b="1" dirty="0">
                    <a:solidFill>
                      <a:srgbClr val="FF0000"/>
                    </a:solidFill>
                    <a:latin typeface="Century Gothic" panose="020B0502020202020204" pitchFamily="34" charset="0"/>
                  </a:rPr>
                  <a:t> </a:t>
                </a:r>
                <a14:m>
                  <m:oMath xmlns:m="http://schemas.openxmlformats.org/officeDocument/2006/math">
                    <m:f>
                      <m:fPr>
                        <m:ctrlPr>
                          <a:rPr lang="en-GB" sz="2400" b="1" i="1" dirty="0" smtClean="0">
                            <a:solidFill>
                              <a:srgbClr val="FF0000"/>
                            </a:solidFill>
                            <a:latin typeface="Cambria Math" panose="02040503050406030204" pitchFamily="18" charset="0"/>
                          </a:rPr>
                        </m:ctrlPr>
                      </m:fPr>
                      <m:num>
                        <m:sSub>
                          <m:sSubPr>
                            <m:ctrlPr>
                              <a:rPr lang="en-GB" sz="2400" b="1" i="1" dirty="0" smtClean="0">
                                <a:solidFill>
                                  <a:srgbClr val="FF0000"/>
                                </a:solidFill>
                                <a:latin typeface="Cambria Math" panose="02040503050406030204" pitchFamily="18" charset="0"/>
                              </a:rPr>
                            </m:ctrlPr>
                          </m:sSubPr>
                          <m:e>
                            <m:r>
                              <a:rPr lang="en-US" sz="2400" b="1" i="1" dirty="0" smtClean="0">
                                <a:solidFill>
                                  <a:srgbClr val="FF0000"/>
                                </a:solidFill>
                                <a:latin typeface="Cambria Math" panose="02040503050406030204" pitchFamily="18" charset="0"/>
                              </a:rPr>
                              <m:t>𝒅𝒊</m:t>
                            </m:r>
                          </m:e>
                          <m:sub>
                            <m:r>
                              <a:rPr lang="en-US" sz="2400" b="1" i="1" dirty="0" smtClean="0">
                                <a:solidFill>
                                  <a:srgbClr val="FF0000"/>
                                </a:solidFill>
                                <a:latin typeface="Cambria Math" panose="02040503050406030204" pitchFamily="18" charset="0"/>
                              </a:rPr>
                              <m:t>𝑳</m:t>
                            </m:r>
                          </m:sub>
                        </m:sSub>
                      </m:num>
                      <m:den>
                        <m:r>
                          <a:rPr lang="en-US" sz="2400" b="1" i="1" dirty="0" smtClean="0">
                            <a:solidFill>
                              <a:srgbClr val="FF0000"/>
                            </a:solidFill>
                            <a:latin typeface="Cambria Math" panose="02040503050406030204" pitchFamily="18" charset="0"/>
                          </a:rPr>
                          <m:t>𝒅𝒕</m:t>
                        </m:r>
                      </m:den>
                    </m:f>
                  </m:oMath>
                </a14:m>
                <a:r>
                  <a:rPr lang="en-GB" sz="2400" b="1" dirty="0">
                    <a:solidFill>
                      <a:srgbClr val="FF0000"/>
                    </a:solidFill>
                    <a:latin typeface="Century Gothic" panose="020B0502020202020204" pitchFamily="34" charset="0"/>
                  </a:rPr>
                  <a:t> = </a:t>
                </a:r>
                <a14:m>
                  <m:oMath xmlns:m="http://schemas.openxmlformats.org/officeDocument/2006/math">
                    <m:f>
                      <m:fPr>
                        <m:ctrlPr>
                          <a:rPr lang="en-GB" sz="2400" b="1" i="1" smtClean="0">
                            <a:solidFill>
                              <a:srgbClr val="FF0000"/>
                            </a:solidFill>
                            <a:latin typeface="Cambria Math" panose="02040503050406030204" pitchFamily="18" charset="0"/>
                          </a:rPr>
                        </m:ctrlPr>
                      </m:fPr>
                      <m:num>
                        <m:sSub>
                          <m:sSubPr>
                            <m:ctrlPr>
                              <a:rPr lang="en-GB" sz="2400" b="1" i="1" smtClean="0">
                                <a:solidFill>
                                  <a:srgbClr val="FF0000"/>
                                </a:solidFill>
                                <a:latin typeface="Cambria Math" panose="02040503050406030204" pitchFamily="18" charset="0"/>
                              </a:rPr>
                            </m:ctrlPr>
                          </m:sSubPr>
                          <m:e>
                            <m:r>
                              <a:rPr lang="en-US" sz="2400" b="1" i="1" smtClean="0">
                                <a:solidFill>
                                  <a:srgbClr val="FF0000"/>
                                </a:solidFill>
                                <a:latin typeface="Cambria Math" panose="02040503050406030204" pitchFamily="18" charset="0"/>
                              </a:rPr>
                              <m:t>𝑽</m:t>
                            </m:r>
                          </m:e>
                          <m:sub>
                            <m:r>
                              <a:rPr lang="en-US" sz="2400" b="1" i="1" smtClean="0">
                                <a:solidFill>
                                  <a:srgbClr val="FF0000"/>
                                </a:solidFill>
                                <a:latin typeface="Cambria Math" panose="02040503050406030204" pitchFamily="18" charset="0"/>
                              </a:rPr>
                              <m:t>𝒔</m:t>
                            </m:r>
                          </m:sub>
                        </m:sSub>
                      </m:num>
                      <m:den>
                        <m:r>
                          <a:rPr lang="en-US" sz="2400" b="1" i="1" smtClean="0">
                            <a:solidFill>
                              <a:srgbClr val="FF0000"/>
                            </a:solidFill>
                            <a:latin typeface="Cambria Math" panose="02040503050406030204" pitchFamily="18" charset="0"/>
                          </a:rPr>
                          <m:t>𝑳</m:t>
                        </m:r>
                      </m:den>
                    </m:f>
                  </m:oMath>
                </a14:m>
                <a:r>
                  <a:rPr lang="en-GB" sz="2400" b="1" dirty="0">
                    <a:solidFill>
                      <a:srgbClr val="FF0000"/>
                    </a:solidFill>
                    <a:latin typeface="Century Gothic" panose="020B0502020202020204" pitchFamily="34" charset="0"/>
                  </a:rPr>
                  <a:t> </a:t>
                </a:r>
                <a:br>
                  <a:rPr lang="en-GB" sz="2400" b="1" dirty="0">
                    <a:solidFill>
                      <a:srgbClr val="FF0000"/>
                    </a:solidFill>
                    <a:latin typeface="Century Gothic" panose="020B0502020202020204" pitchFamily="34" charset="0"/>
                  </a:rPr>
                </a:br>
                <a:endParaRPr lang="en-GB" sz="2400" b="1" dirty="0">
                  <a:solidFill>
                    <a:srgbClr val="FF0000"/>
                  </a:solidFill>
                  <a:latin typeface="Century Gothic" panose="020B0502020202020204" pitchFamily="34" charset="0"/>
                </a:endParaRPr>
              </a:p>
              <a:p>
                <a:pPr marL="342900" indent="-342900">
                  <a:buClr>
                    <a:schemeClr val="accent2"/>
                  </a:buClr>
                  <a:buFont typeface="Arial" panose="020B0604020202020204" pitchFamily="34" charset="0"/>
                  <a:buChar char="•"/>
                </a:pPr>
                <a:r>
                  <a:rPr lang="en-GB" sz="2400" b="1" dirty="0">
                    <a:solidFill>
                      <a:srgbClr val="0000CC"/>
                    </a:solidFill>
                    <a:latin typeface="Century Gothic" panose="020B0502020202020204" pitchFamily="34" charset="0"/>
                  </a:rPr>
                  <a:t>Since the derivative of the current is constant</a:t>
                </a:r>
                <a14:m>
                  <m:oMath xmlns:m="http://schemas.openxmlformats.org/officeDocument/2006/math">
                    <m:r>
                      <a:rPr lang="en-GB" sz="2400" b="1" i="1" smtClean="0">
                        <a:solidFill>
                          <a:srgbClr val="0000CC"/>
                        </a:solidFill>
                        <a:latin typeface="Cambria Math" panose="02040503050406030204" pitchFamily="18" charset="0"/>
                      </a:rPr>
                      <m:t>→</m:t>
                    </m:r>
                  </m:oMath>
                </a14:m>
                <a:r>
                  <a:rPr lang="en-GB" sz="2400" b="1" dirty="0">
                    <a:solidFill>
                      <a:srgbClr val="0000CC"/>
                    </a:solidFill>
                    <a:latin typeface="Century Gothic" panose="020B0502020202020204" pitchFamily="34" charset="0"/>
                  </a:rPr>
                  <a:t> it increases linearly</a:t>
                </a:r>
              </a:p>
              <a:p>
                <a:pPr>
                  <a:buClr>
                    <a:schemeClr val="accent2"/>
                  </a:buClr>
                </a:pPr>
                <a:br>
                  <a:rPr lang="en-GB" sz="2400" b="1" dirty="0">
                    <a:solidFill>
                      <a:srgbClr val="0000CC"/>
                    </a:solidFill>
                    <a:latin typeface="Century Gothic" panose="020B0502020202020204" pitchFamily="34" charset="0"/>
                  </a:rPr>
                </a:br>
                <a:r>
                  <a:rPr lang="en-GB" sz="2400" b="1" dirty="0">
                    <a:solidFill>
                      <a:srgbClr val="FF0000"/>
                    </a:solidFill>
                    <a:latin typeface="Century Gothic" panose="020B0502020202020204" pitchFamily="34" charset="0"/>
                  </a:rPr>
                  <a:t>                  </a:t>
                </a:r>
                <a14:m>
                  <m:oMath xmlns:m="http://schemas.openxmlformats.org/officeDocument/2006/math">
                    <m:f>
                      <m:fPr>
                        <m:ctrlPr>
                          <a:rPr lang="en-GB" sz="2400" b="1" i="1" smtClean="0">
                            <a:solidFill>
                              <a:srgbClr val="FF0000"/>
                            </a:solidFill>
                            <a:latin typeface="Cambria Math" panose="02040503050406030204" pitchFamily="18" charset="0"/>
                          </a:rPr>
                        </m:ctrlPr>
                      </m:fPr>
                      <m:num>
                        <m:sSub>
                          <m:sSubPr>
                            <m:ctrlPr>
                              <a:rPr lang="en-GB" sz="2400" b="1" i="1" smtClean="0">
                                <a:solidFill>
                                  <a:srgbClr val="FF0000"/>
                                </a:solidFill>
                                <a:latin typeface="Cambria Math" panose="02040503050406030204" pitchFamily="18" charset="0"/>
                              </a:rPr>
                            </m:ctrlPr>
                          </m:sSubPr>
                          <m:e>
                            <m:r>
                              <a:rPr lang="en-GB" sz="2400" b="1" i="1" smtClean="0">
                                <a:solidFill>
                                  <a:srgbClr val="FF0000"/>
                                </a:solidFill>
                                <a:latin typeface="Cambria Math" panose="02040503050406030204" pitchFamily="18" charset="0"/>
                                <a:ea typeface="Cambria Math" panose="02040503050406030204" pitchFamily="18" charset="0"/>
                              </a:rPr>
                              <m:t>∆</m:t>
                            </m:r>
                            <m:r>
                              <a:rPr lang="en-US" sz="2400" b="1" i="1" smtClean="0">
                                <a:solidFill>
                                  <a:srgbClr val="FF0000"/>
                                </a:solidFill>
                                <a:latin typeface="Cambria Math" panose="02040503050406030204" pitchFamily="18" charset="0"/>
                                <a:ea typeface="Cambria Math" panose="02040503050406030204" pitchFamily="18" charset="0"/>
                              </a:rPr>
                              <m:t>𝒊</m:t>
                            </m:r>
                          </m:e>
                          <m:sub>
                            <m:r>
                              <a:rPr lang="en-US" sz="2400" b="1" i="1" smtClean="0">
                                <a:solidFill>
                                  <a:srgbClr val="FF0000"/>
                                </a:solidFill>
                                <a:latin typeface="Cambria Math" panose="02040503050406030204" pitchFamily="18" charset="0"/>
                              </a:rPr>
                              <m:t>𝑳</m:t>
                            </m:r>
                          </m:sub>
                        </m:sSub>
                      </m:num>
                      <m:den>
                        <m:r>
                          <a:rPr lang="en-GB" sz="2400" b="1" i="1" smtClean="0">
                            <a:solidFill>
                              <a:srgbClr val="FF0000"/>
                            </a:solidFill>
                            <a:latin typeface="Cambria Math" panose="02040503050406030204" pitchFamily="18" charset="0"/>
                            <a:ea typeface="Cambria Math" panose="02040503050406030204" pitchFamily="18" charset="0"/>
                          </a:rPr>
                          <m:t>∆</m:t>
                        </m:r>
                        <m:r>
                          <a:rPr lang="en-US" sz="2400" b="1" i="1" smtClean="0">
                            <a:solidFill>
                              <a:srgbClr val="FF0000"/>
                            </a:solidFill>
                            <a:latin typeface="Cambria Math" panose="02040503050406030204" pitchFamily="18" charset="0"/>
                            <a:ea typeface="Cambria Math" panose="02040503050406030204" pitchFamily="18" charset="0"/>
                          </a:rPr>
                          <m:t>𝒕</m:t>
                        </m:r>
                      </m:den>
                    </m:f>
                  </m:oMath>
                </a14:m>
                <a:r>
                  <a:rPr lang="en-GB" sz="2400" b="1" dirty="0">
                    <a:solidFill>
                      <a:srgbClr val="FF0000"/>
                    </a:solidFill>
                    <a:latin typeface="Century Gothic" panose="020B0502020202020204" pitchFamily="34" charset="0"/>
                  </a:rPr>
                  <a:t> = </a:t>
                </a:r>
                <a14:m>
                  <m:oMath xmlns:m="http://schemas.openxmlformats.org/officeDocument/2006/math">
                    <m:f>
                      <m:fPr>
                        <m:ctrlPr>
                          <a:rPr lang="en-GB" sz="2400" b="1" i="1" dirty="0" smtClean="0">
                            <a:solidFill>
                              <a:srgbClr val="FF0000"/>
                            </a:solidFill>
                            <a:latin typeface="Cambria Math" panose="02040503050406030204" pitchFamily="18" charset="0"/>
                          </a:rPr>
                        </m:ctrlPr>
                      </m:fPr>
                      <m:num>
                        <m:sSub>
                          <m:sSubPr>
                            <m:ctrlPr>
                              <a:rPr lang="en-GB" sz="2400" b="1" i="1" dirty="0" smtClean="0">
                                <a:solidFill>
                                  <a:srgbClr val="FF0000"/>
                                </a:solidFill>
                                <a:latin typeface="Cambria Math" panose="02040503050406030204" pitchFamily="18" charset="0"/>
                              </a:rPr>
                            </m:ctrlPr>
                          </m:sSubPr>
                          <m:e>
                            <m:r>
                              <a:rPr lang="en-GB" sz="2400" b="1" i="1" dirty="0" smtClean="0">
                                <a:solidFill>
                                  <a:srgbClr val="FF0000"/>
                                </a:solidFill>
                                <a:latin typeface="Cambria Math" panose="02040503050406030204" pitchFamily="18" charset="0"/>
                                <a:ea typeface="Cambria Math" panose="02040503050406030204" pitchFamily="18" charset="0"/>
                              </a:rPr>
                              <m:t>∆</m:t>
                            </m:r>
                            <m:r>
                              <a:rPr lang="en-US" sz="2400" b="1" i="1" dirty="0" smtClean="0">
                                <a:solidFill>
                                  <a:srgbClr val="FF0000"/>
                                </a:solidFill>
                                <a:latin typeface="Cambria Math" panose="02040503050406030204" pitchFamily="18" charset="0"/>
                                <a:ea typeface="Cambria Math" panose="02040503050406030204" pitchFamily="18" charset="0"/>
                              </a:rPr>
                              <m:t>𝒊</m:t>
                            </m:r>
                          </m:e>
                          <m:sub>
                            <m:r>
                              <a:rPr lang="en-US" sz="2400" b="1" i="1" dirty="0" smtClean="0">
                                <a:solidFill>
                                  <a:srgbClr val="FF0000"/>
                                </a:solidFill>
                                <a:latin typeface="Cambria Math" panose="02040503050406030204" pitchFamily="18" charset="0"/>
                              </a:rPr>
                              <m:t>𝑳</m:t>
                            </m:r>
                          </m:sub>
                        </m:sSub>
                      </m:num>
                      <m:den>
                        <m:r>
                          <a:rPr lang="en-US" sz="2400" b="1" i="1" dirty="0" smtClean="0">
                            <a:solidFill>
                              <a:srgbClr val="FF0000"/>
                            </a:solidFill>
                            <a:latin typeface="Cambria Math" panose="02040503050406030204" pitchFamily="18" charset="0"/>
                          </a:rPr>
                          <m:t>𝑫𝑻</m:t>
                        </m:r>
                      </m:den>
                    </m:f>
                  </m:oMath>
                </a14:m>
                <a:r>
                  <a:rPr lang="en-GB" sz="2400" b="1" dirty="0">
                    <a:solidFill>
                      <a:srgbClr val="FF0000"/>
                    </a:solidFill>
                    <a:latin typeface="Century Gothic" panose="020B0502020202020204" pitchFamily="34" charset="0"/>
                  </a:rPr>
                  <a:t> = </a:t>
                </a:r>
                <a14:m>
                  <m:oMath xmlns:m="http://schemas.openxmlformats.org/officeDocument/2006/math">
                    <m:f>
                      <m:fPr>
                        <m:ctrlPr>
                          <a:rPr lang="en-GB" sz="2400" b="1" i="1" smtClean="0">
                            <a:solidFill>
                              <a:srgbClr val="FF0000"/>
                            </a:solidFill>
                            <a:latin typeface="Cambria Math" panose="02040503050406030204" pitchFamily="18" charset="0"/>
                          </a:rPr>
                        </m:ctrlPr>
                      </m:fPr>
                      <m:num>
                        <m:sSub>
                          <m:sSubPr>
                            <m:ctrlPr>
                              <a:rPr lang="en-GB" sz="2400" b="1" i="1" smtClean="0">
                                <a:solidFill>
                                  <a:srgbClr val="FF0000"/>
                                </a:solidFill>
                                <a:latin typeface="Cambria Math" panose="02040503050406030204" pitchFamily="18" charset="0"/>
                              </a:rPr>
                            </m:ctrlPr>
                          </m:sSubPr>
                          <m:e>
                            <m:r>
                              <a:rPr lang="en-US" sz="2400" b="1" i="1" smtClean="0">
                                <a:solidFill>
                                  <a:srgbClr val="FF0000"/>
                                </a:solidFill>
                                <a:latin typeface="Cambria Math" panose="02040503050406030204" pitchFamily="18" charset="0"/>
                              </a:rPr>
                              <m:t>𝑽</m:t>
                            </m:r>
                          </m:e>
                          <m:sub>
                            <m:r>
                              <a:rPr lang="en-US" sz="2400" b="1" i="1" smtClean="0">
                                <a:solidFill>
                                  <a:srgbClr val="FF0000"/>
                                </a:solidFill>
                                <a:latin typeface="Cambria Math" panose="02040503050406030204" pitchFamily="18" charset="0"/>
                              </a:rPr>
                              <m:t>𝒔</m:t>
                            </m:r>
                          </m:sub>
                        </m:sSub>
                        <m:r>
                          <a:rPr lang="en-US" sz="2400" b="1" i="1" smtClean="0">
                            <a:solidFill>
                              <a:srgbClr val="FF0000"/>
                            </a:solidFill>
                            <a:latin typeface="Cambria Math" panose="02040503050406030204" pitchFamily="18" charset="0"/>
                          </a:rPr>
                          <m:t> − </m:t>
                        </m:r>
                        <m:sSub>
                          <m:sSubPr>
                            <m:ctrlPr>
                              <a:rPr lang="en-US" sz="2400" b="1" i="1" smtClean="0">
                                <a:solidFill>
                                  <a:srgbClr val="FF0000"/>
                                </a:solidFill>
                                <a:latin typeface="Cambria Math" panose="02040503050406030204" pitchFamily="18" charset="0"/>
                              </a:rPr>
                            </m:ctrlPr>
                          </m:sSubPr>
                          <m:e>
                            <m:r>
                              <a:rPr lang="en-US" sz="2400" b="1" i="1" smtClean="0">
                                <a:solidFill>
                                  <a:srgbClr val="FF0000"/>
                                </a:solidFill>
                                <a:latin typeface="Cambria Math" panose="02040503050406030204" pitchFamily="18" charset="0"/>
                              </a:rPr>
                              <m:t>𝑽</m:t>
                            </m:r>
                          </m:e>
                          <m:sub>
                            <m:r>
                              <a:rPr lang="en-US" sz="2400" b="1" i="1" smtClean="0">
                                <a:solidFill>
                                  <a:srgbClr val="FF0000"/>
                                </a:solidFill>
                                <a:latin typeface="Cambria Math" panose="02040503050406030204" pitchFamily="18" charset="0"/>
                              </a:rPr>
                              <m:t>𝑶</m:t>
                            </m:r>
                          </m:sub>
                        </m:sSub>
                      </m:num>
                      <m:den>
                        <m:r>
                          <a:rPr lang="en-US" sz="2400" b="1" i="1" smtClean="0">
                            <a:solidFill>
                              <a:srgbClr val="FF0000"/>
                            </a:solidFill>
                            <a:latin typeface="Cambria Math" panose="02040503050406030204" pitchFamily="18" charset="0"/>
                          </a:rPr>
                          <m:t>𝑳</m:t>
                        </m:r>
                      </m:den>
                    </m:f>
                  </m:oMath>
                </a14:m>
                <a:r>
                  <a:rPr lang="en-GB" sz="2400" b="1" dirty="0">
                    <a:solidFill>
                      <a:srgbClr val="FF0000"/>
                    </a:solidFill>
                    <a:latin typeface="Century Gothic" panose="020B0502020202020204" pitchFamily="34" charset="0"/>
                  </a:rPr>
                  <a:t>   → </a:t>
                </a:r>
                <a:endParaRPr lang="en-GB" sz="2400" b="1" dirty="0">
                  <a:solidFill>
                    <a:srgbClr val="0000CC"/>
                  </a:solidFill>
                  <a:latin typeface="Century Gothic" panose="020B0502020202020204" pitchFamily="34" charset="0"/>
                </a:endParaRPr>
              </a:p>
              <a:p>
                <a:pPr>
                  <a:buClr>
                    <a:schemeClr val="accent2"/>
                  </a:buClr>
                </a:pPr>
                <a:endParaRPr lang="en-GB" sz="2400" b="1" dirty="0">
                  <a:solidFill>
                    <a:srgbClr val="0000CC"/>
                  </a:solidFill>
                  <a:latin typeface="Century Gothic" panose="020B0502020202020204" pitchFamily="34" charset="0"/>
                </a:endParaRPr>
              </a:p>
              <a:p>
                <a:pPr marL="342900" indent="-342900">
                  <a:buClr>
                    <a:schemeClr val="accent2"/>
                  </a:buClr>
                  <a:buFont typeface="Wingdings" panose="05000000000000000000" pitchFamily="2" charset="2"/>
                  <a:buChar char="v"/>
                </a:pPr>
                <a:r>
                  <a:rPr lang="en-GB" sz="2400" b="1" dirty="0">
                    <a:solidFill>
                      <a:srgbClr val="0000CC"/>
                    </a:solidFill>
                    <a:latin typeface="Century Gothic" panose="020B0502020202020204" pitchFamily="34" charset="0"/>
                  </a:rPr>
                  <a:t>  When switch is Open, the voltage across the inductor is</a:t>
                </a:r>
                <a:br>
                  <a:rPr lang="en-GB" sz="2400" b="1" dirty="0">
                    <a:solidFill>
                      <a:srgbClr val="0000CC"/>
                    </a:solidFill>
                    <a:latin typeface="Century Gothic" panose="020B0502020202020204" pitchFamily="34" charset="0"/>
                  </a:rPr>
                </a:br>
                <a:r>
                  <a:rPr lang="en-GB" sz="2400" b="1" dirty="0">
                    <a:solidFill>
                      <a:srgbClr val="0000CC"/>
                    </a:solidFill>
                    <a:latin typeface="Century Gothic" panose="020B0502020202020204" pitchFamily="34" charset="0"/>
                  </a:rPr>
                  <a:t>    </a:t>
                </a:r>
                <a:br>
                  <a:rPr lang="en-GB" sz="2400" b="1" dirty="0">
                    <a:solidFill>
                      <a:srgbClr val="0000CC"/>
                    </a:solidFill>
                    <a:latin typeface="Century Gothic" panose="020B0502020202020204" pitchFamily="34" charset="0"/>
                  </a:rPr>
                </a:br>
                <a:r>
                  <a:rPr lang="en-GB" sz="2400" b="1" dirty="0">
                    <a:solidFill>
                      <a:srgbClr val="FF0000"/>
                    </a:solidFill>
                    <a:latin typeface="Century Gothic" panose="020B0502020202020204" pitchFamily="34" charset="0"/>
                  </a:rPr>
                  <a:t>                    </a:t>
                </a:r>
                <a14:m>
                  <m:oMath xmlns:m="http://schemas.openxmlformats.org/officeDocument/2006/math">
                    <m:sSub>
                      <m:sSubPr>
                        <m:ctrlPr>
                          <a:rPr lang="en-GB" sz="2400" b="1" i="1" smtClean="0">
                            <a:solidFill>
                              <a:srgbClr val="FF0000"/>
                            </a:solidFill>
                            <a:latin typeface="Cambria Math" panose="02040503050406030204" pitchFamily="18" charset="0"/>
                          </a:rPr>
                        </m:ctrlPr>
                      </m:sSubPr>
                      <m:e>
                        <m:r>
                          <a:rPr lang="en-US" sz="2400" b="1" i="1" smtClean="0">
                            <a:solidFill>
                              <a:srgbClr val="FF0000"/>
                            </a:solidFill>
                            <a:latin typeface="Cambria Math" panose="02040503050406030204" pitchFamily="18" charset="0"/>
                          </a:rPr>
                          <m:t>𝒗</m:t>
                        </m:r>
                      </m:e>
                      <m:sub>
                        <m:r>
                          <a:rPr lang="en-US" sz="2400" b="1" i="1" smtClean="0">
                            <a:solidFill>
                              <a:srgbClr val="FF0000"/>
                            </a:solidFill>
                            <a:latin typeface="Cambria Math" panose="02040503050406030204" pitchFamily="18" charset="0"/>
                          </a:rPr>
                          <m:t>𝑳</m:t>
                        </m:r>
                      </m:sub>
                    </m:sSub>
                  </m:oMath>
                </a14:m>
                <a:r>
                  <a:rPr lang="en-GB" sz="2400" b="1" dirty="0">
                    <a:solidFill>
                      <a:srgbClr val="FF0000"/>
                    </a:solidFill>
                    <a:latin typeface="Century Gothic" panose="020B0502020202020204" pitchFamily="34" charset="0"/>
                  </a:rPr>
                  <a:t>= </a:t>
                </a:r>
                <a14:m>
                  <m:oMath xmlns:m="http://schemas.openxmlformats.org/officeDocument/2006/math">
                    <m:sSub>
                      <m:sSubPr>
                        <m:ctrlPr>
                          <a:rPr lang="en-GB" sz="2400" b="1" i="1" smtClean="0">
                            <a:solidFill>
                              <a:srgbClr val="FF0000"/>
                            </a:solidFill>
                            <a:latin typeface="Cambria Math" panose="02040503050406030204" pitchFamily="18" charset="0"/>
                          </a:rPr>
                        </m:ctrlPr>
                      </m:sSubPr>
                      <m:e>
                        <m:r>
                          <a:rPr lang="en-US" sz="2400" b="1" i="1" smtClean="0">
                            <a:solidFill>
                              <a:srgbClr val="FF0000"/>
                            </a:solidFill>
                            <a:latin typeface="Cambria Math" panose="02040503050406030204" pitchFamily="18" charset="0"/>
                          </a:rPr>
                          <m:t>𝑽</m:t>
                        </m:r>
                      </m:e>
                      <m:sub>
                        <m:r>
                          <a:rPr lang="en-US" sz="2400" b="1" i="1" smtClean="0">
                            <a:solidFill>
                              <a:srgbClr val="FF0000"/>
                            </a:solidFill>
                            <a:latin typeface="Cambria Math" panose="02040503050406030204" pitchFamily="18" charset="0"/>
                          </a:rPr>
                          <m:t>𝒔</m:t>
                        </m:r>
                      </m:sub>
                    </m:sSub>
                  </m:oMath>
                </a14:m>
                <a:r>
                  <a:rPr lang="en-GB" sz="2400" b="1" dirty="0">
                    <a:solidFill>
                      <a:srgbClr val="FF0000"/>
                    </a:solidFill>
                    <a:latin typeface="Century Gothic" panose="020B0502020202020204" pitchFamily="34" charset="0"/>
                  </a:rPr>
                  <a:t>-</a:t>
                </a:r>
                <a14:m>
                  <m:oMath xmlns:m="http://schemas.openxmlformats.org/officeDocument/2006/math">
                    <m:sSub>
                      <m:sSubPr>
                        <m:ctrlPr>
                          <a:rPr lang="en-GB" sz="2400" b="1" i="1" dirty="0" smtClean="0">
                            <a:solidFill>
                              <a:srgbClr val="FF0000"/>
                            </a:solidFill>
                            <a:latin typeface="Cambria Math" panose="02040503050406030204" pitchFamily="18" charset="0"/>
                          </a:rPr>
                        </m:ctrlPr>
                      </m:sSubPr>
                      <m:e>
                        <m:r>
                          <a:rPr lang="en-US" sz="2400" b="1" i="1" dirty="0" smtClean="0">
                            <a:solidFill>
                              <a:srgbClr val="FF0000"/>
                            </a:solidFill>
                            <a:latin typeface="Cambria Math" panose="02040503050406030204" pitchFamily="18" charset="0"/>
                          </a:rPr>
                          <m:t>𝑽</m:t>
                        </m:r>
                      </m:e>
                      <m:sub>
                        <m:r>
                          <a:rPr lang="en-US" sz="2400" b="1" i="1" dirty="0" smtClean="0">
                            <a:solidFill>
                              <a:srgbClr val="FF0000"/>
                            </a:solidFill>
                            <a:latin typeface="Cambria Math" panose="02040503050406030204" pitchFamily="18" charset="0"/>
                          </a:rPr>
                          <m:t>𝒐</m:t>
                        </m:r>
                      </m:sub>
                    </m:sSub>
                  </m:oMath>
                </a14:m>
                <a:r>
                  <a:rPr lang="en-GB" sz="2400" b="1" dirty="0">
                    <a:solidFill>
                      <a:srgbClr val="FF0000"/>
                    </a:solidFill>
                    <a:latin typeface="Century Gothic" panose="020B0502020202020204" pitchFamily="34" charset="0"/>
                  </a:rPr>
                  <a:t> = L</a:t>
                </a:r>
                <a14:m>
                  <m:oMath xmlns:m="http://schemas.openxmlformats.org/officeDocument/2006/math">
                    <m:f>
                      <m:fPr>
                        <m:ctrlPr>
                          <a:rPr lang="en-GB" sz="2400" b="1" i="1" smtClean="0">
                            <a:solidFill>
                              <a:srgbClr val="FF0000"/>
                            </a:solidFill>
                            <a:latin typeface="Cambria Math" panose="02040503050406030204" pitchFamily="18" charset="0"/>
                          </a:rPr>
                        </m:ctrlPr>
                      </m:fPr>
                      <m:num>
                        <m:sSub>
                          <m:sSubPr>
                            <m:ctrlPr>
                              <a:rPr lang="en-GB" sz="2400" b="1" i="1" smtClean="0">
                                <a:solidFill>
                                  <a:srgbClr val="FF0000"/>
                                </a:solidFill>
                                <a:latin typeface="Cambria Math" panose="02040503050406030204" pitchFamily="18" charset="0"/>
                              </a:rPr>
                            </m:ctrlPr>
                          </m:sSubPr>
                          <m:e>
                            <m:r>
                              <a:rPr lang="en-US" sz="2400" b="1" i="1" smtClean="0">
                                <a:solidFill>
                                  <a:srgbClr val="FF0000"/>
                                </a:solidFill>
                                <a:latin typeface="Cambria Math" panose="02040503050406030204" pitchFamily="18" charset="0"/>
                              </a:rPr>
                              <m:t>𝒅𝒊</m:t>
                            </m:r>
                          </m:e>
                          <m:sub>
                            <m:r>
                              <a:rPr lang="en-US" sz="2400" b="1" i="1" smtClean="0">
                                <a:solidFill>
                                  <a:srgbClr val="FF0000"/>
                                </a:solidFill>
                                <a:latin typeface="Cambria Math" panose="02040503050406030204" pitchFamily="18" charset="0"/>
                              </a:rPr>
                              <m:t>𝑳</m:t>
                            </m:r>
                          </m:sub>
                        </m:sSub>
                      </m:num>
                      <m:den>
                        <m:r>
                          <a:rPr lang="en-US" sz="2400" b="1" i="1" smtClean="0">
                            <a:solidFill>
                              <a:srgbClr val="FF0000"/>
                            </a:solidFill>
                            <a:latin typeface="Cambria Math" panose="02040503050406030204" pitchFamily="18" charset="0"/>
                          </a:rPr>
                          <m:t>𝒅𝒕</m:t>
                        </m:r>
                      </m:den>
                    </m:f>
                  </m:oMath>
                </a14:m>
                <a:r>
                  <a:rPr lang="en-GB" sz="2400" b="1" dirty="0">
                    <a:solidFill>
                      <a:srgbClr val="FF0000"/>
                    </a:solidFill>
                    <a:latin typeface="Century Gothic" panose="020B0502020202020204" pitchFamily="34" charset="0"/>
                  </a:rPr>
                  <a:t>  → </a:t>
                </a:r>
                <a14:m>
                  <m:oMath xmlns:m="http://schemas.openxmlformats.org/officeDocument/2006/math">
                    <m:f>
                      <m:fPr>
                        <m:ctrlPr>
                          <a:rPr lang="en-GB" sz="2400" b="1" i="1" smtClean="0">
                            <a:solidFill>
                              <a:srgbClr val="FF0000"/>
                            </a:solidFill>
                            <a:latin typeface="Cambria Math" panose="02040503050406030204" pitchFamily="18" charset="0"/>
                          </a:rPr>
                        </m:ctrlPr>
                      </m:fPr>
                      <m:num>
                        <m:sSub>
                          <m:sSubPr>
                            <m:ctrlPr>
                              <a:rPr lang="en-GB" sz="2400" b="1" i="1" smtClean="0">
                                <a:solidFill>
                                  <a:srgbClr val="FF0000"/>
                                </a:solidFill>
                                <a:latin typeface="Cambria Math" panose="02040503050406030204" pitchFamily="18" charset="0"/>
                              </a:rPr>
                            </m:ctrlPr>
                          </m:sSubPr>
                          <m:e>
                            <m:r>
                              <a:rPr lang="en-US" sz="2400" b="1" i="1" smtClean="0">
                                <a:solidFill>
                                  <a:srgbClr val="FF0000"/>
                                </a:solidFill>
                                <a:latin typeface="Cambria Math" panose="02040503050406030204" pitchFamily="18" charset="0"/>
                              </a:rPr>
                              <m:t>𝒅𝒊</m:t>
                            </m:r>
                          </m:e>
                          <m:sub>
                            <m:r>
                              <a:rPr lang="en-US" sz="2400" b="1" i="1" smtClean="0">
                                <a:solidFill>
                                  <a:srgbClr val="FF0000"/>
                                </a:solidFill>
                                <a:latin typeface="Cambria Math" panose="02040503050406030204" pitchFamily="18" charset="0"/>
                              </a:rPr>
                              <m:t>𝑳</m:t>
                            </m:r>
                          </m:sub>
                        </m:sSub>
                      </m:num>
                      <m:den>
                        <m:r>
                          <a:rPr lang="en-US" sz="2400" b="1" i="1" smtClean="0">
                            <a:solidFill>
                              <a:srgbClr val="FF0000"/>
                            </a:solidFill>
                            <a:latin typeface="Cambria Math" panose="02040503050406030204" pitchFamily="18" charset="0"/>
                          </a:rPr>
                          <m:t>𝒅𝒕</m:t>
                        </m:r>
                      </m:den>
                    </m:f>
                  </m:oMath>
                </a14:m>
                <a:r>
                  <a:rPr lang="en-GB" sz="2400" b="1" dirty="0">
                    <a:solidFill>
                      <a:srgbClr val="FF0000"/>
                    </a:solidFill>
                    <a:latin typeface="Century Gothic" panose="020B0502020202020204" pitchFamily="34" charset="0"/>
                  </a:rPr>
                  <a:t> = </a:t>
                </a:r>
                <a14:m>
                  <m:oMath xmlns:m="http://schemas.openxmlformats.org/officeDocument/2006/math">
                    <m:f>
                      <m:fPr>
                        <m:ctrlPr>
                          <a:rPr lang="en-GB" sz="2400" b="1" i="1" smtClean="0">
                            <a:solidFill>
                              <a:srgbClr val="FF0000"/>
                            </a:solidFill>
                            <a:latin typeface="Cambria Math" panose="02040503050406030204" pitchFamily="18" charset="0"/>
                          </a:rPr>
                        </m:ctrlPr>
                      </m:fPr>
                      <m:num>
                        <m:sSub>
                          <m:sSubPr>
                            <m:ctrlPr>
                              <a:rPr lang="en-GB" sz="2400" b="1" i="1" smtClean="0">
                                <a:solidFill>
                                  <a:srgbClr val="FF0000"/>
                                </a:solidFill>
                                <a:latin typeface="Cambria Math" panose="02040503050406030204" pitchFamily="18" charset="0"/>
                              </a:rPr>
                            </m:ctrlPr>
                          </m:sSubPr>
                          <m:e>
                            <m:r>
                              <a:rPr lang="en-US" sz="2400" b="1" i="1" smtClean="0">
                                <a:solidFill>
                                  <a:srgbClr val="FF0000"/>
                                </a:solidFill>
                                <a:latin typeface="Cambria Math" panose="02040503050406030204" pitchFamily="18" charset="0"/>
                              </a:rPr>
                              <m:t>𝑽</m:t>
                            </m:r>
                          </m:e>
                          <m:sub>
                            <m:r>
                              <a:rPr lang="en-US" sz="2400" b="1" i="1" smtClean="0">
                                <a:solidFill>
                                  <a:srgbClr val="FF0000"/>
                                </a:solidFill>
                                <a:latin typeface="Cambria Math" panose="02040503050406030204" pitchFamily="18" charset="0"/>
                              </a:rPr>
                              <m:t>𝒔</m:t>
                            </m:r>
                          </m:sub>
                        </m:sSub>
                        <m:r>
                          <a:rPr lang="en-US" sz="2400" b="1" i="1" smtClean="0">
                            <a:solidFill>
                              <a:srgbClr val="FF0000"/>
                            </a:solidFill>
                            <a:latin typeface="Cambria Math" panose="02040503050406030204" pitchFamily="18" charset="0"/>
                          </a:rPr>
                          <m:t> − </m:t>
                        </m:r>
                        <m:sSub>
                          <m:sSubPr>
                            <m:ctrlPr>
                              <a:rPr lang="en-US" sz="2400" b="1" i="1" smtClean="0">
                                <a:solidFill>
                                  <a:srgbClr val="FF0000"/>
                                </a:solidFill>
                                <a:latin typeface="Cambria Math" panose="02040503050406030204" pitchFamily="18" charset="0"/>
                              </a:rPr>
                            </m:ctrlPr>
                          </m:sSubPr>
                          <m:e>
                            <m:r>
                              <a:rPr lang="en-US" sz="2400" b="1" i="1" smtClean="0">
                                <a:solidFill>
                                  <a:srgbClr val="FF0000"/>
                                </a:solidFill>
                                <a:latin typeface="Cambria Math" panose="02040503050406030204" pitchFamily="18" charset="0"/>
                              </a:rPr>
                              <m:t>𝑽</m:t>
                            </m:r>
                          </m:e>
                          <m:sub>
                            <m:r>
                              <a:rPr lang="en-US" sz="2400" b="1" i="1" smtClean="0">
                                <a:solidFill>
                                  <a:srgbClr val="FF0000"/>
                                </a:solidFill>
                                <a:latin typeface="Cambria Math" panose="02040503050406030204" pitchFamily="18" charset="0"/>
                              </a:rPr>
                              <m:t>𝒐</m:t>
                            </m:r>
                          </m:sub>
                        </m:sSub>
                      </m:num>
                      <m:den>
                        <m:r>
                          <a:rPr lang="en-US" sz="2400" b="1" i="1" smtClean="0">
                            <a:solidFill>
                              <a:srgbClr val="FF0000"/>
                            </a:solidFill>
                            <a:latin typeface="Cambria Math" panose="02040503050406030204" pitchFamily="18" charset="0"/>
                          </a:rPr>
                          <m:t>𝑳</m:t>
                        </m:r>
                      </m:den>
                    </m:f>
                  </m:oMath>
                </a14:m>
                <a:r>
                  <a:rPr lang="en-GB" sz="2400" b="1" dirty="0">
                    <a:solidFill>
                      <a:srgbClr val="FF0000"/>
                    </a:solidFill>
                    <a:latin typeface="Century Gothic" panose="020B0502020202020204" pitchFamily="34" charset="0"/>
                  </a:rPr>
                  <a:t>	</a:t>
                </a:r>
                <a:r>
                  <a:rPr lang="en-GB" sz="2400" b="1" dirty="0">
                    <a:latin typeface="Century Gothic" panose="020B0502020202020204" pitchFamily="34" charset="0"/>
                  </a:rPr>
                  <a:t> </a:t>
                </a:r>
              </a:p>
              <a:p>
                <a:pPr marL="342900" indent="-342900">
                  <a:buClr>
                    <a:schemeClr val="accent2"/>
                  </a:buClr>
                  <a:buFont typeface="Wingdings" panose="05000000000000000000" pitchFamily="2" charset="2"/>
                  <a:buChar char="v"/>
                </a:pPr>
                <a:endParaRPr lang="en-GB" sz="2400" b="1" dirty="0">
                  <a:latin typeface="Century Gothic" panose="020B0502020202020204" pitchFamily="34" charset="0"/>
                </a:endParaRPr>
              </a:p>
              <a:p>
                <a:pPr>
                  <a:buClr>
                    <a:schemeClr val="accent2"/>
                  </a:buClr>
                </a:pPr>
                <a:endParaRPr lang="en-GB" sz="2400" b="1" dirty="0">
                  <a:latin typeface="Century Gothic" panose="020B0502020202020204" pitchFamily="34" charset="0"/>
                </a:endParaRPr>
              </a:p>
              <a:p>
                <a:pPr>
                  <a:buClr>
                    <a:schemeClr val="accent2"/>
                  </a:buClr>
                </a:pPr>
                <a:endParaRPr lang="en-GB" sz="2400" b="1" dirty="0">
                  <a:latin typeface="Century Gothic" panose="020B0502020202020204" pitchFamily="34" charset="0"/>
                </a:endParaRPr>
              </a:p>
            </p:txBody>
          </p:sp>
        </mc:Choice>
        <mc:Fallback xmlns="">
          <p:sp>
            <p:nvSpPr>
              <p:cNvPr id="6" name="TextBox 5">
                <a:extLst>
                  <a:ext uri="{FF2B5EF4-FFF2-40B4-BE49-F238E27FC236}">
                    <a16:creationId xmlns:a16="http://schemas.microsoft.com/office/drawing/2014/main" id="{6BAA1F11-5BEF-4D80-964F-A7332E36BFA0}"/>
                  </a:ext>
                </a:extLst>
              </p:cNvPr>
              <p:cNvSpPr txBox="1">
                <a:spLocks noRot="1" noChangeAspect="1" noMove="1" noResize="1" noEditPoints="1" noAdjustHandles="1" noChangeArrowheads="1" noChangeShapeType="1" noTextEdit="1"/>
              </p:cNvSpPr>
              <p:nvPr/>
            </p:nvSpPr>
            <p:spPr>
              <a:xfrm>
                <a:off x="145914" y="565502"/>
                <a:ext cx="11896929" cy="5767669"/>
              </a:xfrm>
              <a:prstGeom prst="rect">
                <a:avLst/>
              </a:prstGeom>
              <a:blipFill>
                <a:blip r:embed="rId2"/>
                <a:stretch>
                  <a:fillRect l="-665" t="-738"/>
                </a:stretch>
              </a:blipFill>
              <a:ln>
                <a:solidFill>
                  <a:srgbClr val="FF0066"/>
                </a:solidFill>
              </a:ln>
            </p:spPr>
            <p:txBody>
              <a:bodyPr/>
              <a:lstStyle/>
              <a:p>
                <a:r>
                  <a:rPr lang="en-US">
                    <a:noFill/>
                  </a:rPr>
                  <a:t> </a:t>
                </a:r>
              </a:p>
            </p:txBody>
          </p:sp>
        </mc:Fallback>
      </mc:AlternateContent>
      <p:sp>
        <p:nvSpPr>
          <p:cNvPr id="7" name="TextBox 6">
            <a:extLst>
              <a:ext uri="{FF2B5EF4-FFF2-40B4-BE49-F238E27FC236}">
                <a16:creationId xmlns:a16="http://schemas.microsoft.com/office/drawing/2014/main" id="{C36AA635-C21F-49F3-BF21-4CBE4C20709B}"/>
              </a:ext>
            </a:extLst>
          </p:cNvPr>
          <p:cNvSpPr txBox="1"/>
          <p:nvPr/>
        </p:nvSpPr>
        <p:spPr>
          <a:xfrm>
            <a:off x="5269122" y="6059046"/>
            <a:ext cx="823314" cy="373051"/>
          </a:xfrm>
          <a:prstGeom prst="rect">
            <a:avLst/>
          </a:prstGeom>
          <a:noFill/>
        </p:spPr>
        <p:txBody>
          <a:bodyPr wrap="square" rtlCol="0">
            <a:spAutoFit/>
          </a:bodyPr>
          <a:lstStyle/>
          <a:p>
            <a:pPr algn="ctr"/>
            <a:endParaRPr lang="en-GB" sz="1824" dirty="0">
              <a:latin typeface="Garamond" panose="02020404030301010803" pitchFamily="18" charset="0"/>
            </a:endParaRPr>
          </a:p>
        </p:txBody>
      </p:sp>
      <p:sp>
        <p:nvSpPr>
          <p:cNvPr id="2" name="TextBox 1">
            <a:extLst>
              <a:ext uri="{FF2B5EF4-FFF2-40B4-BE49-F238E27FC236}">
                <a16:creationId xmlns:a16="http://schemas.microsoft.com/office/drawing/2014/main" id="{1BD8016C-B677-4BEB-86C7-5F4D5DE2B249}"/>
              </a:ext>
            </a:extLst>
          </p:cNvPr>
          <p:cNvSpPr txBox="1"/>
          <p:nvPr/>
        </p:nvSpPr>
        <p:spPr>
          <a:xfrm>
            <a:off x="5637178" y="3570051"/>
            <a:ext cx="65" cy="276999"/>
          </a:xfrm>
          <a:prstGeom prst="rect">
            <a:avLst/>
          </a:prstGeom>
          <a:noFill/>
        </p:spPr>
        <p:txBody>
          <a:bodyPr wrap="none" lIns="0" tIns="0" rIns="0" bIns="0" rtlCol="0">
            <a:spAutoFit/>
          </a:bodyPr>
          <a:lstStyle/>
          <a:p>
            <a:endParaRPr lang="en-US" dirty="0"/>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B70F529F-3AEA-4E26-84B3-437A3398AC78}"/>
                  </a:ext>
                </a:extLst>
              </p:cNvPr>
              <p:cNvSpPr txBox="1"/>
              <p:nvPr/>
            </p:nvSpPr>
            <p:spPr>
              <a:xfrm>
                <a:off x="4647473" y="3019487"/>
                <a:ext cx="2699426" cy="489814"/>
              </a:xfrm>
              <a:prstGeom prst="rect">
                <a:avLst/>
              </a:prstGeom>
              <a:solidFill>
                <a:srgbClr val="FF3386"/>
              </a:solidFill>
            </p:spPr>
            <p:txBody>
              <a:bodyPr wrap="square" rtlCol="0">
                <a:spAutoFit/>
              </a:bodyPr>
              <a:lstStyle/>
              <a:p>
                <a14:m>
                  <m:oMath xmlns:m="http://schemas.openxmlformats.org/officeDocument/2006/math">
                    <m:sSub>
                      <m:sSubPr>
                        <m:ctrlPr>
                          <a:rPr lang="en-US" b="1" i="1" smtClean="0">
                            <a:solidFill>
                              <a:srgbClr val="0000CC"/>
                            </a:solidFill>
                            <a:latin typeface="Cambria Math" panose="02040503050406030204" pitchFamily="18" charset="0"/>
                          </a:rPr>
                        </m:ctrlPr>
                      </m:sSubPr>
                      <m:e>
                        <m:d>
                          <m:dPr>
                            <m:ctrlPr>
                              <a:rPr lang="en-US" b="1" i="1" smtClean="0">
                                <a:solidFill>
                                  <a:srgbClr val="0000CC"/>
                                </a:solidFill>
                                <a:latin typeface="Cambria Math" panose="02040503050406030204" pitchFamily="18" charset="0"/>
                              </a:rPr>
                            </m:ctrlPr>
                          </m:dPr>
                          <m:e>
                            <m:sSub>
                              <m:sSubPr>
                                <m:ctrlPr>
                                  <a:rPr lang="en-US" b="1" i="1" smtClean="0">
                                    <a:solidFill>
                                      <a:srgbClr val="0000CC"/>
                                    </a:solidFill>
                                    <a:latin typeface="Cambria Math" panose="02040503050406030204" pitchFamily="18" charset="0"/>
                                  </a:rPr>
                                </m:ctrlPr>
                              </m:sSubPr>
                              <m:e>
                                <m:r>
                                  <a:rPr lang="en-US" b="1" i="1" smtClean="0">
                                    <a:solidFill>
                                      <a:srgbClr val="0000CC"/>
                                    </a:solidFill>
                                    <a:latin typeface="Cambria Math" panose="02040503050406030204" pitchFamily="18" charset="0"/>
                                    <a:ea typeface="Cambria Math" panose="02040503050406030204" pitchFamily="18" charset="0"/>
                                  </a:rPr>
                                  <m:t>∆</m:t>
                                </m:r>
                                <m:r>
                                  <a:rPr lang="en-US" b="1" i="1" smtClean="0">
                                    <a:solidFill>
                                      <a:srgbClr val="0000CC"/>
                                    </a:solidFill>
                                    <a:latin typeface="Cambria Math" panose="02040503050406030204" pitchFamily="18" charset="0"/>
                                    <a:ea typeface="Cambria Math" panose="02040503050406030204" pitchFamily="18" charset="0"/>
                                  </a:rPr>
                                  <m:t>𝒊</m:t>
                                </m:r>
                              </m:e>
                              <m:sub>
                                <m:r>
                                  <a:rPr lang="en-US" b="1" i="1" smtClean="0">
                                    <a:solidFill>
                                      <a:srgbClr val="0000CC"/>
                                    </a:solidFill>
                                    <a:latin typeface="Cambria Math" panose="02040503050406030204" pitchFamily="18" charset="0"/>
                                  </a:rPr>
                                  <m:t>𝑳</m:t>
                                </m:r>
                              </m:sub>
                            </m:sSub>
                          </m:e>
                        </m:d>
                      </m:e>
                      <m:sub>
                        <m:r>
                          <a:rPr lang="en-US" b="1" i="1" smtClean="0">
                            <a:solidFill>
                              <a:srgbClr val="0000CC"/>
                            </a:solidFill>
                            <a:latin typeface="Cambria Math" panose="02040503050406030204" pitchFamily="18" charset="0"/>
                          </a:rPr>
                          <m:t>𝒄𝒍𝒐𝒔𝒆𝒅</m:t>
                        </m:r>
                      </m:sub>
                    </m:sSub>
                  </m:oMath>
                </a14:m>
                <a:r>
                  <a:rPr lang="en-US" b="1" i="1" dirty="0">
                    <a:solidFill>
                      <a:srgbClr val="0000CC"/>
                    </a:solidFill>
                  </a:rPr>
                  <a:t> = </a:t>
                </a:r>
                <a14:m>
                  <m:oMath xmlns:m="http://schemas.openxmlformats.org/officeDocument/2006/math">
                    <m:f>
                      <m:fPr>
                        <m:ctrlPr>
                          <a:rPr lang="en-US" b="1" i="1" smtClean="0">
                            <a:solidFill>
                              <a:srgbClr val="0000CC"/>
                            </a:solidFill>
                            <a:latin typeface="Cambria Math" panose="02040503050406030204" pitchFamily="18" charset="0"/>
                          </a:rPr>
                        </m:ctrlPr>
                      </m:fPr>
                      <m:num>
                        <m:sSub>
                          <m:sSubPr>
                            <m:ctrlPr>
                              <a:rPr lang="en-US" b="1" i="1" smtClean="0">
                                <a:solidFill>
                                  <a:srgbClr val="0000CC"/>
                                </a:solidFill>
                                <a:latin typeface="Cambria Math" panose="02040503050406030204" pitchFamily="18" charset="0"/>
                              </a:rPr>
                            </m:ctrlPr>
                          </m:sSubPr>
                          <m:e>
                            <m:r>
                              <a:rPr lang="en-US" b="1" i="1" smtClean="0">
                                <a:solidFill>
                                  <a:srgbClr val="0000CC"/>
                                </a:solidFill>
                                <a:latin typeface="Cambria Math" panose="02040503050406030204" pitchFamily="18" charset="0"/>
                              </a:rPr>
                              <m:t>𝑽</m:t>
                            </m:r>
                          </m:e>
                          <m:sub>
                            <m:r>
                              <a:rPr lang="en-US" b="1" i="1" smtClean="0">
                                <a:solidFill>
                                  <a:srgbClr val="0000CC"/>
                                </a:solidFill>
                                <a:latin typeface="Cambria Math" panose="02040503050406030204" pitchFamily="18" charset="0"/>
                              </a:rPr>
                              <m:t>𝒔</m:t>
                            </m:r>
                          </m:sub>
                        </m:sSub>
                        <m:r>
                          <a:rPr lang="en-US" b="1" i="1" smtClean="0">
                            <a:solidFill>
                              <a:srgbClr val="0000CC"/>
                            </a:solidFill>
                            <a:latin typeface="Cambria Math" panose="02040503050406030204" pitchFamily="18" charset="0"/>
                          </a:rPr>
                          <m:t>𝑫𝑻</m:t>
                        </m:r>
                      </m:num>
                      <m:den>
                        <m:r>
                          <a:rPr lang="en-US" b="1" i="1" smtClean="0">
                            <a:solidFill>
                              <a:srgbClr val="0000CC"/>
                            </a:solidFill>
                            <a:latin typeface="Cambria Math" panose="02040503050406030204" pitchFamily="18" charset="0"/>
                          </a:rPr>
                          <m:t>𝑳</m:t>
                        </m:r>
                      </m:den>
                    </m:f>
                  </m:oMath>
                </a14:m>
                <a:endParaRPr lang="en-US" b="1" i="1" dirty="0">
                  <a:solidFill>
                    <a:srgbClr val="0000CC"/>
                  </a:solidFill>
                </a:endParaRPr>
              </a:p>
            </p:txBody>
          </p:sp>
        </mc:Choice>
        <mc:Fallback xmlns="">
          <p:sp>
            <p:nvSpPr>
              <p:cNvPr id="3" name="TextBox 2">
                <a:extLst>
                  <a:ext uri="{FF2B5EF4-FFF2-40B4-BE49-F238E27FC236}">
                    <a16:creationId xmlns:a16="http://schemas.microsoft.com/office/drawing/2014/main" id="{B70F529F-3AEA-4E26-84B3-437A3398AC78}"/>
                  </a:ext>
                </a:extLst>
              </p:cNvPr>
              <p:cNvSpPr txBox="1">
                <a:spLocks noRot="1" noChangeAspect="1" noMove="1" noResize="1" noEditPoints="1" noAdjustHandles="1" noChangeArrowheads="1" noChangeShapeType="1" noTextEdit="1"/>
              </p:cNvSpPr>
              <p:nvPr/>
            </p:nvSpPr>
            <p:spPr>
              <a:xfrm>
                <a:off x="4647473" y="3019487"/>
                <a:ext cx="2699426" cy="489814"/>
              </a:xfrm>
              <a:prstGeom prst="rect">
                <a:avLst/>
              </a:prstGeom>
              <a:blipFill>
                <a:blip r:embed="rId3"/>
                <a:stretch>
                  <a:fillRect b="-7407"/>
                </a:stretch>
              </a:blipFill>
            </p:spPr>
            <p:txBody>
              <a:bodyPr/>
              <a:lstStyle/>
              <a:p>
                <a:r>
                  <a:rPr lang="en-US">
                    <a:noFill/>
                  </a:rPr>
                  <a:t> </a:t>
                </a:r>
              </a:p>
            </p:txBody>
          </p:sp>
        </mc:Fallback>
      </mc:AlternateContent>
    </p:spTree>
    <p:extLst>
      <p:ext uri="{BB962C8B-B14F-4D97-AF65-F5344CB8AC3E}">
        <p14:creationId xmlns:p14="http://schemas.microsoft.com/office/powerpoint/2010/main" val="224347626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6">
            <a:extLst>
              <a:ext uri="{FF2B5EF4-FFF2-40B4-BE49-F238E27FC236}">
                <a16:creationId xmlns:a16="http://schemas.microsoft.com/office/drawing/2014/main" id="{56080804-F19F-41A7-8595-943961648C5E}"/>
              </a:ext>
            </a:extLst>
          </p:cNvPr>
          <p:cNvSpPr>
            <a:spLocks noGrp="1"/>
          </p:cNvSpPr>
          <p:nvPr>
            <p:ph type="sldNum" sz="quarter" idx="12"/>
          </p:nvPr>
        </p:nvSpPr>
        <p:spPr>
          <a:xfrm>
            <a:off x="8610600" y="6441692"/>
            <a:ext cx="2743200" cy="370027"/>
          </a:xfrm>
        </p:spPr>
        <p:txBody>
          <a:bodyPr/>
          <a:lstStyle/>
          <a:p>
            <a:fld id="{F4801FD5-11B4-DE43-ACA2-E85EEB9A6F9C}" type="slidenum">
              <a:rPr lang="en-US" smtClean="0">
                <a:latin typeface="Garamond" panose="02020404030301010803" pitchFamily="18" charset="0"/>
              </a:rPr>
              <a:t>5</a:t>
            </a:fld>
            <a:endParaRPr lang="en-US">
              <a:latin typeface="Garamond" panose="02020404030301010803" pitchFamily="18" charset="0"/>
            </a:endParaRPr>
          </a:p>
        </p:txBody>
      </p:sp>
      <p:sp>
        <p:nvSpPr>
          <p:cNvPr id="5" name="Title 1">
            <a:extLst>
              <a:ext uri="{FF2B5EF4-FFF2-40B4-BE49-F238E27FC236}">
                <a16:creationId xmlns:a16="http://schemas.microsoft.com/office/drawing/2014/main" id="{4710AE4B-0DB8-4451-B9E4-10BAE11B4D3A}"/>
              </a:ext>
            </a:extLst>
          </p:cNvPr>
          <p:cNvSpPr>
            <a:spLocks noGrp="1"/>
          </p:cNvSpPr>
          <p:nvPr>
            <p:ph type="title"/>
          </p:nvPr>
        </p:nvSpPr>
        <p:spPr>
          <a:xfrm>
            <a:off x="3157348" y="-40404"/>
            <a:ext cx="6026397" cy="558382"/>
          </a:xfrm>
        </p:spPr>
        <p:txBody>
          <a:bodyPr>
            <a:noAutofit/>
          </a:bodyPr>
          <a:lstStyle/>
          <a:p>
            <a:pPr algn="ctr"/>
            <a:r>
              <a:rPr lang="en-US" sz="3200" b="1" u="sng" dirty="0">
                <a:solidFill>
                  <a:srgbClr val="FF3386"/>
                </a:solidFill>
                <a:latin typeface="Century Gothic" panose="020B0502020202020204" pitchFamily="34" charset="0"/>
                <a:cs typeface="Helvetica"/>
              </a:rPr>
              <a:t>BOOST CONVERTER</a:t>
            </a:r>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6BAA1F11-5BEF-4D80-964F-A7332E36BFA0}"/>
                  </a:ext>
                </a:extLst>
              </p:cNvPr>
              <p:cNvSpPr txBox="1"/>
              <p:nvPr/>
            </p:nvSpPr>
            <p:spPr>
              <a:xfrm>
                <a:off x="145914" y="565502"/>
                <a:ext cx="11896929" cy="6047938"/>
              </a:xfrm>
              <a:prstGeom prst="rect">
                <a:avLst/>
              </a:prstGeom>
              <a:noFill/>
              <a:ln>
                <a:solidFill>
                  <a:srgbClr val="FF0066"/>
                </a:solidFill>
              </a:ln>
            </p:spPr>
            <p:txBody>
              <a:bodyPr wrap="square" rtlCol="0">
                <a:spAutoFit/>
              </a:bodyPr>
              <a:lstStyle/>
              <a:p>
                <a:pPr marL="342900" indent="-342900">
                  <a:buClr>
                    <a:schemeClr val="accent2"/>
                  </a:buClr>
                  <a:buFont typeface="Arial" panose="020B0604020202020204" pitchFamily="34" charset="0"/>
                  <a:buChar char="•"/>
                </a:pPr>
                <a:r>
                  <a:rPr lang="en-GB" sz="2400" b="1" kern="100" dirty="0">
                    <a:solidFill>
                      <a:srgbClr val="0000CC"/>
                    </a:solidFill>
                    <a:latin typeface="Century Gothic" panose="020B0502020202020204" pitchFamily="34" charset="0"/>
                    <a:ea typeface="Calibri" panose="020F0502020204030204" pitchFamily="34" charset="0"/>
                    <a:cs typeface="Times New Roman" panose="02020603050405020304" pitchFamily="18" charset="0"/>
                  </a:rPr>
                  <a:t>Since the derivative of inductor current is constant, so the current must change linearly while the switch is open.</a:t>
                </a:r>
              </a:p>
              <a:p>
                <a:pPr>
                  <a:buClr>
                    <a:schemeClr val="accent2"/>
                  </a:buClr>
                </a:pPr>
                <a:endParaRPr lang="en-GB" sz="2400" b="1" kern="100" dirty="0">
                  <a:solidFill>
                    <a:srgbClr val="0000CC"/>
                  </a:solidFill>
                  <a:effectLst/>
                  <a:latin typeface="Century Gothic" panose="020B0502020202020204" pitchFamily="34" charset="0"/>
                  <a:ea typeface="Calibri" panose="020F0502020204030204" pitchFamily="34" charset="0"/>
                  <a:cs typeface="Times New Roman" panose="02020603050405020304" pitchFamily="18" charset="0"/>
                </a:endParaRPr>
              </a:p>
              <a:p>
                <a:pPr>
                  <a:buClr>
                    <a:schemeClr val="accent2"/>
                  </a:buClr>
                </a:pPr>
                <a:r>
                  <a:rPr lang="en-GB" sz="2400" b="1" kern="100" dirty="0">
                    <a:solidFill>
                      <a:srgbClr val="0000CC"/>
                    </a:solidFill>
                    <a:latin typeface="Century Gothic" panose="020B0502020202020204" pitchFamily="34" charset="0"/>
                    <a:ea typeface="Calibri" panose="020F0502020204030204" pitchFamily="34" charset="0"/>
                    <a:cs typeface="Times New Roman" panose="02020603050405020304" pitchFamily="18" charset="0"/>
                  </a:rPr>
                  <a:t>		</a:t>
                </a:r>
                <a14:m>
                  <m:oMath xmlns:m="http://schemas.openxmlformats.org/officeDocument/2006/math">
                    <m:f>
                      <m:fPr>
                        <m:ctrlPr>
                          <a:rPr lang="en-GB" sz="2400" b="1" i="1" kern="100" smtClean="0">
                            <a:solidFill>
                              <a:srgbClr val="FF0000"/>
                            </a:solidFill>
                            <a:latin typeface="Cambria Math" panose="02040503050406030204" pitchFamily="18" charset="0"/>
                            <a:ea typeface="Calibri" panose="020F0502020204030204" pitchFamily="34" charset="0"/>
                            <a:cs typeface="Times New Roman" panose="02020603050405020304" pitchFamily="18" charset="0"/>
                          </a:rPr>
                        </m:ctrlPr>
                      </m:fPr>
                      <m:num>
                        <m:sSub>
                          <m:sSubPr>
                            <m:ctrlPr>
                              <a:rPr lang="en-GB" sz="2400" b="1" i="1" kern="100" smtClean="0">
                                <a:solidFill>
                                  <a:srgbClr val="FF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GB" sz="2400" b="1" i="1" kern="100" smtClean="0">
                                <a:solidFill>
                                  <a:srgbClr val="FF0000"/>
                                </a:solidFill>
                                <a:latin typeface="Cambria Math" panose="02040503050406030204" pitchFamily="18" charset="0"/>
                                <a:ea typeface="Cambria Math" panose="02040503050406030204" pitchFamily="18" charset="0"/>
                                <a:cs typeface="Times New Roman" panose="02020603050405020304" pitchFamily="18" charset="0"/>
                              </a:rPr>
                              <m:t>∆</m:t>
                            </m:r>
                            <m:r>
                              <a:rPr lang="en-US" sz="2400" b="1" i="1" kern="100" smtClean="0">
                                <a:solidFill>
                                  <a:srgbClr val="FF0000"/>
                                </a:solidFill>
                                <a:latin typeface="Cambria Math" panose="02040503050406030204" pitchFamily="18" charset="0"/>
                                <a:ea typeface="Cambria Math" panose="02040503050406030204" pitchFamily="18" charset="0"/>
                                <a:cs typeface="Times New Roman" panose="02020603050405020304" pitchFamily="18" charset="0"/>
                              </a:rPr>
                              <m:t>𝒊</m:t>
                            </m:r>
                          </m:e>
                          <m:sub>
                            <m:r>
                              <a:rPr lang="en-US" sz="2400" b="1" i="1" kern="100" smtClean="0">
                                <a:solidFill>
                                  <a:srgbClr val="FF0000"/>
                                </a:solidFill>
                                <a:latin typeface="Cambria Math" panose="02040503050406030204" pitchFamily="18" charset="0"/>
                                <a:ea typeface="Calibri" panose="020F0502020204030204" pitchFamily="34" charset="0"/>
                                <a:cs typeface="Times New Roman" panose="02020603050405020304" pitchFamily="18" charset="0"/>
                              </a:rPr>
                              <m:t>𝑳</m:t>
                            </m:r>
                          </m:sub>
                        </m:sSub>
                      </m:num>
                      <m:den>
                        <m:r>
                          <a:rPr lang="en-GB" sz="2400" b="1" i="1" kern="100" smtClean="0">
                            <a:solidFill>
                              <a:srgbClr val="FF0000"/>
                            </a:solidFill>
                            <a:latin typeface="Cambria Math" panose="02040503050406030204" pitchFamily="18" charset="0"/>
                            <a:ea typeface="Cambria Math" panose="02040503050406030204" pitchFamily="18" charset="0"/>
                            <a:cs typeface="Times New Roman" panose="02020603050405020304" pitchFamily="18" charset="0"/>
                          </a:rPr>
                          <m:t>∆</m:t>
                        </m:r>
                        <m:r>
                          <a:rPr lang="en-US" sz="2400" b="1" i="1" kern="100" smtClean="0">
                            <a:solidFill>
                              <a:srgbClr val="FF0000"/>
                            </a:solidFill>
                            <a:latin typeface="Cambria Math" panose="02040503050406030204" pitchFamily="18" charset="0"/>
                            <a:ea typeface="Cambria Math" panose="02040503050406030204" pitchFamily="18" charset="0"/>
                            <a:cs typeface="Times New Roman" panose="02020603050405020304" pitchFamily="18" charset="0"/>
                          </a:rPr>
                          <m:t>𝒕</m:t>
                        </m:r>
                      </m:den>
                    </m:f>
                  </m:oMath>
                </a14:m>
                <a:r>
                  <a:rPr lang="en-GB" sz="2400" b="1" kern="100" dirty="0">
                    <a:solidFill>
                      <a:srgbClr val="FF0000"/>
                    </a:solidFill>
                    <a:latin typeface="Century Gothic" panose="020B0502020202020204" pitchFamily="34" charset="0"/>
                    <a:ea typeface="Calibri" panose="020F0502020204030204" pitchFamily="34" charset="0"/>
                    <a:cs typeface="Times New Roman" panose="02020603050405020304" pitchFamily="18" charset="0"/>
                  </a:rPr>
                  <a:t> = </a:t>
                </a:r>
                <a14:m>
                  <m:oMath xmlns:m="http://schemas.openxmlformats.org/officeDocument/2006/math">
                    <m:f>
                      <m:fPr>
                        <m:ctrlPr>
                          <a:rPr lang="en-GB" sz="2400" b="1" i="1" kern="100" smtClean="0">
                            <a:solidFill>
                              <a:srgbClr val="FF0000"/>
                            </a:solidFill>
                            <a:latin typeface="Cambria Math" panose="02040503050406030204" pitchFamily="18" charset="0"/>
                            <a:ea typeface="Calibri" panose="020F0502020204030204" pitchFamily="34" charset="0"/>
                            <a:cs typeface="Times New Roman" panose="02020603050405020304" pitchFamily="18" charset="0"/>
                          </a:rPr>
                        </m:ctrlPr>
                      </m:fPr>
                      <m:num>
                        <m:sSub>
                          <m:sSubPr>
                            <m:ctrlPr>
                              <a:rPr lang="en-GB" sz="2400" b="1" i="1" kern="100" smtClean="0">
                                <a:solidFill>
                                  <a:srgbClr val="FF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GB" sz="2400" b="1" i="1" kern="100" smtClean="0">
                                <a:solidFill>
                                  <a:srgbClr val="FF0000"/>
                                </a:solidFill>
                                <a:latin typeface="Cambria Math" panose="02040503050406030204" pitchFamily="18" charset="0"/>
                                <a:ea typeface="Cambria Math" panose="02040503050406030204" pitchFamily="18" charset="0"/>
                                <a:cs typeface="Times New Roman" panose="02020603050405020304" pitchFamily="18" charset="0"/>
                              </a:rPr>
                              <m:t>∆</m:t>
                            </m:r>
                            <m:r>
                              <a:rPr lang="en-US" sz="2400" b="1" i="1" kern="100" smtClean="0">
                                <a:solidFill>
                                  <a:srgbClr val="FF0000"/>
                                </a:solidFill>
                                <a:latin typeface="Cambria Math" panose="02040503050406030204" pitchFamily="18" charset="0"/>
                                <a:ea typeface="Cambria Math" panose="02040503050406030204" pitchFamily="18" charset="0"/>
                                <a:cs typeface="Times New Roman" panose="02020603050405020304" pitchFamily="18" charset="0"/>
                              </a:rPr>
                              <m:t>𝒊</m:t>
                            </m:r>
                          </m:e>
                          <m:sub>
                            <m:r>
                              <a:rPr lang="en-US" sz="2400" b="1" i="1" kern="100" smtClean="0">
                                <a:solidFill>
                                  <a:srgbClr val="FF0000"/>
                                </a:solidFill>
                                <a:latin typeface="Cambria Math" panose="02040503050406030204" pitchFamily="18" charset="0"/>
                                <a:ea typeface="Calibri" panose="020F0502020204030204" pitchFamily="34" charset="0"/>
                                <a:cs typeface="Times New Roman" panose="02020603050405020304" pitchFamily="18" charset="0"/>
                              </a:rPr>
                              <m:t>𝑳</m:t>
                            </m:r>
                          </m:sub>
                        </m:sSub>
                      </m:num>
                      <m:den>
                        <m:r>
                          <a:rPr lang="en-GB" sz="2400" b="1" i="1" kern="100" smtClean="0">
                            <a:solidFill>
                              <a:srgbClr val="FF0000"/>
                            </a:solidFill>
                            <a:latin typeface="Cambria Math" panose="02040503050406030204" pitchFamily="18" charset="0"/>
                            <a:ea typeface="Cambria Math" panose="02040503050406030204" pitchFamily="18" charset="0"/>
                            <a:cs typeface="Times New Roman" panose="02020603050405020304" pitchFamily="18" charset="0"/>
                          </a:rPr>
                          <m:t>∆</m:t>
                        </m:r>
                        <m:r>
                          <a:rPr lang="en-US" sz="2400" b="1" i="1" kern="100" smtClean="0">
                            <a:solidFill>
                              <a:srgbClr val="FF0000"/>
                            </a:solidFill>
                            <a:latin typeface="Cambria Math" panose="02040503050406030204" pitchFamily="18" charset="0"/>
                            <a:ea typeface="Cambria Math" panose="02040503050406030204" pitchFamily="18" charset="0"/>
                            <a:cs typeface="Times New Roman" panose="02020603050405020304" pitchFamily="18" charset="0"/>
                          </a:rPr>
                          <m:t>𝒕</m:t>
                        </m:r>
                      </m:den>
                    </m:f>
                  </m:oMath>
                </a14:m>
                <a:r>
                  <a:rPr lang="en-GB" sz="2400" b="1" kern="100" dirty="0">
                    <a:solidFill>
                      <a:srgbClr val="FF0000"/>
                    </a:solidFill>
                    <a:latin typeface="Century Gothic" panose="020B0502020202020204" pitchFamily="34" charset="0"/>
                    <a:ea typeface="Calibri" panose="020F0502020204030204" pitchFamily="34" charset="0"/>
                    <a:cs typeface="Times New Roman" panose="02020603050405020304" pitchFamily="18" charset="0"/>
                  </a:rPr>
                  <a:t> = </a:t>
                </a:r>
                <a14:m>
                  <m:oMath xmlns:m="http://schemas.openxmlformats.org/officeDocument/2006/math">
                    <m:f>
                      <m:fPr>
                        <m:ctrlPr>
                          <a:rPr lang="en-GB" sz="2400" b="1" i="1" kern="100" smtClean="0">
                            <a:solidFill>
                              <a:srgbClr val="FF0000"/>
                            </a:solidFill>
                            <a:latin typeface="Cambria Math" panose="02040503050406030204" pitchFamily="18" charset="0"/>
                            <a:ea typeface="Calibri" panose="020F0502020204030204" pitchFamily="34" charset="0"/>
                            <a:cs typeface="Times New Roman" panose="02020603050405020304" pitchFamily="18" charset="0"/>
                          </a:rPr>
                        </m:ctrlPr>
                      </m:fPr>
                      <m:num>
                        <m:sSub>
                          <m:sSubPr>
                            <m:ctrlPr>
                              <a:rPr lang="en-GB" sz="2400" b="1" i="1" kern="100" smtClean="0">
                                <a:solidFill>
                                  <a:srgbClr val="FF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GB" sz="2400" b="1" i="1" kern="100" smtClean="0">
                                <a:solidFill>
                                  <a:srgbClr val="FF0000"/>
                                </a:solidFill>
                                <a:latin typeface="Cambria Math" panose="02040503050406030204" pitchFamily="18" charset="0"/>
                                <a:ea typeface="Cambria Math" panose="02040503050406030204" pitchFamily="18" charset="0"/>
                                <a:cs typeface="Times New Roman" panose="02020603050405020304" pitchFamily="18" charset="0"/>
                              </a:rPr>
                              <m:t>∆</m:t>
                            </m:r>
                            <m:r>
                              <a:rPr lang="en-US" sz="2400" b="1" i="1" kern="100" smtClean="0">
                                <a:solidFill>
                                  <a:srgbClr val="FF0000"/>
                                </a:solidFill>
                                <a:latin typeface="Cambria Math" panose="02040503050406030204" pitchFamily="18" charset="0"/>
                                <a:ea typeface="Cambria Math" panose="02040503050406030204" pitchFamily="18" charset="0"/>
                                <a:cs typeface="Times New Roman" panose="02020603050405020304" pitchFamily="18" charset="0"/>
                              </a:rPr>
                              <m:t>𝒊</m:t>
                            </m:r>
                          </m:e>
                          <m:sub>
                            <m:r>
                              <a:rPr lang="en-US" sz="2400" b="1" i="1" kern="100" smtClean="0">
                                <a:solidFill>
                                  <a:srgbClr val="FF0000"/>
                                </a:solidFill>
                                <a:latin typeface="Cambria Math" panose="02040503050406030204" pitchFamily="18" charset="0"/>
                                <a:ea typeface="Calibri" panose="020F0502020204030204" pitchFamily="34" charset="0"/>
                                <a:cs typeface="Times New Roman" panose="02020603050405020304" pitchFamily="18" charset="0"/>
                              </a:rPr>
                              <m:t>𝑳</m:t>
                            </m:r>
                          </m:sub>
                        </m:sSub>
                      </m:num>
                      <m:den>
                        <m:d>
                          <m:dPr>
                            <m:ctrlPr>
                              <a:rPr lang="en-GB" sz="2400" b="1" i="1" kern="100" smtClean="0">
                                <a:solidFill>
                                  <a:srgbClr val="FF0000"/>
                                </a:solidFill>
                                <a:latin typeface="Cambria Math" panose="02040503050406030204" pitchFamily="18" charset="0"/>
                                <a:ea typeface="Calibri" panose="020F0502020204030204" pitchFamily="34" charset="0"/>
                                <a:cs typeface="Times New Roman" panose="02020603050405020304" pitchFamily="18" charset="0"/>
                              </a:rPr>
                            </m:ctrlPr>
                          </m:dPr>
                          <m:e>
                            <m:r>
                              <a:rPr lang="en-US" sz="2400" b="1" i="1" kern="100" smtClean="0">
                                <a:solidFill>
                                  <a:srgbClr val="FF0000"/>
                                </a:solidFill>
                                <a:latin typeface="Cambria Math" panose="02040503050406030204" pitchFamily="18" charset="0"/>
                                <a:ea typeface="Calibri" panose="020F0502020204030204" pitchFamily="34" charset="0"/>
                                <a:cs typeface="Times New Roman" panose="02020603050405020304" pitchFamily="18" charset="0"/>
                              </a:rPr>
                              <m:t>𝟏</m:t>
                            </m:r>
                            <m:r>
                              <a:rPr lang="en-US" sz="2400" b="1" i="1" kern="100" smtClean="0">
                                <a:solidFill>
                                  <a:srgbClr val="FF0000"/>
                                </a:solidFill>
                                <a:latin typeface="Cambria Math" panose="02040503050406030204" pitchFamily="18" charset="0"/>
                                <a:ea typeface="Calibri" panose="020F0502020204030204" pitchFamily="34" charset="0"/>
                                <a:cs typeface="Times New Roman" panose="02020603050405020304" pitchFamily="18" charset="0"/>
                              </a:rPr>
                              <m:t>−</m:t>
                            </m:r>
                            <m:r>
                              <a:rPr lang="en-US" sz="2400" b="1" i="1" kern="100" smtClean="0">
                                <a:solidFill>
                                  <a:srgbClr val="FF0000"/>
                                </a:solidFill>
                                <a:latin typeface="Cambria Math" panose="02040503050406030204" pitchFamily="18" charset="0"/>
                                <a:ea typeface="Calibri" panose="020F0502020204030204" pitchFamily="34" charset="0"/>
                                <a:cs typeface="Times New Roman" panose="02020603050405020304" pitchFamily="18" charset="0"/>
                              </a:rPr>
                              <m:t>𝑫</m:t>
                            </m:r>
                          </m:e>
                        </m:d>
                        <m:r>
                          <a:rPr lang="en-US" sz="2400" b="1" i="1" kern="100" smtClean="0">
                            <a:solidFill>
                              <a:srgbClr val="FF0000"/>
                            </a:solidFill>
                            <a:latin typeface="Cambria Math" panose="02040503050406030204" pitchFamily="18" charset="0"/>
                            <a:ea typeface="Calibri" panose="020F0502020204030204" pitchFamily="34" charset="0"/>
                            <a:cs typeface="Times New Roman" panose="02020603050405020304" pitchFamily="18" charset="0"/>
                          </a:rPr>
                          <m:t>𝑻</m:t>
                        </m:r>
                      </m:den>
                    </m:f>
                  </m:oMath>
                </a14:m>
                <a:r>
                  <a:rPr lang="en-GB" sz="2400" b="1" kern="100" dirty="0">
                    <a:solidFill>
                      <a:srgbClr val="FF0000"/>
                    </a:solidFill>
                    <a:latin typeface="Century Gothic" panose="020B0502020202020204" pitchFamily="34" charset="0"/>
                    <a:ea typeface="Calibri" panose="020F0502020204030204" pitchFamily="34" charset="0"/>
                    <a:cs typeface="Times New Roman" panose="02020603050405020304" pitchFamily="18" charset="0"/>
                  </a:rPr>
                  <a:t> = </a:t>
                </a:r>
                <a14:m>
                  <m:oMath xmlns:m="http://schemas.openxmlformats.org/officeDocument/2006/math">
                    <m:f>
                      <m:fPr>
                        <m:ctrlPr>
                          <a:rPr lang="en-GB" sz="2400" b="1" i="1" kern="100" smtClean="0">
                            <a:solidFill>
                              <a:srgbClr val="FF0000"/>
                            </a:solidFill>
                            <a:latin typeface="Cambria Math" panose="02040503050406030204" pitchFamily="18" charset="0"/>
                            <a:ea typeface="Calibri" panose="020F0502020204030204" pitchFamily="34" charset="0"/>
                            <a:cs typeface="Times New Roman" panose="02020603050405020304" pitchFamily="18" charset="0"/>
                          </a:rPr>
                        </m:ctrlPr>
                      </m:fPr>
                      <m:num>
                        <m:sSub>
                          <m:sSubPr>
                            <m:ctrlPr>
                              <a:rPr lang="en-GB" sz="2400" b="1" i="1" kern="100" smtClean="0">
                                <a:solidFill>
                                  <a:srgbClr val="FF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2400" b="1" i="1" kern="100" smtClean="0">
                                <a:solidFill>
                                  <a:srgbClr val="FF0000"/>
                                </a:solidFill>
                                <a:latin typeface="Cambria Math" panose="02040503050406030204" pitchFamily="18" charset="0"/>
                                <a:ea typeface="Calibri" panose="020F0502020204030204" pitchFamily="34" charset="0"/>
                                <a:cs typeface="Times New Roman" panose="02020603050405020304" pitchFamily="18" charset="0"/>
                              </a:rPr>
                              <m:t>𝑽</m:t>
                            </m:r>
                          </m:e>
                          <m:sub>
                            <m:r>
                              <a:rPr lang="en-US" sz="2400" b="1" i="1" kern="100" smtClean="0">
                                <a:solidFill>
                                  <a:srgbClr val="FF0000"/>
                                </a:solidFill>
                                <a:latin typeface="Cambria Math" panose="02040503050406030204" pitchFamily="18" charset="0"/>
                                <a:ea typeface="Calibri" panose="020F0502020204030204" pitchFamily="34" charset="0"/>
                                <a:cs typeface="Times New Roman" panose="02020603050405020304" pitchFamily="18" charset="0"/>
                              </a:rPr>
                              <m:t>𝒔</m:t>
                            </m:r>
                          </m:sub>
                        </m:sSub>
                        <m:r>
                          <a:rPr lang="en-US" sz="2400" b="1" i="1" kern="100" smtClean="0">
                            <a:solidFill>
                              <a:srgbClr val="FF0000"/>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sz="2400" b="1" i="1" kern="100" smtClean="0">
                                <a:solidFill>
                                  <a:srgbClr val="FF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2400" b="1" i="1" kern="100" smtClean="0">
                                <a:solidFill>
                                  <a:srgbClr val="FF0000"/>
                                </a:solidFill>
                                <a:latin typeface="Cambria Math" panose="02040503050406030204" pitchFamily="18" charset="0"/>
                                <a:ea typeface="Calibri" panose="020F0502020204030204" pitchFamily="34" charset="0"/>
                                <a:cs typeface="Times New Roman" panose="02020603050405020304" pitchFamily="18" charset="0"/>
                              </a:rPr>
                              <m:t>𝑽</m:t>
                            </m:r>
                          </m:e>
                          <m:sub>
                            <m:r>
                              <a:rPr lang="en-US" sz="2400" b="1" i="1" kern="100" smtClean="0">
                                <a:solidFill>
                                  <a:srgbClr val="FF0000"/>
                                </a:solidFill>
                                <a:latin typeface="Cambria Math" panose="02040503050406030204" pitchFamily="18" charset="0"/>
                                <a:ea typeface="Calibri" panose="020F0502020204030204" pitchFamily="34" charset="0"/>
                                <a:cs typeface="Times New Roman" panose="02020603050405020304" pitchFamily="18" charset="0"/>
                              </a:rPr>
                              <m:t>𝒐</m:t>
                            </m:r>
                          </m:sub>
                        </m:sSub>
                      </m:num>
                      <m:den>
                        <m:r>
                          <a:rPr lang="en-US" sz="2400" b="1" i="1" kern="100" smtClean="0">
                            <a:solidFill>
                              <a:srgbClr val="FF0000"/>
                            </a:solidFill>
                            <a:latin typeface="Cambria Math" panose="02040503050406030204" pitchFamily="18" charset="0"/>
                            <a:ea typeface="Calibri" panose="020F0502020204030204" pitchFamily="34" charset="0"/>
                            <a:cs typeface="Times New Roman" panose="02020603050405020304" pitchFamily="18" charset="0"/>
                          </a:rPr>
                          <m:t>𝑳</m:t>
                        </m:r>
                      </m:den>
                    </m:f>
                  </m:oMath>
                </a14:m>
                <a:r>
                  <a:rPr lang="en-GB" sz="2400" b="1" kern="100" dirty="0">
                    <a:solidFill>
                      <a:srgbClr val="FF0000"/>
                    </a:solidFill>
                    <a:latin typeface="Century Gothic" panose="020B0502020202020204" pitchFamily="34" charset="0"/>
                    <a:ea typeface="Calibri" panose="020F0502020204030204" pitchFamily="34" charset="0"/>
                    <a:cs typeface="Times New Roman" panose="02020603050405020304" pitchFamily="18" charset="0"/>
                  </a:rPr>
                  <a:t>  →  </a:t>
                </a:r>
                <a:br>
                  <a:rPr lang="en-GB" sz="2400" b="1" kern="100" dirty="0">
                    <a:solidFill>
                      <a:srgbClr val="FF0000"/>
                    </a:solidFill>
                    <a:latin typeface="Century Gothic" panose="020B0502020202020204" pitchFamily="34" charset="0"/>
                    <a:ea typeface="Calibri" panose="020F0502020204030204" pitchFamily="34" charset="0"/>
                    <a:cs typeface="Times New Roman" panose="02020603050405020304" pitchFamily="18" charset="0"/>
                  </a:rPr>
                </a:br>
                <a:endParaRPr lang="en-GB" sz="2400" b="1" kern="100" dirty="0">
                  <a:solidFill>
                    <a:srgbClr val="0000CC"/>
                  </a:solidFill>
                  <a:latin typeface="Century Gothic" panose="020B0502020202020204" pitchFamily="34" charset="0"/>
                  <a:ea typeface="Calibri" panose="020F0502020204030204" pitchFamily="34" charset="0"/>
                  <a:cs typeface="Times New Roman" panose="02020603050405020304" pitchFamily="18" charset="0"/>
                </a:endParaRPr>
              </a:p>
              <a:p>
                <a:pPr marL="342900" indent="-342900">
                  <a:buClr>
                    <a:schemeClr val="accent2"/>
                  </a:buClr>
                  <a:buFont typeface="Arial" panose="020B0604020202020204" pitchFamily="34" charset="0"/>
                  <a:buChar char="•"/>
                </a:pPr>
                <a:r>
                  <a:rPr lang="en-GB" sz="2400" b="1" kern="100" dirty="0">
                    <a:solidFill>
                      <a:srgbClr val="0000CC"/>
                    </a:solidFill>
                    <a:effectLst/>
                    <a:latin typeface="Century Gothic" panose="020B0502020202020204" pitchFamily="34" charset="0"/>
                    <a:ea typeface="Calibri" panose="020F0502020204030204" pitchFamily="34" charset="0"/>
                    <a:cs typeface="Times New Roman" panose="02020603050405020304" pitchFamily="18" charset="0"/>
                  </a:rPr>
                  <a:t>In steady-state: the inductor current at the end of the switching cycle is the same as that the beginning i.e. The net change in inductor current over one period is ZERO.</a:t>
                </a:r>
              </a:p>
              <a:p>
                <a:pPr>
                  <a:buClr>
                    <a:schemeClr val="accent2"/>
                  </a:buClr>
                </a:pPr>
                <a:endParaRPr lang="en-GB" sz="2400" b="1" kern="100" dirty="0">
                  <a:solidFill>
                    <a:srgbClr val="0000CC"/>
                  </a:solidFill>
                  <a:effectLst/>
                  <a:latin typeface="Century Gothic" panose="020B0502020202020204" pitchFamily="34" charset="0"/>
                  <a:ea typeface="Calibri" panose="020F0502020204030204" pitchFamily="34" charset="0"/>
                  <a:cs typeface="Times New Roman" panose="02020603050405020304" pitchFamily="18" charset="0"/>
                </a:endParaRPr>
              </a:p>
              <a:p>
                <a:pPr>
                  <a:buClr>
                    <a:schemeClr val="accent2"/>
                  </a:buClr>
                </a:pPr>
                <a:r>
                  <a:rPr lang="en-GB" sz="2400" b="1" kern="100" dirty="0">
                    <a:solidFill>
                      <a:srgbClr val="0000CC"/>
                    </a:solidFill>
                    <a:latin typeface="Century Gothic" panose="020B0502020202020204" pitchFamily="34" charset="0"/>
                    <a:ea typeface="Calibri" panose="020F0502020204030204" pitchFamily="34" charset="0"/>
                    <a:cs typeface="Times New Roman" panose="02020603050405020304" pitchFamily="18" charset="0"/>
                  </a:rPr>
                  <a:t>	</a:t>
                </a:r>
                <a14:m>
                  <m:oMath xmlns:m="http://schemas.openxmlformats.org/officeDocument/2006/math">
                    <m:sSub>
                      <m:sSubPr>
                        <m:ctrlPr>
                          <a:rPr lang="en-GB" sz="2400" b="1" i="1" kern="100" smtClean="0">
                            <a:solidFill>
                              <a:srgbClr val="FF0000"/>
                            </a:solidFill>
                            <a:latin typeface="Cambria Math" panose="02040503050406030204" pitchFamily="18" charset="0"/>
                            <a:ea typeface="Calibri" panose="020F0502020204030204" pitchFamily="34" charset="0"/>
                            <a:cs typeface="Times New Roman" panose="02020603050405020304" pitchFamily="18" charset="0"/>
                          </a:rPr>
                        </m:ctrlPr>
                      </m:sSubPr>
                      <m:e>
                        <m:d>
                          <m:dPr>
                            <m:ctrlPr>
                              <a:rPr lang="en-GB" sz="2400" b="1" i="1" kern="100" smtClean="0">
                                <a:solidFill>
                                  <a:srgbClr val="FF0000"/>
                                </a:solidFill>
                                <a:latin typeface="Cambria Math" panose="02040503050406030204" pitchFamily="18" charset="0"/>
                                <a:ea typeface="Calibri" panose="020F0502020204030204" pitchFamily="34" charset="0"/>
                                <a:cs typeface="Times New Roman" panose="02020603050405020304" pitchFamily="18" charset="0"/>
                              </a:rPr>
                            </m:ctrlPr>
                          </m:dPr>
                          <m:e>
                            <m:sSub>
                              <m:sSubPr>
                                <m:ctrlPr>
                                  <a:rPr lang="en-GB" sz="2400" b="1" i="1" kern="100" smtClean="0">
                                    <a:solidFill>
                                      <a:srgbClr val="FF0000"/>
                                    </a:solidFill>
                                    <a:latin typeface="Cambria Math" panose="02040503050406030204" pitchFamily="18" charset="0"/>
                                    <a:ea typeface="Calibri" panose="020F0502020204030204" pitchFamily="34" charset="0"/>
                                    <a:cs typeface="Times New Roman" panose="02020603050405020304" pitchFamily="18" charset="0"/>
                                  </a:rPr>
                                </m:ctrlPr>
                              </m:sSubPr>
                              <m:e>
                                <m:r>
                                  <a:rPr lang="en-GB" sz="2400" b="1" i="1" kern="100" smtClean="0">
                                    <a:solidFill>
                                      <a:srgbClr val="FF0000"/>
                                    </a:solidFill>
                                    <a:latin typeface="Cambria Math" panose="02040503050406030204" pitchFamily="18" charset="0"/>
                                    <a:ea typeface="Cambria Math" panose="02040503050406030204" pitchFamily="18" charset="0"/>
                                    <a:cs typeface="Times New Roman" panose="02020603050405020304" pitchFamily="18" charset="0"/>
                                  </a:rPr>
                                  <m:t>∆</m:t>
                                </m:r>
                                <m:r>
                                  <a:rPr lang="en-US" sz="2400" b="1" i="1" kern="100" smtClean="0">
                                    <a:solidFill>
                                      <a:srgbClr val="FF0000"/>
                                    </a:solidFill>
                                    <a:latin typeface="Cambria Math" panose="02040503050406030204" pitchFamily="18" charset="0"/>
                                    <a:ea typeface="Cambria Math" panose="02040503050406030204" pitchFamily="18" charset="0"/>
                                    <a:cs typeface="Times New Roman" panose="02020603050405020304" pitchFamily="18" charset="0"/>
                                  </a:rPr>
                                  <m:t>𝒊</m:t>
                                </m:r>
                              </m:e>
                              <m:sub>
                                <m:r>
                                  <a:rPr lang="en-US" sz="2400" b="1" i="1" kern="100" smtClean="0">
                                    <a:solidFill>
                                      <a:srgbClr val="FF0000"/>
                                    </a:solidFill>
                                    <a:latin typeface="Cambria Math" panose="02040503050406030204" pitchFamily="18" charset="0"/>
                                    <a:ea typeface="Calibri" panose="020F0502020204030204" pitchFamily="34" charset="0"/>
                                    <a:cs typeface="Times New Roman" panose="02020603050405020304" pitchFamily="18" charset="0"/>
                                  </a:rPr>
                                  <m:t>𝑳</m:t>
                                </m:r>
                              </m:sub>
                            </m:sSub>
                          </m:e>
                        </m:d>
                      </m:e>
                      <m:sub>
                        <m:r>
                          <a:rPr lang="en-US" sz="2400" b="1" i="1" kern="100" smtClean="0">
                            <a:solidFill>
                              <a:srgbClr val="FF0000"/>
                            </a:solidFill>
                            <a:latin typeface="Cambria Math" panose="02040503050406030204" pitchFamily="18" charset="0"/>
                            <a:ea typeface="Calibri" panose="020F0502020204030204" pitchFamily="34" charset="0"/>
                            <a:cs typeface="Times New Roman" panose="02020603050405020304" pitchFamily="18" charset="0"/>
                          </a:rPr>
                          <m:t>𝒄𝒍𝒐𝒔𝒆𝒅</m:t>
                        </m:r>
                      </m:sub>
                    </m:sSub>
                  </m:oMath>
                </a14:m>
                <a:r>
                  <a:rPr lang="en-GB" sz="2400" b="1" kern="100" dirty="0">
                    <a:solidFill>
                      <a:srgbClr val="FF0000"/>
                    </a:solidFill>
                    <a:effectLst/>
                    <a:latin typeface="Century Gothic" panose="020B0502020202020204" pitchFamily="34" charset="0"/>
                    <a:ea typeface="Calibri" panose="020F0502020204030204" pitchFamily="34" charset="0"/>
                    <a:cs typeface="Times New Roman" panose="02020603050405020304" pitchFamily="18" charset="0"/>
                  </a:rPr>
                  <a:t> </a:t>
                </a:r>
                <a14:m>
                  <m:oMath xmlns:m="http://schemas.openxmlformats.org/officeDocument/2006/math">
                    <m:r>
                      <a:rPr lang="en-GB" sz="2400" b="1" i="1" kern="100" dirty="0" smtClean="0">
                        <a:solidFill>
                          <a:srgbClr val="FF0000"/>
                        </a:solidFill>
                        <a:effectLst/>
                        <a:latin typeface="Cambria Math" panose="02040503050406030204" pitchFamily="18" charset="0"/>
                        <a:ea typeface="Cambria Math" panose="02040503050406030204" pitchFamily="18" charset="0"/>
                        <a:cs typeface="Times New Roman" panose="02020603050405020304" pitchFamily="18" charset="0"/>
                      </a:rPr>
                      <m:t>+</m:t>
                    </m:r>
                  </m:oMath>
                </a14:m>
                <a:r>
                  <a:rPr lang="en-GB" sz="2400" b="1" kern="100" dirty="0">
                    <a:solidFill>
                      <a:srgbClr val="FF0000"/>
                    </a:solidFill>
                    <a:effectLst/>
                    <a:latin typeface="Century Gothic" panose="020B0502020202020204" pitchFamily="34" charset="0"/>
                    <a:ea typeface="Calibri" panose="020F0502020204030204" pitchFamily="34" charset="0"/>
                    <a:cs typeface="Times New Roman" panose="02020603050405020304" pitchFamily="18" charset="0"/>
                  </a:rPr>
                  <a:t> </a:t>
                </a:r>
                <a14:m>
                  <m:oMath xmlns:m="http://schemas.openxmlformats.org/officeDocument/2006/math">
                    <m:sSub>
                      <m:sSubPr>
                        <m:ctrlPr>
                          <a:rPr lang="en-GB" sz="2400" b="1" i="1" kern="100" dirty="0" smtClean="0">
                            <a:solidFill>
                              <a:srgbClr val="FF0000"/>
                            </a:solidFill>
                            <a:effectLst/>
                            <a:latin typeface="Cambria Math" panose="02040503050406030204" pitchFamily="18" charset="0"/>
                            <a:ea typeface="Calibri" panose="020F0502020204030204" pitchFamily="34" charset="0"/>
                            <a:cs typeface="Times New Roman" panose="02020603050405020304" pitchFamily="18" charset="0"/>
                          </a:rPr>
                        </m:ctrlPr>
                      </m:sSubPr>
                      <m:e>
                        <m:d>
                          <m:dPr>
                            <m:ctrlPr>
                              <a:rPr lang="en-GB" sz="2400" b="1" i="1" kern="100" dirty="0" smtClean="0">
                                <a:solidFill>
                                  <a:srgbClr val="FF0000"/>
                                </a:solidFill>
                                <a:effectLst/>
                                <a:latin typeface="Cambria Math" panose="02040503050406030204" pitchFamily="18" charset="0"/>
                                <a:ea typeface="Calibri" panose="020F0502020204030204" pitchFamily="34" charset="0"/>
                                <a:cs typeface="Times New Roman" panose="02020603050405020304" pitchFamily="18" charset="0"/>
                              </a:rPr>
                            </m:ctrlPr>
                          </m:dPr>
                          <m:e>
                            <m:sSub>
                              <m:sSubPr>
                                <m:ctrlPr>
                                  <a:rPr lang="en-GB" sz="2400" b="1" i="1" kern="100" dirty="0" smtClean="0">
                                    <a:solidFill>
                                      <a:srgbClr val="FF0000"/>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en-GB" sz="2400" b="1" i="1" kern="100" dirty="0" smtClean="0">
                                    <a:solidFill>
                                      <a:srgbClr val="FF0000"/>
                                    </a:solidFill>
                                    <a:effectLst/>
                                    <a:latin typeface="Cambria Math" panose="02040503050406030204" pitchFamily="18" charset="0"/>
                                    <a:ea typeface="Cambria Math" panose="02040503050406030204" pitchFamily="18" charset="0"/>
                                    <a:cs typeface="Times New Roman" panose="02020603050405020304" pitchFamily="18" charset="0"/>
                                  </a:rPr>
                                  <m:t>∆</m:t>
                                </m:r>
                                <m:r>
                                  <a:rPr lang="en-US" sz="2400" b="1" i="1" kern="100" dirty="0" smtClean="0">
                                    <a:solidFill>
                                      <a:srgbClr val="FF0000"/>
                                    </a:solidFill>
                                    <a:effectLst/>
                                    <a:latin typeface="Cambria Math" panose="02040503050406030204" pitchFamily="18" charset="0"/>
                                    <a:ea typeface="Cambria Math" panose="02040503050406030204" pitchFamily="18" charset="0"/>
                                    <a:cs typeface="Times New Roman" panose="02020603050405020304" pitchFamily="18" charset="0"/>
                                  </a:rPr>
                                  <m:t>𝒊</m:t>
                                </m:r>
                              </m:e>
                              <m:sub>
                                <m:r>
                                  <a:rPr lang="en-US" sz="2400" b="1" i="1" kern="100" dirty="0" smtClean="0">
                                    <a:solidFill>
                                      <a:srgbClr val="FF0000"/>
                                    </a:solidFill>
                                    <a:effectLst/>
                                    <a:latin typeface="Cambria Math" panose="02040503050406030204" pitchFamily="18" charset="0"/>
                                    <a:ea typeface="Calibri" panose="020F0502020204030204" pitchFamily="34" charset="0"/>
                                    <a:cs typeface="Times New Roman" panose="02020603050405020304" pitchFamily="18" charset="0"/>
                                  </a:rPr>
                                  <m:t>𝑳</m:t>
                                </m:r>
                              </m:sub>
                            </m:sSub>
                          </m:e>
                        </m:d>
                      </m:e>
                      <m:sub>
                        <m:r>
                          <a:rPr lang="en-US" sz="2400" b="1" i="1" kern="100" dirty="0" smtClean="0">
                            <a:solidFill>
                              <a:srgbClr val="FF0000"/>
                            </a:solidFill>
                            <a:effectLst/>
                            <a:latin typeface="Cambria Math" panose="02040503050406030204" pitchFamily="18" charset="0"/>
                            <a:ea typeface="Calibri" panose="020F0502020204030204" pitchFamily="34" charset="0"/>
                            <a:cs typeface="Times New Roman" panose="02020603050405020304" pitchFamily="18" charset="0"/>
                          </a:rPr>
                          <m:t>𝒐𝒑𝒆𝒏</m:t>
                        </m:r>
                      </m:sub>
                    </m:sSub>
                  </m:oMath>
                </a14:m>
                <a:r>
                  <a:rPr lang="en-GB" sz="2400" b="1" kern="100" dirty="0">
                    <a:solidFill>
                      <a:srgbClr val="FF0000"/>
                    </a:solidFill>
                    <a:effectLst/>
                    <a:latin typeface="Century Gothic" panose="020B0502020202020204" pitchFamily="34" charset="0"/>
                    <a:ea typeface="Calibri" panose="020F0502020204030204" pitchFamily="34" charset="0"/>
                    <a:cs typeface="Times New Roman" panose="02020603050405020304" pitchFamily="18" charset="0"/>
                  </a:rPr>
                  <a:t> = 0</a:t>
                </a:r>
              </a:p>
              <a:p>
                <a:pPr>
                  <a:buClr>
                    <a:schemeClr val="accent2"/>
                  </a:buClr>
                </a:pPr>
                <a:r>
                  <a:rPr lang="en-GB" sz="2400" b="1" kern="100" dirty="0">
                    <a:solidFill>
                      <a:srgbClr val="0000CC"/>
                    </a:solidFill>
                    <a:latin typeface="Century Gothic" panose="020B0502020202020204" pitchFamily="34" charset="0"/>
                    <a:ea typeface="Calibri" panose="020F0502020204030204" pitchFamily="34" charset="0"/>
                    <a:cs typeface="Times New Roman" panose="02020603050405020304" pitchFamily="18" charset="0"/>
                  </a:rPr>
                  <a:t>		</a:t>
                </a:r>
              </a:p>
              <a:p>
                <a:pPr>
                  <a:buClr>
                    <a:schemeClr val="accent2"/>
                  </a:buClr>
                </a:pPr>
                <a:r>
                  <a:rPr lang="en-GB" sz="2400" b="1" kern="100" dirty="0">
                    <a:solidFill>
                      <a:srgbClr val="0000CC"/>
                    </a:solidFill>
                    <a:ea typeface="Cambria Math" panose="02040503050406030204" pitchFamily="18" charset="0"/>
                    <a:cs typeface="Times New Roman" panose="02020603050405020304" pitchFamily="18" charset="0"/>
                  </a:rPr>
                  <a:t>	</a:t>
                </a:r>
                <a14:m>
                  <m:oMath xmlns:m="http://schemas.openxmlformats.org/officeDocument/2006/math">
                    <m:f>
                      <m:fPr>
                        <m:ctrlPr>
                          <a:rPr lang="en-GB" sz="2400" b="1" i="1" kern="100" dirty="0" smtClean="0">
                            <a:solidFill>
                              <a:srgbClr val="0000CC"/>
                            </a:solidFill>
                            <a:latin typeface="Cambria Math" panose="02040503050406030204" pitchFamily="18" charset="0"/>
                            <a:ea typeface="Cambria Math" panose="02040503050406030204" pitchFamily="18" charset="0"/>
                            <a:cs typeface="Times New Roman" panose="02020603050405020304" pitchFamily="18" charset="0"/>
                          </a:rPr>
                        </m:ctrlPr>
                      </m:fPr>
                      <m:num>
                        <m:sSub>
                          <m:sSubPr>
                            <m:ctrlPr>
                              <a:rPr lang="en-GB" sz="2400" b="1" i="1" kern="100" dirty="0" smtClean="0">
                                <a:solidFill>
                                  <a:srgbClr val="0000CC"/>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sz="2400" b="1" i="1" kern="100" dirty="0" smtClean="0">
                                <a:solidFill>
                                  <a:srgbClr val="0000CC"/>
                                </a:solidFill>
                                <a:latin typeface="Cambria Math" panose="02040503050406030204" pitchFamily="18" charset="0"/>
                                <a:ea typeface="Cambria Math" panose="02040503050406030204" pitchFamily="18" charset="0"/>
                                <a:cs typeface="Times New Roman" panose="02020603050405020304" pitchFamily="18" charset="0"/>
                              </a:rPr>
                              <m:t>𝑽</m:t>
                            </m:r>
                          </m:e>
                          <m:sub>
                            <m:r>
                              <a:rPr lang="en-US" sz="2400" b="1" i="1" kern="100" dirty="0" smtClean="0">
                                <a:solidFill>
                                  <a:srgbClr val="0000CC"/>
                                </a:solidFill>
                                <a:latin typeface="Cambria Math" panose="02040503050406030204" pitchFamily="18" charset="0"/>
                                <a:ea typeface="Cambria Math" panose="02040503050406030204" pitchFamily="18" charset="0"/>
                                <a:cs typeface="Times New Roman" panose="02020603050405020304" pitchFamily="18" charset="0"/>
                              </a:rPr>
                              <m:t>𝒔</m:t>
                            </m:r>
                          </m:sub>
                        </m:sSub>
                        <m:r>
                          <a:rPr lang="en-US" sz="2400" b="1" i="1" kern="100" dirty="0" smtClean="0">
                            <a:solidFill>
                              <a:srgbClr val="0000CC"/>
                            </a:solidFill>
                            <a:latin typeface="Cambria Math" panose="02040503050406030204" pitchFamily="18" charset="0"/>
                            <a:ea typeface="Cambria Math" panose="02040503050406030204" pitchFamily="18" charset="0"/>
                            <a:cs typeface="Times New Roman" panose="02020603050405020304" pitchFamily="18" charset="0"/>
                          </a:rPr>
                          <m:t>𝑫𝑻</m:t>
                        </m:r>
                      </m:num>
                      <m:den>
                        <m:r>
                          <a:rPr lang="en-US" sz="2400" b="1" i="1" kern="100" dirty="0" smtClean="0">
                            <a:solidFill>
                              <a:srgbClr val="0000CC"/>
                            </a:solidFill>
                            <a:latin typeface="Cambria Math" panose="02040503050406030204" pitchFamily="18" charset="0"/>
                            <a:ea typeface="Cambria Math" panose="02040503050406030204" pitchFamily="18" charset="0"/>
                            <a:cs typeface="Times New Roman" panose="02020603050405020304" pitchFamily="18" charset="0"/>
                          </a:rPr>
                          <m:t>𝑳</m:t>
                        </m:r>
                      </m:den>
                    </m:f>
                  </m:oMath>
                </a14:m>
                <a:r>
                  <a:rPr lang="en-GB" sz="2400" b="1" kern="100" dirty="0">
                    <a:solidFill>
                      <a:srgbClr val="0000CC"/>
                    </a:solidFill>
                    <a:latin typeface="Century Gothic" panose="020B0502020202020204" pitchFamily="34" charset="0"/>
                    <a:ea typeface="Calibri" panose="020F0502020204030204" pitchFamily="34" charset="0"/>
                    <a:cs typeface="Times New Roman" panose="02020603050405020304" pitchFamily="18" charset="0"/>
                  </a:rPr>
                  <a:t> </a:t>
                </a:r>
                <a14:m>
                  <m:oMath xmlns:m="http://schemas.openxmlformats.org/officeDocument/2006/math">
                    <m:r>
                      <a:rPr lang="en-GB" sz="2400" b="1" i="1" kern="100" dirty="0" smtClean="0">
                        <a:solidFill>
                          <a:srgbClr val="0000CC"/>
                        </a:solidFill>
                        <a:latin typeface="Cambria Math" panose="02040503050406030204" pitchFamily="18" charset="0"/>
                        <a:ea typeface="Cambria Math" panose="02040503050406030204" pitchFamily="18" charset="0"/>
                        <a:cs typeface="Times New Roman" panose="02020603050405020304" pitchFamily="18" charset="0"/>
                      </a:rPr>
                      <m:t>+</m:t>
                    </m:r>
                  </m:oMath>
                </a14:m>
                <a:r>
                  <a:rPr lang="en-GB" sz="2400" b="1" kern="100" dirty="0">
                    <a:solidFill>
                      <a:srgbClr val="0000CC"/>
                    </a:solidFill>
                    <a:latin typeface="Century Gothic" panose="020B0502020202020204" pitchFamily="34" charset="0"/>
                    <a:ea typeface="Calibri" panose="020F0502020204030204" pitchFamily="34" charset="0"/>
                    <a:cs typeface="Times New Roman" panose="02020603050405020304" pitchFamily="18" charset="0"/>
                  </a:rPr>
                  <a:t> </a:t>
                </a:r>
                <a14:m>
                  <m:oMath xmlns:m="http://schemas.openxmlformats.org/officeDocument/2006/math">
                    <m:f>
                      <m:fPr>
                        <m:ctrlPr>
                          <a:rPr lang="en-GB" sz="2400" b="1" i="1" kern="100" dirty="0" smtClean="0">
                            <a:solidFill>
                              <a:srgbClr val="0000CC"/>
                            </a:solidFill>
                            <a:latin typeface="Cambria Math" panose="02040503050406030204" pitchFamily="18" charset="0"/>
                            <a:ea typeface="Calibri" panose="020F0502020204030204" pitchFamily="34" charset="0"/>
                            <a:cs typeface="Times New Roman" panose="02020603050405020304" pitchFamily="18" charset="0"/>
                          </a:rPr>
                        </m:ctrlPr>
                      </m:fPr>
                      <m:num>
                        <m:d>
                          <m:dPr>
                            <m:ctrlPr>
                              <a:rPr lang="en-GB" sz="2400" b="1" i="1" kern="100" dirty="0" smtClean="0">
                                <a:solidFill>
                                  <a:srgbClr val="0000CC"/>
                                </a:solidFill>
                                <a:latin typeface="Cambria Math" panose="02040503050406030204" pitchFamily="18" charset="0"/>
                                <a:ea typeface="Calibri" panose="020F0502020204030204" pitchFamily="34" charset="0"/>
                                <a:cs typeface="Times New Roman" panose="02020603050405020304" pitchFamily="18" charset="0"/>
                              </a:rPr>
                            </m:ctrlPr>
                          </m:dPr>
                          <m:e>
                            <m:sSub>
                              <m:sSubPr>
                                <m:ctrlPr>
                                  <a:rPr lang="en-GB" sz="2400" b="1" i="1" kern="100" dirty="0" smtClean="0">
                                    <a:solidFill>
                                      <a:srgbClr val="0000CC"/>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2400" b="1" i="1" kern="100" dirty="0" smtClean="0">
                                    <a:solidFill>
                                      <a:srgbClr val="0000CC"/>
                                    </a:solidFill>
                                    <a:latin typeface="Cambria Math" panose="02040503050406030204" pitchFamily="18" charset="0"/>
                                    <a:ea typeface="Calibri" panose="020F0502020204030204" pitchFamily="34" charset="0"/>
                                    <a:cs typeface="Times New Roman" panose="02020603050405020304" pitchFamily="18" charset="0"/>
                                  </a:rPr>
                                  <m:t>𝑽</m:t>
                                </m:r>
                              </m:e>
                              <m:sub>
                                <m:r>
                                  <a:rPr lang="en-US" sz="2400" b="1" i="1" kern="100" dirty="0" smtClean="0">
                                    <a:solidFill>
                                      <a:srgbClr val="0000CC"/>
                                    </a:solidFill>
                                    <a:latin typeface="Cambria Math" panose="02040503050406030204" pitchFamily="18" charset="0"/>
                                    <a:ea typeface="Calibri" panose="020F0502020204030204" pitchFamily="34" charset="0"/>
                                    <a:cs typeface="Times New Roman" panose="02020603050405020304" pitchFamily="18" charset="0"/>
                                  </a:rPr>
                                  <m:t>𝒔</m:t>
                                </m:r>
                              </m:sub>
                            </m:sSub>
                            <m:r>
                              <a:rPr lang="en-US" sz="2400" b="1" i="1" kern="100" dirty="0" smtClean="0">
                                <a:solidFill>
                                  <a:srgbClr val="0000CC"/>
                                </a:solidFill>
                                <a:latin typeface="Cambria Math" panose="02040503050406030204" pitchFamily="18" charset="0"/>
                                <a:ea typeface="Calibri" panose="020F0502020204030204" pitchFamily="34" charset="0"/>
                                <a:cs typeface="Times New Roman" panose="02020603050405020304" pitchFamily="18" charset="0"/>
                              </a:rPr>
                              <m:t>−</m:t>
                            </m:r>
                            <m:sSub>
                              <m:sSubPr>
                                <m:ctrlPr>
                                  <a:rPr lang="en-US" sz="2400" b="1" i="1" kern="100" dirty="0" smtClean="0">
                                    <a:solidFill>
                                      <a:srgbClr val="0000CC"/>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2400" b="1" i="1" kern="100" dirty="0" smtClean="0">
                                    <a:solidFill>
                                      <a:srgbClr val="0000CC"/>
                                    </a:solidFill>
                                    <a:latin typeface="Cambria Math" panose="02040503050406030204" pitchFamily="18" charset="0"/>
                                    <a:ea typeface="Calibri" panose="020F0502020204030204" pitchFamily="34" charset="0"/>
                                    <a:cs typeface="Times New Roman" panose="02020603050405020304" pitchFamily="18" charset="0"/>
                                  </a:rPr>
                                  <m:t>𝑽</m:t>
                                </m:r>
                              </m:e>
                              <m:sub>
                                <m:r>
                                  <a:rPr lang="en-US" sz="2400" b="1" i="1" kern="100" dirty="0" smtClean="0">
                                    <a:solidFill>
                                      <a:srgbClr val="0000CC"/>
                                    </a:solidFill>
                                    <a:latin typeface="Cambria Math" panose="02040503050406030204" pitchFamily="18" charset="0"/>
                                    <a:ea typeface="Calibri" panose="020F0502020204030204" pitchFamily="34" charset="0"/>
                                    <a:cs typeface="Times New Roman" panose="02020603050405020304" pitchFamily="18" charset="0"/>
                                  </a:rPr>
                                  <m:t>𝒐</m:t>
                                </m:r>
                              </m:sub>
                            </m:sSub>
                          </m:e>
                        </m:d>
                        <m:d>
                          <m:dPr>
                            <m:ctrlPr>
                              <a:rPr lang="en-GB" sz="2400" b="1" i="1" kern="100" dirty="0" smtClean="0">
                                <a:solidFill>
                                  <a:srgbClr val="0000CC"/>
                                </a:solidFill>
                                <a:latin typeface="Cambria Math" panose="02040503050406030204" pitchFamily="18" charset="0"/>
                                <a:ea typeface="Calibri" panose="020F0502020204030204" pitchFamily="34" charset="0"/>
                                <a:cs typeface="Times New Roman" panose="02020603050405020304" pitchFamily="18" charset="0"/>
                              </a:rPr>
                            </m:ctrlPr>
                          </m:dPr>
                          <m:e>
                            <m:r>
                              <a:rPr lang="en-US" sz="2400" b="1" i="1" kern="100" dirty="0" smtClean="0">
                                <a:solidFill>
                                  <a:srgbClr val="0000CC"/>
                                </a:solidFill>
                                <a:latin typeface="Cambria Math" panose="02040503050406030204" pitchFamily="18" charset="0"/>
                                <a:ea typeface="Calibri" panose="020F0502020204030204" pitchFamily="34" charset="0"/>
                                <a:cs typeface="Times New Roman" panose="02020603050405020304" pitchFamily="18" charset="0"/>
                              </a:rPr>
                              <m:t>𝟏</m:t>
                            </m:r>
                            <m:r>
                              <a:rPr lang="en-US" sz="2400" b="1" i="1" kern="100" dirty="0" smtClean="0">
                                <a:solidFill>
                                  <a:srgbClr val="0000CC"/>
                                </a:solidFill>
                                <a:latin typeface="Cambria Math" panose="02040503050406030204" pitchFamily="18" charset="0"/>
                                <a:ea typeface="Calibri" panose="020F0502020204030204" pitchFamily="34" charset="0"/>
                                <a:cs typeface="Times New Roman" panose="02020603050405020304" pitchFamily="18" charset="0"/>
                              </a:rPr>
                              <m:t>−</m:t>
                            </m:r>
                            <m:r>
                              <a:rPr lang="en-US" sz="2400" b="1" i="1" kern="100" dirty="0" smtClean="0">
                                <a:solidFill>
                                  <a:srgbClr val="0000CC"/>
                                </a:solidFill>
                                <a:latin typeface="Cambria Math" panose="02040503050406030204" pitchFamily="18" charset="0"/>
                                <a:ea typeface="Calibri" panose="020F0502020204030204" pitchFamily="34" charset="0"/>
                                <a:cs typeface="Times New Roman" panose="02020603050405020304" pitchFamily="18" charset="0"/>
                              </a:rPr>
                              <m:t>𝑫</m:t>
                            </m:r>
                          </m:e>
                        </m:d>
                        <m:r>
                          <a:rPr lang="en-US" sz="2400" b="1" i="1" kern="100" dirty="0" smtClean="0">
                            <a:solidFill>
                              <a:srgbClr val="0000CC"/>
                            </a:solidFill>
                            <a:latin typeface="Cambria Math" panose="02040503050406030204" pitchFamily="18" charset="0"/>
                            <a:ea typeface="Calibri" panose="020F0502020204030204" pitchFamily="34" charset="0"/>
                            <a:cs typeface="Times New Roman" panose="02020603050405020304" pitchFamily="18" charset="0"/>
                          </a:rPr>
                          <m:t>𝑻</m:t>
                        </m:r>
                      </m:num>
                      <m:den>
                        <m:r>
                          <a:rPr lang="en-US" sz="2400" b="1" i="1" kern="100" dirty="0" smtClean="0">
                            <a:solidFill>
                              <a:srgbClr val="0000CC"/>
                            </a:solidFill>
                            <a:latin typeface="Cambria Math" panose="02040503050406030204" pitchFamily="18" charset="0"/>
                            <a:ea typeface="Calibri" panose="020F0502020204030204" pitchFamily="34" charset="0"/>
                            <a:cs typeface="Times New Roman" panose="02020603050405020304" pitchFamily="18" charset="0"/>
                          </a:rPr>
                          <m:t>𝑳</m:t>
                        </m:r>
                      </m:den>
                    </m:f>
                    <m:r>
                      <a:rPr lang="en-US" sz="2400" b="1" i="1" kern="100" dirty="0" smtClean="0">
                        <a:solidFill>
                          <a:srgbClr val="0000CC"/>
                        </a:solidFill>
                        <a:latin typeface="Cambria Math" panose="02040503050406030204" pitchFamily="18" charset="0"/>
                        <a:ea typeface="Calibri" panose="020F0502020204030204" pitchFamily="34" charset="0"/>
                        <a:cs typeface="Times New Roman" panose="02020603050405020304" pitchFamily="18" charset="0"/>
                      </a:rPr>
                      <m:t> </m:t>
                    </m:r>
                  </m:oMath>
                </a14:m>
                <a:r>
                  <a:rPr lang="en-GB" sz="2400" b="1" kern="100" dirty="0">
                    <a:solidFill>
                      <a:srgbClr val="0000CC"/>
                    </a:solidFill>
                    <a:latin typeface="Century Gothic" panose="020B0502020202020204" pitchFamily="34" charset="0"/>
                    <a:ea typeface="Calibri" panose="020F0502020204030204" pitchFamily="34" charset="0"/>
                    <a:cs typeface="Times New Roman" panose="02020603050405020304" pitchFamily="18" charset="0"/>
                  </a:rPr>
                  <a:t>= 0  →  </a:t>
                </a:r>
                <a14:m>
                  <m:oMath xmlns:m="http://schemas.openxmlformats.org/officeDocument/2006/math">
                    <m:sSub>
                      <m:sSubPr>
                        <m:ctrlPr>
                          <a:rPr lang="en-GB" sz="2400" b="1" i="1" kern="100" smtClean="0">
                            <a:solidFill>
                              <a:srgbClr val="0000CC"/>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2400" b="1" i="1" kern="100" smtClean="0">
                            <a:solidFill>
                              <a:srgbClr val="0000CC"/>
                            </a:solidFill>
                            <a:latin typeface="Cambria Math" panose="02040503050406030204" pitchFamily="18" charset="0"/>
                            <a:ea typeface="Calibri" panose="020F0502020204030204" pitchFamily="34" charset="0"/>
                            <a:cs typeface="Times New Roman" panose="02020603050405020304" pitchFamily="18" charset="0"/>
                          </a:rPr>
                          <m:t>𝑽</m:t>
                        </m:r>
                      </m:e>
                      <m:sub>
                        <m:r>
                          <a:rPr lang="en-US" sz="2400" b="1" i="1" kern="100" smtClean="0">
                            <a:solidFill>
                              <a:srgbClr val="0000CC"/>
                            </a:solidFill>
                            <a:latin typeface="Cambria Math" panose="02040503050406030204" pitchFamily="18" charset="0"/>
                            <a:ea typeface="Calibri" panose="020F0502020204030204" pitchFamily="34" charset="0"/>
                            <a:cs typeface="Times New Roman" panose="02020603050405020304" pitchFamily="18" charset="0"/>
                          </a:rPr>
                          <m:t>𝒔</m:t>
                        </m:r>
                      </m:sub>
                    </m:sSub>
                    <m:d>
                      <m:dPr>
                        <m:ctrlPr>
                          <a:rPr lang="en-GB" sz="2400" b="1" i="1" kern="100" smtClean="0">
                            <a:solidFill>
                              <a:srgbClr val="0000CC"/>
                            </a:solidFill>
                            <a:latin typeface="Cambria Math" panose="02040503050406030204" pitchFamily="18" charset="0"/>
                            <a:ea typeface="Calibri" panose="020F0502020204030204" pitchFamily="34" charset="0"/>
                            <a:cs typeface="Times New Roman" panose="02020603050405020304" pitchFamily="18" charset="0"/>
                          </a:rPr>
                        </m:ctrlPr>
                      </m:dPr>
                      <m:e>
                        <m:r>
                          <a:rPr lang="en-US" sz="2400" b="1" i="1" kern="100" smtClean="0">
                            <a:solidFill>
                              <a:srgbClr val="0000CC"/>
                            </a:solidFill>
                            <a:latin typeface="Cambria Math" panose="02040503050406030204" pitchFamily="18" charset="0"/>
                            <a:ea typeface="Calibri" panose="020F0502020204030204" pitchFamily="34" charset="0"/>
                            <a:cs typeface="Times New Roman" panose="02020603050405020304" pitchFamily="18" charset="0"/>
                          </a:rPr>
                          <m:t>𝑫</m:t>
                        </m:r>
                        <m:r>
                          <a:rPr lang="en-US" sz="2400" b="1" i="1" kern="100" smtClean="0">
                            <a:solidFill>
                              <a:srgbClr val="0000CC"/>
                            </a:solidFill>
                            <a:latin typeface="Cambria Math" panose="02040503050406030204" pitchFamily="18" charset="0"/>
                            <a:ea typeface="Cambria Math" panose="02040503050406030204" pitchFamily="18" charset="0"/>
                            <a:cs typeface="Times New Roman" panose="02020603050405020304" pitchFamily="18" charset="0"/>
                          </a:rPr>
                          <m:t>+</m:t>
                        </m:r>
                        <m:r>
                          <a:rPr lang="en-US" sz="2400" b="1" i="1" kern="100" smtClean="0">
                            <a:solidFill>
                              <a:srgbClr val="0000CC"/>
                            </a:solidFill>
                            <a:latin typeface="Cambria Math" panose="02040503050406030204" pitchFamily="18" charset="0"/>
                            <a:ea typeface="Cambria Math" panose="02040503050406030204" pitchFamily="18" charset="0"/>
                            <a:cs typeface="Times New Roman" panose="02020603050405020304" pitchFamily="18" charset="0"/>
                          </a:rPr>
                          <m:t>𝟏</m:t>
                        </m:r>
                        <m:r>
                          <a:rPr lang="en-US" sz="2400" b="1" i="1" kern="100" smtClean="0">
                            <a:solidFill>
                              <a:srgbClr val="0000CC"/>
                            </a:solidFill>
                            <a:latin typeface="Cambria Math" panose="02040503050406030204" pitchFamily="18" charset="0"/>
                            <a:ea typeface="Cambria Math" panose="02040503050406030204" pitchFamily="18" charset="0"/>
                            <a:cs typeface="Times New Roman" panose="02020603050405020304" pitchFamily="18" charset="0"/>
                          </a:rPr>
                          <m:t> −</m:t>
                        </m:r>
                        <m:r>
                          <a:rPr lang="en-US" sz="2400" b="1" i="1" kern="100" smtClean="0">
                            <a:solidFill>
                              <a:srgbClr val="0000CC"/>
                            </a:solidFill>
                            <a:latin typeface="Cambria Math" panose="02040503050406030204" pitchFamily="18" charset="0"/>
                            <a:ea typeface="Cambria Math" panose="02040503050406030204" pitchFamily="18" charset="0"/>
                            <a:cs typeface="Times New Roman" panose="02020603050405020304" pitchFamily="18" charset="0"/>
                          </a:rPr>
                          <m:t>𝑫</m:t>
                        </m:r>
                      </m:e>
                    </m:d>
                  </m:oMath>
                </a14:m>
                <a:r>
                  <a:rPr lang="en-GB" sz="2400" b="1" kern="100" dirty="0">
                    <a:solidFill>
                      <a:srgbClr val="0000CC"/>
                    </a:solidFill>
                    <a:latin typeface="Century Gothic" panose="020B0502020202020204" pitchFamily="34" charset="0"/>
                    <a:ea typeface="Calibri" panose="020F0502020204030204" pitchFamily="34" charset="0"/>
                    <a:cs typeface="Times New Roman" panose="02020603050405020304" pitchFamily="18" charset="0"/>
                  </a:rPr>
                  <a:t> </a:t>
                </a:r>
                <a14:m>
                  <m:oMath xmlns:m="http://schemas.openxmlformats.org/officeDocument/2006/math">
                    <m:r>
                      <a:rPr lang="en-GB" sz="2400" b="1" i="1" kern="100" dirty="0" smtClean="0">
                        <a:solidFill>
                          <a:srgbClr val="0000CC"/>
                        </a:solidFill>
                        <a:latin typeface="Cambria Math" panose="02040503050406030204" pitchFamily="18" charset="0"/>
                        <a:ea typeface="Cambria Math" panose="02040503050406030204" pitchFamily="18" charset="0"/>
                        <a:cs typeface="Times New Roman" panose="02020603050405020304" pitchFamily="18" charset="0"/>
                      </a:rPr>
                      <m:t>−</m:t>
                    </m:r>
                  </m:oMath>
                </a14:m>
                <a:r>
                  <a:rPr lang="en-GB" sz="2400" b="1" kern="100" dirty="0">
                    <a:solidFill>
                      <a:srgbClr val="0000CC"/>
                    </a:solidFill>
                    <a:latin typeface="Century Gothic" panose="020B0502020202020204" pitchFamily="34" charset="0"/>
                    <a:ea typeface="Calibri" panose="020F0502020204030204" pitchFamily="34" charset="0"/>
                    <a:cs typeface="Times New Roman" panose="02020603050405020304" pitchFamily="18" charset="0"/>
                  </a:rPr>
                  <a:t> </a:t>
                </a:r>
                <a14:m>
                  <m:oMath xmlns:m="http://schemas.openxmlformats.org/officeDocument/2006/math">
                    <m:sSub>
                      <m:sSubPr>
                        <m:ctrlPr>
                          <a:rPr lang="en-GB" sz="2400" b="1" i="1" kern="100" dirty="0" smtClean="0">
                            <a:solidFill>
                              <a:srgbClr val="0000CC"/>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2400" b="1" i="1" kern="100" dirty="0" smtClean="0">
                            <a:solidFill>
                              <a:srgbClr val="0000CC"/>
                            </a:solidFill>
                            <a:latin typeface="Cambria Math" panose="02040503050406030204" pitchFamily="18" charset="0"/>
                            <a:ea typeface="Calibri" panose="020F0502020204030204" pitchFamily="34" charset="0"/>
                            <a:cs typeface="Times New Roman" panose="02020603050405020304" pitchFamily="18" charset="0"/>
                          </a:rPr>
                          <m:t>𝑽</m:t>
                        </m:r>
                      </m:e>
                      <m:sub>
                        <m:r>
                          <a:rPr lang="en-US" sz="2400" b="1" i="1" kern="100" dirty="0" smtClean="0">
                            <a:solidFill>
                              <a:srgbClr val="0000CC"/>
                            </a:solidFill>
                            <a:latin typeface="Cambria Math" panose="02040503050406030204" pitchFamily="18" charset="0"/>
                            <a:ea typeface="Calibri" panose="020F0502020204030204" pitchFamily="34" charset="0"/>
                            <a:cs typeface="Times New Roman" panose="02020603050405020304" pitchFamily="18" charset="0"/>
                          </a:rPr>
                          <m:t>𝒐</m:t>
                        </m:r>
                      </m:sub>
                    </m:sSub>
                    <m:d>
                      <m:dPr>
                        <m:ctrlPr>
                          <a:rPr lang="en-GB" sz="2400" b="1" i="1" kern="100" dirty="0" smtClean="0">
                            <a:solidFill>
                              <a:srgbClr val="0000CC"/>
                            </a:solidFill>
                            <a:latin typeface="Cambria Math" panose="02040503050406030204" pitchFamily="18" charset="0"/>
                            <a:ea typeface="Calibri" panose="020F0502020204030204" pitchFamily="34" charset="0"/>
                            <a:cs typeface="Times New Roman" panose="02020603050405020304" pitchFamily="18" charset="0"/>
                          </a:rPr>
                        </m:ctrlPr>
                      </m:dPr>
                      <m:e>
                        <m:r>
                          <a:rPr lang="en-US" sz="2400" b="1" i="1" kern="100" dirty="0" smtClean="0">
                            <a:solidFill>
                              <a:srgbClr val="0000CC"/>
                            </a:solidFill>
                            <a:latin typeface="Cambria Math" panose="02040503050406030204" pitchFamily="18" charset="0"/>
                            <a:ea typeface="Calibri" panose="020F0502020204030204" pitchFamily="34" charset="0"/>
                            <a:cs typeface="Times New Roman" panose="02020603050405020304" pitchFamily="18" charset="0"/>
                          </a:rPr>
                          <m:t>𝟏</m:t>
                        </m:r>
                        <m:r>
                          <a:rPr lang="en-US" sz="2400" b="1" i="1" kern="100" dirty="0" smtClean="0">
                            <a:solidFill>
                              <a:srgbClr val="0000CC"/>
                            </a:solidFill>
                            <a:latin typeface="Cambria Math" panose="02040503050406030204" pitchFamily="18" charset="0"/>
                            <a:ea typeface="Calibri" panose="020F0502020204030204" pitchFamily="34" charset="0"/>
                            <a:cs typeface="Times New Roman" panose="02020603050405020304" pitchFamily="18" charset="0"/>
                          </a:rPr>
                          <m:t>−</m:t>
                        </m:r>
                        <m:r>
                          <a:rPr lang="en-US" sz="2400" b="1" i="1" kern="100" dirty="0" smtClean="0">
                            <a:solidFill>
                              <a:srgbClr val="0000CC"/>
                            </a:solidFill>
                            <a:latin typeface="Cambria Math" panose="02040503050406030204" pitchFamily="18" charset="0"/>
                            <a:ea typeface="Calibri" panose="020F0502020204030204" pitchFamily="34" charset="0"/>
                            <a:cs typeface="Times New Roman" panose="02020603050405020304" pitchFamily="18" charset="0"/>
                          </a:rPr>
                          <m:t>𝑫</m:t>
                        </m:r>
                      </m:e>
                    </m:d>
                  </m:oMath>
                </a14:m>
                <a:r>
                  <a:rPr lang="en-GB" sz="2400" b="1" kern="100" dirty="0">
                    <a:solidFill>
                      <a:srgbClr val="0000CC"/>
                    </a:solidFill>
                    <a:latin typeface="Century Gothic" panose="020B0502020202020204" pitchFamily="34" charset="0"/>
                    <a:ea typeface="Calibri" panose="020F0502020204030204" pitchFamily="34" charset="0"/>
                    <a:cs typeface="Times New Roman" panose="02020603050405020304" pitchFamily="18" charset="0"/>
                  </a:rPr>
                  <a:t> = 0</a:t>
                </a:r>
              </a:p>
              <a:p>
                <a:pPr>
                  <a:buClr>
                    <a:schemeClr val="accent2"/>
                  </a:buClr>
                </a:pPr>
                <a:br>
                  <a:rPr lang="en-GB" sz="2400" b="1" kern="100" dirty="0">
                    <a:solidFill>
                      <a:srgbClr val="0000CC"/>
                    </a:solidFill>
                    <a:latin typeface="Century Gothic" panose="020B0502020202020204" pitchFamily="34" charset="0"/>
                    <a:ea typeface="Calibri" panose="020F0502020204030204" pitchFamily="34" charset="0"/>
                    <a:cs typeface="Times New Roman" panose="02020603050405020304" pitchFamily="18" charset="0"/>
                  </a:rPr>
                </a:br>
                <a:r>
                  <a:rPr lang="en-GB" sz="2400" b="1" kern="100" dirty="0">
                    <a:solidFill>
                      <a:srgbClr val="0000CC"/>
                    </a:solidFill>
                    <a:latin typeface="Century Gothic" panose="020B0502020202020204" pitchFamily="34" charset="0"/>
                    <a:ea typeface="Calibri" panose="020F0502020204030204" pitchFamily="34" charset="0"/>
                    <a:cs typeface="Times New Roman" panose="02020603050405020304" pitchFamily="18" charset="0"/>
                  </a:rPr>
                  <a:t>	                               </a:t>
                </a:r>
              </a:p>
              <a:p>
                <a:pPr>
                  <a:buClr>
                    <a:schemeClr val="accent2"/>
                  </a:buClr>
                </a:pPr>
                <a:endParaRPr lang="en-GB" sz="2400" b="1" kern="100" dirty="0">
                  <a:solidFill>
                    <a:srgbClr val="0000CC"/>
                  </a:solidFill>
                  <a:effectLst/>
                  <a:latin typeface="Century Gothic" panose="020B0502020202020204" pitchFamily="34" charset="0"/>
                  <a:ea typeface="Calibri" panose="020F0502020204030204" pitchFamily="34" charset="0"/>
                  <a:cs typeface="Times New Roman" panose="02020603050405020304" pitchFamily="18" charset="0"/>
                </a:endParaRPr>
              </a:p>
            </p:txBody>
          </p:sp>
        </mc:Choice>
        <mc:Fallback xmlns="">
          <p:sp>
            <p:nvSpPr>
              <p:cNvPr id="6" name="TextBox 5">
                <a:extLst>
                  <a:ext uri="{FF2B5EF4-FFF2-40B4-BE49-F238E27FC236}">
                    <a16:creationId xmlns:a16="http://schemas.microsoft.com/office/drawing/2014/main" id="{6BAA1F11-5BEF-4D80-964F-A7332E36BFA0}"/>
                  </a:ext>
                </a:extLst>
              </p:cNvPr>
              <p:cNvSpPr txBox="1">
                <a:spLocks noRot="1" noChangeAspect="1" noMove="1" noResize="1" noEditPoints="1" noAdjustHandles="1" noChangeArrowheads="1" noChangeShapeType="1" noTextEdit="1"/>
              </p:cNvSpPr>
              <p:nvPr/>
            </p:nvSpPr>
            <p:spPr>
              <a:xfrm>
                <a:off x="145914" y="565502"/>
                <a:ext cx="11896929" cy="6047938"/>
              </a:xfrm>
              <a:prstGeom prst="rect">
                <a:avLst/>
              </a:prstGeom>
              <a:blipFill>
                <a:blip r:embed="rId2"/>
                <a:stretch>
                  <a:fillRect l="-665" t="-704"/>
                </a:stretch>
              </a:blipFill>
              <a:ln>
                <a:solidFill>
                  <a:srgbClr val="FF0066"/>
                </a:solidFill>
              </a:ln>
            </p:spPr>
            <p:txBody>
              <a:bodyPr/>
              <a:lstStyle/>
              <a:p>
                <a:r>
                  <a:rPr lang="en-US">
                    <a:noFill/>
                  </a:rPr>
                  <a:t> </a:t>
                </a:r>
              </a:p>
            </p:txBody>
          </p:sp>
        </mc:Fallback>
      </mc:AlternateContent>
      <p:sp>
        <p:nvSpPr>
          <p:cNvPr id="2" name="TextBox 1">
            <a:extLst>
              <a:ext uri="{FF2B5EF4-FFF2-40B4-BE49-F238E27FC236}">
                <a16:creationId xmlns:a16="http://schemas.microsoft.com/office/drawing/2014/main" id="{1BD8016C-B677-4BEB-86C7-5F4D5DE2B249}"/>
              </a:ext>
            </a:extLst>
          </p:cNvPr>
          <p:cNvSpPr txBox="1"/>
          <p:nvPr/>
        </p:nvSpPr>
        <p:spPr>
          <a:xfrm>
            <a:off x="5637178" y="3570051"/>
            <a:ext cx="65" cy="276999"/>
          </a:xfrm>
          <a:prstGeom prst="rect">
            <a:avLst/>
          </a:prstGeom>
          <a:noFill/>
        </p:spPr>
        <p:txBody>
          <a:bodyPr wrap="none" lIns="0" tIns="0" rIns="0" bIns="0" rtlCol="0">
            <a:spAutoFit/>
          </a:bodyPr>
          <a:lstStyle/>
          <a:p>
            <a:endParaRPr lang="en-US" dirty="0"/>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C13FB817-4CF4-4DB8-94E9-3F500D94CAC0}"/>
                  </a:ext>
                </a:extLst>
              </p:cNvPr>
              <p:cNvSpPr txBox="1"/>
              <p:nvPr/>
            </p:nvSpPr>
            <p:spPr>
              <a:xfrm>
                <a:off x="1814208" y="5692850"/>
                <a:ext cx="1493198" cy="609077"/>
              </a:xfrm>
              <a:prstGeom prst="rect">
                <a:avLst/>
              </a:prstGeom>
              <a:solidFill>
                <a:srgbClr val="FF3386"/>
              </a:solidFill>
            </p:spPr>
            <p:txBody>
              <a:bodyPr wrap="square" rtlCol="0">
                <a:spAutoFit/>
              </a:bodyPr>
              <a:lstStyle/>
              <a:p>
                <a:pPr/>
                <a14:m>
                  <m:oMathPara xmlns:m="http://schemas.openxmlformats.org/officeDocument/2006/math">
                    <m:oMathParaPr>
                      <m:jc m:val="left"/>
                    </m:oMathParaPr>
                    <m:oMath xmlns:m="http://schemas.openxmlformats.org/officeDocument/2006/math">
                      <m:sSub>
                        <m:sSubPr>
                          <m:ctrlPr>
                            <a:rPr lang="en-US" b="1" i="1" smtClean="0">
                              <a:solidFill>
                                <a:srgbClr val="0000CC"/>
                              </a:solidFill>
                              <a:latin typeface="Cambria Math" panose="02040503050406030204" pitchFamily="18" charset="0"/>
                            </a:rPr>
                          </m:ctrlPr>
                        </m:sSubPr>
                        <m:e>
                          <m:r>
                            <a:rPr lang="en-US" b="1" i="1" smtClean="0">
                              <a:solidFill>
                                <a:srgbClr val="0000CC"/>
                              </a:solidFill>
                              <a:latin typeface="Cambria Math" panose="02040503050406030204" pitchFamily="18" charset="0"/>
                            </a:rPr>
                            <m:t>𝑽</m:t>
                          </m:r>
                        </m:e>
                        <m:sub>
                          <m:r>
                            <a:rPr lang="en-US" b="1" i="1" smtClean="0">
                              <a:solidFill>
                                <a:srgbClr val="0000CC"/>
                              </a:solidFill>
                              <a:latin typeface="Cambria Math" panose="02040503050406030204" pitchFamily="18" charset="0"/>
                            </a:rPr>
                            <m:t>𝒐</m:t>
                          </m:r>
                        </m:sub>
                      </m:sSub>
                      <m:r>
                        <a:rPr lang="en-US" b="1" i="1" smtClean="0">
                          <a:solidFill>
                            <a:srgbClr val="0000CC"/>
                          </a:solidFill>
                          <a:latin typeface="Cambria Math" panose="02040503050406030204" pitchFamily="18" charset="0"/>
                        </a:rPr>
                        <m:t>= </m:t>
                      </m:r>
                      <m:f>
                        <m:fPr>
                          <m:ctrlPr>
                            <a:rPr lang="en-US" b="1" i="1" smtClean="0">
                              <a:solidFill>
                                <a:srgbClr val="0000CC"/>
                              </a:solidFill>
                              <a:latin typeface="Cambria Math" panose="02040503050406030204" pitchFamily="18" charset="0"/>
                            </a:rPr>
                          </m:ctrlPr>
                        </m:fPr>
                        <m:num>
                          <m:sSub>
                            <m:sSubPr>
                              <m:ctrlPr>
                                <a:rPr lang="en-US" b="1" i="1" smtClean="0">
                                  <a:solidFill>
                                    <a:srgbClr val="0000CC"/>
                                  </a:solidFill>
                                  <a:latin typeface="Cambria Math" panose="02040503050406030204" pitchFamily="18" charset="0"/>
                                </a:rPr>
                              </m:ctrlPr>
                            </m:sSubPr>
                            <m:e>
                              <m:r>
                                <a:rPr lang="en-US" b="1" i="1" smtClean="0">
                                  <a:solidFill>
                                    <a:srgbClr val="0000CC"/>
                                  </a:solidFill>
                                  <a:latin typeface="Cambria Math" panose="02040503050406030204" pitchFamily="18" charset="0"/>
                                </a:rPr>
                                <m:t>𝑽</m:t>
                              </m:r>
                            </m:e>
                            <m:sub>
                              <m:r>
                                <a:rPr lang="en-US" b="1" i="1" smtClean="0">
                                  <a:solidFill>
                                    <a:srgbClr val="0000CC"/>
                                  </a:solidFill>
                                  <a:latin typeface="Cambria Math" panose="02040503050406030204" pitchFamily="18" charset="0"/>
                                </a:rPr>
                                <m:t>𝒔</m:t>
                              </m:r>
                            </m:sub>
                          </m:sSub>
                        </m:num>
                        <m:den>
                          <m:r>
                            <a:rPr lang="en-US" b="1" i="1" smtClean="0">
                              <a:solidFill>
                                <a:srgbClr val="0000CC"/>
                              </a:solidFill>
                              <a:latin typeface="Cambria Math" panose="02040503050406030204" pitchFamily="18" charset="0"/>
                            </a:rPr>
                            <m:t>𝟏</m:t>
                          </m:r>
                          <m:r>
                            <a:rPr lang="en-US" b="1" i="1" smtClean="0">
                              <a:solidFill>
                                <a:srgbClr val="0000CC"/>
                              </a:solidFill>
                              <a:latin typeface="Cambria Math" panose="02040503050406030204" pitchFamily="18" charset="0"/>
                            </a:rPr>
                            <m:t> −</m:t>
                          </m:r>
                          <m:r>
                            <a:rPr lang="en-US" b="1" i="1" smtClean="0">
                              <a:solidFill>
                                <a:srgbClr val="0000CC"/>
                              </a:solidFill>
                              <a:latin typeface="Cambria Math" panose="02040503050406030204" pitchFamily="18" charset="0"/>
                            </a:rPr>
                            <m:t>𝑫</m:t>
                          </m:r>
                        </m:den>
                      </m:f>
                    </m:oMath>
                  </m:oMathPara>
                </a14:m>
                <a:endParaRPr lang="en-US" b="1" dirty="0"/>
              </a:p>
            </p:txBody>
          </p:sp>
        </mc:Choice>
        <mc:Fallback xmlns="">
          <p:sp>
            <p:nvSpPr>
              <p:cNvPr id="3" name="TextBox 2">
                <a:extLst>
                  <a:ext uri="{FF2B5EF4-FFF2-40B4-BE49-F238E27FC236}">
                    <a16:creationId xmlns:a16="http://schemas.microsoft.com/office/drawing/2014/main" id="{C13FB817-4CF4-4DB8-94E9-3F500D94CAC0}"/>
                  </a:ext>
                </a:extLst>
              </p:cNvPr>
              <p:cNvSpPr txBox="1">
                <a:spLocks noRot="1" noChangeAspect="1" noMove="1" noResize="1" noEditPoints="1" noAdjustHandles="1" noChangeArrowheads="1" noChangeShapeType="1" noTextEdit="1"/>
              </p:cNvSpPr>
              <p:nvPr/>
            </p:nvSpPr>
            <p:spPr>
              <a:xfrm>
                <a:off x="1814208" y="5692850"/>
                <a:ext cx="1493198" cy="609077"/>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7068ABB7-E64F-40F8-B0A4-CE20830C9115}"/>
                  </a:ext>
                </a:extLst>
              </p:cNvPr>
              <p:cNvSpPr txBox="1"/>
              <p:nvPr/>
            </p:nvSpPr>
            <p:spPr>
              <a:xfrm>
                <a:off x="4907604" y="1795403"/>
                <a:ext cx="2786976" cy="508537"/>
              </a:xfrm>
              <a:prstGeom prst="rect">
                <a:avLst/>
              </a:prstGeom>
              <a:solidFill>
                <a:srgbClr val="FF3386"/>
              </a:solidFill>
            </p:spPr>
            <p:txBody>
              <a:bodyPr wrap="square" rtlCol="0">
                <a:spAutoFit/>
              </a:bodyPr>
              <a:lstStyle/>
              <a:p>
                <a14:m>
                  <m:oMath xmlns:m="http://schemas.openxmlformats.org/officeDocument/2006/math">
                    <m:sSub>
                      <m:sSubPr>
                        <m:ctrlPr>
                          <a:rPr lang="en-US" b="1" i="1" smtClean="0">
                            <a:solidFill>
                              <a:srgbClr val="0000CC"/>
                            </a:solidFill>
                            <a:latin typeface="Cambria Math" panose="02040503050406030204" pitchFamily="18" charset="0"/>
                          </a:rPr>
                        </m:ctrlPr>
                      </m:sSubPr>
                      <m:e>
                        <m:d>
                          <m:dPr>
                            <m:ctrlPr>
                              <a:rPr lang="en-US" b="1" i="1" smtClean="0">
                                <a:solidFill>
                                  <a:srgbClr val="0000CC"/>
                                </a:solidFill>
                                <a:latin typeface="Cambria Math" panose="02040503050406030204" pitchFamily="18" charset="0"/>
                              </a:rPr>
                            </m:ctrlPr>
                          </m:dPr>
                          <m:e>
                            <m:sSub>
                              <m:sSubPr>
                                <m:ctrlPr>
                                  <a:rPr lang="en-US" b="1" i="1" smtClean="0">
                                    <a:solidFill>
                                      <a:srgbClr val="0000CC"/>
                                    </a:solidFill>
                                    <a:latin typeface="Cambria Math" panose="02040503050406030204" pitchFamily="18" charset="0"/>
                                  </a:rPr>
                                </m:ctrlPr>
                              </m:sSubPr>
                              <m:e>
                                <m:r>
                                  <a:rPr lang="en-US" b="1" i="1" smtClean="0">
                                    <a:solidFill>
                                      <a:srgbClr val="0000CC"/>
                                    </a:solidFill>
                                    <a:latin typeface="Cambria Math" panose="02040503050406030204" pitchFamily="18" charset="0"/>
                                    <a:ea typeface="Cambria Math" panose="02040503050406030204" pitchFamily="18" charset="0"/>
                                  </a:rPr>
                                  <m:t>∆</m:t>
                                </m:r>
                                <m:r>
                                  <a:rPr lang="en-US" b="1" i="1" smtClean="0">
                                    <a:solidFill>
                                      <a:srgbClr val="0000CC"/>
                                    </a:solidFill>
                                    <a:latin typeface="Cambria Math" panose="02040503050406030204" pitchFamily="18" charset="0"/>
                                    <a:ea typeface="Cambria Math" panose="02040503050406030204" pitchFamily="18" charset="0"/>
                                  </a:rPr>
                                  <m:t>𝒊</m:t>
                                </m:r>
                              </m:e>
                              <m:sub>
                                <m:r>
                                  <a:rPr lang="en-US" b="1" i="1" smtClean="0">
                                    <a:solidFill>
                                      <a:srgbClr val="0000CC"/>
                                    </a:solidFill>
                                    <a:latin typeface="Cambria Math" panose="02040503050406030204" pitchFamily="18" charset="0"/>
                                  </a:rPr>
                                  <m:t>𝑳</m:t>
                                </m:r>
                              </m:sub>
                            </m:sSub>
                          </m:e>
                        </m:d>
                      </m:e>
                      <m:sub>
                        <m:r>
                          <a:rPr lang="en-US" b="1" i="1" smtClean="0">
                            <a:solidFill>
                              <a:srgbClr val="0000CC"/>
                            </a:solidFill>
                            <a:latin typeface="Cambria Math" panose="02040503050406030204" pitchFamily="18" charset="0"/>
                          </a:rPr>
                          <m:t>𝒐𝒑𝒆𝒏</m:t>
                        </m:r>
                      </m:sub>
                    </m:sSub>
                  </m:oMath>
                </a14:m>
                <a:r>
                  <a:rPr lang="en-US" b="1" dirty="0">
                    <a:solidFill>
                      <a:srgbClr val="0000CC"/>
                    </a:solidFill>
                  </a:rPr>
                  <a:t> = </a:t>
                </a:r>
                <a14:m>
                  <m:oMath xmlns:m="http://schemas.openxmlformats.org/officeDocument/2006/math">
                    <m:f>
                      <m:fPr>
                        <m:ctrlPr>
                          <a:rPr lang="en-US" b="1" i="1" smtClean="0">
                            <a:solidFill>
                              <a:srgbClr val="0000CC"/>
                            </a:solidFill>
                            <a:latin typeface="Cambria Math" panose="02040503050406030204" pitchFamily="18" charset="0"/>
                          </a:rPr>
                        </m:ctrlPr>
                      </m:fPr>
                      <m:num>
                        <m:d>
                          <m:dPr>
                            <m:ctrlPr>
                              <a:rPr lang="en-US" b="1" i="1" smtClean="0">
                                <a:solidFill>
                                  <a:srgbClr val="0000CC"/>
                                </a:solidFill>
                                <a:latin typeface="Cambria Math" panose="02040503050406030204" pitchFamily="18" charset="0"/>
                              </a:rPr>
                            </m:ctrlPr>
                          </m:dPr>
                          <m:e>
                            <m:sSub>
                              <m:sSubPr>
                                <m:ctrlPr>
                                  <a:rPr lang="en-US" b="1" i="1" smtClean="0">
                                    <a:solidFill>
                                      <a:srgbClr val="0000CC"/>
                                    </a:solidFill>
                                    <a:latin typeface="Cambria Math" panose="02040503050406030204" pitchFamily="18" charset="0"/>
                                  </a:rPr>
                                </m:ctrlPr>
                              </m:sSubPr>
                              <m:e>
                                <m:r>
                                  <a:rPr lang="en-US" b="1" i="1" smtClean="0">
                                    <a:solidFill>
                                      <a:srgbClr val="0000CC"/>
                                    </a:solidFill>
                                    <a:latin typeface="Cambria Math" panose="02040503050406030204" pitchFamily="18" charset="0"/>
                                  </a:rPr>
                                  <m:t>𝑽</m:t>
                                </m:r>
                              </m:e>
                              <m:sub>
                                <m:r>
                                  <a:rPr lang="en-US" b="1" i="1" smtClean="0">
                                    <a:solidFill>
                                      <a:srgbClr val="0000CC"/>
                                    </a:solidFill>
                                    <a:latin typeface="Cambria Math" panose="02040503050406030204" pitchFamily="18" charset="0"/>
                                  </a:rPr>
                                  <m:t>𝒔</m:t>
                                </m:r>
                              </m:sub>
                            </m:sSub>
                            <m:r>
                              <a:rPr lang="en-US" b="1" i="1" smtClean="0">
                                <a:solidFill>
                                  <a:srgbClr val="0000CC"/>
                                </a:solidFill>
                                <a:latin typeface="Cambria Math" panose="02040503050406030204" pitchFamily="18" charset="0"/>
                              </a:rPr>
                              <m:t> − </m:t>
                            </m:r>
                            <m:sSub>
                              <m:sSubPr>
                                <m:ctrlPr>
                                  <a:rPr lang="en-US" b="1" i="1" smtClean="0">
                                    <a:solidFill>
                                      <a:srgbClr val="0000CC"/>
                                    </a:solidFill>
                                    <a:latin typeface="Cambria Math" panose="02040503050406030204" pitchFamily="18" charset="0"/>
                                  </a:rPr>
                                </m:ctrlPr>
                              </m:sSubPr>
                              <m:e>
                                <m:r>
                                  <a:rPr lang="en-US" b="1" i="1" smtClean="0">
                                    <a:solidFill>
                                      <a:srgbClr val="0000CC"/>
                                    </a:solidFill>
                                    <a:latin typeface="Cambria Math" panose="02040503050406030204" pitchFamily="18" charset="0"/>
                                  </a:rPr>
                                  <m:t>𝑽</m:t>
                                </m:r>
                              </m:e>
                              <m:sub>
                                <m:r>
                                  <a:rPr lang="en-US" b="1" i="1" smtClean="0">
                                    <a:solidFill>
                                      <a:srgbClr val="0000CC"/>
                                    </a:solidFill>
                                    <a:latin typeface="Cambria Math" panose="02040503050406030204" pitchFamily="18" charset="0"/>
                                  </a:rPr>
                                  <m:t>𝒐</m:t>
                                </m:r>
                              </m:sub>
                            </m:sSub>
                          </m:e>
                        </m:d>
                        <m:d>
                          <m:dPr>
                            <m:ctrlPr>
                              <a:rPr lang="en-US" b="1" i="1" smtClean="0">
                                <a:solidFill>
                                  <a:srgbClr val="0000CC"/>
                                </a:solidFill>
                                <a:latin typeface="Cambria Math" panose="02040503050406030204" pitchFamily="18" charset="0"/>
                              </a:rPr>
                            </m:ctrlPr>
                          </m:dPr>
                          <m:e>
                            <m:r>
                              <a:rPr lang="en-US" b="1" i="1" smtClean="0">
                                <a:solidFill>
                                  <a:srgbClr val="0000CC"/>
                                </a:solidFill>
                                <a:latin typeface="Cambria Math" panose="02040503050406030204" pitchFamily="18" charset="0"/>
                              </a:rPr>
                              <m:t>𝟏</m:t>
                            </m:r>
                            <m:r>
                              <a:rPr lang="en-US" b="1" i="1" smtClean="0">
                                <a:solidFill>
                                  <a:srgbClr val="0000CC"/>
                                </a:solidFill>
                                <a:latin typeface="Cambria Math" panose="02040503050406030204" pitchFamily="18" charset="0"/>
                              </a:rPr>
                              <m:t>−</m:t>
                            </m:r>
                            <m:r>
                              <a:rPr lang="en-US" b="1" i="1" smtClean="0">
                                <a:solidFill>
                                  <a:srgbClr val="0000CC"/>
                                </a:solidFill>
                                <a:latin typeface="Cambria Math" panose="02040503050406030204" pitchFamily="18" charset="0"/>
                              </a:rPr>
                              <m:t>𝑫</m:t>
                            </m:r>
                          </m:e>
                        </m:d>
                        <m:r>
                          <a:rPr lang="en-US" b="1" i="1" smtClean="0">
                            <a:solidFill>
                              <a:srgbClr val="0000CC"/>
                            </a:solidFill>
                            <a:latin typeface="Cambria Math" panose="02040503050406030204" pitchFamily="18" charset="0"/>
                          </a:rPr>
                          <m:t>𝑻</m:t>
                        </m:r>
                      </m:num>
                      <m:den>
                        <m:r>
                          <a:rPr lang="en-US" b="1" i="1" smtClean="0">
                            <a:solidFill>
                              <a:srgbClr val="0000CC"/>
                            </a:solidFill>
                            <a:latin typeface="Cambria Math" panose="02040503050406030204" pitchFamily="18" charset="0"/>
                          </a:rPr>
                          <m:t>𝑳</m:t>
                        </m:r>
                      </m:den>
                    </m:f>
                  </m:oMath>
                </a14:m>
                <a:endParaRPr lang="en-US" b="1" dirty="0"/>
              </a:p>
            </p:txBody>
          </p:sp>
        </mc:Choice>
        <mc:Fallback xmlns="">
          <p:sp>
            <p:nvSpPr>
              <p:cNvPr id="9" name="TextBox 8">
                <a:extLst>
                  <a:ext uri="{FF2B5EF4-FFF2-40B4-BE49-F238E27FC236}">
                    <a16:creationId xmlns:a16="http://schemas.microsoft.com/office/drawing/2014/main" id="{7068ABB7-E64F-40F8-B0A4-CE20830C9115}"/>
                  </a:ext>
                </a:extLst>
              </p:cNvPr>
              <p:cNvSpPr txBox="1">
                <a:spLocks noRot="1" noChangeAspect="1" noMove="1" noResize="1" noEditPoints="1" noAdjustHandles="1" noChangeArrowheads="1" noChangeShapeType="1" noTextEdit="1"/>
              </p:cNvSpPr>
              <p:nvPr/>
            </p:nvSpPr>
            <p:spPr>
              <a:xfrm>
                <a:off x="4907604" y="1795403"/>
                <a:ext cx="2786976" cy="508537"/>
              </a:xfrm>
              <a:prstGeom prst="rect">
                <a:avLst/>
              </a:prstGeom>
              <a:blipFill>
                <a:blip r:embed="rId4"/>
                <a:stretch>
                  <a:fillRect b="-7229"/>
                </a:stretch>
              </a:blipFill>
            </p:spPr>
            <p:txBody>
              <a:bodyPr/>
              <a:lstStyle/>
              <a:p>
                <a:r>
                  <a:rPr lang="en-US">
                    <a:noFill/>
                  </a:rPr>
                  <a:t> </a:t>
                </a:r>
              </a:p>
            </p:txBody>
          </p:sp>
        </mc:Fallback>
      </mc:AlternateContent>
    </p:spTree>
    <p:extLst>
      <p:ext uri="{BB962C8B-B14F-4D97-AF65-F5344CB8AC3E}">
        <p14:creationId xmlns:p14="http://schemas.microsoft.com/office/powerpoint/2010/main" val="322095589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6">
            <a:extLst>
              <a:ext uri="{FF2B5EF4-FFF2-40B4-BE49-F238E27FC236}">
                <a16:creationId xmlns:a16="http://schemas.microsoft.com/office/drawing/2014/main" id="{56080804-F19F-41A7-8595-943961648C5E}"/>
              </a:ext>
            </a:extLst>
          </p:cNvPr>
          <p:cNvSpPr>
            <a:spLocks noGrp="1"/>
          </p:cNvSpPr>
          <p:nvPr>
            <p:ph type="sldNum" sz="quarter" idx="12"/>
          </p:nvPr>
        </p:nvSpPr>
        <p:spPr>
          <a:xfrm>
            <a:off x="8610600" y="6441692"/>
            <a:ext cx="2743200" cy="370027"/>
          </a:xfrm>
        </p:spPr>
        <p:txBody>
          <a:bodyPr/>
          <a:lstStyle/>
          <a:p>
            <a:fld id="{F4801FD5-11B4-DE43-ACA2-E85EEB9A6F9C}" type="slidenum">
              <a:rPr lang="en-US" smtClean="0">
                <a:latin typeface="Garamond" panose="02020404030301010803" pitchFamily="18" charset="0"/>
              </a:rPr>
              <a:t>6</a:t>
            </a:fld>
            <a:endParaRPr lang="en-US">
              <a:latin typeface="Garamond" panose="02020404030301010803" pitchFamily="18" charset="0"/>
            </a:endParaRPr>
          </a:p>
        </p:txBody>
      </p:sp>
      <p:sp>
        <p:nvSpPr>
          <p:cNvPr id="5" name="Title 1">
            <a:extLst>
              <a:ext uri="{FF2B5EF4-FFF2-40B4-BE49-F238E27FC236}">
                <a16:creationId xmlns:a16="http://schemas.microsoft.com/office/drawing/2014/main" id="{4710AE4B-0DB8-4451-B9E4-10BAE11B4D3A}"/>
              </a:ext>
            </a:extLst>
          </p:cNvPr>
          <p:cNvSpPr>
            <a:spLocks noGrp="1"/>
          </p:cNvSpPr>
          <p:nvPr>
            <p:ph type="title"/>
          </p:nvPr>
        </p:nvSpPr>
        <p:spPr>
          <a:xfrm>
            <a:off x="3157348" y="-40404"/>
            <a:ext cx="6026397" cy="558382"/>
          </a:xfrm>
        </p:spPr>
        <p:txBody>
          <a:bodyPr>
            <a:noAutofit/>
          </a:bodyPr>
          <a:lstStyle/>
          <a:p>
            <a:pPr algn="ctr"/>
            <a:r>
              <a:rPr lang="en-US" sz="3200" b="1" u="sng" dirty="0">
                <a:solidFill>
                  <a:srgbClr val="FF3386"/>
                </a:solidFill>
                <a:latin typeface="Century Gothic" panose="020B0502020202020204" pitchFamily="34" charset="0"/>
                <a:cs typeface="Helvetica"/>
              </a:rPr>
              <a:t>BOOST CONVERTER</a:t>
            </a:r>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6BAA1F11-5BEF-4D80-964F-A7332E36BFA0}"/>
                  </a:ext>
                </a:extLst>
              </p:cNvPr>
              <p:cNvSpPr txBox="1"/>
              <p:nvPr/>
            </p:nvSpPr>
            <p:spPr>
              <a:xfrm>
                <a:off x="145914" y="565502"/>
                <a:ext cx="11896929" cy="8323497"/>
              </a:xfrm>
              <a:prstGeom prst="rect">
                <a:avLst/>
              </a:prstGeom>
              <a:noFill/>
              <a:ln>
                <a:solidFill>
                  <a:srgbClr val="FF0066"/>
                </a:solidFill>
              </a:ln>
            </p:spPr>
            <p:txBody>
              <a:bodyPr wrap="square" rtlCol="0">
                <a:spAutoFit/>
              </a:bodyPr>
              <a:lstStyle/>
              <a:p>
                <a:pPr marL="342900" indent="-342900">
                  <a:buClr>
                    <a:schemeClr val="accent2"/>
                  </a:buClr>
                  <a:buFont typeface="Arial" panose="020B0604020202020204" pitchFamily="34" charset="0"/>
                  <a:buChar char="•"/>
                </a:pPr>
                <a:r>
                  <a:rPr lang="en-GB" sz="2400" b="1" kern="100" dirty="0">
                    <a:solidFill>
                      <a:srgbClr val="0000CC"/>
                    </a:solidFill>
                    <a:effectLst/>
                    <a:latin typeface="Century Gothic" panose="020B0502020202020204" pitchFamily="34" charset="0"/>
                    <a:ea typeface="Calibri" panose="020F0502020204030204" pitchFamily="34" charset="0"/>
                    <a:cs typeface="Times New Roman" panose="02020603050405020304" pitchFamily="18" charset="0"/>
                  </a:rPr>
                  <a:t>The average power supplied by the source must be the same as the average power absorbed by the load resistor.</a:t>
                </a:r>
              </a:p>
              <a:p>
                <a:pPr marL="342900" indent="-342900">
                  <a:buClr>
                    <a:schemeClr val="accent2"/>
                  </a:buClr>
                  <a:buFont typeface="Arial" panose="020B0604020202020204" pitchFamily="34" charset="0"/>
                  <a:buChar char="•"/>
                </a:pPr>
                <a:endParaRPr lang="en-GB" sz="2400" b="1" kern="100" dirty="0">
                  <a:solidFill>
                    <a:srgbClr val="0000CC"/>
                  </a:solidFill>
                  <a:latin typeface="Century Gothic" panose="020B0502020202020204" pitchFamily="34" charset="0"/>
                  <a:ea typeface="Calibri" panose="020F0502020204030204" pitchFamily="34" charset="0"/>
                  <a:cs typeface="Times New Roman" panose="02020603050405020304" pitchFamily="18" charset="0"/>
                </a:endParaRPr>
              </a:p>
              <a:p>
                <a:pPr marL="342900" indent="-342900">
                  <a:buClr>
                    <a:schemeClr val="accent2"/>
                  </a:buClr>
                  <a:buFont typeface="Arial" panose="020B0604020202020204" pitchFamily="34" charset="0"/>
                  <a:buChar char="•"/>
                </a:pPr>
                <a:r>
                  <a:rPr lang="en-GB" sz="2400" b="1" kern="100" dirty="0">
                    <a:solidFill>
                      <a:srgbClr val="0000CC"/>
                    </a:solidFill>
                    <a:effectLst/>
                    <a:latin typeface="Century Gothic" panose="020B0502020202020204" pitchFamily="34" charset="0"/>
                    <a:ea typeface="Calibri" panose="020F0502020204030204" pitchFamily="34" charset="0"/>
                    <a:cs typeface="Times New Roman" panose="02020603050405020304" pitchFamily="18" charset="0"/>
                  </a:rPr>
                  <a:t>Output Power,  </a:t>
                </a:r>
                <a14:m>
                  <m:oMath xmlns:m="http://schemas.openxmlformats.org/officeDocument/2006/math">
                    <m:sSub>
                      <m:sSubPr>
                        <m:ctrlPr>
                          <a:rPr lang="en-GB" sz="2400" b="1" i="1" kern="100" smtClean="0">
                            <a:solidFill>
                              <a:srgbClr val="0000CC"/>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2400" b="1" i="1" kern="100" smtClean="0">
                            <a:solidFill>
                              <a:srgbClr val="0000CC"/>
                            </a:solidFill>
                            <a:effectLst/>
                            <a:latin typeface="Cambria Math" panose="02040503050406030204" pitchFamily="18" charset="0"/>
                            <a:ea typeface="Calibri" panose="020F0502020204030204" pitchFamily="34" charset="0"/>
                            <a:cs typeface="Times New Roman" panose="02020603050405020304" pitchFamily="18" charset="0"/>
                          </a:rPr>
                          <m:t>𝑷</m:t>
                        </m:r>
                      </m:e>
                      <m:sub>
                        <m:r>
                          <a:rPr lang="en-US" sz="2400" b="1" i="1" kern="100" smtClean="0">
                            <a:solidFill>
                              <a:srgbClr val="0000CC"/>
                            </a:solidFill>
                            <a:effectLst/>
                            <a:latin typeface="Cambria Math" panose="02040503050406030204" pitchFamily="18" charset="0"/>
                            <a:ea typeface="Calibri" panose="020F0502020204030204" pitchFamily="34" charset="0"/>
                            <a:cs typeface="Times New Roman" panose="02020603050405020304" pitchFamily="18" charset="0"/>
                          </a:rPr>
                          <m:t>𝒐</m:t>
                        </m:r>
                      </m:sub>
                    </m:sSub>
                  </m:oMath>
                </a14:m>
                <a:r>
                  <a:rPr lang="en-GB" sz="2400" b="1" kern="100" dirty="0">
                    <a:solidFill>
                      <a:srgbClr val="0000CC"/>
                    </a:solidFill>
                    <a:effectLst/>
                    <a:latin typeface="Century Gothic" panose="020B0502020202020204" pitchFamily="34" charset="0"/>
                    <a:ea typeface="Calibri" panose="020F0502020204030204" pitchFamily="34" charset="0"/>
                    <a:cs typeface="Times New Roman" panose="02020603050405020304" pitchFamily="18" charset="0"/>
                  </a:rPr>
                  <a:t> = </a:t>
                </a:r>
                <a14:m>
                  <m:oMath xmlns:m="http://schemas.openxmlformats.org/officeDocument/2006/math">
                    <m:f>
                      <m:fPr>
                        <m:ctrlPr>
                          <a:rPr lang="en-GB" sz="2400" b="1" i="1" kern="100" smtClean="0">
                            <a:solidFill>
                              <a:srgbClr val="0000CC"/>
                            </a:solidFill>
                            <a:effectLst/>
                            <a:latin typeface="Cambria Math" panose="02040503050406030204" pitchFamily="18" charset="0"/>
                            <a:ea typeface="Calibri" panose="020F0502020204030204" pitchFamily="34" charset="0"/>
                            <a:cs typeface="Times New Roman" panose="02020603050405020304" pitchFamily="18" charset="0"/>
                          </a:rPr>
                        </m:ctrlPr>
                      </m:fPr>
                      <m:num>
                        <m:sSubSup>
                          <m:sSubSupPr>
                            <m:ctrlPr>
                              <a:rPr lang="en-GB" sz="2400" b="1" i="1" kern="100" smtClean="0">
                                <a:solidFill>
                                  <a:srgbClr val="0000CC"/>
                                </a:solidFill>
                                <a:effectLst/>
                                <a:latin typeface="Cambria Math" panose="02040503050406030204" pitchFamily="18" charset="0"/>
                                <a:ea typeface="Calibri" panose="020F0502020204030204" pitchFamily="34" charset="0"/>
                                <a:cs typeface="Times New Roman" panose="02020603050405020304" pitchFamily="18" charset="0"/>
                              </a:rPr>
                            </m:ctrlPr>
                          </m:sSubSupPr>
                          <m:e>
                            <m:r>
                              <a:rPr lang="en-US" sz="2400" b="1" i="1" kern="100" smtClean="0">
                                <a:solidFill>
                                  <a:srgbClr val="0000CC"/>
                                </a:solidFill>
                                <a:effectLst/>
                                <a:latin typeface="Cambria Math" panose="02040503050406030204" pitchFamily="18" charset="0"/>
                                <a:ea typeface="Calibri" panose="020F0502020204030204" pitchFamily="34" charset="0"/>
                                <a:cs typeface="Times New Roman" panose="02020603050405020304" pitchFamily="18" charset="0"/>
                              </a:rPr>
                              <m:t>𝑽</m:t>
                            </m:r>
                          </m:e>
                          <m:sub>
                            <m:r>
                              <a:rPr lang="en-US" sz="2400" b="1" i="1" kern="100" smtClean="0">
                                <a:solidFill>
                                  <a:srgbClr val="0000CC"/>
                                </a:solidFill>
                                <a:effectLst/>
                                <a:latin typeface="Cambria Math" panose="02040503050406030204" pitchFamily="18" charset="0"/>
                                <a:ea typeface="Calibri" panose="020F0502020204030204" pitchFamily="34" charset="0"/>
                                <a:cs typeface="Times New Roman" panose="02020603050405020304" pitchFamily="18" charset="0"/>
                              </a:rPr>
                              <m:t>𝒐</m:t>
                            </m:r>
                          </m:sub>
                          <m:sup>
                            <m:r>
                              <a:rPr lang="en-US" sz="2400" b="1" i="1" kern="100" smtClean="0">
                                <a:solidFill>
                                  <a:srgbClr val="0000CC"/>
                                </a:solidFill>
                                <a:effectLst/>
                                <a:latin typeface="Cambria Math" panose="02040503050406030204" pitchFamily="18" charset="0"/>
                                <a:ea typeface="Calibri" panose="020F0502020204030204" pitchFamily="34" charset="0"/>
                                <a:cs typeface="Times New Roman" panose="02020603050405020304" pitchFamily="18" charset="0"/>
                              </a:rPr>
                              <m:t>𝟐</m:t>
                            </m:r>
                          </m:sup>
                        </m:sSubSup>
                      </m:num>
                      <m:den>
                        <m:r>
                          <a:rPr lang="en-US" sz="2400" b="1" i="1" kern="100" smtClean="0">
                            <a:solidFill>
                              <a:srgbClr val="0000CC"/>
                            </a:solidFill>
                            <a:effectLst/>
                            <a:latin typeface="Cambria Math" panose="02040503050406030204" pitchFamily="18" charset="0"/>
                            <a:ea typeface="Calibri" panose="020F0502020204030204" pitchFamily="34" charset="0"/>
                            <a:cs typeface="Times New Roman" panose="02020603050405020304" pitchFamily="18" charset="0"/>
                          </a:rPr>
                          <m:t>𝑹</m:t>
                        </m:r>
                      </m:den>
                    </m:f>
                  </m:oMath>
                </a14:m>
                <a:r>
                  <a:rPr lang="en-GB" sz="2400" b="1" kern="100" dirty="0">
                    <a:solidFill>
                      <a:srgbClr val="0000CC"/>
                    </a:solidFill>
                    <a:effectLst/>
                    <a:latin typeface="Century Gothic" panose="020B0502020202020204" pitchFamily="34" charset="0"/>
                    <a:ea typeface="Calibri" panose="020F0502020204030204" pitchFamily="34" charset="0"/>
                    <a:cs typeface="Times New Roman" panose="02020603050405020304" pitchFamily="18" charset="0"/>
                  </a:rPr>
                  <a:t> = </a:t>
                </a:r>
                <a14:m>
                  <m:oMath xmlns:m="http://schemas.openxmlformats.org/officeDocument/2006/math">
                    <m:sSub>
                      <m:sSubPr>
                        <m:ctrlPr>
                          <a:rPr lang="en-GB" sz="2400" b="1" i="1" kern="100" smtClean="0">
                            <a:solidFill>
                              <a:srgbClr val="0000CC"/>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2400" b="1" i="1" kern="100" smtClean="0">
                            <a:solidFill>
                              <a:srgbClr val="0000CC"/>
                            </a:solidFill>
                            <a:effectLst/>
                            <a:latin typeface="Cambria Math" panose="02040503050406030204" pitchFamily="18" charset="0"/>
                            <a:ea typeface="Calibri" panose="020F0502020204030204" pitchFamily="34" charset="0"/>
                            <a:cs typeface="Times New Roman" panose="02020603050405020304" pitchFamily="18" charset="0"/>
                          </a:rPr>
                          <m:t>𝑽</m:t>
                        </m:r>
                      </m:e>
                      <m:sub>
                        <m:r>
                          <a:rPr lang="en-US" sz="2400" b="1" i="1" kern="100" smtClean="0">
                            <a:solidFill>
                              <a:srgbClr val="0000CC"/>
                            </a:solidFill>
                            <a:effectLst/>
                            <a:latin typeface="Cambria Math" panose="02040503050406030204" pitchFamily="18" charset="0"/>
                            <a:ea typeface="Calibri" panose="020F0502020204030204" pitchFamily="34" charset="0"/>
                            <a:cs typeface="Times New Roman" panose="02020603050405020304" pitchFamily="18" charset="0"/>
                          </a:rPr>
                          <m:t>𝒐</m:t>
                        </m:r>
                      </m:sub>
                    </m:sSub>
                    <m:sSub>
                      <m:sSubPr>
                        <m:ctrlPr>
                          <a:rPr lang="en-GB" sz="2400" b="1" i="1" kern="100" dirty="0" smtClean="0">
                            <a:solidFill>
                              <a:srgbClr val="0000CC"/>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2400" b="1" i="1" kern="100" dirty="0" smtClean="0">
                            <a:solidFill>
                              <a:srgbClr val="0000CC"/>
                            </a:solidFill>
                            <a:effectLst/>
                            <a:latin typeface="Cambria Math" panose="02040503050406030204" pitchFamily="18" charset="0"/>
                            <a:ea typeface="Calibri" panose="020F0502020204030204" pitchFamily="34" charset="0"/>
                            <a:cs typeface="Times New Roman" panose="02020603050405020304" pitchFamily="18" charset="0"/>
                          </a:rPr>
                          <m:t>𝑰</m:t>
                        </m:r>
                      </m:e>
                      <m:sub>
                        <m:r>
                          <a:rPr lang="en-US" sz="2400" b="1" i="1" kern="100" dirty="0" smtClean="0">
                            <a:solidFill>
                              <a:srgbClr val="0000CC"/>
                            </a:solidFill>
                            <a:effectLst/>
                            <a:latin typeface="Cambria Math" panose="02040503050406030204" pitchFamily="18" charset="0"/>
                            <a:ea typeface="Calibri" panose="020F0502020204030204" pitchFamily="34" charset="0"/>
                            <a:cs typeface="Times New Roman" panose="02020603050405020304" pitchFamily="18" charset="0"/>
                          </a:rPr>
                          <m:t>𝒐</m:t>
                        </m:r>
                      </m:sub>
                    </m:sSub>
                  </m:oMath>
                </a14:m>
                <a:r>
                  <a:rPr lang="en-GB" sz="2400" b="1" kern="100" dirty="0">
                    <a:solidFill>
                      <a:srgbClr val="0000CC"/>
                    </a:solidFill>
                    <a:effectLst/>
                    <a:latin typeface="Century Gothic" panose="020B0502020202020204" pitchFamily="34" charset="0"/>
                    <a:ea typeface="Calibri" panose="020F0502020204030204" pitchFamily="34" charset="0"/>
                    <a:cs typeface="Times New Roman" panose="02020603050405020304" pitchFamily="18" charset="0"/>
                  </a:rPr>
                  <a:t>  </a:t>
                </a:r>
                <a:r>
                  <a:rPr lang="en-GB" sz="2400" i="1" kern="100" dirty="0">
                    <a:solidFill>
                      <a:srgbClr val="0000CC"/>
                    </a:solidFill>
                    <a:effectLst/>
                    <a:latin typeface="Century Gothic" panose="020B0502020202020204" pitchFamily="34" charset="0"/>
                    <a:ea typeface="Calibri" panose="020F0502020204030204" pitchFamily="34" charset="0"/>
                    <a:cs typeface="Times New Roman" panose="02020603050405020304" pitchFamily="18" charset="0"/>
                  </a:rPr>
                  <a:t>and</a:t>
                </a:r>
                <a:r>
                  <a:rPr lang="en-GB" sz="2400" b="1" kern="100" dirty="0">
                    <a:solidFill>
                      <a:srgbClr val="0000CC"/>
                    </a:solidFill>
                    <a:effectLst/>
                    <a:latin typeface="Century Gothic" panose="020B0502020202020204" pitchFamily="34" charset="0"/>
                    <a:ea typeface="Calibri" panose="020F0502020204030204" pitchFamily="34" charset="0"/>
                    <a:cs typeface="Times New Roman" panose="02020603050405020304" pitchFamily="18" charset="0"/>
                  </a:rPr>
                  <a:t>  Input Power, </a:t>
                </a:r>
                <a14:m>
                  <m:oMath xmlns:m="http://schemas.openxmlformats.org/officeDocument/2006/math">
                    <m:sSub>
                      <m:sSubPr>
                        <m:ctrlPr>
                          <a:rPr lang="en-GB" sz="2400" b="1" i="1" kern="100" smtClean="0">
                            <a:solidFill>
                              <a:srgbClr val="0000CC"/>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2400" b="1" i="1" kern="100" smtClean="0">
                            <a:solidFill>
                              <a:srgbClr val="0000CC"/>
                            </a:solidFill>
                            <a:effectLst/>
                            <a:latin typeface="Cambria Math" panose="02040503050406030204" pitchFamily="18" charset="0"/>
                            <a:ea typeface="Calibri" panose="020F0502020204030204" pitchFamily="34" charset="0"/>
                            <a:cs typeface="Times New Roman" panose="02020603050405020304" pitchFamily="18" charset="0"/>
                          </a:rPr>
                          <m:t>𝑽</m:t>
                        </m:r>
                      </m:e>
                      <m:sub>
                        <m:r>
                          <a:rPr lang="en-US" sz="2400" b="1" i="1" kern="100" smtClean="0">
                            <a:solidFill>
                              <a:srgbClr val="0000CC"/>
                            </a:solidFill>
                            <a:effectLst/>
                            <a:latin typeface="Cambria Math" panose="02040503050406030204" pitchFamily="18" charset="0"/>
                            <a:ea typeface="Calibri" panose="020F0502020204030204" pitchFamily="34" charset="0"/>
                            <a:cs typeface="Times New Roman" panose="02020603050405020304" pitchFamily="18" charset="0"/>
                          </a:rPr>
                          <m:t>𝒔</m:t>
                        </m:r>
                      </m:sub>
                    </m:sSub>
                    <m:sSub>
                      <m:sSubPr>
                        <m:ctrlPr>
                          <a:rPr lang="en-GB" sz="2400" b="1" i="1" kern="100" smtClean="0">
                            <a:solidFill>
                              <a:srgbClr val="0000CC"/>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2400" b="1" i="1" kern="100" smtClean="0">
                            <a:solidFill>
                              <a:srgbClr val="0000CC"/>
                            </a:solidFill>
                            <a:effectLst/>
                            <a:latin typeface="Cambria Math" panose="02040503050406030204" pitchFamily="18" charset="0"/>
                            <a:ea typeface="Calibri" panose="020F0502020204030204" pitchFamily="34" charset="0"/>
                            <a:cs typeface="Times New Roman" panose="02020603050405020304" pitchFamily="18" charset="0"/>
                          </a:rPr>
                          <m:t>𝑰</m:t>
                        </m:r>
                      </m:e>
                      <m:sub>
                        <m:r>
                          <a:rPr lang="en-US" sz="2400" b="1" i="1" kern="100" smtClean="0">
                            <a:solidFill>
                              <a:srgbClr val="0000CC"/>
                            </a:solidFill>
                            <a:effectLst/>
                            <a:latin typeface="Cambria Math" panose="02040503050406030204" pitchFamily="18" charset="0"/>
                            <a:ea typeface="Calibri" panose="020F0502020204030204" pitchFamily="34" charset="0"/>
                            <a:cs typeface="Times New Roman" panose="02020603050405020304" pitchFamily="18" charset="0"/>
                          </a:rPr>
                          <m:t>𝒔</m:t>
                        </m:r>
                      </m:sub>
                    </m:sSub>
                  </m:oMath>
                </a14:m>
                <a:r>
                  <a:rPr lang="en-GB" sz="2400" b="1" kern="100" dirty="0">
                    <a:solidFill>
                      <a:srgbClr val="0000CC"/>
                    </a:solidFill>
                    <a:effectLst/>
                    <a:latin typeface="Century Gothic" panose="020B0502020202020204" pitchFamily="34" charset="0"/>
                    <a:ea typeface="Calibri" panose="020F0502020204030204" pitchFamily="34" charset="0"/>
                    <a:cs typeface="Times New Roman" panose="02020603050405020304" pitchFamily="18" charset="0"/>
                  </a:rPr>
                  <a:t>= </a:t>
                </a:r>
                <a14:m>
                  <m:oMath xmlns:m="http://schemas.openxmlformats.org/officeDocument/2006/math">
                    <m:sSub>
                      <m:sSubPr>
                        <m:ctrlPr>
                          <a:rPr lang="en-GB" sz="2400" b="1" i="1" kern="100" smtClean="0">
                            <a:solidFill>
                              <a:srgbClr val="0000CC"/>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2400" b="1" i="1" kern="100" smtClean="0">
                            <a:solidFill>
                              <a:srgbClr val="0000CC"/>
                            </a:solidFill>
                            <a:effectLst/>
                            <a:latin typeface="Cambria Math" panose="02040503050406030204" pitchFamily="18" charset="0"/>
                            <a:ea typeface="Calibri" panose="020F0502020204030204" pitchFamily="34" charset="0"/>
                            <a:cs typeface="Times New Roman" panose="02020603050405020304" pitchFamily="18" charset="0"/>
                          </a:rPr>
                          <m:t>𝑽</m:t>
                        </m:r>
                      </m:e>
                      <m:sub>
                        <m:r>
                          <a:rPr lang="en-US" sz="2400" b="1" i="1" kern="100" smtClean="0">
                            <a:solidFill>
                              <a:srgbClr val="0000CC"/>
                            </a:solidFill>
                            <a:effectLst/>
                            <a:latin typeface="Cambria Math" panose="02040503050406030204" pitchFamily="18" charset="0"/>
                            <a:ea typeface="Calibri" panose="020F0502020204030204" pitchFamily="34" charset="0"/>
                            <a:cs typeface="Times New Roman" panose="02020603050405020304" pitchFamily="18" charset="0"/>
                          </a:rPr>
                          <m:t>𝒔</m:t>
                        </m:r>
                      </m:sub>
                    </m:sSub>
                    <m:sSub>
                      <m:sSubPr>
                        <m:ctrlPr>
                          <a:rPr lang="en-GB" sz="2400" b="1" i="1" kern="100" smtClean="0">
                            <a:solidFill>
                              <a:srgbClr val="0000CC"/>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2400" b="1" i="1" kern="100" smtClean="0">
                            <a:solidFill>
                              <a:srgbClr val="0000CC"/>
                            </a:solidFill>
                            <a:effectLst/>
                            <a:latin typeface="Cambria Math" panose="02040503050406030204" pitchFamily="18" charset="0"/>
                            <a:ea typeface="Calibri" panose="020F0502020204030204" pitchFamily="34" charset="0"/>
                            <a:cs typeface="Times New Roman" panose="02020603050405020304" pitchFamily="18" charset="0"/>
                          </a:rPr>
                          <m:t>𝑰</m:t>
                        </m:r>
                      </m:e>
                      <m:sub>
                        <m:r>
                          <a:rPr lang="en-US" sz="2400" b="1" i="1" kern="100" smtClean="0">
                            <a:solidFill>
                              <a:srgbClr val="0000CC"/>
                            </a:solidFill>
                            <a:effectLst/>
                            <a:latin typeface="Cambria Math" panose="02040503050406030204" pitchFamily="18" charset="0"/>
                            <a:ea typeface="Calibri" panose="020F0502020204030204" pitchFamily="34" charset="0"/>
                            <a:cs typeface="Times New Roman" panose="02020603050405020304" pitchFamily="18" charset="0"/>
                          </a:rPr>
                          <m:t>𝑳</m:t>
                        </m:r>
                      </m:sub>
                    </m:sSub>
                  </m:oMath>
                </a14:m>
                <a:r>
                  <a:rPr lang="en-GB" sz="2400" b="1" kern="100" dirty="0">
                    <a:solidFill>
                      <a:srgbClr val="0000CC"/>
                    </a:solidFill>
                    <a:effectLst/>
                    <a:latin typeface="Century Gothic" panose="020B0502020202020204" pitchFamily="34" charset="0"/>
                    <a:ea typeface="Calibri" panose="020F0502020204030204" pitchFamily="34" charset="0"/>
                    <a:cs typeface="Times New Roman" panose="02020603050405020304" pitchFamily="18" charset="0"/>
                  </a:rPr>
                  <a:t> </a:t>
                </a:r>
                <a:br>
                  <a:rPr lang="en-GB" sz="2400" b="1" kern="100" dirty="0">
                    <a:solidFill>
                      <a:srgbClr val="0000CC"/>
                    </a:solidFill>
                    <a:effectLst/>
                    <a:latin typeface="Century Gothic" panose="020B0502020202020204" pitchFamily="34" charset="0"/>
                    <a:ea typeface="Calibri" panose="020F0502020204030204" pitchFamily="34" charset="0"/>
                    <a:cs typeface="Times New Roman" panose="02020603050405020304" pitchFamily="18" charset="0"/>
                  </a:rPr>
                </a:br>
                <a:endParaRPr lang="en-GB" sz="2400" b="1" kern="100" dirty="0">
                  <a:solidFill>
                    <a:srgbClr val="0000CC"/>
                  </a:solidFill>
                  <a:effectLst/>
                  <a:latin typeface="Century Gothic" panose="020B0502020202020204" pitchFamily="34" charset="0"/>
                  <a:ea typeface="Calibri" panose="020F0502020204030204" pitchFamily="34" charset="0"/>
                  <a:cs typeface="Times New Roman" panose="02020603050405020304" pitchFamily="18" charset="0"/>
                </a:endParaRPr>
              </a:p>
              <a:p>
                <a:pPr marL="342900" indent="-342900">
                  <a:buClr>
                    <a:schemeClr val="accent2"/>
                  </a:buClr>
                  <a:buFont typeface="Arial" panose="020B0604020202020204" pitchFamily="34" charset="0"/>
                  <a:buChar char="•"/>
                </a:pPr>
                <a:r>
                  <a:rPr lang="en-GB" sz="2400" b="1" kern="100" dirty="0">
                    <a:solidFill>
                      <a:srgbClr val="0000CC"/>
                    </a:solidFill>
                    <a:effectLst/>
                    <a:latin typeface="Century Gothic" panose="020B0502020202020204" pitchFamily="34" charset="0"/>
                    <a:ea typeface="Calibri" panose="020F0502020204030204" pitchFamily="34" charset="0"/>
                    <a:cs typeface="Times New Roman" panose="02020603050405020304" pitchFamily="18" charset="0"/>
                  </a:rPr>
                  <a:t>By equating output power and input power, we obtain</a:t>
                </a:r>
                <a:br>
                  <a:rPr lang="en-GB" sz="2400" b="1" kern="100" dirty="0">
                    <a:solidFill>
                      <a:srgbClr val="0000CC"/>
                    </a:solidFill>
                    <a:effectLst/>
                    <a:latin typeface="Century Gothic" panose="020B0502020202020204" pitchFamily="34" charset="0"/>
                    <a:ea typeface="Calibri" panose="020F0502020204030204" pitchFamily="34" charset="0"/>
                    <a:cs typeface="Times New Roman" panose="02020603050405020304" pitchFamily="18" charset="0"/>
                  </a:rPr>
                </a:br>
                <a:br>
                  <a:rPr lang="en-GB" sz="2400" b="1" kern="100" dirty="0">
                    <a:solidFill>
                      <a:srgbClr val="0000CC"/>
                    </a:solidFill>
                    <a:effectLst/>
                    <a:latin typeface="Century Gothic" panose="020B0502020202020204" pitchFamily="34" charset="0"/>
                    <a:ea typeface="Calibri" panose="020F0502020204030204" pitchFamily="34" charset="0"/>
                    <a:cs typeface="Times New Roman" panose="02020603050405020304" pitchFamily="18" charset="0"/>
                  </a:rPr>
                </a:br>
                <a:r>
                  <a:rPr lang="en-GB" sz="2400" b="1" kern="100" dirty="0">
                    <a:solidFill>
                      <a:srgbClr val="0000CC"/>
                    </a:solidFill>
                    <a:effectLst/>
                    <a:latin typeface="Century Gothic" panose="020B0502020202020204" pitchFamily="34" charset="0"/>
                    <a:ea typeface="Calibri" panose="020F0502020204030204" pitchFamily="34" charset="0"/>
                    <a:cs typeface="Times New Roman" panose="02020603050405020304" pitchFamily="18" charset="0"/>
                  </a:rPr>
                  <a:t>	  </a:t>
                </a:r>
                <a14:m>
                  <m:oMath xmlns:m="http://schemas.openxmlformats.org/officeDocument/2006/math">
                    <m:sSub>
                      <m:sSubPr>
                        <m:ctrlPr>
                          <a:rPr lang="en-GB" sz="2400" b="1" i="1" kern="100" smtClean="0">
                            <a:solidFill>
                              <a:srgbClr val="0000CC"/>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2400" b="1" i="1" kern="100" smtClean="0">
                            <a:solidFill>
                              <a:srgbClr val="0000CC"/>
                            </a:solidFill>
                            <a:effectLst/>
                            <a:latin typeface="Cambria Math" panose="02040503050406030204" pitchFamily="18" charset="0"/>
                            <a:ea typeface="Calibri" panose="020F0502020204030204" pitchFamily="34" charset="0"/>
                            <a:cs typeface="Times New Roman" panose="02020603050405020304" pitchFamily="18" charset="0"/>
                          </a:rPr>
                          <m:t>𝑽</m:t>
                        </m:r>
                      </m:e>
                      <m:sub>
                        <m:r>
                          <a:rPr lang="en-US" sz="2400" b="1" i="1" kern="100" smtClean="0">
                            <a:solidFill>
                              <a:srgbClr val="0000CC"/>
                            </a:solidFill>
                            <a:effectLst/>
                            <a:latin typeface="Cambria Math" panose="02040503050406030204" pitchFamily="18" charset="0"/>
                            <a:ea typeface="Calibri" panose="020F0502020204030204" pitchFamily="34" charset="0"/>
                            <a:cs typeface="Times New Roman" panose="02020603050405020304" pitchFamily="18" charset="0"/>
                          </a:rPr>
                          <m:t>𝒔</m:t>
                        </m:r>
                      </m:sub>
                    </m:sSub>
                    <m:sSub>
                      <m:sSubPr>
                        <m:ctrlPr>
                          <a:rPr lang="en-GB" sz="2400" b="1" i="1" kern="100" smtClean="0">
                            <a:solidFill>
                              <a:srgbClr val="0000CC"/>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2400" b="1" i="1" kern="100" smtClean="0">
                            <a:solidFill>
                              <a:srgbClr val="0000CC"/>
                            </a:solidFill>
                            <a:effectLst/>
                            <a:latin typeface="Cambria Math" panose="02040503050406030204" pitchFamily="18" charset="0"/>
                            <a:ea typeface="Calibri" panose="020F0502020204030204" pitchFamily="34" charset="0"/>
                            <a:cs typeface="Times New Roman" panose="02020603050405020304" pitchFamily="18" charset="0"/>
                          </a:rPr>
                          <m:t>𝑰</m:t>
                        </m:r>
                      </m:e>
                      <m:sub>
                        <m:r>
                          <a:rPr lang="en-US" sz="2400" b="1" i="1" kern="100" smtClean="0">
                            <a:solidFill>
                              <a:srgbClr val="0000CC"/>
                            </a:solidFill>
                            <a:effectLst/>
                            <a:latin typeface="Cambria Math" panose="02040503050406030204" pitchFamily="18" charset="0"/>
                            <a:ea typeface="Calibri" panose="020F0502020204030204" pitchFamily="34" charset="0"/>
                            <a:cs typeface="Times New Roman" panose="02020603050405020304" pitchFamily="18" charset="0"/>
                          </a:rPr>
                          <m:t>𝑳</m:t>
                        </m:r>
                      </m:sub>
                    </m:sSub>
                  </m:oMath>
                </a14:m>
                <a:r>
                  <a:rPr lang="en-GB" sz="2400" b="1" kern="100" dirty="0">
                    <a:solidFill>
                      <a:srgbClr val="0000CC"/>
                    </a:solidFill>
                    <a:effectLst/>
                    <a:latin typeface="Century Gothic" panose="020B0502020202020204" pitchFamily="34" charset="0"/>
                    <a:ea typeface="Calibri" panose="020F0502020204030204" pitchFamily="34" charset="0"/>
                    <a:cs typeface="Times New Roman" panose="02020603050405020304" pitchFamily="18" charset="0"/>
                  </a:rPr>
                  <a:t> = </a:t>
                </a:r>
                <a14:m>
                  <m:oMath xmlns:m="http://schemas.openxmlformats.org/officeDocument/2006/math">
                    <m:f>
                      <m:fPr>
                        <m:ctrlPr>
                          <a:rPr lang="en-GB" sz="2400" b="1" i="1" kern="100" smtClean="0">
                            <a:solidFill>
                              <a:srgbClr val="0000CC"/>
                            </a:solidFill>
                            <a:effectLst/>
                            <a:latin typeface="Cambria Math" panose="02040503050406030204" pitchFamily="18" charset="0"/>
                            <a:ea typeface="Calibri" panose="020F0502020204030204" pitchFamily="34" charset="0"/>
                            <a:cs typeface="Times New Roman" panose="02020603050405020304" pitchFamily="18" charset="0"/>
                          </a:rPr>
                        </m:ctrlPr>
                      </m:fPr>
                      <m:num>
                        <m:sSubSup>
                          <m:sSubSupPr>
                            <m:ctrlPr>
                              <a:rPr lang="en-GB" sz="2400" b="1" i="1" kern="100" smtClean="0">
                                <a:solidFill>
                                  <a:srgbClr val="0000CC"/>
                                </a:solidFill>
                                <a:effectLst/>
                                <a:latin typeface="Cambria Math" panose="02040503050406030204" pitchFamily="18" charset="0"/>
                                <a:ea typeface="Calibri" panose="020F0502020204030204" pitchFamily="34" charset="0"/>
                                <a:cs typeface="Times New Roman" panose="02020603050405020304" pitchFamily="18" charset="0"/>
                              </a:rPr>
                            </m:ctrlPr>
                          </m:sSubSupPr>
                          <m:e>
                            <m:r>
                              <a:rPr lang="en-US" sz="2400" b="1" i="1" kern="100" smtClean="0">
                                <a:solidFill>
                                  <a:srgbClr val="0000CC"/>
                                </a:solidFill>
                                <a:effectLst/>
                                <a:latin typeface="Cambria Math" panose="02040503050406030204" pitchFamily="18" charset="0"/>
                                <a:ea typeface="Calibri" panose="020F0502020204030204" pitchFamily="34" charset="0"/>
                                <a:cs typeface="Times New Roman" panose="02020603050405020304" pitchFamily="18" charset="0"/>
                              </a:rPr>
                              <m:t>𝑽</m:t>
                            </m:r>
                          </m:e>
                          <m:sub>
                            <m:r>
                              <a:rPr lang="en-US" sz="2400" b="1" i="1" kern="100" smtClean="0">
                                <a:solidFill>
                                  <a:srgbClr val="0000CC"/>
                                </a:solidFill>
                                <a:effectLst/>
                                <a:latin typeface="Cambria Math" panose="02040503050406030204" pitchFamily="18" charset="0"/>
                                <a:ea typeface="Calibri" panose="020F0502020204030204" pitchFamily="34" charset="0"/>
                                <a:cs typeface="Times New Roman" panose="02020603050405020304" pitchFamily="18" charset="0"/>
                              </a:rPr>
                              <m:t>𝒐</m:t>
                            </m:r>
                          </m:sub>
                          <m:sup>
                            <m:r>
                              <a:rPr lang="en-US" sz="2400" b="1" i="1" kern="100" smtClean="0">
                                <a:solidFill>
                                  <a:srgbClr val="0000CC"/>
                                </a:solidFill>
                                <a:effectLst/>
                                <a:latin typeface="Cambria Math" panose="02040503050406030204" pitchFamily="18" charset="0"/>
                                <a:ea typeface="Calibri" panose="020F0502020204030204" pitchFamily="34" charset="0"/>
                                <a:cs typeface="Times New Roman" panose="02020603050405020304" pitchFamily="18" charset="0"/>
                              </a:rPr>
                              <m:t>𝟐</m:t>
                            </m:r>
                          </m:sup>
                        </m:sSubSup>
                      </m:num>
                      <m:den>
                        <m:r>
                          <a:rPr lang="en-US" sz="2400" b="1" i="1" kern="100" smtClean="0">
                            <a:solidFill>
                              <a:srgbClr val="0000CC"/>
                            </a:solidFill>
                            <a:effectLst/>
                            <a:latin typeface="Cambria Math" panose="02040503050406030204" pitchFamily="18" charset="0"/>
                            <a:ea typeface="Calibri" panose="020F0502020204030204" pitchFamily="34" charset="0"/>
                            <a:cs typeface="Times New Roman" panose="02020603050405020304" pitchFamily="18" charset="0"/>
                          </a:rPr>
                          <m:t>𝑹</m:t>
                        </m:r>
                      </m:den>
                    </m:f>
                  </m:oMath>
                </a14:m>
                <a:r>
                  <a:rPr lang="en-GB" sz="2400" b="1" kern="100" dirty="0">
                    <a:solidFill>
                      <a:srgbClr val="0000CC"/>
                    </a:solidFill>
                    <a:effectLst/>
                    <a:latin typeface="Century Gothic" panose="020B0502020202020204" pitchFamily="34" charset="0"/>
                    <a:ea typeface="Calibri" panose="020F0502020204030204" pitchFamily="34" charset="0"/>
                    <a:cs typeface="Times New Roman" panose="02020603050405020304" pitchFamily="18" charset="0"/>
                  </a:rPr>
                  <a:t> = </a:t>
                </a:r>
                <a14:m>
                  <m:oMath xmlns:m="http://schemas.openxmlformats.org/officeDocument/2006/math">
                    <m:f>
                      <m:fPr>
                        <m:ctrlPr>
                          <a:rPr lang="en-GB" sz="2400" b="1" i="1" kern="100" smtClean="0">
                            <a:solidFill>
                              <a:srgbClr val="0000CC"/>
                            </a:solidFill>
                            <a:effectLst/>
                            <a:latin typeface="Cambria Math" panose="02040503050406030204" pitchFamily="18" charset="0"/>
                            <a:ea typeface="Calibri" panose="020F0502020204030204" pitchFamily="34" charset="0"/>
                            <a:cs typeface="Times New Roman" panose="02020603050405020304" pitchFamily="18" charset="0"/>
                          </a:rPr>
                        </m:ctrlPr>
                      </m:fPr>
                      <m:num>
                        <m:sSup>
                          <m:sSupPr>
                            <m:ctrlPr>
                              <a:rPr lang="en-GB" sz="2400" b="1" i="1" kern="100" smtClean="0">
                                <a:solidFill>
                                  <a:srgbClr val="0000CC"/>
                                </a:solidFill>
                                <a:effectLst/>
                                <a:latin typeface="Cambria Math" panose="02040503050406030204" pitchFamily="18" charset="0"/>
                                <a:ea typeface="Calibri" panose="020F0502020204030204" pitchFamily="34" charset="0"/>
                                <a:cs typeface="Times New Roman" panose="02020603050405020304" pitchFamily="18" charset="0"/>
                              </a:rPr>
                            </m:ctrlPr>
                          </m:sSupPr>
                          <m:e>
                            <m:d>
                              <m:dPr>
                                <m:begChr m:val="["/>
                                <m:endChr m:val="]"/>
                                <m:ctrlPr>
                                  <a:rPr lang="en-GB" sz="2400" b="1" i="1" kern="100" smtClean="0">
                                    <a:solidFill>
                                      <a:srgbClr val="0000CC"/>
                                    </a:solidFill>
                                    <a:effectLst/>
                                    <a:latin typeface="Cambria Math" panose="02040503050406030204" pitchFamily="18" charset="0"/>
                                    <a:ea typeface="Calibri" panose="020F0502020204030204" pitchFamily="34" charset="0"/>
                                    <a:cs typeface="Times New Roman" panose="02020603050405020304" pitchFamily="18" charset="0"/>
                                  </a:rPr>
                                </m:ctrlPr>
                              </m:dPr>
                              <m:e>
                                <m:f>
                                  <m:fPr>
                                    <m:type m:val="lin"/>
                                    <m:ctrlPr>
                                      <a:rPr lang="en-GB" sz="2400" b="1" i="1" kern="100" smtClean="0">
                                        <a:solidFill>
                                          <a:srgbClr val="0000CC"/>
                                        </a:solidFill>
                                        <a:effectLst/>
                                        <a:latin typeface="Cambria Math" panose="02040503050406030204" pitchFamily="18" charset="0"/>
                                        <a:ea typeface="Calibri" panose="020F0502020204030204" pitchFamily="34" charset="0"/>
                                        <a:cs typeface="Times New Roman" panose="02020603050405020304" pitchFamily="18" charset="0"/>
                                      </a:rPr>
                                    </m:ctrlPr>
                                  </m:fPr>
                                  <m:num>
                                    <m:sSub>
                                      <m:sSubPr>
                                        <m:ctrlPr>
                                          <a:rPr lang="en-GB" sz="2400" b="1" i="1" kern="100" smtClean="0">
                                            <a:solidFill>
                                              <a:srgbClr val="0000CC"/>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2400" b="1" i="1" kern="100" smtClean="0">
                                            <a:solidFill>
                                              <a:srgbClr val="0000CC"/>
                                            </a:solidFill>
                                            <a:effectLst/>
                                            <a:latin typeface="Cambria Math" panose="02040503050406030204" pitchFamily="18" charset="0"/>
                                            <a:ea typeface="Calibri" panose="020F0502020204030204" pitchFamily="34" charset="0"/>
                                            <a:cs typeface="Times New Roman" panose="02020603050405020304" pitchFamily="18" charset="0"/>
                                          </a:rPr>
                                          <m:t>𝑽</m:t>
                                        </m:r>
                                      </m:e>
                                      <m:sub>
                                        <m:r>
                                          <a:rPr lang="en-US" sz="2400" b="1" i="1" kern="100" smtClean="0">
                                            <a:solidFill>
                                              <a:srgbClr val="0000CC"/>
                                            </a:solidFill>
                                            <a:effectLst/>
                                            <a:latin typeface="Cambria Math" panose="02040503050406030204" pitchFamily="18" charset="0"/>
                                            <a:ea typeface="Calibri" panose="020F0502020204030204" pitchFamily="34" charset="0"/>
                                            <a:cs typeface="Times New Roman" panose="02020603050405020304" pitchFamily="18" charset="0"/>
                                          </a:rPr>
                                          <m:t>𝒔</m:t>
                                        </m:r>
                                      </m:sub>
                                    </m:sSub>
                                  </m:num>
                                  <m:den>
                                    <m:d>
                                      <m:dPr>
                                        <m:ctrlPr>
                                          <a:rPr lang="en-GB" sz="2400" b="1" i="1" kern="100" smtClean="0">
                                            <a:solidFill>
                                              <a:srgbClr val="0000CC"/>
                                            </a:solidFill>
                                            <a:effectLst/>
                                            <a:latin typeface="Cambria Math" panose="02040503050406030204" pitchFamily="18" charset="0"/>
                                            <a:ea typeface="Calibri" panose="020F0502020204030204" pitchFamily="34" charset="0"/>
                                            <a:cs typeface="Times New Roman" panose="02020603050405020304" pitchFamily="18" charset="0"/>
                                          </a:rPr>
                                        </m:ctrlPr>
                                      </m:dPr>
                                      <m:e>
                                        <m:r>
                                          <a:rPr lang="en-US" sz="2400" b="1" i="1" kern="100" smtClean="0">
                                            <a:solidFill>
                                              <a:srgbClr val="0000CC"/>
                                            </a:solidFill>
                                            <a:effectLst/>
                                            <a:latin typeface="Cambria Math" panose="02040503050406030204" pitchFamily="18" charset="0"/>
                                            <a:ea typeface="Calibri" panose="020F0502020204030204" pitchFamily="34" charset="0"/>
                                            <a:cs typeface="Times New Roman" panose="02020603050405020304" pitchFamily="18" charset="0"/>
                                          </a:rPr>
                                          <m:t>𝟏</m:t>
                                        </m:r>
                                        <m:r>
                                          <a:rPr lang="en-US" sz="2400" b="1" i="1" kern="100" smtClean="0">
                                            <a:solidFill>
                                              <a:srgbClr val="0000CC"/>
                                            </a:solidFill>
                                            <a:effectLst/>
                                            <a:latin typeface="Cambria Math" panose="02040503050406030204" pitchFamily="18" charset="0"/>
                                            <a:ea typeface="Calibri" panose="020F0502020204030204" pitchFamily="34" charset="0"/>
                                            <a:cs typeface="Times New Roman" panose="02020603050405020304" pitchFamily="18" charset="0"/>
                                          </a:rPr>
                                          <m:t>−</m:t>
                                        </m:r>
                                        <m:r>
                                          <a:rPr lang="en-US" sz="2400" b="1" i="1" kern="100" smtClean="0">
                                            <a:solidFill>
                                              <a:srgbClr val="0000CC"/>
                                            </a:solidFill>
                                            <a:effectLst/>
                                            <a:latin typeface="Cambria Math" panose="02040503050406030204" pitchFamily="18" charset="0"/>
                                            <a:ea typeface="Calibri" panose="020F0502020204030204" pitchFamily="34" charset="0"/>
                                            <a:cs typeface="Times New Roman" panose="02020603050405020304" pitchFamily="18" charset="0"/>
                                          </a:rPr>
                                          <m:t>𝑫</m:t>
                                        </m:r>
                                      </m:e>
                                    </m:d>
                                  </m:den>
                                </m:f>
                              </m:e>
                            </m:d>
                          </m:e>
                          <m:sup>
                            <m:r>
                              <a:rPr lang="en-US" sz="2400" b="1" i="1" kern="100" smtClean="0">
                                <a:solidFill>
                                  <a:srgbClr val="0000CC"/>
                                </a:solidFill>
                                <a:effectLst/>
                                <a:latin typeface="Cambria Math" panose="02040503050406030204" pitchFamily="18" charset="0"/>
                                <a:ea typeface="Calibri" panose="020F0502020204030204" pitchFamily="34" charset="0"/>
                                <a:cs typeface="Times New Roman" panose="02020603050405020304" pitchFamily="18" charset="0"/>
                              </a:rPr>
                              <m:t>𝟐</m:t>
                            </m:r>
                          </m:sup>
                        </m:sSup>
                      </m:num>
                      <m:den>
                        <m:r>
                          <a:rPr lang="en-US" sz="2400" b="1" i="1" kern="100" smtClean="0">
                            <a:solidFill>
                              <a:srgbClr val="0000CC"/>
                            </a:solidFill>
                            <a:effectLst/>
                            <a:latin typeface="Cambria Math" panose="02040503050406030204" pitchFamily="18" charset="0"/>
                            <a:ea typeface="Calibri" panose="020F0502020204030204" pitchFamily="34" charset="0"/>
                            <a:cs typeface="Times New Roman" panose="02020603050405020304" pitchFamily="18" charset="0"/>
                          </a:rPr>
                          <m:t>𝑹</m:t>
                        </m:r>
                      </m:den>
                    </m:f>
                  </m:oMath>
                </a14:m>
                <a:r>
                  <a:rPr lang="en-GB" sz="2400" b="1" kern="100" dirty="0">
                    <a:solidFill>
                      <a:srgbClr val="0000CC"/>
                    </a:solidFill>
                    <a:effectLst/>
                    <a:latin typeface="Century Gothic" panose="020B0502020202020204" pitchFamily="34" charset="0"/>
                    <a:ea typeface="Calibri" panose="020F0502020204030204" pitchFamily="34" charset="0"/>
                    <a:cs typeface="Times New Roman" panose="02020603050405020304" pitchFamily="18" charset="0"/>
                  </a:rPr>
                  <a:t> = </a:t>
                </a:r>
                <a14:m>
                  <m:oMath xmlns:m="http://schemas.openxmlformats.org/officeDocument/2006/math">
                    <m:f>
                      <m:fPr>
                        <m:ctrlPr>
                          <a:rPr lang="en-GB" sz="2400" b="1" i="1" kern="100" smtClean="0">
                            <a:solidFill>
                              <a:srgbClr val="0000CC"/>
                            </a:solidFill>
                            <a:effectLst/>
                            <a:latin typeface="Cambria Math" panose="02040503050406030204" pitchFamily="18" charset="0"/>
                            <a:ea typeface="Calibri" panose="020F0502020204030204" pitchFamily="34" charset="0"/>
                            <a:cs typeface="Times New Roman" panose="02020603050405020304" pitchFamily="18" charset="0"/>
                          </a:rPr>
                        </m:ctrlPr>
                      </m:fPr>
                      <m:num>
                        <m:sSubSup>
                          <m:sSubSupPr>
                            <m:ctrlPr>
                              <a:rPr lang="en-GB" sz="2400" b="1" i="1" kern="100" smtClean="0">
                                <a:solidFill>
                                  <a:srgbClr val="0000CC"/>
                                </a:solidFill>
                                <a:effectLst/>
                                <a:latin typeface="Cambria Math" panose="02040503050406030204" pitchFamily="18" charset="0"/>
                                <a:ea typeface="Calibri" panose="020F0502020204030204" pitchFamily="34" charset="0"/>
                                <a:cs typeface="Times New Roman" panose="02020603050405020304" pitchFamily="18" charset="0"/>
                              </a:rPr>
                            </m:ctrlPr>
                          </m:sSubSupPr>
                          <m:e>
                            <m:r>
                              <a:rPr lang="en-US" sz="2400" b="1" i="1" kern="100" smtClean="0">
                                <a:solidFill>
                                  <a:srgbClr val="0000CC"/>
                                </a:solidFill>
                                <a:effectLst/>
                                <a:latin typeface="Cambria Math" panose="02040503050406030204" pitchFamily="18" charset="0"/>
                                <a:ea typeface="Calibri" panose="020F0502020204030204" pitchFamily="34" charset="0"/>
                                <a:cs typeface="Times New Roman" panose="02020603050405020304" pitchFamily="18" charset="0"/>
                              </a:rPr>
                              <m:t>𝑽</m:t>
                            </m:r>
                          </m:e>
                          <m:sub>
                            <m:r>
                              <a:rPr lang="en-US" sz="2400" b="1" i="1" kern="100" smtClean="0">
                                <a:solidFill>
                                  <a:srgbClr val="0000CC"/>
                                </a:solidFill>
                                <a:effectLst/>
                                <a:latin typeface="Cambria Math" panose="02040503050406030204" pitchFamily="18" charset="0"/>
                                <a:ea typeface="Calibri" panose="020F0502020204030204" pitchFamily="34" charset="0"/>
                                <a:cs typeface="Times New Roman" panose="02020603050405020304" pitchFamily="18" charset="0"/>
                              </a:rPr>
                              <m:t>𝒔</m:t>
                            </m:r>
                          </m:sub>
                          <m:sup>
                            <m:r>
                              <a:rPr lang="en-US" sz="2400" b="1" i="1" kern="100" smtClean="0">
                                <a:solidFill>
                                  <a:srgbClr val="0000CC"/>
                                </a:solidFill>
                                <a:effectLst/>
                                <a:latin typeface="Cambria Math" panose="02040503050406030204" pitchFamily="18" charset="0"/>
                                <a:ea typeface="Calibri" panose="020F0502020204030204" pitchFamily="34" charset="0"/>
                                <a:cs typeface="Times New Roman" panose="02020603050405020304" pitchFamily="18" charset="0"/>
                              </a:rPr>
                              <m:t>𝟐</m:t>
                            </m:r>
                          </m:sup>
                        </m:sSubSup>
                      </m:num>
                      <m:den>
                        <m:sSup>
                          <m:sSupPr>
                            <m:ctrlPr>
                              <a:rPr lang="en-GB" sz="2400" b="1" i="1" kern="100" smtClean="0">
                                <a:solidFill>
                                  <a:srgbClr val="0000CC"/>
                                </a:solidFill>
                                <a:effectLst/>
                                <a:latin typeface="Cambria Math" panose="02040503050406030204" pitchFamily="18" charset="0"/>
                                <a:ea typeface="Calibri" panose="020F0502020204030204" pitchFamily="34" charset="0"/>
                                <a:cs typeface="Times New Roman" panose="02020603050405020304" pitchFamily="18" charset="0"/>
                              </a:rPr>
                            </m:ctrlPr>
                          </m:sSupPr>
                          <m:e>
                            <m:d>
                              <m:dPr>
                                <m:ctrlPr>
                                  <a:rPr lang="en-GB" sz="2400" b="1" i="1" kern="100" smtClean="0">
                                    <a:solidFill>
                                      <a:srgbClr val="0000CC"/>
                                    </a:solidFill>
                                    <a:effectLst/>
                                    <a:latin typeface="Cambria Math" panose="02040503050406030204" pitchFamily="18" charset="0"/>
                                    <a:ea typeface="Calibri" panose="020F0502020204030204" pitchFamily="34" charset="0"/>
                                    <a:cs typeface="Times New Roman" panose="02020603050405020304" pitchFamily="18" charset="0"/>
                                  </a:rPr>
                                </m:ctrlPr>
                              </m:dPr>
                              <m:e>
                                <m:r>
                                  <a:rPr lang="en-US" sz="2400" b="1" i="1" kern="100" smtClean="0">
                                    <a:solidFill>
                                      <a:srgbClr val="0000CC"/>
                                    </a:solidFill>
                                    <a:effectLst/>
                                    <a:latin typeface="Cambria Math" panose="02040503050406030204" pitchFamily="18" charset="0"/>
                                    <a:ea typeface="Calibri" panose="020F0502020204030204" pitchFamily="34" charset="0"/>
                                    <a:cs typeface="Times New Roman" panose="02020603050405020304" pitchFamily="18" charset="0"/>
                                  </a:rPr>
                                  <m:t>𝟏</m:t>
                                </m:r>
                                <m:r>
                                  <a:rPr lang="en-US" sz="2400" b="1" i="1" kern="100" smtClean="0">
                                    <a:solidFill>
                                      <a:srgbClr val="0000CC"/>
                                    </a:solidFill>
                                    <a:effectLst/>
                                    <a:latin typeface="Cambria Math" panose="02040503050406030204" pitchFamily="18" charset="0"/>
                                    <a:ea typeface="Calibri" panose="020F0502020204030204" pitchFamily="34" charset="0"/>
                                    <a:cs typeface="Times New Roman" panose="02020603050405020304" pitchFamily="18" charset="0"/>
                                  </a:rPr>
                                  <m:t>−</m:t>
                                </m:r>
                                <m:r>
                                  <a:rPr lang="en-US" sz="2400" b="1" i="1" kern="100" smtClean="0">
                                    <a:solidFill>
                                      <a:srgbClr val="0000CC"/>
                                    </a:solidFill>
                                    <a:effectLst/>
                                    <a:latin typeface="Cambria Math" panose="02040503050406030204" pitchFamily="18" charset="0"/>
                                    <a:ea typeface="Calibri" panose="020F0502020204030204" pitchFamily="34" charset="0"/>
                                    <a:cs typeface="Times New Roman" panose="02020603050405020304" pitchFamily="18" charset="0"/>
                                  </a:rPr>
                                  <m:t>𝑫</m:t>
                                </m:r>
                              </m:e>
                            </m:d>
                          </m:e>
                          <m:sup>
                            <m:r>
                              <a:rPr lang="en-US" sz="2400" b="1" i="1" kern="100" smtClean="0">
                                <a:solidFill>
                                  <a:srgbClr val="0000CC"/>
                                </a:solidFill>
                                <a:effectLst/>
                                <a:latin typeface="Cambria Math" panose="02040503050406030204" pitchFamily="18" charset="0"/>
                                <a:ea typeface="Calibri" panose="020F0502020204030204" pitchFamily="34" charset="0"/>
                                <a:cs typeface="Times New Roman" panose="02020603050405020304" pitchFamily="18" charset="0"/>
                              </a:rPr>
                              <m:t>𝟐</m:t>
                            </m:r>
                          </m:sup>
                        </m:sSup>
                      </m:den>
                    </m:f>
                    <m:r>
                      <a:rPr lang="en-US" sz="2400" b="1" i="1" kern="100" smtClean="0">
                        <a:solidFill>
                          <a:srgbClr val="0000CC"/>
                        </a:solidFill>
                        <a:effectLst/>
                        <a:latin typeface="Cambria Math" panose="02040503050406030204" pitchFamily="18" charset="0"/>
                        <a:ea typeface="Calibri" panose="020F0502020204030204" pitchFamily="34" charset="0"/>
                        <a:cs typeface="Times New Roman" panose="02020603050405020304" pitchFamily="18" charset="0"/>
                      </a:rPr>
                      <m:t>𝑹</m:t>
                    </m:r>
                  </m:oMath>
                </a14:m>
                <a:r>
                  <a:rPr lang="en-GB" sz="2400" b="1" kern="100" dirty="0">
                    <a:solidFill>
                      <a:srgbClr val="0000CC"/>
                    </a:solidFill>
                    <a:effectLst/>
                    <a:latin typeface="Century Gothic" panose="020B0502020202020204" pitchFamily="34" charset="0"/>
                    <a:ea typeface="Calibri" panose="020F0502020204030204" pitchFamily="34" charset="0"/>
                    <a:cs typeface="Times New Roman" panose="02020603050405020304" pitchFamily="18" charset="0"/>
                  </a:rPr>
                  <a:t>  →  </a:t>
                </a:r>
              </a:p>
              <a:p>
                <a:pPr>
                  <a:buClr>
                    <a:schemeClr val="accent2"/>
                  </a:buClr>
                </a:pPr>
                <a:r>
                  <a:rPr lang="en-GB" sz="2400" b="1" kern="100" dirty="0">
                    <a:solidFill>
                      <a:srgbClr val="0000CC"/>
                    </a:solidFill>
                    <a:latin typeface="Century Gothic" panose="020B0502020202020204" pitchFamily="34" charset="0"/>
                    <a:ea typeface="Calibri" panose="020F0502020204030204" pitchFamily="34" charset="0"/>
                    <a:cs typeface="Times New Roman" panose="02020603050405020304" pitchFamily="18" charset="0"/>
                  </a:rPr>
                  <a:t>	</a:t>
                </a:r>
              </a:p>
              <a:p>
                <a:pPr marL="342900" indent="-342900">
                  <a:buClr>
                    <a:schemeClr val="accent2"/>
                  </a:buClr>
                  <a:buFont typeface="Arial" panose="020B0604020202020204" pitchFamily="34" charset="0"/>
                  <a:buChar char="•"/>
                </a:pPr>
                <a:r>
                  <a:rPr lang="en-GB" sz="2400" b="1" kern="100" dirty="0">
                    <a:solidFill>
                      <a:srgbClr val="0000CC"/>
                    </a:solidFill>
                    <a:latin typeface="Century Gothic" panose="020B0502020202020204" pitchFamily="34" charset="0"/>
                    <a:ea typeface="Calibri" panose="020F0502020204030204" pitchFamily="34" charset="0"/>
                    <a:cs typeface="Times New Roman" panose="02020603050405020304" pitchFamily="18" charset="0"/>
                  </a:rPr>
                  <a:t>Maximum and Maximum inductor currents are calculated based on the average value and change in current.</a:t>
                </a:r>
                <a:br>
                  <a:rPr lang="en-GB" sz="2400" b="1" kern="100" dirty="0">
                    <a:solidFill>
                      <a:srgbClr val="0000CC"/>
                    </a:solidFill>
                    <a:latin typeface="Century Gothic" panose="020B0502020202020204" pitchFamily="34" charset="0"/>
                    <a:ea typeface="Calibri" panose="020F0502020204030204" pitchFamily="34" charset="0"/>
                    <a:cs typeface="Times New Roman" panose="02020603050405020304" pitchFamily="18" charset="0"/>
                  </a:rPr>
                </a:br>
                <a:br>
                  <a:rPr lang="en-GB" sz="2400" b="1" kern="100" dirty="0">
                    <a:solidFill>
                      <a:srgbClr val="0000CC"/>
                    </a:solidFill>
                    <a:latin typeface="Century Gothic" panose="020B0502020202020204" pitchFamily="34" charset="0"/>
                    <a:ea typeface="Calibri" panose="020F0502020204030204" pitchFamily="34" charset="0"/>
                    <a:cs typeface="Times New Roman" panose="02020603050405020304" pitchFamily="18" charset="0"/>
                  </a:rPr>
                </a:br>
                <a:r>
                  <a:rPr lang="en-GB" sz="2400" b="1" kern="100" dirty="0">
                    <a:solidFill>
                      <a:srgbClr val="0000CC"/>
                    </a:solidFill>
                    <a:latin typeface="Century Gothic" panose="020B0502020202020204" pitchFamily="34" charset="0"/>
                    <a:ea typeface="Calibri" panose="020F0502020204030204" pitchFamily="34" charset="0"/>
                    <a:cs typeface="Times New Roman" panose="02020603050405020304" pitchFamily="18" charset="0"/>
                  </a:rPr>
                  <a:t>                                                                                             </a:t>
                </a:r>
              </a:p>
              <a:p>
                <a:pPr>
                  <a:buClr>
                    <a:schemeClr val="accent2"/>
                  </a:buClr>
                </a:pPr>
                <a:r>
                  <a:rPr lang="en-GB" sz="2400" b="1" kern="100" dirty="0">
                    <a:solidFill>
                      <a:srgbClr val="0000CC"/>
                    </a:solidFill>
                    <a:latin typeface="Century Gothic" panose="020B0502020202020204" pitchFamily="34" charset="0"/>
                    <a:ea typeface="Calibri" panose="020F0502020204030204" pitchFamily="34" charset="0"/>
                    <a:cs typeface="Times New Roman" panose="02020603050405020304" pitchFamily="18" charset="0"/>
                  </a:rPr>
                  <a:t>                                               </a:t>
                </a:r>
              </a:p>
              <a:p>
                <a:pPr>
                  <a:buClr>
                    <a:schemeClr val="accent2"/>
                  </a:buClr>
                </a:pPr>
                <a:r>
                  <a:rPr lang="en-GB" sz="2400" b="1" kern="100" dirty="0">
                    <a:solidFill>
                      <a:srgbClr val="0000CC"/>
                    </a:solidFill>
                    <a:latin typeface="Century Gothic" panose="020B0502020202020204" pitchFamily="34" charset="0"/>
                    <a:ea typeface="Calibri" panose="020F0502020204030204" pitchFamily="34" charset="0"/>
                    <a:cs typeface="Times New Roman" panose="02020603050405020304" pitchFamily="18" charset="0"/>
                  </a:rPr>
                  <a:t> 	</a:t>
                </a:r>
              </a:p>
              <a:p>
                <a:pPr>
                  <a:buClr>
                    <a:schemeClr val="accent2"/>
                  </a:buClr>
                </a:pPr>
                <a:endParaRPr lang="en-GB" sz="2400" b="1" kern="100" dirty="0">
                  <a:solidFill>
                    <a:srgbClr val="0000CC"/>
                  </a:solidFill>
                  <a:latin typeface="Century Gothic" panose="020B0502020202020204" pitchFamily="34" charset="0"/>
                  <a:ea typeface="Calibri" panose="020F0502020204030204" pitchFamily="34" charset="0"/>
                  <a:cs typeface="Times New Roman" panose="02020603050405020304" pitchFamily="18" charset="0"/>
                </a:endParaRPr>
              </a:p>
              <a:p>
                <a:pPr>
                  <a:buClr>
                    <a:schemeClr val="accent2"/>
                  </a:buClr>
                </a:pPr>
                <a:r>
                  <a:rPr lang="en-GB" sz="2400" b="1" kern="100" dirty="0">
                    <a:solidFill>
                      <a:srgbClr val="0000CC"/>
                    </a:solidFill>
                    <a:latin typeface="Century Gothic" panose="020B0502020202020204" pitchFamily="34" charset="0"/>
                    <a:ea typeface="Calibri" panose="020F0502020204030204" pitchFamily="34" charset="0"/>
                    <a:cs typeface="Times New Roman" panose="02020603050405020304" pitchFamily="18" charset="0"/>
                  </a:rPr>
                  <a:t>	</a:t>
                </a:r>
              </a:p>
              <a:p>
                <a:pPr>
                  <a:buClr>
                    <a:schemeClr val="accent2"/>
                  </a:buClr>
                </a:pPr>
                <a:r>
                  <a:rPr lang="en-GB" sz="2400" b="1" kern="100" dirty="0">
                    <a:solidFill>
                      <a:srgbClr val="0000CC"/>
                    </a:solidFill>
                    <a:latin typeface="Century Gothic" panose="020B0502020202020204" pitchFamily="34" charset="0"/>
                    <a:ea typeface="Calibri" panose="020F0502020204030204" pitchFamily="34" charset="0"/>
                    <a:cs typeface="Times New Roman" panose="02020603050405020304" pitchFamily="18" charset="0"/>
                  </a:rPr>
                  <a:t>		</a:t>
                </a:r>
              </a:p>
              <a:p>
                <a:pPr>
                  <a:buClr>
                    <a:schemeClr val="accent2"/>
                  </a:buClr>
                </a:pPr>
                <a:endParaRPr lang="en-GB" sz="2400" b="1" kern="100" dirty="0">
                  <a:solidFill>
                    <a:srgbClr val="0000CC"/>
                  </a:solidFill>
                  <a:latin typeface="Century Gothic" panose="020B0502020202020204" pitchFamily="34" charset="0"/>
                  <a:ea typeface="Calibri" panose="020F0502020204030204" pitchFamily="34" charset="0"/>
                  <a:cs typeface="Times New Roman" panose="02020603050405020304" pitchFamily="18" charset="0"/>
                </a:endParaRPr>
              </a:p>
              <a:p>
                <a:pPr>
                  <a:buClr>
                    <a:schemeClr val="accent2"/>
                  </a:buClr>
                </a:pPr>
                <a:r>
                  <a:rPr lang="en-GB" sz="2400" b="1" kern="100" dirty="0">
                    <a:solidFill>
                      <a:srgbClr val="0000CC"/>
                    </a:solidFill>
                    <a:latin typeface="Century Gothic" panose="020B0502020202020204" pitchFamily="34" charset="0"/>
                    <a:ea typeface="Calibri" panose="020F0502020204030204" pitchFamily="34" charset="0"/>
                    <a:cs typeface="Times New Roman" panose="02020603050405020304" pitchFamily="18" charset="0"/>
                  </a:rPr>
                  <a:t>	</a:t>
                </a:r>
              </a:p>
              <a:p>
                <a:pPr>
                  <a:buClr>
                    <a:schemeClr val="accent2"/>
                  </a:buClr>
                </a:pPr>
                <a:r>
                  <a:rPr lang="en-GB" sz="2400" b="1" kern="100" dirty="0">
                    <a:solidFill>
                      <a:srgbClr val="0000CC"/>
                    </a:solidFill>
                    <a:latin typeface="Century Gothic" panose="020B0502020202020204" pitchFamily="34" charset="0"/>
                    <a:ea typeface="Calibri" panose="020F0502020204030204" pitchFamily="34" charset="0"/>
                    <a:cs typeface="Times New Roman" panose="02020603050405020304" pitchFamily="18" charset="0"/>
                  </a:rPr>
                  <a:t>		</a:t>
                </a:r>
                <a:endParaRPr lang="en-GB" sz="2400" b="1" kern="100" dirty="0">
                  <a:solidFill>
                    <a:srgbClr val="0000CC"/>
                  </a:solidFill>
                  <a:effectLst/>
                  <a:latin typeface="Century Gothic" panose="020B0502020202020204" pitchFamily="34" charset="0"/>
                  <a:ea typeface="Calibri" panose="020F0502020204030204" pitchFamily="34" charset="0"/>
                  <a:cs typeface="Times New Roman" panose="02020603050405020304" pitchFamily="18" charset="0"/>
                </a:endParaRPr>
              </a:p>
            </p:txBody>
          </p:sp>
        </mc:Choice>
        <mc:Fallback xmlns="">
          <p:sp>
            <p:nvSpPr>
              <p:cNvPr id="6" name="TextBox 5">
                <a:extLst>
                  <a:ext uri="{FF2B5EF4-FFF2-40B4-BE49-F238E27FC236}">
                    <a16:creationId xmlns:a16="http://schemas.microsoft.com/office/drawing/2014/main" id="{6BAA1F11-5BEF-4D80-964F-A7332E36BFA0}"/>
                  </a:ext>
                </a:extLst>
              </p:cNvPr>
              <p:cNvSpPr txBox="1">
                <a:spLocks noRot="1" noChangeAspect="1" noMove="1" noResize="1" noEditPoints="1" noAdjustHandles="1" noChangeArrowheads="1" noChangeShapeType="1" noTextEdit="1"/>
              </p:cNvSpPr>
              <p:nvPr/>
            </p:nvSpPr>
            <p:spPr>
              <a:xfrm>
                <a:off x="145914" y="565502"/>
                <a:ext cx="11896929" cy="8323497"/>
              </a:xfrm>
              <a:prstGeom prst="rect">
                <a:avLst/>
              </a:prstGeom>
              <a:blipFill>
                <a:blip r:embed="rId2"/>
                <a:stretch>
                  <a:fillRect l="-665" t="-512"/>
                </a:stretch>
              </a:blipFill>
              <a:ln>
                <a:solidFill>
                  <a:srgbClr val="FF0066"/>
                </a:solidFill>
              </a:ln>
            </p:spPr>
            <p:txBody>
              <a:bodyPr/>
              <a:lstStyle/>
              <a:p>
                <a:r>
                  <a:rPr lang="en-US">
                    <a:noFill/>
                  </a:rPr>
                  <a:t> </a:t>
                </a:r>
              </a:p>
            </p:txBody>
          </p:sp>
        </mc:Fallback>
      </mc:AlternateContent>
      <p:sp>
        <p:nvSpPr>
          <p:cNvPr id="2" name="TextBox 1">
            <a:extLst>
              <a:ext uri="{FF2B5EF4-FFF2-40B4-BE49-F238E27FC236}">
                <a16:creationId xmlns:a16="http://schemas.microsoft.com/office/drawing/2014/main" id="{1BD8016C-B677-4BEB-86C7-5F4D5DE2B249}"/>
              </a:ext>
            </a:extLst>
          </p:cNvPr>
          <p:cNvSpPr txBox="1"/>
          <p:nvPr/>
        </p:nvSpPr>
        <p:spPr>
          <a:xfrm>
            <a:off x="5637178" y="3570051"/>
            <a:ext cx="65" cy="276999"/>
          </a:xfrm>
          <a:prstGeom prst="rect">
            <a:avLst/>
          </a:prstGeom>
          <a:noFill/>
        </p:spPr>
        <p:txBody>
          <a:bodyPr wrap="none" lIns="0" tIns="0" rIns="0" bIns="0" rtlCol="0">
            <a:spAutoFit/>
          </a:bodyPr>
          <a:lstStyle/>
          <a:p>
            <a:endParaRPr lang="en-US" dirty="0"/>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2B257604-6E36-419C-A938-A04540A238C2}"/>
                  </a:ext>
                </a:extLst>
              </p:cNvPr>
              <p:cNvSpPr txBox="1"/>
              <p:nvPr/>
            </p:nvSpPr>
            <p:spPr>
              <a:xfrm>
                <a:off x="5772149" y="3357562"/>
                <a:ext cx="3076443" cy="620939"/>
              </a:xfrm>
              <a:prstGeom prst="rect">
                <a:avLst/>
              </a:prstGeom>
              <a:solidFill>
                <a:srgbClr val="FF3386"/>
              </a:solidFill>
            </p:spPr>
            <p:txBody>
              <a:bodyPr wrap="square" rtlCol="0">
                <a:spAutoFit/>
              </a:bodyPr>
              <a:lstStyle/>
              <a:p>
                <a:r>
                  <a:rPr lang="en-US" dirty="0"/>
                  <a:t> </a:t>
                </a:r>
                <a14:m>
                  <m:oMath xmlns:m="http://schemas.openxmlformats.org/officeDocument/2006/math">
                    <m:sSub>
                      <m:sSubPr>
                        <m:ctrlPr>
                          <a:rPr lang="en-US" sz="2000" b="1" i="1" smtClean="0">
                            <a:solidFill>
                              <a:srgbClr val="0000CC"/>
                            </a:solidFill>
                            <a:latin typeface="Cambria Math" panose="02040503050406030204" pitchFamily="18" charset="0"/>
                          </a:rPr>
                        </m:ctrlPr>
                      </m:sSubPr>
                      <m:e>
                        <m:r>
                          <a:rPr lang="en-US" sz="2000" b="1" i="1" smtClean="0">
                            <a:solidFill>
                              <a:srgbClr val="0000CC"/>
                            </a:solidFill>
                            <a:latin typeface="Cambria Math" panose="02040503050406030204" pitchFamily="18" charset="0"/>
                          </a:rPr>
                          <m:t>𝑰</m:t>
                        </m:r>
                      </m:e>
                      <m:sub>
                        <m:r>
                          <a:rPr lang="en-US" sz="2000" b="1" i="1" smtClean="0">
                            <a:solidFill>
                              <a:srgbClr val="0000CC"/>
                            </a:solidFill>
                            <a:latin typeface="Cambria Math" panose="02040503050406030204" pitchFamily="18" charset="0"/>
                          </a:rPr>
                          <m:t>𝑳</m:t>
                        </m:r>
                      </m:sub>
                    </m:sSub>
                  </m:oMath>
                </a14:m>
                <a:r>
                  <a:rPr lang="en-US" sz="2000" b="1" dirty="0">
                    <a:solidFill>
                      <a:srgbClr val="0000CC"/>
                    </a:solidFill>
                  </a:rPr>
                  <a:t> = </a:t>
                </a:r>
                <a14:m>
                  <m:oMath xmlns:m="http://schemas.openxmlformats.org/officeDocument/2006/math">
                    <m:f>
                      <m:fPr>
                        <m:ctrlPr>
                          <a:rPr lang="en-US" sz="2000" b="1" i="1" smtClean="0">
                            <a:solidFill>
                              <a:srgbClr val="0000CC"/>
                            </a:solidFill>
                            <a:latin typeface="Cambria Math" panose="02040503050406030204" pitchFamily="18" charset="0"/>
                          </a:rPr>
                        </m:ctrlPr>
                      </m:fPr>
                      <m:num>
                        <m:sSub>
                          <m:sSubPr>
                            <m:ctrlPr>
                              <a:rPr lang="en-US" sz="2000" b="1" i="1" smtClean="0">
                                <a:solidFill>
                                  <a:srgbClr val="0000CC"/>
                                </a:solidFill>
                                <a:latin typeface="Cambria Math" panose="02040503050406030204" pitchFamily="18" charset="0"/>
                              </a:rPr>
                            </m:ctrlPr>
                          </m:sSubPr>
                          <m:e>
                            <m:r>
                              <a:rPr lang="en-US" sz="2000" b="1" i="1" smtClean="0">
                                <a:solidFill>
                                  <a:srgbClr val="0000CC"/>
                                </a:solidFill>
                                <a:latin typeface="Cambria Math" panose="02040503050406030204" pitchFamily="18" charset="0"/>
                              </a:rPr>
                              <m:t>𝑽</m:t>
                            </m:r>
                          </m:e>
                          <m:sub>
                            <m:r>
                              <a:rPr lang="en-US" sz="2000" b="1" i="1" smtClean="0">
                                <a:solidFill>
                                  <a:srgbClr val="0000CC"/>
                                </a:solidFill>
                                <a:latin typeface="Cambria Math" panose="02040503050406030204" pitchFamily="18" charset="0"/>
                              </a:rPr>
                              <m:t>𝒔</m:t>
                            </m:r>
                          </m:sub>
                        </m:sSub>
                      </m:num>
                      <m:den>
                        <m:sSup>
                          <m:sSupPr>
                            <m:ctrlPr>
                              <a:rPr lang="en-US" sz="2000" b="1" i="1" smtClean="0">
                                <a:solidFill>
                                  <a:srgbClr val="0000CC"/>
                                </a:solidFill>
                                <a:latin typeface="Cambria Math" panose="02040503050406030204" pitchFamily="18" charset="0"/>
                              </a:rPr>
                            </m:ctrlPr>
                          </m:sSupPr>
                          <m:e>
                            <m:d>
                              <m:dPr>
                                <m:ctrlPr>
                                  <a:rPr lang="en-US" sz="2000" b="1" i="1" smtClean="0">
                                    <a:solidFill>
                                      <a:srgbClr val="0000CC"/>
                                    </a:solidFill>
                                    <a:latin typeface="Cambria Math" panose="02040503050406030204" pitchFamily="18" charset="0"/>
                                  </a:rPr>
                                </m:ctrlPr>
                              </m:dPr>
                              <m:e>
                                <m:r>
                                  <a:rPr lang="en-US" sz="2000" b="1" i="1" smtClean="0">
                                    <a:solidFill>
                                      <a:srgbClr val="0000CC"/>
                                    </a:solidFill>
                                    <a:latin typeface="Cambria Math" panose="02040503050406030204" pitchFamily="18" charset="0"/>
                                  </a:rPr>
                                  <m:t>𝟏</m:t>
                                </m:r>
                                <m:r>
                                  <a:rPr lang="en-US" sz="2000" b="1" i="1" smtClean="0">
                                    <a:solidFill>
                                      <a:srgbClr val="0000CC"/>
                                    </a:solidFill>
                                    <a:latin typeface="Cambria Math" panose="02040503050406030204" pitchFamily="18" charset="0"/>
                                  </a:rPr>
                                  <m:t>−</m:t>
                                </m:r>
                                <m:r>
                                  <a:rPr lang="en-US" sz="2000" b="1" i="1" smtClean="0">
                                    <a:solidFill>
                                      <a:srgbClr val="0000CC"/>
                                    </a:solidFill>
                                    <a:latin typeface="Cambria Math" panose="02040503050406030204" pitchFamily="18" charset="0"/>
                                  </a:rPr>
                                  <m:t>𝑫</m:t>
                                </m:r>
                              </m:e>
                            </m:d>
                          </m:e>
                          <m:sup>
                            <m:r>
                              <a:rPr lang="en-US" sz="2000" b="1" i="1" smtClean="0">
                                <a:solidFill>
                                  <a:srgbClr val="0000CC"/>
                                </a:solidFill>
                                <a:latin typeface="Cambria Math" panose="02040503050406030204" pitchFamily="18" charset="0"/>
                              </a:rPr>
                              <m:t>𝟐</m:t>
                            </m:r>
                          </m:sup>
                        </m:sSup>
                        <m:r>
                          <a:rPr lang="en-US" sz="2000" b="1" i="1" smtClean="0">
                            <a:solidFill>
                              <a:srgbClr val="0000CC"/>
                            </a:solidFill>
                            <a:latin typeface="Cambria Math" panose="02040503050406030204" pitchFamily="18" charset="0"/>
                          </a:rPr>
                          <m:t>𝑹</m:t>
                        </m:r>
                      </m:den>
                    </m:f>
                  </m:oMath>
                </a14:m>
                <a:r>
                  <a:rPr lang="en-US" sz="2000" b="1" dirty="0">
                    <a:solidFill>
                      <a:srgbClr val="0000CC"/>
                    </a:solidFill>
                  </a:rPr>
                  <a:t> = </a:t>
                </a:r>
                <a14:m>
                  <m:oMath xmlns:m="http://schemas.openxmlformats.org/officeDocument/2006/math">
                    <m:f>
                      <m:fPr>
                        <m:ctrlPr>
                          <a:rPr lang="en-US" sz="2000" b="1" i="1" smtClean="0">
                            <a:solidFill>
                              <a:srgbClr val="0000CC"/>
                            </a:solidFill>
                            <a:latin typeface="Cambria Math" panose="02040503050406030204" pitchFamily="18" charset="0"/>
                          </a:rPr>
                        </m:ctrlPr>
                      </m:fPr>
                      <m:num>
                        <m:sSubSup>
                          <m:sSubSupPr>
                            <m:ctrlPr>
                              <a:rPr lang="en-US" sz="2000" b="1" i="1" smtClean="0">
                                <a:solidFill>
                                  <a:srgbClr val="0000CC"/>
                                </a:solidFill>
                                <a:latin typeface="Cambria Math" panose="02040503050406030204" pitchFamily="18" charset="0"/>
                              </a:rPr>
                            </m:ctrlPr>
                          </m:sSubSupPr>
                          <m:e>
                            <m:r>
                              <a:rPr lang="en-US" sz="2000" b="1" i="1" smtClean="0">
                                <a:solidFill>
                                  <a:srgbClr val="0000CC"/>
                                </a:solidFill>
                                <a:latin typeface="Cambria Math" panose="02040503050406030204" pitchFamily="18" charset="0"/>
                              </a:rPr>
                              <m:t>𝑽</m:t>
                            </m:r>
                          </m:e>
                          <m:sub>
                            <m:r>
                              <a:rPr lang="en-US" sz="2000" b="1" i="1" smtClean="0">
                                <a:solidFill>
                                  <a:srgbClr val="0000CC"/>
                                </a:solidFill>
                                <a:latin typeface="Cambria Math" panose="02040503050406030204" pitchFamily="18" charset="0"/>
                              </a:rPr>
                              <m:t>𝒐</m:t>
                            </m:r>
                          </m:sub>
                          <m:sup>
                            <m:r>
                              <a:rPr lang="en-US" sz="2000" b="1" i="1" smtClean="0">
                                <a:solidFill>
                                  <a:srgbClr val="0000CC"/>
                                </a:solidFill>
                                <a:latin typeface="Cambria Math" panose="02040503050406030204" pitchFamily="18" charset="0"/>
                              </a:rPr>
                              <m:t>𝟐</m:t>
                            </m:r>
                          </m:sup>
                        </m:sSubSup>
                      </m:num>
                      <m:den>
                        <m:sSub>
                          <m:sSubPr>
                            <m:ctrlPr>
                              <a:rPr lang="en-US" sz="2000" b="1" i="1" smtClean="0">
                                <a:solidFill>
                                  <a:srgbClr val="0000CC"/>
                                </a:solidFill>
                                <a:latin typeface="Cambria Math" panose="02040503050406030204" pitchFamily="18" charset="0"/>
                              </a:rPr>
                            </m:ctrlPr>
                          </m:sSubPr>
                          <m:e>
                            <m:r>
                              <a:rPr lang="en-US" sz="2000" b="1" i="1" smtClean="0">
                                <a:solidFill>
                                  <a:srgbClr val="0000CC"/>
                                </a:solidFill>
                                <a:latin typeface="Cambria Math" panose="02040503050406030204" pitchFamily="18" charset="0"/>
                              </a:rPr>
                              <m:t>𝑽</m:t>
                            </m:r>
                          </m:e>
                          <m:sub>
                            <m:r>
                              <a:rPr lang="en-US" sz="2000" b="1" i="1" smtClean="0">
                                <a:solidFill>
                                  <a:srgbClr val="0000CC"/>
                                </a:solidFill>
                                <a:latin typeface="Cambria Math" panose="02040503050406030204" pitchFamily="18" charset="0"/>
                              </a:rPr>
                              <m:t>𝒔</m:t>
                            </m:r>
                          </m:sub>
                        </m:sSub>
                        <m:r>
                          <a:rPr lang="en-US" sz="2000" b="1" i="1" smtClean="0">
                            <a:solidFill>
                              <a:srgbClr val="0000CC"/>
                            </a:solidFill>
                            <a:latin typeface="Cambria Math" panose="02040503050406030204" pitchFamily="18" charset="0"/>
                          </a:rPr>
                          <m:t>𝑹</m:t>
                        </m:r>
                      </m:den>
                    </m:f>
                  </m:oMath>
                </a14:m>
                <a:r>
                  <a:rPr lang="en-US" sz="2000" b="1" dirty="0">
                    <a:solidFill>
                      <a:srgbClr val="0000CC"/>
                    </a:solidFill>
                  </a:rPr>
                  <a:t> = </a:t>
                </a:r>
                <a14:m>
                  <m:oMath xmlns:m="http://schemas.openxmlformats.org/officeDocument/2006/math">
                    <m:f>
                      <m:fPr>
                        <m:ctrlPr>
                          <a:rPr lang="en-US" sz="2000" b="1" i="1" smtClean="0">
                            <a:solidFill>
                              <a:srgbClr val="0000CC"/>
                            </a:solidFill>
                            <a:latin typeface="Cambria Math" panose="02040503050406030204" pitchFamily="18" charset="0"/>
                          </a:rPr>
                        </m:ctrlPr>
                      </m:fPr>
                      <m:num>
                        <m:sSub>
                          <m:sSubPr>
                            <m:ctrlPr>
                              <a:rPr lang="en-US" sz="2000" b="1" i="1" smtClean="0">
                                <a:solidFill>
                                  <a:srgbClr val="0000CC"/>
                                </a:solidFill>
                                <a:latin typeface="Cambria Math" panose="02040503050406030204" pitchFamily="18" charset="0"/>
                              </a:rPr>
                            </m:ctrlPr>
                          </m:sSubPr>
                          <m:e>
                            <m:r>
                              <a:rPr lang="en-US" sz="2000" b="1" i="1" smtClean="0">
                                <a:solidFill>
                                  <a:srgbClr val="0000CC"/>
                                </a:solidFill>
                                <a:latin typeface="Cambria Math" panose="02040503050406030204" pitchFamily="18" charset="0"/>
                              </a:rPr>
                              <m:t>𝑽</m:t>
                            </m:r>
                          </m:e>
                          <m:sub>
                            <m:r>
                              <a:rPr lang="en-US" sz="2000" b="1" i="1" smtClean="0">
                                <a:solidFill>
                                  <a:srgbClr val="0000CC"/>
                                </a:solidFill>
                                <a:latin typeface="Cambria Math" panose="02040503050406030204" pitchFamily="18" charset="0"/>
                              </a:rPr>
                              <m:t>𝒐</m:t>
                            </m:r>
                          </m:sub>
                        </m:sSub>
                        <m:sSub>
                          <m:sSubPr>
                            <m:ctrlPr>
                              <a:rPr lang="en-US" sz="2000" b="1" i="1" smtClean="0">
                                <a:solidFill>
                                  <a:srgbClr val="0000CC"/>
                                </a:solidFill>
                                <a:latin typeface="Cambria Math" panose="02040503050406030204" pitchFamily="18" charset="0"/>
                              </a:rPr>
                            </m:ctrlPr>
                          </m:sSubPr>
                          <m:e>
                            <m:r>
                              <a:rPr lang="en-US" sz="2000" b="1" i="1" smtClean="0">
                                <a:solidFill>
                                  <a:srgbClr val="0000CC"/>
                                </a:solidFill>
                                <a:latin typeface="Cambria Math" panose="02040503050406030204" pitchFamily="18" charset="0"/>
                              </a:rPr>
                              <m:t>𝑰</m:t>
                            </m:r>
                          </m:e>
                          <m:sub>
                            <m:r>
                              <a:rPr lang="en-US" sz="2000" b="1" i="1" smtClean="0">
                                <a:solidFill>
                                  <a:srgbClr val="0000CC"/>
                                </a:solidFill>
                                <a:latin typeface="Cambria Math" panose="02040503050406030204" pitchFamily="18" charset="0"/>
                              </a:rPr>
                              <m:t>𝒐</m:t>
                            </m:r>
                          </m:sub>
                        </m:sSub>
                      </m:num>
                      <m:den>
                        <m:sSub>
                          <m:sSubPr>
                            <m:ctrlPr>
                              <a:rPr lang="en-US" sz="2000" b="1" i="1" smtClean="0">
                                <a:solidFill>
                                  <a:srgbClr val="0000CC"/>
                                </a:solidFill>
                                <a:latin typeface="Cambria Math" panose="02040503050406030204" pitchFamily="18" charset="0"/>
                              </a:rPr>
                            </m:ctrlPr>
                          </m:sSubPr>
                          <m:e>
                            <m:r>
                              <a:rPr lang="en-US" sz="2000" b="1" i="1" smtClean="0">
                                <a:solidFill>
                                  <a:srgbClr val="0000CC"/>
                                </a:solidFill>
                                <a:latin typeface="Cambria Math" panose="02040503050406030204" pitchFamily="18" charset="0"/>
                              </a:rPr>
                              <m:t>𝑽</m:t>
                            </m:r>
                          </m:e>
                          <m:sub>
                            <m:r>
                              <a:rPr lang="en-US" sz="2000" b="1" i="1" smtClean="0">
                                <a:solidFill>
                                  <a:srgbClr val="0000CC"/>
                                </a:solidFill>
                                <a:latin typeface="Cambria Math" panose="02040503050406030204" pitchFamily="18" charset="0"/>
                              </a:rPr>
                              <m:t>𝒔</m:t>
                            </m:r>
                          </m:sub>
                        </m:sSub>
                      </m:den>
                    </m:f>
                  </m:oMath>
                </a14:m>
                <a:endParaRPr lang="en-US" sz="2000" b="1" dirty="0"/>
              </a:p>
            </p:txBody>
          </p:sp>
        </mc:Choice>
        <mc:Fallback xmlns="">
          <p:sp>
            <p:nvSpPr>
              <p:cNvPr id="7" name="TextBox 6">
                <a:extLst>
                  <a:ext uri="{FF2B5EF4-FFF2-40B4-BE49-F238E27FC236}">
                    <a16:creationId xmlns:a16="http://schemas.microsoft.com/office/drawing/2014/main" id="{2B257604-6E36-419C-A938-A04540A238C2}"/>
                  </a:ext>
                </a:extLst>
              </p:cNvPr>
              <p:cNvSpPr txBox="1">
                <a:spLocks noRot="1" noChangeAspect="1" noMove="1" noResize="1" noEditPoints="1" noAdjustHandles="1" noChangeArrowheads="1" noChangeShapeType="1" noTextEdit="1"/>
              </p:cNvSpPr>
              <p:nvPr/>
            </p:nvSpPr>
            <p:spPr>
              <a:xfrm>
                <a:off x="5772149" y="3357562"/>
                <a:ext cx="3076443" cy="620939"/>
              </a:xfrm>
              <a:prstGeom prst="rect">
                <a:avLst/>
              </a:prstGeom>
              <a:blipFill>
                <a:blip r:embed="rId3"/>
                <a:stretch>
                  <a:fillRect b="-98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F67F2936-A298-4C12-A329-0CE15F9FD94A}"/>
                  </a:ext>
                </a:extLst>
              </p:cNvPr>
              <p:cNvSpPr txBox="1"/>
              <p:nvPr/>
            </p:nvSpPr>
            <p:spPr>
              <a:xfrm>
                <a:off x="666750" y="5474935"/>
                <a:ext cx="3400426" cy="519886"/>
              </a:xfrm>
              <a:prstGeom prst="rect">
                <a:avLst/>
              </a:prstGeom>
              <a:solidFill>
                <a:srgbClr val="FF3386"/>
              </a:solidFill>
            </p:spPr>
            <p:txBody>
              <a:bodyPr wrap="square" rtlCol="0">
                <a:spAutoFit/>
              </a:bodyPr>
              <a:lstStyle/>
              <a:p>
                <a14:m>
                  <m:oMath xmlns:m="http://schemas.openxmlformats.org/officeDocument/2006/math">
                    <m:sSub>
                      <m:sSubPr>
                        <m:ctrlPr>
                          <a:rPr lang="en-US" b="1" i="1" smtClean="0">
                            <a:solidFill>
                              <a:srgbClr val="0000CC"/>
                            </a:solidFill>
                            <a:latin typeface="Cambria Math" panose="02040503050406030204" pitchFamily="18" charset="0"/>
                          </a:rPr>
                        </m:ctrlPr>
                      </m:sSubPr>
                      <m:e>
                        <m:r>
                          <a:rPr lang="en-US" b="1" i="1" smtClean="0">
                            <a:solidFill>
                              <a:srgbClr val="0000CC"/>
                            </a:solidFill>
                            <a:latin typeface="Cambria Math" panose="02040503050406030204" pitchFamily="18" charset="0"/>
                          </a:rPr>
                          <m:t>𝑰</m:t>
                        </m:r>
                      </m:e>
                      <m:sub>
                        <m:r>
                          <a:rPr lang="en-US" b="1" i="1" smtClean="0">
                            <a:solidFill>
                              <a:srgbClr val="0000CC"/>
                            </a:solidFill>
                            <a:latin typeface="Cambria Math" panose="02040503050406030204" pitchFamily="18" charset="0"/>
                          </a:rPr>
                          <m:t>𝒎𝒂𝒙</m:t>
                        </m:r>
                      </m:sub>
                    </m:sSub>
                    <m:r>
                      <a:rPr lang="en-US" b="1" i="1" smtClean="0">
                        <a:solidFill>
                          <a:srgbClr val="0000CC"/>
                        </a:solidFill>
                        <a:latin typeface="Cambria Math" panose="02040503050406030204" pitchFamily="18" charset="0"/>
                      </a:rPr>
                      <m:t>=</m:t>
                    </m:r>
                  </m:oMath>
                </a14:m>
                <a:r>
                  <a:rPr lang="en-US" b="1" i="1" dirty="0">
                    <a:solidFill>
                      <a:srgbClr val="0000CC"/>
                    </a:solidFill>
                  </a:rPr>
                  <a:t> </a:t>
                </a:r>
                <a14:m>
                  <m:oMath xmlns:m="http://schemas.openxmlformats.org/officeDocument/2006/math">
                    <m:sSub>
                      <m:sSubPr>
                        <m:ctrlPr>
                          <a:rPr lang="en-US" b="1" i="1" dirty="0" smtClean="0">
                            <a:solidFill>
                              <a:srgbClr val="0000CC"/>
                            </a:solidFill>
                            <a:latin typeface="Cambria Math" panose="02040503050406030204" pitchFamily="18" charset="0"/>
                          </a:rPr>
                        </m:ctrlPr>
                      </m:sSubPr>
                      <m:e>
                        <m:r>
                          <a:rPr lang="en-US" b="1" i="1" dirty="0" smtClean="0">
                            <a:solidFill>
                              <a:srgbClr val="0000CC"/>
                            </a:solidFill>
                            <a:latin typeface="Cambria Math" panose="02040503050406030204" pitchFamily="18" charset="0"/>
                          </a:rPr>
                          <m:t>𝑰</m:t>
                        </m:r>
                      </m:e>
                      <m:sub>
                        <m:r>
                          <a:rPr lang="en-US" b="1" i="1" dirty="0" smtClean="0">
                            <a:solidFill>
                              <a:srgbClr val="0000CC"/>
                            </a:solidFill>
                            <a:latin typeface="Cambria Math" panose="02040503050406030204" pitchFamily="18" charset="0"/>
                          </a:rPr>
                          <m:t>𝑳</m:t>
                        </m:r>
                      </m:sub>
                    </m:sSub>
                    <m:r>
                      <a:rPr lang="en-US" b="1" i="1" dirty="0" smtClean="0">
                        <a:solidFill>
                          <a:srgbClr val="0000CC"/>
                        </a:solidFill>
                        <a:latin typeface="Cambria Math" panose="02040503050406030204" pitchFamily="18" charset="0"/>
                        <a:ea typeface="Cambria Math" panose="02040503050406030204" pitchFamily="18" charset="0"/>
                      </a:rPr>
                      <m:t>+</m:t>
                    </m:r>
                  </m:oMath>
                </a14:m>
                <a:r>
                  <a:rPr lang="en-US" b="1" i="1" dirty="0">
                    <a:solidFill>
                      <a:srgbClr val="0000CC"/>
                    </a:solidFill>
                  </a:rPr>
                  <a:t> </a:t>
                </a:r>
                <a14:m>
                  <m:oMath xmlns:m="http://schemas.openxmlformats.org/officeDocument/2006/math">
                    <m:f>
                      <m:fPr>
                        <m:ctrlPr>
                          <a:rPr lang="en-US" b="1" i="1" dirty="0" smtClean="0">
                            <a:solidFill>
                              <a:srgbClr val="0000CC"/>
                            </a:solidFill>
                            <a:latin typeface="Cambria Math" panose="02040503050406030204" pitchFamily="18" charset="0"/>
                          </a:rPr>
                        </m:ctrlPr>
                      </m:fPr>
                      <m:num>
                        <m:sSub>
                          <m:sSubPr>
                            <m:ctrlPr>
                              <a:rPr lang="en-US" b="1" i="1" dirty="0" smtClean="0">
                                <a:solidFill>
                                  <a:srgbClr val="0000CC"/>
                                </a:solidFill>
                                <a:latin typeface="Cambria Math" panose="02040503050406030204" pitchFamily="18" charset="0"/>
                              </a:rPr>
                            </m:ctrlPr>
                          </m:sSubPr>
                          <m:e>
                            <m:r>
                              <a:rPr lang="en-US" b="1" i="1" dirty="0" smtClean="0">
                                <a:solidFill>
                                  <a:srgbClr val="0000CC"/>
                                </a:solidFill>
                                <a:latin typeface="Cambria Math" panose="02040503050406030204" pitchFamily="18" charset="0"/>
                                <a:ea typeface="Cambria Math" panose="02040503050406030204" pitchFamily="18" charset="0"/>
                              </a:rPr>
                              <m:t>∆</m:t>
                            </m:r>
                            <m:r>
                              <a:rPr lang="en-US" b="1" i="1" dirty="0" smtClean="0">
                                <a:solidFill>
                                  <a:srgbClr val="0000CC"/>
                                </a:solidFill>
                                <a:latin typeface="Cambria Math" panose="02040503050406030204" pitchFamily="18" charset="0"/>
                                <a:ea typeface="Cambria Math" panose="02040503050406030204" pitchFamily="18" charset="0"/>
                              </a:rPr>
                              <m:t>𝒊</m:t>
                            </m:r>
                          </m:e>
                          <m:sub>
                            <m:r>
                              <a:rPr lang="en-US" b="1" i="1" dirty="0" smtClean="0">
                                <a:solidFill>
                                  <a:srgbClr val="0000CC"/>
                                </a:solidFill>
                                <a:latin typeface="Cambria Math" panose="02040503050406030204" pitchFamily="18" charset="0"/>
                              </a:rPr>
                              <m:t>𝑳</m:t>
                            </m:r>
                          </m:sub>
                        </m:sSub>
                      </m:num>
                      <m:den>
                        <m:r>
                          <a:rPr lang="en-US" b="1" i="1" dirty="0" smtClean="0">
                            <a:solidFill>
                              <a:srgbClr val="0000CC"/>
                            </a:solidFill>
                            <a:latin typeface="Cambria Math" panose="02040503050406030204" pitchFamily="18" charset="0"/>
                          </a:rPr>
                          <m:t>𝟐</m:t>
                        </m:r>
                      </m:den>
                    </m:f>
                  </m:oMath>
                </a14:m>
                <a:r>
                  <a:rPr lang="en-US" b="1" i="1" dirty="0">
                    <a:solidFill>
                      <a:srgbClr val="0000CC"/>
                    </a:solidFill>
                  </a:rPr>
                  <a:t> = </a:t>
                </a:r>
                <a14:m>
                  <m:oMath xmlns:m="http://schemas.openxmlformats.org/officeDocument/2006/math">
                    <m:f>
                      <m:fPr>
                        <m:ctrlPr>
                          <a:rPr lang="en-US" b="1" i="1" smtClean="0">
                            <a:solidFill>
                              <a:srgbClr val="0000CC"/>
                            </a:solidFill>
                            <a:latin typeface="Cambria Math" panose="02040503050406030204" pitchFamily="18" charset="0"/>
                          </a:rPr>
                        </m:ctrlPr>
                      </m:fPr>
                      <m:num>
                        <m:sSub>
                          <m:sSubPr>
                            <m:ctrlPr>
                              <a:rPr lang="en-US" b="1" i="1" smtClean="0">
                                <a:solidFill>
                                  <a:srgbClr val="0000CC"/>
                                </a:solidFill>
                                <a:latin typeface="Cambria Math" panose="02040503050406030204" pitchFamily="18" charset="0"/>
                              </a:rPr>
                            </m:ctrlPr>
                          </m:sSubPr>
                          <m:e>
                            <m:r>
                              <a:rPr lang="en-US" b="1" i="1" smtClean="0">
                                <a:solidFill>
                                  <a:srgbClr val="0000CC"/>
                                </a:solidFill>
                                <a:latin typeface="Cambria Math" panose="02040503050406030204" pitchFamily="18" charset="0"/>
                              </a:rPr>
                              <m:t>𝑽</m:t>
                            </m:r>
                          </m:e>
                          <m:sub>
                            <m:r>
                              <a:rPr lang="en-US" b="1" i="1" smtClean="0">
                                <a:solidFill>
                                  <a:srgbClr val="0000CC"/>
                                </a:solidFill>
                                <a:latin typeface="Cambria Math" panose="02040503050406030204" pitchFamily="18" charset="0"/>
                              </a:rPr>
                              <m:t>𝒔</m:t>
                            </m:r>
                          </m:sub>
                        </m:sSub>
                      </m:num>
                      <m:den>
                        <m:sSup>
                          <m:sSupPr>
                            <m:ctrlPr>
                              <a:rPr lang="en-US" b="1" i="1" smtClean="0">
                                <a:solidFill>
                                  <a:srgbClr val="0000CC"/>
                                </a:solidFill>
                                <a:latin typeface="Cambria Math" panose="02040503050406030204" pitchFamily="18" charset="0"/>
                              </a:rPr>
                            </m:ctrlPr>
                          </m:sSupPr>
                          <m:e>
                            <m:d>
                              <m:dPr>
                                <m:ctrlPr>
                                  <a:rPr lang="en-US" b="1" i="1" smtClean="0">
                                    <a:solidFill>
                                      <a:srgbClr val="0000CC"/>
                                    </a:solidFill>
                                    <a:latin typeface="Cambria Math" panose="02040503050406030204" pitchFamily="18" charset="0"/>
                                  </a:rPr>
                                </m:ctrlPr>
                              </m:dPr>
                              <m:e>
                                <m:r>
                                  <a:rPr lang="en-US" b="1" i="1" smtClean="0">
                                    <a:solidFill>
                                      <a:srgbClr val="0000CC"/>
                                    </a:solidFill>
                                    <a:latin typeface="Cambria Math" panose="02040503050406030204" pitchFamily="18" charset="0"/>
                                  </a:rPr>
                                  <m:t>𝟏</m:t>
                                </m:r>
                                <m:r>
                                  <a:rPr lang="en-US" b="1" i="1" smtClean="0">
                                    <a:solidFill>
                                      <a:srgbClr val="0000CC"/>
                                    </a:solidFill>
                                    <a:latin typeface="Cambria Math" panose="02040503050406030204" pitchFamily="18" charset="0"/>
                                  </a:rPr>
                                  <m:t>−</m:t>
                                </m:r>
                                <m:r>
                                  <a:rPr lang="en-US" b="1" i="1" smtClean="0">
                                    <a:solidFill>
                                      <a:srgbClr val="0000CC"/>
                                    </a:solidFill>
                                    <a:latin typeface="Cambria Math" panose="02040503050406030204" pitchFamily="18" charset="0"/>
                                  </a:rPr>
                                  <m:t>𝑫</m:t>
                                </m:r>
                              </m:e>
                            </m:d>
                          </m:e>
                          <m:sup>
                            <m:r>
                              <a:rPr lang="en-US" b="1" i="1" smtClean="0">
                                <a:solidFill>
                                  <a:srgbClr val="0000CC"/>
                                </a:solidFill>
                                <a:latin typeface="Cambria Math" panose="02040503050406030204" pitchFamily="18" charset="0"/>
                              </a:rPr>
                              <m:t>𝟐</m:t>
                            </m:r>
                          </m:sup>
                        </m:sSup>
                        <m:r>
                          <a:rPr lang="en-US" b="1" i="1" smtClean="0">
                            <a:solidFill>
                              <a:srgbClr val="0000CC"/>
                            </a:solidFill>
                            <a:latin typeface="Cambria Math" panose="02040503050406030204" pitchFamily="18" charset="0"/>
                          </a:rPr>
                          <m:t>𝑹</m:t>
                        </m:r>
                      </m:den>
                    </m:f>
                  </m:oMath>
                </a14:m>
                <a:r>
                  <a:rPr lang="en-US" b="1" i="1" dirty="0">
                    <a:solidFill>
                      <a:srgbClr val="0000CC"/>
                    </a:solidFill>
                  </a:rPr>
                  <a:t> </a:t>
                </a:r>
                <a14:m>
                  <m:oMath xmlns:m="http://schemas.openxmlformats.org/officeDocument/2006/math">
                    <m:r>
                      <a:rPr lang="en-US" b="1" i="1" dirty="0" smtClean="0">
                        <a:solidFill>
                          <a:srgbClr val="0000CC"/>
                        </a:solidFill>
                        <a:latin typeface="Cambria Math" panose="02040503050406030204" pitchFamily="18" charset="0"/>
                        <a:ea typeface="Cambria Math" panose="02040503050406030204" pitchFamily="18" charset="0"/>
                      </a:rPr>
                      <m:t>+</m:t>
                    </m:r>
                  </m:oMath>
                </a14:m>
                <a:r>
                  <a:rPr lang="en-US" b="1" i="1" dirty="0">
                    <a:solidFill>
                      <a:srgbClr val="0000CC"/>
                    </a:solidFill>
                  </a:rPr>
                  <a:t> </a:t>
                </a:r>
                <a14:m>
                  <m:oMath xmlns:m="http://schemas.openxmlformats.org/officeDocument/2006/math">
                    <m:f>
                      <m:fPr>
                        <m:ctrlPr>
                          <a:rPr lang="en-US" b="1" i="1" dirty="0" smtClean="0">
                            <a:solidFill>
                              <a:srgbClr val="0000CC"/>
                            </a:solidFill>
                            <a:latin typeface="Cambria Math" panose="02040503050406030204" pitchFamily="18" charset="0"/>
                          </a:rPr>
                        </m:ctrlPr>
                      </m:fPr>
                      <m:num>
                        <m:sSub>
                          <m:sSubPr>
                            <m:ctrlPr>
                              <a:rPr lang="en-US" b="1" i="1" dirty="0" smtClean="0">
                                <a:solidFill>
                                  <a:srgbClr val="0000CC"/>
                                </a:solidFill>
                                <a:latin typeface="Cambria Math" panose="02040503050406030204" pitchFamily="18" charset="0"/>
                              </a:rPr>
                            </m:ctrlPr>
                          </m:sSubPr>
                          <m:e>
                            <m:r>
                              <a:rPr lang="en-US" b="1" i="1" dirty="0" smtClean="0">
                                <a:solidFill>
                                  <a:srgbClr val="0000CC"/>
                                </a:solidFill>
                                <a:latin typeface="Cambria Math" panose="02040503050406030204" pitchFamily="18" charset="0"/>
                              </a:rPr>
                              <m:t>𝑽</m:t>
                            </m:r>
                          </m:e>
                          <m:sub>
                            <m:r>
                              <a:rPr lang="en-US" b="1" i="1" dirty="0" smtClean="0">
                                <a:solidFill>
                                  <a:srgbClr val="0000CC"/>
                                </a:solidFill>
                                <a:latin typeface="Cambria Math" panose="02040503050406030204" pitchFamily="18" charset="0"/>
                              </a:rPr>
                              <m:t>𝒔</m:t>
                            </m:r>
                          </m:sub>
                        </m:sSub>
                        <m:r>
                          <a:rPr lang="en-US" b="1" i="1" dirty="0" smtClean="0">
                            <a:solidFill>
                              <a:srgbClr val="0000CC"/>
                            </a:solidFill>
                            <a:latin typeface="Cambria Math" panose="02040503050406030204" pitchFamily="18" charset="0"/>
                          </a:rPr>
                          <m:t>𝑫𝑻</m:t>
                        </m:r>
                      </m:num>
                      <m:den>
                        <m:r>
                          <a:rPr lang="en-US" b="1" i="1" dirty="0" smtClean="0">
                            <a:solidFill>
                              <a:srgbClr val="0000CC"/>
                            </a:solidFill>
                            <a:latin typeface="Cambria Math" panose="02040503050406030204" pitchFamily="18" charset="0"/>
                          </a:rPr>
                          <m:t>𝟐</m:t>
                        </m:r>
                        <m:r>
                          <a:rPr lang="en-US" b="1" i="1" dirty="0" smtClean="0">
                            <a:solidFill>
                              <a:srgbClr val="0000CC"/>
                            </a:solidFill>
                            <a:latin typeface="Cambria Math" panose="02040503050406030204" pitchFamily="18" charset="0"/>
                          </a:rPr>
                          <m:t>𝑳</m:t>
                        </m:r>
                      </m:den>
                    </m:f>
                  </m:oMath>
                </a14:m>
                <a:endParaRPr lang="en-US" b="1" i="1" dirty="0">
                  <a:solidFill>
                    <a:srgbClr val="0000CC"/>
                  </a:solidFill>
                </a:endParaRPr>
              </a:p>
            </p:txBody>
          </p:sp>
        </mc:Choice>
        <mc:Fallback xmlns="">
          <p:sp>
            <p:nvSpPr>
              <p:cNvPr id="8" name="TextBox 7">
                <a:extLst>
                  <a:ext uri="{FF2B5EF4-FFF2-40B4-BE49-F238E27FC236}">
                    <a16:creationId xmlns:a16="http://schemas.microsoft.com/office/drawing/2014/main" id="{F67F2936-A298-4C12-A329-0CE15F9FD94A}"/>
                  </a:ext>
                </a:extLst>
              </p:cNvPr>
              <p:cNvSpPr txBox="1">
                <a:spLocks noRot="1" noChangeAspect="1" noMove="1" noResize="1" noEditPoints="1" noAdjustHandles="1" noChangeArrowheads="1" noChangeShapeType="1" noTextEdit="1"/>
              </p:cNvSpPr>
              <p:nvPr/>
            </p:nvSpPr>
            <p:spPr>
              <a:xfrm>
                <a:off x="666750" y="5474935"/>
                <a:ext cx="3400426" cy="519886"/>
              </a:xfrm>
              <a:prstGeom prst="rect">
                <a:avLst/>
              </a:prstGeom>
              <a:blipFill>
                <a:blip r:embed="rId4"/>
                <a:stretch>
                  <a:fillRect b="-235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A0BBDC0D-3EE9-4F70-B717-99F20BB92B56}"/>
                  </a:ext>
                </a:extLst>
              </p:cNvPr>
              <p:cNvSpPr txBox="1"/>
              <p:nvPr/>
            </p:nvSpPr>
            <p:spPr>
              <a:xfrm>
                <a:off x="5372099" y="5474935"/>
                <a:ext cx="3076316" cy="519886"/>
              </a:xfrm>
              <a:prstGeom prst="rect">
                <a:avLst/>
              </a:prstGeom>
              <a:solidFill>
                <a:srgbClr val="FF3386"/>
              </a:solidFill>
            </p:spPr>
            <p:txBody>
              <a:bodyPr wrap="square" rtlCol="0">
                <a:spAutoFit/>
              </a:bodyPr>
              <a:lstStyle/>
              <a:p>
                <a14:m>
                  <m:oMath xmlns:m="http://schemas.openxmlformats.org/officeDocument/2006/math">
                    <m:sSub>
                      <m:sSubPr>
                        <m:ctrlPr>
                          <a:rPr lang="en-US" b="1" i="1" smtClean="0">
                            <a:solidFill>
                              <a:srgbClr val="0000CC"/>
                            </a:solidFill>
                            <a:latin typeface="Cambria Math" panose="02040503050406030204" pitchFamily="18" charset="0"/>
                          </a:rPr>
                        </m:ctrlPr>
                      </m:sSubPr>
                      <m:e>
                        <m:r>
                          <a:rPr lang="en-US" b="1" i="1" smtClean="0">
                            <a:solidFill>
                              <a:srgbClr val="0000CC"/>
                            </a:solidFill>
                            <a:latin typeface="Cambria Math" panose="02040503050406030204" pitchFamily="18" charset="0"/>
                          </a:rPr>
                          <m:t>𝑰</m:t>
                        </m:r>
                      </m:e>
                      <m:sub>
                        <m:r>
                          <a:rPr lang="en-US" b="1" i="1" smtClean="0">
                            <a:solidFill>
                              <a:srgbClr val="0000CC"/>
                            </a:solidFill>
                            <a:latin typeface="Cambria Math" panose="02040503050406030204" pitchFamily="18" charset="0"/>
                          </a:rPr>
                          <m:t>𝒎𝒊𝒏</m:t>
                        </m:r>
                      </m:sub>
                    </m:sSub>
                  </m:oMath>
                </a14:m>
                <a:r>
                  <a:rPr lang="en-US" b="1" dirty="0">
                    <a:solidFill>
                      <a:srgbClr val="0000CC"/>
                    </a:solidFill>
                  </a:rPr>
                  <a:t> = </a:t>
                </a:r>
                <a14:m>
                  <m:oMath xmlns:m="http://schemas.openxmlformats.org/officeDocument/2006/math">
                    <m:sSub>
                      <m:sSubPr>
                        <m:ctrlPr>
                          <a:rPr lang="en-US" b="1" i="1" smtClean="0">
                            <a:solidFill>
                              <a:srgbClr val="0000CC"/>
                            </a:solidFill>
                            <a:latin typeface="Cambria Math" panose="02040503050406030204" pitchFamily="18" charset="0"/>
                          </a:rPr>
                        </m:ctrlPr>
                      </m:sSubPr>
                      <m:e>
                        <m:r>
                          <a:rPr lang="en-US" b="1" i="1" smtClean="0">
                            <a:solidFill>
                              <a:srgbClr val="0000CC"/>
                            </a:solidFill>
                            <a:latin typeface="Cambria Math" panose="02040503050406030204" pitchFamily="18" charset="0"/>
                          </a:rPr>
                          <m:t>𝑰</m:t>
                        </m:r>
                      </m:e>
                      <m:sub>
                        <m:r>
                          <a:rPr lang="en-US" b="1" i="1" smtClean="0">
                            <a:solidFill>
                              <a:srgbClr val="0000CC"/>
                            </a:solidFill>
                            <a:latin typeface="Cambria Math" panose="02040503050406030204" pitchFamily="18" charset="0"/>
                          </a:rPr>
                          <m:t>𝑳</m:t>
                        </m:r>
                      </m:sub>
                    </m:sSub>
                    <m:r>
                      <a:rPr lang="en-US" b="1" i="1" smtClean="0">
                        <a:solidFill>
                          <a:srgbClr val="0000CC"/>
                        </a:solidFill>
                        <a:latin typeface="Cambria Math" panose="02040503050406030204" pitchFamily="18" charset="0"/>
                        <a:ea typeface="Cambria Math" panose="02040503050406030204" pitchFamily="18" charset="0"/>
                      </a:rPr>
                      <m:t>−</m:t>
                    </m:r>
                  </m:oMath>
                </a14:m>
                <a:r>
                  <a:rPr lang="en-US" b="1" dirty="0">
                    <a:solidFill>
                      <a:srgbClr val="0000CC"/>
                    </a:solidFill>
                  </a:rPr>
                  <a:t> </a:t>
                </a:r>
                <a14:m>
                  <m:oMath xmlns:m="http://schemas.openxmlformats.org/officeDocument/2006/math">
                    <m:f>
                      <m:fPr>
                        <m:ctrlPr>
                          <a:rPr lang="en-US" b="1" i="1" dirty="0" smtClean="0">
                            <a:solidFill>
                              <a:srgbClr val="0000CC"/>
                            </a:solidFill>
                            <a:latin typeface="Cambria Math" panose="02040503050406030204" pitchFamily="18" charset="0"/>
                          </a:rPr>
                        </m:ctrlPr>
                      </m:fPr>
                      <m:num>
                        <m:sSub>
                          <m:sSubPr>
                            <m:ctrlPr>
                              <a:rPr lang="en-US" b="1" i="1" dirty="0" smtClean="0">
                                <a:solidFill>
                                  <a:srgbClr val="0000CC"/>
                                </a:solidFill>
                                <a:latin typeface="Cambria Math" panose="02040503050406030204" pitchFamily="18" charset="0"/>
                              </a:rPr>
                            </m:ctrlPr>
                          </m:sSubPr>
                          <m:e>
                            <m:r>
                              <a:rPr lang="en-US" b="1" i="1" dirty="0" smtClean="0">
                                <a:solidFill>
                                  <a:srgbClr val="0000CC"/>
                                </a:solidFill>
                                <a:latin typeface="Cambria Math" panose="02040503050406030204" pitchFamily="18" charset="0"/>
                                <a:ea typeface="Cambria Math" panose="02040503050406030204" pitchFamily="18" charset="0"/>
                              </a:rPr>
                              <m:t>∆</m:t>
                            </m:r>
                            <m:r>
                              <a:rPr lang="en-US" b="1" i="1" dirty="0" smtClean="0">
                                <a:solidFill>
                                  <a:srgbClr val="0000CC"/>
                                </a:solidFill>
                                <a:latin typeface="Cambria Math" panose="02040503050406030204" pitchFamily="18" charset="0"/>
                                <a:ea typeface="Cambria Math" panose="02040503050406030204" pitchFamily="18" charset="0"/>
                              </a:rPr>
                              <m:t>𝒊</m:t>
                            </m:r>
                          </m:e>
                          <m:sub>
                            <m:r>
                              <a:rPr lang="en-US" b="1" i="1" dirty="0" smtClean="0">
                                <a:solidFill>
                                  <a:srgbClr val="0000CC"/>
                                </a:solidFill>
                                <a:latin typeface="Cambria Math" panose="02040503050406030204" pitchFamily="18" charset="0"/>
                              </a:rPr>
                              <m:t>𝑳</m:t>
                            </m:r>
                          </m:sub>
                        </m:sSub>
                      </m:num>
                      <m:den>
                        <m:r>
                          <a:rPr lang="en-US" b="1" i="1" dirty="0" smtClean="0">
                            <a:solidFill>
                              <a:srgbClr val="0000CC"/>
                            </a:solidFill>
                            <a:latin typeface="Cambria Math" panose="02040503050406030204" pitchFamily="18" charset="0"/>
                          </a:rPr>
                          <m:t>𝟐</m:t>
                        </m:r>
                      </m:den>
                    </m:f>
                  </m:oMath>
                </a14:m>
                <a:r>
                  <a:rPr lang="en-US" b="1" dirty="0">
                    <a:solidFill>
                      <a:srgbClr val="0000CC"/>
                    </a:solidFill>
                  </a:rPr>
                  <a:t> = </a:t>
                </a:r>
                <a14:m>
                  <m:oMath xmlns:m="http://schemas.openxmlformats.org/officeDocument/2006/math">
                    <m:f>
                      <m:fPr>
                        <m:ctrlPr>
                          <a:rPr lang="en-US" b="1" i="1" smtClean="0">
                            <a:solidFill>
                              <a:srgbClr val="0000CC"/>
                            </a:solidFill>
                            <a:latin typeface="Cambria Math" panose="02040503050406030204" pitchFamily="18" charset="0"/>
                          </a:rPr>
                        </m:ctrlPr>
                      </m:fPr>
                      <m:num>
                        <m:sSub>
                          <m:sSubPr>
                            <m:ctrlPr>
                              <a:rPr lang="en-US" b="1" i="1" smtClean="0">
                                <a:solidFill>
                                  <a:srgbClr val="0000CC"/>
                                </a:solidFill>
                                <a:latin typeface="Cambria Math" panose="02040503050406030204" pitchFamily="18" charset="0"/>
                              </a:rPr>
                            </m:ctrlPr>
                          </m:sSubPr>
                          <m:e>
                            <m:r>
                              <a:rPr lang="en-US" b="1" i="1" smtClean="0">
                                <a:solidFill>
                                  <a:srgbClr val="0000CC"/>
                                </a:solidFill>
                                <a:latin typeface="Cambria Math" panose="02040503050406030204" pitchFamily="18" charset="0"/>
                              </a:rPr>
                              <m:t>𝑽</m:t>
                            </m:r>
                          </m:e>
                          <m:sub>
                            <m:r>
                              <a:rPr lang="en-US" b="1" i="1" smtClean="0">
                                <a:solidFill>
                                  <a:srgbClr val="0000CC"/>
                                </a:solidFill>
                                <a:latin typeface="Cambria Math" panose="02040503050406030204" pitchFamily="18" charset="0"/>
                              </a:rPr>
                              <m:t>𝒔</m:t>
                            </m:r>
                          </m:sub>
                        </m:sSub>
                      </m:num>
                      <m:den>
                        <m:sSup>
                          <m:sSupPr>
                            <m:ctrlPr>
                              <a:rPr lang="en-US" b="1" i="1" smtClean="0">
                                <a:solidFill>
                                  <a:srgbClr val="0000CC"/>
                                </a:solidFill>
                                <a:latin typeface="Cambria Math" panose="02040503050406030204" pitchFamily="18" charset="0"/>
                              </a:rPr>
                            </m:ctrlPr>
                          </m:sSupPr>
                          <m:e>
                            <m:d>
                              <m:dPr>
                                <m:ctrlPr>
                                  <a:rPr lang="en-US" b="1" i="1" smtClean="0">
                                    <a:solidFill>
                                      <a:srgbClr val="0000CC"/>
                                    </a:solidFill>
                                    <a:latin typeface="Cambria Math" panose="02040503050406030204" pitchFamily="18" charset="0"/>
                                  </a:rPr>
                                </m:ctrlPr>
                              </m:dPr>
                              <m:e>
                                <m:r>
                                  <a:rPr lang="en-US" b="1" i="1" smtClean="0">
                                    <a:solidFill>
                                      <a:srgbClr val="0000CC"/>
                                    </a:solidFill>
                                    <a:latin typeface="Cambria Math" panose="02040503050406030204" pitchFamily="18" charset="0"/>
                                  </a:rPr>
                                  <m:t>𝟏</m:t>
                                </m:r>
                                <m:r>
                                  <a:rPr lang="en-US" b="1" i="1" smtClean="0">
                                    <a:solidFill>
                                      <a:srgbClr val="0000CC"/>
                                    </a:solidFill>
                                    <a:latin typeface="Cambria Math" panose="02040503050406030204" pitchFamily="18" charset="0"/>
                                  </a:rPr>
                                  <m:t>−</m:t>
                                </m:r>
                                <m:r>
                                  <a:rPr lang="en-US" b="1" i="1" smtClean="0">
                                    <a:solidFill>
                                      <a:srgbClr val="0000CC"/>
                                    </a:solidFill>
                                    <a:latin typeface="Cambria Math" panose="02040503050406030204" pitchFamily="18" charset="0"/>
                                  </a:rPr>
                                  <m:t>𝑫</m:t>
                                </m:r>
                              </m:e>
                            </m:d>
                          </m:e>
                          <m:sup>
                            <m:r>
                              <a:rPr lang="en-US" b="1" i="1" smtClean="0">
                                <a:solidFill>
                                  <a:srgbClr val="0000CC"/>
                                </a:solidFill>
                                <a:latin typeface="Cambria Math" panose="02040503050406030204" pitchFamily="18" charset="0"/>
                              </a:rPr>
                              <m:t>𝟐</m:t>
                            </m:r>
                          </m:sup>
                        </m:sSup>
                        <m:r>
                          <a:rPr lang="en-US" b="1" i="1" smtClean="0">
                            <a:solidFill>
                              <a:srgbClr val="0000CC"/>
                            </a:solidFill>
                            <a:latin typeface="Cambria Math" panose="02040503050406030204" pitchFamily="18" charset="0"/>
                          </a:rPr>
                          <m:t>𝑹</m:t>
                        </m:r>
                      </m:den>
                    </m:f>
                  </m:oMath>
                </a14:m>
                <a:r>
                  <a:rPr lang="en-US" b="1" dirty="0">
                    <a:solidFill>
                      <a:srgbClr val="0000CC"/>
                    </a:solidFill>
                  </a:rPr>
                  <a:t> - </a:t>
                </a:r>
                <a14:m>
                  <m:oMath xmlns:m="http://schemas.openxmlformats.org/officeDocument/2006/math">
                    <m:f>
                      <m:fPr>
                        <m:ctrlPr>
                          <a:rPr lang="en-US" b="1" i="1" smtClean="0">
                            <a:solidFill>
                              <a:srgbClr val="0000CC"/>
                            </a:solidFill>
                            <a:latin typeface="Cambria Math" panose="02040503050406030204" pitchFamily="18" charset="0"/>
                          </a:rPr>
                        </m:ctrlPr>
                      </m:fPr>
                      <m:num>
                        <m:sSub>
                          <m:sSubPr>
                            <m:ctrlPr>
                              <a:rPr lang="en-US" b="1" i="1" smtClean="0">
                                <a:solidFill>
                                  <a:srgbClr val="0000CC"/>
                                </a:solidFill>
                                <a:latin typeface="Cambria Math" panose="02040503050406030204" pitchFamily="18" charset="0"/>
                              </a:rPr>
                            </m:ctrlPr>
                          </m:sSubPr>
                          <m:e>
                            <m:r>
                              <a:rPr lang="en-US" b="1" i="1" smtClean="0">
                                <a:solidFill>
                                  <a:srgbClr val="0000CC"/>
                                </a:solidFill>
                                <a:latin typeface="Cambria Math" panose="02040503050406030204" pitchFamily="18" charset="0"/>
                              </a:rPr>
                              <m:t>𝑽</m:t>
                            </m:r>
                          </m:e>
                          <m:sub>
                            <m:r>
                              <a:rPr lang="en-US" b="1" i="1" smtClean="0">
                                <a:solidFill>
                                  <a:srgbClr val="0000CC"/>
                                </a:solidFill>
                                <a:latin typeface="Cambria Math" panose="02040503050406030204" pitchFamily="18" charset="0"/>
                              </a:rPr>
                              <m:t>𝒔</m:t>
                            </m:r>
                          </m:sub>
                        </m:sSub>
                        <m:r>
                          <a:rPr lang="en-US" b="1" i="1" smtClean="0">
                            <a:solidFill>
                              <a:srgbClr val="0000CC"/>
                            </a:solidFill>
                            <a:latin typeface="Cambria Math" panose="02040503050406030204" pitchFamily="18" charset="0"/>
                          </a:rPr>
                          <m:t>𝑫𝑻</m:t>
                        </m:r>
                      </m:num>
                      <m:den>
                        <m:r>
                          <a:rPr lang="en-US" b="1" i="1" smtClean="0">
                            <a:solidFill>
                              <a:srgbClr val="0000CC"/>
                            </a:solidFill>
                            <a:latin typeface="Cambria Math" panose="02040503050406030204" pitchFamily="18" charset="0"/>
                          </a:rPr>
                          <m:t>𝟐</m:t>
                        </m:r>
                        <m:r>
                          <a:rPr lang="en-US" b="1" i="1" smtClean="0">
                            <a:solidFill>
                              <a:srgbClr val="0000CC"/>
                            </a:solidFill>
                            <a:latin typeface="Cambria Math" panose="02040503050406030204" pitchFamily="18" charset="0"/>
                          </a:rPr>
                          <m:t>𝑳</m:t>
                        </m:r>
                      </m:den>
                    </m:f>
                  </m:oMath>
                </a14:m>
                <a:endParaRPr lang="en-US" b="1" dirty="0"/>
              </a:p>
            </p:txBody>
          </p:sp>
        </mc:Choice>
        <mc:Fallback xmlns="">
          <p:sp>
            <p:nvSpPr>
              <p:cNvPr id="10" name="TextBox 9">
                <a:extLst>
                  <a:ext uri="{FF2B5EF4-FFF2-40B4-BE49-F238E27FC236}">
                    <a16:creationId xmlns:a16="http://schemas.microsoft.com/office/drawing/2014/main" id="{A0BBDC0D-3EE9-4F70-B717-99F20BB92B56}"/>
                  </a:ext>
                </a:extLst>
              </p:cNvPr>
              <p:cNvSpPr txBox="1">
                <a:spLocks noRot="1" noChangeAspect="1" noMove="1" noResize="1" noEditPoints="1" noAdjustHandles="1" noChangeArrowheads="1" noChangeShapeType="1" noTextEdit="1"/>
              </p:cNvSpPr>
              <p:nvPr/>
            </p:nvSpPr>
            <p:spPr>
              <a:xfrm>
                <a:off x="5372099" y="5474935"/>
                <a:ext cx="3076316" cy="519886"/>
              </a:xfrm>
              <a:prstGeom prst="rect">
                <a:avLst/>
              </a:prstGeom>
              <a:blipFill>
                <a:blip r:embed="rId5"/>
                <a:stretch>
                  <a:fillRect b="-2353"/>
                </a:stretch>
              </a:blipFill>
            </p:spPr>
            <p:txBody>
              <a:bodyPr/>
              <a:lstStyle/>
              <a:p>
                <a:r>
                  <a:rPr lang="en-US">
                    <a:noFill/>
                  </a:rPr>
                  <a:t> </a:t>
                </a:r>
              </a:p>
            </p:txBody>
          </p:sp>
        </mc:Fallback>
      </mc:AlternateContent>
    </p:spTree>
    <p:extLst>
      <p:ext uri="{BB962C8B-B14F-4D97-AF65-F5344CB8AC3E}">
        <p14:creationId xmlns:p14="http://schemas.microsoft.com/office/powerpoint/2010/main" val="375532777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6">
            <a:extLst>
              <a:ext uri="{FF2B5EF4-FFF2-40B4-BE49-F238E27FC236}">
                <a16:creationId xmlns:a16="http://schemas.microsoft.com/office/drawing/2014/main" id="{56080804-F19F-41A7-8595-943961648C5E}"/>
              </a:ext>
            </a:extLst>
          </p:cNvPr>
          <p:cNvSpPr>
            <a:spLocks noGrp="1"/>
          </p:cNvSpPr>
          <p:nvPr>
            <p:ph type="sldNum" sz="quarter" idx="12"/>
          </p:nvPr>
        </p:nvSpPr>
        <p:spPr>
          <a:xfrm>
            <a:off x="8610600" y="6441692"/>
            <a:ext cx="2743200" cy="370027"/>
          </a:xfrm>
        </p:spPr>
        <p:txBody>
          <a:bodyPr/>
          <a:lstStyle/>
          <a:p>
            <a:fld id="{F4801FD5-11B4-DE43-ACA2-E85EEB9A6F9C}" type="slidenum">
              <a:rPr lang="en-US" smtClean="0">
                <a:latin typeface="Garamond" panose="02020404030301010803" pitchFamily="18" charset="0"/>
              </a:rPr>
              <a:t>7</a:t>
            </a:fld>
            <a:endParaRPr lang="en-US">
              <a:latin typeface="Garamond" panose="02020404030301010803" pitchFamily="18" charset="0"/>
            </a:endParaRPr>
          </a:p>
        </p:txBody>
      </p:sp>
      <p:sp>
        <p:nvSpPr>
          <p:cNvPr id="5" name="Title 1">
            <a:extLst>
              <a:ext uri="{FF2B5EF4-FFF2-40B4-BE49-F238E27FC236}">
                <a16:creationId xmlns:a16="http://schemas.microsoft.com/office/drawing/2014/main" id="{4710AE4B-0DB8-4451-B9E4-10BAE11B4D3A}"/>
              </a:ext>
            </a:extLst>
          </p:cNvPr>
          <p:cNvSpPr>
            <a:spLocks noGrp="1"/>
          </p:cNvSpPr>
          <p:nvPr>
            <p:ph type="title"/>
          </p:nvPr>
        </p:nvSpPr>
        <p:spPr>
          <a:xfrm>
            <a:off x="3157348" y="-40404"/>
            <a:ext cx="6026397" cy="558382"/>
          </a:xfrm>
        </p:spPr>
        <p:txBody>
          <a:bodyPr>
            <a:noAutofit/>
          </a:bodyPr>
          <a:lstStyle/>
          <a:p>
            <a:pPr algn="ctr"/>
            <a:r>
              <a:rPr lang="en-US" sz="3200" b="1" u="sng" dirty="0">
                <a:solidFill>
                  <a:srgbClr val="FF3386"/>
                </a:solidFill>
                <a:latin typeface="Century Gothic" panose="020B0502020202020204" pitchFamily="34" charset="0"/>
                <a:cs typeface="Helvetica"/>
              </a:rPr>
              <a:t>BOOST CONVERTER</a:t>
            </a:r>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6BAA1F11-5BEF-4D80-964F-A7332E36BFA0}"/>
                  </a:ext>
                </a:extLst>
              </p:cNvPr>
              <p:cNvSpPr txBox="1"/>
              <p:nvPr/>
            </p:nvSpPr>
            <p:spPr>
              <a:xfrm>
                <a:off x="145914" y="565502"/>
                <a:ext cx="11896929" cy="5849935"/>
              </a:xfrm>
              <a:prstGeom prst="rect">
                <a:avLst/>
              </a:prstGeom>
              <a:noFill/>
              <a:ln>
                <a:solidFill>
                  <a:srgbClr val="FF0066"/>
                </a:solidFill>
              </a:ln>
            </p:spPr>
            <p:txBody>
              <a:bodyPr wrap="square" rtlCol="0">
                <a:spAutoFit/>
              </a:bodyPr>
              <a:lstStyle/>
              <a:p>
                <a:pPr marL="342900" indent="-342900">
                  <a:buClr>
                    <a:schemeClr val="accent2"/>
                  </a:buClr>
                  <a:buFont typeface="Arial" panose="020B0604020202020204" pitchFamily="34" charset="0"/>
                  <a:buChar char="•"/>
                </a:pPr>
                <a:r>
                  <a:rPr lang="en-GB" sz="2400" b="1" kern="100" dirty="0">
                    <a:solidFill>
                      <a:srgbClr val="0000CC"/>
                    </a:solidFill>
                    <a:effectLst/>
                    <a:latin typeface="Century Gothic" panose="020B0502020202020204" pitchFamily="34" charset="0"/>
                    <a:ea typeface="Calibri" panose="020F0502020204030204" pitchFamily="34" charset="0"/>
                    <a:cs typeface="Times New Roman" panose="02020603050405020304" pitchFamily="18" charset="0"/>
                  </a:rPr>
                  <a:t>The </a:t>
                </a:r>
                <a:r>
                  <a:rPr lang="en-GB" sz="2400" b="1" kern="100" dirty="0">
                    <a:solidFill>
                      <a:srgbClr val="0000CC"/>
                    </a:solidFill>
                    <a:latin typeface="Century Gothic" panose="020B0502020202020204" pitchFamily="34" charset="0"/>
                    <a:ea typeface="Calibri" panose="020F0502020204030204" pitchFamily="34" charset="0"/>
                    <a:cs typeface="Times New Roman" panose="02020603050405020304" pitchFamily="18" charset="0"/>
                  </a:rPr>
                  <a:t>boundary between continuous and discontinuous inductor current is given by</a:t>
                </a:r>
              </a:p>
              <a:p>
                <a:pPr marL="342900" indent="-342900">
                  <a:buClr>
                    <a:schemeClr val="accent2"/>
                  </a:buClr>
                  <a:buFont typeface="Arial" panose="020B0604020202020204" pitchFamily="34" charset="0"/>
                  <a:buChar char="•"/>
                </a:pPr>
                <a:endParaRPr lang="en-GB" sz="2400" b="1" kern="100" dirty="0">
                  <a:solidFill>
                    <a:srgbClr val="0000CC"/>
                  </a:solidFill>
                  <a:effectLst/>
                  <a:latin typeface="Century Gothic" panose="020B0502020202020204" pitchFamily="34" charset="0"/>
                  <a:ea typeface="Calibri" panose="020F0502020204030204" pitchFamily="34" charset="0"/>
                  <a:cs typeface="Times New Roman" panose="02020603050405020304" pitchFamily="18" charset="0"/>
                </a:endParaRPr>
              </a:p>
              <a:p>
                <a:pPr>
                  <a:buClr>
                    <a:schemeClr val="accent2"/>
                  </a:buClr>
                </a:pPr>
                <a:r>
                  <a:rPr lang="en-GB" sz="2400" b="1" kern="100" dirty="0">
                    <a:solidFill>
                      <a:srgbClr val="0000CC"/>
                    </a:solidFill>
                    <a:latin typeface="Century Gothic" panose="020B0502020202020204" pitchFamily="34" charset="0"/>
                    <a:ea typeface="Calibri" panose="020F0502020204030204" pitchFamily="34" charset="0"/>
                    <a:cs typeface="Times New Roman" panose="02020603050405020304" pitchFamily="18" charset="0"/>
                  </a:rPr>
                  <a:t>   	                                   Or  </a:t>
                </a:r>
                <a:endParaRPr lang="en-GB" sz="2400" b="1" kern="100" dirty="0">
                  <a:solidFill>
                    <a:srgbClr val="0000CC"/>
                  </a:solidFill>
                  <a:effectLst/>
                  <a:latin typeface="Century Gothic" panose="020B0502020202020204" pitchFamily="34" charset="0"/>
                  <a:ea typeface="Calibri" panose="020F0502020204030204" pitchFamily="34" charset="0"/>
                  <a:cs typeface="Times New Roman" panose="02020603050405020304" pitchFamily="18" charset="0"/>
                </a:endParaRPr>
              </a:p>
              <a:p>
                <a:pPr marL="342900" indent="-342900">
                  <a:buClr>
                    <a:schemeClr val="accent2"/>
                  </a:buClr>
                  <a:buFont typeface="Arial" panose="020B0604020202020204" pitchFamily="34" charset="0"/>
                  <a:buChar char="•"/>
                </a:pPr>
                <a:endParaRPr lang="en-GB" sz="2400" b="1" kern="100" dirty="0">
                  <a:solidFill>
                    <a:srgbClr val="0000CC"/>
                  </a:solidFill>
                  <a:latin typeface="Century Gothic" panose="020B0502020202020204" pitchFamily="34" charset="0"/>
                  <a:ea typeface="Calibri" panose="020F0502020204030204" pitchFamily="34" charset="0"/>
                  <a:cs typeface="Times New Roman" panose="02020603050405020304" pitchFamily="18" charset="0"/>
                </a:endParaRPr>
              </a:p>
              <a:p>
                <a:pPr>
                  <a:buClr>
                    <a:schemeClr val="accent2"/>
                  </a:buClr>
                </a:pPr>
                <a:endParaRPr lang="en-GB" sz="2400" b="1" kern="100" dirty="0">
                  <a:solidFill>
                    <a:srgbClr val="0000CC"/>
                  </a:solidFill>
                  <a:latin typeface="Century Gothic" panose="020B0502020202020204" pitchFamily="34" charset="0"/>
                  <a:ea typeface="Calibri" panose="020F0502020204030204" pitchFamily="34" charset="0"/>
                  <a:cs typeface="Times New Roman" panose="02020603050405020304" pitchFamily="18" charset="0"/>
                </a:endParaRPr>
              </a:p>
              <a:p>
                <a:pPr marL="342900" indent="-342900">
                  <a:buClr>
                    <a:schemeClr val="accent2"/>
                  </a:buClr>
                  <a:buFont typeface="Wingdings" panose="05000000000000000000" pitchFamily="2" charset="2"/>
                  <a:buChar char="§"/>
                </a:pPr>
                <a:r>
                  <a:rPr lang="en-GB" sz="2400" b="1" kern="100" dirty="0">
                    <a:solidFill>
                      <a:srgbClr val="0000CC"/>
                    </a:solidFill>
                    <a:latin typeface="Century Gothic" panose="020B0502020202020204" pitchFamily="34" charset="0"/>
                    <a:ea typeface="Calibri" panose="020F0502020204030204" pitchFamily="34" charset="0"/>
                    <a:cs typeface="Times New Roman" panose="02020603050405020304" pitchFamily="18" charset="0"/>
                  </a:rPr>
                  <a:t>Minimum combination of inductance and switching frequency for continuous current in the boost converter is given by</a:t>
                </a:r>
              </a:p>
              <a:p>
                <a:pPr>
                  <a:buClr>
                    <a:schemeClr val="accent2"/>
                  </a:buClr>
                </a:pPr>
                <a:endParaRPr lang="en-GB" sz="2400" b="1" kern="100" dirty="0">
                  <a:solidFill>
                    <a:srgbClr val="0000CC"/>
                  </a:solidFill>
                  <a:latin typeface="Century Gothic" panose="020B0502020202020204" pitchFamily="34" charset="0"/>
                  <a:ea typeface="Calibri" panose="020F0502020204030204" pitchFamily="34" charset="0"/>
                  <a:cs typeface="Times New Roman" panose="02020603050405020304" pitchFamily="18" charset="0"/>
                </a:endParaRPr>
              </a:p>
              <a:p>
                <a:pPr>
                  <a:buClr>
                    <a:schemeClr val="accent2"/>
                  </a:buClr>
                </a:pPr>
                <a:r>
                  <a:rPr lang="en-GB" sz="2400" b="1" kern="100" dirty="0">
                    <a:solidFill>
                      <a:srgbClr val="0000CC"/>
                    </a:solidFill>
                    <a:latin typeface="Century Gothic" panose="020B0502020202020204" pitchFamily="34" charset="0"/>
                    <a:ea typeface="Calibri" panose="020F0502020204030204" pitchFamily="34" charset="0"/>
                    <a:cs typeface="Times New Roman" panose="02020603050405020304" pitchFamily="18" charset="0"/>
                  </a:rPr>
                  <a:t>	</a:t>
                </a:r>
                <a14:m>
                  <m:oMath xmlns:m="http://schemas.openxmlformats.org/officeDocument/2006/math">
                    <m:sSub>
                      <m:sSubPr>
                        <m:ctrlPr>
                          <a:rPr lang="en-GB" sz="2400" b="1" i="1" kern="100" smtClean="0">
                            <a:solidFill>
                              <a:srgbClr val="0000CC"/>
                            </a:solidFill>
                            <a:latin typeface="Cambria Math" panose="02040503050406030204" pitchFamily="18" charset="0"/>
                            <a:ea typeface="Calibri" panose="020F0502020204030204" pitchFamily="34" charset="0"/>
                            <a:cs typeface="Times New Roman" panose="02020603050405020304" pitchFamily="18" charset="0"/>
                          </a:rPr>
                        </m:ctrlPr>
                      </m:sSubPr>
                      <m:e>
                        <m:d>
                          <m:dPr>
                            <m:ctrlPr>
                              <a:rPr lang="en-GB" sz="2400" b="1" i="1" kern="100" smtClean="0">
                                <a:solidFill>
                                  <a:srgbClr val="0000CC"/>
                                </a:solidFill>
                                <a:latin typeface="Cambria Math" panose="02040503050406030204" pitchFamily="18" charset="0"/>
                                <a:ea typeface="Calibri" panose="020F0502020204030204" pitchFamily="34" charset="0"/>
                                <a:cs typeface="Times New Roman" panose="02020603050405020304" pitchFamily="18" charset="0"/>
                              </a:rPr>
                            </m:ctrlPr>
                          </m:dPr>
                          <m:e>
                            <m:r>
                              <a:rPr lang="en-US" sz="2400" b="1" i="1" kern="100" smtClean="0">
                                <a:solidFill>
                                  <a:srgbClr val="0000CC"/>
                                </a:solidFill>
                                <a:latin typeface="Cambria Math" panose="02040503050406030204" pitchFamily="18" charset="0"/>
                                <a:ea typeface="Calibri" panose="020F0502020204030204" pitchFamily="34" charset="0"/>
                                <a:cs typeface="Times New Roman" panose="02020603050405020304" pitchFamily="18" charset="0"/>
                              </a:rPr>
                              <m:t>𝑳𝒇</m:t>
                            </m:r>
                          </m:e>
                        </m:d>
                      </m:e>
                      <m:sub>
                        <m:r>
                          <a:rPr lang="en-US" sz="2400" b="1" i="1" kern="100" smtClean="0">
                            <a:solidFill>
                              <a:srgbClr val="0000CC"/>
                            </a:solidFill>
                            <a:latin typeface="Cambria Math" panose="02040503050406030204" pitchFamily="18" charset="0"/>
                            <a:ea typeface="Calibri" panose="020F0502020204030204" pitchFamily="34" charset="0"/>
                            <a:cs typeface="Times New Roman" panose="02020603050405020304" pitchFamily="18" charset="0"/>
                          </a:rPr>
                          <m:t>𝒎𝒊𝒏</m:t>
                        </m:r>
                      </m:sub>
                    </m:sSub>
                  </m:oMath>
                </a14:m>
                <a:r>
                  <a:rPr lang="en-GB" sz="2400" b="1" kern="100" dirty="0">
                    <a:solidFill>
                      <a:srgbClr val="0000CC"/>
                    </a:solidFill>
                    <a:latin typeface="Century Gothic" panose="020B0502020202020204" pitchFamily="34" charset="0"/>
                    <a:ea typeface="Calibri" panose="020F0502020204030204" pitchFamily="34" charset="0"/>
                    <a:cs typeface="Times New Roman" panose="02020603050405020304" pitchFamily="18" charset="0"/>
                  </a:rPr>
                  <a:t> = </a:t>
                </a:r>
                <a14:m>
                  <m:oMath xmlns:m="http://schemas.openxmlformats.org/officeDocument/2006/math">
                    <m:f>
                      <m:fPr>
                        <m:ctrlPr>
                          <a:rPr lang="en-GB" sz="2400" b="1" i="1" kern="100" smtClean="0">
                            <a:solidFill>
                              <a:srgbClr val="0000CC"/>
                            </a:solidFill>
                            <a:latin typeface="Cambria Math" panose="02040503050406030204" pitchFamily="18" charset="0"/>
                            <a:ea typeface="Calibri" panose="020F0502020204030204" pitchFamily="34" charset="0"/>
                            <a:cs typeface="Times New Roman" panose="02020603050405020304" pitchFamily="18" charset="0"/>
                          </a:rPr>
                        </m:ctrlPr>
                      </m:fPr>
                      <m:num>
                        <m:r>
                          <a:rPr lang="en-US" sz="2400" b="1" i="1" kern="100" smtClean="0">
                            <a:solidFill>
                              <a:srgbClr val="0000CC"/>
                            </a:solidFill>
                            <a:latin typeface="Cambria Math" panose="02040503050406030204" pitchFamily="18" charset="0"/>
                            <a:ea typeface="Calibri" panose="020F0502020204030204" pitchFamily="34" charset="0"/>
                            <a:cs typeface="Times New Roman" panose="02020603050405020304" pitchFamily="18" charset="0"/>
                          </a:rPr>
                          <m:t>𝑫</m:t>
                        </m:r>
                        <m:sSup>
                          <m:sSupPr>
                            <m:ctrlPr>
                              <a:rPr lang="en-US" sz="2400" b="1" i="1" kern="100" smtClean="0">
                                <a:solidFill>
                                  <a:srgbClr val="0000CC"/>
                                </a:solidFill>
                                <a:latin typeface="Cambria Math" panose="02040503050406030204" pitchFamily="18" charset="0"/>
                                <a:ea typeface="Calibri" panose="020F0502020204030204" pitchFamily="34" charset="0"/>
                                <a:cs typeface="Times New Roman" panose="02020603050405020304" pitchFamily="18" charset="0"/>
                              </a:rPr>
                            </m:ctrlPr>
                          </m:sSupPr>
                          <m:e>
                            <m:d>
                              <m:dPr>
                                <m:ctrlPr>
                                  <a:rPr lang="en-US" sz="2400" b="1" i="1" kern="100" smtClean="0">
                                    <a:solidFill>
                                      <a:srgbClr val="0000CC"/>
                                    </a:solidFill>
                                    <a:latin typeface="Cambria Math" panose="02040503050406030204" pitchFamily="18" charset="0"/>
                                    <a:ea typeface="Calibri" panose="020F0502020204030204" pitchFamily="34" charset="0"/>
                                    <a:cs typeface="Times New Roman" panose="02020603050405020304" pitchFamily="18" charset="0"/>
                                  </a:rPr>
                                </m:ctrlPr>
                              </m:dPr>
                              <m:e>
                                <m:r>
                                  <a:rPr lang="en-US" sz="2400" b="1" i="1" kern="100" smtClean="0">
                                    <a:solidFill>
                                      <a:srgbClr val="0000CC"/>
                                    </a:solidFill>
                                    <a:latin typeface="Cambria Math" panose="02040503050406030204" pitchFamily="18" charset="0"/>
                                    <a:ea typeface="Calibri" panose="020F0502020204030204" pitchFamily="34" charset="0"/>
                                    <a:cs typeface="Times New Roman" panose="02020603050405020304" pitchFamily="18" charset="0"/>
                                  </a:rPr>
                                  <m:t>𝟏</m:t>
                                </m:r>
                                <m:r>
                                  <a:rPr lang="en-US" sz="2400" b="1" i="1" kern="100" smtClean="0">
                                    <a:solidFill>
                                      <a:srgbClr val="0000CC"/>
                                    </a:solidFill>
                                    <a:latin typeface="Cambria Math" panose="02040503050406030204" pitchFamily="18" charset="0"/>
                                    <a:ea typeface="Calibri" panose="020F0502020204030204" pitchFamily="34" charset="0"/>
                                    <a:cs typeface="Times New Roman" panose="02020603050405020304" pitchFamily="18" charset="0"/>
                                  </a:rPr>
                                  <m:t>−</m:t>
                                </m:r>
                                <m:r>
                                  <a:rPr lang="en-US" sz="2400" b="1" i="1" kern="100" smtClean="0">
                                    <a:solidFill>
                                      <a:srgbClr val="0000CC"/>
                                    </a:solidFill>
                                    <a:latin typeface="Cambria Math" panose="02040503050406030204" pitchFamily="18" charset="0"/>
                                    <a:ea typeface="Calibri" panose="020F0502020204030204" pitchFamily="34" charset="0"/>
                                    <a:cs typeface="Times New Roman" panose="02020603050405020304" pitchFamily="18" charset="0"/>
                                  </a:rPr>
                                  <m:t>𝑫</m:t>
                                </m:r>
                              </m:e>
                            </m:d>
                          </m:e>
                          <m:sup>
                            <m:r>
                              <a:rPr lang="en-US" sz="2400" b="1" i="1" kern="100" smtClean="0">
                                <a:solidFill>
                                  <a:srgbClr val="0000CC"/>
                                </a:solidFill>
                                <a:latin typeface="Cambria Math" panose="02040503050406030204" pitchFamily="18" charset="0"/>
                                <a:ea typeface="Calibri" panose="020F0502020204030204" pitchFamily="34" charset="0"/>
                                <a:cs typeface="Times New Roman" panose="02020603050405020304" pitchFamily="18" charset="0"/>
                              </a:rPr>
                              <m:t>𝟐</m:t>
                            </m:r>
                          </m:sup>
                        </m:sSup>
                        <m:r>
                          <a:rPr lang="en-US" sz="2400" b="1" i="1" kern="100" smtClean="0">
                            <a:solidFill>
                              <a:srgbClr val="0000CC"/>
                            </a:solidFill>
                            <a:latin typeface="Cambria Math" panose="02040503050406030204" pitchFamily="18" charset="0"/>
                            <a:ea typeface="Calibri" panose="020F0502020204030204" pitchFamily="34" charset="0"/>
                            <a:cs typeface="Times New Roman" panose="02020603050405020304" pitchFamily="18" charset="0"/>
                          </a:rPr>
                          <m:t>𝑹</m:t>
                        </m:r>
                      </m:num>
                      <m:den>
                        <m:r>
                          <a:rPr lang="en-US" sz="2400" b="1" i="1" kern="100" smtClean="0">
                            <a:solidFill>
                              <a:srgbClr val="0000CC"/>
                            </a:solidFill>
                            <a:latin typeface="Cambria Math" panose="02040503050406030204" pitchFamily="18" charset="0"/>
                            <a:ea typeface="Calibri" panose="020F0502020204030204" pitchFamily="34" charset="0"/>
                            <a:cs typeface="Times New Roman" panose="02020603050405020304" pitchFamily="18" charset="0"/>
                          </a:rPr>
                          <m:t>𝟐</m:t>
                        </m:r>
                      </m:den>
                    </m:f>
                  </m:oMath>
                </a14:m>
                <a:r>
                  <a:rPr lang="en-GB" sz="2400" b="1" kern="100" dirty="0">
                    <a:solidFill>
                      <a:srgbClr val="0000CC"/>
                    </a:solidFill>
                    <a:latin typeface="Century Gothic" panose="020B0502020202020204" pitchFamily="34" charset="0"/>
                    <a:ea typeface="Calibri" panose="020F0502020204030204" pitchFamily="34" charset="0"/>
                    <a:cs typeface="Times New Roman" panose="02020603050405020304" pitchFamily="18" charset="0"/>
                  </a:rPr>
                  <a:t>   →    </a:t>
                </a:r>
              </a:p>
              <a:p>
                <a:pPr>
                  <a:buClr>
                    <a:schemeClr val="accent2"/>
                  </a:buClr>
                </a:pPr>
                <a:r>
                  <a:rPr lang="en-GB" sz="2400" b="1" kern="100" dirty="0">
                    <a:solidFill>
                      <a:srgbClr val="0000CC"/>
                    </a:solidFill>
                    <a:latin typeface="Century Gothic" panose="020B0502020202020204" pitchFamily="34" charset="0"/>
                    <a:ea typeface="Calibri" panose="020F0502020204030204" pitchFamily="34" charset="0"/>
                    <a:cs typeface="Times New Roman" panose="02020603050405020304" pitchFamily="18" charset="0"/>
                  </a:rPr>
                  <a:t>	</a:t>
                </a:r>
                <a:br>
                  <a:rPr lang="en-GB" sz="2400" b="1" kern="100" dirty="0">
                    <a:solidFill>
                      <a:srgbClr val="0000CC"/>
                    </a:solidFill>
                    <a:latin typeface="Century Gothic" panose="020B0502020202020204" pitchFamily="34" charset="0"/>
                    <a:ea typeface="Calibri" panose="020F0502020204030204" pitchFamily="34" charset="0"/>
                    <a:cs typeface="Times New Roman" panose="02020603050405020304" pitchFamily="18" charset="0"/>
                  </a:rPr>
                </a:br>
                <a:endParaRPr lang="en-GB" sz="2400" b="1" kern="100" dirty="0">
                  <a:solidFill>
                    <a:srgbClr val="0000CC"/>
                  </a:solidFill>
                  <a:latin typeface="Century Gothic" panose="020B0502020202020204" pitchFamily="34" charset="0"/>
                  <a:ea typeface="Calibri" panose="020F0502020204030204" pitchFamily="34" charset="0"/>
                  <a:cs typeface="Times New Roman" panose="02020603050405020304" pitchFamily="18" charset="0"/>
                </a:endParaRPr>
              </a:p>
              <a:p>
                <a:pPr marL="342900" indent="-342900">
                  <a:buClr>
                    <a:schemeClr val="accent2"/>
                  </a:buClr>
                  <a:buFont typeface="Wingdings" panose="05000000000000000000" pitchFamily="2" charset="2"/>
                  <a:buChar char="v"/>
                </a:pPr>
                <a:r>
                  <a:rPr lang="en-GB" sz="2400" b="1" kern="100" dirty="0">
                    <a:solidFill>
                      <a:srgbClr val="0000CC"/>
                    </a:solidFill>
                    <a:latin typeface="Century Gothic" panose="020B0502020202020204" pitchFamily="34" charset="0"/>
                    <a:ea typeface="Calibri" panose="020F0502020204030204" pitchFamily="34" charset="0"/>
                    <a:cs typeface="Times New Roman" panose="02020603050405020304" pitchFamily="18" charset="0"/>
                  </a:rPr>
                  <a:t>	</a:t>
                </a:r>
                <a:r>
                  <a:rPr lang="en-GB" sz="2400" b="1" i="1" kern="100" dirty="0">
                    <a:solidFill>
                      <a:srgbClr val="0000CC"/>
                    </a:solidFill>
                    <a:latin typeface="Century Gothic" panose="020B0502020202020204" pitchFamily="34" charset="0"/>
                    <a:ea typeface="Calibri" panose="020F0502020204030204" pitchFamily="34" charset="0"/>
                    <a:cs typeface="Times New Roman" panose="02020603050405020304" pitchFamily="18" charset="0"/>
                  </a:rPr>
                  <a:t>A boost converter designed for continuous  current operation will have 	inductor value greater than the minimum required inductor value(</a:t>
                </a:r>
                <a14:m>
                  <m:oMath xmlns:m="http://schemas.openxmlformats.org/officeDocument/2006/math">
                    <m:sSub>
                      <m:sSubPr>
                        <m:ctrlPr>
                          <a:rPr lang="en-GB" sz="2400" b="1" i="1" kern="100" smtClean="0">
                            <a:solidFill>
                              <a:srgbClr val="0000CC"/>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2400" b="1" i="1" kern="100" smtClean="0">
                            <a:solidFill>
                              <a:srgbClr val="0000CC"/>
                            </a:solidFill>
                            <a:latin typeface="Cambria Math" panose="02040503050406030204" pitchFamily="18" charset="0"/>
                            <a:ea typeface="Calibri" panose="020F0502020204030204" pitchFamily="34" charset="0"/>
                            <a:cs typeface="Times New Roman" panose="02020603050405020304" pitchFamily="18" charset="0"/>
                          </a:rPr>
                          <m:t>𝑳</m:t>
                        </m:r>
                      </m:e>
                      <m:sub>
                        <m:r>
                          <a:rPr lang="en-US" sz="2400" b="1" i="1" kern="100" smtClean="0">
                            <a:solidFill>
                              <a:srgbClr val="0000CC"/>
                            </a:solidFill>
                            <a:latin typeface="Cambria Math" panose="02040503050406030204" pitchFamily="18" charset="0"/>
                            <a:ea typeface="Calibri" panose="020F0502020204030204" pitchFamily="34" charset="0"/>
                            <a:cs typeface="Times New Roman" panose="02020603050405020304" pitchFamily="18" charset="0"/>
                          </a:rPr>
                          <m:t>𝒎𝒊𝒏</m:t>
                        </m:r>
                      </m:sub>
                    </m:sSub>
                  </m:oMath>
                </a14:m>
                <a:r>
                  <a:rPr lang="en-GB" sz="2400" b="1" i="1" kern="100" dirty="0">
                    <a:solidFill>
                      <a:srgbClr val="0000CC"/>
                    </a:solidFill>
                    <a:latin typeface="Century Gothic" panose="020B0502020202020204" pitchFamily="34" charset="0"/>
                    <a:ea typeface="Calibri" panose="020F0502020204030204" pitchFamily="34" charset="0"/>
                    <a:cs typeface="Times New Roman" panose="02020603050405020304" pitchFamily="18" charset="0"/>
                  </a:rPr>
                  <a:t>)</a:t>
                </a:r>
                <a:r>
                  <a:rPr lang="en-GB" sz="2400" b="1" kern="100" dirty="0">
                    <a:solidFill>
                      <a:srgbClr val="0000CC"/>
                    </a:solidFill>
                    <a:latin typeface="Century Gothic" panose="020B0502020202020204" pitchFamily="34" charset="0"/>
                    <a:ea typeface="Calibri" panose="020F0502020204030204" pitchFamily="34" charset="0"/>
                    <a:cs typeface="Times New Roman" panose="02020603050405020304" pitchFamily="18" charset="0"/>
                  </a:rPr>
                  <a:t>	</a:t>
                </a:r>
              </a:p>
              <a:p>
                <a:pPr>
                  <a:buClr>
                    <a:schemeClr val="accent2"/>
                  </a:buClr>
                </a:pPr>
                <a:endParaRPr lang="en-GB" sz="2400" b="1" kern="100" dirty="0">
                  <a:solidFill>
                    <a:srgbClr val="0000CC"/>
                  </a:solidFill>
                  <a:latin typeface="Century Gothic" panose="020B0502020202020204" pitchFamily="34" charset="0"/>
                  <a:ea typeface="Calibri" panose="020F0502020204030204" pitchFamily="34" charset="0"/>
                  <a:cs typeface="Times New Roman" panose="02020603050405020304" pitchFamily="18" charset="0"/>
                </a:endParaRPr>
              </a:p>
            </p:txBody>
          </p:sp>
        </mc:Choice>
        <mc:Fallback xmlns="">
          <p:sp>
            <p:nvSpPr>
              <p:cNvPr id="6" name="TextBox 5">
                <a:extLst>
                  <a:ext uri="{FF2B5EF4-FFF2-40B4-BE49-F238E27FC236}">
                    <a16:creationId xmlns:a16="http://schemas.microsoft.com/office/drawing/2014/main" id="{6BAA1F11-5BEF-4D80-964F-A7332E36BFA0}"/>
                  </a:ext>
                </a:extLst>
              </p:cNvPr>
              <p:cNvSpPr txBox="1">
                <a:spLocks noRot="1" noChangeAspect="1" noMove="1" noResize="1" noEditPoints="1" noAdjustHandles="1" noChangeArrowheads="1" noChangeShapeType="1" noTextEdit="1"/>
              </p:cNvSpPr>
              <p:nvPr/>
            </p:nvSpPr>
            <p:spPr>
              <a:xfrm>
                <a:off x="145914" y="565502"/>
                <a:ext cx="11896929" cy="5849935"/>
              </a:xfrm>
              <a:prstGeom prst="rect">
                <a:avLst/>
              </a:prstGeom>
              <a:blipFill>
                <a:blip r:embed="rId2"/>
                <a:stretch>
                  <a:fillRect l="-665" t="-728"/>
                </a:stretch>
              </a:blipFill>
              <a:ln>
                <a:solidFill>
                  <a:srgbClr val="FF0066"/>
                </a:solidFill>
              </a:ln>
            </p:spPr>
            <p:txBody>
              <a:bodyPr/>
              <a:lstStyle/>
              <a:p>
                <a:r>
                  <a:rPr lang="en-US">
                    <a:noFill/>
                  </a:rPr>
                  <a:t> </a:t>
                </a:r>
              </a:p>
            </p:txBody>
          </p:sp>
        </mc:Fallback>
      </mc:AlternateContent>
      <p:sp>
        <p:nvSpPr>
          <p:cNvPr id="2" name="TextBox 1">
            <a:extLst>
              <a:ext uri="{FF2B5EF4-FFF2-40B4-BE49-F238E27FC236}">
                <a16:creationId xmlns:a16="http://schemas.microsoft.com/office/drawing/2014/main" id="{1BD8016C-B677-4BEB-86C7-5F4D5DE2B249}"/>
              </a:ext>
            </a:extLst>
          </p:cNvPr>
          <p:cNvSpPr txBox="1"/>
          <p:nvPr/>
        </p:nvSpPr>
        <p:spPr>
          <a:xfrm>
            <a:off x="5637178" y="3570051"/>
            <a:ext cx="65" cy="276999"/>
          </a:xfrm>
          <a:prstGeom prst="rect">
            <a:avLst/>
          </a:prstGeom>
          <a:noFill/>
        </p:spPr>
        <p:txBody>
          <a:bodyPr wrap="none" lIns="0" tIns="0" rIns="0" bIns="0" rtlCol="0">
            <a:spAutoFit/>
          </a:bodyPr>
          <a:lstStyle/>
          <a:p>
            <a:endParaRPr lang="en-US" dirty="0"/>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97986D1F-5921-411C-837A-6B416B0FF1D6}"/>
                  </a:ext>
                </a:extLst>
              </p:cNvPr>
              <p:cNvSpPr txBox="1"/>
              <p:nvPr/>
            </p:nvSpPr>
            <p:spPr>
              <a:xfrm>
                <a:off x="885825" y="1647825"/>
                <a:ext cx="2600326" cy="519886"/>
              </a:xfrm>
              <a:prstGeom prst="rect">
                <a:avLst/>
              </a:prstGeom>
              <a:solidFill>
                <a:srgbClr val="FF3386"/>
              </a:solidFill>
            </p:spPr>
            <p:txBody>
              <a:bodyPr wrap="square" rtlCol="0">
                <a:spAutoFit/>
              </a:bodyPr>
              <a:lstStyle/>
              <a:p>
                <a14:m>
                  <m:oMath xmlns:m="http://schemas.openxmlformats.org/officeDocument/2006/math">
                    <m:sSub>
                      <m:sSubPr>
                        <m:ctrlPr>
                          <a:rPr lang="en-US" b="1" i="1" smtClean="0">
                            <a:solidFill>
                              <a:srgbClr val="0000CC"/>
                            </a:solidFill>
                            <a:latin typeface="Cambria Math" panose="02040503050406030204" pitchFamily="18" charset="0"/>
                          </a:rPr>
                        </m:ctrlPr>
                      </m:sSubPr>
                      <m:e>
                        <m:r>
                          <a:rPr lang="en-US" b="1" i="1" smtClean="0">
                            <a:solidFill>
                              <a:srgbClr val="0000CC"/>
                            </a:solidFill>
                            <a:latin typeface="Cambria Math" panose="02040503050406030204" pitchFamily="18" charset="0"/>
                          </a:rPr>
                          <m:t>𝑰</m:t>
                        </m:r>
                      </m:e>
                      <m:sub>
                        <m:r>
                          <a:rPr lang="en-US" b="1" i="1" smtClean="0">
                            <a:solidFill>
                              <a:srgbClr val="0000CC"/>
                            </a:solidFill>
                            <a:latin typeface="Cambria Math" panose="02040503050406030204" pitchFamily="18" charset="0"/>
                          </a:rPr>
                          <m:t>𝒎𝒊𝒏</m:t>
                        </m:r>
                      </m:sub>
                    </m:sSub>
                  </m:oMath>
                </a14:m>
                <a:r>
                  <a:rPr lang="en-US" b="1" i="1" dirty="0">
                    <a:solidFill>
                      <a:srgbClr val="0000CC"/>
                    </a:solidFill>
                  </a:rPr>
                  <a:t> = 0 = </a:t>
                </a:r>
                <a14:m>
                  <m:oMath xmlns:m="http://schemas.openxmlformats.org/officeDocument/2006/math">
                    <m:f>
                      <m:fPr>
                        <m:ctrlPr>
                          <a:rPr lang="en-US" b="1" i="1" smtClean="0">
                            <a:solidFill>
                              <a:srgbClr val="0000CC"/>
                            </a:solidFill>
                            <a:latin typeface="Cambria Math" panose="02040503050406030204" pitchFamily="18" charset="0"/>
                          </a:rPr>
                        </m:ctrlPr>
                      </m:fPr>
                      <m:num>
                        <m:sSub>
                          <m:sSubPr>
                            <m:ctrlPr>
                              <a:rPr lang="en-US" b="1" i="1" smtClean="0">
                                <a:solidFill>
                                  <a:srgbClr val="0000CC"/>
                                </a:solidFill>
                                <a:latin typeface="Cambria Math" panose="02040503050406030204" pitchFamily="18" charset="0"/>
                              </a:rPr>
                            </m:ctrlPr>
                          </m:sSubPr>
                          <m:e>
                            <m:r>
                              <a:rPr lang="en-US" b="1" i="1" smtClean="0">
                                <a:solidFill>
                                  <a:srgbClr val="0000CC"/>
                                </a:solidFill>
                                <a:latin typeface="Cambria Math" panose="02040503050406030204" pitchFamily="18" charset="0"/>
                              </a:rPr>
                              <m:t>𝑽</m:t>
                            </m:r>
                          </m:e>
                          <m:sub>
                            <m:r>
                              <a:rPr lang="en-US" b="1" i="1" smtClean="0">
                                <a:solidFill>
                                  <a:srgbClr val="0000CC"/>
                                </a:solidFill>
                                <a:latin typeface="Cambria Math" panose="02040503050406030204" pitchFamily="18" charset="0"/>
                              </a:rPr>
                              <m:t>𝒔</m:t>
                            </m:r>
                          </m:sub>
                        </m:sSub>
                      </m:num>
                      <m:den>
                        <m:sSup>
                          <m:sSupPr>
                            <m:ctrlPr>
                              <a:rPr lang="en-US" b="1" i="1" smtClean="0">
                                <a:solidFill>
                                  <a:srgbClr val="0000CC"/>
                                </a:solidFill>
                                <a:latin typeface="Cambria Math" panose="02040503050406030204" pitchFamily="18" charset="0"/>
                              </a:rPr>
                            </m:ctrlPr>
                          </m:sSupPr>
                          <m:e>
                            <m:d>
                              <m:dPr>
                                <m:ctrlPr>
                                  <a:rPr lang="en-US" b="1" i="1" smtClean="0">
                                    <a:solidFill>
                                      <a:srgbClr val="0000CC"/>
                                    </a:solidFill>
                                    <a:latin typeface="Cambria Math" panose="02040503050406030204" pitchFamily="18" charset="0"/>
                                  </a:rPr>
                                </m:ctrlPr>
                              </m:dPr>
                              <m:e>
                                <m:r>
                                  <a:rPr lang="en-US" b="1" i="1" smtClean="0">
                                    <a:solidFill>
                                      <a:srgbClr val="0000CC"/>
                                    </a:solidFill>
                                    <a:latin typeface="Cambria Math" panose="02040503050406030204" pitchFamily="18" charset="0"/>
                                  </a:rPr>
                                  <m:t>𝟏</m:t>
                                </m:r>
                                <m:r>
                                  <a:rPr lang="en-US" b="1" i="1" smtClean="0">
                                    <a:solidFill>
                                      <a:srgbClr val="0000CC"/>
                                    </a:solidFill>
                                    <a:latin typeface="Cambria Math" panose="02040503050406030204" pitchFamily="18" charset="0"/>
                                  </a:rPr>
                                  <m:t>−</m:t>
                                </m:r>
                                <m:r>
                                  <a:rPr lang="en-US" b="1" i="1" smtClean="0">
                                    <a:solidFill>
                                      <a:srgbClr val="0000CC"/>
                                    </a:solidFill>
                                    <a:latin typeface="Cambria Math" panose="02040503050406030204" pitchFamily="18" charset="0"/>
                                  </a:rPr>
                                  <m:t>𝑫</m:t>
                                </m:r>
                              </m:e>
                            </m:d>
                          </m:e>
                          <m:sup>
                            <m:r>
                              <a:rPr lang="en-US" b="1" i="1" smtClean="0">
                                <a:solidFill>
                                  <a:srgbClr val="0000CC"/>
                                </a:solidFill>
                                <a:latin typeface="Cambria Math" panose="02040503050406030204" pitchFamily="18" charset="0"/>
                              </a:rPr>
                              <m:t>𝟐</m:t>
                            </m:r>
                          </m:sup>
                        </m:sSup>
                        <m:r>
                          <a:rPr lang="en-US" b="1" i="1" smtClean="0">
                            <a:solidFill>
                              <a:srgbClr val="0000CC"/>
                            </a:solidFill>
                            <a:latin typeface="Cambria Math" panose="02040503050406030204" pitchFamily="18" charset="0"/>
                          </a:rPr>
                          <m:t>𝑹</m:t>
                        </m:r>
                      </m:den>
                    </m:f>
                  </m:oMath>
                </a14:m>
                <a:r>
                  <a:rPr lang="en-US" b="1" i="1" dirty="0">
                    <a:solidFill>
                      <a:srgbClr val="0000CC"/>
                    </a:solidFill>
                  </a:rPr>
                  <a:t> </a:t>
                </a:r>
                <a14:m>
                  <m:oMath xmlns:m="http://schemas.openxmlformats.org/officeDocument/2006/math">
                    <m:r>
                      <a:rPr lang="en-US" b="1" i="1" dirty="0" smtClean="0">
                        <a:solidFill>
                          <a:srgbClr val="0000CC"/>
                        </a:solidFill>
                        <a:latin typeface="Cambria Math" panose="02040503050406030204" pitchFamily="18" charset="0"/>
                        <a:ea typeface="Cambria Math" panose="02040503050406030204" pitchFamily="18" charset="0"/>
                      </a:rPr>
                      <m:t>−</m:t>
                    </m:r>
                  </m:oMath>
                </a14:m>
                <a:r>
                  <a:rPr lang="en-US" b="1" i="1" dirty="0">
                    <a:solidFill>
                      <a:srgbClr val="0000CC"/>
                    </a:solidFill>
                  </a:rPr>
                  <a:t> </a:t>
                </a:r>
                <a14:m>
                  <m:oMath xmlns:m="http://schemas.openxmlformats.org/officeDocument/2006/math">
                    <m:f>
                      <m:fPr>
                        <m:ctrlPr>
                          <a:rPr lang="en-US" b="1" i="1" dirty="0" smtClean="0">
                            <a:solidFill>
                              <a:srgbClr val="0000CC"/>
                            </a:solidFill>
                            <a:latin typeface="Cambria Math" panose="02040503050406030204" pitchFamily="18" charset="0"/>
                          </a:rPr>
                        </m:ctrlPr>
                      </m:fPr>
                      <m:num>
                        <m:sSub>
                          <m:sSubPr>
                            <m:ctrlPr>
                              <a:rPr lang="en-US" b="1" i="1" dirty="0" smtClean="0">
                                <a:solidFill>
                                  <a:srgbClr val="0000CC"/>
                                </a:solidFill>
                                <a:latin typeface="Cambria Math" panose="02040503050406030204" pitchFamily="18" charset="0"/>
                              </a:rPr>
                            </m:ctrlPr>
                          </m:sSubPr>
                          <m:e>
                            <m:r>
                              <a:rPr lang="en-US" b="1" i="1" dirty="0" smtClean="0">
                                <a:solidFill>
                                  <a:srgbClr val="0000CC"/>
                                </a:solidFill>
                                <a:latin typeface="Cambria Math" panose="02040503050406030204" pitchFamily="18" charset="0"/>
                              </a:rPr>
                              <m:t>𝑽</m:t>
                            </m:r>
                          </m:e>
                          <m:sub>
                            <m:r>
                              <a:rPr lang="en-US" b="1" i="1" dirty="0" smtClean="0">
                                <a:solidFill>
                                  <a:srgbClr val="0000CC"/>
                                </a:solidFill>
                                <a:latin typeface="Cambria Math" panose="02040503050406030204" pitchFamily="18" charset="0"/>
                              </a:rPr>
                              <m:t>𝒔</m:t>
                            </m:r>
                          </m:sub>
                        </m:sSub>
                        <m:r>
                          <a:rPr lang="en-US" b="1" i="1" dirty="0" smtClean="0">
                            <a:solidFill>
                              <a:srgbClr val="0000CC"/>
                            </a:solidFill>
                            <a:latin typeface="Cambria Math" panose="02040503050406030204" pitchFamily="18" charset="0"/>
                          </a:rPr>
                          <m:t>𝑫𝑻</m:t>
                        </m:r>
                      </m:num>
                      <m:den>
                        <m:r>
                          <a:rPr lang="en-US" b="1" i="1" dirty="0" smtClean="0">
                            <a:solidFill>
                              <a:srgbClr val="0000CC"/>
                            </a:solidFill>
                            <a:latin typeface="Cambria Math" panose="02040503050406030204" pitchFamily="18" charset="0"/>
                          </a:rPr>
                          <m:t>𝟐</m:t>
                        </m:r>
                        <m:r>
                          <a:rPr lang="en-US" b="1" i="1" dirty="0" smtClean="0">
                            <a:solidFill>
                              <a:srgbClr val="0000CC"/>
                            </a:solidFill>
                            <a:latin typeface="Cambria Math" panose="02040503050406030204" pitchFamily="18" charset="0"/>
                          </a:rPr>
                          <m:t>𝑳</m:t>
                        </m:r>
                      </m:den>
                    </m:f>
                  </m:oMath>
                </a14:m>
                <a:endParaRPr lang="en-US" b="1" i="1" dirty="0"/>
              </a:p>
            </p:txBody>
          </p:sp>
        </mc:Choice>
        <mc:Fallback xmlns="">
          <p:sp>
            <p:nvSpPr>
              <p:cNvPr id="3" name="TextBox 2">
                <a:extLst>
                  <a:ext uri="{FF2B5EF4-FFF2-40B4-BE49-F238E27FC236}">
                    <a16:creationId xmlns:a16="http://schemas.microsoft.com/office/drawing/2014/main" id="{97986D1F-5921-411C-837A-6B416B0FF1D6}"/>
                  </a:ext>
                </a:extLst>
              </p:cNvPr>
              <p:cNvSpPr txBox="1">
                <a:spLocks noRot="1" noChangeAspect="1" noMove="1" noResize="1" noEditPoints="1" noAdjustHandles="1" noChangeArrowheads="1" noChangeShapeType="1" noTextEdit="1"/>
              </p:cNvSpPr>
              <p:nvPr/>
            </p:nvSpPr>
            <p:spPr>
              <a:xfrm>
                <a:off x="885825" y="1647825"/>
                <a:ext cx="2600326" cy="519886"/>
              </a:xfrm>
              <a:prstGeom prst="rect">
                <a:avLst/>
              </a:prstGeom>
              <a:blipFill>
                <a:blip r:embed="rId3"/>
                <a:stretch>
                  <a:fillRect b="-116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96FAD91D-4F05-45E5-8BAE-C001B2280A3D}"/>
                  </a:ext>
                </a:extLst>
              </p:cNvPr>
              <p:cNvSpPr txBox="1"/>
              <p:nvPr/>
            </p:nvSpPr>
            <p:spPr>
              <a:xfrm>
                <a:off x="4532278" y="1653659"/>
                <a:ext cx="2068417" cy="526554"/>
              </a:xfrm>
              <a:prstGeom prst="rect">
                <a:avLst/>
              </a:prstGeom>
              <a:solidFill>
                <a:srgbClr val="FF3386"/>
              </a:solidFill>
            </p:spPr>
            <p:txBody>
              <a:bodyPr wrap="square" rtlCol="0">
                <a:spAutoFit/>
              </a:bodyPr>
              <a:lstStyle/>
              <a:p>
                <a14:m>
                  <m:oMath xmlns:m="http://schemas.openxmlformats.org/officeDocument/2006/math">
                    <m:f>
                      <m:fPr>
                        <m:ctrlPr>
                          <a:rPr lang="en-US" b="1" i="1" smtClean="0">
                            <a:solidFill>
                              <a:srgbClr val="0000CC"/>
                            </a:solidFill>
                            <a:latin typeface="Cambria Math" panose="02040503050406030204" pitchFamily="18" charset="0"/>
                          </a:rPr>
                        </m:ctrlPr>
                      </m:fPr>
                      <m:num>
                        <m:sSub>
                          <m:sSubPr>
                            <m:ctrlPr>
                              <a:rPr lang="en-US" b="1" i="1" smtClean="0">
                                <a:solidFill>
                                  <a:srgbClr val="0000CC"/>
                                </a:solidFill>
                                <a:latin typeface="Cambria Math" panose="02040503050406030204" pitchFamily="18" charset="0"/>
                              </a:rPr>
                            </m:ctrlPr>
                          </m:sSubPr>
                          <m:e>
                            <m:r>
                              <a:rPr lang="en-US" b="1" i="1" smtClean="0">
                                <a:solidFill>
                                  <a:srgbClr val="0000CC"/>
                                </a:solidFill>
                                <a:latin typeface="Cambria Math" panose="02040503050406030204" pitchFamily="18" charset="0"/>
                              </a:rPr>
                              <m:t>𝑽</m:t>
                            </m:r>
                          </m:e>
                          <m:sub>
                            <m:r>
                              <a:rPr lang="en-US" b="1" i="1" smtClean="0">
                                <a:solidFill>
                                  <a:srgbClr val="0000CC"/>
                                </a:solidFill>
                                <a:latin typeface="Cambria Math" panose="02040503050406030204" pitchFamily="18" charset="0"/>
                              </a:rPr>
                              <m:t>𝒔</m:t>
                            </m:r>
                          </m:sub>
                        </m:sSub>
                      </m:num>
                      <m:den>
                        <m:sSup>
                          <m:sSupPr>
                            <m:ctrlPr>
                              <a:rPr lang="en-US" b="1" i="1" smtClean="0">
                                <a:solidFill>
                                  <a:srgbClr val="0000CC"/>
                                </a:solidFill>
                                <a:latin typeface="Cambria Math" panose="02040503050406030204" pitchFamily="18" charset="0"/>
                              </a:rPr>
                            </m:ctrlPr>
                          </m:sSupPr>
                          <m:e>
                            <m:d>
                              <m:dPr>
                                <m:ctrlPr>
                                  <a:rPr lang="en-US" b="1" i="1" smtClean="0">
                                    <a:solidFill>
                                      <a:srgbClr val="0000CC"/>
                                    </a:solidFill>
                                    <a:latin typeface="Cambria Math" panose="02040503050406030204" pitchFamily="18" charset="0"/>
                                  </a:rPr>
                                </m:ctrlPr>
                              </m:dPr>
                              <m:e>
                                <m:r>
                                  <a:rPr lang="en-US" b="1" i="1" smtClean="0">
                                    <a:solidFill>
                                      <a:srgbClr val="0000CC"/>
                                    </a:solidFill>
                                    <a:latin typeface="Cambria Math" panose="02040503050406030204" pitchFamily="18" charset="0"/>
                                  </a:rPr>
                                  <m:t>𝟏</m:t>
                                </m:r>
                                <m:r>
                                  <a:rPr lang="en-US" b="1" i="1" smtClean="0">
                                    <a:solidFill>
                                      <a:srgbClr val="0000CC"/>
                                    </a:solidFill>
                                    <a:latin typeface="Cambria Math" panose="02040503050406030204" pitchFamily="18" charset="0"/>
                                  </a:rPr>
                                  <m:t>−</m:t>
                                </m:r>
                                <m:r>
                                  <a:rPr lang="en-US" b="1" i="1" smtClean="0">
                                    <a:solidFill>
                                      <a:srgbClr val="0000CC"/>
                                    </a:solidFill>
                                    <a:latin typeface="Cambria Math" panose="02040503050406030204" pitchFamily="18" charset="0"/>
                                  </a:rPr>
                                  <m:t>𝑫</m:t>
                                </m:r>
                              </m:e>
                            </m:d>
                          </m:e>
                          <m:sup>
                            <m:r>
                              <a:rPr lang="en-US" b="1" i="1" smtClean="0">
                                <a:solidFill>
                                  <a:srgbClr val="0000CC"/>
                                </a:solidFill>
                                <a:latin typeface="Cambria Math" panose="02040503050406030204" pitchFamily="18" charset="0"/>
                              </a:rPr>
                              <m:t>𝟐</m:t>
                            </m:r>
                          </m:sup>
                        </m:sSup>
                        <m:r>
                          <a:rPr lang="en-US" b="1" i="1" smtClean="0">
                            <a:solidFill>
                              <a:srgbClr val="0000CC"/>
                            </a:solidFill>
                            <a:latin typeface="Cambria Math" panose="02040503050406030204" pitchFamily="18" charset="0"/>
                          </a:rPr>
                          <m:t>𝑹</m:t>
                        </m:r>
                      </m:den>
                    </m:f>
                  </m:oMath>
                </a14:m>
                <a:r>
                  <a:rPr lang="en-US" b="1" dirty="0">
                    <a:solidFill>
                      <a:srgbClr val="0000CC"/>
                    </a:solidFill>
                  </a:rPr>
                  <a:t> = </a:t>
                </a:r>
                <a14:m>
                  <m:oMath xmlns:m="http://schemas.openxmlformats.org/officeDocument/2006/math">
                    <m:f>
                      <m:fPr>
                        <m:ctrlPr>
                          <a:rPr lang="en-US" b="1" i="1" smtClean="0">
                            <a:solidFill>
                              <a:srgbClr val="0000CC"/>
                            </a:solidFill>
                            <a:latin typeface="Cambria Math" panose="02040503050406030204" pitchFamily="18" charset="0"/>
                          </a:rPr>
                        </m:ctrlPr>
                      </m:fPr>
                      <m:num>
                        <m:sSub>
                          <m:sSubPr>
                            <m:ctrlPr>
                              <a:rPr lang="en-US" b="1" i="1" smtClean="0">
                                <a:solidFill>
                                  <a:srgbClr val="0000CC"/>
                                </a:solidFill>
                                <a:latin typeface="Cambria Math" panose="02040503050406030204" pitchFamily="18" charset="0"/>
                              </a:rPr>
                            </m:ctrlPr>
                          </m:sSubPr>
                          <m:e>
                            <m:r>
                              <a:rPr lang="en-US" b="1" i="1" smtClean="0">
                                <a:solidFill>
                                  <a:srgbClr val="0000CC"/>
                                </a:solidFill>
                                <a:latin typeface="Cambria Math" panose="02040503050406030204" pitchFamily="18" charset="0"/>
                              </a:rPr>
                              <m:t>𝑽</m:t>
                            </m:r>
                          </m:e>
                          <m:sub>
                            <m:r>
                              <a:rPr lang="en-US" b="1" i="1" smtClean="0">
                                <a:solidFill>
                                  <a:srgbClr val="0000CC"/>
                                </a:solidFill>
                                <a:latin typeface="Cambria Math" panose="02040503050406030204" pitchFamily="18" charset="0"/>
                              </a:rPr>
                              <m:t>𝒔</m:t>
                            </m:r>
                          </m:sub>
                        </m:sSub>
                        <m:r>
                          <a:rPr lang="en-US" b="1" i="1" smtClean="0">
                            <a:solidFill>
                              <a:srgbClr val="0000CC"/>
                            </a:solidFill>
                            <a:latin typeface="Cambria Math" panose="02040503050406030204" pitchFamily="18" charset="0"/>
                          </a:rPr>
                          <m:t>𝑫𝑻</m:t>
                        </m:r>
                      </m:num>
                      <m:den>
                        <m:r>
                          <a:rPr lang="en-US" b="1" i="1" smtClean="0">
                            <a:solidFill>
                              <a:srgbClr val="0000CC"/>
                            </a:solidFill>
                            <a:latin typeface="Cambria Math" panose="02040503050406030204" pitchFamily="18" charset="0"/>
                          </a:rPr>
                          <m:t>𝟐</m:t>
                        </m:r>
                        <m:r>
                          <a:rPr lang="en-US" b="1" i="1" smtClean="0">
                            <a:solidFill>
                              <a:srgbClr val="0000CC"/>
                            </a:solidFill>
                            <a:latin typeface="Cambria Math" panose="02040503050406030204" pitchFamily="18" charset="0"/>
                          </a:rPr>
                          <m:t>𝑳</m:t>
                        </m:r>
                      </m:den>
                    </m:f>
                  </m:oMath>
                </a14:m>
                <a:r>
                  <a:rPr lang="en-US" b="1" dirty="0">
                    <a:solidFill>
                      <a:srgbClr val="0000CC"/>
                    </a:solidFill>
                  </a:rPr>
                  <a:t> = </a:t>
                </a:r>
                <a14:m>
                  <m:oMath xmlns:m="http://schemas.openxmlformats.org/officeDocument/2006/math">
                    <m:f>
                      <m:fPr>
                        <m:ctrlPr>
                          <a:rPr lang="en-US" b="1" i="1" smtClean="0">
                            <a:solidFill>
                              <a:srgbClr val="0000CC"/>
                            </a:solidFill>
                            <a:latin typeface="Cambria Math" panose="02040503050406030204" pitchFamily="18" charset="0"/>
                          </a:rPr>
                        </m:ctrlPr>
                      </m:fPr>
                      <m:num>
                        <m:sSub>
                          <m:sSubPr>
                            <m:ctrlPr>
                              <a:rPr lang="en-US" b="1" i="1" smtClean="0">
                                <a:solidFill>
                                  <a:srgbClr val="0000CC"/>
                                </a:solidFill>
                                <a:latin typeface="Cambria Math" panose="02040503050406030204" pitchFamily="18" charset="0"/>
                              </a:rPr>
                            </m:ctrlPr>
                          </m:sSubPr>
                          <m:e>
                            <m:r>
                              <a:rPr lang="en-US" b="1" i="1" smtClean="0">
                                <a:solidFill>
                                  <a:srgbClr val="0000CC"/>
                                </a:solidFill>
                                <a:latin typeface="Cambria Math" panose="02040503050406030204" pitchFamily="18" charset="0"/>
                              </a:rPr>
                              <m:t>𝑽</m:t>
                            </m:r>
                          </m:e>
                          <m:sub>
                            <m:r>
                              <a:rPr lang="en-US" b="1" i="1" smtClean="0">
                                <a:solidFill>
                                  <a:srgbClr val="0000CC"/>
                                </a:solidFill>
                                <a:latin typeface="Cambria Math" panose="02040503050406030204" pitchFamily="18" charset="0"/>
                              </a:rPr>
                              <m:t>𝒔</m:t>
                            </m:r>
                          </m:sub>
                        </m:sSub>
                        <m:r>
                          <a:rPr lang="en-US" b="1" i="1" smtClean="0">
                            <a:solidFill>
                              <a:srgbClr val="0000CC"/>
                            </a:solidFill>
                            <a:latin typeface="Cambria Math" panose="02040503050406030204" pitchFamily="18" charset="0"/>
                          </a:rPr>
                          <m:t>𝑫</m:t>
                        </m:r>
                      </m:num>
                      <m:den>
                        <m:r>
                          <a:rPr lang="en-US" b="1" i="1" smtClean="0">
                            <a:solidFill>
                              <a:srgbClr val="0000CC"/>
                            </a:solidFill>
                            <a:latin typeface="Cambria Math" panose="02040503050406030204" pitchFamily="18" charset="0"/>
                          </a:rPr>
                          <m:t>𝟐</m:t>
                        </m:r>
                        <m:r>
                          <a:rPr lang="en-US" b="1" i="1" smtClean="0">
                            <a:solidFill>
                              <a:srgbClr val="0000CC"/>
                            </a:solidFill>
                            <a:latin typeface="Cambria Math" panose="02040503050406030204" pitchFamily="18" charset="0"/>
                          </a:rPr>
                          <m:t>𝑳𝒇</m:t>
                        </m:r>
                      </m:den>
                    </m:f>
                  </m:oMath>
                </a14:m>
                <a:endParaRPr lang="en-US" b="1" dirty="0"/>
              </a:p>
            </p:txBody>
          </p:sp>
        </mc:Choice>
        <mc:Fallback xmlns="">
          <p:sp>
            <p:nvSpPr>
              <p:cNvPr id="9" name="TextBox 8">
                <a:extLst>
                  <a:ext uri="{FF2B5EF4-FFF2-40B4-BE49-F238E27FC236}">
                    <a16:creationId xmlns:a16="http://schemas.microsoft.com/office/drawing/2014/main" id="{96FAD91D-4F05-45E5-8BAE-C001B2280A3D}"/>
                  </a:ext>
                </a:extLst>
              </p:cNvPr>
              <p:cNvSpPr txBox="1">
                <a:spLocks noRot="1" noChangeAspect="1" noMove="1" noResize="1" noEditPoints="1" noAdjustHandles="1" noChangeArrowheads="1" noChangeShapeType="1" noTextEdit="1"/>
              </p:cNvSpPr>
              <p:nvPr/>
            </p:nvSpPr>
            <p:spPr>
              <a:xfrm>
                <a:off x="4532278" y="1653659"/>
                <a:ext cx="2068417" cy="526554"/>
              </a:xfrm>
              <a:prstGeom prst="rect">
                <a:avLst/>
              </a:prstGeom>
              <a:blipFill>
                <a:blip r:embed="rId4"/>
                <a:stretch>
                  <a:fillRect b="-574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9CBECFD1-AC4B-4057-8B4E-5229BB1EC215}"/>
                  </a:ext>
                </a:extLst>
              </p:cNvPr>
              <p:cNvSpPr txBox="1"/>
              <p:nvPr/>
            </p:nvSpPr>
            <p:spPr>
              <a:xfrm>
                <a:off x="4095750" y="3912001"/>
                <a:ext cx="1693700" cy="569130"/>
              </a:xfrm>
              <a:prstGeom prst="rect">
                <a:avLst/>
              </a:prstGeom>
              <a:solidFill>
                <a:srgbClr val="FF3386"/>
              </a:solidFill>
            </p:spPr>
            <p:txBody>
              <a:bodyPr wrap="square" rtlCol="0">
                <a:spAutoFit/>
              </a:bodyPr>
              <a:lstStyle/>
              <a:p>
                <a14:m>
                  <m:oMath xmlns:m="http://schemas.openxmlformats.org/officeDocument/2006/math">
                    <m:sSub>
                      <m:sSubPr>
                        <m:ctrlPr>
                          <a:rPr lang="en-US" b="1" i="1" smtClean="0">
                            <a:solidFill>
                              <a:srgbClr val="0000CC"/>
                            </a:solidFill>
                            <a:latin typeface="Cambria Math" panose="02040503050406030204" pitchFamily="18" charset="0"/>
                          </a:rPr>
                        </m:ctrlPr>
                      </m:sSubPr>
                      <m:e>
                        <m:r>
                          <a:rPr lang="en-US" b="1" i="1" smtClean="0">
                            <a:solidFill>
                              <a:srgbClr val="0000CC"/>
                            </a:solidFill>
                            <a:latin typeface="Cambria Math" panose="02040503050406030204" pitchFamily="18" charset="0"/>
                          </a:rPr>
                          <m:t>𝑳</m:t>
                        </m:r>
                      </m:e>
                      <m:sub>
                        <m:r>
                          <a:rPr lang="en-US" b="1" i="1" smtClean="0">
                            <a:solidFill>
                              <a:srgbClr val="0000CC"/>
                            </a:solidFill>
                            <a:latin typeface="Cambria Math" panose="02040503050406030204" pitchFamily="18" charset="0"/>
                          </a:rPr>
                          <m:t>𝒎𝒊𝒏</m:t>
                        </m:r>
                      </m:sub>
                    </m:sSub>
                  </m:oMath>
                </a14:m>
                <a:r>
                  <a:rPr lang="en-US" b="1" dirty="0">
                    <a:solidFill>
                      <a:srgbClr val="0000CC"/>
                    </a:solidFill>
                  </a:rPr>
                  <a:t> = </a:t>
                </a:r>
                <a14:m>
                  <m:oMath xmlns:m="http://schemas.openxmlformats.org/officeDocument/2006/math">
                    <m:f>
                      <m:fPr>
                        <m:ctrlPr>
                          <a:rPr lang="en-US" b="1" i="1" smtClean="0">
                            <a:solidFill>
                              <a:srgbClr val="0000CC"/>
                            </a:solidFill>
                            <a:latin typeface="Cambria Math" panose="02040503050406030204" pitchFamily="18" charset="0"/>
                          </a:rPr>
                        </m:ctrlPr>
                      </m:fPr>
                      <m:num>
                        <m:r>
                          <a:rPr lang="en-US" b="1" i="1" smtClean="0">
                            <a:solidFill>
                              <a:srgbClr val="0000CC"/>
                            </a:solidFill>
                            <a:latin typeface="Cambria Math" panose="02040503050406030204" pitchFamily="18" charset="0"/>
                          </a:rPr>
                          <m:t>𝑫</m:t>
                        </m:r>
                        <m:sSup>
                          <m:sSupPr>
                            <m:ctrlPr>
                              <a:rPr lang="en-US" b="1" i="1" smtClean="0">
                                <a:solidFill>
                                  <a:srgbClr val="0000CC"/>
                                </a:solidFill>
                                <a:latin typeface="Cambria Math" panose="02040503050406030204" pitchFamily="18" charset="0"/>
                              </a:rPr>
                            </m:ctrlPr>
                          </m:sSupPr>
                          <m:e>
                            <m:d>
                              <m:dPr>
                                <m:ctrlPr>
                                  <a:rPr lang="en-US" b="1" i="1" smtClean="0">
                                    <a:solidFill>
                                      <a:srgbClr val="0000CC"/>
                                    </a:solidFill>
                                    <a:latin typeface="Cambria Math" panose="02040503050406030204" pitchFamily="18" charset="0"/>
                                  </a:rPr>
                                </m:ctrlPr>
                              </m:dPr>
                              <m:e>
                                <m:r>
                                  <a:rPr lang="en-US" b="1" i="1" smtClean="0">
                                    <a:solidFill>
                                      <a:srgbClr val="0000CC"/>
                                    </a:solidFill>
                                    <a:latin typeface="Cambria Math" panose="02040503050406030204" pitchFamily="18" charset="0"/>
                                  </a:rPr>
                                  <m:t>𝟏</m:t>
                                </m:r>
                                <m:r>
                                  <a:rPr lang="en-US" b="1" i="1" smtClean="0">
                                    <a:solidFill>
                                      <a:srgbClr val="0000CC"/>
                                    </a:solidFill>
                                    <a:latin typeface="Cambria Math" panose="02040503050406030204" pitchFamily="18" charset="0"/>
                                  </a:rPr>
                                  <m:t>−</m:t>
                                </m:r>
                                <m:r>
                                  <a:rPr lang="en-US" b="1" i="1" smtClean="0">
                                    <a:solidFill>
                                      <a:srgbClr val="0000CC"/>
                                    </a:solidFill>
                                    <a:latin typeface="Cambria Math" panose="02040503050406030204" pitchFamily="18" charset="0"/>
                                  </a:rPr>
                                  <m:t>𝑫</m:t>
                                </m:r>
                              </m:e>
                            </m:d>
                          </m:e>
                          <m:sup>
                            <m:r>
                              <a:rPr lang="en-US" b="1" i="1" smtClean="0">
                                <a:solidFill>
                                  <a:srgbClr val="0000CC"/>
                                </a:solidFill>
                                <a:latin typeface="Cambria Math" panose="02040503050406030204" pitchFamily="18" charset="0"/>
                              </a:rPr>
                              <m:t>𝟐</m:t>
                            </m:r>
                          </m:sup>
                        </m:sSup>
                        <m:r>
                          <a:rPr lang="en-US" b="1" i="1" smtClean="0">
                            <a:solidFill>
                              <a:srgbClr val="0000CC"/>
                            </a:solidFill>
                            <a:latin typeface="Cambria Math" panose="02040503050406030204" pitchFamily="18" charset="0"/>
                          </a:rPr>
                          <m:t>𝑹</m:t>
                        </m:r>
                      </m:num>
                      <m:den>
                        <m:r>
                          <a:rPr lang="en-US" b="1" i="1" smtClean="0">
                            <a:solidFill>
                              <a:srgbClr val="0000CC"/>
                            </a:solidFill>
                            <a:latin typeface="Cambria Math" panose="02040503050406030204" pitchFamily="18" charset="0"/>
                          </a:rPr>
                          <m:t>𝟐</m:t>
                        </m:r>
                        <m:r>
                          <a:rPr lang="en-US" b="1" i="1" smtClean="0">
                            <a:solidFill>
                              <a:srgbClr val="0000CC"/>
                            </a:solidFill>
                            <a:latin typeface="Cambria Math" panose="02040503050406030204" pitchFamily="18" charset="0"/>
                          </a:rPr>
                          <m:t>𝒇</m:t>
                        </m:r>
                      </m:den>
                    </m:f>
                  </m:oMath>
                </a14:m>
                <a:endParaRPr lang="en-US" b="1" dirty="0"/>
              </a:p>
            </p:txBody>
          </p:sp>
        </mc:Choice>
        <mc:Fallback xmlns="">
          <p:sp>
            <p:nvSpPr>
              <p:cNvPr id="11" name="TextBox 10">
                <a:extLst>
                  <a:ext uri="{FF2B5EF4-FFF2-40B4-BE49-F238E27FC236}">
                    <a16:creationId xmlns:a16="http://schemas.microsoft.com/office/drawing/2014/main" id="{9CBECFD1-AC4B-4057-8B4E-5229BB1EC215}"/>
                  </a:ext>
                </a:extLst>
              </p:cNvPr>
              <p:cNvSpPr txBox="1">
                <a:spLocks noRot="1" noChangeAspect="1" noMove="1" noResize="1" noEditPoints="1" noAdjustHandles="1" noChangeArrowheads="1" noChangeShapeType="1" noTextEdit="1"/>
              </p:cNvSpPr>
              <p:nvPr/>
            </p:nvSpPr>
            <p:spPr>
              <a:xfrm>
                <a:off x="4095750" y="3912001"/>
                <a:ext cx="1693700" cy="569130"/>
              </a:xfrm>
              <a:prstGeom prst="rect">
                <a:avLst/>
              </a:prstGeom>
              <a:blipFill>
                <a:blip r:embed="rId5"/>
                <a:stretch>
                  <a:fillRect b="-1075"/>
                </a:stretch>
              </a:blipFill>
            </p:spPr>
            <p:txBody>
              <a:bodyPr/>
              <a:lstStyle/>
              <a:p>
                <a:r>
                  <a:rPr lang="en-US">
                    <a:noFill/>
                  </a:rPr>
                  <a:t> </a:t>
                </a:r>
              </a:p>
            </p:txBody>
          </p:sp>
        </mc:Fallback>
      </mc:AlternateContent>
    </p:spTree>
    <p:extLst>
      <p:ext uri="{BB962C8B-B14F-4D97-AF65-F5344CB8AC3E}">
        <p14:creationId xmlns:p14="http://schemas.microsoft.com/office/powerpoint/2010/main" val="114906230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6">
            <a:extLst>
              <a:ext uri="{FF2B5EF4-FFF2-40B4-BE49-F238E27FC236}">
                <a16:creationId xmlns:a16="http://schemas.microsoft.com/office/drawing/2014/main" id="{56080804-F19F-41A7-8595-943961648C5E}"/>
              </a:ext>
            </a:extLst>
          </p:cNvPr>
          <p:cNvSpPr>
            <a:spLocks noGrp="1"/>
          </p:cNvSpPr>
          <p:nvPr>
            <p:ph type="sldNum" sz="quarter" idx="12"/>
          </p:nvPr>
        </p:nvSpPr>
        <p:spPr>
          <a:xfrm>
            <a:off x="8610600" y="6441692"/>
            <a:ext cx="2743200" cy="370027"/>
          </a:xfrm>
        </p:spPr>
        <p:txBody>
          <a:bodyPr/>
          <a:lstStyle/>
          <a:p>
            <a:fld id="{F4801FD5-11B4-DE43-ACA2-E85EEB9A6F9C}" type="slidenum">
              <a:rPr lang="en-US" smtClean="0">
                <a:latin typeface="Garamond" panose="02020404030301010803" pitchFamily="18" charset="0"/>
              </a:rPr>
              <a:t>8</a:t>
            </a:fld>
            <a:endParaRPr lang="en-US">
              <a:latin typeface="Garamond" panose="02020404030301010803" pitchFamily="18" charset="0"/>
            </a:endParaRPr>
          </a:p>
        </p:txBody>
      </p:sp>
      <p:sp>
        <p:nvSpPr>
          <p:cNvPr id="5" name="Title 1">
            <a:extLst>
              <a:ext uri="{FF2B5EF4-FFF2-40B4-BE49-F238E27FC236}">
                <a16:creationId xmlns:a16="http://schemas.microsoft.com/office/drawing/2014/main" id="{4710AE4B-0DB8-4451-B9E4-10BAE11B4D3A}"/>
              </a:ext>
            </a:extLst>
          </p:cNvPr>
          <p:cNvSpPr>
            <a:spLocks noGrp="1"/>
          </p:cNvSpPr>
          <p:nvPr>
            <p:ph type="title"/>
          </p:nvPr>
        </p:nvSpPr>
        <p:spPr>
          <a:xfrm>
            <a:off x="3157348" y="-40404"/>
            <a:ext cx="6026397" cy="558382"/>
          </a:xfrm>
        </p:spPr>
        <p:txBody>
          <a:bodyPr>
            <a:noAutofit/>
          </a:bodyPr>
          <a:lstStyle/>
          <a:p>
            <a:pPr algn="ctr"/>
            <a:r>
              <a:rPr lang="en-US" sz="3200" b="1" u="sng" dirty="0">
                <a:solidFill>
                  <a:srgbClr val="FF3386"/>
                </a:solidFill>
                <a:latin typeface="Century Gothic" panose="020B0502020202020204" pitchFamily="34" charset="0"/>
                <a:cs typeface="Helvetica"/>
              </a:rPr>
              <a:t>BOOST CONVERTER</a:t>
            </a:r>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6BAA1F11-5BEF-4D80-964F-A7332E36BFA0}"/>
                  </a:ext>
                </a:extLst>
              </p:cNvPr>
              <p:cNvSpPr txBox="1"/>
              <p:nvPr/>
            </p:nvSpPr>
            <p:spPr>
              <a:xfrm>
                <a:off x="857250" y="1028459"/>
                <a:ext cx="10315575" cy="3915495"/>
              </a:xfrm>
              <a:prstGeom prst="rect">
                <a:avLst/>
              </a:prstGeom>
              <a:noFill/>
              <a:ln>
                <a:solidFill>
                  <a:srgbClr val="FF0066"/>
                </a:solidFill>
              </a:ln>
            </p:spPr>
            <p:txBody>
              <a:bodyPr wrap="square" rtlCol="0">
                <a:spAutoFit/>
              </a:bodyPr>
              <a:lstStyle/>
              <a:p>
                <a:pPr marL="342900" indent="-342900">
                  <a:buClr>
                    <a:schemeClr val="accent2"/>
                  </a:buClr>
                  <a:buFont typeface="Arial" panose="020B0604020202020204" pitchFamily="34" charset="0"/>
                  <a:buChar char="•"/>
                </a:pPr>
                <a:r>
                  <a:rPr lang="en-GB" sz="2400" b="1" kern="100" dirty="0">
                    <a:solidFill>
                      <a:srgbClr val="00B0F0"/>
                    </a:solidFill>
                    <a:latin typeface="Century Gothic" panose="020B0502020202020204" pitchFamily="34" charset="0"/>
                    <a:ea typeface="Calibri" panose="020F0502020204030204" pitchFamily="34" charset="0"/>
                    <a:cs typeface="Times New Roman" panose="02020603050405020304" pitchFamily="18" charset="0"/>
                  </a:rPr>
                  <a:t>OUTPUT RIPPLE VOLTAGE</a:t>
                </a:r>
              </a:p>
              <a:p>
                <a:pPr>
                  <a:lnSpc>
                    <a:spcPct val="150000"/>
                  </a:lnSpc>
                  <a:buClr>
                    <a:schemeClr val="accent2"/>
                  </a:buClr>
                </a:pPr>
                <a:r>
                  <a:rPr lang="en-GB" sz="2400" b="1" kern="100" dirty="0">
                    <a:solidFill>
                      <a:srgbClr val="0000CC"/>
                    </a:solidFill>
                    <a:latin typeface="Century Gothic" panose="020B0502020202020204" pitchFamily="34" charset="0"/>
                    <a:ea typeface="Calibri" panose="020F0502020204030204" pitchFamily="34" charset="0"/>
                    <a:cs typeface="Times New Roman" panose="02020603050405020304" pitchFamily="18" charset="0"/>
                  </a:rPr>
                  <a:t>   |</a:t>
                </a:r>
                <a14:m>
                  <m:oMath xmlns:m="http://schemas.openxmlformats.org/officeDocument/2006/math">
                    <m:r>
                      <a:rPr lang="en-GB" sz="2400" b="1" i="1" kern="100" smtClean="0">
                        <a:solidFill>
                          <a:srgbClr val="0000CC"/>
                        </a:solidFill>
                        <a:latin typeface="Cambria Math" panose="02040503050406030204" pitchFamily="18" charset="0"/>
                        <a:ea typeface="Cambria Math" panose="02040503050406030204" pitchFamily="18" charset="0"/>
                        <a:cs typeface="Times New Roman" panose="02020603050405020304" pitchFamily="18" charset="0"/>
                      </a:rPr>
                      <m:t>∆</m:t>
                    </m:r>
                    <m:r>
                      <a:rPr lang="en-US" sz="2400" b="1" i="1" kern="100" smtClean="0">
                        <a:solidFill>
                          <a:srgbClr val="0000CC"/>
                        </a:solidFill>
                        <a:latin typeface="Cambria Math" panose="02040503050406030204" pitchFamily="18" charset="0"/>
                        <a:ea typeface="Cambria Math" panose="02040503050406030204" pitchFamily="18" charset="0"/>
                        <a:cs typeface="Times New Roman" panose="02020603050405020304" pitchFamily="18" charset="0"/>
                      </a:rPr>
                      <m:t>𝑸</m:t>
                    </m:r>
                  </m:oMath>
                </a14:m>
                <a:r>
                  <a:rPr lang="en-GB" sz="2400" b="1" kern="100" dirty="0">
                    <a:solidFill>
                      <a:srgbClr val="0000CC"/>
                    </a:solidFill>
                    <a:latin typeface="Century Gothic" panose="020B0502020202020204" pitchFamily="34" charset="0"/>
                    <a:ea typeface="Calibri" panose="020F0502020204030204" pitchFamily="34" charset="0"/>
                    <a:cs typeface="Times New Roman" panose="02020603050405020304" pitchFamily="18" charset="0"/>
                  </a:rPr>
                  <a:t>|= </a:t>
                </a:r>
                <a14:m>
                  <m:oMath xmlns:m="http://schemas.openxmlformats.org/officeDocument/2006/math">
                    <m:d>
                      <m:dPr>
                        <m:ctrlPr>
                          <a:rPr lang="en-GB" sz="2400" b="1" i="1" kern="100" smtClean="0">
                            <a:solidFill>
                              <a:srgbClr val="0000CC"/>
                            </a:solidFill>
                            <a:latin typeface="Cambria Math" panose="02040503050406030204" pitchFamily="18" charset="0"/>
                            <a:ea typeface="Calibri" panose="020F0502020204030204" pitchFamily="34" charset="0"/>
                            <a:cs typeface="Times New Roman" panose="02020603050405020304" pitchFamily="18" charset="0"/>
                          </a:rPr>
                        </m:ctrlPr>
                      </m:dPr>
                      <m:e>
                        <m:f>
                          <m:fPr>
                            <m:ctrlPr>
                              <a:rPr lang="en-GB" sz="2400" b="1" i="1" kern="100" smtClean="0">
                                <a:solidFill>
                                  <a:srgbClr val="0000CC"/>
                                </a:solidFill>
                                <a:latin typeface="Cambria Math" panose="02040503050406030204" pitchFamily="18" charset="0"/>
                                <a:ea typeface="Calibri" panose="020F0502020204030204" pitchFamily="34" charset="0"/>
                                <a:cs typeface="Times New Roman" panose="02020603050405020304" pitchFamily="18" charset="0"/>
                              </a:rPr>
                            </m:ctrlPr>
                          </m:fPr>
                          <m:num>
                            <m:sSub>
                              <m:sSubPr>
                                <m:ctrlPr>
                                  <a:rPr lang="en-GB" sz="2400" b="1" i="1" kern="100" smtClean="0">
                                    <a:solidFill>
                                      <a:srgbClr val="0000CC"/>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2400" b="1" i="1" kern="100" smtClean="0">
                                    <a:solidFill>
                                      <a:srgbClr val="0000CC"/>
                                    </a:solidFill>
                                    <a:latin typeface="Cambria Math" panose="02040503050406030204" pitchFamily="18" charset="0"/>
                                    <a:ea typeface="Calibri" panose="020F0502020204030204" pitchFamily="34" charset="0"/>
                                    <a:cs typeface="Times New Roman" panose="02020603050405020304" pitchFamily="18" charset="0"/>
                                  </a:rPr>
                                  <m:t>𝑽</m:t>
                                </m:r>
                              </m:e>
                              <m:sub>
                                <m:r>
                                  <a:rPr lang="en-US" sz="2400" b="1" i="1" kern="100" smtClean="0">
                                    <a:solidFill>
                                      <a:srgbClr val="0000CC"/>
                                    </a:solidFill>
                                    <a:latin typeface="Cambria Math" panose="02040503050406030204" pitchFamily="18" charset="0"/>
                                    <a:ea typeface="Calibri" panose="020F0502020204030204" pitchFamily="34" charset="0"/>
                                    <a:cs typeface="Times New Roman" panose="02020603050405020304" pitchFamily="18" charset="0"/>
                                  </a:rPr>
                                  <m:t>𝒐</m:t>
                                </m:r>
                              </m:sub>
                            </m:sSub>
                          </m:num>
                          <m:den>
                            <m:r>
                              <a:rPr lang="en-US" sz="2400" b="1" i="1" kern="100" smtClean="0">
                                <a:solidFill>
                                  <a:srgbClr val="0000CC"/>
                                </a:solidFill>
                                <a:latin typeface="Cambria Math" panose="02040503050406030204" pitchFamily="18" charset="0"/>
                                <a:ea typeface="Calibri" panose="020F0502020204030204" pitchFamily="34" charset="0"/>
                                <a:cs typeface="Times New Roman" panose="02020603050405020304" pitchFamily="18" charset="0"/>
                              </a:rPr>
                              <m:t>𝑹</m:t>
                            </m:r>
                          </m:den>
                        </m:f>
                      </m:e>
                    </m:d>
                    <m:r>
                      <a:rPr lang="en-US" sz="2400" b="1" i="1" kern="100" smtClean="0">
                        <a:solidFill>
                          <a:srgbClr val="0000CC"/>
                        </a:solidFill>
                        <a:latin typeface="Cambria Math" panose="02040503050406030204" pitchFamily="18" charset="0"/>
                        <a:ea typeface="Calibri" panose="020F0502020204030204" pitchFamily="34" charset="0"/>
                        <a:cs typeface="Times New Roman" panose="02020603050405020304" pitchFamily="18" charset="0"/>
                      </a:rPr>
                      <m:t>𝑫𝑻</m:t>
                    </m:r>
                  </m:oMath>
                </a14:m>
                <a:r>
                  <a:rPr lang="en-GB" sz="2400" b="1" kern="100" dirty="0">
                    <a:solidFill>
                      <a:srgbClr val="0000CC"/>
                    </a:solidFill>
                    <a:latin typeface="Century Gothic" panose="020B0502020202020204" pitchFamily="34" charset="0"/>
                    <a:ea typeface="Calibri" panose="020F0502020204030204" pitchFamily="34" charset="0"/>
                    <a:cs typeface="Times New Roman" panose="02020603050405020304" pitchFamily="18" charset="0"/>
                  </a:rPr>
                  <a:t> = C</a:t>
                </a:r>
                <a14:m>
                  <m:oMath xmlns:m="http://schemas.openxmlformats.org/officeDocument/2006/math">
                    <m:r>
                      <a:rPr lang="en-GB" sz="2400" b="1" i="1" kern="100" smtClean="0">
                        <a:solidFill>
                          <a:srgbClr val="0000CC"/>
                        </a:solidFill>
                        <a:latin typeface="Cambria Math" panose="02040503050406030204" pitchFamily="18" charset="0"/>
                        <a:ea typeface="Cambria Math" panose="02040503050406030204" pitchFamily="18" charset="0"/>
                        <a:cs typeface="Times New Roman" panose="02020603050405020304" pitchFamily="18" charset="0"/>
                      </a:rPr>
                      <m:t>∆</m:t>
                    </m:r>
                    <m:sSub>
                      <m:sSubPr>
                        <m:ctrlPr>
                          <a:rPr lang="en-GB" sz="2400" b="1" i="1" kern="100" smtClean="0">
                            <a:solidFill>
                              <a:srgbClr val="0000CC"/>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sz="2400" b="1" i="1" kern="100" smtClean="0">
                            <a:solidFill>
                              <a:srgbClr val="0000CC"/>
                            </a:solidFill>
                            <a:latin typeface="Cambria Math" panose="02040503050406030204" pitchFamily="18" charset="0"/>
                            <a:ea typeface="Cambria Math" panose="02040503050406030204" pitchFamily="18" charset="0"/>
                            <a:cs typeface="Times New Roman" panose="02020603050405020304" pitchFamily="18" charset="0"/>
                          </a:rPr>
                          <m:t>𝑽</m:t>
                        </m:r>
                      </m:e>
                      <m:sub>
                        <m:r>
                          <a:rPr lang="en-US" sz="2400" b="1" i="1" kern="100" smtClean="0">
                            <a:solidFill>
                              <a:srgbClr val="0000CC"/>
                            </a:solidFill>
                            <a:latin typeface="Cambria Math" panose="02040503050406030204" pitchFamily="18" charset="0"/>
                            <a:ea typeface="Cambria Math" panose="02040503050406030204" pitchFamily="18" charset="0"/>
                            <a:cs typeface="Times New Roman" panose="02020603050405020304" pitchFamily="18" charset="0"/>
                          </a:rPr>
                          <m:t>𝒐</m:t>
                        </m:r>
                      </m:sub>
                    </m:sSub>
                  </m:oMath>
                </a14:m>
                <a:r>
                  <a:rPr lang="en-GB" sz="2400" b="1" kern="100" dirty="0">
                    <a:solidFill>
                      <a:srgbClr val="0000CC"/>
                    </a:solidFill>
                    <a:latin typeface="Century Gothic" panose="020B0502020202020204" pitchFamily="34" charset="0"/>
                    <a:ea typeface="Calibri" panose="020F0502020204030204" pitchFamily="34" charset="0"/>
                    <a:cs typeface="Times New Roman" panose="02020603050405020304" pitchFamily="18" charset="0"/>
                  </a:rPr>
                  <a:t>    →   </a:t>
                </a:r>
                <a14:m>
                  <m:oMath xmlns:m="http://schemas.openxmlformats.org/officeDocument/2006/math">
                    <m:r>
                      <a:rPr lang="en-GB" sz="2400" b="1" i="1" kern="100" smtClean="0">
                        <a:solidFill>
                          <a:srgbClr val="0000CC"/>
                        </a:solidFill>
                        <a:latin typeface="Cambria Math" panose="02040503050406030204" pitchFamily="18" charset="0"/>
                        <a:ea typeface="Cambria Math" panose="02040503050406030204" pitchFamily="18" charset="0"/>
                        <a:cs typeface="Times New Roman" panose="02020603050405020304" pitchFamily="18" charset="0"/>
                      </a:rPr>
                      <m:t>∆</m:t>
                    </m:r>
                    <m:sSub>
                      <m:sSubPr>
                        <m:ctrlPr>
                          <a:rPr lang="en-GB" sz="2400" b="1" i="1" kern="100" smtClean="0">
                            <a:solidFill>
                              <a:srgbClr val="0000CC"/>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sz="2400" b="1" i="1" kern="100" smtClean="0">
                            <a:solidFill>
                              <a:srgbClr val="0000CC"/>
                            </a:solidFill>
                            <a:latin typeface="Cambria Math" panose="02040503050406030204" pitchFamily="18" charset="0"/>
                            <a:ea typeface="Cambria Math" panose="02040503050406030204" pitchFamily="18" charset="0"/>
                            <a:cs typeface="Times New Roman" panose="02020603050405020304" pitchFamily="18" charset="0"/>
                          </a:rPr>
                          <m:t>𝑽</m:t>
                        </m:r>
                      </m:e>
                      <m:sub>
                        <m:r>
                          <a:rPr lang="en-US" sz="2400" b="1" i="1" kern="100" smtClean="0">
                            <a:solidFill>
                              <a:srgbClr val="0000CC"/>
                            </a:solidFill>
                            <a:latin typeface="Cambria Math" panose="02040503050406030204" pitchFamily="18" charset="0"/>
                            <a:ea typeface="Cambria Math" panose="02040503050406030204" pitchFamily="18" charset="0"/>
                            <a:cs typeface="Times New Roman" panose="02020603050405020304" pitchFamily="18" charset="0"/>
                          </a:rPr>
                          <m:t>𝒐</m:t>
                        </m:r>
                      </m:sub>
                    </m:sSub>
                  </m:oMath>
                </a14:m>
                <a:r>
                  <a:rPr lang="en-GB" sz="2400" b="1" kern="100" dirty="0">
                    <a:solidFill>
                      <a:srgbClr val="0000CC"/>
                    </a:solidFill>
                    <a:latin typeface="Century Gothic" panose="020B0502020202020204" pitchFamily="34" charset="0"/>
                    <a:ea typeface="Calibri" panose="020F0502020204030204" pitchFamily="34" charset="0"/>
                    <a:cs typeface="Times New Roman" panose="02020603050405020304" pitchFamily="18" charset="0"/>
                  </a:rPr>
                  <a:t> = </a:t>
                </a:r>
                <a14:m>
                  <m:oMath xmlns:m="http://schemas.openxmlformats.org/officeDocument/2006/math">
                    <m:f>
                      <m:fPr>
                        <m:ctrlPr>
                          <a:rPr lang="en-GB" sz="2400" b="1" i="1" kern="100" smtClean="0">
                            <a:solidFill>
                              <a:srgbClr val="0000CC"/>
                            </a:solidFill>
                            <a:latin typeface="Cambria Math" panose="02040503050406030204" pitchFamily="18" charset="0"/>
                            <a:ea typeface="Calibri" panose="020F0502020204030204" pitchFamily="34" charset="0"/>
                            <a:cs typeface="Times New Roman" panose="02020603050405020304" pitchFamily="18" charset="0"/>
                          </a:rPr>
                        </m:ctrlPr>
                      </m:fPr>
                      <m:num>
                        <m:sSub>
                          <m:sSubPr>
                            <m:ctrlPr>
                              <a:rPr lang="en-GB" sz="2400" b="1" i="1" kern="100" smtClean="0">
                                <a:solidFill>
                                  <a:srgbClr val="0000CC"/>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2400" b="1" i="1" kern="100" smtClean="0">
                                <a:solidFill>
                                  <a:srgbClr val="0000CC"/>
                                </a:solidFill>
                                <a:latin typeface="Cambria Math" panose="02040503050406030204" pitchFamily="18" charset="0"/>
                                <a:ea typeface="Calibri" panose="020F0502020204030204" pitchFamily="34" charset="0"/>
                                <a:cs typeface="Times New Roman" panose="02020603050405020304" pitchFamily="18" charset="0"/>
                              </a:rPr>
                              <m:t>𝑽</m:t>
                            </m:r>
                          </m:e>
                          <m:sub>
                            <m:r>
                              <a:rPr lang="en-US" sz="2400" b="1" i="1" kern="100" smtClean="0">
                                <a:solidFill>
                                  <a:srgbClr val="0000CC"/>
                                </a:solidFill>
                                <a:latin typeface="Cambria Math" panose="02040503050406030204" pitchFamily="18" charset="0"/>
                                <a:ea typeface="Calibri" panose="020F0502020204030204" pitchFamily="34" charset="0"/>
                                <a:cs typeface="Times New Roman" panose="02020603050405020304" pitchFamily="18" charset="0"/>
                              </a:rPr>
                              <m:t>𝒐</m:t>
                            </m:r>
                          </m:sub>
                        </m:sSub>
                        <m:r>
                          <a:rPr lang="en-US" sz="2400" b="1" i="1" kern="100" smtClean="0">
                            <a:solidFill>
                              <a:srgbClr val="0000CC"/>
                            </a:solidFill>
                            <a:latin typeface="Cambria Math" panose="02040503050406030204" pitchFamily="18" charset="0"/>
                            <a:ea typeface="Calibri" panose="020F0502020204030204" pitchFamily="34" charset="0"/>
                            <a:cs typeface="Times New Roman" panose="02020603050405020304" pitchFamily="18" charset="0"/>
                          </a:rPr>
                          <m:t>𝑫𝑻</m:t>
                        </m:r>
                      </m:num>
                      <m:den>
                        <m:r>
                          <a:rPr lang="en-US" sz="2400" b="1" i="1" kern="100" smtClean="0">
                            <a:solidFill>
                              <a:srgbClr val="0000CC"/>
                            </a:solidFill>
                            <a:latin typeface="Cambria Math" panose="02040503050406030204" pitchFamily="18" charset="0"/>
                            <a:ea typeface="Calibri" panose="020F0502020204030204" pitchFamily="34" charset="0"/>
                            <a:cs typeface="Times New Roman" panose="02020603050405020304" pitchFamily="18" charset="0"/>
                          </a:rPr>
                          <m:t>𝑹𝑪</m:t>
                        </m:r>
                      </m:den>
                    </m:f>
                  </m:oMath>
                </a14:m>
                <a:r>
                  <a:rPr lang="en-GB" sz="2400" b="1" kern="100" dirty="0">
                    <a:solidFill>
                      <a:srgbClr val="0000CC"/>
                    </a:solidFill>
                    <a:latin typeface="Century Gothic" panose="020B0502020202020204" pitchFamily="34" charset="0"/>
                    <a:ea typeface="Calibri" panose="020F0502020204030204" pitchFamily="34" charset="0"/>
                    <a:cs typeface="Times New Roman" panose="02020603050405020304" pitchFamily="18" charset="0"/>
                  </a:rPr>
                  <a:t> = </a:t>
                </a:r>
                <a14:m>
                  <m:oMath xmlns:m="http://schemas.openxmlformats.org/officeDocument/2006/math">
                    <m:f>
                      <m:fPr>
                        <m:ctrlPr>
                          <a:rPr lang="en-GB" sz="2400" b="1" i="1" kern="100" smtClean="0">
                            <a:solidFill>
                              <a:srgbClr val="0000CC"/>
                            </a:solidFill>
                            <a:latin typeface="Cambria Math" panose="02040503050406030204" pitchFamily="18" charset="0"/>
                            <a:ea typeface="Calibri" panose="020F0502020204030204" pitchFamily="34" charset="0"/>
                            <a:cs typeface="Times New Roman" panose="02020603050405020304" pitchFamily="18" charset="0"/>
                          </a:rPr>
                        </m:ctrlPr>
                      </m:fPr>
                      <m:num>
                        <m:sSub>
                          <m:sSubPr>
                            <m:ctrlPr>
                              <a:rPr lang="en-GB" sz="2400" b="1" i="1" kern="100" smtClean="0">
                                <a:solidFill>
                                  <a:srgbClr val="0000CC"/>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2400" b="1" i="1" kern="100" smtClean="0">
                                <a:solidFill>
                                  <a:srgbClr val="0000CC"/>
                                </a:solidFill>
                                <a:latin typeface="Cambria Math" panose="02040503050406030204" pitchFamily="18" charset="0"/>
                                <a:ea typeface="Calibri" panose="020F0502020204030204" pitchFamily="34" charset="0"/>
                                <a:cs typeface="Times New Roman" panose="02020603050405020304" pitchFamily="18" charset="0"/>
                              </a:rPr>
                              <m:t>𝑽</m:t>
                            </m:r>
                          </m:e>
                          <m:sub>
                            <m:r>
                              <a:rPr lang="en-US" sz="2400" b="1" i="1" kern="100" smtClean="0">
                                <a:solidFill>
                                  <a:srgbClr val="0000CC"/>
                                </a:solidFill>
                                <a:latin typeface="Cambria Math" panose="02040503050406030204" pitchFamily="18" charset="0"/>
                                <a:ea typeface="Calibri" panose="020F0502020204030204" pitchFamily="34" charset="0"/>
                                <a:cs typeface="Times New Roman" panose="02020603050405020304" pitchFamily="18" charset="0"/>
                              </a:rPr>
                              <m:t>𝒐</m:t>
                            </m:r>
                          </m:sub>
                        </m:sSub>
                        <m:r>
                          <a:rPr lang="en-US" sz="2400" b="1" i="1" kern="100" smtClean="0">
                            <a:solidFill>
                              <a:srgbClr val="0000CC"/>
                            </a:solidFill>
                            <a:latin typeface="Cambria Math" panose="02040503050406030204" pitchFamily="18" charset="0"/>
                            <a:ea typeface="Calibri" panose="020F0502020204030204" pitchFamily="34" charset="0"/>
                            <a:cs typeface="Times New Roman" panose="02020603050405020304" pitchFamily="18" charset="0"/>
                          </a:rPr>
                          <m:t>𝑫</m:t>
                        </m:r>
                      </m:num>
                      <m:den>
                        <m:r>
                          <a:rPr lang="en-US" sz="2400" b="1" i="1" kern="100" smtClean="0">
                            <a:solidFill>
                              <a:srgbClr val="0000CC"/>
                            </a:solidFill>
                            <a:latin typeface="Cambria Math" panose="02040503050406030204" pitchFamily="18" charset="0"/>
                            <a:ea typeface="Calibri" panose="020F0502020204030204" pitchFamily="34" charset="0"/>
                            <a:cs typeface="Times New Roman" panose="02020603050405020304" pitchFamily="18" charset="0"/>
                          </a:rPr>
                          <m:t>𝑹𝑪𝒇</m:t>
                        </m:r>
                      </m:den>
                    </m:f>
                  </m:oMath>
                </a14:m>
                <a:endParaRPr lang="en-GB" sz="2400" b="1" kern="100" dirty="0">
                  <a:solidFill>
                    <a:srgbClr val="0000CC"/>
                  </a:solidFill>
                  <a:latin typeface="Century Gothic" panose="020B0502020202020204" pitchFamily="34" charset="0"/>
                  <a:ea typeface="Calibri" panose="020F0502020204030204" pitchFamily="34" charset="0"/>
                  <a:cs typeface="Times New Roman" panose="02020603050405020304" pitchFamily="18" charset="0"/>
                </a:endParaRPr>
              </a:p>
              <a:p>
                <a:pPr>
                  <a:lnSpc>
                    <a:spcPct val="150000"/>
                  </a:lnSpc>
                  <a:buClr>
                    <a:schemeClr val="accent2"/>
                  </a:buClr>
                </a:pPr>
                <a:endParaRPr lang="en-GB" sz="2400" b="1" kern="100" dirty="0">
                  <a:solidFill>
                    <a:srgbClr val="0000CC"/>
                  </a:solidFill>
                  <a:latin typeface="Century Gothic" panose="020B0502020202020204" pitchFamily="34" charset="0"/>
                  <a:ea typeface="Calibri" panose="020F0502020204030204" pitchFamily="34" charset="0"/>
                  <a:cs typeface="Times New Roman" panose="02020603050405020304" pitchFamily="18" charset="0"/>
                </a:endParaRPr>
              </a:p>
              <a:p>
                <a:pPr marL="342900" indent="-342900">
                  <a:lnSpc>
                    <a:spcPct val="150000"/>
                  </a:lnSpc>
                  <a:buClr>
                    <a:schemeClr val="accent2"/>
                  </a:buClr>
                  <a:buFont typeface="Arial" panose="020B0604020202020204" pitchFamily="34" charset="0"/>
                  <a:buChar char="•"/>
                </a:pPr>
                <a:endParaRPr lang="en-GB" sz="2400" b="1" kern="100" dirty="0">
                  <a:solidFill>
                    <a:srgbClr val="0000CC"/>
                  </a:solidFill>
                  <a:latin typeface="Century Gothic" panose="020B0502020202020204" pitchFamily="34" charset="0"/>
                  <a:ea typeface="Calibri" panose="020F0502020204030204" pitchFamily="34" charset="0"/>
                  <a:cs typeface="Times New Roman" panose="02020603050405020304" pitchFamily="18" charset="0"/>
                </a:endParaRPr>
              </a:p>
              <a:p>
                <a:pPr marL="342900" indent="-342900">
                  <a:buClr>
                    <a:schemeClr val="accent2"/>
                  </a:buClr>
                  <a:buFont typeface="Arial" panose="020B0604020202020204" pitchFamily="34" charset="0"/>
                  <a:buChar char="•"/>
                </a:pPr>
                <a:r>
                  <a:rPr lang="en-GB" sz="2400" b="1" kern="100" dirty="0">
                    <a:solidFill>
                      <a:srgbClr val="0000CC"/>
                    </a:solidFill>
                    <a:latin typeface="Century Gothic" panose="020B0502020202020204" pitchFamily="34" charset="0"/>
                    <a:ea typeface="Calibri" panose="020F0502020204030204" pitchFamily="34" charset="0"/>
                    <a:cs typeface="Times New Roman" panose="02020603050405020304" pitchFamily="18" charset="0"/>
                  </a:rPr>
                  <a:t> Expressing capacitance in term of output voltage ripple</a:t>
                </a:r>
              </a:p>
              <a:p>
                <a:pPr marL="342900" indent="-342900">
                  <a:buClr>
                    <a:schemeClr val="accent2"/>
                  </a:buClr>
                  <a:buFont typeface="Arial" panose="020B0604020202020204" pitchFamily="34" charset="0"/>
                  <a:buChar char="•"/>
                </a:pPr>
                <a:endParaRPr lang="en-GB" sz="2400" b="1" kern="100" dirty="0">
                  <a:solidFill>
                    <a:srgbClr val="0000CC"/>
                  </a:solidFill>
                  <a:latin typeface="Century Gothic" panose="020B0502020202020204" pitchFamily="34" charset="0"/>
                  <a:ea typeface="Calibri" panose="020F0502020204030204" pitchFamily="34" charset="0"/>
                  <a:cs typeface="Times New Roman" panose="02020603050405020304" pitchFamily="18" charset="0"/>
                </a:endParaRPr>
              </a:p>
              <a:p>
                <a:pPr>
                  <a:buClr>
                    <a:schemeClr val="accent2"/>
                  </a:buClr>
                </a:pPr>
                <a:endParaRPr lang="en-GB" sz="2400" b="1" kern="100" dirty="0">
                  <a:solidFill>
                    <a:srgbClr val="0000CC"/>
                  </a:solidFill>
                  <a:latin typeface="Century Gothic" panose="020B0502020202020204" pitchFamily="34" charset="0"/>
                  <a:ea typeface="Calibri" panose="020F0502020204030204" pitchFamily="34" charset="0"/>
                  <a:cs typeface="Times New Roman" panose="02020603050405020304" pitchFamily="18" charset="0"/>
                </a:endParaRPr>
              </a:p>
              <a:p>
                <a:pPr>
                  <a:buClr>
                    <a:schemeClr val="accent2"/>
                  </a:buClr>
                </a:pPr>
                <a:endParaRPr lang="en-GB" sz="2400" b="1" kern="100" dirty="0">
                  <a:solidFill>
                    <a:srgbClr val="0000CC"/>
                  </a:solidFill>
                  <a:latin typeface="Century Gothic" panose="020B0502020202020204" pitchFamily="34" charset="0"/>
                  <a:ea typeface="Calibri" panose="020F0502020204030204" pitchFamily="34" charset="0"/>
                  <a:cs typeface="Times New Roman" panose="02020603050405020304" pitchFamily="18" charset="0"/>
                </a:endParaRPr>
              </a:p>
            </p:txBody>
          </p:sp>
        </mc:Choice>
        <mc:Fallback xmlns="">
          <p:sp>
            <p:nvSpPr>
              <p:cNvPr id="6" name="TextBox 5">
                <a:extLst>
                  <a:ext uri="{FF2B5EF4-FFF2-40B4-BE49-F238E27FC236}">
                    <a16:creationId xmlns:a16="http://schemas.microsoft.com/office/drawing/2014/main" id="{6BAA1F11-5BEF-4D80-964F-A7332E36BFA0}"/>
                  </a:ext>
                </a:extLst>
              </p:cNvPr>
              <p:cNvSpPr txBox="1">
                <a:spLocks noRot="1" noChangeAspect="1" noMove="1" noResize="1" noEditPoints="1" noAdjustHandles="1" noChangeArrowheads="1" noChangeShapeType="1" noTextEdit="1"/>
              </p:cNvSpPr>
              <p:nvPr/>
            </p:nvSpPr>
            <p:spPr>
              <a:xfrm>
                <a:off x="857250" y="1028459"/>
                <a:ext cx="10315575" cy="3915495"/>
              </a:xfrm>
              <a:prstGeom prst="rect">
                <a:avLst/>
              </a:prstGeom>
              <a:blipFill>
                <a:blip r:embed="rId2"/>
                <a:stretch>
                  <a:fillRect l="-767" t="-1087"/>
                </a:stretch>
              </a:blipFill>
              <a:ln>
                <a:solidFill>
                  <a:srgbClr val="FF0066"/>
                </a:solidFill>
              </a:ln>
            </p:spPr>
            <p:txBody>
              <a:bodyPr/>
              <a:lstStyle/>
              <a:p>
                <a:r>
                  <a:rPr lang="en-US">
                    <a:noFill/>
                  </a:rPr>
                  <a:t> </a:t>
                </a:r>
              </a:p>
            </p:txBody>
          </p:sp>
        </mc:Fallback>
      </mc:AlternateContent>
      <p:sp>
        <p:nvSpPr>
          <p:cNvPr id="2" name="TextBox 1">
            <a:extLst>
              <a:ext uri="{FF2B5EF4-FFF2-40B4-BE49-F238E27FC236}">
                <a16:creationId xmlns:a16="http://schemas.microsoft.com/office/drawing/2014/main" id="{1BD8016C-B677-4BEB-86C7-5F4D5DE2B249}"/>
              </a:ext>
            </a:extLst>
          </p:cNvPr>
          <p:cNvSpPr txBox="1"/>
          <p:nvPr/>
        </p:nvSpPr>
        <p:spPr>
          <a:xfrm>
            <a:off x="5637178" y="3570051"/>
            <a:ext cx="65" cy="276999"/>
          </a:xfrm>
          <a:prstGeom prst="rect">
            <a:avLst/>
          </a:prstGeom>
          <a:noFill/>
        </p:spPr>
        <p:txBody>
          <a:bodyPr wrap="none" lIns="0" tIns="0" rIns="0" bIns="0" rtlCol="0">
            <a:spAutoFit/>
          </a:bodyPr>
          <a:lstStyle/>
          <a:p>
            <a:endParaRPr lang="en-US" dirty="0"/>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2808CF5C-FC2B-410A-8D0A-378117A2E93D}"/>
                  </a:ext>
                </a:extLst>
              </p:cNvPr>
              <p:cNvSpPr txBox="1"/>
              <p:nvPr/>
            </p:nvSpPr>
            <p:spPr>
              <a:xfrm>
                <a:off x="3357562" y="2524125"/>
                <a:ext cx="1052513" cy="526811"/>
              </a:xfrm>
              <a:prstGeom prst="rect">
                <a:avLst/>
              </a:prstGeom>
              <a:solidFill>
                <a:srgbClr val="FF0066"/>
              </a:solidFill>
            </p:spPr>
            <p:txBody>
              <a:bodyPr wrap="square" rtlCol="0">
                <a:spAutoFit/>
              </a:bodyPr>
              <a:lstStyle/>
              <a:p>
                <a14:m>
                  <m:oMath xmlns:m="http://schemas.openxmlformats.org/officeDocument/2006/math">
                    <m:f>
                      <m:fPr>
                        <m:ctrlPr>
                          <a:rPr lang="en-US" b="1" i="1" smtClean="0">
                            <a:solidFill>
                              <a:srgbClr val="0000CC"/>
                            </a:solidFill>
                            <a:latin typeface="Cambria Math" panose="02040503050406030204" pitchFamily="18" charset="0"/>
                          </a:rPr>
                        </m:ctrlPr>
                      </m:fPr>
                      <m:num>
                        <m:r>
                          <a:rPr lang="en-US" b="1" i="1" smtClean="0">
                            <a:solidFill>
                              <a:srgbClr val="0000CC"/>
                            </a:solidFill>
                            <a:latin typeface="Cambria Math" panose="02040503050406030204" pitchFamily="18" charset="0"/>
                            <a:ea typeface="Cambria Math" panose="02040503050406030204" pitchFamily="18" charset="0"/>
                          </a:rPr>
                          <m:t>∆</m:t>
                        </m:r>
                        <m:sSub>
                          <m:sSubPr>
                            <m:ctrlPr>
                              <a:rPr lang="en-US" b="1" i="1" smtClean="0">
                                <a:solidFill>
                                  <a:srgbClr val="0000CC"/>
                                </a:solidFill>
                                <a:latin typeface="Cambria Math" panose="02040503050406030204" pitchFamily="18" charset="0"/>
                                <a:ea typeface="Cambria Math" panose="02040503050406030204" pitchFamily="18" charset="0"/>
                              </a:rPr>
                            </m:ctrlPr>
                          </m:sSubPr>
                          <m:e>
                            <m:r>
                              <a:rPr lang="en-US" b="1" i="1" smtClean="0">
                                <a:solidFill>
                                  <a:srgbClr val="0000CC"/>
                                </a:solidFill>
                                <a:latin typeface="Cambria Math" panose="02040503050406030204" pitchFamily="18" charset="0"/>
                                <a:ea typeface="Cambria Math" panose="02040503050406030204" pitchFamily="18" charset="0"/>
                              </a:rPr>
                              <m:t>𝑽</m:t>
                            </m:r>
                          </m:e>
                          <m:sub>
                            <m:r>
                              <a:rPr lang="en-US" b="1" i="1" smtClean="0">
                                <a:solidFill>
                                  <a:srgbClr val="0000CC"/>
                                </a:solidFill>
                                <a:latin typeface="Cambria Math" panose="02040503050406030204" pitchFamily="18" charset="0"/>
                                <a:ea typeface="Cambria Math" panose="02040503050406030204" pitchFamily="18" charset="0"/>
                              </a:rPr>
                              <m:t>𝒐</m:t>
                            </m:r>
                          </m:sub>
                        </m:sSub>
                      </m:num>
                      <m:den>
                        <m:sSub>
                          <m:sSubPr>
                            <m:ctrlPr>
                              <a:rPr lang="en-US" b="1" i="1" smtClean="0">
                                <a:solidFill>
                                  <a:srgbClr val="0000CC"/>
                                </a:solidFill>
                                <a:latin typeface="Cambria Math" panose="02040503050406030204" pitchFamily="18" charset="0"/>
                              </a:rPr>
                            </m:ctrlPr>
                          </m:sSubPr>
                          <m:e>
                            <m:r>
                              <a:rPr lang="en-US" b="1" i="1" smtClean="0">
                                <a:solidFill>
                                  <a:srgbClr val="0000CC"/>
                                </a:solidFill>
                                <a:latin typeface="Cambria Math" panose="02040503050406030204" pitchFamily="18" charset="0"/>
                              </a:rPr>
                              <m:t>𝑽</m:t>
                            </m:r>
                          </m:e>
                          <m:sub>
                            <m:r>
                              <a:rPr lang="en-US" b="1" i="1" smtClean="0">
                                <a:solidFill>
                                  <a:srgbClr val="0000CC"/>
                                </a:solidFill>
                                <a:latin typeface="Cambria Math" panose="02040503050406030204" pitchFamily="18" charset="0"/>
                              </a:rPr>
                              <m:t>𝒐</m:t>
                            </m:r>
                          </m:sub>
                        </m:sSub>
                      </m:den>
                    </m:f>
                  </m:oMath>
                </a14:m>
                <a:r>
                  <a:rPr lang="en-US" b="1" dirty="0">
                    <a:solidFill>
                      <a:srgbClr val="0000CC"/>
                    </a:solidFill>
                  </a:rPr>
                  <a:t> = </a:t>
                </a:r>
                <a14:m>
                  <m:oMath xmlns:m="http://schemas.openxmlformats.org/officeDocument/2006/math">
                    <m:f>
                      <m:fPr>
                        <m:ctrlPr>
                          <a:rPr lang="en-US" b="1" i="1" smtClean="0">
                            <a:solidFill>
                              <a:srgbClr val="0000CC"/>
                            </a:solidFill>
                            <a:latin typeface="Cambria Math" panose="02040503050406030204" pitchFamily="18" charset="0"/>
                          </a:rPr>
                        </m:ctrlPr>
                      </m:fPr>
                      <m:num>
                        <m:r>
                          <a:rPr lang="en-US" b="1" i="1" smtClean="0">
                            <a:solidFill>
                              <a:srgbClr val="0000CC"/>
                            </a:solidFill>
                            <a:latin typeface="Cambria Math" panose="02040503050406030204" pitchFamily="18" charset="0"/>
                          </a:rPr>
                          <m:t>𝑫</m:t>
                        </m:r>
                      </m:num>
                      <m:den>
                        <m:r>
                          <a:rPr lang="en-US" b="1" i="1" smtClean="0">
                            <a:solidFill>
                              <a:srgbClr val="0000CC"/>
                            </a:solidFill>
                            <a:latin typeface="Cambria Math" panose="02040503050406030204" pitchFamily="18" charset="0"/>
                          </a:rPr>
                          <m:t>𝑹𝑪𝒇</m:t>
                        </m:r>
                      </m:den>
                    </m:f>
                  </m:oMath>
                </a14:m>
                <a:endParaRPr lang="en-US" b="1" dirty="0"/>
              </a:p>
            </p:txBody>
          </p:sp>
        </mc:Choice>
        <mc:Fallback xmlns="">
          <p:sp>
            <p:nvSpPr>
              <p:cNvPr id="7" name="TextBox 6">
                <a:extLst>
                  <a:ext uri="{FF2B5EF4-FFF2-40B4-BE49-F238E27FC236}">
                    <a16:creationId xmlns:a16="http://schemas.microsoft.com/office/drawing/2014/main" id="{2808CF5C-FC2B-410A-8D0A-378117A2E93D}"/>
                  </a:ext>
                </a:extLst>
              </p:cNvPr>
              <p:cNvSpPr txBox="1">
                <a:spLocks noRot="1" noChangeAspect="1" noMove="1" noResize="1" noEditPoints="1" noAdjustHandles="1" noChangeArrowheads="1" noChangeShapeType="1" noTextEdit="1"/>
              </p:cNvSpPr>
              <p:nvPr/>
            </p:nvSpPr>
            <p:spPr>
              <a:xfrm>
                <a:off x="3357562" y="2524125"/>
                <a:ext cx="1052513" cy="526811"/>
              </a:xfrm>
              <a:prstGeom prst="rect">
                <a:avLst/>
              </a:prstGeom>
              <a:blipFill>
                <a:blip r:embed="rId3"/>
                <a:stretch>
                  <a:fillRect b="-697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AB2FB8A5-3F7B-4DA9-B4DC-64C1A667D54E}"/>
                  </a:ext>
                </a:extLst>
              </p:cNvPr>
              <p:cNvSpPr txBox="1"/>
              <p:nvPr/>
            </p:nvSpPr>
            <p:spPr>
              <a:xfrm>
                <a:off x="1666875" y="4095750"/>
                <a:ext cx="1690688" cy="529569"/>
              </a:xfrm>
              <a:prstGeom prst="rect">
                <a:avLst/>
              </a:prstGeom>
              <a:solidFill>
                <a:srgbClr val="FF0066"/>
              </a:solidFill>
            </p:spPr>
            <p:txBody>
              <a:bodyPr wrap="square" rtlCol="0">
                <a:spAutoFit/>
              </a:bodyPr>
              <a:lstStyle/>
              <a:p>
                <a:r>
                  <a:rPr lang="en-US" b="1" dirty="0">
                    <a:solidFill>
                      <a:srgbClr val="0000CC"/>
                    </a:solidFill>
                  </a:rPr>
                  <a:t>C = </a:t>
                </a:r>
                <a14:m>
                  <m:oMath xmlns:m="http://schemas.openxmlformats.org/officeDocument/2006/math">
                    <m:f>
                      <m:fPr>
                        <m:ctrlPr>
                          <a:rPr lang="en-US" b="1" i="1" smtClean="0">
                            <a:solidFill>
                              <a:srgbClr val="0000CC"/>
                            </a:solidFill>
                            <a:latin typeface="Cambria Math" panose="02040503050406030204" pitchFamily="18" charset="0"/>
                          </a:rPr>
                        </m:ctrlPr>
                      </m:fPr>
                      <m:num>
                        <m:r>
                          <a:rPr lang="en-US" b="1" i="1" smtClean="0">
                            <a:solidFill>
                              <a:srgbClr val="0000CC"/>
                            </a:solidFill>
                            <a:latin typeface="Cambria Math" panose="02040503050406030204" pitchFamily="18" charset="0"/>
                          </a:rPr>
                          <m:t>𝑫</m:t>
                        </m:r>
                      </m:num>
                      <m:den>
                        <m:r>
                          <a:rPr lang="en-US" b="1" i="1" smtClean="0">
                            <a:solidFill>
                              <a:srgbClr val="0000CC"/>
                            </a:solidFill>
                            <a:latin typeface="Cambria Math" panose="02040503050406030204" pitchFamily="18" charset="0"/>
                          </a:rPr>
                          <m:t>𝑹</m:t>
                        </m:r>
                        <m:d>
                          <m:dPr>
                            <m:ctrlPr>
                              <a:rPr lang="en-US" b="1" i="1" smtClean="0">
                                <a:solidFill>
                                  <a:srgbClr val="0000CC"/>
                                </a:solidFill>
                                <a:latin typeface="Cambria Math" panose="02040503050406030204" pitchFamily="18" charset="0"/>
                              </a:rPr>
                            </m:ctrlPr>
                          </m:dPr>
                          <m:e>
                            <m:f>
                              <m:fPr>
                                <m:type m:val="lin"/>
                                <m:ctrlPr>
                                  <a:rPr lang="en-US" b="1" i="1" smtClean="0">
                                    <a:solidFill>
                                      <a:srgbClr val="0000CC"/>
                                    </a:solidFill>
                                    <a:latin typeface="Cambria Math" panose="02040503050406030204" pitchFamily="18" charset="0"/>
                                  </a:rPr>
                                </m:ctrlPr>
                              </m:fPr>
                              <m:num>
                                <m:sSub>
                                  <m:sSubPr>
                                    <m:ctrlPr>
                                      <a:rPr lang="en-US" b="1" i="1" smtClean="0">
                                        <a:solidFill>
                                          <a:srgbClr val="0000CC"/>
                                        </a:solidFill>
                                        <a:latin typeface="Cambria Math" panose="02040503050406030204" pitchFamily="18" charset="0"/>
                                      </a:rPr>
                                    </m:ctrlPr>
                                  </m:sSubPr>
                                  <m:e>
                                    <m:r>
                                      <a:rPr lang="en-US" b="1" i="1" smtClean="0">
                                        <a:solidFill>
                                          <a:srgbClr val="0000CC"/>
                                        </a:solidFill>
                                        <a:latin typeface="Cambria Math" panose="02040503050406030204" pitchFamily="18" charset="0"/>
                                        <a:ea typeface="Cambria Math" panose="02040503050406030204" pitchFamily="18" charset="0"/>
                                      </a:rPr>
                                      <m:t>∆</m:t>
                                    </m:r>
                                    <m:r>
                                      <a:rPr lang="en-US" b="1" i="1" smtClean="0">
                                        <a:solidFill>
                                          <a:srgbClr val="0000CC"/>
                                        </a:solidFill>
                                        <a:latin typeface="Cambria Math" panose="02040503050406030204" pitchFamily="18" charset="0"/>
                                      </a:rPr>
                                      <m:t>𝑽</m:t>
                                    </m:r>
                                  </m:e>
                                  <m:sub>
                                    <m:r>
                                      <a:rPr lang="en-US" b="1" i="1" smtClean="0">
                                        <a:solidFill>
                                          <a:srgbClr val="0000CC"/>
                                        </a:solidFill>
                                        <a:latin typeface="Cambria Math" panose="02040503050406030204" pitchFamily="18" charset="0"/>
                                      </a:rPr>
                                      <m:t>𝒐</m:t>
                                    </m:r>
                                  </m:sub>
                                </m:sSub>
                              </m:num>
                              <m:den>
                                <m:sSub>
                                  <m:sSubPr>
                                    <m:ctrlPr>
                                      <a:rPr lang="en-US" b="1" i="1" smtClean="0">
                                        <a:solidFill>
                                          <a:srgbClr val="0000CC"/>
                                        </a:solidFill>
                                        <a:latin typeface="Cambria Math" panose="02040503050406030204" pitchFamily="18" charset="0"/>
                                      </a:rPr>
                                    </m:ctrlPr>
                                  </m:sSubPr>
                                  <m:e>
                                    <m:r>
                                      <a:rPr lang="en-US" b="1" i="1" smtClean="0">
                                        <a:solidFill>
                                          <a:srgbClr val="0000CC"/>
                                        </a:solidFill>
                                        <a:latin typeface="Cambria Math" panose="02040503050406030204" pitchFamily="18" charset="0"/>
                                      </a:rPr>
                                      <m:t>𝑽</m:t>
                                    </m:r>
                                  </m:e>
                                  <m:sub>
                                    <m:r>
                                      <a:rPr lang="en-US" b="1" i="1" smtClean="0">
                                        <a:solidFill>
                                          <a:srgbClr val="0000CC"/>
                                        </a:solidFill>
                                        <a:latin typeface="Cambria Math" panose="02040503050406030204" pitchFamily="18" charset="0"/>
                                      </a:rPr>
                                      <m:t>𝒐</m:t>
                                    </m:r>
                                  </m:sub>
                                </m:sSub>
                              </m:den>
                            </m:f>
                          </m:e>
                        </m:d>
                        <m:r>
                          <a:rPr lang="en-US" b="1" i="1" smtClean="0">
                            <a:solidFill>
                              <a:srgbClr val="0000CC"/>
                            </a:solidFill>
                            <a:latin typeface="Cambria Math" panose="02040503050406030204" pitchFamily="18" charset="0"/>
                          </a:rPr>
                          <m:t>𝒇</m:t>
                        </m:r>
                      </m:den>
                    </m:f>
                  </m:oMath>
                </a14:m>
                <a:r>
                  <a:rPr lang="en-US" b="1" dirty="0"/>
                  <a:t> </a:t>
                </a:r>
              </a:p>
            </p:txBody>
          </p:sp>
        </mc:Choice>
        <mc:Fallback xmlns="">
          <p:sp>
            <p:nvSpPr>
              <p:cNvPr id="8" name="TextBox 7">
                <a:extLst>
                  <a:ext uri="{FF2B5EF4-FFF2-40B4-BE49-F238E27FC236}">
                    <a16:creationId xmlns:a16="http://schemas.microsoft.com/office/drawing/2014/main" id="{AB2FB8A5-3F7B-4DA9-B4DC-64C1A667D54E}"/>
                  </a:ext>
                </a:extLst>
              </p:cNvPr>
              <p:cNvSpPr txBox="1">
                <a:spLocks noRot="1" noChangeAspect="1" noMove="1" noResize="1" noEditPoints="1" noAdjustHandles="1" noChangeArrowheads="1" noChangeShapeType="1" noTextEdit="1"/>
              </p:cNvSpPr>
              <p:nvPr/>
            </p:nvSpPr>
            <p:spPr>
              <a:xfrm>
                <a:off x="1666875" y="4095750"/>
                <a:ext cx="1690688" cy="529569"/>
              </a:xfrm>
              <a:prstGeom prst="rect">
                <a:avLst/>
              </a:prstGeom>
              <a:blipFill>
                <a:blip r:embed="rId4"/>
                <a:stretch>
                  <a:fillRect l="-2878" t="-11494" b="-90805"/>
                </a:stretch>
              </a:blipFill>
            </p:spPr>
            <p:txBody>
              <a:bodyPr/>
              <a:lstStyle/>
              <a:p>
                <a:r>
                  <a:rPr lang="en-US">
                    <a:noFill/>
                  </a:rPr>
                  <a:t> </a:t>
                </a:r>
              </a:p>
            </p:txBody>
          </p:sp>
        </mc:Fallback>
      </mc:AlternateContent>
    </p:spTree>
    <p:extLst>
      <p:ext uri="{BB962C8B-B14F-4D97-AF65-F5344CB8AC3E}">
        <p14:creationId xmlns:p14="http://schemas.microsoft.com/office/powerpoint/2010/main" val="259367224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6">
            <a:extLst>
              <a:ext uri="{FF2B5EF4-FFF2-40B4-BE49-F238E27FC236}">
                <a16:creationId xmlns:a16="http://schemas.microsoft.com/office/drawing/2014/main" id="{56080804-F19F-41A7-8595-943961648C5E}"/>
              </a:ext>
            </a:extLst>
          </p:cNvPr>
          <p:cNvSpPr>
            <a:spLocks noGrp="1"/>
          </p:cNvSpPr>
          <p:nvPr>
            <p:ph type="sldNum" sz="quarter" idx="12"/>
          </p:nvPr>
        </p:nvSpPr>
        <p:spPr>
          <a:xfrm>
            <a:off x="8610600" y="6441692"/>
            <a:ext cx="2743200" cy="370027"/>
          </a:xfrm>
        </p:spPr>
        <p:txBody>
          <a:bodyPr/>
          <a:lstStyle/>
          <a:p>
            <a:fld id="{F4801FD5-11B4-DE43-ACA2-E85EEB9A6F9C}" type="slidenum">
              <a:rPr lang="en-US" smtClean="0">
                <a:latin typeface="Garamond" panose="02020404030301010803" pitchFamily="18" charset="0"/>
              </a:rPr>
              <a:t>9</a:t>
            </a:fld>
            <a:endParaRPr lang="en-US">
              <a:latin typeface="Garamond" panose="02020404030301010803" pitchFamily="18" charset="0"/>
            </a:endParaRPr>
          </a:p>
        </p:txBody>
      </p:sp>
      <p:sp>
        <p:nvSpPr>
          <p:cNvPr id="5" name="Title 1">
            <a:extLst>
              <a:ext uri="{FF2B5EF4-FFF2-40B4-BE49-F238E27FC236}">
                <a16:creationId xmlns:a16="http://schemas.microsoft.com/office/drawing/2014/main" id="{4710AE4B-0DB8-4451-B9E4-10BAE11B4D3A}"/>
              </a:ext>
            </a:extLst>
          </p:cNvPr>
          <p:cNvSpPr>
            <a:spLocks noGrp="1"/>
          </p:cNvSpPr>
          <p:nvPr>
            <p:ph type="title"/>
          </p:nvPr>
        </p:nvSpPr>
        <p:spPr>
          <a:xfrm>
            <a:off x="3157348" y="-40404"/>
            <a:ext cx="6026397" cy="558382"/>
          </a:xfrm>
        </p:spPr>
        <p:txBody>
          <a:bodyPr>
            <a:noAutofit/>
          </a:bodyPr>
          <a:lstStyle/>
          <a:p>
            <a:pPr algn="ctr"/>
            <a:r>
              <a:rPr lang="en-US" sz="3200" b="1" u="sng" dirty="0">
                <a:solidFill>
                  <a:srgbClr val="FF3386"/>
                </a:solidFill>
                <a:latin typeface="Century Gothic" panose="020B0502020202020204" pitchFamily="34" charset="0"/>
                <a:cs typeface="Helvetica"/>
              </a:rPr>
              <a:t>BOOST CONVERTER</a:t>
            </a:r>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6BAA1F11-5BEF-4D80-964F-A7332E36BFA0}"/>
                  </a:ext>
                </a:extLst>
              </p:cNvPr>
              <p:cNvSpPr txBox="1"/>
              <p:nvPr/>
            </p:nvSpPr>
            <p:spPr>
              <a:xfrm>
                <a:off x="828675" y="999884"/>
                <a:ext cx="10315575" cy="5574603"/>
              </a:xfrm>
              <a:prstGeom prst="rect">
                <a:avLst/>
              </a:prstGeom>
              <a:noFill/>
              <a:ln>
                <a:solidFill>
                  <a:srgbClr val="FF0066"/>
                </a:solidFill>
              </a:ln>
            </p:spPr>
            <p:txBody>
              <a:bodyPr wrap="square" rtlCol="0">
                <a:spAutoFit/>
              </a:bodyPr>
              <a:lstStyle/>
              <a:p>
                <a:pPr marL="342900" indent="-342900">
                  <a:buClr>
                    <a:schemeClr val="accent2"/>
                  </a:buClr>
                  <a:buFont typeface="Arial" panose="020B0604020202020204" pitchFamily="34" charset="0"/>
                  <a:buChar char="•"/>
                </a:pPr>
                <a:r>
                  <a:rPr lang="en-GB" sz="2400" b="1" kern="100" dirty="0">
                    <a:solidFill>
                      <a:srgbClr val="00B0F0"/>
                    </a:solidFill>
                    <a:latin typeface="Century Gothic" panose="020B0502020202020204" pitchFamily="34" charset="0"/>
                    <a:ea typeface="Calibri" panose="020F0502020204030204" pitchFamily="34" charset="0"/>
                    <a:cs typeface="Times New Roman" panose="02020603050405020304" pitchFamily="18" charset="0"/>
                  </a:rPr>
                  <a:t>Boost Converter</a:t>
                </a:r>
              </a:p>
              <a:p>
                <a:pPr>
                  <a:buClr>
                    <a:schemeClr val="accent2"/>
                  </a:buClr>
                </a:pPr>
                <a:r>
                  <a:rPr lang="en-GB" sz="2400" b="1" kern="100" dirty="0">
                    <a:solidFill>
                      <a:srgbClr val="00B0F0"/>
                    </a:solidFill>
                    <a:latin typeface="Century Gothic" panose="020B0502020202020204" pitchFamily="34" charset="0"/>
                    <a:ea typeface="Calibri" panose="020F0502020204030204" pitchFamily="34" charset="0"/>
                    <a:cs typeface="Times New Roman" panose="02020603050405020304" pitchFamily="18" charset="0"/>
                  </a:rPr>
                  <a:t>	</a:t>
                </a:r>
                <a:r>
                  <a:rPr lang="en-GB" sz="2400" kern="100" dirty="0">
                    <a:latin typeface="Century Gothic" panose="020B0502020202020204" pitchFamily="34" charset="0"/>
                    <a:ea typeface="Calibri" panose="020F0502020204030204" pitchFamily="34" charset="0"/>
                    <a:cs typeface="Times New Roman" panose="02020603050405020304" pitchFamily="18" charset="0"/>
                  </a:rPr>
                  <a:t>Design a boost converter that will have an output of 30 V from a 	12-V source. Design for continuous inductor current and an 	output ripple voltage of less than one percent. The load is a 	resistance of 50 </a:t>
                </a:r>
                <a:r>
                  <a:rPr lang="el-GR" sz="2400" kern="100" dirty="0">
                    <a:latin typeface="Century Gothic" panose="020B0502020202020204" pitchFamily="34" charset="0"/>
                    <a:ea typeface="Calibri" panose="020F0502020204030204" pitchFamily="34" charset="0"/>
                    <a:cs typeface="Times New Roman" panose="02020603050405020304" pitchFamily="18" charset="0"/>
                  </a:rPr>
                  <a:t>Ω</a:t>
                </a:r>
                <a:r>
                  <a:rPr lang="en-US" sz="2400" kern="100" dirty="0">
                    <a:latin typeface="Century Gothic" panose="020B0502020202020204" pitchFamily="34" charset="0"/>
                    <a:ea typeface="Calibri" panose="020F0502020204030204" pitchFamily="34" charset="0"/>
                    <a:cs typeface="Times New Roman" panose="02020603050405020304" pitchFamily="18" charset="0"/>
                  </a:rPr>
                  <a:t>. Assume ideal  components for this design</a:t>
                </a:r>
              </a:p>
              <a:p>
                <a:pPr>
                  <a:buClr>
                    <a:schemeClr val="accent2"/>
                  </a:buClr>
                </a:pPr>
                <a:r>
                  <a:rPr lang="en-US" sz="2400" kern="100" dirty="0">
                    <a:latin typeface="Century Gothic" panose="020B0502020202020204" pitchFamily="34" charset="0"/>
                    <a:ea typeface="Calibri" panose="020F0502020204030204" pitchFamily="34" charset="0"/>
                    <a:cs typeface="Times New Roman" panose="02020603050405020304" pitchFamily="18" charset="0"/>
                  </a:rPr>
                  <a:t>     Solution</a:t>
                </a:r>
              </a:p>
              <a:p>
                <a:pPr>
                  <a:buClr>
                    <a:schemeClr val="accent2"/>
                  </a:buClr>
                </a:pPr>
                <a:r>
                  <a:rPr lang="en-US" sz="2400" kern="100" dirty="0">
                    <a:latin typeface="Century Gothic" panose="020B0502020202020204" pitchFamily="34" charset="0"/>
                    <a:ea typeface="Calibri" panose="020F0502020204030204" pitchFamily="34" charset="0"/>
                    <a:cs typeface="Times New Roman" panose="02020603050405020304" pitchFamily="18" charset="0"/>
                  </a:rPr>
                  <a:t>	First, determine the duty ratio</a:t>
                </a:r>
              </a:p>
              <a:p>
                <a:pPr>
                  <a:buClr>
                    <a:schemeClr val="accent2"/>
                  </a:buClr>
                </a:pPr>
                <a:r>
                  <a:rPr lang="en-US" sz="2400" kern="100" dirty="0">
                    <a:latin typeface="Century Gothic" panose="020B0502020202020204" pitchFamily="34" charset="0"/>
                    <a:ea typeface="Calibri" panose="020F0502020204030204" pitchFamily="34" charset="0"/>
                    <a:cs typeface="Times New Roman" panose="02020603050405020304" pitchFamily="18" charset="0"/>
                  </a:rPr>
                  <a:t>				D = 1-</a:t>
                </a:r>
                <a14:m>
                  <m:oMath xmlns:m="http://schemas.openxmlformats.org/officeDocument/2006/math">
                    <m:f>
                      <m:fPr>
                        <m:ctrlPr>
                          <a:rPr lang="en-US" sz="2400" i="1" kern="100" smtClean="0">
                            <a:latin typeface="Cambria Math" panose="02040503050406030204" pitchFamily="18" charset="0"/>
                            <a:ea typeface="Calibri" panose="020F0502020204030204" pitchFamily="34" charset="0"/>
                            <a:cs typeface="Times New Roman" panose="02020603050405020304" pitchFamily="18" charset="0"/>
                          </a:rPr>
                        </m:ctrlPr>
                      </m:fPr>
                      <m:num>
                        <m:sSub>
                          <m:sSubPr>
                            <m:ctrlPr>
                              <a:rPr lang="en-US" sz="2400" i="1" kern="100" smtClean="0">
                                <a:latin typeface="Cambria Math" panose="02040503050406030204" pitchFamily="18" charset="0"/>
                                <a:ea typeface="Calibri" panose="020F0502020204030204" pitchFamily="34" charset="0"/>
                                <a:cs typeface="Times New Roman" panose="02020603050405020304" pitchFamily="18" charset="0"/>
                              </a:rPr>
                            </m:ctrlPr>
                          </m:sSubPr>
                          <m:e>
                            <m:r>
                              <a:rPr lang="en-US" sz="2400" b="0" i="1" kern="100" smtClean="0">
                                <a:latin typeface="Cambria Math" panose="02040503050406030204" pitchFamily="18" charset="0"/>
                                <a:ea typeface="Calibri" panose="020F0502020204030204" pitchFamily="34" charset="0"/>
                                <a:cs typeface="Times New Roman" panose="02020603050405020304" pitchFamily="18" charset="0"/>
                              </a:rPr>
                              <m:t>𝑉</m:t>
                            </m:r>
                          </m:e>
                          <m:sub>
                            <m:r>
                              <a:rPr lang="en-US" sz="2400" b="0" i="1" kern="100" smtClean="0">
                                <a:latin typeface="Cambria Math" panose="02040503050406030204" pitchFamily="18" charset="0"/>
                                <a:ea typeface="Calibri" panose="020F0502020204030204" pitchFamily="34" charset="0"/>
                                <a:cs typeface="Times New Roman" panose="02020603050405020304" pitchFamily="18" charset="0"/>
                              </a:rPr>
                              <m:t>𝑠</m:t>
                            </m:r>
                          </m:sub>
                        </m:sSub>
                      </m:num>
                      <m:den>
                        <m:sSub>
                          <m:sSubPr>
                            <m:ctrlPr>
                              <a:rPr lang="en-US" sz="2400" i="1" kern="100" smtClean="0">
                                <a:latin typeface="Cambria Math" panose="02040503050406030204" pitchFamily="18" charset="0"/>
                                <a:ea typeface="Calibri" panose="020F0502020204030204" pitchFamily="34" charset="0"/>
                                <a:cs typeface="Times New Roman" panose="02020603050405020304" pitchFamily="18" charset="0"/>
                              </a:rPr>
                            </m:ctrlPr>
                          </m:sSubPr>
                          <m:e>
                            <m:r>
                              <a:rPr lang="en-US" sz="2400" b="0" i="1" kern="100" smtClean="0">
                                <a:latin typeface="Cambria Math" panose="02040503050406030204" pitchFamily="18" charset="0"/>
                                <a:ea typeface="Calibri" panose="020F0502020204030204" pitchFamily="34" charset="0"/>
                                <a:cs typeface="Times New Roman" panose="02020603050405020304" pitchFamily="18" charset="0"/>
                              </a:rPr>
                              <m:t>𝑉</m:t>
                            </m:r>
                          </m:e>
                          <m:sub>
                            <m:r>
                              <a:rPr lang="en-US" sz="2400" b="0" i="1" kern="100" smtClean="0">
                                <a:latin typeface="Cambria Math" panose="02040503050406030204" pitchFamily="18" charset="0"/>
                                <a:ea typeface="Calibri" panose="020F0502020204030204" pitchFamily="34" charset="0"/>
                                <a:cs typeface="Times New Roman" panose="02020603050405020304" pitchFamily="18" charset="0"/>
                              </a:rPr>
                              <m:t>𝑜</m:t>
                            </m:r>
                          </m:sub>
                        </m:sSub>
                      </m:den>
                    </m:f>
                  </m:oMath>
                </a14:m>
                <a:r>
                  <a:rPr lang="en-US" sz="2400" kern="100" dirty="0">
                    <a:latin typeface="Century Gothic" panose="020B0502020202020204" pitchFamily="34" charset="0"/>
                    <a:ea typeface="Calibri" panose="020F0502020204030204" pitchFamily="34" charset="0"/>
                    <a:cs typeface="Times New Roman" panose="02020603050405020304" pitchFamily="18" charset="0"/>
                  </a:rPr>
                  <a:t> = 1-</a:t>
                </a:r>
                <a14:m>
                  <m:oMath xmlns:m="http://schemas.openxmlformats.org/officeDocument/2006/math">
                    <m:f>
                      <m:fPr>
                        <m:ctrlPr>
                          <a:rPr lang="en-US" sz="2400" i="1" kern="100" smtClean="0">
                            <a:latin typeface="Cambria Math" panose="02040503050406030204" pitchFamily="18" charset="0"/>
                            <a:ea typeface="Calibri" panose="020F0502020204030204" pitchFamily="34" charset="0"/>
                            <a:cs typeface="Times New Roman" panose="02020603050405020304" pitchFamily="18" charset="0"/>
                          </a:rPr>
                        </m:ctrlPr>
                      </m:fPr>
                      <m:num>
                        <m:r>
                          <a:rPr lang="en-US" sz="2400" b="0" i="1" kern="100" smtClean="0">
                            <a:latin typeface="Cambria Math" panose="02040503050406030204" pitchFamily="18" charset="0"/>
                            <a:ea typeface="Calibri" panose="020F0502020204030204" pitchFamily="34" charset="0"/>
                            <a:cs typeface="Times New Roman" panose="02020603050405020304" pitchFamily="18" charset="0"/>
                          </a:rPr>
                          <m:t>12</m:t>
                        </m:r>
                      </m:num>
                      <m:den>
                        <m:r>
                          <a:rPr lang="en-US" sz="2400" b="0" i="1" kern="100" smtClean="0">
                            <a:latin typeface="Cambria Math" panose="02040503050406030204" pitchFamily="18" charset="0"/>
                            <a:ea typeface="Calibri" panose="020F0502020204030204" pitchFamily="34" charset="0"/>
                            <a:cs typeface="Times New Roman" panose="02020603050405020304" pitchFamily="18" charset="0"/>
                          </a:rPr>
                          <m:t>30</m:t>
                        </m:r>
                      </m:den>
                    </m:f>
                  </m:oMath>
                </a14:m>
                <a:r>
                  <a:rPr lang="en-US" sz="2400" kern="100" dirty="0">
                    <a:latin typeface="Century Gothic" panose="020B0502020202020204" pitchFamily="34" charset="0"/>
                    <a:ea typeface="Calibri" panose="020F0502020204030204" pitchFamily="34" charset="0"/>
                    <a:cs typeface="Times New Roman" panose="02020603050405020304" pitchFamily="18" charset="0"/>
                  </a:rPr>
                  <a:t> = 0.6</a:t>
                </a:r>
                <a:br>
                  <a:rPr lang="en-US" sz="2400" kern="100" dirty="0">
                    <a:latin typeface="Century Gothic" panose="020B0502020202020204" pitchFamily="34" charset="0"/>
                    <a:ea typeface="Calibri" panose="020F0502020204030204" pitchFamily="34" charset="0"/>
                    <a:cs typeface="Times New Roman" panose="02020603050405020304" pitchFamily="18" charset="0"/>
                  </a:rPr>
                </a:br>
                <a:endParaRPr lang="en-US" sz="2400" kern="100" dirty="0">
                  <a:latin typeface="Century Gothic" panose="020B0502020202020204" pitchFamily="34" charset="0"/>
                  <a:ea typeface="Calibri" panose="020F0502020204030204" pitchFamily="34" charset="0"/>
                  <a:cs typeface="Times New Roman" panose="02020603050405020304" pitchFamily="18" charset="0"/>
                </a:endParaRPr>
              </a:p>
              <a:p>
                <a:pPr>
                  <a:buClr>
                    <a:schemeClr val="accent2"/>
                  </a:buClr>
                </a:pPr>
                <a:r>
                  <a:rPr lang="en-US" sz="2400" kern="100" dirty="0">
                    <a:latin typeface="Century Gothic" panose="020B0502020202020204" pitchFamily="34" charset="0"/>
                    <a:ea typeface="Calibri" panose="020F0502020204030204" pitchFamily="34" charset="0"/>
                    <a:cs typeface="Times New Roman" panose="02020603050405020304" pitchFamily="18" charset="0"/>
                  </a:rPr>
                  <a:t>	If the switching frequency is selected at 25 kHz to be above the 	audio range, then the minimum inductance for continuous 	current is determined</a:t>
                </a:r>
              </a:p>
              <a:p>
                <a:pPr>
                  <a:lnSpc>
                    <a:spcPct val="150000"/>
                  </a:lnSpc>
                  <a:buClr>
                    <a:schemeClr val="accent2"/>
                  </a:buClr>
                </a:pPr>
                <a:r>
                  <a:rPr lang="en-US" sz="2400" b="1" kern="100" dirty="0">
                    <a:latin typeface="Century Gothic" panose="020B0502020202020204" pitchFamily="34" charset="0"/>
                    <a:ea typeface="Calibri" panose="020F0502020204030204" pitchFamily="34" charset="0"/>
                    <a:cs typeface="Times New Roman" panose="02020603050405020304" pitchFamily="18" charset="0"/>
                  </a:rPr>
                  <a:t>		</a:t>
                </a:r>
                <a14:m>
                  <m:oMath xmlns:m="http://schemas.openxmlformats.org/officeDocument/2006/math">
                    <m:sSub>
                      <m:sSubPr>
                        <m:ctrlPr>
                          <a:rPr lang="en-US" sz="2400" i="1" kern="100" smtClean="0">
                            <a:latin typeface="Cambria Math" panose="02040503050406030204" pitchFamily="18" charset="0"/>
                            <a:ea typeface="Calibri" panose="020F0502020204030204" pitchFamily="34" charset="0"/>
                            <a:cs typeface="Times New Roman" panose="02020603050405020304" pitchFamily="18" charset="0"/>
                          </a:rPr>
                        </m:ctrlPr>
                      </m:sSubPr>
                      <m:e>
                        <m:r>
                          <a:rPr lang="en-US" sz="2400" b="0" i="1" kern="100" smtClean="0">
                            <a:latin typeface="Cambria Math" panose="02040503050406030204" pitchFamily="18" charset="0"/>
                            <a:ea typeface="Calibri" panose="020F0502020204030204" pitchFamily="34" charset="0"/>
                            <a:cs typeface="Times New Roman" panose="02020603050405020304" pitchFamily="18" charset="0"/>
                          </a:rPr>
                          <m:t>𝐿</m:t>
                        </m:r>
                      </m:e>
                      <m:sub>
                        <m:r>
                          <a:rPr lang="en-US" sz="2400" b="0" i="1" kern="100" smtClean="0">
                            <a:latin typeface="Cambria Math" panose="02040503050406030204" pitchFamily="18" charset="0"/>
                            <a:ea typeface="Calibri" panose="020F0502020204030204" pitchFamily="34" charset="0"/>
                            <a:cs typeface="Times New Roman" panose="02020603050405020304" pitchFamily="18" charset="0"/>
                          </a:rPr>
                          <m:t>𝑚𝑖𝑛</m:t>
                        </m:r>
                      </m:sub>
                    </m:sSub>
                  </m:oMath>
                </a14:m>
                <a:r>
                  <a:rPr lang="en-US" sz="2400" kern="100" dirty="0">
                    <a:latin typeface="Century Gothic" panose="020B0502020202020204" pitchFamily="34" charset="0"/>
                    <a:ea typeface="Calibri" panose="020F0502020204030204" pitchFamily="34" charset="0"/>
                    <a:cs typeface="Times New Roman" panose="02020603050405020304" pitchFamily="18" charset="0"/>
                  </a:rPr>
                  <a:t> = </a:t>
                </a:r>
                <a14:m>
                  <m:oMath xmlns:m="http://schemas.openxmlformats.org/officeDocument/2006/math">
                    <m:f>
                      <m:fPr>
                        <m:ctrlPr>
                          <a:rPr lang="en-US" sz="2400" i="1" kern="100" smtClean="0">
                            <a:latin typeface="Cambria Math" panose="02040503050406030204" pitchFamily="18" charset="0"/>
                            <a:ea typeface="Calibri" panose="020F0502020204030204" pitchFamily="34" charset="0"/>
                            <a:cs typeface="Times New Roman" panose="02020603050405020304" pitchFamily="18" charset="0"/>
                          </a:rPr>
                        </m:ctrlPr>
                      </m:fPr>
                      <m:num>
                        <m:r>
                          <a:rPr lang="en-US" sz="2400" b="0" i="1" kern="100" smtClean="0">
                            <a:latin typeface="Cambria Math" panose="02040503050406030204" pitchFamily="18" charset="0"/>
                            <a:ea typeface="Calibri" panose="020F0502020204030204" pitchFamily="34" charset="0"/>
                            <a:cs typeface="Times New Roman" panose="02020603050405020304" pitchFamily="18" charset="0"/>
                          </a:rPr>
                          <m:t>𝐷</m:t>
                        </m:r>
                        <m:sSup>
                          <m:sSupPr>
                            <m:ctrlPr>
                              <a:rPr lang="en-US" sz="2400" i="1" kern="100" smtClean="0">
                                <a:latin typeface="Cambria Math" panose="02040503050406030204" pitchFamily="18" charset="0"/>
                                <a:ea typeface="Calibri" panose="020F0502020204030204" pitchFamily="34" charset="0"/>
                                <a:cs typeface="Times New Roman" panose="02020603050405020304" pitchFamily="18" charset="0"/>
                              </a:rPr>
                            </m:ctrlPr>
                          </m:sSupPr>
                          <m:e>
                            <m:d>
                              <m:dPr>
                                <m:ctrlPr>
                                  <a:rPr lang="en-US" sz="2400" i="1" kern="100" smtClean="0">
                                    <a:latin typeface="Cambria Math" panose="02040503050406030204" pitchFamily="18" charset="0"/>
                                    <a:ea typeface="Calibri" panose="020F0502020204030204" pitchFamily="34" charset="0"/>
                                    <a:cs typeface="Times New Roman" panose="02020603050405020304" pitchFamily="18" charset="0"/>
                                  </a:rPr>
                                </m:ctrlPr>
                              </m:dPr>
                              <m:e>
                                <m:r>
                                  <a:rPr lang="en-US" sz="2400" b="0" i="1" kern="100" smtClean="0">
                                    <a:latin typeface="Cambria Math" panose="02040503050406030204" pitchFamily="18" charset="0"/>
                                    <a:ea typeface="Calibri" panose="020F0502020204030204" pitchFamily="34" charset="0"/>
                                    <a:cs typeface="Times New Roman" panose="02020603050405020304" pitchFamily="18" charset="0"/>
                                  </a:rPr>
                                  <m:t>1−</m:t>
                                </m:r>
                                <m:r>
                                  <a:rPr lang="en-US" sz="2400" b="0" i="1" kern="100" smtClean="0">
                                    <a:latin typeface="Cambria Math" panose="02040503050406030204" pitchFamily="18" charset="0"/>
                                    <a:ea typeface="Calibri" panose="020F0502020204030204" pitchFamily="34" charset="0"/>
                                    <a:cs typeface="Times New Roman" panose="02020603050405020304" pitchFamily="18" charset="0"/>
                                  </a:rPr>
                                  <m:t>𝐷</m:t>
                                </m:r>
                              </m:e>
                            </m:d>
                          </m:e>
                          <m:sup>
                            <m:r>
                              <a:rPr lang="en-US" sz="2400" b="0" i="1" kern="100" smtClean="0">
                                <a:latin typeface="Cambria Math" panose="02040503050406030204" pitchFamily="18" charset="0"/>
                                <a:ea typeface="Calibri" panose="020F0502020204030204" pitchFamily="34" charset="0"/>
                                <a:cs typeface="Times New Roman" panose="02020603050405020304" pitchFamily="18" charset="0"/>
                              </a:rPr>
                              <m:t>2</m:t>
                            </m:r>
                          </m:sup>
                        </m:sSup>
                        <m:r>
                          <a:rPr lang="en-US" sz="2400" b="0" i="1" kern="100" smtClean="0">
                            <a:latin typeface="Cambria Math" panose="02040503050406030204" pitchFamily="18" charset="0"/>
                            <a:ea typeface="Calibri" panose="020F0502020204030204" pitchFamily="34" charset="0"/>
                            <a:cs typeface="Times New Roman" panose="02020603050405020304" pitchFamily="18" charset="0"/>
                          </a:rPr>
                          <m:t>𝑅</m:t>
                        </m:r>
                      </m:num>
                      <m:den>
                        <m:r>
                          <a:rPr lang="en-US" sz="2400" b="0" i="1" kern="100" smtClean="0">
                            <a:latin typeface="Cambria Math" panose="02040503050406030204" pitchFamily="18" charset="0"/>
                            <a:ea typeface="Calibri" panose="020F0502020204030204" pitchFamily="34" charset="0"/>
                            <a:cs typeface="Times New Roman" panose="02020603050405020304" pitchFamily="18" charset="0"/>
                          </a:rPr>
                          <m:t>2</m:t>
                        </m:r>
                        <m:r>
                          <a:rPr lang="en-US" sz="2400" b="0" i="1" kern="100" smtClean="0">
                            <a:latin typeface="Cambria Math" panose="02040503050406030204" pitchFamily="18" charset="0"/>
                            <a:ea typeface="Calibri" panose="020F0502020204030204" pitchFamily="34" charset="0"/>
                            <a:cs typeface="Times New Roman" panose="02020603050405020304" pitchFamily="18" charset="0"/>
                          </a:rPr>
                          <m:t>𝑓</m:t>
                        </m:r>
                      </m:den>
                    </m:f>
                  </m:oMath>
                </a14:m>
                <a:r>
                  <a:rPr lang="en-US" sz="2400" kern="100" dirty="0">
                    <a:latin typeface="Century Gothic" panose="020B0502020202020204" pitchFamily="34" charset="0"/>
                    <a:ea typeface="Calibri" panose="020F0502020204030204" pitchFamily="34" charset="0"/>
                    <a:cs typeface="Times New Roman" panose="02020603050405020304" pitchFamily="18" charset="0"/>
                  </a:rPr>
                  <a:t> = </a:t>
                </a:r>
                <a14:m>
                  <m:oMath xmlns:m="http://schemas.openxmlformats.org/officeDocument/2006/math">
                    <m:f>
                      <m:fPr>
                        <m:ctrlPr>
                          <a:rPr lang="en-US" sz="2400" i="1" kern="100" smtClean="0">
                            <a:latin typeface="Cambria Math" panose="02040503050406030204" pitchFamily="18" charset="0"/>
                            <a:ea typeface="Calibri" panose="020F0502020204030204" pitchFamily="34" charset="0"/>
                            <a:cs typeface="Times New Roman" panose="02020603050405020304" pitchFamily="18" charset="0"/>
                          </a:rPr>
                        </m:ctrlPr>
                      </m:fPr>
                      <m:num>
                        <m:r>
                          <a:rPr lang="en-US" sz="2400" b="0" i="1" kern="100" smtClean="0">
                            <a:latin typeface="Cambria Math" panose="02040503050406030204" pitchFamily="18" charset="0"/>
                            <a:ea typeface="Calibri" panose="020F0502020204030204" pitchFamily="34" charset="0"/>
                            <a:cs typeface="Times New Roman" panose="02020603050405020304" pitchFamily="18" charset="0"/>
                          </a:rPr>
                          <m:t>0.6</m:t>
                        </m:r>
                        <m:sSup>
                          <m:sSupPr>
                            <m:ctrlPr>
                              <a:rPr lang="en-US" sz="2400" i="1" kern="100" smtClean="0">
                                <a:latin typeface="Cambria Math" panose="02040503050406030204" pitchFamily="18" charset="0"/>
                                <a:ea typeface="Calibri" panose="020F0502020204030204" pitchFamily="34" charset="0"/>
                                <a:cs typeface="Times New Roman" panose="02020603050405020304" pitchFamily="18" charset="0"/>
                              </a:rPr>
                            </m:ctrlPr>
                          </m:sSupPr>
                          <m:e>
                            <m:d>
                              <m:dPr>
                                <m:ctrlPr>
                                  <a:rPr lang="en-US" sz="2400" i="1" kern="100" smtClean="0">
                                    <a:latin typeface="Cambria Math" panose="02040503050406030204" pitchFamily="18" charset="0"/>
                                    <a:ea typeface="Calibri" panose="020F0502020204030204" pitchFamily="34" charset="0"/>
                                    <a:cs typeface="Times New Roman" panose="02020603050405020304" pitchFamily="18" charset="0"/>
                                  </a:rPr>
                                </m:ctrlPr>
                              </m:dPr>
                              <m:e>
                                <m:r>
                                  <a:rPr lang="en-US" sz="2400" b="0" i="1" kern="100" smtClean="0">
                                    <a:latin typeface="Cambria Math" panose="02040503050406030204" pitchFamily="18" charset="0"/>
                                    <a:ea typeface="Calibri" panose="020F0502020204030204" pitchFamily="34" charset="0"/>
                                    <a:cs typeface="Times New Roman" panose="02020603050405020304" pitchFamily="18" charset="0"/>
                                  </a:rPr>
                                  <m:t>1−0.6</m:t>
                                </m:r>
                              </m:e>
                            </m:d>
                          </m:e>
                          <m:sup>
                            <m:r>
                              <a:rPr lang="en-US" sz="2400" b="0" i="1" kern="100" smtClean="0">
                                <a:latin typeface="Cambria Math" panose="02040503050406030204" pitchFamily="18" charset="0"/>
                                <a:ea typeface="Calibri" panose="020F0502020204030204" pitchFamily="34" charset="0"/>
                                <a:cs typeface="Times New Roman" panose="02020603050405020304" pitchFamily="18" charset="0"/>
                              </a:rPr>
                              <m:t>2</m:t>
                            </m:r>
                          </m:sup>
                        </m:sSup>
                        <m:d>
                          <m:dPr>
                            <m:ctrlPr>
                              <a:rPr lang="en-US" sz="2400" i="1" kern="100" smtClean="0">
                                <a:latin typeface="Cambria Math" panose="02040503050406030204" pitchFamily="18" charset="0"/>
                                <a:ea typeface="Calibri" panose="020F0502020204030204" pitchFamily="34" charset="0"/>
                                <a:cs typeface="Times New Roman" panose="02020603050405020304" pitchFamily="18" charset="0"/>
                              </a:rPr>
                            </m:ctrlPr>
                          </m:dPr>
                          <m:e>
                            <m:r>
                              <a:rPr lang="en-US" sz="2400" b="0" i="1" kern="100" smtClean="0">
                                <a:latin typeface="Cambria Math" panose="02040503050406030204" pitchFamily="18" charset="0"/>
                                <a:ea typeface="Calibri" panose="020F0502020204030204" pitchFamily="34" charset="0"/>
                                <a:cs typeface="Times New Roman" panose="02020603050405020304" pitchFamily="18" charset="0"/>
                              </a:rPr>
                              <m:t>50</m:t>
                            </m:r>
                          </m:e>
                        </m:d>
                      </m:num>
                      <m:den>
                        <m:r>
                          <a:rPr lang="en-US" sz="2400" b="0" i="1" kern="100" smtClean="0">
                            <a:latin typeface="Cambria Math" panose="02040503050406030204" pitchFamily="18" charset="0"/>
                            <a:ea typeface="Calibri" panose="020F0502020204030204" pitchFamily="34" charset="0"/>
                            <a:cs typeface="Times New Roman" panose="02020603050405020304" pitchFamily="18" charset="0"/>
                          </a:rPr>
                          <m:t>2</m:t>
                        </m:r>
                        <m:d>
                          <m:dPr>
                            <m:ctrlPr>
                              <a:rPr lang="en-US" sz="2400" i="1" kern="100" smtClean="0">
                                <a:latin typeface="Cambria Math" panose="02040503050406030204" pitchFamily="18" charset="0"/>
                                <a:ea typeface="Calibri" panose="020F0502020204030204" pitchFamily="34" charset="0"/>
                                <a:cs typeface="Times New Roman" panose="02020603050405020304" pitchFamily="18" charset="0"/>
                              </a:rPr>
                            </m:ctrlPr>
                          </m:dPr>
                          <m:e>
                            <m:r>
                              <a:rPr lang="en-US" sz="2400" b="0" i="1" kern="100" smtClean="0">
                                <a:latin typeface="Cambria Math" panose="02040503050406030204" pitchFamily="18" charset="0"/>
                                <a:ea typeface="Calibri" panose="020F0502020204030204" pitchFamily="34" charset="0"/>
                                <a:cs typeface="Times New Roman" panose="02020603050405020304" pitchFamily="18" charset="0"/>
                              </a:rPr>
                              <m:t>25,000</m:t>
                            </m:r>
                          </m:e>
                        </m:d>
                      </m:den>
                    </m:f>
                  </m:oMath>
                </a14:m>
                <a:r>
                  <a:rPr lang="en-US" sz="2400" kern="100" dirty="0">
                    <a:latin typeface="Century Gothic" panose="020B0502020202020204" pitchFamily="34" charset="0"/>
                    <a:ea typeface="Calibri" panose="020F0502020204030204" pitchFamily="34" charset="0"/>
                    <a:cs typeface="Times New Roman" panose="02020603050405020304" pitchFamily="18" charset="0"/>
                  </a:rPr>
                  <a:t> = 96</a:t>
                </a:r>
                <a14:m>
                  <m:oMath xmlns:m="http://schemas.openxmlformats.org/officeDocument/2006/math">
                    <m:r>
                      <a:rPr lang="en-US" sz="2400" b="0" i="1" kern="100" smtClean="0">
                        <a:latin typeface="Cambria Math" panose="02040503050406030204" pitchFamily="18" charset="0"/>
                        <a:ea typeface="Cambria Math" panose="02040503050406030204" pitchFamily="18" charset="0"/>
                        <a:cs typeface="Times New Roman" panose="02020603050405020304" pitchFamily="18" charset="0"/>
                      </a:rPr>
                      <m:t>𝜇</m:t>
                    </m:r>
                  </m:oMath>
                </a14:m>
                <a:r>
                  <a:rPr lang="en-US" sz="2400" kern="100" dirty="0">
                    <a:latin typeface="Century Gothic" panose="020B0502020202020204" pitchFamily="34" charset="0"/>
                    <a:ea typeface="Calibri" panose="020F0502020204030204" pitchFamily="34" charset="0"/>
                    <a:cs typeface="Times New Roman" panose="02020603050405020304" pitchFamily="18" charset="0"/>
                  </a:rPr>
                  <a:t>H</a:t>
                </a:r>
              </a:p>
            </p:txBody>
          </p:sp>
        </mc:Choice>
        <mc:Fallback xmlns="">
          <p:sp>
            <p:nvSpPr>
              <p:cNvPr id="6" name="TextBox 5">
                <a:extLst>
                  <a:ext uri="{FF2B5EF4-FFF2-40B4-BE49-F238E27FC236}">
                    <a16:creationId xmlns:a16="http://schemas.microsoft.com/office/drawing/2014/main" id="{6BAA1F11-5BEF-4D80-964F-A7332E36BFA0}"/>
                  </a:ext>
                </a:extLst>
              </p:cNvPr>
              <p:cNvSpPr txBox="1">
                <a:spLocks noRot="1" noChangeAspect="1" noMove="1" noResize="1" noEditPoints="1" noAdjustHandles="1" noChangeArrowheads="1" noChangeShapeType="1" noTextEdit="1"/>
              </p:cNvSpPr>
              <p:nvPr/>
            </p:nvSpPr>
            <p:spPr>
              <a:xfrm>
                <a:off x="828675" y="999884"/>
                <a:ext cx="10315575" cy="5574603"/>
              </a:xfrm>
              <a:prstGeom prst="rect">
                <a:avLst/>
              </a:prstGeom>
              <a:blipFill>
                <a:blip r:embed="rId2"/>
                <a:stretch>
                  <a:fillRect l="-767" t="-764"/>
                </a:stretch>
              </a:blipFill>
              <a:ln>
                <a:solidFill>
                  <a:srgbClr val="FF0066"/>
                </a:solidFill>
              </a:ln>
            </p:spPr>
            <p:txBody>
              <a:bodyPr/>
              <a:lstStyle/>
              <a:p>
                <a:r>
                  <a:rPr lang="en-US">
                    <a:noFill/>
                  </a:rPr>
                  <a:t> </a:t>
                </a:r>
              </a:p>
            </p:txBody>
          </p:sp>
        </mc:Fallback>
      </mc:AlternateContent>
      <p:sp>
        <p:nvSpPr>
          <p:cNvPr id="2" name="TextBox 1">
            <a:extLst>
              <a:ext uri="{FF2B5EF4-FFF2-40B4-BE49-F238E27FC236}">
                <a16:creationId xmlns:a16="http://schemas.microsoft.com/office/drawing/2014/main" id="{1BD8016C-B677-4BEB-86C7-5F4D5DE2B249}"/>
              </a:ext>
            </a:extLst>
          </p:cNvPr>
          <p:cNvSpPr txBox="1"/>
          <p:nvPr/>
        </p:nvSpPr>
        <p:spPr>
          <a:xfrm>
            <a:off x="5637178" y="3570051"/>
            <a:ext cx="65" cy="276999"/>
          </a:xfrm>
          <a:prstGeom prst="rect">
            <a:avLst/>
          </a:prstGeom>
          <a:noFill/>
        </p:spPr>
        <p:txBody>
          <a:bodyPr wrap="none" lIns="0" tIns="0" rIns="0" bIns="0" rtlCol="0">
            <a:spAutoFit/>
          </a:bodyPr>
          <a:lstStyle/>
          <a:p>
            <a:endParaRPr lang="en-US" dirty="0"/>
          </a:p>
        </p:txBody>
      </p:sp>
    </p:spTree>
    <p:extLst>
      <p:ext uri="{BB962C8B-B14F-4D97-AF65-F5344CB8AC3E}">
        <p14:creationId xmlns:p14="http://schemas.microsoft.com/office/powerpoint/2010/main" val="167867857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6">
            <a:extLst>
              <a:ext uri="{FF2B5EF4-FFF2-40B4-BE49-F238E27FC236}">
                <a16:creationId xmlns:a16="http://schemas.microsoft.com/office/drawing/2014/main" id="{56080804-F19F-41A7-8595-943961648C5E}"/>
              </a:ext>
            </a:extLst>
          </p:cNvPr>
          <p:cNvSpPr>
            <a:spLocks noGrp="1"/>
          </p:cNvSpPr>
          <p:nvPr>
            <p:ph type="sldNum" sz="quarter" idx="12"/>
          </p:nvPr>
        </p:nvSpPr>
        <p:spPr>
          <a:xfrm>
            <a:off x="8610600" y="6441692"/>
            <a:ext cx="2743200" cy="370027"/>
          </a:xfrm>
        </p:spPr>
        <p:txBody>
          <a:bodyPr/>
          <a:lstStyle/>
          <a:p>
            <a:fld id="{F4801FD5-11B4-DE43-ACA2-E85EEB9A6F9C}" type="slidenum">
              <a:rPr lang="en-US" smtClean="0">
                <a:latin typeface="Garamond" panose="02020404030301010803" pitchFamily="18" charset="0"/>
              </a:rPr>
              <a:t>10</a:t>
            </a:fld>
            <a:endParaRPr lang="en-US">
              <a:latin typeface="Garamond" panose="02020404030301010803" pitchFamily="18" charset="0"/>
            </a:endParaRPr>
          </a:p>
        </p:txBody>
      </p:sp>
      <p:sp>
        <p:nvSpPr>
          <p:cNvPr id="5" name="Title 1">
            <a:extLst>
              <a:ext uri="{FF2B5EF4-FFF2-40B4-BE49-F238E27FC236}">
                <a16:creationId xmlns:a16="http://schemas.microsoft.com/office/drawing/2014/main" id="{4710AE4B-0DB8-4451-B9E4-10BAE11B4D3A}"/>
              </a:ext>
            </a:extLst>
          </p:cNvPr>
          <p:cNvSpPr>
            <a:spLocks noGrp="1"/>
          </p:cNvSpPr>
          <p:nvPr>
            <p:ph type="title"/>
          </p:nvPr>
        </p:nvSpPr>
        <p:spPr>
          <a:xfrm>
            <a:off x="3157348" y="-40404"/>
            <a:ext cx="6026397" cy="558382"/>
          </a:xfrm>
        </p:spPr>
        <p:txBody>
          <a:bodyPr>
            <a:noAutofit/>
          </a:bodyPr>
          <a:lstStyle/>
          <a:p>
            <a:pPr algn="ctr"/>
            <a:r>
              <a:rPr lang="en-US" sz="3200" b="1" u="sng" dirty="0">
                <a:solidFill>
                  <a:srgbClr val="FF3386"/>
                </a:solidFill>
                <a:latin typeface="Century Gothic" panose="020B0502020202020204" pitchFamily="34" charset="0"/>
                <a:cs typeface="Helvetica"/>
              </a:rPr>
              <a:t>BOOST CONVERTER</a:t>
            </a:r>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6BAA1F11-5BEF-4D80-964F-A7332E36BFA0}"/>
                  </a:ext>
                </a:extLst>
              </p:cNvPr>
              <p:cNvSpPr txBox="1"/>
              <p:nvPr/>
            </p:nvSpPr>
            <p:spPr>
              <a:xfrm>
                <a:off x="828675" y="999884"/>
                <a:ext cx="10315575" cy="5506700"/>
              </a:xfrm>
              <a:prstGeom prst="rect">
                <a:avLst/>
              </a:prstGeom>
              <a:noFill/>
              <a:ln>
                <a:solidFill>
                  <a:srgbClr val="FF0066"/>
                </a:solidFill>
              </a:ln>
            </p:spPr>
            <p:txBody>
              <a:bodyPr wrap="square" rtlCol="0">
                <a:spAutoFit/>
              </a:bodyPr>
              <a:lstStyle/>
              <a:p>
                <a:pPr marL="342900" indent="-342900">
                  <a:buClr>
                    <a:schemeClr val="accent2"/>
                  </a:buClr>
                  <a:buFont typeface="Arial" panose="020B0604020202020204" pitchFamily="34" charset="0"/>
                  <a:buChar char="•"/>
                </a:pPr>
                <a:r>
                  <a:rPr lang="en-US" sz="2400" kern="100" dirty="0">
                    <a:latin typeface="Century Gothic" panose="020B0502020202020204" pitchFamily="34" charset="0"/>
                    <a:ea typeface="Calibri" panose="020F0502020204030204" pitchFamily="34" charset="0"/>
                    <a:cs typeface="Times New Roman" panose="02020603050405020304" pitchFamily="18" charset="0"/>
                  </a:rPr>
                  <a:t>To provide a margin of continuous current, Let </a:t>
                </a:r>
                <a14:m>
                  <m:oMath xmlns:m="http://schemas.openxmlformats.org/officeDocument/2006/math">
                    <m:sSub>
                      <m:sSubPr>
                        <m:ctrlPr>
                          <a:rPr lang="en-US" sz="2400" i="1" kern="100" smtClean="0">
                            <a:latin typeface="Cambria Math" panose="02040503050406030204" pitchFamily="18" charset="0"/>
                            <a:ea typeface="Calibri" panose="020F0502020204030204" pitchFamily="34" charset="0"/>
                            <a:cs typeface="Times New Roman" panose="02020603050405020304" pitchFamily="18" charset="0"/>
                          </a:rPr>
                        </m:ctrlPr>
                      </m:sSubPr>
                      <m:e>
                        <m:r>
                          <a:rPr lang="en-US" sz="2400" b="0" i="1" kern="100" smtClean="0">
                            <a:latin typeface="Cambria Math" panose="02040503050406030204" pitchFamily="18" charset="0"/>
                            <a:ea typeface="Calibri" panose="020F0502020204030204" pitchFamily="34" charset="0"/>
                            <a:cs typeface="Times New Roman" panose="02020603050405020304" pitchFamily="18" charset="0"/>
                          </a:rPr>
                          <m:t>𝐿</m:t>
                        </m:r>
                      </m:e>
                      <m:sub>
                        <m:r>
                          <a:rPr lang="en-US" sz="2400" b="0" i="1" kern="100" smtClean="0">
                            <a:latin typeface="Cambria Math" panose="02040503050406030204" pitchFamily="18" charset="0"/>
                            <a:ea typeface="Calibri" panose="020F0502020204030204" pitchFamily="34" charset="0"/>
                            <a:cs typeface="Times New Roman" panose="02020603050405020304" pitchFamily="18" charset="0"/>
                          </a:rPr>
                          <m:t>𝑚𝑖𝑛</m:t>
                        </m:r>
                      </m:sub>
                    </m:sSub>
                    <m:r>
                      <a:rPr lang="en-US" sz="2400" b="0" i="1" kern="100" smtClean="0">
                        <a:latin typeface="Cambria Math" panose="02040503050406030204" pitchFamily="18" charset="0"/>
                        <a:ea typeface="Calibri" panose="020F0502020204030204" pitchFamily="34" charset="0"/>
                        <a:cs typeface="Times New Roman" panose="02020603050405020304" pitchFamily="18" charset="0"/>
                      </a:rPr>
                      <m:t>= </m:t>
                    </m:r>
                  </m:oMath>
                </a14:m>
                <a:r>
                  <a:rPr lang="en-US" sz="2400" kern="100" dirty="0">
                    <a:latin typeface="Century Gothic" panose="020B0502020202020204" pitchFamily="34" charset="0"/>
                    <a:ea typeface="Calibri" panose="020F0502020204030204" pitchFamily="34" charset="0"/>
                    <a:cs typeface="Times New Roman" panose="02020603050405020304" pitchFamily="18" charset="0"/>
                  </a:rPr>
                  <a:t>120</a:t>
                </a:r>
                <a14:m>
                  <m:oMath xmlns:m="http://schemas.openxmlformats.org/officeDocument/2006/math">
                    <m:r>
                      <a:rPr lang="en-US" sz="2400" i="1" kern="100" dirty="0" smtClean="0">
                        <a:latin typeface="Cambria Math" panose="02040503050406030204" pitchFamily="18" charset="0"/>
                        <a:ea typeface="Cambria Math" panose="02040503050406030204" pitchFamily="18" charset="0"/>
                        <a:cs typeface="Times New Roman" panose="02020603050405020304" pitchFamily="18" charset="0"/>
                      </a:rPr>
                      <m:t>𝜇</m:t>
                    </m:r>
                  </m:oMath>
                </a14:m>
                <a:r>
                  <a:rPr lang="en-US" sz="2400" kern="100" dirty="0">
                    <a:latin typeface="Century Gothic" panose="020B0502020202020204" pitchFamily="34" charset="0"/>
                    <a:ea typeface="Calibri" panose="020F0502020204030204" pitchFamily="34" charset="0"/>
                    <a:cs typeface="Times New Roman" panose="02020603050405020304" pitchFamily="18" charset="0"/>
                  </a:rPr>
                  <a:t>H</a:t>
                </a:r>
              </a:p>
              <a:p>
                <a:pPr marL="342900" indent="-342900">
                  <a:buClr>
                    <a:schemeClr val="accent2"/>
                  </a:buClr>
                  <a:buFont typeface="Arial" panose="020B0604020202020204" pitchFamily="34" charset="0"/>
                  <a:buChar char="•"/>
                </a:pPr>
                <a14:m>
                  <m:oMath xmlns:m="http://schemas.openxmlformats.org/officeDocument/2006/math">
                    <m:sSub>
                      <m:sSubPr>
                        <m:ctrlPr>
                          <a:rPr lang="en-US" sz="2400" i="1" kern="100" smtClean="0">
                            <a:latin typeface="Cambria Math" panose="02040503050406030204" pitchFamily="18" charset="0"/>
                            <a:ea typeface="Calibri" panose="020F0502020204030204" pitchFamily="34" charset="0"/>
                            <a:cs typeface="Times New Roman" panose="02020603050405020304" pitchFamily="18" charset="0"/>
                          </a:rPr>
                        </m:ctrlPr>
                      </m:sSubPr>
                      <m:e>
                        <m:r>
                          <a:rPr lang="en-US" sz="2400" b="0" i="1" kern="100" smtClean="0">
                            <a:latin typeface="Cambria Math" panose="02040503050406030204" pitchFamily="18" charset="0"/>
                            <a:ea typeface="Calibri" panose="020F0502020204030204" pitchFamily="34" charset="0"/>
                            <a:cs typeface="Times New Roman" panose="02020603050405020304" pitchFamily="18" charset="0"/>
                          </a:rPr>
                          <m:t>𝐼</m:t>
                        </m:r>
                      </m:e>
                      <m:sub>
                        <m:r>
                          <a:rPr lang="en-US" sz="2400" b="0" i="1" kern="100" smtClean="0">
                            <a:latin typeface="Cambria Math" panose="02040503050406030204" pitchFamily="18" charset="0"/>
                            <a:ea typeface="Calibri" panose="020F0502020204030204" pitchFamily="34" charset="0"/>
                            <a:cs typeface="Times New Roman" panose="02020603050405020304" pitchFamily="18" charset="0"/>
                          </a:rPr>
                          <m:t>𝐿</m:t>
                        </m:r>
                      </m:sub>
                    </m:sSub>
                  </m:oMath>
                </a14:m>
                <a:r>
                  <a:rPr lang="en-US" sz="2400" kern="100" dirty="0">
                    <a:latin typeface="Century Gothic" panose="020B0502020202020204" pitchFamily="34" charset="0"/>
                    <a:ea typeface="Calibri" panose="020F0502020204030204" pitchFamily="34" charset="0"/>
                    <a:cs typeface="Times New Roman" panose="02020603050405020304" pitchFamily="18" charset="0"/>
                  </a:rPr>
                  <a:t> = </a:t>
                </a:r>
                <a14:m>
                  <m:oMath xmlns:m="http://schemas.openxmlformats.org/officeDocument/2006/math">
                    <m:f>
                      <m:fPr>
                        <m:ctrlPr>
                          <a:rPr lang="en-US" sz="2400" i="1" kern="100" smtClean="0">
                            <a:latin typeface="Cambria Math" panose="02040503050406030204" pitchFamily="18" charset="0"/>
                            <a:ea typeface="Calibri" panose="020F0502020204030204" pitchFamily="34" charset="0"/>
                            <a:cs typeface="Times New Roman" panose="02020603050405020304" pitchFamily="18" charset="0"/>
                          </a:rPr>
                        </m:ctrlPr>
                      </m:fPr>
                      <m:num>
                        <m:sSub>
                          <m:sSubPr>
                            <m:ctrlPr>
                              <a:rPr lang="en-US" sz="2400" i="1" kern="100" smtClean="0">
                                <a:latin typeface="Cambria Math" panose="02040503050406030204" pitchFamily="18" charset="0"/>
                                <a:ea typeface="Calibri" panose="020F0502020204030204" pitchFamily="34" charset="0"/>
                                <a:cs typeface="Times New Roman" panose="02020603050405020304" pitchFamily="18" charset="0"/>
                              </a:rPr>
                            </m:ctrlPr>
                          </m:sSubPr>
                          <m:e>
                            <m:r>
                              <a:rPr lang="en-US" sz="2400" b="0" i="1" kern="100" smtClean="0">
                                <a:latin typeface="Cambria Math" panose="02040503050406030204" pitchFamily="18" charset="0"/>
                                <a:ea typeface="Calibri" panose="020F0502020204030204" pitchFamily="34" charset="0"/>
                                <a:cs typeface="Times New Roman" panose="02020603050405020304" pitchFamily="18" charset="0"/>
                              </a:rPr>
                              <m:t>𝑉</m:t>
                            </m:r>
                          </m:e>
                          <m:sub>
                            <m:r>
                              <a:rPr lang="en-US" sz="2400" b="0" i="1" kern="100" smtClean="0">
                                <a:latin typeface="Cambria Math" panose="02040503050406030204" pitchFamily="18" charset="0"/>
                                <a:ea typeface="Calibri" panose="020F0502020204030204" pitchFamily="34" charset="0"/>
                                <a:cs typeface="Times New Roman" panose="02020603050405020304" pitchFamily="18" charset="0"/>
                              </a:rPr>
                              <m:t>𝑠</m:t>
                            </m:r>
                          </m:sub>
                        </m:sSub>
                      </m:num>
                      <m:den>
                        <m:sSup>
                          <m:sSupPr>
                            <m:ctrlPr>
                              <a:rPr lang="en-US" sz="2400" i="1" kern="100" smtClean="0">
                                <a:latin typeface="Cambria Math" panose="02040503050406030204" pitchFamily="18" charset="0"/>
                                <a:ea typeface="Calibri" panose="020F0502020204030204" pitchFamily="34" charset="0"/>
                                <a:cs typeface="Times New Roman" panose="02020603050405020304" pitchFamily="18" charset="0"/>
                              </a:rPr>
                            </m:ctrlPr>
                          </m:sSupPr>
                          <m:e>
                            <m:d>
                              <m:dPr>
                                <m:ctrlPr>
                                  <a:rPr lang="en-US" sz="2400" i="1" kern="100" smtClean="0">
                                    <a:latin typeface="Cambria Math" panose="02040503050406030204" pitchFamily="18" charset="0"/>
                                    <a:ea typeface="Calibri" panose="020F0502020204030204" pitchFamily="34" charset="0"/>
                                    <a:cs typeface="Times New Roman" panose="02020603050405020304" pitchFamily="18" charset="0"/>
                                  </a:rPr>
                                </m:ctrlPr>
                              </m:dPr>
                              <m:e>
                                <m:r>
                                  <a:rPr lang="en-US" sz="2400" b="0" i="1" kern="100" smtClean="0">
                                    <a:latin typeface="Cambria Math" panose="02040503050406030204" pitchFamily="18" charset="0"/>
                                    <a:ea typeface="Calibri" panose="020F0502020204030204" pitchFamily="34" charset="0"/>
                                    <a:cs typeface="Times New Roman" panose="02020603050405020304" pitchFamily="18" charset="0"/>
                                  </a:rPr>
                                  <m:t>1−</m:t>
                                </m:r>
                                <m:r>
                                  <a:rPr lang="en-US" sz="2400" b="0" i="1" kern="100" smtClean="0">
                                    <a:latin typeface="Cambria Math" panose="02040503050406030204" pitchFamily="18" charset="0"/>
                                    <a:ea typeface="Calibri" panose="020F0502020204030204" pitchFamily="34" charset="0"/>
                                    <a:cs typeface="Times New Roman" panose="02020603050405020304" pitchFamily="18" charset="0"/>
                                  </a:rPr>
                                  <m:t>𝐷</m:t>
                                </m:r>
                              </m:e>
                            </m:d>
                          </m:e>
                          <m:sup>
                            <m:r>
                              <a:rPr lang="en-US" sz="2400" b="0" i="1" kern="100" smtClean="0">
                                <a:latin typeface="Cambria Math" panose="02040503050406030204" pitchFamily="18" charset="0"/>
                                <a:ea typeface="Calibri" panose="020F0502020204030204" pitchFamily="34" charset="0"/>
                                <a:cs typeface="Times New Roman" panose="02020603050405020304" pitchFamily="18" charset="0"/>
                              </a:rPr>
                              <m:t>2</m:t>
                            </m:r>
                          </m:sup>
                        </m:sSup>
                        <m:d>
                          <m:dPr>
                            <m:ctrlPr>
                              <a:rPr lang="en-US" sz="2400" i="1" kern="100" smtClean="0">
                                <a:latin typeface="Cambria Math" panose="02040503050406030204" pitchFamily="18" charset="0"/>
                                <a:ea typeface="Calibri" panose="020F0502020204030204" pitchFamily="34" charset="0"/>
                                <a:cs typeface="Times New Roman" panose="02020603050405020304" pitchFamily="18" charset="0"/>
                              </a:rPr>
                            </m:ctrlPr>
                          </m:dPr>
                          <m:e>
                            <m:r>
                              <a:rPr lang="en-US" sz="2400" b="0" i="1" kern="100" smtClean="0">
                                <a:latin typeface="Cambria Math" panose="02040503050406030204" pitchFamily="18" charset="0"/>
                                <a:ea typeface="Calibri" panose="020F0502020204030204" pitchFamily="34" charset="0"/>
                                <a:cs typeface="Times New Roman" panose="02020603050405020304" pitchFamily="18" charset="0"/>
                              </a:rPr>
                              <m:t>𝑅</m:t>
                            </m:r>
                          </m:e>
                        </m:d>
                      </m:den>
                    </m:f>
                  </m:oMath>
                </a14:m>
                <a:r>
                  <a:rPr lang="en-US" sz="2400" kern="100" dirty="0">
                    <a:latin typeface="Century Gothic" panose="020B0502020202020204" pitchFamily="34" charset="0"/>
                    <a:ea typeface="Calibri" panose="020F0502020204030204" pitchFamily="34" charset="0"/>
                    <a:cs typeface="Times New Roman" panose="02020603050405020304" pitchFamily="18" charset="0"/>
                  </a:rPr>
                  <a:t> = </a:t>
                </a:r>
                <a14:m>
                  <m:oMath xmlns:m="http://schemas.openxmlformats.org/officeDocument/2006/math">
                    <m:f>
                      <m:fPr>
                        <m:ctrlPr>
                          <a:rPr lang="en-US" sz="2400" i="1" kern="100" smtClean="0">
                            <a:latin typeface="Cambria Math" panose="02040503050406030204" pitchFamily="18" charset="0"/>
                            <a:ea typeface="Calibri" panose="020F0502020204030204" pitchFamily="34" charset="0"/>
                            <a:cs typeface="Times New Roman" panose="02020603050405020304" pitchFamily="18" charset="0"/>
                          </a:rPr>
                        </m:ctrlPr>
                      </m:fPr>
                      <m:num>
                        <m:r>
                          <a:rPr lang="en-US" sz="2400" b="0" i="1" kern="100" smtClean="0">
                            <a:latin typeface="Cambria Math" panose="02040503050406030204" pitchFamily="18" charset="0"/>
                            <a:ea typeface="Calibri" panose="020F0502020204030204" pitchFamily="34" charset="0"/>
                            <a:cs typeface="Times New Roman" panose="02020603050405020304" pitchFamily="18" charset="0"/>
                          </a:rPr>
                          <m:t>12</m:t>
                        </m:r>
                      </m:num>
                      <m:den>
                        <m:sSup>
                          <m:sSupPr>
                            <m:ctrlPr>
                              <a:rPr lang="en-US" sz="2400" i="1" kern="100" smtClean="0">
                                <a:latin typeface="Cambria Math" panose="02040503050406030204" pitchFamily="18" charset="0"/>
                                <a:ea typeface="Calibri" panose="020F0502020204030204" pitchFamily="34" charset="0"/>
                                <a:cs typeface="Times New Roman" panose="02020603050405020304" pitchFamily="18" charset="0"/>
                              </a:rPr>
                            </m:ctrlPr>
                          </m:sSupPr>
                          <m:e>
                            <m:d>
                              <m:dPr>
                                <m:ctrlPr>
                                  <a:rPr lang="en-US" sz="2400" i="1" kern="100" smtClean="0">
                                    <a:latin typeface="Cambria Math" panose="02040503050406030204" pitchFamily="18" charset="0"/>
                                    <a:ea typeface="Calibri" panose="020F0502020204030204" pitchFamily="34" charset="0"/>
                                    <a:cs typeface="Times New Roman" panose="02020603050405020304" pitchFamily="18" charset="0"/>
                                  </a:rPr>
                                </m:ctrlPr>
                              </m:dPr>
                              <m:e>
                                <m:r>
                                  <a:rPr lang="en-US" sz="2400" b="0" i="1" kern="100" smtClean="0">
                                    <a:latin typeface="Cambria Math" panose="02040503050406030204" pitchFamily="18" charset="0"/>
                                    <a:ea typeface="Calibri" panose="020F0502020204030204" pitchFamily="34" charset="0"/>
                                    <a:cs typeface="Times New Roman" panose="02020603050405020304" pitchFamily="18" charset="0"/>
                                  </a:rPr>
                                  <m:t>1−0.6</m:t>
                                </m:r>
                              </m:e>
                            </m:d>
                          </m:e>
                          <m:sup>
                            <m:r>
                              <a:rPr lang="en-US" sz="2400" b="0" i="1" kern="100" smtClean="0">
                                <a:latin typeface="Cambria Math" panose="02040503050406030204" pitchFamily="18" charset="0"/>
                                <a:ea typeface="Calibri" panose="020F0502020204030204" pitchFamily="34" charset="0"/>
                                <a:cs typeface="Times New Roman" panose="02020603050405020304" pitchFamily="18" charset="0"/>
                              </a:rPr>
                              <m:t>2</m:t>
                            </m:r>
                          </m:sup>
                        </m:sSup>
                        <m:d>
                          <m:dPr>
                            <m:ctrlPr>
                              <a:rPr lang="en-US" sz="2400" i="1" kern="100" smtClean="0">
                                <a:latin typeface="Cambria Math" panose="02040503050406030204" pitchFamily="18" charset="0"/>
                                <a:ea typeface="Calibri" panose="020F0502020204030204" pitchFamily="34" charset="0"/>
                                <a:cs typeface="Times New Roman" panose="02020603050405020304" pitchFamily="18" charset="0"/>
                              </a:rPr>
                            </m:ctrlPr>
                          </m:dPr>
                          <m:e>
                            <m:r>
                              <a:rPr lang="en-US" sz="2400" b="0" i="1" kern="100" smtClean="0">
                                <a:latin typeface="Cambria Math" panose="02040503050406030204" pitchFamily="18" charset="0"/>
                                <a:ea typeface="Calibri" panose="020F0502020204030204" pitchFamily="34" charset="0"/>
                                <a:cs typeface="Times New Roman" panose="02020603050405020304" pitchFamily="18" charset="0"/>
                              </a:rPr>
                              <m:t>50</m:t>
                            </m:r>
                          </m:e>
                        </m:d>
                      </m:den>
                    </m:f>
                  </m:oMath>
                </a14:m>
                <a:r>
                  <a:rPr lang="en-US" sz="2400" kern="100" dirty="0">
                    <a:latin typeface="Century Gothic" panose="020B0502020202020204" pitchFamily="34" charset="0"/>
                    <a:ea typeface="Calibri" panose="020F0502020204030204" pitchFamily="34" charset="0"/>
                    <a:cs typeface="Times New Roman" panose="02020603050405020304" pitchFamily="18" charset="0"/>
                  </a:rPr>
                  <a:t> = 1.5A</a:t>
                </a:r>
              </a:p>
              <a:p>
                <a:pPr marL="342900" indent="-342900">
                  <a:buClr>
                    <a:schemeClr val="accent2"/>
                  </a:buClr>
                  <a:buFont typeface="Arial" panose="020B0604020202020204" pitchFamily="34" charset="0"/>
                  <a:buChar char="•"/>
                </a:pPr>
                <a:endParaRPr lang="en-US" sz="2400" kern="100" dirty="0">
                  <a:latin typeface="Century Gothic" panose="020B0502020202020204" pitchFamily="34" charset="0"/>
                  <a:ea typeface="Calibri" panose="020F0502020204030204" pitchFamily="34" charset="0"/>
                  <a:cs typeface="Times New Roman" panose="02020603050405020304" pitchFamily="18" charset="0"/>
                </a:endParaRPr>
              </a:p>
              <a:p>
                <a:pPr marL="342900" indent="-342900">
                  <a:buClr>
                    <a:schemeClr val="accent2"/>
                  </a:buClr>
                  <a:buFont typeface="Arial" panose="020B0604020202020204" pitchFamily="34" charset="0"/>
                  <a:buChar char="•"/>
                </a:pPr>
                <a14:m>
                  <m:oMath xmlns:m="http://schemas.openxmlformats.org/officeDocument/2006/math">
                    <m:f>
                      <m:fPr>
                        <m:ctrlPr>
                          <a:rPr lang="en-US" sz="2400" i="1" kern="100" smtClean="0">
                            <a:latin typeface="Cambria Math" panose="02040503050406030204" pitchFamily="18" charset="0"/>
                            <a:ea typeface="Calibri" panose="020F0502020204030204" pitchFamily="34" charset="0"/>
                            <a:cs typeface="Times New Roman" panose="02020603050405020304" pitchFamily="18" charset="0"/>
                          </a:rPr>
                        </m:ctrlPr>
                      </m:fPr>
                      <m:num>
                        <m:r>
                          <a:rPr lang="en-US" sz="2400" i="1" kern="100" smtClean="0">
                            <a:latin typeface="Cambria Math" panose="02040503050406030204" pitchFamily="18" charset="0"/>
                            <a:ea typeface="Cambria Math" panose="02040503050406030204" pitchFamily="18" charset="0"/>
                            <a:cs typeface="Times New Roman" panose="02020603050405020304" pitchFamily="18" charset="0"/>
                          </a:rPr>
                          <m:t>∆</m:t>
                        </m:r>
                        <m:sSub>
                          <m:sSubPr>
                            <m:ctrlPr>
                              <a:rPr lang="en-US" sz="2400" i="1" kern="100" smtClean="0">
                                <a:latin typeface="Cambria Math" panose="02040503050406030204" pitchFamily="18" charset="0"/>
                                <a:ea typeface="Cambria Math" panose="02040503050406030204" pitchFamily="18" charset="0"/>
                                <a:cs typeface="Times New Roman" panose="02020603050405020304" pitchFamily="18" charset="0"/>
                              </a:rPr>
                            </m:ctrlPr>
                          </m:sSubPr>
                          <m:e>
                            <m:r>
                              <a:rPr lang="en-US" sz="2400" b="0" i="1" kern="100" smtClean="0">
                                <a:latin typeface="Cambria Math" panose="02040503050406030204" pitchFamily="18" charset="0"/>
                                <a:ea typeface="Cambria Math" panose="02040503050406030204" pitchFamily="18" charset="0"/>
                                <a:cs typeface="Times New Roman" panose="02020603050405020304" pitchFamily="18" charset="0"/>
                              </a:rPr>
                              <m:t>𝑖</m:t>
                            </m:r>
                          </m:e>
                          <m:sub>
                            <m:r>
                              <a:rPr lang="en-US" sz="2400" b="0" i="1" kern="100" smtClean="0">
                                <a:latin typeface="Cambria Math" panose="02040503050406030204" pitchFamily="18" charset="0"/>
                                <a:ea typeface="Cambria Math" panose="02040503050406030204" pitchFamily="18" charset="0"/>
                                <a:cs typeface="Times New Roman" panose="02020603050405020304" pitchFamily="18" charset="0"/>
                              </a:rPr>
                              <m:t>𝐿</m:t>
                            </m:r>
                          </m:sub>
                        </m:sSub>
                      </m:num>
                      <m:den>
                        <m:r>
                          <a:rPr lang="en-US" sz="2400" b="0" i="1" kern="100" smtClean="0">
                            <a:latin typeface="Cambria Math" panose="02040503050406030204" pitchFamily="18" charset="0"/>
                            <a:ea typeface="Calibri" panose="020F0502020204030204" pitchFamily="34" charset="0"/>
                            <a:cs typeface="Times New Roman" panose="02020603050405020304" pitchFamily="18" charset="0"/>
                          </a:rPr>
                          <m:t>2</m:t>
                        </m:r>
                      </m:den>
                    </m:f>
                  </m:oMath>
                </a14:m>
                <a:r>
                  <a:rPr lang="en-US" sz="2400" kern="100" dirty="0">
                    <a:latin typeface="Century Gothic" panose="020B0502020202020204" pitchFamily="34" charset="0"/>
                    <a:ea typeface="Calibri" panose="020F0502020204030204" pitchFamily="34" charset="0"/>
                    <a:cs typeface="Times New Roman" panose="02020603050405020304" pitchFamily="18" charset="0"/>
                  </a:rPr>
                  <a:t> = </a:t>
                </a:r>
                <a14:m>
                  <m:oMath xmlns:m="http://schemas.openxmlformats.org/officeDocument/2006/math">
                    <m:f>
                      <m:fPr>
                        <m:ctrlPr>
                          <a:rPr lang="en-US" sz="2400" i="1" kern="100" smtClean="0">
                            <a:latin typeface="Cambria Math" panose="02040503050406030204" pitchFamily="18" charset="0"/>
                            <a:ea typeface="Calibri" panose="020F0502020204030204" pitchFamily="34" charset="0"/>
                            <a:cs typeface="Times New Roman" panose="02020603050405020304" pitchFamily="18" charset="0"/>
                          </a:rPr>
                        </m:ctrlPr>
                      </m:fPr>
                      <m:num>
                        <m:sSub>
                          <m:sSubPr>
                            <m:ctrlPr>
                              <a:rPr lang="en-US" sz="2400" i="1" kern="100" smtClean="0">
                                <a:latin typeface="Cambria Math" panose="02040503050406030204" pitchFamily="18" charset="0"/>
                                <a:ea typeface="Calibri" panose="020F0502020204030204" pitchFamily="34" charset="0"/>
                                <a:cs typeface="Times New Roman" panose="02020603050405020304" pitchFamily="18" charset="0"/>
                              </a:rPr>
                            </m:ctrlPr>
                          </m:sSubPr>
                          <m:e>
                            <m:r>
                              <a:rPr lang="en-US" sz="2400" b="0" i="1" kern="100" smtClean="0">
                                <a:latin typeface="Cambria Math" panose="02040503050406030204" pitchFamily="18" charset="0"/>
                                <a:ea typeface="Calibri" panose="020F0502020204030204" pitchFamily="34" charset="0"/>
                                <a:cs typeface="Times New Roman" panose="02020603050405020304" pitchFamily="18" charset="0"/>
                              </a:rPr>
                              <m:t>𝑉</m:t>
                            </m:r>
                          </m:e>
                          <m:sub>
                            <m:r>
                              <a:rPr lang="en-US" sz="2400" b="0" i="1" kern="100" smtClean="0">
                                <a:latin typeface="Cambria Math" panose="02040503050406030204" pitchFamily="18" charset="0"/>
                                <a:ea typeface="Calibri" panose="020F0502020204030204" pitchFamily="34" charset="0"/>
                                <a:cs typeface="Times New Roman" panose="02020603050405020304" pitchFamily="18" charset="0"/>
                              </a:rPr>
                              <m:t>𝑠</m:t>
                            </m:r>
                          </m:sub>
                        </m:sSub>
                        <m:r>
                          <a:rPr lang="en-US" sz="2400" b="0" i="1" kern="100" smtClean="0">
                            <a:latin typeface="Cambria Math" panose="02040503050406030204" pitchFamily="18" charset="0"/>
                            <a:ea typeface="Calibri" panose="020F0502020204030204" pitchFamily="34" charset="0"/>
                            <a:cs typeface="Times New Roman" panose="02020603050405020304" pitchFamily="18" charset="0"/>
                          </a:rPr>
                          <m:t>𝐷𝑇</m:t>
                        </m:r>
                      </m:num>
                      <m:den>
                        <m:r>
                          <a:rPr lang="en-US" sz="2400" b="0" i="1" kern="100" smtClean="0">
                            <a:latin typeface="Cambria Math" panose="02040503050406030204" pitchFamily="18" charset="0"/>
                            <a:ea typeface="Calibri" panose="020F0502020204030204" pitchFamily="34" charset="0"/>
                            <a:cs typeface="Times New Roman" panose="02020603050405020304" pitchFamily="18" charset="0"/>
                          </a:rPr>
                          <m:t>2</m:t>
                        </m:r>
                        <m:r>
                          <a:rPr lang="en-US" sz="2400" b="0" i="1" kern="100" smtClean="0">
                            <a:latin typeface="Cambria Math" panose="02040503050406030204" pitchFamily="18" charset="0"/>
                            <a:ea typeface="Calibri" panose="020F0502020204030204" pitchFamily="34" charset="0"/>
                            <a:cs typeface="Times New Roman" panose="02020603050405020304" pitchFamily="18" charset="0"/>
                          </a:rPr>
                          <m:t>𝐿</m:t>
                        </m:r>
                      </m:den>
                    </m:f>
                  </m:oMath>
                </a14:m>
                <a:r>
                  <a:rPr lang="en-US" sz="2400" kern="100" dirty="0">
                    <a:latin typeface="Century Gothic" panose="020B0502020202020204" pitchFamily="34" charset="0"/>
                    <a:ea typeface="Calibri" panose="020F0502020204030204" pitchFamily="34" charset="0"/>
                    <a:cs typeface="Times New Roman" panose="02020603050405020304" pitchFamily="18" charset="0"/>
                  </a:rPr>
                  <a:t> = </a:t>
                </a:r>
                <a14:m>
                  <m:oMath xmlns:m="http://schemas.openxmlformats.org/officeDocument/2006/math">
                    <m:f>
                      <m:fPr>
                        <m:ctrlPr>
                          <a:rPr lang="en-US" sz="2400" i="1" kern="100" smtClean="0">
                            <a:latin typeface="Cambria Math" panose="02040503050406030204" pitchFamily="18" charset="0"/>
                            <a:ea typeface="Calibri" panose="020F0502020204030204" pitchFamily="34" charset="0"/>
                            <a:cs typeface="Times New Roman" panose="02020603050405020304" pitchFamily="18" charset="0"/>
                          </a:rPr>
                        </m:ctrlPr>
                      </m:fPr>
                      <m:num>
                        <m:d>
                          <m:dPr>
                            <m:ctrlPr>
                              <a:rPr lang="en-US" sz="2400" i="1" kern="100" smtClean="0">
                                <a:latin typeface="Cambria Math" panose="02040503050406030204" pitchFamily="18" charset="0"/>
                                <a:ea typeface="Calibri" panose="020F0502020204030204" pitchFamily="34" charset="0"/>
                                <a:cs typeface="Times New Roman" panose="02020603050405020304" pitchFamily="18" charset="0"/>
                              </a:rPr>
                            </m:ctrlPr>
                          </m:dPr>
                          <m:e>
                            <m:r>
                              <a:rPr lang="en-US" sz="2400" b="0" i="1" kern="100" smtClean="0">
                                <a:latin typeface="Cambria Math" panose="02040503050406030204" pitchFamily="18" charset="0"/>
                                <a:ea typeface="Calibri" panose="020F0502020204030204" pitchFamily="34" charset="0"/>
                                <a:cs typeface="Times New Roman" panose="02020603050405020304" pitchFamily="18" charset="0"/>
                              </a:rPr>
                              <m:t>12</m:t>
                            </m:r>
                          </m:e>
                        </m:d>
                        <m:d>
                          <m:dPr>
                            <m:ctrlPr>
                              <a:rPr lang="en-US" sz="2400" i="1" kern="100" smtClean="0">
                                <a:latin typeface="Cambria Math" panose="02040503050406030204" pitchFamily="18" charset="0"/>
                                <a:ea typeface="Calibri" panose="020F0502020204030204" pitchFamily="34" charset="0"/>
                                <a:cs typeface="Times New Roman" panose="02020603050405020304" pitchFamily="18" charset="0"/>
                              </a:rPr>
                            </m:ctrlPr>
                          </m:dPr>
                          <m:e>
                            <m:r>
                              <a:rPr lang="en-US" sz="2400" b="0" i="1" kern="100" smtClean="0">
                                <a:latin typeface="Cambria Math" panose="02040503050406030204" pitchFamily="18" charset="0"/>
                                <a:ea typeface="Calibri" panose="020F0502020204030204" pitchFamily="34" charset="0"/>
                                <a:cs typeface="Times New Roman" panose="02020603050405020304" pitchFamily="18" charset="0"/>
                              </a:rPr>
                              <m:t>0.6</m:t>
                            </m:r>
                          </m:e>
                        </m:d>
                      </m:num>
                      <m:den>
                        <m:r>
                          <a:rPr lang="en-US" sz="2400" b="0" i="1" kern="100" smtClean="0">
                            <a:latin typeface="Cambria Math" panose="02040503050406030204" pitchFamily="18" charset="0"/>
                            <a:ea typeface="Calibri" panose="020F0502020204030204" pitchFamily="34" charset="0"/>
                            <a:cs typeface="Times New Roman" panose="02020603050405020304" pitchFamily="18" charset="0"/>
                          </a:rPr>
                          <m:t>2</m:t>
                        </m:r>
                        <m:d>
                          <m:dPr>
                            <m:ctrlPr>
                              <a:rPr lang="en-US" sz="2400" b="0" i="1" kern="100" smtClean="0">
                                <a:latin typeface="Cambria Math" panose="02040503050406030204" pitchFamily="18" charset="0"/>
                                <a:ea typeface="Calibri" panose="020F0502020204030204" pitchFamily="34" charset="0"/>
                                <a:cs typeface="Times New Roman" panose="02020603050405020304" pitchFamily="18" charset="0"/>
                              </a:rPr>
                            </m:ctrlPr>
                          </m:dPr>
                          <m:e>
                            <m:r>
                              <a:rPr lang="en-US" sz="2400" b="0" i="1" kern="100" smtClean="0">
                                <a:latin typeface="Cambria Math" panose="02040503050406030204" pitchFamily="18" charset="0"/>
                                <a:ea typeface="Calibri" panose="020F0502020204030204" pitchFamily="34" charset="0"/>
                                <a:cs typeface="Times New Roman" panose="02020603050405020304" pitchFamily="18" charset="0"/>
                              </a:rPr>
                              <m:t>120</m:t>
                            </m:r>
                          </m:e>
                        </m:d>
                        <m:sSup>
                          <m:sSupPr>
                            <m:ctrlPr>
                              <a:rPr lang="en-US" sz="2400" b="0" i="1" kern="100" smtClean="0">
                                <a:latin typeface="Cambria Math" panose="02040503050406030204" pitchFamily="18" charset="0"/>
                                <a:ea typeface="Calibri" panose="020F0502020204030204" pitchFamily="34" charset="0"/>
                                <a:cs typeface="Times New Roman" panose="02020603050405020304" pitchFamily="18" charset="0"/>
                              </a:rPr>
                            </m:ctrlPr>
                          </m:sSupPr>
                          <m:e>
                            <m:d>
                              <m:dPr>
                                <m:ctrlPr>
                                  <a:rPr lang="en-US" sz="2400" b="0" i="1" kern="100" smtClean="0">
                                    <a:latin typeface="Cambria Math" panose="02040503050406030204" pitchFamily="18" charset="0"/>
                                    <a:ea typeface="Calibri" panose="020F0502020204030204" pitchFamily="34" charset="0"/>
                                    <a:cs typeface="Times New Roman" panose="02020603050405020304" pitchFamily="18" charset="0"/>
                                  </a:rPr>
                                </m:ctrlPr>
                              </m:dPr>
                              <m:e>
                                <m:r>
                                  <a:rPr lang="en-US" sz="2400" b="0" i="1" kern="100" smtClean="0">
                                    <a:latin typeface="Cambria Math" panose="02040503050406030204" pitchFamily="18" charset="0"/>
                                    <a:ea typeface="Calibri" panose="020F0502020204030204" pitchFamily="34" charset="0"/>
                                    <a:cs typeface="Times New Roman" panose="02020603050405020304" pitchFamily="18" charset="0"/>
                                  </a:rPr>
                                  <m:t>10</m:t>
                                </m:r>
                              </m:e>
                            </m:d>
                          </m:e>
                          <m:sup>
                            <m:r>
                              <a:rPr lang="en-US" sz="2400" b="0" i="1" kern="100" smtClean="0">
                                <a:latin typeface="Cambria Math" panose="02040503050406030204" pitchFamily="18" charset="0"/>
                                <a:ea typeface="Calibri" panose="020F0502020204030204" pitchFamily="34" charset="0"/>
                                <a:cs typeface="Times New Roman" panose="02020603050405020304" pitchFamily="18" charset="0"/>
                              </a:rPr>
                              <m:t>−6</m:t>
                            </m:r>
                          </m:sup>
                        </m:sSup>
                        <m:d>
                          <m:dPr>
                            <m:ctrlPr>
                              <a:rPr lang="en-US" sz="2400" b="0" i="1" kern="100" smtClean="0">
                                <a:latin typeface="Cambria Math" panose="02040503050406030204" pitchFamily="18" charset="0"/>
                                <a:ea typeface="Calibri" panose="020F0502020204030204" pitchFamily="34" charset="0"/>
                                <a:cs typeface="Times New Roman" panose="02020603050405020304" pitchFamily="18" charset="0"/>
                              </a:rPr>
                            </m:ctrlPr>
                          </m:dPr>
                          <m:e>
                            <m:r>
                              <a:rPr lang="en-US" sz="2400" b="0" i="1" kern="100" smtClean="0">
                                <a:latin typeface="Cambria Math" panose="02040503050406030204" pitchFamily="18" charset="0"/>
                                <a:ea typeface="Calibri" panose="020F0502020204030204" pitchFamily="34" charset="0"/>
                                <a:cs typeface="Times New Roman" panose="02020603050405020304" pitchFamily="18" charset="0"/>
                              </a:rPr>
                              <m:t>25,000</m:t>
                            </m:r>
                          </m:e>
                        </m:d>
                      </m:den>
                    </m:f>
                  </m:oMath>
                </a14:m>
                <a:r>
                  <a:rPr lang="en-US" sz="2400" kern="100" dirty="0">
                    <a:latin typeface="Century Gothic" panose="020B0502020202020204" pitchFamily="34" charset="0"/>
                    <a:ea typeface="Calibri" panose="020F0502020204030204" pitchFamily="34" charset="0"/>
                    <a:cs typeface="Times New Roman" panose="02020603050405020304" pitchFamily="18" charset="0"/>
                  </a:rPr>
                  <a:t> = 1.2A</a:t>
                </a:r>
              </a:p>
              <a:p>
                <a:pPr marL="342900" indent="-342900">
                  <a:buClr>
                    <a:schemeClr val="accent2"/>
                  </a:buClr>
                  <a:buFont typeface="Arial" panose="020B0604020202020204" pitchFamily="34" charset="0"/>
                  <a:buChar char="•"/>
                </a:pPr>
                <a:endParaRPr lang="en-US" sz="2400" kern="100" dirty="0">
                  <a:latin typeface="Century Gothic" panose="020B0502020202020204" pitchFamily="34" charset="0"/>
                  <a:ea typeface="Calibri" panose="020F0502020204030204" pitchFamily="34" charset="0"/>
                  <a:cs typeface="Times New Roman" panose="02020603050405020304" pitchFamily="18" charset="0"/>
                </a:endParaRPr>
              </a:p>
              <a:p>
                <a:pPr marL="342900" indent="-342900">
                  <a:buClr>
                    <a:schemeClr val="accent2"/>
                  </a:buClr>
                  <a:buFont typeface="Arial" panose="020B0604020202020204" pitchFamily="34" charset="0"/>
                  <a:buChar char="•"/>
                </a:pPr>
                <a14:m>
                  <m:oMath xmlns:m="http://schemas.openxmlformats.org/officeDocument/2006/math">
                    <m:sSub>
                      <m:sSubPr>
                        <m:ctrlPr>
                          <a:rPr lang="en-US" sz="2400" i="1" kern="100" smtClean="0">
                            <a:latin typeface="Cambria Math" panose="02040503050406030204" pitchFamily="18" charset="0"/>
                            <a:ea typeface="Calibri" panose="020F0502020204030204" pitchFamily="34" charset="0"/>
                            <a:cs typeface="Times New Roman" panose="02020603050405020304" pitchFamily="18" charset="0"/>
                          </a:rPr>
                        </m:ctrlPr>
                      </m:sSubPr>
                      <m:e>
                        <m:r>
                          <a:rPr lang="en-US" sz="2400" b="0" i="1" kern="100" smtClean="0">
                            <a:latin typeface="Cambria Math" panose="02040503050406030204" pitchFamily="18" charset="0"/>
                            <a:ea typeface="Calibri" panose="020F0502020204030204" pitchFamily="34" charset="0"/>
                            <a:cs typeface="Times New Roman" panose="02020603050405020304" pitchFamily="18" charset="0"/>
                          </a:rPr>
                          <m:t>𝐼</m:t>
                        </m:r>
                      </m:e>
                      <m:sub>
                        <m:r>
                          <a:rPr lang="en-US" sz="2400" b="0" i="1" kern="100" smtClean="0">
                            <a:latin typeface="Cambria Math" panose="02040503050406030204" pitchFamily="18" charset="0"/>
                            <a:ea typeface="Calibri" panose="020F0502020204030204" pitchFamily="34" charset="0"/>
                            <a:cs typeface="Times New Roman" panose="02020603050405020304" pitchFamily="18" charset="0"/>
                          </a:rPr>
                          <m:t>𝑚𝑎𝑥</m:t>
                        </m:r>
                      </m:sub>
                    </m:sSub>
                  </m:oMath>
                </a14:m>
                <a:r>
                  <a:rPr lang="en-US" sz="2400" kern="100" dirty="0">
                    <a:latin typeface="Century Gothic" panose="020B0502020202020204" pitchFamily="34" charset="0"/>
                    <a:ea typeface="Calibri" panose="020F0502020204030204" pitchFamily="34" charset="0"/>
                    <a:cs typeface="Times New Roman" panose="02020603050405020304" pitchFamily="18" charset="0"/>
                  </a:rPr>
                  <a:t> = 1.5 </a:t>
                </a:r>
                <a14:m>
                  <m:oMath xmlns:m="http://schemas.openxmlformats.org/officeDocument/2006/math">
                    <m:r>
                      <a:rPr lang="en-US" sz="2400" i="1" kern="100" smtClean="0">
                        <a:latin typeface="Cambria Math" panose="02040503050406030204" pitchFamily="18" charset="0"/>
                        <a:ea typeface="Cambria Math" panose="02040503050406030204" pitchFamily="18" charset="0"/>
                        <a:cs typeface="Times New Roman" panose="02020603050405020304" pitchFamily="18" charset="0"/>
                      </a:rPr>
                      <m:t>+</m:t>
                    </m:r>
                    <m:r>
                      <a:rPr lang="en-US" sz="2400" b="0" i="1" kern="100" smtClean="0">
                        <a:latin typeface="Cambria Math" panose="02040503050406030204" pitchFamily="18" charset="0"/>
                        <a:ea typeface="Cambria Math" panose="02040503050406030204" pitchFamily="18" charset="0"/>
                        <a:cs typeface="Times New Roman" panose="02020603050405020304" pitchFamily="18" charset="0"/>
                      </a:rPr>
                      <m:t> </m:t>
                    </m:r>
                  </m:oMath>
                </a14:m>
                <a:r>
                  <a:rPr lang="en-US" sz="2400" kern="100" dirty="0">
                    <a:latin typeface="Century Gothic" panose="020B0502020202020204" pitchFamily="34" charset="0"/>
                    <a:ea typeface="Calibri" panose="020F0502020204030204" pitchFamily="34" charset="0"/>
                    <a:cs typeface="Times New Roman" panose="02020603050405020304" pitchFamily="18" charset="0"/>
                  </a:rPr>
                  <a:t>1.2 = 2.7A</a:t>
                </a:r>
                <a:br>
                  <a:rPr lang="en-US" sz="2400" kern="100" dirty="0">
                    <a:latin typeface="Century Gothic" panose="020B0502020202020204" pitchFamily="34" charset="0"/>
                    <a:ea typeface="Calibri" panose="020F0502020204030204" pitchFamily="34" charset="0"/>
                    <a:cs typeface="Times New Roman" panose="02020603050405020304" pitchFamily="18" charset="0"/>
                  </a:rPr>
                </a:br>
                <a:endParaRPr lang="en-US" sz="2400" kern="100" dirty="0">
                  <a:latin typeface="Century Gothic" panose="020B0502020202020204" pitchFamily="34" charset="0"/>
                  <a:ea typeface="Calibri" panose="020F0502020204030204" pitchFamily="34" charset="0"/>
                  <a:cs typeface="Times New Roman" panose="02020603050405020304" pitchFamily="18" charset="0"/>
                </a:endParaRPr>
              </a:p>
              <a:p>
                <a:pPr marL="342900" indent="-342900">
                  <a:buClr>
                    <a:schemeClr val="accent2"/>
                  </a:buClr>
                  <a:buFont typeface="Arial" panose="020B0604020202020204" pitchFamily="34" charset="0"/>
                  <a:buChar char="•"/>
                </a:pPr>
                <a:r>
                  <a:rPr lang="en-US" sz="2400" kern="100" dirty="0">
                    <a:latin typeface="Century Gothic" panose="020B0502020202020204" pitchFamily="34" charset="0"/>
                    <a:ea typeface="Calibri" panose="020F0502020204030204" pitchFamily="34" charset="0"/>
                    <a:cs typeface="Times New Roman" panose="02020603050405020304" pitchFamily="18" charset="0"/>
                  </a:rPr>
                  <a:t>	</a:t>
                </a:r>
                <a14:m>
                  <m:oMath xmlns:m="http://schemas.openxmlformats.org/officeDocument/2006/math">
                    <m:sSub>
                      <m:sSubPr>
                        <m:ctrlPr>
                          <a:rPr lang="en-US" sz="2400" i="1" kern="100" smtClean="0">
                            <a:latin typeface="Cambria Math" panose="02040503050406030204" pitchFamily="18" charset="0"/>
                            <a:ea typeface="Calibri" panose="020F0502020204030204" pitchFamily="34" charset="0"/>
                            <a:cs typeface="Times New Roman" panose="02020603050405020304" pitchFamily="18" charset="0"/>
                          </a:rPr>
                        </m:ctrlPr>
                      </m:sSubPr>
                      <m:e>
                        <m:r>
                          <a:rPr lang="en-US" sz="2400" b="0" i="1" kern="100" smtClean="0">
                            <a:latin typeface="Cambria Math" panose="02040503050406030204" pitchFamily="18" charset="0"/>
                            <a:ea typeface="Calibri" panose="020F0502020204030204" pitchFamily="34" charset="0"/>
                            <a:cs typeface="Times New Roman" panose="02020603050405020304" pitchFamily="18" charset="0"/>
                          </a:rPr>
                          <m:t>𝐼</m:t>
                        </m:r>
                      </m:e>
                      <m:sub>
                        <m:r>
                          <a:rPr lang="en-US" sz="2400" b="0" i="1" kern="100" smtClean="0">
                            <a:latin typeface="Cambria Math" panose="02040503050406030204" pitchFamily="18" charset="0"/>
                            <a:ea typeface="Calibri" panose="020F0502020204030204" pitchFamily="34" charset="0"/>
                            <a:cs typeface="Times New Roman" panose="02020603050405020304" pitchFamily="18" charset="0"/>
                          </a:rPr>
                          <m:t>𝑚𝑖𝑛</m:t>
                        </m:r>
                      </m:sub>
                    </m:sSub>
                  </m:oMath>
                </a14:m>
                <a:r>
                  <a:rPr lang="en-US" sz="2400" kern="100" dirty="0">
                    <a:latin typeface="Century Gothic" panose="020B0502020202020204" pitchFamily="34" charset="0"/>
                    <a:ea typeface="Calibri" panose="020F0502020204030204" pitchFamily="34" charset="0"/>
                    <a:cs typeface="Times New Roman" panose="02020603050405020304" pitchFamily="18" charset="0"/>
                  </a:rPr>
                  <a:t> = 1.5 </a:t>
                </a:r>
                <a14:m>
                  <m:oMath xmlns:m="http://schemas.openxmlformats.org/officeDocument/2006/math">
                    <m:r>
                      <a:rPr lang="en-US" sz="2400" i="1" kern="100" smtClean="0">
                        <a:latin typeface="Cambria Math" panose="02040503050406030204" pitchFamily="18" charset="0"/>
                        <a:ea typeface="Cambria Math" panose="02040503050406030204" pitchFamily="18" charset="0"/>
                        <a:cs typeface="Times New Roman" panose="02020603050405020304" pitchFamily="18" charset="0"/>
                      </a:rPr>
                      <m:t>−</m:t>
                    </m:r>
                  </m:oMath>
                </a14:m>
                <a:r>
                  <a:rPr lang="en-US" sz="2400" kern="100" dirty="0">
                    <a:latin typeface="Century Gothic" panose="020B0502020202020204" pitchFamily="34" charset="0"/>
                    <a:ea typeface="Calibri" panose="020F0502020204030204" pitchFamily="34" charset="0"/>
                    <a:cs typeface="Times New Roman" panose="02020603050405020304" pitchFamily="18" charset="0"/>
                  </a:rPr>
                  <a:t> 1.2 = 0.3A</a:t>
                </a:r>
                <a:br>
                  <a:rPr lang="en-US" sz="2400" kern="100" dirty="0">
                    <a:latin typeface="Century Gothic" panose="020B0502020202020204" pitchFamily="34" charset="0"/>
                    <a:ea typeface="Calibri" panose="020F0502020204030204" pitchFamily="34" charset="0"/>
                    <a:cs typeface="Times New Roman" panose="02020603050405020304" pitchFamily="18" charset="0"/>
                  </a:rPr>
                </a:br>
                <a:endParaRPr lang="en-US" sz="2400" kern="100" dirty="0">
                  <a:latin typeface="Century Gothic" panose="020B0502020202020204" pitchFamily="34" charset="0"/>
                  <a:ea typeface="Calibri" panose="020F0502020204030204" pitchFamily="34" charset="0"/>
                  <a:cs typeface="Times New Roman" panose="02020603050405020304" pitchFamily="18" charset="0"/>
                </a:endParaRPr>
              </a:p>
              <a:p>
                <a:pPr marL="342900" indent="-342900">
                  <a:buClr>
                    <a:schemeClr val="accent2"/>
                  </a:buClr>
                  <a:buFont typeface="Arial" panose="020B0604020202020204" pitchFamily="34" charset="0"/>
                  <a:buChar char="•"/>
                </a:pPr>
                <a:r>
                  <a:rPr lang="en-US" sz="2400" i="1" kern="100" dirty="0">
                    <a:latin typeface="Century Gothic" panose="020B0502020202020204" pitchFamily="34" charset="0"/>
                    <a:ea typeface="Calibri" panose="020F0502020204030204" pitchFamily="34" charset="0"/>
                    <a:cs typeface="Times New Roman" panose="02020603050405020304" pitchFamily="18" charset="0"/>
                  </a:rPr>
                  <a:t>The minimum capacitance required to limit the output ripple voltage to 1 percent is determined by</a:t>
                </a:r>
                <a:br>
                  <a:rPr lang="en-US" sz="2400" i="1" kern="100" dirty="0">
                    <a:latin typeface="Century Gothic" panose="020B0502020202020204" pitchFamily="34" charset="0"/>
                    <a:ea typeface="Calibri" panose="020F0502020204030204" pitchFamily="34" charset="0"/>
                    <a:cs typeface="Times New Roman" panose="02020603050405020304" pitchFamily="18" charset="0"/>
                  </a:rPr>
                </a:br>
                <a:br>
                  <a:rPr lang="en-US" sz="2400" i="1" kern="100" dirty="0">
                    <a:latin typeface="Century Gothic" panose="020B0502020202020204" pitchFamily="34" charset="0"/>
                    <a:ea typeface="Calibri" panose="020F0502020204030204" pitchFamily="34" charset="0"/>
                    <a:cs typeface="Times New Roman" panose="02020603050405020304" pitchFamily="18" charset="0"/>
                  </a:rPr>
                </a:br>
                <a:r>
                  <a:rPr lang="en-US" sz="2400" i="1" kern="100" dirty="0">
                    <a:latin typeface="Century Gothic" panose="020B0502020202020204" pitchFamily="34" charset="0"/>
                    <a:ea typeface="Calibri" panose="020F0502020204030204" pitchFamily="34" charset="0"/>
                    <a:cs typeface="Times New Roman" panose="02020603050405020304" pitchFamily="18" charset="0"/>
                  </a:rPr>
                  <a:t>C </a:t>
                </a:r>
                <a14:m>
                  <m:oMath xmlns:m="http://schemas.openxmlformats.org/officeDocument/2006/math">
                    <m:r>
                      <a:rPr lang="en-US" sz="2400" i="1" kern="100" smtClean="0">
                        <a:latin typeface="Cambria Math" panose="02040503050406030204" pitchFamily="18" charset="0"/>
                        <a:ea typeface="Cambria Math" panose="02040503050406030204" pitchFamily="18" charset="0"/>
                        <a:cs typeface="Times New Roman" panose="02020603050405020304" pitchFamily="18" charset="0"/>
                      </a:rPr>
                      <m:t>≥</m:t>
                    </m:r>
                  </m:oMath>
                </a14:m>
                <a:r>
                  <a:rPr lang="en-US" sz="2400" i="1" kern="100" dirty="0">
                    <a:latin typeface="Century Gothic" panose="020B0502020202020204" pitchFamily="34" charset="0"/>
                    <a:ea typeface="Calibri" panose="020F0502020204030204" pitchFamily="34" charset="0"/>
                    <a:cs typeface="Times New Roman" panose="02020603050405020304" pitchFamily="18" charset="0"/>
                  </a:rPr>
                  <a:t> </a:t>
                </a:r>
                <a14:m>
                  <m:oMath xmlns:m="http://schemas.openxmlformats.org/officeDocument/2006/math">
                    <m:f>
                      <m:fPr>
                        <m:ctrlPr>
                          <a:rPr lang="en-US" sz="2400" i="1" kern="100" dirty="0" smtClean="0">
                            <a:latin typeface="Cambria Math" panose="02040503050406030204" pitchFamily="18" charset="0"/>
                            <a:ea typeface="Calibri" panose="020F0502020204030204" pitchFamily="34" charset="0"/>
                            <a:cs typeface="Times New Roman" panose="02020603050405020304" pitchFamily="18" charset="0"/>
                          </a:rPr>
                        </m:ctrlPr>
                      </m:fPr>
                      <m:num>
                        <m:r>
                          <a:rPr lang="en-US" sz="2400" b="0" i="1" kern="100" dirty="0" smtClean="0">
                            <a:latin typeface="Cambria Math" panose="02040503050406030204" pitchFamily="18" charset="0"/>
                            <a:ea typeface="Calibri" panose="020F0502020204030204" pitchFamily="34" charset="0"/>
                            <a:cs typeface="Times New Roman" panose="02020603050405020304" pitchFamily="18" charset="0"/>
                          </a:rPr>
                          <m:t>𝐷</m:t>
                        </m:r>
                      </m:num>
                      <m:den>
                        <m:r>
                          <a:rPr lang="en-US" sz="2400" b="0" i="1" kern="100" dirty="0" smtClean="0">
                            <a:latin typeface="Cambria Math" panose="02040503050406030204" pitchFamily="18" charset="0"/>
                            <a:ea typeface="Calibri" panose="020F0502020204030204" pitchFamily="34" charset="0"/>
                            <a:cs typeface="Times New Roman" panose="02020603050405020304" pitchFamily="18" charset="0"/>
                          </a:rPr>
                          <m:t>𝑅</m:t>
                        </m:r>
                        <m:d>
                          <m:dPr>
                            <m:ctrlPr>
                              <a:rPr lang="en-US" sz="2400" b="0" i="1" kern="100" dirty="0" smtClean="0">
                                <a:latin typeface="Cambria Math" panose="02040503050406030204" pitchFamily="18" charset="0"/>
                                <a:ea typeface="Calibri" panose="020F0502020204030204" pitchFamily="34" charset="0"/>
                                <a:cs typeface="Times New Roman" panose="02020603050405020304" pitchFamily="18" charset="0"/>
                              </a:rPr>
                            </m:ctrlPr>
                          </m:dPr>
                          <m:e>
                            <m:f>
                              <m:fPr>
                                <m:type m:val="lin"/>
                                <m:ctrlPr>
                                  <a:rPr lang="en-US" sz="2400" b="0" i="1" kern="100" dirty="0" smtClean="0">
                                    <a:latin typeface="Cambria Math" panose="02040503050406030204" pitchFamily="18" charset="0"/>
                                    <a:ea typeface="Calibri" panose="020F0502020204030204" pitchFamily="34" charset="0"/>
                                    <a:cs typeface="Times New Roman" panose="02020603050405020304" pitchFamily="18" charset="0"/>
                                  </a:rPr>
                                </m:ctrlPr>
                              </m:fPr>
                              <m:num>
                                <m:sSub>
                                  <m:sSubPr>
                                    <m:ctrlPr>
                                      <a:rPr lang="en-US" sz="2400" b="0" i="1" kern="100" dirty="0" smtClean="0">
                                        <a:latin typeface="Cambria Math" panose="02040503050406030204" pitchFamily="18" charset="0"/>
                                        <a:ea typeface="Calibri" panose="020F0502020204030204" pitchFamily="34" charset="0"/>
                                        <a:cs typeface="Times New Roman" panose="02020603050405020304" pitchFamily="18" charset="0"/>
                                      </a:rPr>
                                    </m:ctrlPr>
                                  </m:sSubPr>
                                  <m:e>
                                    <m:r>
                                      <a:rPr lang="en-US" sz="2400" b="0" i="1" kern="100" dirty="0" smtClean="0">
                                        <a:latin typeface="Cambria Math" panose="02040503050406030204" pitchFamily="18" charset="0"/>
                                        <a:ea typeface="Calibri" panose="020F0502020204030204" pitchFamily="34" charset="0"/>
                                        <a:cs typeface="Times New Roman" panose="02020603050405020304" pitchFamily="18" charset="0"/>
                                      </a:rPr>
                                      <m:t>𝑉</m:t>
                                    </m:r>
                                  </m:e>
                                  <m:sub>
                                    <m:r>
                                      <a:rPr lang="en-US" sz="2400" b="0" i="1" kern="100" dirty="0" smtClean="0">
                                        <a:latin typeface="Cambria Math" panose="02040503050406030204" pitchFamily="18" charset="0"/>
                                        <a:ea typeface="Calibri" panose="020F0502020204030204" pitchFamily="34" charset="0"/>
                                        <a:cs typeface="Times New Roman" panose="02020603050405020304" pitchFamily="18" charset="0"/>
                                      </a:rPr>
                                      <m:t>𝑜</m:t>
                                    </m:r>
                                  </m:sub>
                                </m:sSub>
                              </m:num>
                              <m:den>
                                <m:sSub>
                                  <m:sSubPr>
                                    <m:ctrlPr>
                                      <a:rPr lang="en-US" sz="2400" b="0" i="1" kern="100" dirty="0" smtClean="0">
                                        <a:latin typeface="Cambria Math" panose="02040503050406030204" pitchFamily="18" charset="0"/>
                                        <a:ea typeface="Calibri" panose="020F0502020204030204" pitchFamily="34" charset="0"/>
                                        <a:cs typeface="Times New Roman" panose="02020603050405020304" pitchFamily="18" charset="0"/>
                                      </a:rPr>
                                    </m:ctrlPr>
                                  </m:sSubPr>
                                  <m:e>
                                    <m:r>
                                      <a:rPr lang="en-US" sz="2400" b="0" i="1" kern="100" dirty="0" smtClean="0">
                                        <a:latin typeface="Cambria Math" panose="02040503050406030204" pitchFamily="18" charset="0"/>
                                        <a:ea typeface="Calibri" panose="020F0502020204030204" pitchFamily="34" charset="0"/>
                                        <a:cs typeface="Times New Roman" panose="02020603050405020304" pitchFamily="18" charset="0"/>
                                      </a:rPr>
                                      <m:t>𝑉</m:t>
                                    </m:r>
                                  </m:e>
                                  <m:sub>
                                    <m:r>
                                      <a:rPr lang="en-US" sz="2400" b="0" i="1" kern="100" dirty="0" smtClean="0">
                                        <a:latin typeface="Cambria Math" panose="02040503050406030204" pitchFamily="18" charset="0"/>
                                        <a:ea typeface="Calibri" panose="020F0502020204030204" pitchFamily="34" charset="0"/>
                                        <a:cs typeface="Times New Roman" panose="02020603050405020304" pitchFamily="18" charset="0"/>
                                      </a:rPr>
                                      <m:t>𝑜</m:t>
                                    </m:r>
                                  </m:sub>
                                </m:sSub>
                              </m:den>
                            </m:f>
                          </m:e>
                        </m:d>
                        <m:r>
                          <a:rPr lang="en-US" sz="2400" b="0" i="1" kern="100" dirty="0" smtClean="0">
                            <a:latin typeface="Cambria Math" panose="02040503050406030204" pitchFamily="18" charset="0"/>
                            <a:ea typeface="Calibri" panose="020F0502020204030204" pitchFamily="34" charset="0"/>
                            <a:cs typeface="Times New Roman" panose="02020603050405020304" pitchFamily="18" charset="0"/>
                          </a:rPr>
                          <m:t>𝑓</m:t>
                        </m:r>
                      </m:den>
                    </m:f>
                  </m:oMath>
                </a14:m>
                <a:r>
                  <a:rPr lang="en-US" sz="2400" i="1" kern="100" dirty="0">
                    <a:latin typeface="Century Gothic" panose="020B0502020202020204" pitchFamily="34" charset="0"/>
                    <a:ea typeface="Calibri" panose="020F0502020204030204" pitchFamily="34" charset="0"/>
                    <a:cs typeface="Times New Roman" panose="02020603050405020304" pitchFamily="18" charset="0"/>
                  </a:rPr>
                  <a:t> = </a:t>
                </a:r>
                <a14:m>
                  <m:oMath xmlns:m="http://schemas.openxmlformats.org/officeDocument/2006/math">
                    <m:f>
                      <m:fPr>
                        <m:ctrlPr>
                          <a:rPr lang="en-US" sz="2400" i="1" kern="100" smtClean="0">
                            <a:latin typeface="Cambria Math" panose="02040503050406030204" pitchFamily="18" charset="0"/>
                            <a:ea typeface="Calibri" panose="020F0502020204030204" pitchFamily="34" charset="0"/>
                            <a:cs typeface="Times New Roman" panose="02020603050405020304" pitchFamily="18" charset="0"/>
                          </a:rPr>
                        </m:ctrlPr>
                      </m:fPr>
                      <m:num>
                        <m:r>
                          <a:rPr lang="en-US" sz="2400" b="0" i="1" kern="100" smtClean="0">
                            <a:latin typeface="Cambria Math" panose="02040503050406030204" pitchFamily="18" charset="0"/>
                            <a:ea typeface="Calibri" panose="020F0502020204030204" pitchFamily="34" charset="0"/>
                            <a:cs typeface="Times New Roman" panose="02020603050405020304" pitchFamily="18" charset="0"/>
                          </a:rPr>
                          <m:t>0.6</m:t>
                        </m:r>
                      </m:num>
                      <m:den>
                        <m:d>
                          <m:dPr>
                            <m:ctrlPr>
                              <a:rPr lang="en-US" sz="2400" i="1" kern="100" smtClean="0">
                                <a:latin typeface="Cambria Math" panose="02040503050406030204" pitchFamily="18" charset="0"/>
                                <a:ea typeface="Calibri" panose="020F0502020204030204" pitchFamily="34" charset="0"/>
                                <a:cs typeface="Times New Roman" panose="02020603050405020304" pitchFamily="18" charset="0"/>
                              </a:rPr>
                            </m:ctrlPr>
                          </m:dPr>
                          <m:e>
                            <m:r>
                              <a:rPr lang="en-US" sz="2400" b="0" i="1" kern="100" smtClean="0">
                                <a:latin typeface="Cambria Math" panose="02040503050406030204" pitchFamily="18" charset="0"/>
                                <a:ea typeface="Calibri" panose="020F0502020204030204" pitchFamily="34" charset="0"/>
                                <a:cs typeface="Times New Roman" panose="02020603050405020304" pitchFamily="18" charset="0"/>
                              </a:rPr>
                              <m:t>50</m:t>
                            </m:r>
                          </m:e>
                        </m:d>
                        <m:d>
                          <m:dPr>
                            <m:ctrlPr>
                              <a:rPr lang="en-US" sz="2400" i="1" kern="100">
                                <a:latin typeface="Cambria Math" panose="02040503050406030204" pitchFamily="18" charset="0"/>
                                <a:ea typeface="Calibri" panose="020F0502020204030204" pitchFamily="34" charset="0"/>
                                <a:cs typeface="Times New Roman" panose="02020603050405020304" pitchFamily="18" charset="0"/>
                              </a:rPr>
                            </m:ctrlPr>
                          </m:dPr>
                          <m:e>
                            <m:r>
                              <a:rPr lang="en-US" sz="2400" b="0" i="1" kern="100" smtClean="0">
                                <a:latin typeface="Cambria Math" panose="02040503050406030204" pitchFamily="18" charset="0"/>
                                <a:ea typeface="Calibri" panose="020F0502020204030204" pitchFamily="34" charset="0"/>
                                <a:cs typeface="Times New Roman" panose="02020603050405020304" pitchFamily="18" charset="0"/>
                              </a:rPr>
                              <m:t>0.01</m:t>
                            </m:r>
                          </m:e>
                        </m:d>
                        <m:d>
                          <m:dPr>
                            <m:ctrlPr>
                              <a:rPr lang="en-US" sz="2400" i="1" kern="100">
                                <a:latin typeface="Cambria Math" panose="02040503050406030204" pitchFamily="18" charset="0"/>
                                <a:ea typeface="Calibri" panose="020F0502020204030204" pitchFamily="34" charset="0"/>
                                <a:cs typeface="Times New Roman" panose="02020603050405020304" pitchFamily="18" charset="0"/>
                              </a:rPr>
                            </m:ctrlPr>
                          </m:dPr>
                          <m:e>
                            <m:r>
                              <a:rPr lang="en-US" sz="2400" b="0" i="1" kern="100" smtClean="0">
                                <a:latin typeface="Cambria Math" panose="02040503050406030204" pitchFamily="18" charset="0"/>
                                <a:ea typeface="Calibri" panose="020F0502020204030204" pitchFamily="34" charset="0"/>
                                <a:cs typeface="Times New Roman" panose="02020603050405020304" pitchFamily="18" charset="0"/>
                              </a:rPr>
                              <m:t>25</m:t>
                            </m:r>
                            <m:r>
                              <a:rPr lang="en-US" sz="2400" i="1" kern="100">
                                <a:latin typeface="Cambria Math" panose="02040503050406030204" pitchFamily="18" charset="0"/>
                                <a:ea typeface="Calibri" panose="020F0502020204030204" pitchFamily="34" charset="0"/>
                                <a:cs typeface="Times New Roman" panose="02020603050405020304" pitchFamily="18" charset="0"/>
                              </a:rPr>
                              <m:t>0</m:t>
                            </m:r>
                            <m:r>
                              <a:rPr lang="en-US" sz="2400" b="0" i="1" kern="100" smtClean="0">
                                <a:latin typeface="Cambria Math" panose="02040503050406030204" pitchFamily="18" charset="0"/>
                                <a:ea typeface="Calibri" panose="020F0502020204030204" pitchFamily="34" charset="0"/>
                                <a:cs typeface="Times New Roman" panose="02020603050405020304" pitchFamily="18" charset="0"/>
                              </a:rPr>
                              <m:t>00</m:t>
                            </m:r>
                          </m:e>
                        </m:d>
                        <m:r>
                          <a:rPr lang="en-US" sz="2400" b="0" i="1" kern="100" smtClean="0">
                            <a:latin typeface="Cambria Math" panose="02040503050406030204" pitchFamily="18" charset="0"/>
                            <a:ea typeface="Calibri" panose="020F0502020204030204" pitchFamily="34" charset="0"/>
                            <a:cs typeface="Times New Roman" panose="02020603050405020304" pitchFamily="18" charset="0"/>
                          </a:rPr>
                          <m:t> </m:t>
                        </m:r>
                      </m:den>
                    </m:f>
                  </m:oMath>
                </a14:m>
                <a:r>
                  <a:rPr lang="en-US" sz="2400" i="1" kern="100" dirty="0">
                    <a:latin typeface="Century Gothic" panose="020B0502020202020204" pitchFamily="34" charset="0"/>
                    <a:ea typeface="Calibri" panose="020F0502020204030204" pitchFamily="34" charset="0"/>
                    <a:cs typeface="Times New Roman" panose="02020603050405020304" pitchFamily="18" charset="0"/>
                  </a:rPr>
                  <a:t> = 48</a:t>
                </a:r>
                <a14:m>
                  <m:oMath xmlns:m="http://schemas.openxmlformats.org/officeDocument/2006/math">
                    <m:r>
                      <a:rPr lang="en-US" sz="2400" i="1" kern="100" smtClean="0">
                        <a:latin typeface="Cambria Math" panose="02040503050406030204" pitchFamily="18" charset="0"/>
                        <a:ea typeface="Cambria Math" panose="02040503050406030204" pitchFamily="18" charset="0"/>
                        <a:cs typeface="Times New Roman" panose="02020603050405020304" pitchFamily="18" charset="0"/>
                      </a:rPr>
                      <m:t>𝜇</m:t>
                    </m:r>
                    <m:r>
                      <a:rPr lang="en-US" sz="2400" b="0" i="1" kern="100" smtClean="0">
                        <a:latin typeface="Cambria Math" panose="02040503050406030204" pitchFamily="18" charset="0"/>
                        <a:ea typeface="Cambria Math" panose="02040503050406030204" pitchFamily="18" charset="0"/>
                        <a:cs typeface="Times New Roman" panose="02020603050405020304" pitchFamily="18" charset="0"/>
                      </a:rPr>
                      <m:t>𝐹</m:t>
                    </m:r>
                  </m:oMath>
                </a14:m>
                <a:endParaRPr lang="en-US" sz="2400" i="1" kern="100" dirty="0">
                  <a:latin typeface="Century Gothic" panose="020B0502020202020204" pitchFamily="34" charset="0"/>
                  <a:ea typeface="Calibri" panose="020F0502020204030204" pitchFamily="34" charset="0"/>
                  <a:cs typeface="Times New Roman" panose="02020603050405020304" pitchFamily="18" charset="0"/>
                </a:endParaRPr>
              </a:p>
            </p:txBody>
          </p:sp>
        </mc:Choice>
        <mc:Fallback xmlns="">
          <p:sp>
            <p:nvSpPr>
              <p:cNvPr id="6" name="TextBox 5">
                <a:extLst>
                  <a:ext uri="{FF2B5EF4-FFF2-40B4-BE49-F238E27FC236}">
                    <a16:creationId xmlns:a16="http://schemas.microsoft.com/office/drawing/2014/main" id="{6BAA1F11-5BEF-4D80-964F-A7332E36BFA0}"/>
                  </a:ext>
                </a:extLst>
              </p:cNvPr>
              <p:cNvSpPr txBox="1">
                <a:spLocks noRot="1" noChangeAspect="1" noMove="1" noResize="1" noEditPoints="1" noAdjustHandles="1" noChangeArrowheads="1" noChangeShapeType="1" noTextEdit="1"/>
              </p:cNvSpPr>
              <p:nvPr/>
            </p:nvSpPr>
            <p:spPr>
              <a:xfrm>
                <a:off x="828675" y="999884"/>
                <a:ext cx="10315575" cy="5506700"/>
              </a:xfrm>
              <a:prstGeom prst="rect">
                <a:avLst/>
              </a:prstGeom>
              <a:blipFill>
                <a:blip r:embed="rId2"/>
                <a:stretch>
                  <a:fillRect l="-767" t="-773"/>
                </a:stretch>
              </a:blipFill>
              <a:ln>
                <a:solidFill>
                  <a:srgbClr val="FF0066"/>
                </a:solidFill>
              </a:ln>
            </p:spPr>
            <p:txBody>
              <a:bodyPr/>
              <a:lstStyle/>
              <a:p>
                <a:r>
                  <a:rPr lang="en-US">
                    <a:noFill/>
                  </a:rPr>
                  <a:t> </a:t>
                </a:r>
              </a:p>
            </p:txBody>
          </p:sp>
        </mc:Fallback>
      </mc:AlternateContent>
      <p:sp>
        <p:nvSpPr>
          <p:cNvPr id="2" name="TextBox 1">
            <a:extLst>
              <a:ext uri="{FF2B5EF4-FFF2-40B4-BE49-F238E27FC236}">
                <a16:creationId xmlns:a16="http://schemas.microsoft.com/office/drawing/2014/main" id="{1BD8016C-B677-4BEB-86C7-5F4D5DE2B249}"/>
              </a:ext>
            </a:extLst>
          </p:cNvPr>
          <p:cNvSpPr txBox="1"/>
          <p:nvPr/>
        </p:nvSpPr>
        <p:spPr>
          <a:xfrm>
            <a:off x="5637178" y="3570051"/>
            <a:ext cx="65" cy="276999"/>
          </a:xfrm>
          <a:prstGeom prst="rect">
            <a:avLst/>
          </a:prstGeom>
          <a:noFill/>
        </p:spPr>
        <p:txBody>
          <a:bodyPr wrap="none" lIns="0" tIns="0" rIns="0" bIns="0" rtlCol="0">
            <a:spAutoFit/>
          </a:bodyPr>
          <a:lstStyle/>
          <a:p>
            <a:endParaRPr lang="en-US" dirty="0"/>
          </a:p>
        </p:txBody>
      </p:sp>
    </p:spTree>
    <p:extLst>
      <p:ext uri="{BB962C8B-B14F-4D97-AF65-F5344CB8AC3E}">
        <p14:creationId xmlns:p14="http://schemas.microsoft.com/office/powerpoint/2010/main" val="398724045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6">
            <a:extLst>
              <a:ext uri="{FF2B5EF4-FFF2-40B4-BE49-F238E27FC236}">
                <a16:creationId xmlns:a16="http://schemas.microsoft.com/office/drawing/2014/main" id="{56080804-F19F-41A7-8595-943961648C5E}"/>
              </a:ext>
            </a:extLst>
          </p:cNvPr>
          <p:cNvSpPr>
            <a:spLocks noGrp="1"/>
          </p:cNvSpPr>
          <p:nvPr>
            <p:ph type="sldNum" sz="quarter" idx="12"/>
          </p:nvPr>
        </p:nvSpPr>
        <p:spPr>
          <a:xfrm>
            <a:off x="8610600" y="6441692"/>
            <a:ext cx="2743200" cy="370027"/>
          </a:xfrm>
        </p:spPr>
        <p:txBody>
          <a:bodyPr/>
          <a:lstStyle/>
          <a:p>
            <a:fld id="{F4801FD5-11B4-DE43-ACA2-E85EEB9A6F9C}" type="slidenum">
              <a:rPr lang="en-US" smtClean="0">
                <a:latin typeface="Garamond" panose="02020404030301010803" pitchFamily="18" charset="0"/>
              </a:rPr>
              <a:t>11</a:t>
            </a:fld>
            <a:endParaRPr lang="en-US">
              <a:latin typeface="Garamond" panose="02020404030301010803" pitchFamily="18" charset="0"/>
            </a:endParaRPr>
          </a:p>
        </p:txBody>
      </p:sp>
      <p:sp>
        <p:nvSpPr>
          <p:cNvPr id="5" name="Title 1">
            <a:extLst>
              <a:ext uri="{FF2B5EF4-FFF2-40B4-BE49-F238E27FC236}">
                <a16:creationId xmlns:a16="http://schemas.microsoft.com/office/drawing/2014/main" id="{4710AE4B-0DB8-4451-B9E4-10BAE11B4D3A}"/>
              </a:ext>
            </a:extLst>
          </p:cNvPr>
          <p:cNvSpPr>
            <a:spLocks noGrp="1"/>
          </p:cNvSpPr>
          <p:nvPr>
            <p:ph type="title"/>
          </p:nvPr>
        </p:nvSpPr>
        <p:spPr>
          <a:xfrm>
            <a:off x="3157348" y="-40404"/>
            <a:ext cx="6026397" cy="558382"/>
          </a:xfrm>
        </p:spPr>
        <p:txBody>
          <a:bodyPr>
            <a:noAutofit/>
          </a:bodyPr>
          <a:lstStyle/>
          <a:p>
            <a:pPr algn="ctr"/>
            <a:r>
              <a:rPr lang="en-US" sz="3200" b="1" u="sng" dirty="0">
                <a:solidFill>
                  <a:srgbClr val="FF3386"/>
                </a:solidFill>
                <a:latin typeface="Century Gothic" panose="020B0502020202020204" pitchFamily="34" charset="0"/>
                <a:cs typeface="Helvetica"/>
              </a:rPr>
              <a:t>BUCK-BOOST CONVERTER</a:t>
            </a:r>
          </a:p>
        </p:txBody>
      </p:sp>
      <p:sp>
        <p:nvSpPr>
          <p:cNvPr id="6" name="TextBox 5">
            <a:extLst>
              <a:ext uri="{FF2B5EF4-FFF2-40B4-BE49-F238E27FC236}">
                <a16:creationId xmlns:a16="http://schemas.microsoft.com/office/drawing/2014/main" id="{6BAA1F11-5BEF-4D80-964F-A7332E36BFA0}"/>
              </a:ext>
            </a:extLst>
          </p:cNvPr>
          <p:cNvSpPr txBox="1"/>
          <p:nvPr/>
        </p:nvSpPr>
        <p:spPr>
          <a:xfrm>
            <a:off x="828675" y="999884"/>
            <a:ext cx="10315575" cy="5632311"/>
          </a:xfrm>
          <a:prstGeom prst="rect">
            <a:avLst/>
          </a:prstGeom>
          <a:noFill/>
          <a:ln>
            <a:solidFill>
              <a:srgbClr val="FF0066"/>
            </a:solidFill>
          </a:ln>
        </p:spPr>
        <p:txBody>
          <a:bodyPr wrap="square" rtlCol="0">
            <a:spAutoFit/>
          </a:bodyPr>
          <a:lstStyle/>
          <a:p>
            <a:pPr marL="342900" indent="-342900">
              <a:buClr>
                <a:schemeClr val="accent2"/>
              </a:buClr>
              <a:buFont typeface="Arial" panose="020B0604020202020204" pitchFamily="34" charset="0"/>
              <a:buChar char="•"/>
            </a:pPr>
            <a:endParaRPr lang="en-US" sz="2400" i="1" kern="100" dirty="0">
              <a:latin typeface="Century Gothic" panose="020B0502020202020204" pitchFamily="34" charset="0"/>
              <a:ea typeface="Calibri" panose="020F0502020204030204" pitchFamily="34" charset="0"/>
              <a:cs typeface="Times New Roman" panose="02020603050405020304" pitchFamily="18" charset="0"/>
            </a:endParaRPr>
          </a:p>
          <a:p>
            <a:pPr marL="342900" indent="-342900">
              <a:buClr>
                <a:schemeClr val="accent2"/>
              </a:buClr>
              <a:buFont typeface="Arial" panose="020B0604020202020204" pitchFamily="34" charset="0"/>
              <a:buChar char="•"/>
            </a:pPr>
            <a:endParaRPr lang="en-US" sz="2400" i="1" kern="100" dirty="0">
              <a:latin typeface="Century Gothic" panose="020B0502020202020204" pitchFamily="34" charset="0"/>
              <a:ea typeface="Calibri" panose="020F0502020204030204" pitchFamily="34" charset="0"/>
              <a:cs typeface="Times New Roman" panose="02020603050405020304" pitchFamily="18" charset="0"/>
            </a:endParaRPr>
          </a:p>
          <a:p>
            <a:pPr marL="342900" indent="-342900">
              <a:buClr>
                <a:schemeClr val="accent2"/>
              </a:buClr>
              <a:buFont typeface="Arial" panose="020B0604020202020204" pitchFamily="34" charset="0"/>
              <a:buChar char="•"/>
            </a:pPr>
            <a:endParaRPr lang="en-US" sz="2400" i="1" kern="100" dirty="0">
              <a:latin typeface="Century Gothic" panose="020B0502020202020204" pitchFamily="34" charset="0"/>
              <a:ea typeface="Calibri" panose="020F0502020204030204" pitchFamily="34" charset="0"/>
              <a:cs typeface="Times New Roman" panose="02020603050405020304" pitchFamily="18" charset="0"/>
            </a:endParaRPr>
          </a:p>
          <a:p>
            <a:pPr marL="342900" indent="-342900">
              <a:buClr>
                <a:schemeClr val="accent2"/>
              </a:buClr>
              <a:buFont typeface="Arial" panose="020B0604020202020204" pitchFamily="34" charset="0"/>
              <a:buChar char="•"/>
            </a:pPr>
            <a:endParaRPr lang="en-US" sz="2400" i="1" kern="100" dirty="0">
              <a:latin typeface="Century Gothic" panose="020B0502020202020204" pitchFamily="34" charset="0"/>
              <a:ea typeface="Calibri" panose="020F0502020204030204" pitchFamily="34" charset="0"/>
              <a:cs typeface="Times New Roman" panose="02020603050405020304" pitchFamily="18" charset="0"/>
            </a:endParaRPr>
          </a:p>
          <a:p>
            <a:pPr marL="342900" indent="-342900">
              <a:buClr>
                <a:schemeClr val="accent2"/>
              </a:buClr>
              <a:buFont typeface="Arial" panose="020B0604020202020204" pitchFamily="34" charset="0"/>
              <a:buChar char="•"/>
            </a:pPr>
            <a:endParaRPr lang="en-US" sz="2400" i="1" kern="100" dirty="0">
              <a:latin typeface="Century Gothic" panose="020B0502020202020204" pitchFamily="34" charset="0"/>
              <a:ea typeface="Calibri" panose="020F0502020204030204" pitchFamily="34" charset="0"/>
              <a:cs typeface="Times New Roman" panose="02020603050405020304" pitchFamily="18" charset="0"/>
            </a:endParaRPr>
          </a:p>
          <a:p>
            <a:pPr>
              <a:buClr>
                <a:schemeClr val="accent2"/>
              </a:buClr>
            </a:pPr>
            <a:endParaRPr lang="en-US" sz="2400" i="1" kern="100" dirty="0">
              <a:latin typeface="Century Gothic" panose="020B0502020202020204" pitchFamily="34" charset="0"/>
              <a:ea typeface="Calibri" panose="020F0502020204030204" pitchFamily="34" charset="0"/>
              <a:cs typeface="Times New Roman" panose="02020603050405020304" pitchFamily="18" charset="0"/>
            </a:endParaRPr>
          </a:p>
          <a:p>
            <a:pPr>
              <a:buClr>
                <a:schemeClr val="accent2"/>
              </a:buClr>
            </a:pPr>
            <a:r>
              <a:rPr lang="en-US" sz="2400" b="1" kern="100" dirty="0">
                <a:latin typeface="Century Gothic" panose="020B0502020202020204" pitchFamily="34" charset="0"/>
                <a:ea typeface="Calibri" panose="020F0502020204030204" pitchFamily="34" charset="0"/>
                <a:cs typeface="Times New Roman" panose="02020603050405020304" pitchFamily="18" charset="0"/>
              </a:rPr>
              <a:t>Assumptions:</a:t>
            </a:r>
          </a:p>
          <a:p>
            <a:pPr marL="342900" indent="-342900">
              <a:buClr>
                <a:schemeClr val="accent2"/>
              </a:buClr>
              <a:buFont typeface="Arial" panose="020B0604020202020204" pitchFamily="34" charset="0"/>
              <a:buChar char="•"/>
            </a:pPr>
            <a:r>
              <a:rPr lang="en-US" sz="2400" b="1" kern="100" dirty="0">
                <a:latin typeface="Century Gothic" panose="020B0502020202020204" pitchFamily="34" charset="0"/>
                <a:ea typeface="Calibri" panose="020F0502020204030204" pitchFamily="34" charset="0"/>
                <a:cs typeface="Times New Roman" panose="02020603050405020304" pitchFamily="18" charset="0"/>
              </a:rPr>
              <a:t>Circuit is operating in the steady-state condition</a:t>
            </a:r>
            <a:br>
              <a:rPr lang="en-US" sz="2400" b="1" kern="100" dirty="0">
                <a:latin typeface="Century Gothic" panose="020B0502020202020204" pitchFamily="34" charset="0"/>
                <a:ea typeface="Calibri" panose="020F0502020204030204" pitchFamily="34" charset="0"/>
                <a:cs typeface="Times New Roman" panose="02020603050405020304" pitchFamily="18" charset="0"/>
              </a:rPr>
            </a:br>
            <a:endParaRPr lang="en-US" sz="2400" b="1" kern="100" dirty="0">
              <a:latin typeface="Century Gothic" panose="020B0502020202020204" pitchFamily="34" charset="0"/>
              <a:ea typeface="Calibri" panose="020F0502020204030204" pitchFamily="34" charset="0"/>
              <a:cs typeface="Times New Roman" panose="02020603050405020304" pitchFamily="18" charset="0"/>
            </a:endParaRPr>
          </a:p>
          <a:p>
            <a:pPr marL="342900" indent="-342900">
              <a:buClr>
                <a:schemeClr val="accent2"/>
              </a:buClr>
              <a:buFont typeface="Arial" panose="020B0604020202020204" pitchFamily="34" charset="0"/>
              <a:buChar char="•"/>
            </a:pPr>
            <a:r>
              <a:rPr lang="en-US" sz="2400" b="1" kern="100" dirty="0">
                <a:latin typeface="Century Gothic" panose="020B0502020202020204" pitchFamily="34" charset="0"/>
                <a:ea typeface="Calibri" panose="020F0502020204030204" pitchFamily="34" charset="0"/>
                <a:cs typeface="Times New Roman" panose="02020603050405020304" pitchFamily="18" charset="0"/>
              </a:rPr>
              <a:t>The inductor current is continuous</a:t>
            </a:r>
            <a:br>
              <a:rPr lang="en-US" sz="2400" b="1" kern="100" dirty="0">
                <a:latin typeface="Century Gothic" panose="020B0502020202020204" pitchFamily="34" charset="0"/>
                <a:ea typeface="Calibri" panose="020F0502020204030204" pitchFamily="34" charset="0"/>
                <a:cs typeface="Times New Roman" panose="02020603050405020304" pitchFamily="18" charset="0"/>
              </a:rPr>
            </a:br>
            <a:endParaRPr lang="en-US" sz="2400" b="1" kern="100" dirty="0">
              <a:latin typeface="Century Gothic" panose="020B0502020202020204" pitchFamily="34" charset="0"/>
              <a:ea typeface="Calibri" panose="020F0502020204030204" pitchFamily="34" charset="0"/>
              <a:cs typeface="Times New Roman" panose="02020603050405020304" pitchFamily="18" charset="0"/>
            </a:endParaRPr>
          </a:p>
          <a:p>
            <a:pPr marL="342900" indent="-342900">
              <a:buClr>
                <a:schemeClr val="accent2"/>
              </a:buClr>
              <a:buFont typeface="Arial" panose="020B0604020202020204" pitchFamily="34" charset="0"/>
              <a:buChar char="•"/>
            </a:pPr>
            <a:r>
              <a:rPr lang="en-US" sz="2400" b="1" kern="100" dirty="0">
                <a:latin typeface="Century Gothic" panose="020B0502020202020204" pitchFamily="34" charset="0"/>
                <a:ea typeface="Calibri" panose="020F0502020204030204" pitchFamily="34" charset="0"/>
                <a:cs typeface="Times New Roman" panose="02020603050405020304" pitchFamily="18" charset="0"/>
              </a:rPr>
              <a:t>The capacitor is large enough to assume a constant output voltage.</a:t>
            </a:r>
            <a:br>
              <a:rPr lang="en-US" sz="2400" b="1" kern="100" dirty="0">
                <a:latin typeface="Century Gothic" panose="020B0502020202020204" pitchFamily="34" charset="0"/>
                <a:ea typeface="Calibri" panose="020F0502020204030204" pitchFamily="34" charset="0"/>
                <a:cs typeface="Times New Roman" panose="02020603050405020304" pitchFamily="18" charset="0"/>
              </a:rPr>
            </a:br>
            <a:endParaRPr lang="en-US" sz="2400" b="1" kern="100" dirty="0">
              <a:latin typeface="Century Gothic" panose="020B0502020202020204" pitchFamily="34" charset="0"/>
              <a:ea typeface="Calibri" panose="020F0502020204030204" pitchFamily="34" charset="0"/>
              <a:cs typeface="Times New Roman" panose="02020603050405020304" pitchFamily="18" charset="0"/>
            </a:endParaRPr>
          </a:p>
          <a:p>
            <a:pPr marL="342900" indent="-342900">
              <a:buClr>
                <a:schemeClr val="accent2"/>
              </a:buClr>
              <a:buFont typeface="Arial" panose="020B0604020202020204" pitchFamily="34" charset="0"/>
              <a:buChar char="•"/>
            </a:pPr>
            <a:r>
              <a:rPr lang="en-US" sz="2400" b="1" kern="100" dirty="0">
                <a:latin typeface="Century Gothic" panose="020B0502020202020204" pitchFamily="34" charset="0"/>
                <a:ea typeface="Calibri" panose="020F0502020204030204" pitchFamily="34" charset="0"/>
                <a:cs typeface="Times New Roman" panose="02020603050405020304" pitchFamily="18" charset="0"/>
              </a:rPr>
              <a:t>The switch is closed for time DT and open for (1-D)T</a:t>
            </a:r>
          </a:p>
        </p:txBody>
      </p:sp>
      <p:sp>
        <p:nvSpPr>
          <p:cNvPr id="2" name="TextBox 1">
            <a:extLst>
              <a:ext uri="{FF2B5EF4-FFF2-40B4-BE49-F238E27FC236}">
                <a16:creationId xmlns:a16="http://schemas.microsoft.com/office/drawing/2014/main" id="{1BD8016C-B677-4BEB-86C7-5F4D5DE2B249}"/>
              </a:ext>
            </a:extLst>
          </p:cNvPr>
          <p:cNvSpPr txBox="1"/>
          <p:nvPr/>
        </p:nvSpPr>
        <p:spPr>
          <a:xfrm>
            <a:off x="5637178" y="3570051"/>
            <a:ext cx="65" cy="276999"/>
          </a:xfrm>
          <a:prstGeom prst="rect">
            <a:avLst/>
          </a:prstGeom>
          <a:noFill/>
        </p:spPr>
        <p:txBody>
          <a:bodyPr wrap="none" lIns="0" tIns="0" rIns="0" bIns="0" rtlCol="0">
            <a:spAutoFit/>
          </a:bodyPr>
          <a:lstStyle/>
          <a:p>
            <a:endParaRPr lang="en-US" dirty="0"/>
          </a:p>
        </p:txBody>
      </p:sp>
      <p:pic>
        <p:nvPicPr>
          <p:cNvPr id="7" name="Picture 6">
            <a:extLst>
              <a:ext uri="{FF2B5EF4-FFF2-40B4-BE49-F238E27FC236}">
                <a16:creationId xmlns:a16="http://schemas.microsoft.com/office/drawing/2014/main" id="{674D2D00-D94F-496C-8529-6F07ED86287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04184" y="1137920"/>
            <a:ext cx="4054191" cy="1807985"/>
          </a:xfrm>
          <a:prstGeom prst="rect">
            <a:avLst/>
          </a:prstGeom>
        </p:spPr>
      </p:pic>
    </p:spTree>
    <p:extLst>
      <p:ext uri="{BB962C8B-B14F-4D97-AF65-F5344CB8AC3E}">
        <p14:creationId xmlns:p14="http://schemas.microsoft.com/office/powerpoint/2010/main" val="388760228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6">
            <a:extLst>
              <a:ext uri="{FF2B5EF4-FFF2-40B4-BE49-F238E27FC236}">
                <a16:creationId xmlns:a16="http://schemas.microsoft.com/office/drawing/2014/main" id="{56080804-F19F-41A7-8595-943961648C5E}"/>
              </a:ext>
            </a:extLst>
          </p:cNvPr>
          <p:cNvSpPr>
            <a:spLocks noGrp="1"/>
          </p:cNvSpPr>
          <p:nvPr>
            <p:ph type="sldNum" sz="quarter" idx="12"/>
          </p:nvPr>
        </p:nvSpPr>
        <p:spPr>
          <a:xfrm>
            <a:off x="8610600" y="6441692"/>
            <a:ext cx="2743200" cy="370027"/>
          </a:xfrm>
        </p:spPr>
        <p:txBody>
          <a:bodyPr/>
          <a:lstStyle/>
          <a:p>
            <a:fld id="{F4801FD5-11B4-DE43-ACA2-E85EEB9A6F9C}" type="slidenum">
              <a:rPr lang="en-US" smtClean="0">
                <a:latin typeface="Garamond" panose="02020404030301010803" pitchFamily="18" charset="0"/>
              </a:rPr>
              <a:t>12</a:t>
            </a:fld>
            <a:endParaRPr lang="en-US">
              <a:latin typeface="Garamond" panose="02020404030301010803" pitchFamily="18" charset="0"/>
            </a:endParaRPr>
          </a:p>
        </p:txBody>
      </p:sp>
      <p:sp>
        <p:nvSpPr>
          <p:cNvPr id="5" name="Title 1">
            <a:extLst>
              <a:ext uri="{FF2B5EF4-FFF2-40B4-BE49-F238E27FC236}">
                <a16:creationId xmlns:a16="http://schemas.microsoft.com/office/drawing/2014/main" id="{4710AE4B-0DB8-4451-B9E4-10BAE11B4D3A}"/>
              </a:ext>
            </a:extLst>
          </p:cNvPr>
          <p:cNvSpPr>
            <a:spLocks noGrp="1"/>
          </p:cNvSpPr>
          <p:nvPr>
            <p:ph type="title"/>
          </p:nvPr>
        </p:nvSpPr>
        <p:spPr>
          <a:xfrm>
            <a:off x="3157348" y="-40404"/>
            <a:ext cx="6026397" cy="558382"/>
          </a:xfrm>
        </p:spPr>
        <p:txBody>
          <a:bodyPr>
            <a:noAutofit/>
          </a:bodyPr>
          <a:lstStyle/>
          <a:p>
            <a:pPr algn="ctr"/>
            <a:r>
              <a:rPr lang="en-US" sz="3200" b="1" u="sng" dirty="0">
                <a:solidFill>
                  <a:srgbClr val="FF3386"/>
                </a:solidFill>
                <a:latin typeface="Century Gothic" panose="020B0502020202020204" pitchFamily="34" charset="0"/>
                <a:cs typeface="Helvetica"/>
              </a:rPr>
              <a:t>BUCK-BOOST CONVERTER</a:t>
            </a:r>
          </a:p>
        </p:txBody>
      </p:sp>
      <p:sp>
        <p:nvSpPr>
          <p:cNvPr id="6" name="TextBox 5">
            <a:extLst>
              <a:ext uri="{FF2B5EF4-FFF2-40B4-BE49-F238E27FC236}">
                <a16:creationId xmlns:a16="http://schemas.microsoft.com/office/drawing/2014/main" id="{6BAA1F11-5BEF-4D80-964F-A7332E36BFA0}"/>
              </a:ext>
            </a:extLst>
          </p:cNvPr>
          <p:cNvSpPr txBox="1"/>
          <p:nvPr/>
        </p:nvSpPr>
        <p:spPr>
          <a:xfrm>
            <a:off x="828675" y="999884"/>
            <a:ext cx="10315575" cy="5632311"/>
          </a:xfrm>
          <a:prstGeom prst="rect">
            <a:avLst/>
          </a:prstGeom>
          <a:noFill/>
          <a:ln>
            <a:solidFill>
              <a:srgbClr val="FF0066"/>
            </a:solidFill>
          </a:ln>
        </p:spPr>
        <p:txBody>
          <a:bodyPr wrap="square" rtlCol="0">
            <a:spAutoFit/>
          </a:bodyPr>
          <a:lstStyle/>
          <a:p>
            <a:pPr marL="342900" indent="-342900">
              <a:buClr>
                <a:schemeClr val="accent2"/>
              </a:buClr>
              <a:buFont typeface="Arial" panose="020B0604020202020204" pitchFamily="34" charset="0"/>
              <a:buChar char="•"/>
            </a:pPr>
            <a:endParaRPr lang="en-US" sz="2400" i="1" kern="100" dirty="0">
              <a:latin typeface="Century Gothic" panose="020B0502020202020204" pitchFamily="34" charset="0"/>
              <a:ea typeface="Calibri" panose="020F0502020204030204" pitchFamily="34" charset="0"/>
              <a:cs typeface="Times New Roman" panose="02020603050405020304" pitchFamily="18" charset="0"/>
            </a:endParaRPr>
          </a:p>
          <a:p>
            <a:pPr marL="342900" indent="-342900">
              <a:buClr>
                <a:schemeClr val="accent2"/>
              </a:buClr>
              <a:buFont typeface="Arial" panose="020B0604020202020204" pitchFamily="34" charset="0"/>
              <a:buChar char="•"/>
            </a:pPr>
            <a:endParaRPr lang="en-US" sz="2400" i="1" kern="100" dirty="0">
              <a:latin typeface="Century Gothic" panose="020B0502020202020204" pitchFamily="34" charset="0"/>
              <a:ea typeface="Calibri" panose="020F0502020204030204" pitchFamily="34" charset="0"/>
              <a:cs typeface="Times New Roman" panose="02020603050405020304" pitchFamily="18" charset="0"/>
            </a:endParaRPr>
          </a:p>
          <a:p>
            <a:pPr marL="342900" indent="-342900">
              <a:buClr>
                <a:schemeClr val="accent2"/>
              </a:buClr>
              <a:buFont typeface="Arial" panose="020B0604020202020204" pitchFamily="34" charset="0"/>
              <a:buChar char="•"/>
            </a:pPr>
            <a:endParaRPr lang="en-US" sz="2400" i="1" kern="100" dirty="0">
              <a:latin typeface="Century Gothic" panose="020B0502020202020204" pitchFamily="34" charset="0"/>
              <a:ea typeface="Calibri" panose="020F0502020204030204" pitchFamily="34" charset="0"/>
              <a:cs typeface="Times New Roman" panose="02020603050405020304" pitchFamily="18" charset="0"/>
            </a:endParaRPr>
          </a:p>
          <a:p>
            <a:pPr marL="342900" indent="-342900">
              <a:buClr>
                <a:schemeClr val="accent2"/>
              </a:buClr>
              <a:buFont typeface="Arial" panose="020B0604020202020204" pitchFamily="34" charset="0"/>
              <a:buChar char="•"/>
            </a:pPr>
            <a:endParaRPr lang="en-US" sz="2400" i="1" kern="100" dirty="0">
              <a:latin typeface="Century Gothic" panose="020B0502020202020204" pitchFamily="34" charset="0"/>
              <a:ea typeface="Calibri" panose="020F0502020204030204" pitchFamily="34" charset="0"/>
              <a:cs typeface="Times New Roman" panose="02020603050405020304" pitchFamily="18" charset="0"/>
            </a:endParaRPr>
          </a:p>
          <a:p>
            <a:pPr marL="342900" indent="-342900">
              <a:buClr>
                <a:schemeClr val="accent2"/>
              </a:buClr>
              <a:buFont typeface="Arial" panose="020B0604020202020204" pitchFamily="34" charset="0"/>
              <a:buChar char="•"/>
            </a:pPr>
            <a:endParaRPr lang="en-US" sz="2400" i="1" kern="100" dirty="0">
              <a:latin typeface="Century Gothic" panose="020B0502020202020204" pitchFamily="34" charset="0"/>
              <a:ea typeface="Calibri" panose="020F0502020204030204" pitchFamily="34" charset="0"/>
              <a:cs typeface="Times New Roman" panose="02020603050405020304" pitchFamily="18" charset="0"/>
            </a:endParaRPr>
          </a:p>
          <a:p>
            <a:pPr>
              <a:buClr>
                <a:schemeClr val="accent2"/>
              </a:buClr>
            </a:pPr>
            <a:endParaRPr lang="en-US" sz="2400" i="1" kern="100" dirty="0">
              <a:latin typeface="Century Gothic" panose="020B0502020202020204" pitchFamily="34" charset="0"/>
              <a:ea typeface="Calibri" panose="020F0502020204030204" pitchFamily="34" charset="0"/>
              <a:cs typeface="Times New Roman" panose="02020603050405020304" pitchFamily="18" charset="0"/>
            </a:endParaRPr>
          </a:p>
          <a:p>
            <a:pPr>
              <a:buClr>
                <a:schemeClr val="accent2"/>
              </a:buClr>
            </a:pPr>
            <a:r>
              <a:rPr lang="en-US" sz="2400" b="1" kern="100" dirty="0">
                <a:latin typeface="Century Gothic" panose="020B0502020202020204" pitchFamily="34" charset="0"/>
                <a:ea typeface="Calibri" panose="020F0502020204030204" pitchFamily="34" charset="0"/>
                <a:cs typeface="Times New Roman" panose="02020603050405020304" pitchFamily="18" charset="0"/>
              </a:rPr>
              <a:t>Assumptions:</a:t>
            </a:r>
          </a:p>
          <a:p>
            <a:pPr marL="342900" indent="-342900">
              <a:buClr>
                <a:schemeClr val="accent2"/>
              </a:buClr>
              <a:buFont typeface="Arial" panose="020B0604020202020204" pitchFamily="34" charset="0"/>
              <a:buChar char="•"/>
            </a:pPr>
            <a:r>
              <a:rPr lang="en-US" sz="2400" b="1" kern="100" dirty="0">
                <a:latin typeface="Century Gothic" panose="020B0502020202020204" pitchFamily="34" charset="0"/>
                <a:ea typeface="Calibri" panose="020F0502020204030204" pitchFamily="34" charset="0"/>
                <a:cs typeface="Times New Roman" panose="02020603050405020304" pitchFamily="18" charset="0"/>
              </a:rPr>
              <a:t>Circuit is operating in the steady-state condition</a:t>
            </a:r>
            <a:br>
              <a:rPr lang="en-US" sz="2400" b="1" kern="100" dirty="0">
                <a:latin typeface="Century Gothic" panose="020B0502020202020204" pitchFamily="34" charset="0"/>
                <a:ea typeface="Calibri" panose="020F0502020204030204" pitchFamily="34" charset="0"/>
                <a:cs typeface="Times New Roman" panose="02020603050405020304" pitchFamily="18" charset="0"/>
              </a:rPr>
            </a:br>
            <a:endParaRPr lang="en-US" sz="2400" b="1" kern="100" dirty="0">
              <a:latin typeface="Century Gothic" panose="020B0502020202020204" pitchFamily="34" charset="0"/>
              <a:ea typeface="Calibri" panose="020F0502020204030204" pitchFamily="34" charset="0"/>
              <a:cs typeface="Times New Roman" panose="02020603050405020304" pitchFamily="18" charset="0"/>
            </a:endParaRPr>
          </a:p>
          <a:p>
            <a:pPr marL="342900" indent="-342900">
              <a:buClr>
                <a:schemeClr val="accent2"/>
              </a:buClr>
              <a:buFont typeface="Arial" panose="020B0604020202020204" pitchFamily="34" charset="0"/>
              <a:buChar char="•"/>
            </a:pPr>
            <a:r>
              <a:rPr lang="en-US" sz="2400" b="1" kern="100" dirty="0">
                <a:latin typeface="Century Gothic" panose="020B0502020202020204" pitchFamily="34" charset="0"/>
                <a:ea typeface="Calibri" panose="020F0502020204030204" pitchFamily="34" charset="0"/>
                <a:cs typeface="Times New Roman" panose="02020603050405020304" pitchFamily="18" charset="0"/>
              </a:rPr>
              <a:t>The inductor current is continuous</a:t>
            </a:r>
            <a:br>
              <a:rPr lang="en-US" sz="2400" b="1" kern="100" dirty="0">
                <a:latin typeface="Century Gothic" panose="020B0502020202020204" pitchFamily="34" charset="0"/>
                <a:ea typeface="Calibri" panose="020F0502020204030204" pitchFamily="34" charset="0"/>
                <a:cs typeface="Times New Roman" panose="02020603050405020304" pitchFamily="18" charset="0"/>
              </a:rPr>
            </a:br>
            <a:endParaRPr lang="en-US" sz="2400" b="1" kern="100" dirty="0">
              <a:latin typeface="Century Gothic" panose="020B0502020202020204" pitchFamily="34" charset="0"/>
              <a:ea typeface="Calibri" panose="020F0502020204030204" pitchFamily="34" charset="0"/>
              <a:cs typeface="Times New Roman" panose="02020603050405020304" pitchFamily="18" charset="0"/>
            </a:endParaRPr>
          </a:p>
          <a:p>
            <a:pPr marL="342900" indent="-342900">
              <a:buClr>
                <a:schemeClr val="accent2"/>
              </a:buClr>
              <a:buFont typeface="Arial" panose="020B0604020202020204" pitchFamily="34" charset="0"/>
              <a:buChar char="•"/>
            </a:pPr>
            <a:r>
              <a:rPr lang="en-US" sz="2400" b="1" kern="100" dirty="0">
                <a:latin typeface="Century Gothic" panose="020B0502020202020204" pitchFamily="34" charset="0"/>
                <a:ea typeface="Calibri" panose="020F0502020204030204" pitchFamily="34" charset="0"/>
                <a:cs typeface="Times New Roman" panose="02020603050405020304" pitchFamily="18" charset="0"/>
              </a:rPr>
              <a:t>The capacitor is large enough to assume a constant output voltage.</a:t>
            </a:r>
            <a:br>
              <a:rPr lang="en-US" sz="2400" b="1" kern="100" dirty="0">
                <a:latin typeface="Century Gothic" panose="020B0502020202020204" pitchFamily="34" charset="0"/>
                <a:ea typeface="Calibri" panose="020F0502020204030204" pitchFamily="34" charset="0"/>
                <a:cs typeface="Times New Roman" panose="02020603050405020304" pitchFamily="18" charset="0"/>
              </a:rPr>
            </a:br>
            <a:endParaRPr lang="en-US" sz="2400" b="1" kern="100" dirty="0">
              <a:latin typeface="Century Gothic" panose="020B0502020202020204" pitchFamily="34" charset="0"/>
              <a:ea typeface="Calibri" panose="020F0502020204030204" pitchFamily="34" charset="0"/>
              <a:cs typeface="Times New Roman" panose="02020603050405020304" pitchFamily="18" charset="0"/>
            </a:endParaRPr>
          </a:p>
          <a:p>
            <a:pPr marL="342900" indent="-342900">
              <a:buClr>
                <a:schemeClr val="accent2"/>
              </a:buClr>
              <a:buFont typeface="Arial" panose="020B0604020202020204" pitchFamily="34" charset="0"/>
              <a:buChar char="•"/>
            </a:pPr>
            <a:r>
              <a:rPr lang="en-US" sz="2400" b="1" kern="100" dirty="0">
                <a:latin typeface="Century Gothic" panose="020B0502020202020204" pitchFamily="34" charset="0"/>
                <a:ea typeface="Calibri" panose="020F0502020204030204" pitchFamily="34" charset="0"/>
                <a:cs typeface="Times New Roman" panose="02020603050405020304" pitchFamily="18" charset="0"/>
              </a:rPr>
              <a:t>The switch is closed for time DT and open for (1-D)T</a:t>
            </a:r>
          </a:p>
        </p:txBody>
      </p:sp>
      <p:sp>
        <p:nvSpPr>
          <p:cNvPr id="2" name="TextBox 1">
            <a:extLst>
              <a:ext uri="{FF2B5EF4-FFF2-40B4-BE49-F238E27FC236}">
                <a16:creationId xmlns:a16="http://schemas.microsoft.com/office/drawing/2014/main" id="{1BD8016C-B677-4BEB-86C7-5F4D5DE2B249}"/>
              </a:ext>
            </a:extLst>
          </p:cNvPr>
          <p:cNvSpPr txBox="1"/>
          <p:nvPr/>
        </p:nvSpPr>
        <p:spPr>
          <a:xfrm>
            <a:off x="5637178" y="3570051"/>
            <a:ext cx="65" cy="276999"/>
          </a:xfrm>
          <a:prstGeom prst="rect">
            <a:avLst/>
          </a:prstGeom>
          <a:noFill/>
        </p:spPr>
        <p:txBody>
          <a:bodyPr wrap="none" lIns="0" tIns="0" rIns="0" bIns="0" rtlCol="0">
            <a:spAutoFit/>
          </a:bodyPr>
          <a:lstStyle/>
          <a:p>
            <a:endParaRPr lang="en-US" dirty="0"/>
          </a:p>
        </p:txBody>
      </p:sp>
      <p:pic>
        <p:nvPicPr>
          <p:cNvPr id="7" name="Picture 6">
            <a:extLst>
              <a:ext uri="{FF2B5EF4-FFF2-40B4-BE49-F238E27FC236}">
                <a16:creationId xmlns:a16="http://schemas.microsoft.com/office/drawing/2014/main" id="{674D2D00-D94F-496C-8529-6F07ED86287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04184" y="1137920"/>
            <a:ext cx="4054191" cy="1807985"/>
          </a:xfrm>
          <a:prstGeom prst="rect">
            <a:avLst/>
          </a:prstGeom>
        </p:spPr>
      </p:pic>
    </p:spTree>
    <p:extLst>
      <p:ext uri="{BB962C8B-B14F-4D97-AF65-F5344CB8AC3E}">
        <p14:creationId xmlns:p14="http://schemas.microsoft.com/office/powerpoint/2010/main" val="6222121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6">
            <a:extLst>
              <a:ext uri="{FF2B5EF4-FFF2-40B4-BE49-F238E27FC236}">
                <a16:creationId xmlns:a16="http://schemas.microsoft.com/office/drawing/2014/main" id="{56080804-F19F-41A7-8595-943961648C5E}"/>
              </a:ext>
            </a:extLst>
          </p:cNvPr>
          <p:cNvSpPr>
            <a:spLocks noGrp="1"/>
          </p:cNvSpPr>
          <p:nvPr>
            <p:ph type="sldNum" sz="quarter" idx="12"/>
          </p:nvPr>
        </p:nvSpPr>
        <p:spPr>
          <a:xfrm>
            <a:off x="8610600" y="6441692"/>
            <a:ext cx="2743200" cy="370027"/>
          </a:xfrm>
        </p:spPr>
        <p:txBody>
          <a:bodyPr/>
          <a:lstStyle/>
          <a:p>
            <a:fld id="{F4801FD5-11B4-DE43-ACA2-E85EEB9A6F9C}" type="slidenum">
              <a:rPr lang="en-US" smtClean="0">
                <a:latin typeface="Garamond" panose="02020404030301010803" pitchFamily="18" charset="0"/>
              </a:rPr>
              <a:t>13</a:t>
            </a:fld>
            <a:endParaRPr lang="en-US">
              <a:latin typeface="Garamond" panose="02020404030301010803" pitchFamily="18" charset="0"/>
            </a:endParaRPr>
          </a:p>
        </p:txBody>
      </p:sp>
      <p:sp>
        <p:nvSpPr>
          <p:cNvPr id="5" name="Title 1">
            <a:extLst>
              <a:ext uri="{FF2B5EF4-FFF2-40B4-BE49-F238E27FC236}">
                <a16:creationId xmlns:a16="http://schemas.microsoft.com/office/drawing/2014/main" id="{4710AE4B-0DB8-4451-B9E4-10BAE11B4D3A}"/>
              </a:ext>
            </a:extLst>
          </p:cNvPr>
          <p:cNvSpPr>
            <a:spLocks noGrp="1"/>
          </p:cNvSpPr>
          <p:nvPr>
            <p:ph type="title"/>
          </p:nvPr>
        </p:nvSpPr>
        <p:spPr>
          <a:xfrm>
            <a:off x="3157348" y="-40404"/>
            <a:ext cx="6026397" cy="483791"/>
          </a:xfrm>
        </p:spPr>
        <p:txBody>
          <a:bodyPr>
            <a:noAutofit/>
          </a:bodyPr>
          <a:lstStyle/>
          <a:p>
            <a:pPr algn="ctr"/>
            <a:r>
              <a:rPr lang="en-US" sz="3200" b="1" u="sng" dirty="0">
                <a:solidFill>
                  <a:srgbClr val="FF3386"/>
                </a:solidFill>
                <a:latin typeface="Century Gothic" panose="020B0502020202020204" pitchFamily="34" charset="0"/>
                <a:cs typeface="Helvetica"/>
              </a:rPr>
              <a:t>ASSIGNMENT</a:t>
            </a:r>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6BAA1F11-5BEF-4D80-964F-A7332E36BFA0}"/>
                  </a:ext>
                </a:extLst>
              </p:cNvPr>
              <p:cNvSpPr txBox="1"/>
              <p:nvPr/>
            </p:nvSpPr>
            <p:spPr>
              <a:xfrm>
                <a:off x="721671" y="468107"/>
                <a:ext cx="10315575" cy="6242606"/>
              </a:xfrm>
              <a:prstGeom prst="rect">
                <a:avLst/>
              </a:prstGeom>
              <a:noFill/>
              <a:ln>
                <a:solidFill>
                  <a:srgbClr val="FF0066"/>
                </a:solidFill>
              </a:ln>
            </p:spPr>
            <p:txBody>
              <a:bodyPr wrap="square" rtlCol="0">
                <a:spAutoFit/>
              </a:bodyPr>
              <a:lstStyle/>
              <a:p>
                <a:pPr lvl="1">
                  <a:buClr>
                    <a:schemeClr val="accent2"/>
                  </a:buClr>
                </a:pPr>
                <a:r>
                  <a:rPr lang="en-US" sz="2400" kern="100" dirty="0">
                    <a:latin typeface="Century Gothic" panose="020B0502020202020204" pitchFamily="34" charset="0"/>
                    <a:ea typeface="Calibri" panose="020F0502020204030204" pitchFamily="34" charset="0"/>
                    <a:cs typeface="Times New Roman" panose="02020603050405020304" pitchFamily="18" charset="0"/>
                  </a:rPr>
                  <a:t>Objective: Design a Buck/Boost converter with appropriate value of parameters and simulate it</a:t>
                </a:r>
              </a:p>
              <a:p>
                <a:pPr lvl="1">
                  <a:buClr>
                    <a:schemeClr val="accent2"/>
                  </a:buClr>
                </a:pPr>
                <a:br>
                  <a:rPr lang="en-US" sz="2400" kern="100" dirty="0">
                    <a:latin typeface="Century Gothic" panose="020B0502020202020204" pitchFamily="34" charset="0"/>
                    <a:ea typeface="Calibri" panose="020F0502020204030204" pitchFamily="34" charset="0"/>
                    <a:cs typeface="Times New Roman" panose="02020603050405020304" pitchFamily="18" charset="0"/>
                  </a:rPr>
                </a:br>
                <a:r>
                  <a:rPr lang="en-US" sz="2400" kern="100" dirty="0">
                    <a:latin typeface="Century Gothic" panose="020B0502020202020204" pitchFamily="34" charset="0"/>
                    <a:ea typeface="Calibri" panose="020F0502020204030204" pitchFamily="34" charset="0"/>
                    <a:cs typeface="Times New Roman" panose="02020603050405020304" pitchFamily="18" charset="0"/>
                  </a:rPr>
                  <a:t>Parameter of Buck/Boost Converter:</a:t>
                </a:r>
              </a:p>
              <a:p>
                <a:pPr lvl="1">
                  <a:buClr>
                    <a:schemeClr val="accent2"/>
                  </a:buClr>
                </a:pPr>
                <a:r>
                  <a:rPr lang="en-US" sz="2400" kern="100" dirty="0">
                    <a:latin typeface="Century Gothic" panose="020B0502020202020204" pitchFamily="34" charset="0"/>
                    <a:ea typeface="Calibri" panose="020F0502020204030204" pitchFamily="34" charset="0"/>
                    <a:cs typeface="Times New Roman" panose="02020603050405020304" pitchFamily="18" charset="0"/>
                  </a:rPr>
                  <a:t>					Input voltage: 24V</a:t>
                </a:r>
                <a:br>
                  <a:rPr lang="en-US" sz="2400" kern="100" dirty="0">
                    <a:latin typeface="Century Gothic" panose="020B0502020202020204" pitchFamily="34" charset="0"/>
                    <a:ea typeface="Calibri" panose="020F0502020204030204" pitchFamily="34" charset="0"/>
                    <a:cs typeface="Times New Roman" panose="02020603050405020304" pitchFamily="18" charset="0"/>
                  </a:rPr>
                </a:br>
                <a:r>
                  <a:rPr lang="en-US" sz="2400" kern="100" dirty="0">
                    <a:latin typeface="Century Gothic" panose="020B0502020202020204" pitchFamily="34" charset="0"/>
                    <a:ea typeface="Calibri" panose="020F0502020204030204" pitchFamily="34" charset="0"/>
                    <a:cs typeface="Times New Roman" panose="02020603050405020304" pitchFamily="18" charset="0"/>
                  </a:rPr>
                  <a:t>					Output Voltage:48W</a:t>
                </a:r>
                <a:br>
                  <a:rPr lang="en-US" sz="2400" kern="100" dirty="0">
                    <a:latin typeface="Century Gothic" panose="020B0502020202020204" pitchFamily="34" charset="0"/>
                    <a:ea typeface="Calibri" panose="020F0502020204030204" pitchFamily="34" charset="0"/>
                    <a:cs typeface="Times New Roman" panose="02020603050405020304" pitchFamily="18" charset="0"/>
                  </a:rPr>
                </a:br>
                <a:r>
                  <a:rPr lang="en-US" sz="2400" kern="100" dirty="0">
                    <a:latin typeface="Century Gothic" panose="020B0502020202020204" pitchFamily="34" charset="0"/>
                    <a:ea typeface="Calibri" panose="020F0502020204030204" pitchFamily="34" charset="0"/>
                    <a:cs typeface="Times New Roman" panose="02020603050405020304" pitchFamily="18" charset="0"/>
                  </a:rPr>
                  <a:t>					Switching Frequency: 100kHz</a:t>
                </a:r>
                <a:br>
                  <a:rPr lang="en-US" sz="2400" kern="100" dirty="0">
                    <a:latin typeface="Century Gothic" panose="020B0502020202020204" pitchFamily="34" charset="0"/>
                    <a:ea typeface="Calibri" panose="020F0502020204030204" pitchFamily="34" charset="0"/>
                    <a:cs typeface="Times New Roman" panose="02020603050405020304" pitchFamily="18" charset="0"/>
                  </a:rPr>
                </a:br>
                <a:r>
                  <a:rPr lang="en-US" sz="2400" kern="100" dirty="0">
                    <a:latin typeface="Century Gothic" panose="020B0502020202020204" pitchFamily="34" charset="0"/>
                    <a:ea typeface="Calibri" panose="020F0502020204030204" pitchFamily="34" charset="0"/>
                    <a:cs typeface="Times New Roman" panose="02020603050405020304" pitchFamily="18" charset="0"/>
                  </a:rPr>
                  <a:t>   					Ripple in Inductor Current : 25%</a:t>
                </a:r>
                <a:br>
                  <a:rPr lang="en-US" sz="2400" kern="100" dirty="0">
                    <a:latin typeface="Century Gothic" panose="020B0502020202020204" pitchFamily="34" charset="0"/>
                    <a:ea typeface="Calibri" panose="020F0502020204030204" pitchFamily="34" charset="0"/>
                    <a:cs typeface="Times New Roman" panose="02020603050405020304" pitchFamily="18" charset="0"/>
                  </a:rPr>
                </a:br>
                <a:r>
                  <a:rPr lang="en-US" sz="2400" kern="100" dirty="0">
                    <a:latin typeface="Century Gothic" panose="020B0502020202020204" pitchFamily="34" charset="0"/>
                    <a:ea typeface="Calibri" panose="020F0502020204030204" pitchFamily="34" charset="0"/>
                    <a:cs typeface="Times New Roman" panose="02020603050405020304" pitchFamily="18" charset="0"/>
                  </a:rPr>
                  <a:t>					Ripple in Output Voltage: 0.1%</a:t>
                </a:r>
              </a:p>
              <a:p>
                <a:pPr lvl="1">
                  <a:buClr>
                    <a:schemeClr val="accent2"/>
                  </a:buClr>
                </a:pPr>
                <a:r>
                  <a:rPr lang="en-US" sz="2400" kern="100" dirty="0">
                    <a:latin typeface="Century Gothic" panose="020B0502020202020204" pitchFamily="34" charset="0"/>
                    <a:ea typeface="Calibri" panose="020F0502020204030204" pitchFamily="34" charset="0"/>
                    <a:cs typeface="Times New Roman" panose="02020603050405020304" pitchFamily="18" charset="0"/>
                  </a:rPr>
                  <a:t>Theory: Buck/Boost Converter is a DC to DC converter(Step up/down Chopper),By adjusting Duty Ratio we can use either as Buck Converter (</a:t>
                </a:r>
                <a14:m>
                  <m:oMath xmlns:m="http://schemas.openxmlformats.org/officeDocument/2006/math">
                    <m:sSub>
                      <m:sSubPr>
                        <m:ctrlPr>
                          <a:rPr lang="en-US" sz="2400" i="1" kern="100" smtClean="0">
                            <a:latin typeface="Cambria Math" panose="02040503050406030204" pitchFamily="18" charset="0"/>
                            <a:ea typeface="Calibri" panose="020F0502020204030204" pitchFamily="34" charset="0"/>
                            <a:cs typeface="Times New Roman" panose="02020603050405020304" pitchFamily="18" charset="0"/>
                          </a:rPr>
                        </m:ctrlPr>
                      </m:sSubPr>
                      <m:e>
                        <m:r>
                          <a:rPr lang="en-US" sz="2400" b="0" i="1" kern="100" smtClean="0">
                            <a:latin typeface="Cambria Math" panose="02040503050406030204" pitchFamily="18" charset="0"/>
                            <a:ea typeface="Calibri" panose="020F0502020204030204" pitchFamily="34" charset="0"/>
                            <a:cs typeface="Times New Roman" panose="02020603050405020304" pitchFamily="18" charset="0"/>
                          </a:rPr>
                          <m:t>𝑉</m:t>
                        </m:r>
                      </m:e>
                      <m:sub>
                        <m:r>
                          <a:rPr lang="en-US" sz="2400" b="0" i="1" kern="100" smtClean="0">
                            <a:latin typeface="Cambria Math" panose="02040503050406030204" pitchFamily="18" charset="0"/>
                            <a:ea typeface="Calibri" panose="020F0502020204030204" pitchFamily="34" charset="0"/>
                            <a:cs typeface="Times New Roman" panose="02020603050405020304" pitchFamily="18" charset="0"/>
                          </a:rPr>
                          <m:t>𝑜</m:t>
                        </m:r>
                      </m:sub>
                    </m:sSub>
                  </m:oMath>
                </a14:m>
                <a:r>
                  <a:rPr lang="en-US" sz="2400" kern="100" dirty="0">
                    <a:latin typeface="Century Gothic" panose="020B0502020202020204" pitchFamily="34" charset="0"/>
                    <a:ea typeface="Calibri" panose="020F0502020204030204" pitchFamily="34" charset="0"/>
                    <a:cs typeface="Times New Roman" panose="02020603050405020304" pitchFamily="18" charset="0"/>
                  </a:rPr>
                  <a:t> </a:t>
                </a:r>
                <a14:m>
                  <m:oMath xmlns:m="http://schemas.openxmlformats.org/officeDocument/2006/math">
                    <m:r>
                      <a:rPr lang="en-US" sz="2400" i="1" kern="100" dirty="0" smtClean="0">
                        <a:latin typeface="Cambria Math" panose="02040503050406030204" pitchFamily="18" charset="0"/>
                        <a:ea typeface="Cambria Math" panose="02040503050406030204" pitchFamily="18" charset="0"/>
                        <a:cs typeface="Times New Roman" panose="02020603050405020304" pitchFamily="18" charset="0"/>
                      </a:rPr>
                      <m:t>&lt;</m:t>
                    </m:r>
                  </m:oMath>
                </a14:m>
                <a:r>
                  <a:rPr lang="en-US" sz="2400" kern="100" dirty="0">
                    <a:latin typeface="Century Gothic" panose="020B0502020202020204" pitchFamily="34" charset="0"/>
                    <a:ea typeface="Calibri" panose="020F0502020204030204" pitchFamily="34" charset="0"/>
                    <a:cs typeface="Times New Roman" panose="02020603050405020304" pitchFamily="18" charset="0"/>
                  </a:rPr>
                  <a:t> </a:t>
                </a:r>
                <a14:m>
                  <m:oMath xmlns:m="http://schemas.openxmlformats.org/officeDocument/2006/math">
                    <m:sSub>
                      <m:sSubPr>
                        <m:ctrlPr>
                          <a:rPr lang="en-US" sz="2400" i="1" kern="100" dirty="0" smtClean="0">
                            <a:latin typeface="Cambria Math" panose="02040503050406030204" pitchFamily="18" charset="0"/>
                            <a:ea typeface="Calibri" panose="020F0502020204030204" pitchFamily="34" charset="0"/>
                            <a:cs typeface="Times New Roman" panose="02020603050405020304" pitchFamily="18" charset="0"/>
                          </a:rPr>
                        </m:ctrlPr>
                      </m:sSubPr>
                      <m:e>
                        <m:r>
                          <a:rPr lang="en-US" sz="2400" b="0" i="1" kern="100" dirty="0" smtClean="0">
                            <a:latin typeface="Cambria Math" panose="02040503050406030204" pitchFamily="18" charset="0"/>
                            <a:ea typeface="Calibri" panose="020F0502020204030204" pitchFamily="34" charset="0"/>
                            <a:cs typeface="Times New Roman" panose="02020603050405020304" pitchFamily="18" charset="0"/>
                          </a:rPr>
                          <m:t>𝑉</m:t>
                        </m:r>
                      </m:e>
                      <m:sub>
                        <m:r>
                          <a:rPr lang="en-US" sz="2400" b="0" i="1" kern="100" dirty="0" smtClean="0">
                            <a:latin typeface="Cambria Math" panose="02040503050406030204" pitchFamily="18" charset="0"/>
                            <a:ea typeface="Calibri" panose="020F0502020204030204" pitchFamily="34" charset="0"/>
                            <a:cs typeface="Times New Roman" panose="02020603050405020304" pitchFamily="18" charset="0"/>
                          </a:rPr>
                          <m:t>𝑠</m:t>
                        </m:r>
                      </m:sub>
                    </m:sSub>
                  </m:oMath>
                </a14:m>
                <a:r>
                  <a:rPr lang="en-US" sz="2400" kern="100" dirty="0">
                    <a:latin typeface="Century Gothic" panose="020B0502020202020204" pitchFamily="34" charset="0"/>
                    <a:ea typeface="Calibri" panose="020F0502020204030204" pitchFamily="34" charset="0"/>
                    <a:cs typeface="Times New Roman" panose="02020603050405020304" pitchFamily="18" charset="0"/>
                  </a:rPr>
                  <a:t>) or Boost Converter (</a:t>
                </a:r>
                <a14:m>
                  <m:oMath xmlns:m="http://schemas.openxmlformats.org/officeDocument/2006/math">
                    <m:sSub>
                      <m:sSubPr>
                        <m:ctrlPr>
                          <a:rPr lang="en-US" sz="2400" i="1" kern="100" smtClean="0">
                            <a:latin typeface="Cambria Math" panose="02040503050406030204" pitchFamily="18" charset="0"/>
                            <a:ea typeface="Calibri" panose="020F0502020204030204" pitchFamily="34" charset="0"/>
                            <a:cs typeface="Times New Roman" panose="02020603050405020304" pitchFamily="18" charset="0"/>
                          </a:rPr>
                        </m:ctrlPr>
                      </m:sSubPr>
                      <m:e>
                        <m:r>
                          <a:rPr lang="en-US" sz="2400" b="0" i="1" kern="100" smtClean="0">
                            <a:latin typeface="Cambria Math" panose="02040503050406030204" pitchFamily="18" charset="0"/>
                            <a:ea typeface="Calibri" panose="020F0502020204030204" pitchFamily="34" charset="0"/>
                            <a:cs typeface="Times New Roman" panose="02020603050405020304" pitchFamily="18" charset="0"/>
                          </a:rPr>
                          <m:t>𝑉</m:t>
                        </m:r>
                      </m:e>
                      <m:sub>
                        <m:r>
                          <a:rPr lang="en-US" sz="2400" b="0" i="1" kern="100" smtClean="0">
                            <a:latin typeface="Cambria Math" panose="02040503050406030204" pitchFamily="18" charset="0"/>
                            <a:ea typeface="Calibri" panose="020F0502020204030204" pitchFamily="34" charset="0"/>
                            <a:cs typeface="Times New Roman" panose="02020603050405020304" pitchFamily="18" charset="0"/>
                          </a:rPr>
                          <m:t>𝑂</m:t>
                        </m:r>
                      </m:sub>
                    </m:sSub>
                  </m:oMath>
                </a14:m>
                <a:r>
                  <a:rPr lang="en-US" sz="2400" kern="100" dirty="0">
                    <a:latin typeface="Century Gothic" panose="020B0502020202020204" pitchFamily="34" charset="0"/>
                    <a:ea typeface="Calibri" panose="020F0502020204030204" pitchFamily="34" charset="0"/>
                    <a:cs typeface="Times New Roman" panose="02020603050405020304" pitchFamily="18" charset="0"/>
                  </a:rPr>
                  <a:t> </a:t>
                </a:r>
                <a14:m>
                  <m:oMath xmlns:m="http://schemas.openxmlformats.org/officeDocument/2006/math">
                    <m:r>
                      <a:rPr lang="en-US" sz="2400" i="1" kern="100" dirty="0" smtClean="0">
                        <a:latin typeface="Cambria Math" panose="02040503050406030204" pitchFamily="18" charset="0"/>
                        <a:ea typeface="Cambria Math" panose="02040503050406030204" pitchFamily="18" charset="0"/>
                        <a:cs typeface="Times New Roman" panose="02020603050405020304" pitchFamily="18" charset="0"/>
                      </a:rPr>
                      <m:t>&lt;</m:t>
                    </m:r>
                  </m:oMath>
                </a14:m>
                <a:r>
                  <a:rPr lang="en-US" sz="2400" kern="100" dirty="0">
                    <a:latin typeface="Century Gothic" panose="020B0502020202020204" pitchFamily="34" charset="0"/>
                    <a:ea typeface="Calibri" panose="020F0502020204030204" pitchFamily="34" charset="0"/>
                    <a:cs typeface="Times New Roman" panose="02020603050405020304" pitchFamily="18" charset="0"/>
                  </a:rPr>
                  <a:t> </a:t>
                </a:r>
                <a14:m>
                  <m:oMath xmlns:m="http://schemas.openxmlformats.org/officeDocument/2006/math">
                    <m:sSub>
                      <m:sSubPr>
                        <m:ctrlPr>
                          <a:rPr lang="en-US" sz="2400" i="1" kern="100" dirty="0" smtClean="0">
                            <a:latin typeface="Cambria Math" panose="02040503050406030204" pitchFamily="18" charset="0"/>
                            <a:ea typeface="Calibri" panose="020F0502020204030204" pitchFamily="34" charset="0"/>
                            <a:cs typeface="Times New Roman" panose="02020603050405020304" pitchFamily="18" charset="0"/>
                          </a:rPr>
                        </m:ctrlPr>
                      </m:sSubPr>
                      <m:e>
                        <m:r>
                          <a:rPr lang="en-US" sz="2400" b="0" i="1" kern="100" dirty="0" smtClean="0">
                            <a:latin typeface="Cambria Math" panose="02040503050406030204" pitchFamily="18" charset="0"/>
                            <a:ea typeface="Calibri" panose="020F0502020204030204" pitchFamily="34" charset="0"/>
                            <a:cs typeface="Times New Roman" panose="02020603050405020304" pitchFamily="18" charset="0"/>
                          </a:rPr>
                          <m:t>𝑉</m:t>
                        </m:r>
                      </m:e>
                      <m:sub>
                        <m:r>
                          <a:rPr lang="en-US" sz="2400" b="0" i="1" kern="100" dirty="0" smtClean="0">
                            <a:latin typeface="Cambria Math" panose="02040503050406030204" pitchFamily="18" charset="0"/>
                            <a:ea typeface="Calibri" panose="020F0502020204030204" pitchFamily="34" charset="0"/>
                            <a:cs typeface="Times New Roman" panose="02020603050405020304" pitchFamily="18" charset="0"/>
                          </a:rPr>
                          <m:t>𝑆</m:t>
                        </m:r>
                      </m:sub>
                    </m:sSub>
                  </m:oMath>
                </a14:m>
                <a:r>
                  <a:rPr lang="en-US" sz="2400" kern="100" dirty="0">
                    <a:latin typeface="Century Gothic" panose="020B0502020202020204" pitchFamily="34" charset="0"/>
                    <a:ea typeface="Calibri" panose="020F0502020204030204" pitchFamily="34" charset="0"/>
                    <a:cs typeface="Times New Roman" panose="02020603050405020304" pitchFamily="18" charset="0"/>
                  </a:rPr>
                  <a:t>)</a:t>
                </a:r>
              </a:p>
              <a:p>
                <a:pPr lvl="1">
                  <a:buClr>
                    <a:schemeClr val="accent2"/>
                  </a:buClr>
                </a:pPr>
                <a:endParaRPr lang="en-US" sz="2400" kern="100" dirty="0">
                  <a:latin typeface="Century Gothic" panose="020B0502020202020204" pitchFamily="34" charset="0"/>
                  <a:ea typeface="Calibri" panose="020F0502020204030204" pitchFamily="34" charset="0"/>
                  <a:cs typeface="Times New Roman" panose="02020603050405020304" pitchFamily="18" charset="0"/>
                </a:endParaRPr>
              </a:p>
              <a:p>
                <a:pPr lvl="1">
                  <a:buClr>
                    <a:schemeClr val="accent2"/>
                  </a:buClr>
                </a:pPr>
                <a:r>
                  <a:rPr lang="en-US" sz="2400" kern="100" dirty="0">
                    <a:latin typeface="Century Gothic" panose="020B0502020202020204" pitchFamily="34" charset="0"/>
                    <a:ea typeface="Calibri" panose="020F0502020204030204" pitchFamily="34" charset="0"/>
                    <a:cs typeface="Times New Roman" panose="02020603050405020304" pitchFamily="18" charset="0"/>
                  </a:rPr>
                  <a:t>Duty Ratio,                  </a:t>
                </a:r>
              </a:p>
              <a:p>
                <a:pPr lvl="1">
                  <a:buClr>
                    <a:schemeClr val="accent2"/>
                  </a:buClr>
                </a:pPr>
                <a:r>
                  <a:rPr lang="en-US" sz="2400" kern="100" dirty="0">
                    <a:latin typeface="Century Gothic" panose="020B0502020202020204" pitchFamily="34" charset="0"/>
                    <a:ea typeface="Calibri" panose="020F0502020204030204" pitchFamily="34" charset="0"/>
                    <a:cs typeface="Times New Roman" panose="02020603050405020304" pitchFamily="18" charset="0"/>
                  </a:rPr>
                  <a:t>                                  D = </a:t>
                </a:r>
                <a14:m>
                  <m:oMath xmlns:m="http://schemas.openxmlformats.org/officeDocument/2006/math">
                    <m:f>
                      <m:fPr>
                        <m:ctrlPr>
                          <a:rPr lang="en-US" sz="2400" i="1" kern="100" smtClean="0">
                            <a:latin typeface="Cambria Math" panose="02040503050406030204" pitchFamily="18" charset="0"/>
                            <a:ea typeface="Calibri" panose="020F0502020204030204" pitchFamily="34" charset="0"/>
                            <a:cs typeface="Times New Roman" panose="02020603050405020304" pitchFamily="18" charset="0"/>
                          </a:rPr>
                        </m:ctrlPr>
                      </m:fPr>
                      <m:num>
                        <m:sSub>
                          <m:sSubPr>
                            <m:ctrlPr>
                              <a:rPr lang="en-US" sz="2400" i="1" kern="100" smtClean="0">
                                <a:latin typeface="Cambria Math" panose="02040503050406030204" pitchFamily="18" charset="0"/>
                                <a:ea typeface="Calibri" panose="020F0502020204030204" pitchFamily="34" charset="0"/>
                                <a:cs typeface="Times New Roman" panose="02020603050405020304" pitchFamily="18" charset="0"/>
                              </a:rPr>
                            </m:ctrlPr>
                          </m:sSubPr>
                          <m:e>
                            <m:r>
                              <a:rPr lang="en-US" sz="2400" b="0" i="1" kern="100" smtClean="0">
                                <a:latin typeface="Cambria Math" panose="02040503050406030204" pitchFamily="18" charset="0"/>
                                <a:ea typeface="Calibri" panose="020F0502020204030204" pitchFamily="34" charset="0"/>
                                <a:cs typeface="Times New Roman" panose="02020603050405020304" pitchFamily="18" charset="0"/>
                              </a:rPr>
                              <m:t>𝑉</m:t>
                            </m:r>
                          </m:e>
                          <m:sub>
                            <m:r>
                              <a:rPr lang="en-US" sz="2400" b="0" i="1" kern="100" smtClean="0">
                                <a:latin typeface="Cambria Math" panose="02040503050406030204" pitchFamily="18" charset="0"/>
                                <a:ea typeface="Calibri" panose="020F0502020204030204" pitchFamily="34" charset="0"/>
                                <a:cs typeface="Times New Roman" panose="02020603050405020304" pitchFamily="18" charset="0"/>
                              </a:rPr>
                              <m:t>𝑜</m:t>
                            </m:r>
                          </m:sub>
                        </m:sSub>
                      </m:num>
                      <m:den>
                        <m:sSub>
                          <m:sSubPr>
                            <m:ctrlPr>
                              <a:rPr lang="en-US" sz="2400" i="1" kern="100" smtClean="0">
                                <a:latin typeface="Cambria Math" panose="02040503050406030204" pitchFamily="18" charset="0"/>
                                <a:ea typeface="Calibri" panose="020F0502020204030204" pitchFamily="34" charset="0"/>
                                <a:cs typeface="Times New Roman" panose="02020603050405020304" pitchFamily="18" charset="0"/>
                              </a:rPr>
                            </m:ctrlPr>
                          </m:sSubPr>
                          <m:e>
                            <m:r>
                              <a:rPr lang="en-US" sz="2400" b="0" i="1" kern="100" smtClean="0">
                                <a:latin typeface="Cambria Math" panose="02040503050406030204" pitchFamily="18" charset="0"/>
                                <a:ea typeface="Calibri" panose="020F0502020204030204" pitchFamily="34" charset="0"/>
                                <a:cs typeface="Times New Roman" panose="02020603050405020304" pitchFamily="18" charset="0"/>
                              </a:rPr>
                              <m:t>𝑉</m:t>
                            </m:r>
                          </m:e>
                          <m:sub>
                            <m:r>
                              <a:rPr lang="en-US" sz="2400" b="0" i="1" kern="100" smtClean="0">
                                <a:latin typeface="Cambria Math" panose="02040503050406030204" pitchFamily="18" charset="0"/>
                                <a:ea typeface="Calibri" panose="020F0502020204030204" pitchFamily="34" charset="0"/>
                                <a:cs typeface="Times New Roman" panose="02020603050405020304" pitchFamily="18" charset="0"/>
                              </a:rPr>
                              <m:t>𝑜</m:t>
                            </m:r>
                          </m:sub>
                        </m:sSub>
                        <m:r>
                          <a:rPr lang="en-US" sz="2400" i="1" kern="100" smtClean="0">
                            <a:latin typeface="Cambria Math" panose="02040503050406030204" pitchFamily="18" charset="0"/>
                            <a:ea typeface="Cambria Math" panose="02040503050406030204" pitchFamily="18" charset="0"/>
                            <a:cs typeface="Times New Roman" panose="02020603050405020304" pitchFamily="18" charset="0"/>
                          </a:rPr>
                          <m:t>+</m:t>
                        </m:r>
                        <m:sSub>
                          <m:sSubPr>
                            <m:ctrlPr>
                              <a:rPr lang="en-US" sz="2400" i="1" kern="100" smtClean="0">
                                <a:latin typeface="Cambria Math" panose="02040503050406030204" pitchFamily="18" charset="0"/>
                                <a:ea typeface="Calibri" panose="020F0502020204030204" pitchFamily="34" charset="0"/>
                                <a:cs typeface="Times New Roman" panose="02020603050405020304" pitchFamily="18" charset="0"/>
                              </a:rPr>
                            </m:ctrlPr>
                          </m:sSubPr>
                          <m:e>
                            <m:r>
                              <a:rPr lang="en-US" sz="2400" b="0" i="1" kern="100" smtClean="0">
                                <a:latin typeface="Cambria Math" panose="02040503050406030204" pitchFamily="18" charset="0"/>
                                <a:ea typeface="Calibri" panose="020F0502020204030204" pitchFamily="34" charset="0"/>
                                <a:cs typeface="Times New Roman" panose="02020603050405020304" pitchFamily="18" charset="0"/>
                              </a:rPr>
                              <m:t>𝑉</m:t>
                            </m:r>
                          </m:e>
                          <m:sub>
                            <m:r>
                              <a:rPr lang="en-US" sz="2400" b="0" i="1" kern="100" smtClean="0">
                                <a:latin typeface="Cambria Math" panose="02040503050406030204" pitchFamily="18" charset="0"/>
                                <a:ea typeface="Calibri" panose="020F0502020204030204" pitchFamily="34" charset="0"/>
                                <a:cs typeface="Times New Roman" panose="02020603050405020304" pitchFamily="18" charset="0"/>
                              </a:rPr>
                              <m:t>𝑠</m:t>
                            </m:r>
                          </m:sub>
                        </m:sSub>
                      </m:den>
                    </m:f>
                  </m:oMath>
                </a14:m>
                <a:r>
                  <a:rPr lang="en-US" sz="2400" kern="100" dirty="0">
                    <a:latin typeface="Century Gothic" panose="020B0502020202020204" pitchFamily="34" charset="0"/>
                    <a:ea typeface="Calibri" panose="020F0502020204030204" pitchFamily="34" charset="0"/>
                    <a:cs typeface="Times New Roman" panose="02020603050405020304" pitchFamily="18" charset="0"/>
                  </a:rPr>
                  <a:t> = </a:t>
                </a:r>
                <a14:m>
                  <m:oMath xmlns:m="http://schemas.openxmlformats.org/officeDocument/2006/math">
                    <m:f>
                      <m:fPr>
                        <m:ctrlPr>
                          <a:rPr lang="en-US" sz="2400" i="1" kern="100" smtClean="0">
                            <a:latin typeface="Cambria Math" panose="02040503050406030204" pitchFamily="18" charset="0"/>
                            <a:ea typeface="Calibri" panose="020F0502020204030204" pitchFamily="34" charset="0"/>
                            <a:cs typeface="Times New Roman" panose="02020603050405020304" pitchFamily="18" charset="0"/>
                          </a:rPr>
                        </m:ctrlPr>
                      </m:fPr>
                      <m:num>
                        <m:sSub>
                          <m:sSubPr>
                            <m:ctrlPr>
                              <a:rPr lang="en-US" sz="2400" i="1" kern="100" smtClean="0">
                                <a:latin typeface="Cambria Math" panose="02040503050406030204" pitchFamily="18" charset="0"/>
                                <a:ea typeface="Calibri" panose="020F0502020204030204" pitchFamily="34" charset="0"/>
                                <a:cs typeface="Times New Roman" panose="02020603050405020304" pitchFamily="18" charset="0"/>
                              </a:rPr>
                            </m:ctrlPr>
                          </m:sSubPr>
                          <m:e>
                            <m:r>
                              <a:rPr lang="en-US" sz="2400" b="0" i="1" kern="100" smtClean="0">
                                <a:latin typeface="Cambria Math" panose="02040503050406030204" pitchFamily="18" charset="0"/>
                                <a:ea typeface="Calibri" panose="020F0502020204030204" pitchFamily="34" charset="0"/>
                                <a:cs typeface="Times New Roman" panose="02020603050405020304" pitchFamily="18" charset="0"/>
                              </a:rPr>
                              <m:t>𝑇</m:t>
                            </m:r>
                          </m:e>
                          <m:sub>
                            <m:r>
                              <a:rPr lang="en-US" sz="2400" b="0" i="1" kern="100" smtClean="0">
                                <a:latin typeface="Cambria Math" panose="02040503050406030204" pitchFamily="18" charset="0"/>
                                <a:ea typeface="Calibri" panose="020F0502020204030204" pitchFamily="34" charset="0"/>
                                <a:cs typeface="Times New Roman" panose="02020603050405020304" pitchFamily="18" charset="0"/>
                              </a:rPr>
                              <m:t>𝑂𝑁</m:t>
                            </m:r>
                          </m:sub>
                        </m:sSub>
                      </m:num>
                      <m:den>
                        <m:r>
                          <a:rPr lang="en-US" sz="2400" b="0" i="1" kern="100" smtClean="0">
                            <a:latin typeface="Cambria Math" panose="02040503050406030204" pitchFamily="18" charset="0"/>
                            <a:ea typeface="Calibri" panose="020F0502020204030204" pitchFamily="34" charset="0"/>
                            <a:cs typeface="Times New Roman" panose="02020603050405020304" pitchFamily="18" charset="0"/>
                          </a:rPr>
                          <m:t>(</m:t>
                        </m:r>
                        <m:sSub>
                          <m:sSubPr>
                            <m:ctrlPr>
                              <a:rPr lang="en-US" sz="2400" i="1" kern="100" smtClean="0">
                                <a:latin typeface="Cambria Math" panose="02040503050406030204" pitchFamily="18" charset="0"/>
                                <a:ea typeface="Calibri" panose="020F0502020204030204" pitchFamily="34" charset="0"/>
                                <a:cs typeface="Times New Roman" panose="02020603050405020304" pitchFamily="18" charset="0"/>
                              </a:rPr>
                            </m:ctrlPr>
                          </m:sSubPr>
                          <m:e>
                            <m:r>
                              <a:rPr lang="en-US" sz="2400" b="0" i="1" kern="100" smtClean="0">
                                <a:latin typeface="Cambria Math" panose="02040503050406030204" pitchFamily="18" charset="0"/>
                                <a:ea typeface="Calibri" panose="020F0502020204030204" pitchFamily="34" charset="0"/>
                                <a:cs typeface="Times New Roman" panose="02020603050405020304" pitchFamily="18" charset="0"/>
                              </a:rPr>
                              <m:t>𝑇</m:t>
                            </m:r>
                          </m:e>
                          <m:sub>
                            <m:r>
                              <a:rPr lang="en-US" sz="2400" b="0" i="1" kern="100" smtClean="0">
                                <a:latin typeface="Cambria Math" panose="02040503050406030204" pitchFamily="18" charset="0"/>
                                <a:ea typeface="Calibri" panose="020F0502020204030204" pitchFamily="34" charset="0"/>
                                <a:cs typeface="Times New Roman" panose="02020603050405020304" pitchFamily="18" charset="0"/>
                              </a:rPr>
                              <m:t>𝑂𝑁</m:t>
                            </m:r>
                          </m:sub>
                        </m:sSub>
                        <m:r>
                          <a:rPr lang="en-US" sz="2400" i="1" kern="100" smtClean="0">
                            <a:latin typeface="Cambria Math" panose="02040503050406030204" pitchFamily="18" charset="0"/>
                            <a:ea typeface="Cambria Math" panose="02040503050406030204" pitchFamily="18" charset="0"/>
                            <a:cs typeface="Times New Roman" panose="02020603050405020304" pitchFamily="18" charset="0"/>
                          </a:rPr>
                          <m:t>+</m:t>
                        </m:r>
                        <m:sSub>
                          <m:sSubPr>
                            <m:ctrlPr>
                              <a:rPr lang="en-US" sz="2400" i="1" kern="100" smtClean="0">
                                <a:latin typeface="Cambria Math" panose="02040503050406030204" pitchFamily="18" charset="0"/>
                                <a:ea typeface="Calibri" panose="020F0502020204030204" pitchFamily="34" charset="0"/>
                                <a:cs typeface="Times New Roman" panose="02020603050405020304" pitchFamily="18" charset="0"/>
                              </a:rPr>
                            </m:ctrlPr>
                          </m:sSubPr>
                          <m:e>
                            <m:r>
                              <a:rPr lang="en-US" sz="2400" b="0" i="1" kern="100" smtClean="0">
                                <a:latin typeface="Cambria Math" panose="02040503050406030204" pitchFamily="18" charset="0"/>
                                <a:ea typeface="Calibri" panose="020F0502020204030204" pitchFamily="34" charset="0"/>
                                <a:cs typeface="Times New Roman" panose="02020603050405020304" pitchFamily="18" charset="0"/>
                              </a:rPr>
                              <m:t>𝑇</m:t>
                            </m:r>
                          </m:e>
                          <m:sub>
                            <m:r>
                              <a:rPr lang="en-US" sz="2400" b="0" i="1" kern="100" smtClean="0">
                                <a:latin typeface="Cambria Math" panose="02040503050406030204" pitchFamily="18" charset="0"/>
                                <a:ea typeface="Calibri" panose="020F0502020204030204" pitchFamily="34" charset="0"/>
                                <a:cs typeface="Times New Roman" panose="02020603050405020304" pitchFamily="18" charset="0"/>
                              </a:rPr>
                              <m:t>𝑂𝐹𝐹</m:t>
                            </m:r>
                            <m:r>
                              <a:rPr lang="en-US" sz="2400" b="0" i="1" kern="100" smtClean="0">
                                <a:latin typeface="Cambria Math" panose="02040503050406030204" pitchFamily="18" charset="0"/>
                                <a:ea typeface="Calibri" panose="020F0502020204030204" pitchFamily="34" charset="0"/>
                                <a:cs typeface="Times New Roman" panose="02020603050405020304" pitchFamily="18" charset="0"/>
                              </a:rPr>
                              <m:t>)</m:t>
                            </m:r>
                          </m:sub>
                        </m:sSub>
                      </m:den>
                    </m:f>
                  </m:oMath>
                </a14:m>
                <a:endParaRPr lang="en-US" sz="2400" kern="100" dirty="0">
                  <a:latin typeface="Century Gothic" panose="020B0502020202020204" pitchFamily="34" charset="0"/>
                  <a:ea typeface="Calibri" panose="020F0502020204030204" pitchFamily="34" charset="0"/>
                  <a:cs typeface="Times New Roman" panose="02020603050405020304" pitchFamily="18" charset="0"/>
                </a:endParaRPr>
              </a:p>
              <a:p>
                <a:pPr lvl="1">
                  <a:buClr>
                    <a:schemeClr val="accent2"/>
                  </a:buClr>
                </a:pPr>
                <a:endParaRPr lang="en-US" sz="2400" kern="100" dirty="0">
                  <a:latin typeface="Century Gothic" panose="020B0502020202020204" pitchFamily="34" charset="0"/>
                  <a:ea typeface="Calibri" panose="020F0502020204030204" pitchFamily="34" charset="0"/>
                  <a:cs typeface="Times New Roman" panose="02020603050405020304" pitchFamily="18" charset="0"/>
                </a:endParaRPr>
              </a:p>
            </p:txBody>
          </p:sp>
        </mc:Choice>
        <mc:Fallback xmlns="">
          <p:sp>
            <p:nvSpPr>
              <p:cNvPr id="6" name="TextBox 5">
                <a:extLst>
                  <a:ext uri="{FF2B5EF4-FFF2-40B4-BE49-F238E27FC236}">
                    <a16:creationId xmlns:a16="http://schemas.microsoft.com/office/drawing/2014/main" id="{6BAA1F11-5BEF-4D80-964F-A7332E36BFA0}"/>
                  </a:ext>
                </a:extLst>
              </p:cNvPr>
              <p:cNvSpPr txBox="1">
                <a:spLocks noRot="1" noChangeAspect="1" noMove="1" noResize="1" noEditPoints="1" noAdjustHandles="1" noChangeArrowheads="1" noChangeShapeType="1" noTextEdit="1"/>
              </p:cNvSpPr>
              <p:nvPr/>
            </p:nvSpPr>
            <p:spPr>
              <a:xfrm>
                <a:off x="721671" y="468107"/>
                <a:ext cx="10315575" cy="6242606"/>
              </a:xfrm>
              <a:prstGeom prst="rect">
                <a:avLst/>
              </a:prstGeom>
              <a:blipFill>
                <a:blip r:embed="rId2"/>
                <a:stretch>
                  <a:fillRect t="-682" r="-1121"/>
                </a:stretch>
              </a:blipFill>
              <a:ln>
                <a:solidFill>
                  <a:srgbClr val="FF0066"/>
                </a:solidFill>
              </a:ln>
            </p:spPr>
            <p:txBody>
              <a:bodyPr/>
              <a:lstStyle/>
              <a:p>
                <a:r>
                  <a:rPr lang="en-US">
                    <a:noFill/>
                  </a:rPr>
                  <a:t> </a:t>
                </a:r>
              </a:p>
            </p:txBody>
          </p:sp>
        </mc:Fallback>
      </mc:AlternateContent>
      <p:sp>
        <p:nvSpPr>
          <p:cNvPr id="2" name="TextBox 1">
            <a:extLst>
              <a:ext uri="{FF2B5EF4-FFF2-40B4-BE49-F238E27FC236}">
                <a16:creationId xmlns:a16="http://schemas.microsoft.com/office/drawing/2014/main" id="{1BD8016C-B677-4BEB-86C7-5F4D5DE2B249}"/>
              </a:ext>
            </a:extLst>
          </p:cNvPr>
          <p:cNvSpPr txBox="1"/>
          <p:nvPr/>
        </p:nvSpPr>
        <p:spPr>
          <a:xfrm>
            <a:off x="5637178" y="3570051"/>
            <a:ext cx="65" cy="276999"/>
          </a:xfrm>
          <a:prstGeom prst="rect">
            <a:avLst/>
          </a:prstGeom>
          <a:noFill/>
        </p:spPr>
        <p:txBody>
          <a:bodyPr wrap="none" lIns="0" tIns="0" rIns="0" bIns="0" rtlCol="0">
            <a:spAutoFit/>
          </a:bodyPr>
          <a:lstStyle/>
          <a:p>
            <a:endParaRPr lang="en-US" dirty="0"/>
          </a:p>
        </p:txBody>
      </p:sp>
    </p:spTree>
    <p:extLst>
      <p:ext uri="{BB962C8B-B14F-4D97-AF65-F5344CB8AC3E}">
        <p14:creationId xmlns:p14="http://schemas.microsoft.com/office/powerpoint/2010/main" val="76392505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6">
            <a:extLst>
              <a:ext uri="{FF2B5EF4-FFF2-40B4-BE49-F238E27FC236}">
                <a16:creationId xmlns:a16="http://schemas.microsoft.com/office/drawing/2014/main" id="{56080804-F19F-41A7-8595-943961648C5E}"/>
              </a:ext>
            </a:extLst>
          </p:cNvPr>
          <p:cNvSpPr>
            <a:spLocks noGrp="1"/>
          </p:cNvSpPr>
          <p:nvPr>
            <p:ph type="sldNum" sz="quarter" idx="12"/>
          </p:nvPr>
        </p:nvSpPr>
        <p:spPr>
          <a:xfrm>
            <a:off x="8610600" y="6441692"/>
            <a:ext cx="2743200" cy="370027"/>
          </a:xfrm>
        </p:spPr>
        <p:txBody>
          <a:bodyPr/>
          <a:lstStyle/>
          <a:p>
            <a:fld id="{F4801FD5-11B4-DE43-ACA2-E85EEB9A6F9C}" type="slidenum">
              <a:rPr lang="en-US" smtClean="0">
                <a:latin typeface="Garamond" panose="02020404030301010803" pitchFamily="18" charset="0"/>
              </a:rPr>
              <a:t>14</a:t>
            </a:fld>
            <a:endParaRPr lang="en-US">
              <a:latin typeface="Garamond" panose="02020404030301010803" pitchFamily="18" charset="0"/>
            </a:endParaRPr>
          </a:p>
        </p:txBody>
      </p:sp>
      <p:sp>
        <p:nvSpPr>
          <p:cNvPr id="5" name="Title 1">
            <a:extLst>
              <a:ext uri="{FF2B5EF4-FFF2-40B4-BE49-F238E27FC236}">
                <a16:creationId xmlns:a16="http://schemas.microsoft.com/office/drawing/2014/main" id="{4710AE4B-0DB8-4451-B9E4-10BAE11B4D3A}"/>
              </a:ext>
            </a:extLst>
          </p:cNvPr>
          <p:cNvSpPr>
            <a:spLocks noGrp="1"/>
          </p:cNvSpPr>
          <p:nvPr>
            <p:ph type="title"/>
          </p:nvPr>
        </p:nvSpPr>
        <p:spPr>
          <a:xfrm>
            <a:off x="3254625" y="82938"/>
            <a:ext cx="6026397" cy="558382"/>
          </a:xfrm>
        </p:spPr>
        <p:txBody>
          <a:bodyPr>
            <a:noAutofit/>
          </a:bodyPr>
          <a:lstStyle/>
          <a:p>
            <a:pPr algn="ctr"/>
            <a:r>
              <a:rPr lang="en-US" sz="3200" b="1" u="sng" dirty="0">
                <a:solidFill>
                  <a:srgbClr val="FF3386"/>
                </a:solidFill>
                <a:latin typeface="Century Gothic" panose="020B0502020202020204" pitchFamily="34" charset="0"/>
                <a:cs typeface="Helvetica"/>
              </a:rPr>
              <a:t>POWER COMPUTATION</a:t>
            </a:r>
          </a:p>
        </p:txBody>
      </p:sp>
      <p:sp>
        <p:nvSpPr>
          <p:cNvPr id="6" name="TextBox 5">
            <a:extLst>
              <a:ext uri="{FF2B5EF4-FFF2-40B4-BE49-F238E27FC236}">
                <a16:creationId xmlns:a16="http://schemas.microsoft.com/office/drawing/2014/main" id="{6BAA1F11-5BEF-4D80-964F-A7332E36BFA0}"/>
              </a:ext>
            </a:extLst>
          </p:cNvPr>
          <p:cNvSpPr txBox="1"/>
          <p:nvPr/>
        </p:nvSpPr>
        <p:spPr>
          <a:xfrm>
            <a:off x="1640740" y="1186502"/>
            <a:ext cx="9254165" cy="5632311"/>
          </a:xfrm>
          <a:prstGeom prst="rect">
            <a:avLst/>
          </a:prstGeom>
          <a:noFill/>
          <a:ln>
            <a:solidFill>
              <a:srgbClr val="FF0066"/>
            </a:solidFill>
          </a:ln>
        </p:spPr>
        <p:txBody>
          <a:bodyPr wrap="square" rtlCol="0">
            <a:spAutoFit/>
          </a:bodyPr>
          <a:lstStyle/>
          <a:p>
            <a:pPr marL="457200" indent="-457200">
              <a:buClr>
                <a:schemeClr val="accent2"/>
              </a:buClr>
              <a:buFont typeface="Arial" panose="020B0604020202020204" pitchFamily="34" charset="0"/>
              <a:buChar char="•"/>
            </a:pPr>
            <a:r>
              <a:rPr lang="en-GB" sz="2400" b="1" dirty="0">
                <a:solidFill>
                  <a:srgbClr val="0000CC"/>
                </a:solidFill>
                <a:latin typeface="Century Gothic" panose="020B0502020202020204" pitchFamily="34" charset="0"/>
              </a:rPr>
              <a:t>Instantaneous Power    </a:t>
            </a:r>
          </a:p>
          <a:p>
            <a:pPr>
              <a:buClr>
                <a:schemeClr val="accent2"/>
              </a:buClr>
            </a:pPr>
            <a:endParaRPr lang="en-GB" sz="2400" b="1" dirty="0">
              <a:solidFill>
                <a:srgbClr val="0000CC"/>
              </a:solidFill>
              <a:latin typeface="Century Gothic" panose="020B0502020202020204" pitchFamily="34" charset="0"/>
            </a:endParaRPr>
          </a:p>
          <a:p>
            <a:pPr algn="ctr">
              <a:buClr>
                <a:schemeClr val="accent2"/>
              </a:buClr>
            </a:pPr>
            <a:endParaRPr lang="en-GB" sz="2400" b="1" dirty="0">
              <a:solidFill>
                <a:srgbClr val="0000CC"/>
              </a:solidFill>
              <a:latin typeface="Century Gothic" panose="020B0502020202020204" pitchFamily="34" charset="0"/>
            </a:endParaRPr>
          </a:p>
          <a:p>
            <a:pPr algn="ctr">
              <a:buClr>
                <a:schemeClr val="accent2"/>
              </a:buClr>
            </a:pPr>
            <a:r>
              <a:rPr lang="en-GB" sz="2400" b="1" dirty="0">
                <a:latin typeface="Century Gothic" panose="020B0502020202020204" pitchFamily="34" charset="0"/>
              </a:rPr>
              <a:t>	 </a:t>
            </a:r>
            <a:endParaRPr lang="en-GB" sz="2400" b="1" kern="100" dirty="0">
              <a:solidFill>
                <a:srgbClr val="FF0000"/>
              </a:solidFill>
              <a:effectLst/>
              <a:latin typeface="Century Gothic" panose="020B0502020202020204" pitchFamily="34" charset="0"/>
              <a:ea typeface="Calibri" panose="020F0502020204030204" pitchFamily="34" charset="0"/>
              <a:cs typeface="Times New Roman" panose="02020603050405020304" pitchFamily="18" charset="0"/>
            </a:endParaRPr>
          </a:p>
          <a:p>
            <a:pPr>
              <a:buClr>
                <a:schemeClr val="accent2"/>
              </a:buClr>
            </a:pPr>
            <a:endParaRPr lang="en-GB" sz="2400" b="1" kern="100" dirty="0">
              <a:solidFill>
                <a:srgbClr val="FF0000"/>
              </a:solidFill>
              <a:latin typeface="Century Gothic" panose="020B0502020202020204" pitchFamily="34" charset="0"/>
              <a:ea typeface="Calibri" panose="020F0502020204030204" pitchFamily="34" charset="0"/>
              <a:cs typeface="Times New Roman" panose="02020603050405020304" pitchFamily="18" charset="0"/>
            </a:endParaRPr>
          </a:p>
          <a:p>
            <a:pPr>
              <a:buClr>
                <a:schemeClr val="accent2"/>
              </a:buClr>
            </a:pPr>
            <a:endParaRPr lang="en-GB" sz="2400" b="1" kern="100" dirty="0">
              <a:solidFill>
                <a:srgbClr val="FF0000"/>
              </a:solidFill>
              <a:effectLst/>
              <a:latin typeface="Century Gothic" panose="020B0502020202020204" pitchFamily="34" charset="0"/>
              <a:ea typeface="Calibri" panose="020F0502020204030204" pitchFamily="34" charset="0"/>
              <a:cs typeface="Times New Roman" panose="02020603050405020304" pitchFamily="18" charset="0"/>
            </a:endParaRPr>
          </a:p>
          <a:p>
            <a:pPr>
              <a:buClr>
                <a:schemeClr val="accent2"/>
              </a:buClr>
            </a:pPr>
            <a:r>
              <a:rPr lang="en-GB" sz="2400" b="1" kern="100" dirty="0">
                <a:solidFill>
                  <a:srgbClr val="FF0000"/>
                </a:solidFill>
                <a:latin typeface="Century Gothic" panose="020B0502020202020204" pitchFamily="34" charset="0"/>
                <a:ea typeface="Calibri" panose="020F0502020204030204" pitchFamily="34" charset="0"/>
                <a:cs typeface="Times New Roman" panose="02020603050405020304" pitchFamily="18" charset="0"/>
              </a:rPr>
              <a:t>                       </a:t>
            </a:r>
            <a:br>
              <a:rPr lang="en-GB" sz="2400" b="1" kern="100" dirty="0">
                <a:solidFill>
                  <a:srgbClr val="FF0000"/>
                </a:solidFill>
                <a:latin typeface="Century Gothic" panose="020B0502020202020204" pitchFamily="34" charset="0"/>
                <a:ea typeface="Calibri" panose="020F0502020204030204" pitchFamily="34" charset="0"/>
                <a:cs typeface="Times New Roman" panose="02020603050405020304" pitchFamily="18" charset="0"/>
              </a:rPr>
            </a:br>
            <a:r>
              <a:rPr lang="en-GB" sz="2400" kern="100" dirty="0">
                <a:solidFill>
                  <a:srgbClr val="FF0000"/>
                </a:solidFill>
                <a:latin typeface="Century Gothic" panose="020B0502020202020204" pitchFamily="34" charset="0"/>
                <a:ea typeface="Calibri" panose="020F0502020204030204" pitchFamily="34" charset="0"/>
                <a:cs typeface="Times New Roman" panose="02020603050405020304" pitchFamily="18" charset="0"/>
              </a:rPr>
              <a:t>                                        </a:t>
            </a:r>
            <a:r>
              <a:rPr lang="en-GB" sz="2400" kern="100" dirty="0">
                <a:latin typeface="Century Gothic" panose="020B0502020202020204" pitchFamily="34" charset="0"/>
                <a:ea typeface="Calibri" panose="020F0502020204030204" pitchFamily="34" charset="0"/>
                <a:cs typeface="Times New Roman" panose="02020603050405020304" pitchFamily="18" charset="0"/>
              </a:rPr>
              <a:t>(a)             (b)</a:t>
            </a:r>
            <a:endParaRPr lang="en-GB" sz="2400" kern="100" dirty="0">
              <a:solidFill>
                <a:srgbClr val="FF0000"/>
              </a:solidFill>
              <a:latin typeface="Century Gothic" panose="020B0502020202020204" pitchFamily="34" charset="0"/>
              <a:ea typeface="Calibri" panose="020F0502020204030204" pitchFamily="34" charset="0"/>
              <a:cs typeface="Times New Roman" panose="02020603050405020304" pitchFamily="18" charset="0"/>
            </a:endParaRPr>
          </a:p>
          <a:p>
            <a:pPr>
              <a:buClr>
                <a:schemeClr val="accent2"/>
              </a:buClr>
            </a:pPr>
            <a:endParaRPr lang="en-GB" sz="2400" b="1" kern="100" dirty="0">
              <a:solidFill>
                <a:srgbClr val="FF0000"/>
              </a:solidFill>
              <a:effectLst/>
              <a:latin typeface="Century Gothic" panose="020B0502020202020204" pitchFamily="34" charset="0"/>
              <a:ea typeface="Calibri" panose="020F0502020204030204" pitchFamily="34" charset="0"/>
              <a:cs typeface="Times New Roman" panose="02020603050405020304" pitchFamily="18" charset="0"/>
            </a:endParaRPr>
          </a:p>
          <a:p>
            <a:pPr>
              <a:buClr>
                <a:schemeClr val="accent2"/>
              </a:buClr>
            </a:pPr>
            <a:endParaRPr lang="en-GB" sz="2400" b="1" kern="100" dirty="0">
              <a:solidFill>
                <a:srgbClr val="FF0000"/>
              </a:solidFill>
              <a:effectLst/>
              <a:latin typeface="Century Gothic" panose="020B0502020202020204" pitchFamily="34" charset="0"/>
              <a:ea typeface="Calibri" panose="020F0502020204030204" pitchFamily="34" charset="0"/>
              <a:cs typeface="Times New Roman" panose="02020603050405020304" pitchFamily="18" charset="0"/>
            </a:endParaRPr>
          </a:p>
          <a:p>
            <a:pPr marL="342900" indent="-342900">
              <a:buClr>
                <a:schemeClr val="accent2"/>
              </a:buClr>
              <a:buFont typeface="Arial" panose="020B0604020202020204" pitchFamily="34" charset="0"/>
              <a:buChar char="•"/>
            </a:pPr>
            <a:r>
              <a:rPr lang="en-US" sz="2400" kern="100" dirty="0">
                <a:effectLst/>
                <a:latin typeface="Century Gothic" panose="020B0502020202020204" pitchFamily="34" charset="0"/>
                <a:ea typeface="Calibri" panose="020F0502020204030204" pitchFamily="34" charset="0"/>
                <a:cs typeface="Times New Roman" panose="02020603050405020304" pitchFamily="18" charset="0"/>
              </a:rPr>
              <a:t>  </a:t>
            </a:r>
            <a:r>
              <a:rPr lang="en-US" sz="2400" b="1" kern="100" dirty="0">
                <a:solidFill>
                  <a:srgbClr val="0000CC"/>
                </a:solidFill>
                <a:latin typeface="Century Gothic" panose="020B0502020202020204" pitchFamily="34" charset="0"/>
                <a:ea typeface="Calibri" panose="020F0502020204030204" pitchFamily="34" charset="0"/>
                <a:cs typeface="Times New Roman" panose="02020603050405020304" pitchFamily="18" charset="0"/>
              </a:rPr>
              <a:t>Average Power</a:t>
            </a:r>
            <a:r>
              <a:rPr lang="en-US" sz="2400" kern="100" dirty="0">
                <a:effectLst/>
                <a:latin typeface="Century Gothic" panose="020B0502020202020204" pitchFamily="34" charset="0"/>
                <a:ea typeface="Calibri" panose="020F0502020204030204" pitchFamily="34" charset="0"/>
                <a:cs typeface="Times New Roman" panose="02020603050405020304" pitchFamily="18" charset="0"/>
              </a:rPr>
              <a:t> </a:t>
            </a:r>
          </a:p>
          <a:p>
            <a:pPr>
              <a:buClr>
                <a:schemeClr val="accent2"/>
              </a:buClr>
            </a:pPr>
            <a:r>
              <a:rPr lang="en-US" sz="2400" kern="100" dirty="0">
                <a:latin typeface="Century Gothic" panose="020B0502020202020204" pitchFamily="34" charset="0"/>
                <a:ea typeface="Calibri" panose="020F0502020204030204" pitchFamily="34" charset="0"/>
                <a:cs typeface="Times New Roman" panose="02020603050405020304" pitchFamily="18" charset="0"/>
              </a:rPr>
              <a:t>                                 </a:t>
            </a:r>
          </a:p>
          <a:p>
            <a:pPr>
              <a:buClr>
                <a:schemeClr val="accent2"/>
              </a:buClr>
            </a:pPr>
            <a:r>
              <a:rPr lang="en-US" sz="2400" kern="100" dirty="0">
                <a:latin typeface="Century Gothic" panose="020B0502020202020204" pitchFamily="34" charset="0"/>
                <a:ea typeface="Calibri" panose="020F0502020204030204" pitchFamily="34" charset="0"/>
                <a:cs typeface="Times New Roman" panose="02020603050405020304" pitchFamily="18" charset="0"/>
              </a:rPr>
              <a:t>								</a:t>
            </a:r>
          </a:p>
          <a:p>
            <a:pPr>
              <a:buClr>
                <a:schemeClr val="accent2"/>
              </a:buClr>
            </a:pPr>
            <a:endParaRPr lang="en-GB" sz="2400" kern="100" dirty="0">
              <a:latin typeface="Century Gothic" panose="020B0502020202020204" pitchFamily="34" charset="0"/>
              <a:ea typeface="Calibri" panose="020F0502020204030204" pitchFamily="34" charset="0"/>
              <a:cs typeface="Times New Roman" panose="02020603050405020304" pitchFamily="18" charset="0"/>
            </a:endParaRPr>
          </a:p>
          <a:p>
            <a:pPr>
              <a:buClr>
                <a:schemeClr val="accent2"/>
              </a:buClr>
            </a:pPr>
            <a:r>
              <a:rPr lang="en-GB" sz="2400" kern="100" dirty="0">
                <a:latin typeface="Century Gothic" panose="020B0502020202020204" pitchFamily="34" charset="0"/>
                <a:ea typeface="Calibri" panose="020F0502020204030204" pitchFamily="34" charset="0"/>
                <a:cs typeface="Times New Roman" panose="02020603050405020304" pitchFamily="18" charset="0"/>
              </a:rPr>
              <a:t>	where T is the period of the power waveform</a:t>
            </a:r>
          </a:p>
        </p:txBody>
      </p:sp>
      <p:sp>
        <p:nvSpPr>
          <p:cNvPr id="7" name="TextBox 6">
            <a:extLst>
              <a:ext uri="{FF2B5EF4-FFF2-40B4-BE49-F238E27FC236}">
                <a16:creationId xmlns:a16="http://schemas.microsoft.com/office/drawing/2014/main" id="{C36AA635-C21F-49F3-BF21-4CBE4C20709B}"/>
              </a:ext>
            </a:extLst>
          </p:cNvPr>
          <p:cNvSpPr txBox="1"/>
          <p:nvPr/>
        </p:nvSpPr>
        <p:spPr>
          <a:xfrm>
            <a:off x="5269122" y="6059046"/>
            <a:ext cx="823314" cy="373051"/>
          </a:xfrm>
          <a:prstGeom prst="rect">
            <a:avLst/>
          </a:prstGeom>
          <a:noFill/>
        </p:spPr>
        <p:txBody>
          <a:bodyPr wrap="square" rtlCol="0">
            <a:spAutoFit/>
          </a:bodyPr>
          <a:lstStyle/>
          <a:p>
            <a:pPr algn="ctr"/>
            <a:endParaRPr lang="en-GB" sz="1824" dirty="0">
              <a:latin typeface="Garamond" panose="02020404030301010803" pitchFamily="18" charset="0"/>
            </a:endParaRPr>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77B917BE-6A20-4BAD-970E-5BAF464FDDDB}"/>
                  </a:ext>
                </a:extLst>
              </p:cNvPr>
              <p:cNvSpPr txBox="1"/>
              <p:nvPr/>
            </p:nvSpPr>
            <p:spPr>
              <a:xfrm>
                <a:off x="5635235" y="1298643"/>
                <a:ext cx="2438721" cy="369332"/>
              </a:xfrm>
              <a:prstGeom prst="rect">
                <a:avLst/>
              </a:prstGeom>
              <a:noFill/>
            </p:spPr>
            <p:txBody>
              <a:bodyPr wrap="square" rtlCol="0">
                <a:spAutoFit/>
              </a:bodyPr>
              <a:lstStyle/>
              <a:p>
                <a14:m>
                  <m:oMath xmlns:m="http://schemas.openxmlformats.org/officeDocument/2006/math">
                    <m:r>
                      <a:rPr lang="en-US" b="0" i="1" smtClean="0">
                        <a:latin typeface="Cambria Math" panose="02040503050406030204" pitchFamily="18" charset="0"/>
                      </a:rPr>
                      <m:t>𝑝</m:t>
                    </m:r>
                    <m:r>
                      <a:rPr lang="en-US" b="0" i="1" smtClean="0">
                        <a:latin typeface="Cambria Math" panose="02040503050406030204" pitchFamily="18" charset="0"/>
                      </a:rPr>
                      <m:t>(</m:t>
                    </m:r>
                    <m:r>
                      <a:rPr lang="en-US" b="0" i="1" smtClean="0">
                        <a:latin typeface="Cambria Math" panose="02040503050406030204" pitchFamily="18" charset="0"/>
                      </a:rPr>
                      <m:t>𝑡</m:t>
                    </m:r>
                    <m:r>
                      <a:rPr lang="en-US" b="0" i="1" smtClean="0">
                        <a:latin typeface="Cambria Math" panose="02040503050406030204" pitchFamily="18" charset="0"/>
                      </a:rPr>
                      <m:t>)</m:t>
                    </m:r>
                  </m:oMath>
                </a14:m>
                <a:r>
                  <a:rPr lang="en-US" dirty="0"/>
                  <a:t> = </a:t>
                </a:r>
                <a14:m>
                  <m:oMath xmlns:m="http://schemas.openxmlformats.org/officeDocument/2006/math">
                    <m:r>
                      <a:rPr lang="en-US" b="0" i="1" smtClean="0">
                        <a:latin typeface="Cambria Math" panose="02040503050406030204" pitchFamily="18" charset="0"/>
                      </a:rPr>
                      <m:t>𝑣</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𝑖</m:t>
                    </m:r>
                    <m:r>
                      <a:rPr lang="en-US" b="0" i="1" smtClean="0">
                        <a:latin typeface="Cambria Math" panose="02040503050406030204" pitchFamily="18" charset="0"/>
                      </a:rPr>
                      <m:t>(</m:t>
                    </m:r>
                    <m:r>
                      <a:rPr lang="en-US" b="0" i="1" smtClean="0">
                        <a:latin typeface="Cambria Math" panose="02040503050406030204" pitchFamily="18" charset="0"/>
                      </a:rPr>
                      <m:t>𝑡</m:t>
                    </m:r>
                    <m:r>
                      <a:rPr lang="en-US" b="0" i="1" smtClean="0">
                        <a:latin typeface="Cambria Math" panose="02040503050406030204" pitchFamily="18" charset="0"/>
                      </a:rPr>
                      <m:t>)</m:t>
                    </m:r>
                  </m:oMath>
                </a14:m>
                <a:endParaRPr lang="en-US" dirty="0"/>
              </a:p>
            </p:txBody>
          </p:sp>
        </mc:Choice>
        <mc:Fallback xmlns="">
          <p:sp>
            <p:nvSpPr>
              <p:cNvPr id="2" name="TextBox 1">
                <a:extLst>
                  <a:ext uri="{FF2B5EF4-FFF2-40B4-BE49-F238E27FC236}">
                    <a16:creationId xmlns:a16="http://schemas.microsoft.com/office/drawing/2014/main" id="{77B917BE-6A20-4BAD-970E-5BAF464FDDDB}"/>
                  </a:ext>
                </a:extLst>
              </p:cNvPr>
              <p:cNvSpPr txBox="1">
                <a:spLocks noRot="1" noChangeAspect="1" noMove="1" noResize="1" noEditPoints="1" noAdjustHandles="1" noChangeArrowheads="1" noChangeShapeType="1" noTextEdit="1"/>
              </p:cNvSpPr>
              <p:nvPr/>
            </p:nvSpPr>
            <p:spPr>
              <a:xfrm>
                <a:off x="5635235" y="1298643"/>
                <a:ext cx="2438721" cy="369332"/>
              </a:xfrm>
              <a:prstGeom prst="rect">
                <a:avLst/>
              </a:prstGeom>
              <a:blipFill>
                <a:blip r:embed="rId3"/>
                <a:stretch>
                  <a:fillRect t="-8197" b="-24590"/>
                </a:stretch>
              </a:blipFill>
            </p:spPr>
            <p:txBody>
              <a:bodyPr/>
              <a:lstStyle/>
              <a:p>
                <a:r>
                  <a:rPr lang="en-US">
                    <a:noFill/>
                  </a:rPr>
                  <a:t> </a:t>
                </a:r>
              </a:p>
            </p:txBody>
          </p:sp>
        </mc:Fallback>
      </mc:AlternateContent>
      <p:pic>
        <p:nvPicPr>
          <p:cNvPr id="11" name="Picture 10">
            <a:extLst>
              <a:ext uri="{FF2B5EF4-FFF2-40B4-BE49-F238E27FC236}">
                <a16:creationId xmlns:a16="http://schemas.microsoft.com/office/drawing/2014/main" id="{AABB9040-44E7-4B22-B8E9-F693CEC56F5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809359" y="2003303"/>
            <a:ext cx="1114820" cy="1797304"/>
          </a:xfrm>
          <a:prstGeom prst="rect">
            <a:avLst/>
          </a:prstGeom>
        </p:spPr>
      </p:pic>
      <p:pic>
        <p:nvPicPr>
          <p:cNvPr id="13" name="Picture 12">
            <a:extLst>
              <a:ext uri="{FF2B5EF4-FFF2-40B4-BE49-F238E27FC236}">
                <a16:creationId xmlns:a16="http://schemas.microsoft.com/office/drawing/2014/main" id="{6B2E8A39-F696-44DC-A707-97CAAFB59B39}"/>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235234" y="2079667"/>
            <a:ext cx="1114820" cy="1644576"/>
          </a:xfrm>
          <a:prstGeom prst="rect">
            <a:avLst/>
          </a:prstGeom>
        </p:spPr>
      </p:pic>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F41E46BD-0D4B-4D85-92A1-49E39B541E21}"/>
                  </a:ext>
                </a:extLst>
              </p:cNvPr>
              <p:cNvSpPr txBox="1"/>
              <p:nvPr/>
            </p:nvSpPr>
            <p:spPr>
              <a:xfrm>
                <a:off x="3857619" y="5400049"/>
                <a:ext cx="4216337" cy="507896"/>
              </a:xfrm>
              <a:prstGeom prst="rect">
                <a:avLst/>
              </a:prstGeom>
              <a:solidFill>
                <a:srgbClr val="00FFFF"/>
              </a:solidFill>
            </p:spPr>
            <p:txBody>
              <a:bodyPr wrap="square" rtlCol="0">
                <a:spAutoFit/>
              </a:bodyPr>
              <a:lstStyle/>
              <a:p>
                <a:r>
                  <a:rPr lang="en-US" b="1" dirty="0">
                    <a:solidFill>
                      <a:srgbClr val="0000CC"/>
                    </a:solidFill>
                  </a:rPr>
                  <a:t>P = </a:t>
                </a:r>
                <a14:m>
                  <m:oMath xmlns:m="http://schemas.openxmlformats.org/officeDocument/2006/math">
                    <m:f>
                      <m:fPr>
                        <m:ctrlPr>
                          <a:rPr lang="en-US" b="1" i="1" smtClean="0">
                            <a:solidFill>
                              <a:srgbClr val="0000CC"/>
                            </a:solidFill>
                            <a:latin typeface="Cambria Math" panose="02040503050406030204" pitchFamily="18" charset="0"/>
                          </a:rPr>
                        </m:ctrlPr>
                      </m:fPr>
                      <m:num>
                        <m:r>
                          <a:rPr lang="en-US" b="1" i="1" smtClean="0">
                            <a:solidFill>
                              <a:srgbClr val="0000CC"/>
                            </a:solidFill>
                            <a:latin typeface="Cambria Math" panose="02040503050406030204" pitchFamily="18" charset="0"/>
                          </a:rPr>
                          <m:t>𝟏</m:t>
                        </m:r>
                      </m:num>
                      <m:den>
                        <m:r>
                          <a:rPr lang="en-US" b="1" i="1" smtClean="0">
                            <a:solidFill>
                              <a:srgbClr val="0000CC"/>
                            </a:solidFill>
                            <a:latin typeface="Cambria Math" panose="02040503050406030204" pitchFamily="18" charset="0"/>
                          </a:rPr>
                          <m:t>𝑻</m:t>
                        </m:r>
                      </m:den>
                    </m:f>
                  </m:oMath>
                </a14:m>
                <a:r>
                  <a:rPr lang="en-US" b="1" dirty="0">
                    <a:solidFill>
                      <a:srgbClr val="0000CC"/>
                    </a:solidFill>
                  </a:rPr>
                  <a:t> </a:t>
                </a:r>
                <a14:m>
                  <m:oMath xmlns:m="http://schemas.openxmlformats.org/officeDocument/2006/math">
                    <m:nary>
                      <m:naryPr>
                        <m:limLoc m:val="undOvr"/>
                        <m:ctrlPr>
                          <a:rPr lang="en-US" b="1" i="1" dirty="0" smtClean="0">
                            <a:solidFill>
                              <a:srgbClr val="0000CC"/>
                            </a:solidFill>
                            <a:latin typeface="Cambria Math" panose="02040503050406030204" pitchFamily="18" charset="0"/>
                          </a:rPr>
                        </m:ctrlPr>
                      </m:naryPr>
                      <m:sub>
                        <m:sSub>
                          <m:sSubPr>
                            <m:ctrlPr>
                              <a:rPr lang="en-US" b="1" i="1" dirty="0" smtClean="0">
                                <a:solidFill>
                                  <a:srgbClr val="0000CC"/>
                                </a:solidFill>
                                <a:latin typeface="Cambria Math" panose="02040503050406030204" pitchFamily="18" charset="0"/>
                              </a:rPr>
                            </m:ctrlPr>
                          </m:sSubPr>
                          <m:e>
                            <m:r>
                              <a:rPr lang="en-US" b="1" i="1" dirty="0" smtClean="0">
                                <a:solidFill>
                                  <a:srgbClr val="0000CC"/>
                                </a:solidFill>
                                <a:latin typeface="Cambria Math" panose="02040503050406030204" pitchFamily="18" charset="0"/>
                              </a:rPr>
                              <m:t>𝒕</m:t>
                            </m:r>
                          </m:e>
                          <m:sub>
                            <m:r>
                              <a:rPr lang="en-US" b="1" i="1" dirty="0" smtClean="0">
                                <a:solidFill>
                                  <a:srgbClr val="0000CC"/>
                                </a:solidFill>
                                <a:latin typeface="Cambria Math" panose="02040503050406030204" pitchFamily="18" charset="0"/>
                              </a:rPr>
                              <m:t>𝟎</m:t>
                            </m:r>
                          </m:sub>
                        </m:sSub>
                      </m:sub>
                      <m:sup>
                        <m:sSub>
                          <m:sSubPr>
                            <m:ctrlPr>
                              <a:rPr lang="en-US" b="1" i="1" dirty="0" smtClean="0">
                                <a:solidFill>
                                  <a:srgbClr val="0000CC"/>
                                </a:solidFill>
                                <a:latin typeface="Cambria Math" panose="02040503050406030204" pitchFamily="18" charset="0"/>
                              </a:rPr>
                            </m:ctrlPr>
                          </m:sSubPr>
                          <m:e>
                            <m:r>
                              <a:rPr lang="en-US" b="1" i="1" dirty="0" smtClean="0">
                                <a:solidFill>
                                  <a:srgbClr val="0000CC"/>
                                </a:solidFill>
                                <a:latin typeface="Cambria Math" panose="02040503050406030204" pitchFamily="18" charset="0"/>
                              </a:rPr>
                              <m:t>𝒕</m:t>
                            </m:r>
                          </m:e>
                          <m:sub>
                            <m:r>
                              <a:rPr lang="en-US" b="1" i="1" dirty="0" smtClean="0">
                                <a:solidFill>
                                  <a:srgbClr val="0000CC"/>
                                </a:solidFill>
                                <a:latin typeface="Cambria Math" panose="02040503050406030204" pitchFamily="18" charset="0"/>
                              </a:rPr>
                              <m:t>𝟎</m:t>
                            </m:r>
                          </m:sub>
                        </m:sSub>
                        <m:r>
                          <a:rPr lang="en-US" b="1" i="1" dirty="0" smtClean="0">
                            <a:solidFill>
                              <a:srgbClr val="0000CC"/>
                            </a:solidFill>
                            <a:latin typeface="Cambria Math" panose="02040503050406030204" pitchFamily="18" charset="0"/>
                            <a:ea typeface="Cambria Math" panose="02040503050406030204" pitchFamily="18" charset="0"/>
                          </a:rPr>
                          <m:t>+</m:t>
                        </m:r>
                        <m:r>
                          <a:rPr lang="en-US" b="1" i="1" dirty="0" smtClean="0">
                            <a:solidFill>
                              <a:srgbClr val="0000CC"/>
                            </a:solidFill>
                            <a:latin typeface="Cambria Math" panose="02040503050406030204" pitchFamily="18" charset="0"/>
                            <a:ea typeface="Cambria Math" panose="02040503050406030204" pitchFamily="18" charset="0"/>
                          </a:rPr>
                          <m:t>𝑻</m:t>
                        </m:r>
                      </m:sup>
                      <m:e>
                        <m:r>
                          <a:rPr lang="en-US" b="1" i="1" dirty="0" smtClean="0">
                            <a:solidFill>
                              <a:srgbClr val="0000CC"/>
                            </a:solidFill>
                            <a:latin typeface="Cambria Math" panose="02040503050406030204" pitchFamily="18" charset="0"/>
                          </a:rPr>
                          <m:t>𝒑</m:t>
                        </m:r>
                        <m:d>
                          <m:dPr>
                            <m:ctrlPr>
                              <a:rPr lang="en-US" b="1" i="1" dirty="0" smtClean="0">
                                <a:solidFill>
                                  <a:srgbClr val="0000CC"/>
                                </a:solidFill>
                                <a:latin typeface="Cambria Math" panose="02040503050406030204" pitchFamily="18" charset="0"/>
                              </a:rPr>
                            </m:ctrlPr>
                          </m:dPr>
                          <m:e>
                            <m:r>
                              <a:rPr lang="en-US" b="1" i="1" dirty="0" smtClean="0">
                                <a:solidFill>
                                  <a:srgbClr val="0000CC"/>
                                </a:solidFill>
                                <a:latin typeface="Cambria Math" panose="02040503050406030204" pitchFamily="18" charset="0"/>
                              </a:rPr>
                              <m:t>𝒕</m:t>
                            </m:r>
                          </m:e>
                        </m:d>
                        <m:r>
                          <a:rPr lang="en-US" b="1" i="1" dirty="0" smtClean="0">
                            <a:solidFill>
                              <a:srgbClr val="0000CC"/>
                            </a:solidFill>
                            <a:latin typeface="Cambria Math" panose="02040503050406030204" pitchFamily="18" charset="0"/>
                          </a:rPr>
                          <m:t>𝒅𝒕</m:t>
                        </m:r>
                      </m:e>
                    </m:nary>
                    <m:r>
                      <a:rPr lang="en-US" b="1" i="1" dirty="0" smtClean="0">
                        <a:solidFill>
                          <a:srgbClr val="0000CC"/>
                        </a:solidFill>
                        <a:latin typeface="Cambria Math" panose="02040503050406030204" pitchFamily="18" charset="0"/>
                      </a:rPr>
                      <m:t>= </m:t>
                    </m:r>
                    <m:f>
                      <m:fPr>
                        <m:ctrlPr>
                          <a:rPr lang="en-US" b="1" i="1" dirty="0" smtClean="0">
                            <a:solidFill>
                              <a:srgbClr val="0000CC"/>
                            </a:solidFill>
                            <a:latin typeface="Cambria Math" panose="02040503050406030204" pitchFamily="18" charset="0"/>
                          </a:rPr>
                        </m:ctrlPr>
                      </m:fPr>
                      <m:num>
                        <m:r>
                          <a:rPr lang="en-US" b="1" i="1" dirty="0" smtClean="0">
                            <a:solidFill>
                              <a:srgbClr val="0000CC"/>
                            </a:solidFill>
                            <a:latin typeface="Cambria Math" panose="02040503050406030204" pitchFamily="18" charset="0"/>
                          </a:rPr>
                          <m:t>𝟏</m:t>
                        </m:r>
                      </m:num>
                      <m:den>
                        <m:r>
                          <a:rPr lang="en-US" b="1" i="1" dirty="0" smtClean="0">
                            <a:solidFill>
                              <a:srgbClr val="0000CC"/>
                            </a:solidFill>
                            <a:latin typeface="Cambria Math" panose="02040503050406030204" pitchFamily="18" charset="0"/>
                          </a:rPr>
                          <m:t>𝑻</m:t>
                        </m:r>
                      </m:den>
                    </m:f>
                    <m:r>
                      <a:rPr lang="en-US" b="1" i="1" dirty="0" smtClean="0">
                        <a:solidFill>
                          <a:srgbClr val="0000CC"/>
                        </a:solidFill>
                        <a:latin typeface="Cambria Math" panose="02040503050406030204" pitchFamily="18" charset="0"/>
                      </a:rPr>
                      <m:t> </m:t>
                    </m:r>
                    <m:nary>
                      <m:naryPr>
                        <m:limLoc m:val="undOvr"/>
                        <m:ctrlPr>
                          <a:rPr lang="en-US" b="1" i="1" dirty="0" smtClean="0">
                            <a:solidFill>
                              <a:srgbClr val="0000CC"/>
                            </a:solidFill>
                            <a:latin typeface="Cambria Math" panose="02040503050406030204" pitchFamily="18" charset="0"/>
                          </a:rPr>
                        </m:ctrlPr>
                      </m:naryPr>
                      <m:sub>
                        <m:sSub>
                          <m:sSubPr>
                            <m:ctrlPr>
                              <a:rPr lang="en-US" b="1" i="1" dirty="0" smtClean="0">
                                <a:solidFill>
                                  <a:srgbClr val="0000CC"/>
                                </a:solidFill>
                                <a:latin typeface="Cambria Math" panose="02040503050406030204" pitchFamily="18" charset="0"/>
                              </a:rPr>
                            </m:ctrlPr>
                          </m:sSubPr>
                          <m:e>
                            <m:r>
                              <a:rPr lang="en-US" b="1" i="1" dirty="0" smtClean="0">
                                <a:solidFill>
                                  <a:srgbClr val="0000CC"/>
                                </a:solidFill>
                                <a:latin typeface="Cambria Math" panose="02040503050406030204" pitchFamily="18" charset="0"/>
                              </a:rPr>
                              <m:t>𝒕</m:t>
                            </m:r>
                          </m:e>
                          <m:sub>
                            <m:r>
                              <a:rPr lang="en-US" b="1" i="1" dirty="0" smtClean="0">
                                <a:solidFill>
                                  <a:srgbClr val="0000CC"/>
                                </a:solidFill>
                                <a:latin typeface="Cambria Math" panose="02040503050406030204" pitchFamily="18" charset="0"/>
                              </a:rPr>
                              <m:t>𝟎</m:t>
                            </m:r>
                          </m:sub>
                        </m:sSub>
                      </m:sub>
                      <m:sup>
                        <m:sSub>
                          <m:sSubPr>
                            <m:ctrlPr>
                              <a:rPr lang="en-US" b="1" i="1" dirty="0" smtClean="0">
                                <a:solidFill>
                                  <a:srgbClr val="0000CC"/>
                                </a:solidFill>
                                <a:latin typeface="Cambria Math" panose="02040503050406030204" pitchFamily="18" charset="0"/>
                              </a:rPr>
                            </m:ctrlPr>
                          </m:sSubPr>
                          <m:e>
                            <m:r>
                              <a:rPr lang="en-US" b="1" i="1" dirty="0" smtClean="0">
                                <a:solidFill>
                                  <a:srgbClr val="0000CC"/>
                                </a:solidFill>
                                <a:latin typeface="Cambria Math" panose="02040503050406030204" pitchFamily="18" charset="0"/>
                              </a:rPr>
                              <m:t>𝒕</m:t>
                            </m:r>
                          </m:e>
                          <m:sub>
                            <m:r>
                              <a:rPr lang="en-US" b="1" i="1" dirty="0" smtClean="0">
                                <a:solidFill>
                                  <a:srgbClr val="0000CC"/>
                                </a:solidFill>
                                <a:latin typeface="Cambria Math" panose="02040503050406030204" pitchFamily="18" charset="0"/>
                              </a:rPr>
                              <m:t>𝟎</m:t>
                            </m:r>
                          </m:sub>
                        </m:sSub>
                        <m:r>
                          <a:rPr lang="en-US" b="1" i="1" dirty="0" smtClean="0">
                            <a:solidFill>
                              <a:srgbClr val="0000CC"/>
                            </a:solidFill>
                            <a:latin typeface="Cambria Math" panose="02040503050406030204" pitchFamily="18" charset="0"/>
                            <a:ea typeface="Cambria Math" panose="02040503050406030204" pitchFamily="18" charset="0"/>
                          </a:rPr>
                          <m:t>+</m:t>
                        </m:r>
                        <m:r>
                          <a:rPr lang="en-US" b="1" i="1" dirty="0" smtClean="0">
                            <a:solidFill>
                              <a:srgbClr val="0000CC"/>
                            </a:solidFill>
                            <a:latin typeface="Cambria Math" panose="02040503050406030204" pitchFamily="18" charset="0"/>
                            <a:ea typeface="Cambria Math" panose="02040503050406030204" pitchFamily="18" charset="0"/>
                          </a:rPr>
                          <m:t>𝑻</m:t>
                        </m:r>
                      </m:sup>
                      <m:e>
                        <m:r>
                          <a:rPr lang="en-US" b="1" i="1" dirty="0" smtClean="0">
                            <a:solidFill>
                              <a:srgbClr val="0000CC"/>
                            </a:solidFill>
                            <a:latin typeface="Cambria Math" panose="02040503050406030204" pitchFamily="18" charset="0"/>
                          </a:rPr>
                          <m:t>𝒗</m:t>
                        </m:r>
                        <m:d>
                          <m:dPr>
                            <m:ctrlPr>
                              <a:rPr lang="en-US" b="1" i="1" dirty="0" smtClean="0">
                                <a:solidFill>
                                  <a:srgbClr val="0000CC"/>
                                </a:solidFill>
                                <a:latin typeface="Cambria Math" panose="02040503050406030204" pitchFamily="18" charset="0"/>
                              </a:rPr>
                            </m:ctrlPr>
                          </m:dPr>
                          <m:e>
                            <m:r>
                              <a:rPr lang="en-US" b="1" i="1" dirty="0" smtClean="0">
                                <a:solidFill>
                                  <a:srgbClr val="0000CC"/>
                                </a:solidFill>
                                <a:latin typeface="Cambria Math" panose="02040503050406030204" pitchFamily="18" charset="0"/>
                              </a:rPr>
                              <m:t>𝒊</m:t>
                            </m:r>
                          </m:e>
                        </m:d>
                        <m:r>
                          <a:rPr lang="en-US" b="1" i="1" dirty="0" smtClean="0">
                            <a:solidFill>
                              <a:srgbClr val="0000CC"/>
                            </a:solidFill>
                            <a:latin typeface="Cambria Math" panose="02040503050406030204" pitchFamily="18" charset="0"/>
                          </a:rPr>
                          <m:t>𝒊</m:t>
                        </m:r>
                        <m:d>
                          <m:dPr>
                            <m:ctrlPr>
                              <a:rPr lang="en-US" b="1" i="1" dirty="0" smtClean="0">
                                <a:solidFill>
                                  <a:srgbClr val="0000CC"/>
                                </a:solidFill>
                                <a:latin typeface="Cambria Math" panose="02040503050406030204" pitchFamily="18" charset="0"/>
                              </a:rPr>
                            </m:ctrlPr>
                          </m:dPr>
                          <m:e>
                            <m:r>
                              <a:rPr lang="en-US" b="1" i="1" dirty="0" smtClean="0">
                                <a:solidFill>
                                  <a:srgbClr val="0000CC"/>
                                </a:solidFill>
                                <a:latin typeface="Cambria Math" panose="02040503050406030204" pitchFamily="18" charset="0"/>
                              </a:rPr>
                              <m:t>𝒕</m:t>
                            </m:r>
                          </m:e>
                        </m:d>
                        <m:r>
                          <a:rPr lang="en-US" b="1" i="1" dirty="0" smtClean="0">
                            <a:solidFill>
                              <a:srgbClr val="0000CC"/>
                            </a:solidFill>
                            <a:latin typeface="Cambria Math" panose="02040503050406030204" pitchFamily="18" charset="0"/>
                          </a:rPr>
                          <m:t>𝒅𝒕</m:t>
                        </m:r>
                      </m:e>
                    </m:nary>
                  </m:oMath>
                </a14:m>
                <a:endParaRPr lang="en-US" b="1" dirty="0"/>
              </a:p>
            </p:txBody>
          </p:sp>
        </mc:Choice>
        <mc:Fallback xmlns="">
          <p:sp>
            <p:nvSpPr>
              <p:cNvPr id="14" name="TextBox 13">
                <a:extLst>
                  <a:ext uri="{FF2B5EF4-FFF2-40B4-BE49-F238E27FC236}">
                    <a16:creationId xmlns:a16="http://schemas.microsoft.com/office/drawing/2014/main" id="{F41E46BD-0D4B-4D85-92A1-49E39B541E21}"/>
                  </a:ext>
                </a:extLst>
              </p:cNvPr>
              <p:cNvSpPr txBox="1">
                <a:spLocks noRot="1" noChangeAspect="1" noMove="1" noResize="1" noEditPoints="1" noAdjustHandles="1" noChangeArrowheads="1" noChangeShapeType="1" noTextEdit="1"/>
              </p:cNvSpPr>
              <p:nvPr/>
            </p:nvSpPr>
            <p:spPr>
              <a:xfrm>
                <a:off x="3857619" y="5400049"/>
                <a:ext cx="4216337" cy="507896"/>
              </a:xfrm>
              <a:prstGeom prst="rect">
                <a:avLst/>
              </a:prstGeom>
              <a:blipFill>
                <a:blip r:embed="rId6"/>
                <a:stretch>
                  <a:fillRect l="-1302" t="-96386" b="-150602"/>
                </a:stretch>
              </a:blipFill>
            </p:spPr>
            <p:txBody>
              <a:bodyPr/>
              <a:lstStyle/>
              <a:p>
                <a:r>
                  <a:rPr lang="en-US">
                    <a:noFill/>
                  </a:rPr>
                  <a:t> </a:t>
                </a:r>
              </a:p>
            </p:txBody>
          </p:sp>
        </mc:Fallback>
      </mc:AlternateContent>
    </p:spTree>
    <p:extLst>
      <p:ext uri="{BB962C8B-B14F-4D97-AF65-F5344CB8AC3E}">
        <p14:creationId xmlns:p14="http://schemas.microsoft.com/office/powerpoint/2010/main" val="179979675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6">
            <a:extLst>
              <a:ext uri="{FF2B5EF4-FFF2-40B4-BE49-F238E27FC236}">
                <a16:creationId xmlns:a16="http://schemas.microsoft.com/office/drawing/2014/main" id="{56080804-F19F-41A7-8595-943961648C5E}"/>
              </a:ext>
            </a:extLst>
          </p:cNvPr>
          <p:cNvSpPr>
            <a:spLocks noGrp="1"/>
          </p:cNvSpPr>
          <p:nvPr>
            <p:ph type="sldNum" sz="quarter" idx="12"/>
          </p:nvPr>
        </p:nvSpPr>
        <p:spPr>
          <a:xfrm>
            <a:off x="8610600" y="6441692"/>
            <a:ext cx="2743200" cy="370027"/>
          </a:xfrm>
        </p:spPr>
        <p:txBody>
          <a:bodyPr/>
          <a:lstStyle/>
          <a:p>
            <a:fld id="{F4801FD5-11B4-DE43-ACA2-E85EEB9A6F9C}" type="slidenum">
              <a:rPr lang="en-US" smtClean="0">
                <a:latin typeface="Garamond" panose="02020404030301010803" pitchFamily="18" charset="0"/>
              </a:rPr>
              <a:t>15</a:t>
            </a:fld>
            <a:endParaRPr lang="en-US">
              <a:latin typeface="Garamond" panose="02020404030301010803" pitchFamily="18" charset="0"/>
            </a:endParaRPr>
          </a:p>
        </p:txBody>
      </p:sp>
      <p:sp>
        <p:nvSpPr>
          <p:cNvPr id="5" name="Title 1">
            <a:extLst>
              <a:ext uri="{FF2B5EF4-FFF2-40B4-BE49-F238E27FC236}">
                <a16:creationId xmlns:a16="http://schemas.microsoft.com/office/drawing/2014/main" id="{4710AE4B-0DB8-4451-B9E4-10BAE11B4D3A}"/>
              </a:ext>
            </a:extLst>
          </p:cNvPr>
          <p:cNvSpPr>
            <a:spLocks noGrp="1"/>
          </p:cNvSpPr>
          <p:nvPr>
            <p:ph type="title"/>
          </p:nvPr>
        </p:nvSpPr>
        <p:spPr>
          <a:xfrm>
            <a:off x="3254625" y="82938"/>
            <a:ext cx="6026397" cy="558382"/>
          </a:xfrm>
        </p:spPr>
        <p:txBody>
          <a:bodyPr>
            <a:noAutofit/>
          </a:bodyPr>
          <a:lstStyle/>
          <a:p>
            <a:pPr algn="ctr"/>
            <a:r>
              <a:rPr lang="en-US" sz="3200" b="1" u="sng" dirty="0">
                <a:solidFill>
                  <a:srgbClr val="FF3386"/>
                </a:solidFill>
                <a:latin typeface="Century Gothic" panose="020B0502020202020204" pitchFamily="34" charset="0"/>
                <a:cs typeface="Helvetica"/>
              </a:rPr>
              <a:t>POWER COMPUTATION</a:t>
            </a:r>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6BAA1F11-5BEF-4D80-964F-A7332E36BFA0}"/>
                  </a:ext>
                </a:extLst>
              </p:cNvPr>
              <p:cNvSpPr txBox="1"/>
              <p:nvPr/>
            </p:nvSpPr>
            <p:spPr>
              <a:xfrm>
                <a:off x="1640740" y="1087964"/>
                <a:ext cx="9254165" cy="5632311"/>
              </a:xfrm>
              <a:prstGeom prst="rect">
                <a:avLst/>
              </a:prstGeom>
              <a:noFill/>
              <a:ln>
                <a:solidFill>
                  <a:srgbClr val="FF0066"/>
                </a:solidFill>
              </a:ln>
            </p:spPr>
            <p:txBody>
              <a:bodyPr wrap="square" rtlCol="0">
                <a:spAutoFit/>
              </a:bodyPr>
              <a:lstStyle/>
              <a:p>
                <a:pPr marL="457200" indent="-457200">
                  <a:buClr>
                    <a:schemeClr val="accent2"/>
                  </a:buClr>
                  <a:buFont typeface="Arial" panose="020B0604020202020204" pitchFamily="34" charset="0"/>
                  <a:buChar char="•"/>
                </a:pPr>
                <a:r>
                  <a:rPr lang="en-GB" sz="2400" b="1" dirty="0">
                    <a:latin typeface="Century Gothic" panose="020B0502020202020204" pitchFamily="34" charset="0"/>
                  </a:rPr>
                  <a:t> </a:t>
                </a:r>
                <a:r>
                  <a:rPr lang="en-GB" sz="2400" b="1" dirty="0">
                    <a:solidFill>
                      <a:srgbClr val="0000CC"/>
                    </a:solidFill>
                    <a:latin typeface="Century Gothic" panose="020B0502020202020204" pitchFamily="34" charset="0"/>
                  </a:rPr>
                  <a:t>Power is also commutated from energy per period</a:t>
                </a:r>
              </a:p>
              <a:p>
                <a:pPr>
                  <a:buClr>
                    <a:schemeClr val="accent2"/>
                  </a:buClr>
                </a:pPr>
                <a:r>
                  <a:rPr lang="en-GB" sz="2400" b="1" kern="100" dirty="0">
                    <a:solidFill>
                      <a:srgbClr val="0000CC"/>
                    </a:solidFill>
                    <a:latin typeface="Century Gothic" panose="020B0502020202020204" pitchFamily="34" charset="0"/>
                    <a:ea typeface="Calibri" panose="020F0502020204030204" pitchFamily="34" charset="0"/>
                    <a:cs typeface="Times New Roman" panose="02020603050405020304" pitchFamily="18" charset="0"/>
                  </a:rPr>
                  <a:t>	</a:t>
                </a:r>
                <a:br>
                  <a:rPr lang="en-GB" sz="2400" b="1" kern="100" dirty="0">
                    <a:solidFill>
                      <a:srgbClr val="0000CC"/>
                    </a:solidFill>
                    <a:latin typeface="Century Gothic" panose="020B0502020202020204" pitchFamily="34" charset="0"/>
                    <a:ea typeface="Calibri" panose="020F0502020204030204" pitchFamily="34" charset="0"/>
                    <a:cs typeface="Times New Roman" panose="02020603050405020304" pitchFamily="18" charset="0"/>
                  </a:rPr>
                </a:br>
                <a:r>
                  <a:rPr lang="en-GB" sz="2400" b="1" kern="100" dirty="0">
                    <a:solidFill>
                      <a:srgbClr val="0000CC"/>
                    </a:solidFill>
                    <a:latin typeface="Century Gothic" panose="020B0502020202020204" pitchFamily="34" charset="0"/>
                    <a:ea typeface="Calibri" panose="020F0502020204030204" pitchFamily="34" charset="0"/>
                    <a:cs typeface="Times New Roman" panose="02020603050405020304" pitchFamily="18" charset="0"/>
                  </a:rPr>
                  <a:t>	</a:t>
                </a:r>
                <a:endParaRPr lang="en-GB" sz="2400" b="1" kern="100" dirty="0">
                  <a:solidFill>
                    <a:srgbClr val="FF0000"/>
                  </a:solidFill>
                  <a:latin typeface="Century Gothic" panose="020B0502020202020204" pitchFamily="34" charset="0"/>
                  <a:ea typeface="Calibri" panose="020F0502020204030204" pitchFamily="34" charset="0"/>
                  <a:cs typeface="Times New Roman" panose="02020603050405020304" pitchFamily="18" charset="0"/>
                </a:endParaRPr>
              </a:p>
              <a:p>
                <a:pPr>
                  <a:buClr>
                    <a:schemeClr val="accent2"/>
                  </a:buClr>
                </a:pPr>
                <a:endParaRPr lang="en-GB" sz="2400" b="1" kern="100" dirty="0">
                  <a:solidFill>
                    <a:srgbClr val="FF0000"/>
                  </a:solidFill>
                  <a:effectLst/>
                  <a:latin typeface="Century Gothic" panose="020B0502020202020204" pitchFamily="34" charset="0"/>
                  <a:ea typeface="Calibri" panose="020F0502020204030204" pitchFamily="34" charset="0"/>
                  <a:cs typeface="Times New Roman" panose="02020603050405020304" pitchFamily="18" charset="0"/>
                </a:endParaRPr>
              </a:p>
              <a:p>
                <a:pPr marL="342900" indent="-342900">
                  <a:buClr>
                    <a:schemeClr val="accent2"/>
                  </a:buClr>
                  <a:buFont typeface="Wingdings" panose="05000000000000000000" pitchFamily="2" charset="2"/>
                  <a:buChar char="ü"/>
                </a:pPr>
                <a:r>
                  <a:rPr lang="en-GB" sz="2400" b="1" kern="100" dirty="0">
                    <a:solidFill>
                      <a:srgbClr val="FF0000"/>
                    </a:solidFill>
                    <a:latin typeface="Century Gothic" panose="020B0502020202020204" pitchFamily="34" charset="0"/>
                    <a:ea typeface="Calibri" panose="020F0502020204030204" pitchFamily="34" charset="0"/>
                    <a:cs typeface="Times New Roman" panose="02020603050405020304" pitchFamily="18" charset="0"/>
                  </a:rPr>
                  <a:t> </a:t>
                </a:r>
                <a:r>
                  <a:rPr lang="en-GB" sz="2400" b="1" kern="100" dirty="0">
                    <a:solidFill>
                      <a:srgbClr val="0000CC"/>
                    </a:solidFill>
                    <a:latin typeface="Century Gothic" panose="020B0502020202020204" pitchFamily="34" charset="0"/>
                    <a:ea typeface="Calibri" panose="020F0502020204030204" pitchFamily="34" charset="0"/>
                    <a:cs typeface="Times New Roman" panose="02020603050405020304" pitchFamily="18" charset="0"/>
                  </a:rPr>
                  <a:t>Average power is sometimes called real power or active power, especially in ac circuits. The term power usually means average power</a:t>
                </a:r>
              </a:p>
              <a:p>
                <a:pPr>
                  <a:buClr>
                    <a:schemeClr val="accent2"/>
                  </a:buClr>
                </a:pPr>
                <a:br>
                  <a:rPr lang="en-GB" sz="2400" b="1" kern="100" dirty="0">
                    <a:solidFill>
                      <a:srgbClr val="FF0000"/>
                    </a:solidFill>
                    <a:effectLst/>
                    <a:latin typeface="Century Gothic" panose="020B0502020202020204" pitchFamily="34" charset="0"/>
                    <a:ea typeface="Calibri" panose="020F0502020204030204" pitchFamily="34" charset="0"/>
                    <a:cs typeface="Times New Roman" panose="02020603050405020304" pitchFamily="18" charset="0"/>
                  </a:rPr>
                </a:br>
                <a:r>
                  <a:rPr lang="en-GB" sz="2400" b="1" kern="100" dirty="0">
                    <a:solidFill>
                      <a:srgbClr val="FF0000"/>
                    </a:solidFill>
                    <a:effectLst/>
                    <a:latin typeface="Century Gothic" panose="020B0502020202020204" pitchFamily="34" charset="0"/>
                    <a:ea typeface="Calibri" panose="020F0502020204030204" pitchFamily="34" charset="0"/>
                    <a:cs typeface="Times New Roman" panose="02020603050405020304" pitchFamily="18" charset="0"/>
                  </a:rPr>
                  <a:t>Question:</a:t>
                </a:r>
              </a:p>
              <a:p>
                <a:pPr>
                  <a:buClr>
                    <a:schemeClr val="accent2"/>
                  </a:buClr>
                </a:pPr>
                <a:r>
                  <a:rPr lang="en-GB" sz="2400" b="1" kern="100" dirty="0">
                    <a:solidFill>
                      <a:srgbClr val="0000CC"/>
                    </a:solidFill>
                    <a:effectLst/>
                    <a:latin typeface="Century Gothic" panose="020B0502020202020204" pitchFamily="34" charset="0"/>
                    <a:ea typeface="Calibri" panose="020F0502020204030204" pitchFamily="34" charset="0"/>
                    <a:cs typeface="Times New Roman" panose="02020603050405020304" pitchFamily="18" charset="0"/>
                  </a:rPr>
                  <a:t>Voltage and current, consistent with their passive sign convention, for a device are shown in Fig. 2.2a and b </a:t>
                </a:r>
                <a:br>
                  <a:rPr lang="en-GB" sz="2400" b="1" kern="100" dirty="0">
                    <a:solidFill>
                      <a:srgbClr val="0000CC"/>
                    </a:solidFill>
                    <a:effectLst/>
                    <a:latin typeface="Century Gothic" panose="020B0502020202020204" pitchFamily="34" charset="0"/>
                    <a:ea typeface="Calibri" panose="020F0502020204030204" pitchFamily="34" charset="0"/>
                    <a:cs typeface="Times New Roman" panose="02020603050405020304" pitchFamily="18" charset="0"/>
                  </a:rPr>
                </a:br>
                <a:r>
                  <a:rPr lang="en-GB" sz="2400" b="1" kern="100" dirty="0">
                    <a:solidFill>
                      <a:srgbClr val="0000CC"/>
                    </a:solidFill>
                    <a:effectLst/>
                    <a:latin typeface="Century Gothic" panose="020B0502020202020204" pitchFamily="34" charset="0"/>
                    <a:ea typeface="Calibri" panose="020F0502020204030204" pitchFamily="34" charset="0"/>
                    <a:cs typeface="Times New Roman" panose="02020603050405020304" pitchFamily="18" charset="0"/>
                  </a:rPr>
                  <a:t>a) Determine the instantaneous power </a:t>
                </a:r>
                <a14:m>
                  <m:oMath xmlns:m="http://schemas.openxmlformats.org/officeDocument/2006/math">
                    <m:r>
                      <a:rPr lang="en-US" sz="2400" b="1" i="1" kern="100" smtClean="0">
                        <a:solidFill>
                          <a:srgbClr val="0000CC"/>
                        </a:solidFill>
                        <a:effectLst/>
                        <a:latin typeface="Cambria Math" panose="02040503050406030204" pitchFamily="18" charset="0"/>
                        <a:ea typeface="Calibri" panose="020F0502020204030204" pitchFamily="34" charset="0"/>
                        <a:cs typeface="Times New Roman" panose="02020603050405020304" pitchFamily="18" charset="0"/>
                      </a:rPr>
                      <m:t>𝒑</m:t>
                    </m:r>
                    <m:r>
                      <a:rPr lang="en-US" sz="2400" b="1" i="1" kern="100" smtClean="0">
                        <a:solidFill>
                          <a:srgbClr val="0000CC"/>
                        </a:solidFill>
                        <a:effectLst/>
                        <a:latin typeface="Cambria Math" panose="02040503050406030204" pitchFamily="18" charset="0"/>
                        <a:ea typeface="Calibri" panose="020F0502020204030204" pitchFamily="34" charset="0"/>
                        <a:cs typeface="Times New Roman" panose="02020603050405020304" pitchFamily="18" charset="0"/>
                      </a:rPr>
                      <m:t>(</m:t>
                    </m:r>
                    <m:r>
                      <a:rPr lang="en-US" sz="2400" b="1" i="1" kern="100" smtClean="0">
                        <a:solidFill>
                          <a:srgbClr val="0000CC"/>
                        </a:solidFill>
                        <a:effectLst/>
                        <a:latin typeface="Cambria Math" panose="02040503050406030204" pitchFamily="18" charset="0"/>
                        <a:ea typeface="Calibri" panose="020F0502020204030204" pitchFamily="34" charset="0"/>
                        <a:cs typeface="Times New Roman" panose="02020603050405020304" pitchFamily="18" charset="0"/>
                      </a:rPr>
                      <m:t>𝒕</m:t>
                    </m:r>
                    <m:r>
                      <a:rPr lang="en-US" sz="2400" b="1" i="1" kern="100" smtClean="0">
                        <a:solidFill>
                          <a:srgbClr val="0000CC"/>
                        </a:solidFill>
                        <a:effectLst/>
                        <a:latin typeface="Cambria Math" panose="02040503050406030204" pitchFamily="18" charset="0"/>
                        <a:ea typeface="Calibri" panose="020F0502020204030204" pitchFamily="34" charset="0"/>
                        <a:cs typeface="Times New Roman" panose="02020603050405020304" pitchFamily="18" charset="0"/>
                      </a:rPr>
                      <m:t>)</m:t>
                    </m:r>
                  </m:oMath>
                </a14:m>
                <a:r>
                  <a:rPr lang="en-GB" sz="2400" b="1" kern="100" dirty="0">
                    <a:solidFill>
                      <a:srgbClr val="0000CC"/>
                    </a:solidFill>
                    <a:effectLst/>
                    <a:latin typeface="Century Gothic" panose="020B0502020202020204" pitchFamily="34" charset="0"/>
                    <a:ea typeface="Calibri" panose="020F0502020204030204" pitchFamily="34" charset="0"/>
                    <a:cs typeface="Times New Roman" panose="02020603050405020304" pitchFamily="18" charset="0"/>
                  </a:rPr>
                  <a:t> absorbed by the device. </a:t>
                </a:r>
                <a:r>
                  <a:rPr lang="en-GB" sz="2400" b="1" kern="100" dirty="0">
                    <a:solidFill>
                      <a:srgbClr val="0000CC"/>
                    </a:solidFill>
                    <a:latin typeface="Century Gothic" panose="020B0502020202020204" pitchFamily="34" charset="0"/>
                    <a:ea typeface="Calibri" panose="020F0502020204030204" pitchFamily="34" charset="0"/>
                    <a:cs typeface="Times New Roman" panose="02020603050405020304" pitchFamily="18" charset="0"/>
                  </a:rPr>
                  <a:t>b) Determine the energy absorbed by the device in one period. c) Determine the average power </a:t>
                </a:r>
                <a:r>
                  <a:rPr lang="en-GB" sz="2400" b="1" kern="100" dirty="0" err="1">
                    <a:solidFill>
                      <a:srgbClr val="0000CC"/>
                    </a:solidFill>
                    <a:latin typeface="Century Gothic" panose="020B0502020202020204" pitchFamily="34" charset="0"/>
                    <a:ea typeface="Calibri" panose="020F0502020204030204" pitchFamily="34" charset="0"/>
                    <a:cs typeface="Times New Roman" panose="02020603050405020304" pitchFamily="18" charset="0"/>
                  </a:rPr>
                  <a:t>power</a:t>
                </a:r>
                <a:r>
                  <a:rPr lang="en-GB" sz="2400" b="1" kern="100" dirty="0">
                    <a:solidFill>
                      <a:srgbClr val="0000CC"/>
                    </a:solidFill>
                    <a:latin typeface="Century Gothic" panose="020B0502020202020204" pitchFamily="34" charset="0"/>
                    <a:ea typeface="Calibri" panose="020F0502020204030204" pitchFamily="34" charset="0"/>
                    <a:cs typeface="Times New Roman" panose="02020603050405020304" pitchFamily="18" charset="0"/>
                  </a:rPr>
                  <a:t> absorbed by the device.</a:t>
                </a:r>
                <a:endParaRPr lang="en-GB" sz="2400" kern="100" dirty="0">
                  <a:latin typeface="Century Gothic" panose="020B0502020202020204" pitchFamily="34" charset="0"/>
                  <a:ea typeface="Calibri" panose="020F0502020204030204" pitchFamily="34" charset="0"/>
                  <a:cs typeface="Times New Roman" panose="02020603050405020304" pitchFamily="18" charset="0"/>
                </a:endParaRPr>
              </a:p>
            </p:txBody>
          </p:sp>
        </mc:Choice>
        <mc:Fallback xmlns="">
          <p:sp>
            <p:nvSpPr>
              <p:cNvPr id="6" name="TextBox 5">
                <a:extLst>
                  <a:ext uri="{FF2B5EF4-FFF2-40B4-BE49-F238E27FC236}">
                    <a16:creationId xmlns:a16="http://schemas.microsoft.com/office/drawing/2014/main" id="{6BAA1F11-5BEF-4D80-964F-A7332E36BFA0}"/>
                  </a:ext>
                </a:extLst>
              </p:cNvPr>
              <p:cNvSpPr txBox="1">
                <a:spLocks noRot="1" noChangeAspect="1" noMove="1" noResize="1" noEditPoints="1" noAdjustHandles="1" noChangeArrowheads="1" noChangeShapeType="1" noTextEdit="1"/>
              </p:cNvSpPr>
              <p:nvPr/>
            </p:nvSpPr>
            <p:spPr>
              <a:xfrm>
                <a:off x="1640740" y="1087964"/>
                <a:ext cx="9254165" cy="5632311"/>
              </a:xfrm>
              <a:prstGeom prst="rect">
                <a:avLst/>
              </a:prstGeom>
              <a:blipFill>
                <a:blip r:embed="rId3"/>
                <a:stretch>
                  <a:fillRect l="-921" t="-756" b="-1404"/>
                </a:stretch>
              </a:blipFill>
              <a:ln>
                <a:solidFill>
                  <a:srgbClr val="FF0066"/>
                </a:solidFill>
              </a:ln>
            </p:spPr>
            <p:txBody>
              <a:bodyPr/>
              <a:lstStyle/>
              <a:p>
                <a:r>
                  <a:rPr lang="en-US">
                    <a:noFill/>
                  </a:rPr>
                  <a:t> </a:t>
                </a:r>
              </a:p>
            </p:txBody>
          </p:sp>
        </mc:Fallback>
      </mc:AlternateContent>
      <p:sp>
        <p:nvSpPr>
          <p:cNvPr id="7" name="TextBox 6">
            <a:extLst>
              <a:ext uri="{FF2B5EF4-FFF2-40B4-BE49-F238E27FC236}">
                <a16:creationId xmlns:a16="http://schemas.microsoft.com/office/drawing/2014/main" id="{C36AA635-C21F-49F3-BF21-4CBE4C20709B}"/>
              </a:ext>
            </a:extLst>
          </p:cNvPr>
          <p:cNvSpPr txBox="1"/>
          <p:nvPr/>
        </p:nvSpPr>
        <p:spPr>
          <a:xfrm>
            <a:off x="5269122" y="6059046"/>
            <a:ext cx="823314" cy="373051"/>
          </a:xfrm>
          <a:prstGeom prst="rect">
            <a:avLst/>
          </a:prstGeom>
          <a:noFill/>
        </p:spPr>
        <p:txBody>
          <a:bodyPr wrap="square" rtlCol="0">
            <a:spAutoFit/>
          </a:bodyPr>
          <a:lstStyle/>
          <a:p>
            <a:pPr algn="ctr"/>
            <a:endParaRPr lang="en-GB" sz="1824" dirty="0">
              <a:latin typeface="Garamond" panose="02020404030301010803" pitchFamily="18" charset="0"/>
            </a:endParaRPr>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5E2B7D1D-F0E4-43DE-B1C6-80ECCB789911}"/>
                  </a:ext>
                </a:extLst>
              </p:cNvPr>
              <p:cNvSpPr txBox="1"/>
              <p:nvPr/>
            </p:nvSpPr>
            <p:spPr>
              <a:xfrm>
                <a:off x="2889852" y="1861456"/>
                <a:ext cx="1516778" cy="710579"/>
              </a:xfrm>
              <a:prstGeom prst="rect">
                <a:avLst/>
              </a:prstGeom>
              <a:solidFill>
                <a:srgbClr val="00FFFF"/>
              </a:solidFill>
            </p:spPr>
            <p:txBody>
              <a:bodyPr wrap="square" rtlCol="0">
                <a:spAutoFit/>
              </a:bodyPr>
              <a:lstStyle/>
              <a:p>
                <a:r>
                  <a:rPr lang="en-US" sz="2800" b="1" dirty="0">
                    <a:solidFill>
                      <a:srgbClr val="0000CC"/>
                    </a:solidFill>
                  </a:rPr>
                  <a:t>P = </a:t>
                </a:r>
                <a14:m>
                  <m:oMath xmlns:m="http://schemas.openxmlformats.org/officeDocument/2006/math">
                    <m:f>
                      <m:fPr>
                        <m:ctrlPr>
                          <a:rPr lang="en-US" sz="2800" b="1" i="1" smtClean="0">
                            <a:solidFill>
                              <a:srgbClr val="0000CC"/>
                            </a:solidFill>
                            <a:latin typeface="Cambria Math" panose="02040503050406030204" pitchFamily="18" charset="0"/>
                          </a:rPr>
                        </m:ctrlPr>
                      </m:fPr>
                      <m:num>
                        <m:r>
                          <a:rPr lang="en-US" sz="2800" b="1" i="1" smtClean="0">
                            <a:solidFill>
                              <a:srgbClr val="0000CC"/>
                            </a:solidFill>
                            <a:latin typeface="Cambria Math" panose="02040503050406030204" pitchFamily="18" charset="0"/>
                          </a:rPr>
                          <m:t>𝑾</m:t>
                        </m:r>
                      </m:num>
                      <m:den>
                        <m:r>
                          <a:rPr lang="en-US" sz="2800" b="1" i="1" smtClean="0">
                            <a:solidFill>
                              <a:srgbClr val="0000CC"/>
                            </a:solidFill>
                            <a:latin typeface="Cambria Math" panose="02040503050406030204" pitchFamily="18" charset="0"/>
                          </a:rPr>
                          <m:t>𝑻</m:t>
                        </m:r>
                      </m:den>
                    </m:f>
                  </m:oMath>
                </a14:m>
                <a:endParaRPr lang="en-US" sz="2800" b="1" dirty="0"/>
              </a:p>
            </p:txBody>
          </p:sp>
        </mc:Choice>
        <mc:Fallback xmlns="">
          <p:sp>
            <p:nvSpPr>
              <p:cNvPr id="2" name="TextBox 1">
                <a:extLst>
                  <a:ext uri="{FF2B5EF4-FFF2-40B4-BE49-F238E27FC236}">
                    <a16:creationId xmlns:a16="http://schemas.microsoft.com/office/drawing/2014/main" id="{5E2B7D1D-F0E4-43DE-B1C6-80ECCB789911}"/>
                  </a:ext>
                </a:extLst>
              </p:cNvPr>
              <p:cNvSpPr txBox="1">
                <a:spLocks noRot="1" noChangeAspect="1" noMove="1" noResize="1" noEditPoints="1" noAdjustHandles="1" noChangeArrowheads="1" noChangeShapeType="1" noTextEdit="1"/>
              </p:cNvSpPr>
              <p:nvPr/>
            </p:nvSpPr>
            <p:spPr>
              <a:xfrm>
                <a:off x="2889852" y="1861456"/>
                <a:ext cx="1516778" cy="710579"/>
              </a:xfrm>
              <a:prstGeom prst="rect">
                <a:avLst/>
              </a:prstGeom>
              <a:blipFill>
                <a:blip r:embed="rId4"/>
                <a:stretch>
                  <a:fillRect l="-8032" b="-11111"/>
                </a:stretch>
              </a:blipFill>
            </p:spPr>
            <p:txBody>
              <a:bodyPr/>
              <a:lstStyle/>
              <a:p>
                <a:r>
                  <a:rPr lang="en-US">
                    <a:noFill/>
                  </a:rPr>
                  <a:t> </a:t>
                </a:r>
              </a:p>
            </p:txBody>
          </p:sp>
        </mc:Fallback>
      </mc:AlternateContent>
    </p:spTree>
    <p:extLst>
      <p:ext uri="{BB962C8B-B14F-4D97-AF65-F5344CB8AC3E}">
        <p14:creationId xmlns:p14="http://schemas.microsoft.com/office/powerpoint/2010/main" val="300010512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6">
            <a:extLst>
              <a:ext uri="{FF2B5EF4-FFF2-40B4-BE49-F238E27FC236}">
                <a16:creationId xmlns:a16="http://schemas.microsoft.com/office/drawing/2014/main" id="{56080804-F19F-41A7-8595-943961648C5E}"/>
              </a:ext>
            </a:extLst>
          </p:cNvPr>
          <p:cNvSpPr>
            <a:spLocks noGrp="1"/>
          </p:cNvSpPr>
          <p:nvPr>
            <p:ph type="sldNum" sz="quarter" idx="12"/>
          </p:nvPr>
        </p:nvSpPr>
        <p:spPr>
          <a:xfrm>
            <a:off x="8610600" y="6441692"/>
            <a:ext cx="2743200" cy="370027"/>
          </a:xfrm>
        </p:spPr>
        <p:txBody>
          <a:bodyPr/>
          <a:lstStyle/>
          <a:p>
            <a:fld id="{F4801FD5-11B4-DE43-ACA2-E85EEB9A6F9C}" type="slidenum">
              <a:rPr lang="en-US" smtClean="0">
                <a:latin typeface="Garamond" panose="02020404030301010803" pitchFamily="18" charset="0"/>
              </a:rPr>
              <a:t>16</a:t>
            </a:fld>
            <a:endParaRPr lang="en-US">
              <a:latin typeface="Garamond" panose="02020404030301010803" pitchFamily="18" charset="0"/>
            </a:endParaRPr>
          </a:p>
        </p:txBody>
      </p:sp>
      <p:sp>
        <p:nvSpPr>
          <p:cNvPr id="5" name="Title 1">
            <a:extLst>
              <a:ext uri="{FF2B5EF4-FFF2-40B4-BE49-F238E27FC236}">
                <a16:creationId xmlns:a16="http://schemas.microsoft.com/office/drawing/2014/main" id="{4710AE4B-0DB8-4451-B9E4-10BAE11B4D3A}"/>
              </a:ext>
            </a:extLst>
          </p:cNvPr>
          <p:cNvSpPr>
            <a:spLocks noGrp="1"/>
          </p:cNvSpPr>
          <p:nvPr>
            <p:ph type="title"/>
          </p:nvPr>
        </p:nvSpPr>
        <p:spPr>
          <a:xfrm>
            <a:off x="3254625" y="82938"/>
            <a:ext cx="6026397" cy="558382"/>
          </a:xfrm>
        </p:spPr>
        <p:txBody>
          <a:bodyPr>
            <a:noAutofit/>
          </a:bodyPr>
          <a:lstStyle/>
          <a:p>
            <a:pPr algn="ctr"/>
            <a:r>
              <a:rPr lang="en-US" sz="3200" b="1" u="sng" dirty="0">
                <a:solidFill>
                  <a:srgbClr val="FF3386"/>
                </a:solidFill>
                <a:latin typeface="Century Gothic" panose="020B0502020202020204" pitchFamily="34" charset="0"/>
                <a:cs typeface="Helvetica"/>
              </a:rPr>
              <a:t>POWER COMPUTATION</a:t>
            </a:r>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6BAA1F11-5BEF-4D80-964F-A7332E36BFA0}"/>
                  </a:ext>
                </a:extLst>
              </p:cNvPr>
              <p:cNvSpPr txBox="1"/>
              <p:nvPr/>
            </p:nvSpPr>
            <p:spPr>
              <a:xfrm>
                <a:off x="1738016" y="1017916"/>
                <a:ext cx="9254165" cy="6001643"/>
              </a:xfrm>
              <a:prstGeom prst="rect">
                <a:avLst/>
              </a:prstGeom>
              <a:noFill/>
              <a:ln>
                <a:solidFill>
                  <a:srgbClr val="FF0066"/>
                </a:solidFill>
              </a:ln>
            </p:spPr>
            <p:txBody>
              <a:bodyPr wrap="square" rtlCol="0">
                <a:spAutoFit/>
              </a:bodyPr>
              <a:lstStyle/>
              <a:p>
                <a:pPr marL="457200" indent="-457200">
                  <a:buClr>
                    <a:schemeClr val="accent2"/>
                  </a:buClr>
                  <a:buFont typeface="Arial" panose="020B0604020202020204" pitchFamily="34" charset="0"/>
                  <a:buChar char="•"/>
                </a:pPr>
                <a:r>
                  <a:rPr lang="en-GB" sz="2400" b="1" dirty="0">
                    <a:latin typeface="Century Gothic" panose="020B0502020202020204" pitchFamily="34" charset="0"/>
                  </a:rPr>
                  <a:t> </a:t>
                </a:r>
                <a:r>
                  <a:rPr lang="en-GB" sz="2400" b="1" dirty="0">
                    <a:solidFill>
                      <a:srgbClr val="FF0000"/>
                    </a:solidFill>
                    <a:latin typeface="Century Gothic" panose="020B0502020202020204" pitchFamily="34" charset="0"/>
                  </a:rPr>
                  <a:t>Solution</a:t>
                </a:r>
              </a:p>
              <a:p>
                <a:pPr>
                  <a:buClr>
                    <a:schemeClr val="accent2"/>
                  </a:buClr>
                </a:pPr>
                <a:r>
                  <a:rPr lang="en-GB" sz="2400" b="1" dirty="0">
                    <a:solidFill>
                      <a:srgbClr val="0000CC"/>
                    </a:solidFill>
                    <a:latin typeface="Century Gothic" panose="020B0502020202020204" pitchFamily="34" charset="0"/>
                  </a:rPr>
                  <a:t>a) The voltage and current are expressed as</a:t>
                </a:r>
                <a:br>
                  <a:rPr lang="en-GB" sz="2400" b="1" dirty="0">
                    <a:solidFill>
                      <a:srgbClr val="0000CC"/>
                    </a:solidFill>
                    <a:latin typeface="Century Gothic" panose="020B0502020202020204" pitchFamily="34" charset="0"/>
                  </a:rPr>
                </a:br>
                <a:br>
                  <a:rPr lang="en-GB" sz="2400" b="1" dirty="0">
                    <a:solidFill>
                      <a:srgbClr val="0000CC"/>
                    </a:solidFill>
                    <a:latin typeface="Century Gothic" panose="020B0502020202020204" pitchFamily="34" charset="0"/>
                  </a:rPr>
                </a:br>
                <a:r>
                  <a:rPr lang="en-GB" sz="2400" b="1" dirty="0">
                    <a:solidFill>
                      <a:srgbClr val="0000CC"/>
                    </a:solidFill>
                    <a:latin typeface="Century Gothic" panose="020B0502020202020204" pitchFamily="34" charset="0"/>
                  </a:rPr>
                  <a:t>			</a:t>
                </a:r>
                <a14:m>
                  <m:oMath xmlns:m="http://schemas.openxmlformats.org/officeDocument/2006/math">
                    <m:r>
                      <a:rPr lang="en-US" sz="2400" b="1" i="1" smtClean="0">
                        <a:solidFill>
                          <a:srgbClr val="0000CC"/>
                        </a:solidFill>
                        <a:latin typeface="Cambria Math" panose="02040503050406030204" pitchFamily="18" charset="0"/>
                      </a:rPr>
                      <m:t>𝒗</m:t>
                    </m:r>
                    <m:d>
                      <m:dPr>
                        <m:ctrlPr>
                          <a:rPr lang="en-US" sz="2400" b="1" i="1" smtClean="0">
                            <a:solidFill>
                              <a:srgbClr val="0000CC"/>
                            </a:solidFill>
                            <a:latin typeface="Cambria Math" panose="02040503050406030204" pitchFamily="18" charset="0"/>
                          </a:rPr>
                        </m:ctrlPr>
                      </m:dPr>
                      <m:e>
                        <m:r>
                          <a:rPr lang="en-US" sz="2400" b="1" i="1" smtClean="0">
                            <a:solidFill>
                              <a:srgbClr val="0000CC"/>
                            </a:solidFill>
                            <a:latin typeface="Cambria Math" panose="02040503050406030204" pitchFamily="18" charset="0"/>
                          </a:rPr>
                          <m:t>𝒕</m:t>
                        </m:r>
                      </m:e>
                    </m:d>
                    <m:r>
                      <a:rPr lang="en-US" sz="2400" b="1" i="1" smtClean="0">
                        <a:solidFill>
                          <a:srgbClr val="0000CC"/>
                        </a:solidFill>
                        <a:latin typeface="Cambria Math" panose="02040503050406030204" pitchFamily="18" charset="0"/>
                      </a:rPr>
                      <m:t>=</m:t>
                    </m:r>
                  </m:oMath>
                </a14:m>
                <a:r>
                  <a:rPr lang="en-GB" sz="2400" kern="100" dirty="0">
                    <a:latin typeface="Century Gothic" panose="020B0502020202020204" pitchFamily="34" charset="0"/>
                    <a:ea typeface="Calibri" panose="020F0502020204030204" pitchFamily="34" charset="0"/>
                    <a:cs typeface="Times New Roman" panose="02020603050405020304" pitchFamily="18" charset="0"/>
                  </a:rPr>
                  <a:t>   </a:t>
                </a:r>
                <a14:m>
                  <m:oMath xmlns:m="http://schemas.openxmlformats.org/officeDocument/2006/math">
                    <m:r>
                      <a:rPr lang="en-US" sz="2400" b="0" i="1" kern="100" dirty="0" smtClean="0">
                        <a:latin typeface="Cambria Math" panose="02040503050406030204" pitchFamily="18" charset="0"/>
                        <a:ea typeface="Calibri" panose="020F0502020204030204" pitchFamily="34" charset="0"/>
                        <a:cs typeface="Times New Roman" panose="02020603050405020304" pitchFamily="18" charset="0"/>
                      </a:rPr>
                      <m:t>20</m:t>
                    </m:r>
                    <m:r>
                      <a:rPr lang="en-US" sz="2400" b="0" i="1" kern="100" dirty="0" smtClean="0">
                        <a:latin typeface="Cambria Math" panose="02040503050406030204" pitchFamily="18" charset="0"/>
                        <a:ea typeface="Calibri" panose="020F0502020204030204" pitchFamily="34" charset="0"/>
                        <a:cs typeface="Times New Roman" panose="02020603050405020304" pitchFamily="18" charset="0"/>
                      </a:rPr>
                      <m:t>𝑣</m:t>
                    </m:r>
                  </m:oMath>
                </a14:m>
                <a:r>
                  <a:rPr lang="en-GB" sz="2400" kern="100" dirty="0">
                    <a:latin typeface="Century Gothic" panose="020B0502020202020204" pitchFamily="34" charset="0"/>
                    <a:ea typeface="Calibri" panose="020F0502020204030204" pitchFamily="34" charset="0"/>
                    <a:cs typeface="Times New Roman" panose="02020603050405020304" pitchFamily="18" charset="0"/>
                  </a:rPr>
                  <a:t>                  0</a:t>
                </a:r>
                <a14:m>
                  <m:oMath xmlns:m="http://schemas.openxmlformats.org/officeDocument/2006/math">
                    <m:r>
                      <a:rPr lang="en-GB" sz="2400" i="1" kern="100" dirty="0" smtClean="0">
                        <a:latin typeface="Cambria Math" panose="02040503050406030204" pitchFamily="18" charset="0"/>
                        <a:ea typeface="Cambria Math" panose="02040503050406030204" pitchFamily="18" charset="0"/>
                        <a:cs typeface="Times New Roman" panose="02020603050405020304" pitchFamily="18" charset="0"/>
                      </a:rPr>
                      <m:t>&lt;</m:t>
                    </m:r>
                    <m:r>
                      <a:rPr lang="en-US" sz="2400" b="0" i="1" kern="100" dirty="0" smtClean="0">
                        <a:latin typeface="Cambria Math" panose="02040503050406030204" pitchFamily="18" charset="0"/>
                        <a:ea typeface="Cambria Math" panose="02040503050406030204" pitchFamily="18" charset="0"/>
                        <a:cs typeface="Times New Roman" panose="02020603050405020304" pitchFamily="18" charset="0"/>
                      </a:rPr>
                      <m:t>𝑡</m:t>
                    </m:r>
                    <m:r>
                      <a:rPr lang="en-US" sz="2400" b="0" i="1" kern="100" dirty="0" smtClean="0">
                        <a:latin typeface="Cambria Math" panose="02040503050406030204" pitchFamily="18" charset="0"/>
                        <a:ea typeface="Cambria Math" panose="02040503050406030204" pitchFamily="18" charset="0"/>
                        <a:cs typeface="Times New Roman" panose="02020603050405020304" pitchFamily="18" charset="0"/>
                      </a:rPr>
                      <m:t> &lt;10</m:t>
                    </m:r>
                    <m:r>
                      <a:rPr lang="en-US" sz="2400" b="0" i="1" kern="100" dirty="0" smtClean="0">
                        <a:latin typeface="Cambria Math" panose="02040503050406030204" pitchFamily="18" charset="0"/>
                        <a:ea typeface="Cambria Math" panose="02040503050406030204" pitchFamily="18" charset="0"/>
                        <a:cs typeface="Times New Roman" panose="02020603050405020304" pitchFamily="18" charset="0"/>
                      </a:rPr>
                      <m:t>𝑚𝑠</m:t>
                    </m:r>
                  </m:oMath>
                </a14:m>
                <a:r>
                  <a:rPr lang="en-GB" sz="2400" kern="100" dirty="0">
                    <a:latin typeface="Century Gothic" panose="020B0502020202020204" pitchFamily="34" charset="0"/>
                    <a:ea typeface="Calibri" panose="020F0502020204030204" pitchFamily="34" charset="0"/>
                    <a:cs typeface="Times New Roman" panose="02020603050405020304" pitchFamily="18" charset="0"/>
                  </a:rPr>
                  <a:t>  </a:t>
                </a:r>
              </a:p>
              <a:p>
                <a:pPr>
                  <a:buClr>
                    <a:schemeClr val="accent2"/>
                  </a:buClr>
                </a:pPr>
                <a:r>
                  <a:rPr lang="en-GB" sz="2400" kern="100" dirty="0">
                    <a:latin typeface="Century Gothic" panose="020B0502020202020204" pitchFamily="34" charset="0"/>
                    <a:ea typeface="Calibri" panose="020F0502020204030204" pitchFamily="34" charset="0"/>
                    <a:cs typeface="Times New Roman" panose="02020603050405020304" pitchFamily="18" charset="0"/>
                  </a:rPr>
                  <a:t>                               0             </a:t>
                </a:r>
                <a14:m>
                  <m:oMath xmlns:m="http://schemas.openxmlformats.org/officeDocument/2006/math">
                    <m:r>
                      <a:rPr lang="en-US" sz="2400" b="0" i="1" kern="100" smtClean="0">
                        <a:latin typeface="Cambria Math" panose="02040503050406030204" pitchFamily="18" charset="0"/>
                        <a:ea typeface="Calibri" panose="020F0502020204030204" pitchFamily="34" charset="0"/>
                        <a:cs typeface="Times New Roman" panose="02020603050405020304" pitchFamily="18" charset="0"/>
                      </a:rPr>
                      <m:t>10</m:t>
                    </m:r>
                    <m:r>
                      <a:rPr lang="en-US" sz="2400" b="0" i="1" kern="100" smtClean="0">
                        <a:latin typeface="Cambria Math" panose="02040503050406030204" pitchFamily="18" charset="0"/>
                        <a:ea typeface="Calibri" panose="020F0502020204030204" pitchFamily="34" charset="0"/>
                        <a:cs typeface="Times New Roman" panose="02020603050405020304" pitchFamily="18" charset="0"/>
                      </a:rPr>
                      <m:t>𝑚𝑠</m:t>
                    </m:r>
                    <m:r>
                      <a:rPr lang="en-US" sz="2400" b="0" i="1" kern="100" smtClean="0">
                        <a:latin typeface="Cambria Math" panose="02040503050406030204" pitchFamily="18" charset="0"/>
                        <a:ea typeface="Cambria Math" panose="02040503050406030204" pitchFamily="18" charset="0"/>
                        <a:cs typeface="Times New Roman" panose="02020603050405020304" pitchFamily="18" charset="0"/>
                      </a:rPr>
                      <m:t>&lt;</m:t>
                    </m:r>
                    <m:r>
                      <a:rPr lang="en-US" sz="2400" b="0" i="1" kern="100" smtClean="0">
                        <a:latin typeface="Cambria Math" panose="02040503050406030204" pitchFamily="18" charset="0"/>
                        <a:ea typeface="Cambria Math" panose="02040503050406030204" pitchFamily="18" charset="0"/>
                        <a:cs typeface="Times New Roman" panose="02020603050405020304" pitchFamily="18" charset="0"/>
                      </a:rPr>
                      <m:t>𝑡</m:t>
                    </m:r>
                    <m:r>
                      <a:rPr lang="en-US" sz="2400" b="0" i="1" kern="100" smtClean="0">
                        <a:latin typeface="Cambria Math" panose="02040503050406030204" pitchFamily="18" charset="0"/>
                        <a:ea typeface="Cambria Math" panose="02040503050406030204" pitchFamily="18" charset="0"/>
                        <a:cs typeface="Times New Roman" panose="02020603050405020304" pitchFamily="18" charset="0"/>
                      </a:rPr>
                      <m:t> &lt;  20</m:t>
                    </m:r>
                    <m:r>
                      <a:rPr lang="en-US" sz="2400" b="0" i="1" kern="100" smtClean="0">
                        <a:latin typeface="Cambria Math" panose="02040503050406030204" pitchFamily="18" charset="0"/>
                        <a:ea typeface="Cambria Math" panose="02040503050406030204" pitchFamily="18" charset="0"/>
                        <a:cs typeface="Times New Roman" panose="02020603050405020304" pitchFamily="18" charset="0"/>
                      </a:rPr>
                      <m:t>𝑚</m:t>
                    </m:r>
                  </m:oMath>
                </a14:m>
                <a:r>
                  <a:rPr lang="en-GB" sz="2400" kern="100" dirty="0">
                    <a:latin typeface="Century Gothic" panose="020B0502020202020204" pitchFamily="34" charset="0"/>
                    <a:ea typeface="Calibri" panose="020F0502020204030204" pitchFamily="34" charset="0"/>
                    <a:cs typeface="Times New Roman" panose="02020603050405020304" pitchFamily="18" charset="0"/>
                  </a:rPr>
                  <a:t>s  </a:t>
                </a:r>
              </a:p>
              <a:p>
                <a:pPr>
                  <a:buClr>
                    <a:schemeClr val="accent2"/>
                  </a:buClr>
                </a:pPr>
                <a:endParaRPr lang="en-GB" sz="2400" kern="100" dirty="0">
                  <a:latin typeface="Century Gothic" panose="020B0502020202020204" pitchFamily="34" charset="0"/>
                  <a:ea typeface="Calibri" panose="020F0502020204030204" pitchFamily="34" charset="0"/>
                  <a:cs typeface="Times New Roman" panose="02020603050405020304" pitchFamily="18" charset="0"/>
                </a:endParaRPr>
              </a:p>
              <a:p>
                <a:pPr>
                  <a:buClr>
                    <a:schemeClr val="accent2"/>
                  </a:buClr>
                </a:pPr>
                <a:r>
                  <a:rPr lang="en-GB" sz="2400" kern="100" dirty="0">
                    <a:latin typeface="Century Gothic" panose="020B0502020202020204" pitchFamily="34" charset="0"/>
                    <a:ea typeface="Calibri" panose="020F0502020204030204" pitchFamily="34" charset="0"/>
                    <a:cs typeface="Times New Roman" panose="02020603050405020304" pitchFamily="18" charset="0"/>
                  </a:rPr>
                  <a:t>                   </a:t>
                </a:r>
                <a:br>
                  <a:rPr lang="en-GB" sz="2400" kern="100" dirty="0">
                    <a:latin typeface="Century Gothic" panose="020B0502020202020204" pitchFamily="34" charset="0"/>
                    <a:ea typeface="Calibri" panose="020F0502020204030204" pitchFamily="34" charset="0"/>
                    <a:cs typeface="Times New Roman" panose="02020603050405020304" pitchFamily="18" charset="0"/>
                  </a:rPr>
                </a:br>
                <a:r>
                  <a:rPr lang="en-GB" sz="2400" kern="100" dirty="0">
                    <a:latin typeface="Century Gothic" panose="020B0502020202020204" pitchFamily="34" charset="0"/>
                    <a:ea typeface="Calibri" panose="020F0502020204030204" pitchFamily="34" charset="0"/>
                    <a:cs typeface="Times New Roman" panose="02020603050405020304" pitchFamily="18" charset="0"/>
                  </a:rPr>
                  <a:t>			</a:t>
                </a:r>
                <a14:m>
                  <m:oMath xmlns:m="http://schemas.openxmlformats.org/officeDocument/2006/math">
                    <m:r>
                      <a:rPr lang="en-US" sz="2400" b="1" i="1" smtClean="0">
                        <a:solidFill>
                          <a:srgbClr val="0000CC"/>
                        </a:solidFill>
                        <a:latin typeface="Cambria Math" panose="02040503050406030204" pitchFamily="18" charset="0"/>
                      </a:rPr>
                      <m:t>𝒊</m:t>
                    </m:r>
                    <m:d>
                      <m:dPr>
                        <m:ctrlPr>
                          <a:rPr lang="en-US" sz="2400" b="1" i="1" smtClean="0">
                            <a:solidFill>
                              <a:srgbClr val="0000CC"/>
                            </a:solidFill>
                            <a:latin typeface="Cambria Math" panose="02040503050406030204" pitchFamily="18" charset="0"/>
                          </a:rPr>
                        </m:ctrlPr>
                      </m:dPr>
                      <m:e>
                        <m:r>
                          <a:rPr lang="en-US" sz="2400" b="1" i="1" smtClean="0">
                            <a:solidFill>
                              <a:srgbClr val="0000CC"/>
                            </a:solidFill>
                            <a:latin typeface="Cambria Math" panose="02040503050406030204" pitchFamily="18" charset="0"/>
                          </a:rPr>
                          <m:t>𝒕</m:t>
                        </m:r>
                      </m:e>
                    </m:d>
                    <m:r>
                      <a:rPr lang="en-US" sz="2400" b="1" i="1" smtClean="0">
                        <a:solidFill>
                          <a:srgbClr val="0000CC"/>
                        </a:solidFill>
                        <a:latin typeface="Cambria Math" panose="02040503050406030204" pitchFamily="18" charset="0"/>
                      </a:rPr>
                      <m:t>=</m:t>
                    </m:r>
                  </m:oMath>
                </a14:m>
                <a:r>
                  <a:rPr lang="en-GB" sz="2400" kern="100" dirty="0">
                    <a:latin typeface="Century Gothic" panose="020B0502020202020204" pitchFamily="34" charset="0"/>
                    <a:ea typeface="Calibri" panose="020F0502020204030204" pitchFamily="34" charset="0"/>
                    <a:cs typeface="Times New Roman" panose="02020603050405020304" pitchFamily="18" charset="0"/>
                  </a:rPr>
                  <a:t>   </a:t>
                </a:r>
                <a14:m>
                  <m:oMath xmlns:m="http://schemas.openxmlformats.org/officeDocument/2006/math">
                    <m:r>
                      <a:rPr lang="en-US" sz="2400" b="0" i="0" kern="100" dirty="0" smtClean="0">
                        <a:latin typeface="Cambria Math" panose="02040503050406030204" pitchFamily="18" charset="0"/>
                        <a:ea typeface="Calibri" panose="020F0502020204030204" pitchFamily="34" charset="0"/>
                        <a:cs typeface="Times New Roman" panose="02020603050405020304" pitchFamily="18" charset="0"/>
                      </a:rPr>
                      <m:t> </m:t>
                    </m:r>
                    <m:r>
                      <a:rPr lang="en-US" sz="2400" b="0" i="1" kern="100" dirty="0" smtClean="0">
                        <a:latin typeface="Cambria Math" panose="02040503050406030204" pitchFamily="18" charset="0"/>
                        <a:ea typeface="Calibri" panose="020F0502020204030204" pitchFamily="34" charset="0"/>
                        <a:cs typeface="Times New Roman" panose="02020603050405020304" pitchFamily="18" charset="0"/>
                      </a:rPr>
                      <m:t>20</m:t>
                    </m:r>
                    <m:r>
                      <a:rPr lang="en-US" sz="2400" b="0" i="1" kern="100" dirty="0" smtClean="0">
                        <a:latin typeface="Cambria Math" panose="02040503050406030204" pitchFamily="18" charset="0"/>
                        <a:ea typeface="Calibri" panose="020F0502020204030204" pitchFamily="34" charset="0"/>
                        <a:cs typeface="Times New Roman" panose="02020603050405020304" pitchFamily="18" charset="0"/>
                      </a:rPr>
                      <m:t>𝐴</m:t>
                    </m:r>
                  </m:oMath>
                </a14:m>
                <a:r>
                  <a:rPr lang="en-GB" sz="2400" kern="100" dirty="0">
                    <a:latin typeface="Century Gothic" panose="020B0502020202020204" pitchFamily="34" charset="0"/>
                    <a:ea typeface="Calibri" panose="020F0502020204030204" pitchFamily="34" charset="0"/>
                    <a:cs typeface="Times New Roman" panose="02020603050405020304" pitchFamily="18" charset="0"/>
                  </a:rPr>
                  <a:t>                  0</a:t>
                </a:r>
                <a14:m>
                  <m:oMath xmlns:m="http://schemas.openxmlformats.org/officeDocument/2006/math">
                    <m:r>
                      <a:rPr lang="en-GB" sz="2400" i="1" kern="100" dirty="0" smtClean="0">
                        <a:latin typeface="Cambria Math" panose="02040503050406030204" pitchFamily="18" charset="0"/>
                        <a:ea typeface="Cambria Math" panose="02040503050406030204" pitchFamily="18" charset="0"/>
                        <a:cs typeface="Times New Roman" panose="02020603050405020304" pitchFamily="18" charset="0"/>
                      </a:rPr>
                      <m:t>&lt;</m:t>
                    </m:r>
                    <m:r>
                      <a:rPr lang="en-US" sz="2400" b="0" i="1" kern="100" dirty="0" smtClean="0">
                        <a:latin typeface="Cambria Math" panose="02040503050406030204" pitchFamily="18" charset="0"/>
                        <a:ea typeface="Cambria Math" panose="02040503050406030204" pitchFamily="18" charset="0"/>
                        <a:cs typeface="Times New Roman" panose="02020603050405020304" pitchFamily="18" charset="0"/>
                      </a:rPr>
                      <m:t>𝑡</m:t>
                    </m:r>
                    <m:r>
                      <a:rPr lang="en-US" sz="2400" b="0" i="1" kern="100" dirty="0" smtClean="0">
                        <a:latin typeface="Cambria Math" panose="02040503050406030204" pitchFamily="18" charset="0"/>
                        <a:ea typeface="Cambria Math" panose="02040503050406030204" pitchFamily="18" charset="0"/>
                        <a:cs typeface="Times New Roman" panose="02020603050405020304" pitchFamily="18" charset="0"/>
                      </a:rPr>
                      <m:t> &lt;6</m:t>
                    </m:r>
                    <m:r>
                      <a:rPr lang="en-US" sz="2400" b="0" i="1" kern="100" dirty="0" smtClean="0">
                        <a:latin typeface="Cambria Math" panose="02040503050406030204" pitchFamily="18" charset="0"/>
                        <a:ea typeface="Cambria Math" panose="02040503050406030204" pitchFamily="18" charset="0"/>
                        <a:cs typeface="Times New Roman" panose="02020603050405020304" pitchFamily="18" charset="0"/>
                      </a:rPr>
                      <m:t>𝑚𝑠</m:t>
                    </m:r>
                  </m:oMath>
                </a14:m>
                <a:r>
                  <a:rPr lang="en-GB" sz="2400" kern="100" dirty="0">
                    <a:latin typeface="Century Gothic" panose="020B0502020202020204" pitchFamily="34" charset="0"/>
                    <a:ea typeface="Calibri" panose="020F0502020204030204" pitchFamily="34" charset="0"/>
                    <a:cs typeface="Times New Roman" panose="02020603050405020304" pitchFamily="18" charset="0"/>
                  </a:rPr>
                  <a:t>  </a:t>
                </a:r>
              </a:p>
              <a:p>
                <a:pPr>
                  <a:buClr>
                    <a:schemeClr val="accent2"/>
                  </a:buClr>
                </a:pPr>
                <a:r>
                  <a:rPr lang="en-GB" sz="2400" kern="100" dirty="0">
                    <a:latin typeface="Century Gothic" panose="020B0502020202020204" pitchFamily="34" charset="0"/>
                    <a:ea typeface="Calibri" panose="020F0502020204030204" pitchFamily="34" charset="0"/>
                    <a:cs typeface="Times New Roman" panose="02020603050405020304" pitchFamily="18" charset="0"/>
                  </a:rPr>
                  <a:t>                               -15A             </a:t>
                </a:r>
                <a14:m>
                  <m:oMath xmlns:m="http://schemas.openxmlformats.org/officeDocument/2006/math">
                    <m:r>
                      <a:rPr lang="en-US" sz="2400" i="1" kern="100">
                        <a:latin typeface="Cambria Math" panose="02040503050406030204" pitchFamily="18" charset="0"/>
                        <a:ea typeface="Calibri" panose="020F0502020204030204" pitchFamily="34" charset="0"/>
                        <a:cs typeface="Times New Roman" panose="02020603050405020304" pitchFamily="18" charset="0"/>
                      </a:rPr>
                      <m:t>6</m:t>
                    </m:r>
                    <m:r>
                      <a:rPr lang="en-US" sz="2400" b="0" i="1" kern="100" smtClean="0">
                        <a:latin typeface="Cambria Math" panose="02040503050406030204" pitchFamily="18" charset="0"/>
                        <a:ea typeface="Calibri" panose="020F0502020204030204" pitchFamily="34" charset="0"/>
                        <a:cs typeface="Times New Roman" panose="02020603050405020304" pitchFamily="18" charset="0"/>
                      </a:rPr>
                      <m:t>𝑚𝑠</m:t>
                    </m:r>
                    <m:r>
                      <a:rPr lang="en-US" sz="2400" b="0" i="1" kern="100" smtClean="0">
                        <a:latin typeface="Cambria Math" panose="02040503050406030204" pitchFamily="18" charset="0"/>
                        <a:ea typeface="Cambria Math" panose="02040503050406030204" pitchFamily="18" charset="0"/>
                        <a:cs typeface="Times New Roman" panose="02020603050405020304" pitchFamily="18" charset="0"/>
                      </a:rPr>
                      <m:t>&lt;</m:t>
                    </m:r>
                    <m:r>
                      <a:rPr lang="en-US" sz="2400" b="0" i="1" kern="100" smtClean="0">
                        <a:latin typeface="Cambria Math" panose="02040503050406030204" pitchFamily="18" charset="0"/>
                        <a:ea typeface="Cambria Math" panose="02040503050406030204" pitchFamily="18" charset="0"/>
                        <a:cs typeface="Times New Roman" panose="02020603050405020304" pitchFamily="18" charset="0"/>
                      </a:rPr>
                      <m:t>𝑡</m:t>
                    </m:r>
                    <m:r>
                      <a:rPr lang="en-US" sz="2400" b="0" i="1" kern="100" smtClean="0">
                        <a:latin typeface="Cambria Math" panose="02040503050406030204" pitchFamily="18" charset="0"/>
                        <a:ea typeface="Cambria Math" panose="02040503050406030204" pitchFamily="18" charset="0"/>
                        <a:cs typeface="Times New Roman" panose="02020603050405020304" pitchFamily="18" charset="0"/>
                      </a:rPr>
                      <m:t> &lt;  20</m:t>
                    </m:r>
                    <m:r>
                      <a:rPr lang="en-US" sz="2400" b="0" i="1" kern="100" smtClean="0">
                        <a:latin typeface="Cambria Math" panose="02040503050406030204" pitchFamily="18" charset="0"/>
                        <a:ea typeface="Cambria Math" panose="02040503050406030204" pitchFamily="18" charset="0"/>
                        <a:cs typeface="Times New Roman" panose="02020603050405020304" pitchFamily="18" charset="0"/>
                      </a:rPr>
                      <m:t>𝑚𝑠</m:t>
                    </m:r>
                  </m:oMath>
                </a14:m>
                <a:r>
                  <a:rPr lang="en-GB" sz="2400" kern="100" dirty="0">
                    <a:latin typeface="Century Gothic" panose="020B0502020202020204" pitchFamily="34" charset="0"/>
                    <a:ea typeface="Calibri" panose="020F0502020204030204" pitchFamily="34" charset="0"/>
                    <a:cs typeface="Times New Roman" panose="02020603050405020304" pitchFamily="18" charset="0"/>
                  </a:rPr>
                  <a:t>  </a:t>
                </a:r>
              </a:p>
              <a:p>
                <a:pPr>
                  <a:buClr>
                    <a:schemeClr val="accent2"/>
                  </a:buClr>
                </a:pPr>
                <a:r>
                  <a:rPr lang="en-GB" sz="2400" kern="100" dirty="0">
                    <a:latin typeface="Century Gothic" panose="020B0502020202020204" pitchFamily="34" charset="0"/>
                    <a:ea typeface="Calibri" panose="020F0502020204030204" pitchFamily="34" charset="0"/>
                    <a:cs typeface="Times New Roman" panose="02020603050405020304" pitchFamily="18" charset="0"/>
                  </a:rPr>
                  <a:t> </a:t>
                </a:r>
              </a:p>
              <a:p>
                <a:pPr marL="342900" indent="-342900">
                  <a:buClr>
                    <a:schemeClr val="accent2"/>
                  </a:buClr>
                  <a:buFont typeface="Arial" panose="020B0604020202020204" pitchFamily="34" charset="0"/>
                  <a:buChar char="•"/>
                </a:pPr>
                <a:r>
                  <a:rPr lang="en-GB" sz="2400" b="1" kern="100" dirty="0">
                    <a:solidFill>
                      <a:srgbClr val="0000CC"/>
                    </a:solidFill>
                    <a:latin typeface="Century Gothic" panose="020B0502020202020204" pitchFamily="34" charset="0"/>
                    <a:ea typeface="Calibri" panose="020F0502020204030204" pitchFamily="34" charset="0"/>
                    <a:cs typeface="Times New Roman" panose="02020603050405020304" pitchFamily="18" charset="0"/>
                  </a:rPr>
                  <a:t>Instantaneous power is the product of voltage and current and is expressed as</a:t>
                </a:r>
              </a:p>
              <a:p>
                <a:pPr>
                  <a:buClr>
                    <a:schemeClr val="accent2"/>
                  </a:buClr>
                </a:pPr>
                <a:br>
                  <a:rPr lang="en-GB" sz="2400" b="1" kern="100" dirty="0">
                    <a:solidFill>
                      <a:srgbClr val="0000CC"/>
                    </a:solidFill>
                    <a:latin typeface="Century Gothic" panose="020B0502020202020204" pitchFamily="34" charset="0"/>
                    <a:ea typeface="Calibri" panose="020F0502020204030204" pitchFamily="34" charset="0"/>
                    <a:cs typeface="Times New Roman" panose="02020603050405020304" pitchFamily="18" charset="0"/>
                  </a:rPr>
                </a:br>
                <a:r>
                  <a:rPr lang="en-GB" sz="2400" b="1" kern="100" dirty="0">
                    <a:solidFill>
                      <a:srgbClr val="0000CC"/>
                    </a:solidFill>
                    <a:latin typeface="Century Gothic" panose="020B0502020202020204" pitchFamily="34" charset="0"/>
                    <a:ea typeface="Calibri" panose="020F0502020204030204" pitchFamily="34" charset="0"/>
                    <a:cs typeface="Times New Roman" panose="02020603050405020304" pitchFamily="18" charset="0"/>
                  </a:rPr>
                  <a:t>		</a:t>
                </a:r>
                <a14:m>
                  <m:oMath xmlns:m="http://schemas.openxmlformats.org/officeDocument/2006/math">
                    <m:r>
                      <a:rPr lang="en-US" sz="2400" b="1" i="1" kern="100" smtClean="0">
                        <a:solidFill>
                          <a:srgbClr val="0000CC"/>
                        </a:solidFill>
                        <a:latin typeface="Cambria Math" panose="02040503050406030204" pitchFamily="18" charset="0"/>
                        <a:ea typeface="Calibri" panose="020F0502020204030204" pitchFamily="34" charset="0"/>
                        <a:cs typeface="Times New Roman" panose="02020603050405020304" pitchFamily="18" charset="0"/>
                      </a:rPr>
                      <m:t>𝒑</m:t>
                    </m:r>
                    <m:d>
                      <m:dPr>
                        <m:ctrlPr>
                          <a:rPr lang="en-US" sz="2400" b="1" i="1" kern="100" smtClean="0">
                            <a:solidFill>
                              <a:srgbClr val="0000CC"/>
                            </a:solidFill>
                            <a:latin typeface="Cambria Math" panose="02040503050406030204" pitchFamily="18" charset="0"/>
                            <a:ea typeface="Calibri" panose="020F0502020204030204" pitchFamily="34" charset="0"/>
                            <a:cs typeface="Times New Roman" panose="02020603050405020304" pitchFamily="18" charset="0"/>
                          </a:rPr>
                        </m:ctrlPr>
                      </m:dPr>
                      <m:e>
                        <m:r>
                          <a:rPr lang="en-US" sz="2400" b="1" i="1" kern="100" smtClean="0">
                            <a:solidFill>
                              <a:srgbClr val="0000CC"/>
                            </a:solidFill>
                            <a:latin typeface="Cambria Math" panose="02040503050406030204" pitchFamily="18" charset="0"/>
                            <a:ea typeface="Calibri" panose="020F0502020204030204" pitchFamily="34" charset="0"/>
                            <a:cs typeface="Times New Roman" panose="02020603050405020304" pitchFamily="18" charset="0"/>
                          </a:rPr>
                          <m:t>𝒕</m:t>
                        </m:r>
                      </m:e>
                    </m:d>
                    <m:r>
                      <a:rPr lang="en-US" sz="2400" b="1" i="1" kern="100" smtClean="0">
                        <a:solidFill>
                          <a:srgbClr val="0000CC"/>
                        </a:solidFill>
                        <a:latin typeface="Cambria Math" panose="02040503050406030204" pitchFamily="18" charset="0"/>
                        <a:ea typeface="Calibri" panose="020F0502020204030204" pitchFamily="34" charset="0"/>
                        <a:cs typeface="Times New Roman" panose="02020603050405020304" pitchFamily="18" charset="0"/>
                      </a:rPr>
                      <m:t>= </m:t>
                    </m:r>
                  </m:oMath>
                </a14:m>
                <a:r>
                  <a:rPr lang="en-GB" sz="2400" b="1" kern="100" dirty="0">
                    <a:solidFill>
                      <a:srgbClr val="0000CC"/>
                    </a:solidFill>
                    <a:latin typeface="Century Gothic" panose="020B0502020202020204" pitchFamily="34" charset="0"/>
                    <a:ea typeface="Calibri" panose="020F0502020204030204" pitchFamily="34" charset="0"/>
                    <a:cs typeface="Times New Roman" panose="02020603050405020304" pitchFamily="18" charset="0"/>
                  </a:rPr>
                  <a:t>  </a:t>
                </a:r>
                <a:r>
                  <a:rPr lang="en-GB" sz="2400" kern="100" dirty="0">
                    <a:latin typeface="Century Gothic" panose="020B0502020202020204" pitchFamily="34" charset="0"/>
                    <a:ea typeface="Calibri" panose="020F0502020204030204" pitchFamily="34" charset="0"/>
                    <a:cs typeface="Times New Roman" panose="02020603050405020304" pitchFamily="18" charset="0"/>
                  </a:rPr>
                  <a:t>400W            0</a:t>
                </a:r>
                <a14:m>
                  <m:oMath xmlns:m="http://schemas.openxmlformats.org/officeDocument/2006/math">
                    <m:r>
                      <a:rPr lang="en-GB" sz="2400" i="1" kern="100" smtClean="0">
                        <a:latin typeface="Cambria Math" panose="02040503050406030204" pitchFamily="18" charset="0"/>
                        <a:ea typeface="Cambria Math" panose="02040503050406030204" pitchFamily="18" charset="0"/>
                        <a:cs typeface="Times New Roman" panose="02020603050405020304" pitchFamily="18" charset="0"/>
                      </a:rPr>
                      <m:t>&lt;</m:t>
                    </m:r>
                    <m:r>
                      <a:rPr lang="en-US" sz="2400" b="0" i="1" kern="100" smtClean="0">
                        <a:latin typeface="Cambria Math" panose="02040503050406030204" pitchFamily="18" charset="0"/>
                        <a:ea typeface="Cambria Math" panose="02040503050406030204" pitchFamily="18" charset="0"/>
                        <a:cs typeface="Times New Roman" panose="02020603050405020304" pitchFamily="18" charset="0"/>
                      </a:rPr>
                      <m:t>𝑡</m:t>
                    </m:r>
                    <m:r>
                      <a:rPr lang="en-US" sz="2400" b="0" i="1" kern="100" smtClean="0">
                        <a:latin typeface="Cambria Math" panose="02040503050406030204" pitchFamily="18" charset="0"/>
                        <a:ea typeface="Cambria Math" panose="02040503050406030204" pitchFamily="18" charset="0"/>
                        <a:cs typeface="Times New Roman" panose="02020603050405020304" pitchFamily="18" charset="0"/>
                      </a:rPr>
                      <m:t> &lt;6</m:t>
                    </m:r>
                    <m:r>
                      <a:rPr lang="en-US" sz="2400" b="0" i="1" kern="100" smtClean="0">
                        <a:latin typeface="Cambria Math" panose="02040503050406030204" pitchFamily="18" charset="0"/>
                        <a:ea typeface="Cambria Math" panose="02040503050406030204" pitchFamily="18" charset="0"/>
                        <a:cs typeface="Times New Roman" panose="02020603050405020304" pitchFamily="18" charset="0"/>
                      </a:rPr>
                      <m:t>𝑚𝑠</m:t>
                    </m:r>
                  </m:oMath>
                </a14:m>
                <a:br>
                  <a:rPr lang="en-GB" sz="2400" kern="100" dirty="0">
                    <a:latin typeface="Century Gothic" panose="020B0502020202020204" pitchFamily="34" charset="0"/>
                    <a:ea typeface="Calibri" panose="020F0502020204030204" pitchFamily="34" charset="0"/>
                    <a:cs typeface="Times New Roman" panose="02020603050405020304" pitchFamily="18" charset="0"/>
                  </a:rPr>
                </a:br>
                <a:r>
                  <a:rPr lang="en-GB" sz="2400" kern="100" dirty="0">
                    <a:latin typeface="Century Gothic" panose="020B0502020202020204" pitchFamily="34" charset="0"/>
                    <a:ea typeface="Calibri" panose="020F0502020204030204" pitchFamily="34" charset="0"/>
                    <a:cs typeface="Times New Roman" panose="02020603050405020304" pitchFamily="18" charset="0"/>
                  </a:rPr>
                  <a:t>                        -300W              </a:t>
                </a:r>
                <a14:m>
                  <m:oMath xmlns:m="http://schemas.openxmlformats.org/officeDocument/2006/math">
                    <m:r>
                      <a:rPr lang="en-US" sz="2400" i="1" kern="100">
                        <a:latin typeface="Cambria Math" panose="02040503050406030204" pitchFamily="18" charset="0"/>
                        <a:ea typeface="Calibri" panose="020F0502020204030204" pitchFamily="34" charset="0"/>
                        <a:cs typeface="Times New Roman" panose="02020603050405020304" pitchFamily="18" charset="0"/>
                      </a:rPr>
                      <m:t>6</m:t>
                    </m:r>
                    <m:r>
                      <a:rPr lang="en-US" sz="2400" b="0" i="1" kern="100" smtClean="0">
                        <a:latin typeface="Cambria Math" panose="02040503050406030204" pitchFamily="18" charset="0"/>
                        <a:ea typeface="Calibri" panose="020F0502020204030204" pitchFamily="34" charset="0"/>
                        <a:cs typeface="Times New Roman" panose="02020603050405020304" pitchFamily="18" charset="0"/>
                      </a:rPr>
                      <m:t>𝑚𝑠</m:t>
                    </m:r>
                    <m:r>
                      <a:rPr lang="en-US" sz="2400" b="0" i="1" kern="100" smtClean="0">
                        <a:latin typeface="Cambria Math" panose="02040503050406030204" pitchFamily="18" charset="0"/>
                        <a:ea typeface="Cambria Math" panose="02040503050406030204" pitchFamily="18" charset="0"/>
                        <a:cs typeface="Times New Roman" panose="02020603050405020304" pitchFamily="18" charset="0"/>
                      </a:rPr>
                      <m:t>&lt;</m:t>
                    </m:r>
                    <m:r>
                      <a:rPr lang="en-US" sz="2400" b="0" i="1" kern="100" smtClean="0">
                        <a:latin typeface="Cambria Math" panose="02040503050406030204" pitchFamily="18" charset="0"/>
                        <a:ea typeface="Cambria Math" panose="02040503050406030204" pitchFamily="18" charset="0"/>
                        <a:cs typeface="Times New Roman" panose="02020603050405020304" pitchFamily="18" charset="0"/>
                      </a:rPr>
                      <m:t>𝑡</m:t>
                    </m:r>
                    <m:r>
                      <a:rPr lang="en-US" sz="2400" b="0" i="1" kern="100" smtClean="0">
                        <a:latin typeface="Cambria Math" panose="02040503050406030204" pitchFamily="18" charset="0"/>
                        <a:ea typeface="Cambria Math" panose="02040503050406030204" pitchFamily="18" charset="0"/>
                        <a:cs typeface="Times New Roman" panose="02020603050405020304" pitchFamily="18" charset="0"/>
                      </a:rPr>
                      <m:t>&lt;10</m:t>
                    </m:r>
                    <m:r>
                      <a:rPr lang="en-US" sz="2400" b="0" i="1" kern="100" smtClean="0">
                        <a:latin typeface="Cambria Math" panose="02040503050406030204" pitchFamily="18" charset="0"/>
                        <a:ea typeface="Cambria Math" panose="02040503050406030204" pitchFamily="18" charset="0"/>
                        <a:cs typeface="Times New Roman" panose="02020603050405020304" pitchFamily="18" charset="0"/>
                      </a:rPr>
                      <m:t>𝑚𝑠</m:t>
                    </m:r>
                  </m:oMath>
                </a14:m>
                <a:endParaRPr lang="en-GB" sz="2400" kern="100" dirty="0">
                  <a:latin typeface="Century Gothic" panose="020B0502020202020204" pitchFamily="34" charset="0"/>
                  <a:ea typeface="Calibri" panose="020F0502020204030204" pitchFamily="34" charset="0"/>
                  <a:cs typeface="Times New Roman" panose="02020603050405020304" pitchFamily="18" charset="0"/>
                </a:endParaRPr>
              </a:p>
              <a:p>
                <a:pPr>
                  <a:buClr>
                    <a:schemeClr val="accent2"/>
                  </a:buClr>
                </a:pPr>
                <a:r>
                  <a:rPr lang="en-GB" sz="2400" b="1" kern="100" dirty="0">
                    <a:solidFill>
                      <a:srgbClr val="0000CC"/>
                    </a:solidFill>
                    <a:latin typeface="Century Gothic" panose="020B0502020202020204" pitchFamily="34" charset="0"/>
                    <a:ea typeface="Calibri" panose="020F0502020204030204" pitchFamily="34" charset="0"/>
                    <a:cs typeface="Times New Roman" panose="02020603050405020304" pitchFamily="18" charset="0"/>
                  </a:rPr>
                  <a:t>                         </a:t>
                </a:r>
                <a:r>
                  <a:rPr lang="en-GB" sz="2400" kern="100" dirty="0">
                    <a:latin typeface="Century Gothic" panose="020B0502020202020204" pitchFamily="34" charset="0"/>
                    <a:ea typeface="Calibri" panose="020F0502020204030204" pitchFamily="34" charset="0"/>
                    <a:cs typeface="Times New Roman" panose="02020603050405020304" pitchFamily="18" charset="0"/>
                  </a:rPr>
                  <a:t>0                 </a:t>
                </a:r>
                <a14:m>
                  <m:oMath xmlns:m="http://schemas.openxmlformats.org/officeDocument/2006/math">
                    <m:r>
                      <a:rPr lang="en-US" sz="2400" b="0" i="1" kern="100" smtClean="0">
                        <a:latin typeface="Cambria Math" panose="02040503050406030204" pitchFamily="18" charset="0"/>
                        <a:ea typeface="Calibri" panose="020F0502020204030204" pitchFamily="34" charset="0"/>
                        <a:cs typeface="Times New Roman" panose="02020603050405020304" pitchFamily="18" charset="0"/>
                      </a:rPr>
                      <m:t>10</m:t>
                    </m:r>
                    <m:r>
                      <a:rPr lang="en-US" sz="2400" b="0" i="1" kern="100" smtClean="0">
                        <a:latin typeface="Cambria Math" panose="02040503050406030204" pitchFamily="18" charset="0"/>
                        <a:ea typeface="Calibri" panose="020F0502020204030204" pitchFamily="34" charset="0"/>
                        <a:cs typeface="Times New Roman" panose="02020603050405020304" pitchFamily="18" charset="0"/>
                      </a:rPr>
                      <m:t>𝑚𝑠</m:t>
                    </m:r>
                    <m:r>
                      <a:rPr lang="en-US" sz="2400" b="0" i="1" kern="100" smtClean="0">
                        <a:latin typeface="Cambria Math" panose="02040503050406030204" pitchFamily="18" charset="0"/>
                        <a:ea typeface="Cambria Math" panose="02040503050406030204" pitchFamily="18" charset="0"/>
                        <a:cs typeface="Times New Roman" panose="02020603050405020304" pitchFamily="18" charset="0"/>
                      </a:rPr>
                      <m:t>&lt;</m:t>
                    </m:r>
                    <m:r>
                      <a:rPr lang="en-US" sz="2400" b="0" i="1" kern="100" smtClean="0">
                        <a:latin typeface="Cambria Math" panose="02040503050406030204" pitchFamily="18" charset="0"/>
                        <a:ea typeface="Cambria Math" panose="02040503050406030204" pitchFamily="18" charset="0"/>
                        <a:cs typeface="Times New Roman" panose="02020603050405020304" pitchFamily="18" charset="0"/>
                      </a:rPr>
                      <m:t>𝑡</m:t>
                    </m:r>
                    <m:r>
                      <a:rPr lang="en-US" sz="2400" b="0" i="1" kern="100" smtClean="0">
                        <a:latin typeface="Cambria Math" panose="02040503050406030204" pitchFamily="18" charset="0"/>
                        <a:ea typeface="Cambria Math" panose="02040503050406030204" pitchFamily="18" charset="0"/>
                        <a:cs typeface="Times New Roman" panose="02020603050405020304" pitchFamily="18" charset="0"/>
                      </a:rPr>
                      <m:t>&lt;20</m:t>
                    </m:r>
                    <m:r>
                      <a:rPr lang="en-US" sz="2400" b="0" i="1" kern="100" smtClean="0">
                        <a:latin typeface="Cambria Math" panose="02040503050406030204" pitchFamily="18" charset="0"/>
                        <a:ea typeface="Cambria Math" panose="02040503050406030204" pitchFamily="18" charset="0"/>
                        <a:cs typeface="Times New Roman" panose="02020603050405020304" pitchFamily="18" charset="0"/>
                      </a:rPr>
                      <m:t>𝑚𝑠</m:t>
                    </m:r>
                  </m:oMath>
                </a14:m>
                <a:endParaRPr lang="en-GB" sz="2400" kern="100" dirty="0">
                  <a:latin typeface="Century Gothic" panose="020B0502020202020204" pitchFamily="34" charset="0"/>
                  <a:ea typeface="Calibri" panose="020F0502020204030204" pitchFamily="34" charset="0"/>
                  <a:cs typeface="Times New Roman" panose="02020603050405020304" pitchFamily="18" charset="0"/>
                </a:endParaRPr>
              </a:p>
            </p:txBody>
          </p:sp>
        </mc:Choice>
        <mc:Fallback xmlns="">
          <p:sp>
            <p:nvSpPr>
              <p:cNvPr id="6" name="TextBox 5">
                <a:extLst>
                  <a:ext uri="{FF2B5EF4-FFF2-40B4-BE49-F238E27FC236}">
                    <a16:creationId xmlns:a16="http://schemas.microsoft.com/office/drawing/2014/main" id="{6BAA1F11-5BEF-4D80-964F-A7332E36BFA0}"/>
                  </a:ext>
                </a:extLst>
              </p:cNvPr>
              <p:cNvSpPr txBox="1">
                <a:spLocks noRot="1" noChangeAspect="1" noMove="1" noResize="1" noEditPoints="1" noAdjustHandles="1" noChangeArrowheads="1" noChangeShapeType="1" noTextEdit="1"/>
              </p:cNvSpPr>
              <p:nvPr/>
            </p:nvSpPr>
            <p:spPr>
              <a:xfrm>
                <a:off x="1738016" y="1017916"/>
                <a:ext cx="9254165" cy="6001643"/>
              </a:xfrm>
              <a:prstGeom prst="rect">
                <a:avLst/>
              </a:prstGeom>
              <a:blipFill>
                <a:blip r:embed="rId3"/>
                <a:stretch>
                  <a:fillRect l="-921" t="-709" r="-66" b="-1216"/>
                </a:stretch>
              </a:blipFill>
              <a:ln>
                <a:solidFill>
                  <a:srgbClr val="FF0066"/>
                </a:solidFill>
              </a:ln>
            </p:spPr>
            <p:txBody>
              <a:bodyPr/>
              <a:lstStyle/>
              <a:p>
                <a:r>
                  <a:rPr lang="en-US">
                    <a:noFill/>
                  </a:rPr>
                  <a:t> </a:t>
                </a:r>
              </a:p>
            </p:txBody>
          </p:sp>
        </mc:Fallback>
      </mc:AlternateContent>
      <p:sp>
        <p:nvSpPr>
          <p:cNvPr id="7" name="TextBox 6">
            <a:extLst>
              <a:ext uri="{FF2B5EF4-FFF2-40B4-BE49-F238E27FC236}">
                <a16:creationId xmlns:a16="http://schemas.microsoft.com/office/drawing/2014/main" id="{C36AA635-C21F-49F3-BF21-4CBE4C20709B}"/>
              </a:ext>
            </a:extLst>
          </p:cNvPr>
          <p:cNvSpPr txBox="1"/>
          <p:nvPr/>
        </p:nvSpPr>
        <p:spPr>
          <a:xfrm>
            <a:off x="5269122" y="6037275"/>
            <a:ext cx="823314" cy="373051"/>
          </a:xfrm>
          <a:prstGeom prst="rect">
            <a:avLst/>
          </a:prstGeom>
          <a:noFill/>
        </p:spPr>
        <p:txBody>
          <a:bodyPr wrap="square" rtlCol="0">
            <a:spAutoFit/>
          </a:bodyPr>
          <a:lstStyle/>
          <a:p>
            <a:pPr algn="ctr"/>
            <a:endParaRPr lang="en-GB" sz="1824" dirty="0">
              <a:latin typeface="Garamond" panose="02020404030301010803" pitchFamily="18" charset="0"/>
            </a:endParaRPr>
          </a:p>
        </p:txBody>
      </p:sp>
      <p:sp>
        <p:nvSpPr>
          <p:cNvPr id="10" name="Left Brace 9">
            <a:extLst>
              <a:ext uri="{FF2B5EF4-FFF2-40B4-BE49-F238E27FC236}">
                <a16:creationId xmlns:a16="http://schemas.microsoft.com/office/drawing/2014/main" id="{44451D24-ABD1-4E2C-BD11-CF2530CE7AAB}"/>
              </a:ext>
            </a:extLst>
          </p:cNvPr>
          <p:cNvSpPr/>
          <p:nvPr/>
        </p:nvSpPr>
        <p:spPr>
          <a:xfrm>
            <a:off x="4016827" y="2195896"/>
            <a:ext cx="206829" cy="667047"/>
          </a:xfrm>
          <a:prstGeom prst="lef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2" name="Left Brace 11">
            <a:extLst>
              <a:ext uri="{FF2B5EF4-FFF2-40B4-BE49-F238E27FC236}">
                <a16:creationId xmlns:a16="http://schemas.microsoft.com/office/drawing/2014/main" id="{35CC7621-6239-4794-8FB0-F060530410B5}"/>
              </a:ext>
            </a:extLst>
          </p:cNvPr>
          <p:cNvSpPr/>
          <p:nvPr/>
        </p:nvSpPr>
        <p:spPr>
          <a:xfrm>
            <a:off x="4071254" y="3748505"/>
            <a:ext cx="152402" cy="540466"/>
          </a:xfrm>
          <a:prstGeom prst="lef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3" name="Left Brace 12">
            <a:extLst>
              <a:ext uri="{FF2B5EF4-FFF2-40B4-BE49-F238E27FC236}">
                <a16:creationId xmlns:a16="http://schemas.microsoft.com/office/drawing/2014/main" id="{760127D9-3658-4FE8-85D7-B07510A73B1E}"/>
              </a:ext>
            </a:extLst>
          </p:cNvPr>
          <p:cNvSpPr/>
          <p:nvPr/>
        </p:nvSpPr>
        <p:spPr>
          <a:xfrm>
            <a:off x="3446417" y="5874121"/>
            <a:ext cx="341812" cy="993016"/>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Tree>
    <p:extLst>
      <p:ext uri="{BB962C8B-B14F-4D97-AF65-F5344CB8AC3E}">
        <p14:creationId xmlns:p14="http://schemas.microsoft.com/office/powerpoint/2010/main" val="275799959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6">
            <a:extLst>
              <a:ext uri="{FF2B5EF4-FFF2-40B4-BE49-F238E27FC236}">
                <a16:creationId xmlns:a16="http://schemas.microsoft.com/office/drawing/2014/main" id="{56080804-F19F-41A7-8595-943961648C5E}"/>
              </a:ext>
            </a:extLst>
          </p:cNvPr>
          <p:cNvSpPr>
            <a:spLocks noGrp="1"/>
          </p:cNvSpPr>
          <p:nvPr>
            <p:ph type="sldNum" sz="quarter" idx="12"/>
          </p:nvPr>
        </p:nvSpPr>
        <p:spPr>
          <a:xfrm>
            <a:off x="8610600" y="6441692"/>
            <a:ext cx="2743200" cy="370027"/>
          </a:xfrm>
        </p:spPr>
        <p:txBody>
          <a:bodyPr/>
          <a:lstStyle/>
          <a:p>
            <a:fld id="{F4801FD5-11B4-DE43-ACA2-E85EEB9A6F9C}" type="slidenum">
              <a:rPr lang="en-US" smtClean="0">
                <a:latin typeface="Garamond" panose="02020404030301010803" pitchFamily="18" charset="0"/>
              </a:rPr>
              <a:t>17</a:t>
            </a:fld>
            <a:endParaRPr lang="en-US">
              <a:latin typeface="Garamond" panose="02020404030301010803" pitchFamily="18" charset="0"/>
            </a:endParaRPr>
          </a:p>
        </p:txBody>
      </p:sp>
      <p:sp>
        <p:nvSpPr>
          <p:cNvPr id="5" name="Title 1">
            <a:extLst>
              <a:ext uri="{FF2B5EF4-FFF2-40B4-BE49-F238E27FC236}">
                <a16:creationId xmlns:a16="http://schemas.microsoft.com/office/drawing/2014/main" id="{4710AE4B-0DB8-4451-B9E4-10BAE11B4D3A}"/>
              </a:ext>
            </a:extLst>
          </p:cNvPr>
          <p:cNvSpPr>
            <a:spLocks noGrp="1"/>
          </p:cNvSpPr>
          <p:nvPr>
            <p:ph type="title"/>
          </p:nvPr>
        </p:nvSpPr>
        <p:spPr>
          <a:xfrm>
            <a:off x="3254625" y="82938"/>
            <a:ext cx="6026397" cy="558382"/>
          </a:xfrm>
        </p:spPr>
        <p:txBody>
          <a:bodyPr>
            <a:noAutofit/>
          </a:bodyPr>
          <a:lstStyle/>
          <a:p>
            <a:pPr algn="ctr"/>
            <a:r>
              <a:rPr lang="en-US" sz="3200" b="1" u="sng" dirty="0">
                <a:solidFill>
                  <a:srgbClr val="FF3386"/>
                </a:solidFill>
                <a:latin typeface="Century Gothic" panose="020B0502020202020204" pitchFamily="34" charset="0"/>
                <a:cs typeface="Helvetica"/>
              </a:rPr>
              <a:t>POWER COMPUTATION</a:t>
            </a:r>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6BAA1F11-5BEF-4D80-964F-A7332E36BFA0}"/>
                  </a:ext>
                </a:extLst>
              </p:cNvPr>
              <p:cNvSpPr txBox="1"/>
              <p:nvPr/>
            </p:nvSpPr>
            <p:spPr>
              <a:xfrm>
                <a:off x="97276" y="539749"/>
                <a:ext cx="11974750" cy="6134115"/>
              </a:xfrm>
              <a:prstGeom prst="rect">
                <a:avLst/>
              </a:prstGeom>
              <a:noFill/>
              <a:ln>
                <a:solidFill>
                  <a:srgbClr val="FF0066"/>
                </a:solidFill>
              </a:ln>
            </p:spPr>
            <p:txBody>
              <a:bodyPr wrap="square" rtlCol="0">
                <a:spAutoFit/>
              </a:bodyPr>
              <a:lstStyle/>
              <a:p>
                <a:pPr marL="457200" indent="-457200">
                  <a:buClr>
                    <a:schemeClr val="accent2"/>
                  </a:buClr>
                  <a:buFont typeface="Arial" panose="020B0604020202020204" pitchFamily="34" charset="0"/>
                  <a:buChar char="•"/>
                </a:pPr>
                <a:r>
                  <a:rPr lang="en-GB" sz="2400" b="1" dirty="0">
                    <a:latin typeface="Century Gothic" panose="020B0502020202020204" pitchFamily="34" charset="0"/>
                  </a:rPr>
                  <a:t> </a:t>
                </a:r>
                <a:r>
                  <a:rPr lang="en-GB" sz="2400" b="1" dirty="0">
                    <a:solidFill>
                      <a:srgbClr val="FF0000"/>
                    </a:solidFill>
                    <a:latin typeface="Century Gothic" panose="020B0502020202020204" pitchFamily="34" charset="0"/>
                  </a:rPr>
                  <a:t>Solution</a:t>
                </a:r>
              </a:p>
              <a:p>
                <a:pPr>
                  <a:buClr>
                    <a:schemeClr val="accent2"/>
                  </a:buClr>
                </a:pPr>
                <a:endParaRPr lang="en-GB" sz="2400" b="1" kern="100" dirty="0">
                  <a:solidFill>
                    <a:srgbClr val="FF0000"/>
                  </a:solidFill>
                  <a:latin typeface="Century Gothic" panose="020B0502020202020204" pitchFamily="34" charset="0"/>
                  <a:ea typeface="Calibri" panose="020F0502020204030204" pitchFamily="34" charset="0"/>
                  <a:cs typeface="Times New Roman" panose="02020603050405020304" pitchFamily="18" charset="0"/>
                </a:endParaRPr>
              </a:p>
              <a:p>
                <a:pPr>
                  <a:buClr>
                    <a:schemeClr val="accent2"/>
                  </a:buClr>
                </a:pPr>
                <a:r>
                  <a:rPr lang="en-GB" sz="2400" kern="100" dirty="0">
                    <a:latin typeface="Century Gothic" panose="020B0502020202020204" pitchFamily="34" charset="0"/>
                    <a:ea typeface="Calibri" panose="020F0502020204030204" pitchFamily="34" charset="0"/>
                    <a:cs typeface="Times New Roman" panose="02020603050405020304" pitchFamily="18" charset="0"/>
                  </a:rPr>
                  <a:t>				</a:t>
                </a:r>
              </a:p>
              <a:p>
                <a:pPr>
                  <a:buClr>
                    <a:schemeClr val="accent2"/>
                  </a:buClr>
                </a:pPr>
                <a:endParaRPr lang="en-GB" sz="2400" kern="100" dirty="0">
                  <a:latin typeface="Century Gothic" panose="020B0502020202020204" pitchFamily="34" charset="0"/>
                  <a:ea typeface="Calibri" panose="020F0502020204030204" pitchFamily="34" charset="0"/>
                  <a:cs typeface="Times New Roman" panose="02020603050405020304" pitchFamily="18" charset="0"/>
                </a:endParaRPr>
              </a:p>
              <a:p>
                <a:pPr>
                  <a:buClr>
                    <a:schemeClr val="accent2"/>
                  </a:buClr>
                </a:pPr>
                <a:endParaRPr lang="en-GB" sz="2400" kern="100" dirty="0">
                  <a:latin typeface="Century Gothic" panose="020B0502020202020204" pitchFamily="34" charset="0"/>
                  <a:ea typeface="Calibri" panose="020F0502020204030204" pitchFamily="34" charset="0"/>
                  <a:cs typeface="Times New Roman" panose="02020603050405020304" pitchFamily="18" charset="0"/>
                </a:endParaRPr>
              </a:p>
              <a:p>
                <a:pPr>
                  <a:buClr>
                    <a:schemeClr val="accent2"/>
                  </a:buClr>
                </a:pPr>
                <a:r>
                  <a:rPr lang="en-GB" sz="2400" kern="100" dirty="0">
                    <a:latin typeface="Century Gothic" panose="020B0502020202020204" pitchFamily="34" charset="0"/>
                    <a:ea typeface="Calibri" panose="020F0502020204030204" pitchFamily="34" charset="0"/>
                    <a:cs typeface="Times New Roman" panose="02020603050405020304" pitchFamily="18" charset="0"/>
                  </a:rPr>
                  <a:t>					</a:t>
                </a:r>
              </a:p>
              <a:p>
                <a:pPr>
                  <a:buClr>
                    <a:schemeClr val="accent2"/>
                  </a:buClr>
                </a:pPr>
                <a:endParaRPr lang="en-GB" sz="2400" kern="100" dirty="0">
                  <a:latin typeface="Century Gothic" panose="020B0502020202020204" pitchFamily="34" charset="0"/>
                  <a:ea typeface="Calibri" panose="020F0502020204030204" pitchFamily="34" charset="0"/>
                  <a:cs typeface="Times New Roman" panose="02020603050405020304" pitchFamily="18" charset="0"/>
                </a:endParaRPr>
              </a:p>
              <a:p>
                <a:pPr>
                  <a:buClr>
                    <a:schemeClr val="accent2"/>
                  </a:buClr>
                </a:pPr>
                <a:endParaRPr lang="en-GB" sz="2400" kern="100" dirty="0">
                  <a:latin typeface="Century Gothic" panose="020B0502020202020204" pitchFamily="34" charset="0"/>
                  <a:ea typeface="Calibri" panose="020F0502020204030204" pitchFamily="34" charset="0"/>
                  <a:cs typeface="Times New Roman" panose="02020603050405020304" pitchFamily="18" charset="0"/>
                </a:endParaRPr>
              </a:p>
              <a:p>
                <a:pPr>
                  <a:buClr>
                    <a:schemeClr val="accent2"/>
                  </a:buClr>
                </a:pPr>
                <a:r>
                  <a:rPr lang="en-GB" sz="2400" kern="100" dirty="0">
                    <a:latin typeface="Century Gothic" panose="020B0502020202020204" pitchFamily="34" charset="0"/>
                    <a:ea typeface="Calibri" panose="020F0502020204030204" pitchFamily="34" charset="0"/>
                    <a:cs typeface="Times New Roman" panose="02020603050405020304" pitchFamily="18" charset="0"/>
                  </a:rPr>
                  <a:t>			</a:t>
                </a:r>
              </a:p>
              <a:p>
                <a:pPr>
                  <a:buClr>
                    <a:schemeClr val="accent2"/>
                  </a:buClr>
                </a:pPr>
                <a:endParaRPr lang="en-GB" sz="2400" kern="100" dirty="0">
                  <a:latin typeface="Century Gothic" panose="020B0502020202020204" pitchFamily="34" charset="0"/>
                  <a:ea typeface="Calibri" panose="020F0502020204030204" pitchFamily="34" charset="0"/>
                  <a:cs typeface="Times New Roman" panose="02020603050405020304" pitchFamily="18" charset="0"/>
                </a:endParaRPr>
              </a:p>
              <a:p>
                <a:pPr>
                  <a:buClr>
                    <a:schemeClr val="accent2"/>
                  </a:buClr>
                </a:pPr>
                <a:br>
                  <a:rPr lang="en-GB" sz="2400" kern="100" dirty="0">
                    <a:latin typeface="Century Gothic" panose="020B0502020202020204" pitchFamily="34" charset="0"/>
                    <a:ea typeface="Calibri" panose="020F0502020204030204" pitchFamily="34" charset="0"/>
                    <a:cs typeface="Times New Roman" panose="02020603050405020304" pitchFamily="18" charset="0"/>
                  </a:rPr>
                </a:br>
                <a:endParaRPr lang="en-GB" sz="2400" kern="100" dirty="0">
                  <a:latin typeface="Century Gothic" panose="020B0502020202020204" pitchFamily="34" charset="0"/>
                  <a:ea typeface="Calibri" panose="020F0502020204030204" pitchFamily="34" charset="0"/>
                  <a:cs typeface="Times New Roman" panose="02020603050405020304" pitchFamily="18" charset="0"/>
                </a:endParaRPr>
              </a:p>
              <a:p>
                <a:pPr>
                  <a:buClr>
                    <a:schemeClr val="accent2"/>
                  </a:buClr>
                </a:pPr>
                <a14:m>
                  <m:oMath xmlns:m="http://schemas.openxmlformats.org/officeDocument/2006/math">
                    <m:r>
                      <a:rPr lang="en-US" sz="2400" b="0" i="1" kern="100" smtClean="0">
                        <a:latin typeface="Cambria Math" panose="02040503050406030204" pitchFamily="18" charset="0"/>
                        <a:ea typeface="Calibri" panose="020F0502020204030204" pitchFamily="34" charset="0"/>
                        <a:cs typeface="Times New Roman" panose="02020603050405020304" pitchFamily="18" charset="0"/>
                      </a:rPr>
                      <m:t>(</m:t>
                    </m:r>
                    <m:r>
                      <a:rPr lang="en-US" sz="2400" b="0" i="1" kern="100" smtClean="0">
                        <a:latin typeface="Cambria Math" panose="02040503050406030204" pitchFamily="18" charset="0"/>
                        <a:ea typeface="Calibri" panose="020F0502020204030204" pitchFamily="34" charset="0"/>
                        <a:cs typeface="Times New Roman" panose="02020603050405020304" pitchFamily="18" charset="0"/>
                      </a:rPr>
                      <m:t>𝑏</m:t>
                    </m:r>
                    <m:r>
                      <a:rPr lang="en-US" sz="2400" b="0" i="1" kern="100" smtClean="0">
                        <a:latin typeface="Cambria Math" panose="02040503050406030204" pitchFamily="18" charset="0"/>
                        <a:ea typeface="Calibri" panose="020F0502020204030204" pitchFamily="34" charset="0"/>
                        <a:cs typeface="Times New Roman" panose="02020603050405020304" pitchFamily="18" charset="0"/>
                      </a:rPr>
                      <m:t>)</m:t>
                    </m:r>
                  </m:oMath>
                </a14:m>
                <a:r>
                  <a:rPr lang="en-GB" sz="2400" kern="100" dirty="0">
                    <a:latin typeface="Century Gothic" panose="020B0502020202020204" pitchFamily="34" charset="0"/>
                    <a:ea typeface="Calibri" panose="020F0502020204030204" pitchFamily="34" charset="0"/>
                    <a:cs typeface="Times New Roman" panose="02020603050405020304" pitchFamily="18" charset="0"/>
                  </a:rPr>
                  <a:t> Energy absorbed by the device in one period is expressed as </a:t>
                </a:r>
                <a:br>
                  <a:rPr lang="en-GB" sz="2400" kern="100" dirty="0">
                    <a:latin typeface="Century Gothic" panose="020B0502020202020204" pitchFamily="34" charset="0"/>
                    <a:ea typeface="Calibri" panose="020F0502020204030204" pitchFamily="34" charset="0"/>
                    <a:cs typeface="Times New Roman" panose="02020603050405020304" pitchFamily="18" charset="0"/>
                  </a:rPr>
                </a:br>
                <a:br>
                  <a:rPr lang="en-GB" sz="2400" kern="100" dirty="0">
                    <a:latin typeface="Century Gothic" panose="020B0502020202020204" pitchFamily="34" charset="0"/>
                    <a:ea typeface="Calibri" panose="020F0502020204030204" pitchFamily="34" charset="0"/>
                    <a:cs typeface="Times New Roman" panose="02020603050405020304" pitchFamily="18" charset="0"/>
                  </a:rPr>
                </a:br>
                <a:r>
                  <a:rPr lang="en-GB" sz="2400" kern="100" dirty="0">
                    <a:latin typeface="Century Gothic" panose="020B0502020202020204" pitchFamily="34" charset="0"/>
                    <a:ea typeface="Calibri" panose="020F0502020204030204" pitchFamily="34" charset="0"/>
                    <a:cs typeface="Times New Roman" panose="02020603050405020304" pitchFamily="18" charset="0"/>
                  </a:rPr>
                  <a:t>      W = </a:t>
                </a:r>
                <a14:m>
                  <m:oMath xmlns:m="http://schemas.openxmlformats.org/officeDocument/2006/math">
                    <m:nary>
                      <m:naryPr>
                        <m:limLoc m:val="undOvr"/>
                        <m:ctrlPr>
                          <a:rPr lang="en-GB" sz="2400" i="1" kern="100" smtClean="0">
                            <a:latin typeface="Cambria Math" panose="02040503050406030204" pitchFamily="18" charset="0"/>
                            <a:ea typeface="Calibri" panose="020F0502020204030204" pitchFamily="34" charset="0"/>
                            <a:cs typeface="Times New Roman" panose="02020603050405020304" pitchFamily="18" charset="0"/>
                          </a:rPr>
                        </m:ctrlPr>
                      </m:naryPr>
                      <m:sub>
                        <m:r>
                          <m:rPr>
                            <m:brk m:alnAt="24"/>
                          </m:rPr>
                          <a:rPr lang="en-US" sz="2400" b="0" i="1" kern="100" smtClean="0">
                            <a:latin typeface="Cambria Math" panose="02040503050406030204" pitchFamily="18" charset="0"/>
                            <a:ea typeface="Calibri" panose="020F0502020204030204" pitchFamily="34" charset="0"/>
                            <a:cs typeface="Times New Roman" panose="02020603050405020304" pitchFamily="18" charset="0"/>
                          </a:rPr>
                          <m:t>0</m:t>
                        </m:r>
                      </m:sub>
                      <m:sup>
                        <m:r>
                          <a:rPr lang="en-US" sz="2400" b="0" i="1" kern="100" smtClean="0">
                            <a:latin typeface="Cambria Math" panose="02040503050406030204" pitchFamily="18" charset="0"/>
                            <a:ea typeface="Calibri" panose="020F0502020204030204" pitchFamily="34" charset="0"/>
                            <a:cs typeface="Times New Roman" panose="02020603050405020304" pitchFamily="18" charset="0"/>
                          </a:rPr>
                          <m:t>𝑇</m:t>
                        </m:r>
                      </m:sup>
                      <m:e>
                        <m:r>
                          <a:rPr lang="en-US" sz="2400" b="0" i="1" kern="100" smtClean="0">
                            <a:latin typeface="Cambria Math" panose="02040503050406030204" pitchFamily="18" charset="0"/>
                            <a:ea typeface="Calibri" panose="020F0502020204030204" pitchFamily="34" charset="0"/>
                            <a:cs typeface="Times New Roman" panose="02020603050405020304" pitchFamily="18" charset="0"/>
                          </a:rPr>
                          <m:t>𝑃</m:t>
                        </m:r>
                        <m:d>
                          <m:dPr>
                            <m:ctrlPr>
                              <a:rPr lang="en-US" sz="2400" b="0" i="1" kern="100" smtClean="0">
                                <a:latin typeface="Cambria Math" panose="02040503050406030204" pitchFamily="18" charset="0"/>
                                <a:ea typeface="Calibri" panose="020F0502020204030204" pitchFamily="34" charset="0"/>
                                <a:cs typeface="Times New Roman" panose="02020603050405020304" pitchFamily="18" charset="0"/>
                              </a:rPr>
                            </m:ctrlPr>
                          </m:dPr>
                          <m:e>
                            <m:r>
                              <a:rPr lang="en-US" sz="2400" b="0" i="1" kern="100" smtClean="0">
                                <a:latin typeface="Cambria Math" panose="02040503050406030204" pitchFamily="18" charset="0"/>
                                <a:ea typeface="Calibri" panose="020F0502020204030204" pitchFamily="34" charset="0"/>
                                <a:cs typeface="Times New Roman" panose="02020603050405020304" pitchFamily="18" charset="0"/>
                              </a:rPr>
                              <m:t>𝑡</m:t>
                            </m:r>
                          </m:e>
                        </m:d>
                        <m:r>
                          <a:rPr lang="en-US" sz="2400" b="0" i="1" kern="100" smtClean="0">
                            <a:latin typeface="Cambria Math" panose="02040503050406030204" pitchFamily="18" charset="0"/>
                            <a:ea typeface="Calibri" panose="020F0502020204030204" pitchFamily="34" charset="0"/>
                            <a:cs typeface="Times New Roman" panose="02020603050405020304" pitchFamily="18" charset="0"/>
                          </a:rPr>
                          <m:t>𝑑𝑡</m:t>
                        </m:r>
                        <m:r>
                          <a:rPr lang="en-US" sz="2400" b="0" i="1" kern="100" smtClean="0">
                            <a:latin typeface="Cambria Math" panose="02040503050406030204" pitchFamily="18" charset="0"/>
                            <a:ea typeface="Calibri" panose="020F0502020204030204" pitchFamily="34" charset="0"/>
                            <a:cs typeface="Times New Roman" panose="02020603050405020304" pitchFamily="18" charset="0"/>
                          </a:rPr>
                          <m:t>= </m:t>
                        </m:r>
                        <m:nary>
                          <m:naryPr>
                            <m:limLoc m:val="undOvr"/>
                            <m:ctrlPr>
                              <a:rPr lang="en-US" sz="2400" b="0" i="1" kern="100" smtClean="0">
                                <a:latin typeface="Cambria Math" panose="02040503050406030204" pitchFamily="18" charset="0"/>
                                <a:ea typeface="Calibri" panose="020F0502020204030204" pitchFamily="34" charset="0"/>
                                <a:cs typeface="Times New Roman" panose="02020603050405020304" pitchFamily="18" charset="0"/>
                              </a:rPr>
                            </m:ctrlPr>
                          </m:naryPr>
                          <m:sub>
                            <m:r>
                              <m:rPr>
                                <m:brk m:alnAt="24"/>
                              </m:rPr>
                              <a:rPr lang="en-US" sz="2400" b="0" i="1" kern="100" smtClean="0">
                                <a:latin typeface="Cambria Math" panose="02040503050406030204" pitchFamily="18" charset="0"/>
                                <a:ea typeface="Calibri" panose="020F0502020204030204" pitchFamily="34" charset="0"/>
                                <a:cs typeface="Times New Roman" panose="02020603050405020304" pitchFamily="18" charset="0"/>
                              </a:rPr>
                              <m:t>0</m:t>
                            </m:r>
                          </m:sub>
                          <m:sup>
                            <m:r>
                              <a:rPr lang="en-US" sz="2400" b="0" i="1" kern="100" smtClean="0">
                                <a:latin typeface="Cambria Math" panose="02040503050406030204" pitchFamily="18" charset="0"/>
                                <a:ea typeface="Calibri" panose="020F0502020204030204" pitchFamily="34" charset="0"/>
                                <a:cs typeface="Times New Roman" panose="02020603050405020304" pitchFamily="18" charset="0"/>
                              </a:rPr>
                              <m:t>0.006</m:t>
                            </m:r>
                          </m:sup>
                          <m:e>
                            <m:r>
                              <a:rPr lang="en-US" sz="2400" b="0" i="1" kern="100" smtClean="0">
                                <a:latin typeface="Cambria Math" panose="02040503050406030204" pitchFamily="18" charset="0"/>
                                <a:ea typeface="Calibri" panose="020F0502020204030204" pitchFamily="34" charset="0"/>
                                <a:cs typeface="Times New Roman" panose="02020603050405020304" pitchFamily="18" charset="0"/>
                              </a:rPr>
                              <m:t>400</m:t>
                            </m:r>
                            <m:r>
                              <a:rPr lang="en-US" sz="2400" b="0" i="1" kern="100" smtClean="0">
                                <a:latin typeface="Cambria Math" panose="02040503050406030204" pitchFamily="18" charset="0"/>
                                <a:ea typeface="Calibri" panose="020F0502020204030204" pitchFamily="34" charset="0"/>
                                <a:cs typeface="Times New Roman" panose="02020603050405020304" pitchFamily="18" charset="0"/>
                              </a:rPr>
                              <m:t>𝑑𝑡</m:t>
                            </m:r>
                            <m:r>
                              <a:rPr lang="en-US" sz="2400" b="0" i="1" kern="100" smtClean="0">
                                <a:latin typeface="Cambria Math" panose="02040503050406030204" pitchFamily="18" charset="0"/>
                                <a:ea typeface="Calibri" panose="020F0502020204030204" pitchFamily="34" charset="0"/>
                                <a:cs typeface="Times New Roman" panose="02020603050405020304" pitchFamily="18" charset="0"/>
                              </a:rPr>
                              <m:t> + </m:t>
                            </m:r>
                            <m:nary>
                              <m:naryPr>
                                <m:limLoc m:val="undOvr"/>
                                <m:ctrlPr>
                                  <a:rPr lang="en-US" sz="2400" b="0" i="1" kern="100" smtClean="0">
                                    <a:latin typeface="Cambria Math" panose="02040503050406030204" pitchFamily="18" charset="0"/>
                                    <a:ea typeface="Cambria Math" panose="02040503050406030204" pitchFamily="18" charset="0"/>
                                    <a:cs typeface="Times New Roman" panose="02020603050405020304" pitchFamily="18" charset="0"/>
                                  </a:rPr>
                                </m:ctrlPr>
                              </m:naryPr>
                              <m:sub>
                                <m:r>
                                  <m:rPr>
                                    <m:brk m:alnAt="24"/>
                                  </m:rPr>
                                  <a:rPr lang="en-US" sz="2400" b="0" i="1" kern="100" smtClean="0">
                                    <a:latin typeface="Cambria Math" panose="02040503050406030204" pitchFamily="18" charset="0"/>
                                    <a:ea typeface="Cambria Math" panose="02040503050406030204" pitchFamily="18" charset="0"/>
                                    <a:cs typeface="Times New Roman" panose="02020603050405020304" pitchFamily="18" charset="0"/>
                                  </a:rPr>
                                  <m:t>0</m:t>
                                </m:r>
                                <m:r>
                                  <a:rPr lang="en-US" sz="2400" b="0" i="1" kern="100" smtClean="0">
                                    <a:latin typeface="Cambria Math" panose="02040503050406030204" pitchFamily="18" charset="0"/>
                                    <a:ea typeface="Cambria Math" panose="02040503050406030204" pitchFamily="18" charset="0"/>
                                    <a:cs typeface="Times New Roman" panose="02020603050405020304" pitchFamily="18" charset="0"/>
                                  </a:rPr>
                                  <m:t>.006</m:t>
                                </m:r>
                              </m:sub>
                              <m:sup>
                                <m:r>
                                  <a:rPr lang="en-US" sz="2400" b="0" i="1" kern="100" smtClean="0">
                                    <a:latin typeface="Cambria Math" panose="02040503050406030204" pitchFamily="18" charset="0"/>
                                    <a:ea typeface="Cambria Math" panose="02040503050406030204" pitchFamily="18" charset="0"/>
                                    <a:cs typeface="Times New Roman" panose="02020603050405020304" pitchFamily="18" charset="0"/>
                                  </a:rPr>
                                  <m:t>0.010</m:t>
                                </m:r>
                              </m:sup>
                              <m:e>
                                <m:r>
                                  <a:rPr lang="en-US" sz="2400" b="0" i="1" kern="100" smtClean="0">
                                    <a:latin typeface="Cambria Math" panose="02040503050406030204" pitchFamily="18" charset="0"/>
                                    <a:ea typeface="Cambria Math" panose="02040503050406030204" pitchFamily="18" charset="0"/>
                                    <a:cs typeface="Times New Roman" panose="02020603050405020304" pitchFamily="18" charset="0"/>
                                  </a:rPr>
                                  <m:t>−300</m:t>
                                </m:r>
                                <m:r>
                                  <a:rPr lang="en-US" sz="2400" b="0" i="1" kern="100" smtClean="0">
                                    <a:latin typeface="Cambria Math" panose="02040503050406030204" pitchFamily="18" charset="0"/>
                                    <a:ea typeface="Cambria Math" panose="02040503050406030204" pitchFamily="18" charset="0"/>
                                    <a:cs typeface="Times New Roman" panose="02020603050405020304" pitchFamily="18" charset="0"/>
                                  </a:rPr>
                                  <m:t>𝑑𝑡</m:t>
                                </m:r>
                                <m:r>
                                  <a:rPr lang="en-US" sz="2400" b="0" i="1" kern="100" smtClean="0">
                                    <a:latin typeface="Cambria Math" panose="02040503050406030204" pitchFamily="18" charset="0"/>
                                    <a:ea typeface="Cambria Math" panose="02040503050406030204" pitchFamily="18" charset="0"/>
                                    <a:cs typeface="Times New Roman" panose="02020603050405020304" pitchFamily="18" charset="0"/>
                                  </a:rPr>
                                  <m:t>+</m:t>
                                </m:r>
                                <m:nary>
                                  <m:naryPr>
                                    <m:limLoc m:val="undOvr"/>
                                    <m:ctrlPr>
                                      <a:rPr lang="en-US" sz="2400" b="0" i="1" kern="100" smtClean="0">
                                        <a:latin typeface="Cambria Math" panose="02040503050406030204" pitchFamily="18" charset="0"/>
                                        <a:ea typeface="Cambria Math" panose="02040503050406030204" pitchFamily="18" charset="0"/>
                                        <a:cs typeface="Times New Roman" panose="02020603050405020304" pitchFamily="18" charset="0"/>
                                      </a:rPr>
                                    </m:ctrlPr>
                                  </m:naryPr>
                                  <m:sub>
                                    <m:r>
                                      <m:rPr>
                                        <m:brk m:alnAt="24"/>
                                      </m:rPr>
                                      <a:rPr lang="en-US" sz="2400" b="0" i="1" kern="100" smtClean="0">
                                        <a:latin typeface="Cambria Math" panose="02040503050406030204" pitchFamily="18" charset="0"/>
                                        <a:ea typeface="Cambria Math" panose="02040503050406030204" pitchFamily="18" charset="0"/>
                                        <a:cs typeface="Times New Roman" panose="02020603050405020304" pitchFamily="18" charset="0"/>
                                      </a:rPr>
                                      <m:t>0</m:t>
                                    </m:r>
                                    <m:r>
                                      <a:rPr lang="en-US" sz="2400" b="0" i="1" kern="100" smtClean="0">
                                        <a:latin typeface="Cambria Math" panose="02040503050406030204" pitchFamily="18" charset="0"/>
                                        <a:ea typeface="Cambria Math" panose="02040503050406030204" pitchFamily="18" charset="0"/>
                                        <a:cs typeface="Times New Roman" panose="02020603050405020304" pitchFamily="18" charset="0"/>
                                      </a:rPr>
                                      <m:t>.010</m:t>
                                    </m:r>
                                  </m:sub>
                                  <m:sup>
                                    <m:r>
                                      <a:rPr lang="en-US" sz="2400" b="0" i="1" kern="100" smtClean="0">
                                        <a:latin typeface="Cambria Math" panose="02040503050406030204" pitchFamily="18" charset="0"/>
                                        <a:ea typeface="Cambria Math" panose="02040503050406030204" pitchFamily="18" charset="0"/>
                                        <a:cs typeface="Times New Roman" panose="02020603050405020304" pitchFamily="18" charset="0"/>
                                      </a:rPr>
                                      <m:t>0,020</m:t>
                                    </m:r>
                                  </m:sup>
                                  <m:e>
                                    <m:r>
                                      <a:rPr lang="en-US" sz="2400" b="0" i="1" kern="100" smtClean="0">
                                        <a:latin typeface="Cambria Math" panose="02040503050406030204" pitchFamily="18" charset="0"/>
                                        <a:ea typeface="Cambria Math" panose="02040503050406030204" pitchFamily="18" charset="0"/>
                                        <a:cs typeface="Times New Roman" panose="02020603050405020304" pitchFamily="18" charset="0"/>
                                      </a:rPr>
                                      <m:t>0</m:t>
                                    </m:r>
                                    <m:r>
                                      <a:rPr lang="en-US" sz="2400" b="0" i="1" kern="100" smtClean="0">
                                        <a:latin typeface="Cambria Math" panose="02040503050406030204" pitchFamily="18" charset="0"/>
                                        <a:ea typeface="Cambria Math" panose="02040503050406030204" pitchFamily="18" charset="0"/>
                                        <a:cs typeface="Times New Roman" panose="02020603050405020304" pitchFamily="18" charset="0"/>
                                      </a:rPr>
                                      <m:t>𝑑𝑡</m:t>
                                    </m:r>
                                  </m:e>
                                </m:nary>
                                <m:r>
                                  <a:rPr lang="en-US" sz="2400" b="0" i="1" kern="100" smtClean="0">
                                    <a:latin typeface="Cambria Math" panose="02040503050406030204" pitchFamily="18" charset="0"/>
                                    <a:ea typeface="Cambria Math" panose="02040503050406030204" pitchFamily="18" charset="0"/>
                                    <a:cs typeface="Times New Roman" panose="02020603050405020304" pitchFamily="18" charset="0"/>
                                  </a:rPr>
                                  <m:t>=2.4−1.2 </m:t>
                                </m:r>
                              </m:e>
                            </m:nary>
                          </m:e>
                        </m:nary>
                      </m:e>
                    </m:nary>
                  </m:oMath>
                </a14:m>
                <a:r>
                  <a:rPr lang="en-GB" sz="2400" kern="100" dirty="0">
                    <a:latin typeface="Century Gothic" panose="020B0502020202020204" pitchFamily="34" charset="0"/>
                    <a:ea typeface="Calibri" panose="020F0502020204030204" pitchFamily="34" charset="0"/>
                    <a:cs typeface="Times New Roman" panose="02020603050405020304" pitchFamily="18" charset="0"/>
                  </a:rPr>
                  <a:t>= 1.2 J</a:t>
                </a:r>
              </a:p>
              <a:p>
                <a:pPr>
                  <a:buClr>
                    <a:schemeClr val="accent2"/>
                  </a:buClr>
                </a:pPr>
                <a:endParaRPr lang="en-GB" sz="2400" kern="100" dirty="0">
                  <a:latin typeface="Century Gothic" panose="020B0502020202020204" pitchFamily="34" charset="0"/>
                  <a:ea typeface="Calibri" panose="020F0502020204030204" pitchFamily="34" charset="0"/>
                  <a:cs typeface="Times New Roman" panose="02020603050405020304" pitchFamily="18" charset="0"/>
                </a:endParaRPr>
              </a:p>
            </p:txBody>
          </p:sp>
        </mc:Choice>
        <mc:Fallback xmlns="">
          <p:sp>
            <p:nvSpPr>
              <p:cNvPr id="6" name="TextBox 5">
                <a:extLst>
                  <a:ext uri="{FF2B5EF4-FFF2-40B4-BE49-F238E27FC236}">
                    <a16:creationId xmlns:a16="http://schemas.microsoft.com/office/drawing/2014/main" id="{6BAA1F11-5BEF-4D80-964F-A7332E36BFA0}"/>
                  </a:ext>
                </a:extLst>
              </p:cNvPr>
              <p:cNvSpPr txBox="1">
                <a:spLocks noRot="1" noChangeAspect="1" noMove="1" noResize="1" noEditPoints="1" noAdjustHandles="1" noChangeArrowheads="1" noChangeShapeType="1" noTextEdit="1"/>
              </p:cNvSpPr>
              <p:nvPr/>
            </p:nvSpPr>
            <p:spPr>
              <a:xfrm>
                <a:off x="97276" y="539749"/>
                <a:ext cx="11974750" cy="6134115"/>
              </a:xfrm>
              <a:prstGeom prst="rect">
                <a:avLst/>
              </a:prstGeom>
              <a:blipFill>
                <a:blip r:embed="rId3"/>
                <a:stretch>
                  <a:fillRect l="-661" t="-694"/>
                </a:stretch>
              </a:blipFill>
              <a:ln>
                <a:solidFill>
                  <a:srgbClr val="FF0066"/>
                </a:solidFill>
              </a:ln>
            </p:spPr>
            <p:txBody>
              <a:bodyPr/>
              <a:lstStyle/>
              <a:p>
                <a:r>
                  <a:rPr lang="en-US">
                    <a:noFill/>
                  </a:rPr>
                  <a:t> </a:t>
                </a:r>
              </a:p>
            </p:txBody>
          </p:sp>
        </mc:Fallback>
      </mc:AlternateContent>
      <p:sp>
        <p:nvSpPr>
          <p:cNvPr id="7" name="TextBox 6">
            <a:extLst>
              <a:ext uri="{FF2B5EF4-FFF2-40B4-BE49-F238E27FC236}">
                <a16:creationId xmlns:a16="http://schemas.microsoft.com/office/drawing/2014/main" id="{C36AA635-C21F-49F3-BF21-4CBE4C20709B}"/>
              </a:ext>
            </a:extLst>
          </p:cNvPr>
          <p:cNvSpPr txBox="1"/>
          <p:nvPr/>
        </p:nvSpPr>
        <p:spPr>
          <a:xfrm>
            <a:off x="5269122" y="6037275"/>
            <a:ext cx="823314" cy="373051"/>
          </a:xfrm>
          <a:prstGeom prst="rect">
            <a:avLst/>
          </a:prstGeom>
          <a:noFill/>
        </p:spPr>
        <p:txBody>
          <a:bodyPr wrap="square" rtlCol="0">
            <a:spAutoFit/>
          </a:bodyPr>
          <a:lstStyle/>
          <a:p>
            <a:pPr algn="ctr"/>
            <a:endParaRPr lang="en-GB" sz="1824" dirty="0">
              <a:latin typeface="Garamond" panose="02020404030301010803" pitchFamily="18" charset="0"/>
            </a:endParaRPr>
          </a:p>
        </p:txBody>
      </p:sp>
      <p:pic>
        <p:nvPicPr>
          <p:cNvPr id="3" name="Picture 2">
            <a:extLst>
              <a:ext uri="{FF2B5EF4-FFF2-40B4-BE49-F238E27FC236}">
                <a16:creationId xmlns:a16="http://schemas.microsoft.com/office/drawing/2014/main" id="{ED345675-72DD-4C7A-A562-D36384EAF09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909850" y="1017304"/>
            <a:ext cx="4365171" cy="874815"/>
          </a:xfrm>
          <a:prstGeom prst="rect">
            <a:avLst/>
          </a:prstGeom>
        </p:spPr>
      </p:pic>
      <p:pic>
        <p:nvPicPr>
          <p:cNvPr id="9" name="Picture 8">
            <a:extLst>
              <a:ext uri="{FF2B5EF4-FFF2-40B4-BE49-F238E27FC236}">
                <a16:creationId xmlns:a16="http://schemas.microsoft.com/office/drawing/2014/main" id="{4F9F7D39-7200-48BF-AB50-ED764154C5BB}"/>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959774" y="2135678"/>
            <a:ext cx="4265321" cy="980659"/>
          </a:xfrm>
          <a:prstGeom prst="rect">
            <a:avLst/>
          </a:prstGeom>
        </p:spPr>
      </p:pic>
      <p:pic>
        <p:nvPicPr>
          <p:cNvPr id="14" name="Picture 13">
            <a:extLst>
              <a:ext uri="{FF2B5EF4-FFF2-40B4-BE49-F238E27FC236}">
                <a16:creationId xmlns:a16="http://schemas.microsoft.com/office/drawing/2014/main" id="{3869D9F9-DDAB-4E78-BE66-365C22E1C6D7}"/>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3859923" y="3244287"/>
            <a:ext cx="4465021" cy="1178850"/>
          </a:xfrm>
          <a:prstGeom prst="rect">
            <a:avLst/>
          </a:prstGeom>
        </p:spPr>
      </p:pic>
      <p:sp>
        <p:nvSpPr>
          <p:cNvPr id="15" name="TextBox 14">
            <a:extLst>
              <a:ext uri="{FF2B5EF4-FFF2-40B4-BE49-F238E27FC236}">
                <a16:creationId xmlns:a16="http://schemas.microsoft.com/office/drawing/2014/main" id="{3FF2D783-2AAD-418B-A6C9-D2A99741A57C}"/>
              </a:ext>
            </a:extLst>
          </p:cNvPr>
          <p:cNvSpPr txBox="1"/>
          <p:nvPr/>
        </p:nvSpPr>
        <p:spPr>
          <a:xfrm>
            <a:off x="5550335" y="1908876"/>
            <a:ext cx="444352" cy="369332"/>
          </a:xfrm>
          <a:prstGeom prst="rect">
            <a:avLst/>
          </a:prstGeom>
          <a:noFill/>
        </p:spPr>
        <p:txBody>
          <a:bodyPr wrap="none" rtlCol="0">
            <a:spAutoFit/>
          </a:bodyPr>
          <a:lstStyle/>
          <a:p>
            <a:r>
              <a:rPr lang="en-US" i="1" dirty="0"/>
              <a:t>(a)</a:t>
            </a:r>
          </a:p>
        </p:txBody>
      </p:sp>
      <p:sp>
        <p:nvSpPr>
          <p:cNvPr id="16" name="TextBox 15">
            <a:extLst>
              <a:ext uri="{FF2B5EF4-FFF2-40B4-BE49-F238E27FC236}">
                <a16:creationId xmlns:a16="http://schemas.microsoft.com/office/drawing/2014/main" id="{437002B8-99A9-48F3-B320-D8D386D843E8}"/>
              </a:ext>
            </a:extLst>
          </p:cNvPr>
          <p:cNvSpPr txBox="1"/>
          <p:nvPr/>
        </p:nvSpPr>
        <p:spPr>
          <a:xfrm>
            <a:off x="5552437" y="3054342"/>
            <a:ext cx="539997" cy="369332"/>
          </a:xfrm>
          <a:prstGeom prst="rect">
            <a:avLst/>
          </a:prstGeom>
          <a:noFill/>
        </p:spPr>
        <p:txBody>
          <a:bodyPr wrap="square" rtlCol="0">
            <a:spAutoFit/>
          </a:bodyPr>
          <a:lstStyle/>
          <a:p>
            <a:r>
              <a:rPr lang="en-US" i="1" dirty="0"/>
              <a:t>(b)</a:t>
            </a:r>
          </a:p>
        </p:txBody>
      </p:sp>
      <p:sp>
        <p:nvSpPr>
          <p:cNvPr id="17" name="TextBox 16">
            <a:extLst>
              <a:ext uri="{FF2B5EF4-FFF2-40B4-BE49-F238E27FC236}">
                <a16:creationId xmlns:a16="http://schemas.microsoft.com/office/drawing/2014/main" id="{4B4AF820-DB63-4CF3-8668-50DF296FB7E7}"/>
              </a:ext>
            </a:extLst>
          </p:cNvPr>
          <p:cNvSpPr txBox="1"/>
          <p:nvPr/>
        </p:nvSpPr>
        <p:spPr>
          <a:xfrm>
            <a:off x="5508158" y="4238471"/>
            <a:ext cx="423514" cy="369332"/>
          </a:xfrm>
          <a:prstGeom prst="rect">
            <a:avLst/>
          </a:prstGeom>
          <a:noFill/>
        </p:spPr>
        <p:txBody>
          <a:bodyPr wrap="none" rtlCol="0">
            <a:spAutoFit/>
          </a:bodyPr>
          <a:lstStyle/>
          <a:p>
            <a:r>
              <a:rPr lang="en-US" i="1" dirty="0"/>
              <a:t>(c)</a:t>
            </a:r>
          </a:p>
        </p:txBody>
      </p:sp>
    </p:spTree>
    <p:extLst>
      <p:ext uri="{BB962C8B-B14F-4D97-AF65-F5344CB8AC3E}">
        <p14:creationId xmlns:p14="http://schemas.microsoft.com/office/powerpoint/2010/main" val="141372166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6">
            <a:extLst>
              <a:ext uri="{FF2B5EF4-FFF2-40B4-BE49-F238E27FC236}">
                <a16:creationId xmlns:a16="http://schemas.microsoft.com/office/drawing/2014/main" id="{56080804-F19F-41A7-8595-943961648C5E}"/>
              </a:ext>
            </a:extLst>
          </p:cNvPr>
          <p:cNvSpPr>
            <a:spLocks noGrp="1"/>
          </p:cNvSpPr>
          <p:nvPr>
            <p:ph type="sldNum" sz="quarter" idx="12"/>
          </p:nvPr>
        </p:nvSpPr>
        <p:spPr>
          <a:xfrm>
            <a:off x="8610600" y="6441692"/>
            <a:ext cx="2743200" cy="370027"/>
          </a:xfrm>
        </p:spPr>
        <p:txBody>
          <a:bodyPr/>
          <a:lstStyle/>
          <a:p>
            <a:fld id="{F4801FD5-11B4-DE43-ACA2-E85EEB9A6F9C}" type="slidenum">
              <a:rPr lang="en-US" smtClean="0">
                <a:latin typeface="Garamond" panose="02020404030301010803" pitchFamily="18" charset="0"/>
              </a:rPr>
              <a:t>18</a:t>
            </a:fld>
            <a:endParaRPr lang="en-US">
              <a:latin typeface="Garamond" panose="02020404030301010803" pitchFamily="18" charset="0"/>
            </a:endParaRPr>
          </a:p>
        </p:txBody>
      </p:sp>
      <p:sp>
        <p:nvSpPr>
          <p:cNvPr id="5" name="Title 1">
            <a:extLst>
              <a:ext uri="{FF2B5EF4-FFF2-40B4-BE49-F238E27FC236}">
                <a16:creationId xmlns:a16="http://schemas.microsoft.com/office/drawing/2014/main" id="{4710AE4B-0DB8-4451-B9E4-10BAE11B4D3A}"/>
              </a:ext>
            </a:extLst>
          </p:cNvPr>
          <p:cNvSpPr>
            <a:spLocks noGrp="1"/>
          </p:cNvSpPr>
          <p:nvPr>
            <p:ph type="title"/>
          </p:nvPr>
        </p:nvSpPr>
        <p:spPr>
          <a:xfrm>
            <a:off x="3264353" y="0"/>
            <a:ext cx="6026397" cy="558382"/>
          </a:xfrm>
        </p:spPr>
        <p:txBody>
          <a:bodyPr>
            <a:noAutofit/>
          </a:bodyPr>
          <a:lstStyle/>
          <a:p>
            <a:pPr algn="ctr"/>
            <a:r>
              <a:rPr lang="en-US" sz="3200" b="1" u="sng" dirty="0">
                <a:solidFill>
                  <a:srgbClr val="FF3386"/>
                </a:solidFill>
                <a:latin typeface="Century Gothic" panose="020B0502020202020204" pitchFamily="34" charset="0"/>
                <a:cs typeface="Helvetica"/>
              </a:rPr>
              <a:t>POWER COMPUTATION</a:t>
            </a:r>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6BAA1F11-5BEF-4D80-964F-A7332E36BFA0}"/>
                  </a:ext>
                </a:extLst>
              </p:cNvPr>
              <p:cNvSpPr txBox="1"/>
              <p:nvPr/>
            </p:nvSpPr>
            <p:spPr>
              <a:xfrm>
                <a:off x="97276" y="539749"/>
                <a:ext cx="11974750" cy="5757153"/>
              </a:xfrm>
              <a:prstGeom prst="rect">
                <a:avLst/>
              </a:prstGeom>
              <a:noFill/>
              <a:ln>
                <a:solidFill>
                  <a:srgbClr val="FF0066"/>
                </a:solidFill>
              </a:ln>
            </p:spPr>
            <p:txBody>
              <a:bodyPr wrap="square" rtlCol="0">
                <a:spAutoFit/>
              </a:bodyPr>
              <a:lstStyle/>
              <a:p>
                <a:pPr marL="457200" indent="-457200">
                  <a:buClr>
                    <a:schemeClr val="accent2"/>
                  </a:buClr>
                  <a:buFont typeface="Arial" panose="020B0604020202020204" pitchFamily="34" charset="0"/>
                  <a:buChar char="•"/>
                </a:pPr>
                <a:r>
                  <a:rPr lang="en-GB" sz="2400" b="1" dirty="0">
                    <a:latin typeface="Century Gothic" panose="020B0502020202020204" pitchFamily="34" charset="0"/>
                  </a:rPr>
                  <a:t> </a:t>
                </a:r>
                <a:r>
                  <a:rPr lang="en-GB" sz="2400" b="1" dirty="0">
                    <a:solidFill>
                      <a:srgbClr val="FF0000"/>
                    </a:solidFill>
                    <a:latin typeface="Century Gothic" panose="020B0502020202020204" pitchFamily="34" charset="0"/>
                  </a:rPr>
                  <a:t>Solution</a:t>
                </a:r>
                <a:endParaRPr lang="en-GB" sz="2400" kern="100" dirty="0">
                  <a:latin typeface="Century Gothic" panose="020B0502020202020204" pitchFamily="34" charset="0"/>
                  <a:ea typeface="Calibri" panose="020F0502020204030204" pitchFamily="34" charset="0"/>
                  <a:cs typeface="Times New Roman" panose="02020603050405020304" pitchFamily="18" charset="0"/>
                </a:endParaRPr>
              </a:p>
              <a:p>
                <a:pPr>
                  <a:buClr>
                    <a:schemeClr val="accent2"/>
                  </a:buClr>
                </a:pPr>
                <a:endParaRPr lang="en-GB" sz="2400" kern="100" dirty="0">
                  <a:latin typeface="Century Gothic" panose="020B0502020202020204" pitchFamily="34" charset="0"/>
                  <a:ea typeface="Calibri" panose="020F0502020204030204" pitchFamily="34" charset="0"/>
                  <a:cs typeface="Times New Roman" panose="02020603050405020304" pitchFamily="18" charset="0"/>
                </a:endParaRPr>
              </a:p>
              <a:p>
                <a:pPr>
                  <a:buClr>
                    <a:schemeClr val="accent2"/>
                  </a:buClr>
                </a:pPr>
                <a14:m>
                  <m:oMath xmlns:m="http://schemas.openxmlformats.org/officeDocument/2006/math">
                    <m:r>
                      <a:rPr lang="en-US" sz="2400" b="0" i="1" kern="100" smtClean="0">
                        <a:latin typeface="Cambria Math" panose="02040503050406030204" pitchFamily="18" charset="0"/>
                        <a:ea typeface="Calibri" panose="020F0502020204030204" pitchFamily="34" charset="0"/>
                        <a:cs typeface="Times New Roman" panose="02020603050405020304" pitchFamily="18" charset="0"/>
                      </a:rPr>
                      <m:t>(</m:t>
                    </m:r>
                    <m:r>
                      <a:rPr lang="en-US" sz="2400" b="0" i="1" kern="100" smtClean="0">
                        <a:latin typeface="Cambria Math" panose="02040503050406030204" pitchFamily="18" charset="0"/>
                        <a:ea typeface="Calibri" panose="020F0502020204030204" pitchFamily="34" charset="0"/>
                        <a:cs typeface="Times New Roman" panose="02020603050405020304" pitchFamily="18" charset="0"/>
                      </a:rPr>
                      <m:t>𝑐</m:t>
                    </m:r>
                    <m:r>
                      <a:rPr lang="en-US" sz="2400" b="0" i="1" kern="100" smtClean="0">
                        <a:latin typeface="Cambria Math" panose="02040503050406030204" pitchFamily="18" charset="0"/>
                        <a:ea typeface="Calibri" panose="020F0502020204030204" pitchFamily="34" charset="0"/>
                        <a:cs typeface="Times New Roman" panose="02020603050405020304" pitchFamily="18" charset="0"/>
                      </a:rPr>
                      <m:t>)</m:t>
                    </m:r>
                  </m:oMath>
                </a14:m>
                <a:r>
                  <a:rPr lang="en-GB" sz="2400" kern="100" dirty="0">
                    <a:latin typeface="Century Gothic" panose="020B0502020202020204" pitchFamily="34" charset="0"/>
                    <a:ea typeface="Calibri" panose="020F0502020204030204" pitchFamily="34" charset="0"/>
                    <a:cs typeface="Times New Roman" panose="02020603050405020304" pitchFamily="18" charset="0"/>
                  </a:rPr>
                  <a:t>   Average Power is expressed as  </a:t>
                </a:r>
              </a:p>
              <a:p>
                <a:pPr>
                  <a:buClr>
                    <a:schemeClr val="accent2"/>
                  </a:buClr>
                </a:pPr>
                <a:endParaRPr lang="en-GB" sz="2400" kern="100" dirty="0">
                  <a:latin typeface="Century Gothic" panose="020B0502020202020204" pitchFamily="34" charset="0"/>
                  <a:ea typeface="Calibri" panose="020F0502020204030204" pitchFamily="34" charset="0"/>
                  <a:cs typeface="Times New Roman" panose="02020603050405020304" pitchFamily="18" charset="0"/>
                </a:endParaRPr>
              </a:p>
              <a:p>
                <a:pPr>
                  <a:buClr>
                    <a:schemeClr val="accent2"/>
                  </a:buClr>
                </a:pPr>
                <a:r>
                  <a:rPr lang="en-GB" sz="2400" kern="100" dirty="0">
                    <a:latin typeface="Century Gothic" panose="020B0502020202020204" pitchFamily="34" charset="0"/>
                    <a:ea typeface="Calibri" panose="020F0502020204030204" pitchFamily="34" charset="0"/>
                    <a:cs typeface="Times New Roman" panose="02020603050405020304" pitchFamily="18" charset="0"/>
                  </a:rPr>
                  <a:t>	</a:t>
                </a:r>
                <a14:m>
                  <m:oMath xmlns:m="http://schemas.openxmlformats.org/officeDocument/2006/math">
                    <m:r>
                      <a:rPr lang="en-US" sz="2400" b="0" i="1" kern="100" smtClean="0">
                        <a:latin typeface="Cambria Math" panose="02040503050406030204" pitchFamily="18" charset="0"/>
                        <a:ea typeface="Calibri" panose="020F0502020204030204" pitchFamily="34" charset="0"/>
                        <a:cs typeface="Times New Roman" panose="02020603050405020304" pitchFamily="18" charset="0"/>
                      </a:rPr>
                      <m:t>𝑃</m:t>
                    </m:r>
                    <m:r>
                      <a:rPr lang="en-US" sz="2400" b="0" i="1" kern="100" smtClean="0">
                        <a:latin typeface="Cambria Math" panose="02040503050406030204" pitchFamily="18" charset="0"/>
                        <a:ea typeface="Calibri" panose="020F0502020204030204" pitchFamily="34" charset="0"/>
                        <a:cs typeface="Times New Roman" panose="02020603050405020304" pitchFamily="18" charset="0"/>
                      </a:rPr>
                      <m:t>= </m:t>
                    </m:r>
                    <m:f>
                      <m:fPr>
                        <m:ctrlPr>
                          <a:rPr lang="en-US" sz="2400" b="0" i="1" kern="100" smtClean="0">
                            <a:latin typeface="Cambria Math" panose="02040503050406030204" pitchFamily="18" charset="0"/>
                            <a:ea typeface="Calibri" panose="020F0502020204030204" pitchFamily="34" charset="0"/>
                            <a:cs typeface="Times New Roman" panose="02020603050405020304" pitchFamily="18" charset="0"/>
                          </a:rPr>
                        </m:ctrlPr>
                      </m:fPr>
                      <m:num>
                        <m:r>
                          <a:rPr lang="en-US" sz="2400" b="0" i="1" kern="100" smtClean="0">
                            <a:latin typeface="Cambria Math" panose="02040503050406030204" pitchFamily="18" charset="0"/>
                            <a:ea typeface="Calibri" panose="020F0502020204030204" pitchFamily="34" charset="0"/>
                            <a:cs typeface="Times New Roman" panose="02020603050405020304" pitchFamily="18" charset="0"/>
                          </a:rPr>
                          <m:t>1</m:t>
                        </m:r>
                      </m:num>
                      <m:den>
                        <m:r>
                          <a:rPr lang="en-US" sz="2400" b="0" i="1" kern="100" smtClean="0">
                            <a:latin typeface="Cambria Math" panose="02040503050406030204" pitchFamily="18" charset="0"/>
                            <a:ea typeface="Calibri" panose="020F0502020204030204" pitchFamily="34" charset="0"/>
                            <a:cs typeface="Times New Roman" panose="02020603050405020304" pitchFamily="18" charset="0"/>
                          </a:rPr>
                          <m:t>𝑇</m:t>
                        </m:r>
                      </m:den>
                    </m:f>
                    <m:nary>
                      <m:naryPr>
                        <m:limLoc m:val="undOvr"/>
                        <m:ctrlPr>
                          <a:rPr lang="en-US" sz="2400" b="0" i="1" kern="100" smtClean="0">
                            <a:latin typeface="Cambria Math" panose="02040503050406030204" pitchFamily="18" charset="0"/>
                            <a:ea typeface="Calibri" panose="020F0502020204030204" pitchFamily="34" charset="0"/>
                            <a:cs typeface="Times New Roman" panose="02020603050405020304" pitchFamily="18" charset="0"/>
                          </a:rPr>
                        </m:ctrlPr>
                      </m:naryPr>
                      <m:sub>
                        <m:r>
                          <m:rPr>
                            <m:brk m:alnAt="24"/>
                          </m:rPr>
                          <a:rPr lang="en-US" sz="2400" b="0" i="1" kern="100" smtClean="0">
                            <a:latin typeface="Cambria Math" panose="02040503050406030204" pitchFamily="18" charset="0"/>
                            <a:ea typeface="Calibri" panose="020F0502020204030204" pitchFamily="34" charset="0"/>
                            <a:cs typeface="Times New Roman" panose="02020603050405020304" pitchFamily="18" charset="0"/>
                          </a:rPr>
                          <m:t>0</m:t>
                        </m:r>
                      </m:sub>
                      <m:sup>
                        <m:r>
                          <a:rPr lang="en-US" sz="2400" b="0" i="1" kern="100" smtClean="0">
                            <a:latin typeface="Cambria Math" panose="02040503050406030204" pitchFamily="18" charset="0"/>
                            <a:ea typeface="Calibri" panose="020F0502020204030204" pitchFamily="34" charset="0"/>
                            <a:cs typeface="Times New Roman" panose="02020603050405020304" pitchFamily="18" charset="0"/>
                          </a:rPr>
                          <m:t>𝑇</m:t>
                        </m:r>
                      </m:sup>
                      <m:e>
                        <m:r>
                          <a:rPr lang="en-US" sz="2400" b="0" i="1" kern="100" smtClean="0">
                            <a:latin typeface="Cambria Math" panose="02040503050406030204" pitchFamily="18" charset="0"/>
                            <a:ea typeface="Calibri" panose="020F0502020204030204" pitchFamily="34" charset="0"/>
                            <a:cs typeface="Times New Roman" panose="02020603050405020304" pitchFamily="18" charset="0"/>
                          </a:rPr>
                          <m:t>𝑝</m:t>
                        </m:r>
                        <m:d>
                          <m:dPr>
                            <m:ctrlPr>
                              <a:rPr lang="en-US" sz="2400" b="0" i="1" kern="100" smtClean="0">
                                <a:latin typeface="Cambria Math" panose="02040503050406030204" pitchFamily="18" charset="0"/>
                                <a:ea typeface="Calibri" panose="020F0502020204030204" pitchFamily="34" charset="0"/>
                                <a:cs typeface="Times New Roman" panose="02020603050405020304" pitchFamily="18" charset="0"/>
                              </a:rPr>
                            </m:ctrlPr>
                          </m:dPr>
                          <m:e>
                            <m:r>
                              <a:rPr lang="en-US" sz="2400" b="0" i="1" kern="100" smtClean="0">
                                <a:latin typeface="Cambria Math" panose="02040503050406030204" pitchFamily="18" charset="0"/>
                                <a:ea typeface="Calibri" panose="020F0502020204030204" pitchFamily="34" charset="0"/>
                                <a:cs typeface="Times New Roman" panose="02020603050405020304" pitchFamily="18" charset="0"/>
                              </a:rPr>
                              <m:t>𝑡</m:t>
                            </m:r>
                          </m:e>
                        </m:d>
                        <m:r>
                          <a:rPr lang="en-US" sz="2400" b="0" i="1" kern="100" smtClean="0">
                            <a:latin typeface="Cambria Math" panose="02040503050406030204" pitchFamily="18" charset="0"/>
                            <a:ea typeface="Calibri" panose="020F0502020204030204" pitchFamily="34" charset="0"/>
                            <a:cs typeface="Times New Roman" panose="02020603050405020304" pitchFamily="18" charset="0"/>
                          </a:rPr>
                          <m:t>𝑑𝑡</m:t>
                        </m:r>
                        <m:r>
                          <a:rPr lang="en-US" sz="2400" b="0" i="1" kern="100" smtClean="0">
                            <a:latin typeface="Cambria Math" panose="02040503050406030204" pitchFamily="18" charset="0"/>
                            <a:ea typeface="Calibri" panose="020F0502020204030204" pitchFamily="34" charset="0"/>
                            <a:cs typeface="Times New Roman" panose="02020603050405020304" pitchFamily="18" charset="0"/>
                          </a:rPr>
                          <m:t>= </m:t>
                        </m:r>
                        <m:f>
                          <m:fPr>
                            <m:ctrlPr>
                              <a:rPr lang="en-US" sz="2400" b="0" i="1" kern="100" smtClean="0">
                                <a:latin typeface="Cambria Math" panose="02040503050406030204" pitchFamily="18" charset="0"/>
                                <a:ea typeface="Calibri" panose="020F0502020204030204" pitchFamily="34" charset="0"/>
                                <a:cs typeface="Times New Roman" panose="02020603050405020304" pitchFamily="18" charset="0"/>
                              </a:rPr>
                            </m:ctrlPr>
                          </m:fPr>
                          <m:num>
                            <m:r>
                              <a:rPr lang="en-US" sz="2400" b="0" i="1" kern="100" smtClean="0">
                                <a:latin typeface="Cambria Math" panose="02040503050406030204" pitchFamily="18" charset="0"/>
                                <a:ea typeface="Calibri" panose="020F0502020204030204" pitchFamily="34" charset="0"/>
                                <a:cs typeface="Times New Roman" panose="02020603050405020304" pitchFamily="18" charset="0"/>
                              </a:rPr>
                              <m:t>1</m:t>
                            </m:r>
                          </m:num>
                          <m:den>
                            <m:r>
                              <a:rPr lang="en-US" sz="2400" b="0" i="1" kern="100" smtClean="0">
                                <a:latin typeface="Cambria Math" panose="02040503050406030204" pitchFamily="18" charset="0"/>
                                <a:ea typeface="Calibri" panose="020F0502020204030204" pitchFamily="34" charset="0"/>
                                <a:cs typeface="Times New Roman" panose="02020603050405020304" pitchFamily="18" charset="0"/>
                              </a:rPr>
                              <m:t>0.020</m:t>
                            </m:r>
                          </m:den>
                        </m:f>
                      </m:e>
                    </m:nary>
                    <m:d>
                      <m:dPr>
                        <m:ctrlPr>
                          <a:rPr lang="en-US" sz="2400" b="0" i="1" kern="100" smtClean="0">
                            <a:latin typeface="Cambria Math" panose="02040503050406030204" pitchFamily="18" charset="0"/>
                            <a:ea typeface="Calibri" panose="020F0502020204030204" pitchFamily="34" charset="0"/>
                            <a:cs typeface="Times New Roman" panose="02020603050405020304" pitchFamily="18" charset="0"/>
                          </a:rPr>
                        </m:ctrlPr>
                      </m:dPr>
                      <m:e>
                        <m:nary>
                          <m:naryPr>
                            <m:limLoc m:val="undOvr"/>
                            <m:ctrlPr>
                              <a:rPr lang="en-US" sz="2400" b="0" i="1" kern="100" smtClean="0">
                                <a:latin typeface="Cambria Math" panose="02040503050406030204" pitchFamily="18" charset="0"/>
                                <a:ea typeface="Calibri" panose="020F0502020204030204" pitchFamily="34" charset="0"/>
                                <a:cs typeface="Times New Roman" panose="02020603050405020304" pitchFamily="18" charset="0"/>
                              </a:rPr>
                            </m:ctrlPr>
                          </m:naryPr>
                          <m:sub>
                            <m:r>
                              <m:rPr>
                                <m:brk m:alnAt="24"/>
                              </m:rPr>
                              <a:rPr lang="en-US" sz="2400" b="0" i="1" kern="100" smtClean="0">
                                <a:latin typeface="Cambria Math" panose="02040503050406030204" pitchFamily="18" charset="0"/>
                                <a:ea typeface="Calibri" panose="020F0502020204030204" pitchFamily="34" charset="0"/>
                                <a:cs typeface="Times New Roman" panose="02020603050405020304" pitchFamily="18" charset="0"/>
                              </a:rPr>
                              <m:t>0</m:t>
                            </m:r>
                          </m:sub>
                          <m:sup>
                            <m:r>
                              <a:rPr lang="en-US" sz="2400" b="0" i="1" kern="100" smtClean="0">
                                <a:latin typeface="Cambria Math" panose="02040503050406030204" pitchFamily="18" charset="0"/>
                                <a:ea typeface="Calibri" panose="020F0502020204030204" pitchFamily="34" charset="0"/>
                                <a:cs typeface="Times New Roman" panose="02020603050405020304" pitchFamily="18" charset="0"/>
                              </a:rPr>
                              <m:t>0.006</m:t>
                            </m:r>
                          </m:sup>
                          <m:e>
                            <m:r>
                              <a:rPr lang="en-US" sz="2400" b="0" i="1" kern="100" smtClean="0">
                                <a:latin typeface="Cambria Math" panose="02040503050406030204" pitchFamily="18" charset="0"/>
                                <a:ea typeface="Calibri" panose="020F0502020204030204" pitchFamily="34" charset="0"/>
                                <a:cs typeface="Times New Roman" panose="02020603050405020304" pitchFamily="18" charset="0"/>
                              </a:rPr>
                              <m:t>400</m:t>
                            </m:r>
                            <m:r>
                              <a:rPr lang="en-US" sz="2400" b="0" i="1" kern="100" smtClean="0">
                                <a:latin typeface="Cambria Math" panose="02040503050406030204" pitchFamily="18" charset="0"/>
                                <a:ea typeface="Calibri" panose="020F0502020204030204" pitchFamily="34" charset="0"/>
                                <a:cs typeface="Times New Roman" panose="02020603050405020304" pitchFamily="18" charset="0"/>
                              </a:rPr>
                              <m:t>𝑑𝑡</m:t>
                            </m:r>
                            <m:r>
                              <a:rPr lang="en-US" sz="2400" b="0" i="1" kern="100" smtClean="0">
                                <a:latin typeface="Cambria Math" panose="02040503050406030204" pitchFamily="18" charset="0"/>
                                <a:ea typeface="Cambria Math" panose="02040503050406030204" pitchFamily="18" charset="0"/>
                                <a:cs typeface="Times New Roman" panose="02020603050405020304" pitchFamily="18" charset="0"/>
                              </a:rPr>
                              <m:t>+</m:t>
                            </m:r>
                            <m:nary>
                              <m:naryPr>
                                <m:limLoc m:val="undOvr"/>
                                <m:ctrlPr>
                                  <a:rPr lang="en-US" sz="2400" b="0" i="1" kern="100" smtClean="0">
                                    <a:latin typeface="Cambria Math" panose="02040503050406030204" pitchFamily="18" charset="0"/>
                                    <a:ea typeface="Cambria Math" panose="02040503050406030204" pitchFamily="18" charset="0"/>
                                    <a:cs typeface="Times New Roman" panose="02020603050405020304" pitchFamily="18" charset="0"/>
                                  </a:rPr>
                                </m:ctrlPr>
                              </m:naryPr>
                              <m:sub>
                                <m:r>
                                  <m:rPr>
                                    <m:brk m:alnAt="24"/>
                                  </m:rPr>
                                  <a:rPr lang="en-US" sz="2400" b="0" i="1" kern="100" smtClean="0">
                                    <a:latin typeface="Cambria Math" panose="02040503050406030204" pitchFamily="18" charset="0"/>
                                    <a:ea typeface="Cambria Math" panose="02040503050406030204" pitchFamily="18" charset="0"/>
                                    <a:cs typeface="Times New Roman" panose="02020603050405020304" pitchFamily="18" charset="0"/>
                                  </a:rPr>
                                  <m:t>0</m:t>
                                </m:r>
                                <m:r>
                                  <a:rPr lang="en-US" sz="2400" b="0" i="1" kern="100" smtClean="0">
                                    <a:latin typeface="Cambria Math" panose="02040503050406030204" pitchFamily="18" charset="0"/>
                                    <a:ea typeface="Cambria Math" panose="02040503050406030204" pitchFamily="18" charset="0"/>
                                    <a:cs typeface="Times New Roman" panose="02020603050405020304" pitchFamily="18" charset="0"/>
                                  </a:rPr>
                                  <m:t>.006</m:t>
                                </m:r>
                              </m:sub>
                              <m:sup>
                                <m:r>
                                  <a:rPr lang="en-US" sz="2400" b="0" i="1" kern="100" smtClean="0">
                                    <a:latin typeface="Cambria Math" panose="02040503050406030204" pitchFamily="18" charset="0"/>
                                    <a:ea typeface="Cambria Math" panose="02040503050406030204" pitchFamily="18" charset="0"/>
                                    <a:cs typeface="Times New Roman" panose="02020603050405020304" pitchFamily="18" charset="0"/>
                                  </a:rPr>
                                  <m:t>0.010</m:t>
                                </m:r>
                              </m:sup>
                              <m:e>
                                <m:r>
                                  <a:rPr lang="en-US" sz="2400" b="0" i="1" kern="100" smtClean="0">
                                    <a:latin typeface="Cambria Math" panose="02040503050406030204" pitchFamily="18" charset="0"/>
                                    <a:ea typeface="Cambria Math" panose="02040503050406030204" pitchFamily="18" charset="0"/>
                                    <a:cs typeface="Times New Roman" panose="02020603050405020304" pitchFamily="18" charset="0"/>
                                  </a:rPr>
                                  <m:t>−300</m:t>
                                </m:r>
                                <m:r>
                                  <a:rPr lang="en-US" sz="2400" b="0" i="1" kern="100" smtClean="0">
                                    <a:latin typeface="Cambria Math" panose="02040503050406030204" pitchFamily="18" charset="0"/>
                                    <a:ea typeface="Cambria Math" panose="02040503050406030204" pitchFamily="18" charset="0"/>
                                    <a:cs typeface="Times New Roman" panose="02020603050405020304" pitchFamily="18" charset="0"/>
                                  </a:rPr>
                                  <m:t>𝑑𝑡</m:t>
                                </m:r>
                                <m:r>
                                  <a:rPr lang="en-US" sz="2400" b="0" i="1" kern="100" smtClean="0">
                                    <a:latin typeface="Cambria Math" panose="02040503050406030204" pitchFamily="18" charset="0"/>
                                    <a:ea typeface="Cambria Math" panose="02040503050406030204" pitchFamily="18" charset="0"/>
                                    <a:cs typeface="Times New Roman" panose="02020603050405020304" pitchFamily="18" charset="0"/>
                                  </a:rPr>
                                  <m:t>+</m:t>
                                </m:r>
                                <m:nary>
                                  <m:naryPr>
                                    <m:limLoc m:val="undOvr"/>
                                    <m:ctrlPr>
                                      <a:rPr lang="en-US" sz="2400" b="0" i="1" kern="100" smtClean="0">
                                        <a:latin typeface="Cambria Math" panose="02040503050406030204" pitchFamily="18" charset="0"/>
                                        <a:ea typeface="Cambria Math" panose="02040503050406030204" pitchFamily="18" charset="0"/>
                                        <a:cs typeface="Times New Roman" panose="02020603050405020304" pitchFamily="18" charset="0"/>
                                      </a:rPr>
                                    </m:ctrlPr>
                                  </m:naryPr>
                                  <m:sub>
                                    <m:r>
                                      <m:rPr>
                                        <m:brk m:alnAt="24"/>
                                      </m:rPr>
                                      <a:rPr lang="en-US" sz="2400" b="0" i="1" kern="100" smtClean="0">
                                        <a:latin typeface="Cambria Math" panose="02040503050406030204" pitchFamily="18" charset="0"/>
                                        <a:ea typeface="Cambria Math" panose="02040503050406030204" pitchFamily="18" charset="0"/>
                                        <a:cs typeface="Times New Roman" panose="02020603050405020304" pitchFamily="18" charset="0"/>
                                      </a:rPr>
                                      <m:t>0</m:t>
                                    </m:r>
                                    <m:r>
                                      <a:rPr lang="en-US" sz="2400" b="0" i="1" kern="100" smtClean="0">
                                        <a:latin typeface="Cambria Math" panose="02040503050406030204" pitchFamily="18" charset="0"/>
                                        <a:ea typeface="Cambria Math" panose="02040503050406030204" pitchFamily="18" charset="0"/>
                                        <a:cs typeface="Times New Roman" panose="02020603050405020304" pitchFamily="18" charset="0"/>
                                      </a:rPr>
                                      <m:t>.010</m:t>
                                    </m:r>
                                  </m:sub>
                                  <m:sup>
                                    <m:r>
                                      <a:rPr lang="en-US" sz="2400" b="0" i="1" kern="100" smtClean="0">
                                        <a:latin typeface="Cambria Math" panose="02040503050406030204" pitchFamily="18" charset="0"/>
                                        <a:ea typeface="Cambria Math" panose="02040503050406030204" pitchFamily="18" charset="0"/>
                                        <a:cs typeface="Times New Roman" panose="02020603050405020304" pitchFamily="18" charset="0"/>
                                      </a:rPr>
                                      <m:t>0.020</m:t>
                                    </m:r>
                                  </m:sup>
                                  <m:e>
                                    <m:r>
                                      <a:rPr lang="en-US" sz="2400" b="0" i="1" kern="100" smtClean="0">
                                        <a:latin typeface="Cambria Math" panose="02040503050406030204" pitchFamily="18" charset="0"/>
                                        <a:ea typeface="Cambria Math" panose="02040503050406030204" pitchFamily="18" charset="0"/>
                                        <a:cs typeface="Times New Roman" panose="02020603050405020304" pitchFamily="18" charset="0"/>
                                      </a:rPr>
                                      <m:t>0</m:t>
                                    </m:r>
                                    <m:r>
                                      <a:rPr lang="en-US" sz="2400" b="0" i="1" kern="100" smtClean="0">
                                        <a:latin typeface="Cambria Math" panose="02040503050406030204" pitchFamily="18" charset="0"/>
                                        <a:ea typeface="Cambria Math" panose="02040503050406030204" pitchFamily="18" charset="0"/>
                                        <a:cs typeface="Times New Roman" panose="02020603050405020304" pitchFamily="18" charset="0"/>
                                      </a:rPr>
                                      <m:t>𝑑𝑡</m:t>
                                    </m:r>
                                  </m:e>
                                </m:nary>
                              </m:e>
                            </m:nary>
                          </m:e>
                        </m:nary>
                      </m:e>
                    </m:d>
                  </m:oMath>
                </a14:m>
                <a:endParaRPr lang="en-US" sz="2400" b="0" kern="100" dirty="0">
                  <a:latin typeface="Century Gothic" panose="020B0502020202020204" pitchFamily="34" charset="0"/>
                  <a:ea typeface="Calibri" panose="020F0502020204030204" pitchFamily="34" charset="0"/>
                  <a:cs typeface="Times New Roman" panose="02020603050405020304" pitchFamily="18" charset="0"/>
                </a:endParaRPr>
              </a:p>
              <a:p>
                <a:pPr>
                  <a:buClr>
                    <a:schemeClr val="accent2"/>
                  </a:buClr>
                </a:pPr>
                <a:r>
                  <a:rPr lang="en-GB" sz="2400" kern="100" dirty="0">
                    <a:latin typeface="Century Gothic" panose="020B0502020202020204" pitchFamily="34" charset="0"/>
                    <a:ea typeface="Calibri" panose="020F0502020204030204" pitchFamily="34" charset="0"/>
                    <a:cs typeface="Times New Roman" panose="02020603050405020304" pitchFamily="18" charset="0"/>
                  </a:rPr>
                  <a:t>                               </a:t>
                </a:r>
                <a:br>
                  <a:rPr lang="en-GB" sz="2400" kern="100" dirty="0">
                    <a:latin typeface="Century Gothic" panose="020B0502020202020204" pitchFamily="34" charset="0"/>
                    <a:ea typeface="Calibri" panose="020F0502020204030204" pitchFamily="34" charset="0"/>
                    <a:cs typeface="Times New Roman" panose="02020603050405020304" pitchFamily="18" charset="0"/>
                  </a:rPr>
                </a:br>
                <a:r>
                  <a:rPr lang="en-GB" sz="2400" kern="100" dirty="0">
                    <a:latin typeface="Century Gothic" panose="020B0502020202020204" pitchFamily="34" charset="0"/>
                    <a:ea typeface="Calibri" panose="020F0502020204030204" pitchFamily="34" charset="0"/>
                    <a:cs typeface="Times New Roman" panose="02020603050405020304" pitchFamily="18" charset="0"/>
                  </a:rPr>
                  <a:t>                               =  </a:t>
                </a:r>
                <a14:m>
                  <m:oMath xmlns:m="http://schemas.openxmlformats.org/officeDocument/2006/math">
                    <m:f>
                      <m:fPr>
                        <m:ctrlPr>
                          <a:rPr lang="en-GB" sz="2400" i="1" kern="100" smtClean="0">
                            <a:latin typeface="Cambria Math" panose="02040503050406030204" pitchFamily="18" charset="0"/>
                            <a:ea typeface="Calibri" panose="020F0502020204030204" pitchFamily="34" charset="0"/>
                            <a:cs typeface="Times New Roman" panose="02020603050405020304" pitchFamily="18" charset="0"/>
                          </a:rPr>
                        </m:ctrlPr>
                      </m:fPr>
                      <m:num>
                        <m:r>
                          <a:rPr lang="en-US" sz="2400" b="0" i="1" kern="100" smtClean="0">
                            <a:latin typeface="Cambria Math" panose="02040503050406030204" pitchFamily="18" charset="0"/>
                            <a:ea typeface="Calibri" panose="020F0502020204030204" pitchFamily="34" charset="0"/>
                            <a:cs typeface="Times New Roman" panose="02020603050405020304" pitchFamily="18" charset="0"/>
                          </a:rPr>
                          <m:t>2.4</m:t>
                        </m:r>
                        <m:r>
                          <a:rPr lang="en-US" sz="2400" b="0" i="1" kern="100" smtClean="0">
                            <a:latin typeface="Cambria Math" panose="02040503050406030204" pitchFamily="18" charset="0"/>
                            <a:ea typeface="Cambria Math" panose="02040503050406030204" pitchFamily="18" charset="0"/>
                            <a:cs typeface="Times New Roman" panose="02020603050405020304" pitchFamily="18" charset="0"/>
                          </a:rPr>
                          <m:t>−1.2−0</m:t>
                        </m:r>
                      </m:num>
                      <m:den>
                        <m:r>
                          <a:rPr lang="en-US" sz="2400" b="0" i="1" kern="100" smtClean="0">
                            <a:latin typeface="Cambria Math" panose="02040503050406030204" pitchFamily="18" charset="0"/>
                            <a:ea typeface="Calibri" panose="020F0502020204030204" pitchFamily="34" charset="0"/>
                            <a:cs typeface="Times New Roman" panose="02020603050405020304" pitchFamily="18" charset="0"/>
                          </a:rPr>
                          <m:t>0.020</m:t>
                        </m:r>
                      </m:den>
                    </m:f>
                    <m:r>
                      <a:rPr lang="en-US" sz="2400" b="0" i="1" kern="100" smtClean="0">
                        <a:latin typeface="Cambria Math" panose="02040503050406030204" pitchFamily="18" charset="0"/>
                        <a:ea typeface="Calibri" panose="020F0502020204030204" pitchFamily="34" charset="0"/>
                        <a:cs typeface="Times New Roman" panose="02020603050405020304" pitchFamily="18" charset="0"/>
                      </a:rPr>
                      <m:t>=60</m:t>
                    </m:r>
                    <m:r>
                      <a:rPr lang="en-US" sz="2400" b="0" i="1" kern="100" smtClean="0">
                        <a:latin typeface="Cambria Math" panose="02040503050406030204" pitchFamily="18" charset="0"/>
                        <a:ea typeface="Calibri" panose="020F0502020204030204" pitchFamily="34" charset="0"/>
                        <a:cs typeface="Times New Roman" panose="02020603050405020304" pitchFamily="18" charset="0"/>
                      </a:rPr>
                      <m:t>𝑊</m:t>
                    </m:r>
                  </m:oMath>
                </a14:m>
                <a:endParaRPr lang="en-GB" sz="2400" kern="100" dirty="0">
                  <a:latin typeface="Century Gothic" panose="020B0502020202020204" pitchFamily="34" charset="0"/>
                  <a:ea typeface="Calibri" panose="020F0502020204030204" pitchFamily="34" charset="0"/>
                  <a:cs typeface="Times New Roman" panose="02020603050405020304" pitchFamily="18" charset="0"/>
                </a:endParaRPr>
              </a:p>
              <a:p>
                <a:pPr>
                  <a:buClr>
                    <a:schemeClr val="accent2"/>
                  </a:buClr>
                </a:pPr>
                <a:endParaRPr lang="en-GB" sz="2400" kern="100" dirty="0">
                  <a:latin typeface="Century Gothic" panose="020B0502020202020204" pitchFamily="34" charset="0"/>
                  <a:ea typeface="Calibri" panose="020F0502020204030204" pitchFamily="34" charset="0"/>
                  <a:cs typeface="Times New Roman" panose="02020603050405020304" pitchFamily="18" charset="0"/>
                </a:endParaRPr>
              </a:p>
              <a:p>
                <a:pPr>
                  <a:buClr>
                    <a:schemeClr val="accent2"/>
                  </a:buClr>
                </a:pPr>
                <a:r>
                  <a:rPr lang="en-GB" sz="2400" kern="100" dirty="0">
                    <a:latin typeface="Century Gothic" panose="020B0502020202020204" pitchFamily="34" charset="0"/>
                    <a:ea typeface="Calibri" panose="020F0502020204030204" pitchFamily="34" charset="0"/>
                    <a:cs typeface="Times New Roman" panose="02020603050405020304" pitchFamily="18" charset="0"/>
                  </a:rPr>
                  <a:t>Alternatively, average power could also be computed as </a:t>
                </a:r>
                <a:br>
                  <a:rPr lang="en-GB" sz="2400" kern="100" dirty="0">
                    <a:latin typeface="Century Gothic" panose="020B0502020202020204" pitchFamily="34" charset="0"/>
                    <a:ea typeface="Calibri" panose="020F0502020204030204" pitchFamily="34" charset="0"/>
                    <a:cs typeface="Times New Roman" panose="02020603050405020304" pitchFamily="18" charset="0"/>
                  </a:rPr>
                </a:br>
                <a:br>
                  <a:rPr lang="en-GB" sz="2400" kern="100" dirty="0">
                    <a:latin typeface="Century Gothic" panose="020B0502020202020204" pitchFamily="34" charset="0"/>
                    <a:ea typeface="Calibri" panose="020F0502020204030204" pitchFamily="34" charset="0"/>
                    <a:cs typeface="Times New Roman" panose="02020603050405020304" pitchFamily="18" charset="0"/>
                  </a:rPr>
                </a:br>
                <a:r>
                  <a:rPr lang="en-GB" sz="2400" kern="100" dirty="0">
                    <a:latin typeface="Century Gothic" panose="020B0502020202020204" pitchFamily="34" charset="0"/>
                    <a:ea typeface="Calibri" panose="020F0502020204030204" pitchFamily="34" charset="0"/>
                    <a:cs typeface="Times New Roman" panose="02020603050405020304" pitchFamily="18" charset="0"/>
                  </a:rPr>
                  <a:t>				</a:t>
                </a:r>
                <a14:m>
                  <m:oMath xmlns:m="http://schemas.openxmlformats.org/officeDocument/2006/math">
                    <m:r>
                      <a:rPr lang="en-US" sz="2400" b="0" i="1" kern="100" smtClean="0">
                        <a:latin typeface="Cambria Math" panose="02040503050406030204" pitchFamily="18" charset="0"/>
                        <a:ea typeface="Calibri" panose="020F0502020204030204" pitchFamily="34" charset="0"/>
                        <a:cs typeface="Times New Roman" panose="02020603050405020304" pitchFamily="18" charset="0"/>
                      </a:rPr>
                      <m:t>𝑃</m:t>
                    </m:r>
                    <m:r>
                      <a:rPr lang="en-US" sz="2400" b="0" i="1" kern="100" smtClean="0">
                        <a:latin typeface="Cambria Math" panose="02040503050406030204" pitchFamily="18" charset="0"/>
                        <a:ea typeface="Calibri" panose="020F0502020204030204" pitchFamily="34" charset="0"/>
                        <a:cs typeface="Times New Roman" panose="02020603050405020304" pitchFamily="18" charset="0"/>
                      </a:rPr>
                      <m:t>= </m:t>
                    </m:r>
                    <m:f>
                      <m:fPr>
                        <m:ctrlPr>
                          <a:rPr lang="en-US" sz="2400" b="0" i="1" kern="100" smtClean="0">
                            <a:latin typeface="Cambria Math" panose="02040503050406030204" pitchFamily="18" charset="0"/>
                            <a:ea typeface="Calibri" panose="020F0502020204030204" pitchFamily="34" charset="0"/>
                            <a:cs typeface="Times New Roman" panose="02020603050405020304" pitchFamily="18" charset="0"/>
                          </a:rPr>
                        </m:ctrlPr>
                      </m:fPr>
                      <m:num>
                        <m:r>
                          <a:rPr lang="en-US" sz="2400" b="0" i="1" kern="100" smtClean="0">
                            <a:latin typeface="Cambria Math" panose="02040503050406030204" pitchFamily="18" charset="0"/>
                            <a:ea typeface="Calibri" panose="020F0502020204030204" pitchFamily="34" charset="0"/>
                            <a:cs typeface="Times New Roman" panose="02020603050405020304" pitchFamily="18" charset="0"/>
                          </a:rPr>
                          <m:t>𝑊</m:t>
                        </m:r>
                      </m:num>
                      <m:den>
                        <m:r>
                          <a:rPr lang="en-US" sz="2400" b="0" i="1" kern="100" smtClean="0">
                            <a:latin typeface="Cambria Math" panose="02040503050406030204" pitchFamily="18" charset="0"/>
                            <a:ea typeface="Calibri" panose="020F0502020204030204" pitchFamily="34" charset="0"/>
                            <a:cs typeface="Times New Roman" panose="02020603050405020304" pitchFamily="18" charset="0"/>
                          </a:rPr>
                          <m:t>𝑇</m:t>
                        </m:r>
                      </m:den>
                    </m:f>
                    <m:r>
                      <a:rPr lang="en-US" sz="2400" b="0" i="0" kern="100" smtClean="0">
                        <a:latin typeface="Cambria Math" panose="02040503050406030204" pitchFamily="18" charset="0"/>
                        <a:ea typeface="Calibri" panose="020F0502020204030204" pitchFamily="34" charset="0"/>
                        <a:cs typeface="Times New Roman" panose="02020603050405020304" pitchFamily="18" charset="0"/>
                      </a:rPr>
                      <m:t>= </m:t>
                    </m:r>
                    <m:f>
                      <m:fPr>
                        <m:ctrlPr>
                          <a:rPr lang="en-US" sz="2400" b="0" i="1" kern="100" smtClean="0">
                            <a:latin typeface="Cambria Math" panose="02040503050406030204" pitchFamily="18" charset="0"/>
                            <a:ea typeface="Calibri" panose="020F0502020204030204" pitchFamily="34" charset="0"/>
                            <a:cs typeface="Times New Roman" panose="02020603050405020304" pitchFamily="18" charset="0"/>
                          </a:rPr>
                        </m:ctrlPr>
                      </m:fPr>
                      <m:num>
                        <m:r>
                          <a:rPr lang="en-US" sz="2400" b="0" i="1" kern="100" smtClean="0">
                            <a:latin typeface="Cambria Math" panose="02040503050406030204" pitchFamily="18" charset="0"/>
                            <a:ea typeface="Calibri" panose="020F0502020204030204" pitchFamily="34" charset="0"/>
                            <a:cs typeface="Times New Roman" panose="02020603050405020304" pitchFamily="18" charset="0"/>
                          </a:rPr>
                          <m:t>1.2</m:t>
                        </m:r>
                        <m:r>
                          <a:rPr lang="en-US" sz="2400" b="0" i="1" kern="100" smtClean="0">
                            <a:latin typeface="Cambria Math" panose="02040503050406030204" pitchFamily="18" charset="0"/>
                            <a:ea typeface="Calibri" panose="020F0502020204030204" pitchFamily="34" charset="0"/>
                            <a:cs typeface="Times New Roman" panose="02020603050405020304" pitchFamily="18" charset="0"/>
                          </a:rPr>
                          <m:t>𝐽</m:t>
                        </m:r>
                      </m:num>
                      <m:den>
                        <m:r>
                          <a:rPr lang="en-US" sz="2400" b="0" i="1" kern="100" smtClean="0">
                            <a:latin typeface="Cambria Math" panose="02040503050406030204" pitchFamily="18" charset="0"/>
                            <a:ea typeface="Calibri" panose="020F0502020204030204" pitchFamily="34" charset="0"/>
                            <a:cs typeface="Times New Roman" panose="02020603050405020304" pitchFamily="18" charset="0"/>
                          </a:rPr>
                          <m:t>0.020 </m:t>
                        </m:r>
                        <m:r>
                          <a:rPr lang="en-US" sz="2400" b="0" i="1" kern="100" smtClean="0">
                            <a:latin typeface="Cambria Math" panose="02040503050406030204" pitchFamily="18" charset="0"/>
                            <a:ea typeface="Calibri" panose="020F0502020204030204" pitchFamily="34" charset="0"/>
                            <a:cs typeface="Times New Roman" panose="02020603050405020304" pitchFamily="18" charset="0"/>
                          </a:rPr>
                          <m:t>𝑠</m:t>
                        </m:r>
                      </m:den>
                    </m:f>
                  </m:oMath>
                </a14:m>
                <a:r>
                  <a:rPr lang="en-GB" sz="2400" kern="100" dirty="0">
                    <a:latin typeface="Century Gothic" panose="020B0502020202020204" pitchFamily="34" charset="0"/>
                    <a:ea typeface="Calibri" panose="020F0502020204030204" pitchFamily="34" charset="0"/>
                    <a:cs typeface="Times New Roman" panose="02020603050405020304" pitchFamily="18" charset="0"/>
                  </a:rPr>
                  <a:t> = 60W</a:t>
                </a:r>
              </a:p>
              <a:p>
                <a:pPr>
                  <a:buClr>
                    <a:schemeClr val="accent2"/>
                  </a:buClr>
                </a:pPr>
                <a:endParaRPr lang="en-GB" sz="2400" kern="100" dirty="0">
                  <a:latin typeface="Century Gothic" panose="020B0502020202020204" pitchFamily="34" charset="0"/>
                  <a:ea typeface="Calibri" panose="020F0502020204030204" pitchFamily="34" charset="0"/>
                  <a:cs typeface="Times New Roman" panose="02020603050405020304" pitchFamily="18" charset="0"/>
                </a:endParaRPr>
              </a:p>
              <a:p>
                <a:pPr>
                  <a:buClr>
                    <a:schemeClr val="accent2"/>
                  </a:buClr>
                </a:pPr>
                <a:r>
                  <a:rPr lang="en-GB" sz="2400" kern="100" dirty="0">
                    <a:latin typeface="Century Gothic" panose="020B0502020202020204" pitchFamily="34" charset="0"/>
                    <a:ea typeface="Calibri" panose="020F0502020204030204" pitchFamily="34" charset="0"/>
                    <a:cs typeface="Times New Roman" panose="02020603050405020304" pitchFamily="18" charset="0"/>
                  </a:rPr>
                  <a:t> </a:t>
                </a:r>
              </a:p>
              <a:p>
                <a:pPr>
                  <a:buClr>
                    <a:schemeClr val="accent2"/>
                  </a:buClr>
                </a:pPr>
                <a:endParaRPr lang="en-GB" sz="2400" kern="100" dirty="0">
                  <a:latin typeface="Century Gothic" panose="020B0502020202020204" pitchFamily="34" charset="0"/>
                  <a:ea typeface="Calibri" panose="020F0502020204030204" pitchFamily="34" charset="0"/>
                  <a:cs typeface="Times New Roman" panose="02020603050405020304" pitchFamily="18" charset="0"/>
                </a:endParaRPr>
              </a:p>
            </p:txBody>
          </p:sp>
        </mc:Choice>
        <mc:Fallback xmlns="">
          <p:sp>
            <p:nvSpPr>
              <p:cNvPr id="6" name="TextBox 5">
                <a:extLst>
                  <a:ext uri="{FF2B5EF4-FFF2-40B4-BE49-F238E27FC236}">
                    <a16:creationId xmlns:a16="http://schemas.microsoft.com/office/drawing/2014/main" id="{6BAA1F11-5BEF-4D80-964F-A7332E36BFA0}"/>
                  </a:ext>
                </a:extLst>
              </p:cNvPr>
              <p:cNvSpPr txBox="1">
                <a:spLocks noRot="1" noChangeAspect="1" noMove="1" noResize="1" noEditPoints="1" noAdjustHandles="1" noChangeArrowheads="1" noChangeShapeType="1" noTextEdit="1"/>
              </p:cNvSpPr>
              <p:nvPr/>
            </p:nvSpPr>
            <p:spPr>
              <a:xfrm>
                <a:off x="97276" y="539749"/>
                <a:ext cx="11974750" cy="5757153"/>
              </a:xfrm>
              <a:prstGeom prst="rect">
                <a:avLst/>
              </a:prstGeom>
              <a:blipFill>
                <a:blip r:embed="rId3"/>
                <a:stretch>
                  <a:fillRect l="-763" t="-740"/>
                </a:stretch>
              </a:blipFill>
              <a:ln>
                <a:solidFill>
                  <a:srgbClr val="FF0066"/>
                </a:solidFill>
              </a:ln>
            </p:spPr>
            <p:txBody>
              <a:bodyPr/>
              <a:lstStyle/>
              <a:p>
                <a:r>
                  <a:rPr lang="en-US">
                    <a:noFill/>
                  </a:rPr>
                  <a:t> </a:t>
                </a:r>
              </a:p>
            </p:txBody>
          </p:sp>
        </mc:Fallback>
      </mc:AlternateContent>
      <p:sp>
        <p:nvSpPr>
          <p:cNvPr id="7" name="TextBox 6">
            <a:extLst>
              <a:ext uri="{FF2B5EF4-FFF2-40B4-BE49-F238E27FC236}">
                <a16:creationId xmlns:a16="http://schemas.microsoft.com/office/drawing/2014/main" id="{C36AA635-C21F-49F3-BF21-4CBE4C20709B}"/>
              </a:ext>
            </a:extLst>
          </p:cNvPr>
          <p:cNvSpPr txBox="1"/>
          <p:nvPr/>
        </p:nvSpPr>
        <p:spPr>
          <a:xfrm>
            <a:off x="5269122" y="6037275"/>
            <a:ext cx="823314" cy="373051"/>
          </a:xfrm>
          <a:prstGeom prst="rect">
            <a:avLst/>
          </a:prstGeom>
          <a:noFill/>
        </p:spPr>
        <p:txBody>
          <a:bodyPr wrap="square" rtlCol="0">
            <a:spAutoFit/>
          </a:bodyPr>
          <a:lstStyle/>
          <a:p>
            <a:pPr algn="ctr"/>
            <a:endParaRPr lang="en-GB" sz="1824" dirty="0">
              <a:latin typeface="Garamond" panose="02020404030301010803" pitchFamily="18" charset="0"/>
            </a:endParaRPr>
          </a:p>
        </p:txBody>
      </p:sp>
    </p:spTree>
    <p:extLst>
      <p:ext uri="{BB962C8B-B14F-4D97-AF65-F5344CB8AC3E}">
        <p14:creationId xmlns:p14="http://schemas.microsoft.com/office/powerpoint/2010/main" val="245497841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6">
            <a:extLst>
              <a:ext uri="{FF2B5EF4-FFF2-40B4-BE49-F238E27FC236}">
                <a16:creationId xmlns:a16="http://schemas.microsoft.com/office/drawing/2014/main" id="{56080804-F19F-41A7-8595-943961648C5E}"/>
              </a:ext>
            </a:extLst>
          </p:cNvPr>
          <p:cNvSpPr>
            <a:spLocks noGrp="1"/>
          </p:cNvSpPr>
          <p:nvPr>
            <p:ph type="sldNum" sz="quarter" idx="12"/>
          </p:nvPr>
        </p:nvSpPr>
        <p:spPr>
          <a:xfrm>
            <a:off x="8610600" y="6441692"/>
            <a:ext cx="2743200" cy="370027"/>
          </a:xfrm>
        </p:spPr>
        <p:txBody>
          <a:bodyPr/>
          <a:lstStyle/>
          <a:p>
            <a:fld id="{F4801FD5-11B4-DE43-ACA2-E85EEB9A6F9C}" type="slidenum">
              <a:rPr lang="en-US" smtClean="0">
                <a:latin typeface="Garamond" panose="02020404030301010803" pitchFamily="18" charset="0"/>
              </a:rPr>
              <a:t>19</a:t>
            </a:fld>
            <a:endParaRPr lang="en-US">
              <a:latin typeface="Garamond" panose="02020404030301010803" pitchFamily="18" charset="0"/>
            </a:endParaRPr>
          </a:p>
        </p:txBody>
      </p:sp>
      <p:sp>
        <p:nvSpPr>
          <p:cNvPr id="5" name="Title 1">
            <a:extLst>
              <a:ext uri="{FF2B5EF4-FFF2-40B4-BE49-F238E27FC236}">
                <a16:creationId xmlns:a16="http://schemas.microsoft.com/office/drawing/2014/main" id="{4710AE4B-0DB8-4451-B9E4-10BAE11B4D3A}"/>
              </a:ext>
            </a:extLst>
          </p:cNvPr>
          <p:cNvSpPr>
            <a:spLocks noGrp="1"/>
          </p:cNvSpPr>
          <p:nvPr>
            <p:ph type="title"/>
          </p:nvPr>
        </p:nvSpPr>
        <p:spPr>
          <a:xfrm>
            <a:off x="3264353" y="0"/>
            <a:ext cx="6026397" cy="558382"/>
          </a:xfrm>
        </p:spPr>
        <p:txBody>
          <a:bodyPr>
            <a:noAutofit/>
          </a:bodyPr>
          <a:lstStyle/>
          <a:p>
            <a:pPr algn="ctr"/>
            <a:r>
              <a:rPr lang="en-US" sz="3200" b="1" u="sng" dirty="0">
                <a:solidFill>
                  <a:srgbClr val="FF3386"/>
                </a:solidFill>
                <a:latin typeface="Century Gothic" panose="020B0502020202020204" pitchFamily="34" charset="0"/>
                <a:cs typeface="Helvetica"/>
              </a:rPr>
              <a:t>POWER COMPUTATION</a:t>
            </a:r>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6BAA1F11-5BEF-4D80-964F-A7332E36BFA0}"/>
                  </a:ext>
                </a:extLst>
              </p:cNvPr>
              <p:cNvSpPr txBox="1"/>
              <p:nvPr/>
            </p:nvSpPr>
            <p:spPr>
              <a:xfrm>
                <a:off x="217250" y="741130"/>
                <a:ext cx="11874231" cy="5427127"/>
              </a:xfrm>
              <a:prstGeom prst="rect">
                <a:avLst/>
              </a:prstGeom>
              <a:noFill/>
              <a:ln>
                <a:solidFill>
                  <a:srgbClr val="FF0066"/>
                </a:solidFill>
              </a:ln>
            </p:spPr>
            <p:txBody>
              <a:bodyPr wrap="square" rtlCol="0">
                <a:spAutoFit/>
              </a:bodyPr>
              <a:lstStyle/>
              <a:p>
                <a:pPr marL="457200" indent="-457200">
                  <a:buClr>
                    <a:schemeClr val="accent2"/>
                  </a:buClr>
                  <a:buFont typeface="Wingdings" panose="05000000000000000000" pitchFamily="2" charset="2"/>
                  <a:buChar char="v"/>
                </a:pPr>
                <a:r>
                  <a:rPr lang="en-GB" sz="2400" b="1" dirty="0">
                    <a:latin typeface="Century Gothic" panose="020B0502020202020204" pitchFamily="34" charset="0"/>
                  </a:rPr>
                  <a:t> </a:t>
                </a:r>
                <a:r>
                  <a:rPr lang="en-GB" sz="2400" b="1" dirty="0">
                    <a:solidFill>
                      <a:srgbClr val="009750"/>
                    </a:solidFill>
                    <a:latin typeface="Century Gothic" panose="020B0502020202020204" pitchFamily="34" charset="0"/>
                  </a:rPr>
                  <a:t>EFFECTIVE VALUES : RMS</a:t>
                </a:r>
                <a:br>
                  <a:rPr lang="en-GB" sz="2400" b="1" dirty="0">
                    <a:solidFill>
                      <a:srgbClr val="009750"/>
                    </a:solidFill>
                    <a:latin typeface="Century Gothic" panose="020B0502020202020204" pitchFamily="34" charset="0"/>
                  </a:rPr>
                </a:br>
                <a:endParaRPr lang="en-GB" sz="2400" b="1" dirty="0">
                  <a:solidFill>
                    <a:srgbClr val="009750"/>
                  </a:solidFill>
                  <a:latin typeface="Century Gothic" panose="020B0502020202020204" pitchFamily="34" charset="0"/>
                </a:endParaRPr>
              </a:p>
              <a:p>
                <a:pPr marL="342900" indent="-342900">
                  <a:buClr>
                    <a:schemeClr val="accent2"/>
                  </a:buClr>
                  <a:buFont typeface="Wingdings" panose="05000000000000000000" pitchFamily="2" charset="2"/>
                  <a:buChar char="ü"/>
                </a:pPr>
                <a:r>
                  <a:rPr lang="en-GB" sz="2400" b="1" dirty="0">
                    <a:solidFill>
                      <a:srgbClr val="009750"/>
                    </a:solidFill>
                    <a:latin typeface="Century Gothic" panose="020B0502020202020204" pitchFamily="34" charset="0"/>
                  </a:rPr>
                  <a:t>		</a:t>
                </a:r>
                <a:r>
                  <a:rPr lang="en-GB" sz="2400" b="1" dirty="0">
                    <a:solidFill>
                      <a:srgbClr val="0000CC"/>
                    </a:solidFill>
                    <a:latin typeface="Century Gothic" panose="020B0502020202020204" pitchFamily="34" charset="0"/>
                  </a:rPr>
                  <a:t>RMS : is a way of expressing an AC quantity of voltage or current in terms 		of functionality equivalent to DC.</a:t>
                </a:r>
              </a:p>
              <a:p>
                <a:pPr marL="342900" indent="-342900">
                  <a:buClr>
                    <a:schemeClr val="accent2"/>
                  </a:buClr>
                  <a:buFont typeface="Wingdings" panose="05000000000000000000" pitchFamily="2" charset="2"/>
                  <a:buChar char="ü"/>
                </a:pPr>
                <a:r>
                  <a:rPr lang="en-GB" sz="2400" b="1" dirty="0">
                    <a:solidFill>
                      <a:srgbClr val="0000CC"/>
                    </a:solidFill>
                    <a:latin typeface="Century Gothic" panose="020B0502020202020204" pitchFamily="34" charset="0"/>
                  </a:rPr>
                  <a:t>       For a sine wave,</a:t>
                </a:r>
              </a:p>
              <a:p>
                <a:pPr>
                  <a:buClr>
                    <a:schemeClr val="accent2"/>
                  </a:buClr>
                </a:pPr>
                <a:r>
                  <a:rPr lang="en-GB" sz="2400" b="1" dirty="0">
                    <a:solidFill>
                      <a:srgbClr val="0000CC"/>
                    </a:solidFill>
                    <a:latin typeface="Century Gothic" panose="020B0502020202020204" pitchFamily="34" charset="0"/>
                  </a:rPr>
                  <a:t>           RMS value = 0.707 of its peak value.</a:t>
                </a:r>
              </a:p>
              <a:p>
                <a:pPr>
                  <a:buClr>
                    <a:schemeClr val="accent2"/>
                  </a:buClr>
                </a:pPr>
                <a:endParaRPr lang="en-GB" sz="2400" b="1" dirty="0">
                  <a:solidFill>
                    <a:srgbClr val="0000CC"/>
                  </a:solidFill>
                  <a:latin typeface="Century Gothic" panose="020B0502020202020204" pitchFamily="34" charset="0"/>
                </a:endParaRPr>
              </a:p>
              <a:p>
                <a:pPr>
                  <a:buClr>
                    <a:schemeClr val="accent2"/>
                  </a:buClr>
                </a:pPr>
                <a:r>
                  <a:rPr lang="en-GB" sz="2400" b="1" dirty="0">
                    <a:solidFill>
                      <a:srgbClr val="0000CC"/>
                    </a:solidFill>
                    <a:latin typeface="Century Gothic" panose="020B0502020202020204" pitchFamily="34" charset="0"/>
                  </a:rPr>
                  <a:t>						                                                                 where T = </a:t>
                </a:r>
                <a14:m>
                  <m:oMath xmlns:m="http://schemas.openxmlformats.org/officeDocument/2006/math">
                    <m:f>
                      <m:fPr>
                        <m:ctrlPr>
                          <a:rPr lang="en-GB" sz="2400" b="1" i="1" smtClean="0">
                            <a:solidFill>
                              <a:srgbClr val="0000CC"/>
                            </a:solidFill>
                            <a:latin typeface="Cambria Math" panose="02040503050406030204" pitchFamily="18" charset="0"/>
                          </a:rPr>
                        </m:ctrlPr>
                      </m:fPr>
                      <m:num>
                        <m:r>
                          <a:rPr lang="en-US" sz="2400" b="1" i="1" smtClean="0">
                            <a:solidFill>
                              <a:srgbClr val="0000CC"/>
                            </a:solidFill>
                            <a:latin typeface="Cambria Math" panose="02040503050406030204" pitchFamily="18" charset="0"/>
                          </a:rPr>
                          <m:t>𝟐</m:t>
                        </m:r>
                        <m:r>
                          <a:rPr lang="en-US" sz="2400" b="1" i="1" smtClean="0">
                            <a:solidFill>
                              <a:srgbClr val="0000CC"/>
                            </a:solidFill>
                            <a:latin typeface="Cambria Math" panose="02040503050406030204" pitchFamily="18" charset="0"/>
                            <a:ea typeface="Cambria Math" panose="02040503050406030204" pitchFamily="18" charset="0"/>
                          </a:rPr>
                          <m:t>𝝅</m:t>
                        </m:r>
                      </m:num>
                      <m:den>
                        <m:r>
                          <a:rPr lang="en-GB" sz="2400" b="1" i="1" smtClean="0">
                            <a:solidFill>
                              <a:srgbClr val="0000CC"/>
                            </a:solidFill>
                            <a:latin typeface="Cambria Math" panose="02040503050406030204" pitchFamily="18" charset="0"/>
                            <a:ea typeface="Cambria Math" panose="02040503050406030204" pitchFamily="18" charset="0"/>
                          </a:rPr>
                          <m:t>𝝎</m:t>
                        </m:r>
                      </m:den>
                    </m:f>
                  </m:oMath>
                </a14:m>
                <a:endParaRPr lang="en-GB" sz="2400" kern="100" dirty="0">
                  <a:latin typeface="Century Gothic" panose="020B0502020202020204" pitchFamily="34" charset="0"/>
                  <a:ea typeface="Calibri" panose="020F0502020204030204" pitchFamily="34" charset="0"/>
                  <a:cs typeface="Times New Roman" panose="02020603050405020304" pitchFamily="18" charset="0"/>
                </a:endParaRPr>
              </a:p>
              <a:p>
                <a:pPr>
                  <a:buClr>
                    <a:schemeClr val="accent2"/>
                  </a:buClr>
                </a:pPr>
                <a:r>
                  <a:rPr lang="en-GB" sz="2400" kern="100" dirty="0">
                    <a:latin typeface="Century Gothic" panose="020B0502020202020204" pitchFamily="34" charset="0"/>
                    <a:ea typeface="Calibri" panose="020F0502020204030204" pitchFamily="34" charset="0"/>
                    <a:cs typeface="Times New Roman" panose="02020603050405020304" pitchFamily="18" charset="0"/>
                  </a:rPr>
                  <a:t> </a:t>
                </a:r>
              </a:p>
              <a:p>
                <a:pPr>
                  <a:buClr>
                    <a:schemeClr val="accent2"/>
                  </a:buClr>
                </a:pPr>
                <a:endParaRPr lang="en-GB" sz="2400" kern="100" dirty="0">
                  <a:latin typeface="Century Gothic" panose="020B0502020202020204" pitchFamily="34" charset="0"/>
                  <a:ea typeface="Calibri" panose="020F0502020204030204" pitchFamily="34" charset="0"/>
                  <a:cs typeface="Times New Roman" panose="02020603050405020304" pitchFamily="18" charset="0"/>
                </a:endParaRPr>
              </a:p>
              <a:p>
                <a:pPr>
                  <a:buClr>
                    <a:schemeClr val="accent2"/>
                  </a:buClr>
                </a:pPr>
                <a:r>
                  <a:rPr lang="en-GB" sz="2400" kern="100" dirty="0">
                    <a:latin typeface="Century Gothic" panose="020B0502020202020204" pitchFamily="34" charset="0"/>
                    <a:ea typeface="Calibri" panose="020F0502020204030204" pitchFamily="34" charset="0"/>
                    <a:cs typeface="Times New Roman" panose="02020603050405020304" pitchFamily="18" charset="0"/>
                  </a:rPr>
                  <a:t>							</a:t>
                </a:r>
              </a:p>
              <a:p>
                <a:pPr>
                  <a:buClr>
                    <a:schemeClr val="accent2"/>
                  </a:buClr>
                </a:pPr>
                <a:endParaRPr lang="en-GB" sz="2400" kern="100" dirty="0">
                  <a:latin typeface="Century Gothic" panose="020B0502020202020204" pitchFamily="34" charset="0"/>
                  <a:ea typeface="Calibri" panose="020F0502020204030204" pitchFamily="34" charset="0"/>
                  <a:cs typeface="Times New Roman" panose="02020603050405020304" pitchFamily="18" charset="0"/>
                </a:endParaRPr>
              </a:p>
              <a:p>
                <a:pPr>
                  <a:buClr>
                    <a:schemeClr val="accent2"/>
                  </a:buClr>
                </a:pPr>
                <a:endParaRPr lang="en-GB" sz="2400" kern="100" dirty="0">
                  <a:latin typeface="Century Gothic" panose="020B0502020202020204" pitchFamily="34" charset="0"/>
                  <a:ea typeface="Calibri" panose="020F0502020204030204" pitchFamily="34" charset="0"/>
                  <a:cs typeface="Times New Roman" panose="02020603050405020304" pitchFamily="18" charset="0"/>
                </a:endParaRPr>
              </a:p>
              <a:p>
                <a:pPr>
                  <a:buClr>
                    <a:schemeClr val="accent2"/>
                  </a:buClr>
                </a:pPr>
                <a:endParaRPr lang="en-GB" sz="2400" kern="100" dirty="0">
                  <a:latin typeface="Century Gothic" panose="020B0502020202020204" pitchFamily="34" charset="0"/>
                  <a:ea typeface="Calibri" panose="020F0502020204030204" pitchFamily="34" charset="0"/>
                  <a:cs typeface="Times New Roman" panose="02020603050405020304" pitchFamily="18" charset="0"/>
                </a:endParaRPr>
              </a:p>
            </p:txBody>
          </p:sp>
        </mc:Choice>
        <mc:Fallback xmlns="">
          <p:sp>
            <p:nvSpPr>
              <p:cNvPr id="6" name="TextBox 5">
                <a:extLst>
                  <a:ext uri="{FF2B5EF4-FFF2-40B4-BE49-F238E27FC236}">
                    <a16:creationId xmlns:a16="http://schemas.microsoft.com/office/drawing/2014/main" id="{6BAA1F11-5BEF-4D80-964F-A7332E36BFA0}"/>
                  </a:ext>
                </a:extLst>
              </p:cNvPr>
              <p:cNvSpPr txBox="1">
                <a:spLocks noRot="1" noChangeAspect="1" noMove="1" noResize="1" noEditPoints="1" noAdjustHandles="1" noChangeArrowheads="1" noChangeShapeType="1" noTextEdit="1"/>
              </p:cNvSpPr>
              <p:nvPr/>
            </p:nvSpPr>
            <p:spPr>
              <a:xfrm>
                <a:off x="217250" y="741130"/>
                <a:ext cx="11874231" cy="5427127"/>
              </a:xfrm>
              <a:prstGeom prst="rect">
                <a:avLst/>
              </a:prstGeom>
              <a:blipFill>
                <a:blip r:embed="rId3"/>
                <a:stretch>
                  <a:fillRect l="-667" t="-785" r="-1026"/>
                </a:stretch>
              </a:blipFill>
              <a:ln>
                <a:solidFill>
                  <a:srgbClr val="FF0066"/>
                </a:solidFill>
              </a:ln>
            </p:spPr>
            <p:txBody>
              <a:bodyPr/>
              <a:lstStyle/>
              <a:p>
                <a:r>
                  <a:rPr lang="en-US">
                    <a:noFill/>
                  </a:rPr>
                  <a:t> </a:t>
                </a:r>
              </a:p>
            </p:txBody>
          </p:sp>
        </mc:Fallback>
      </mc:AlternateContent>
      <p:sp>
        <p:nvSpPr>
          <p:cNvPr id="7" name="TextBox 6">
            <a:extLst>
              <a:ext uri="{FF2B5EF4-FFF2-40B4-BE49-F238E27FC236}">
                <a16:creationId xmlns:a16="http://schemas.microsoft.com/office/drawing/2014/main" id="{C36AA635-C21F-49F3-BF21-4CBE4C20709B}"/>
              </a:ext>
            </a:extLst>
          </p:cNvPr>
          <p:cNvSpPr txBox="1"/>
          <p:nvPr/>
        </p:nvSpPr>
        <p:spPr>
          <a:xfrm>
            <a:off x="5269122" y="6037275"/>
            <a:ext cx="823314" cy="373051"/>
          </a:xfrm>
          <a:prstGeom prst="rect">
            <a:avLst/>
          </a:prstGeom>
          <a:noFill/>
        </p:spPr>
        <p:txBody>
          <a:bodyPr wrap="square" rtlCol="0">
            <a:spAutoFit/>
          </a:bodyPr>
          <a:lstStyle/>
          <a:p>
            <a:pPr algn="ctr"/>
            <a:endParaRPr lang="en-GB" sz="1824" dirty="0">
              <a:latin typeface="Garamond" panose="02020404030301010803" pitchFamily="18" charset="0"/>
            </a:endParaRPr>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F5CC5D85-3285-4C19-8348-8128559199BF}"/>
                  </a:ext>
                </a:extLst>
              </p:cNvPr>
              <p:cNvSpPr txBox="1"/>
              <p:nvPr/>
            </p:nvSpPr>
            <p:spPr>
              <a:xfrm>
                <a:off x="3736976" y="4961882"/>
                <a:ext cx="3305849" cy="843885"/>
              </a:xfrm>
              <a:prstGeom prst="rect">
                <a:avLst/>
              </a:prstGeom>
              <a:solidFill>
                <a:srgbClr val="00FFFF"/>
              </a:solidFill>
            </p:spPr>
            <p:txBody>
              <a:bodyPr wrap="square" rtlCol="0">
                <a:spAutoFit/>
              </a:bodyPr>
              <a:lstStyle/>
              <a:p>
                <a14:m>
                  <m:oMath xmlns:m="http://schemas.openxmlformats.org/officeDocument/2006/math">
                    <m:sSub>
                      <m:sSubPr>
                        <m:ctrlPr>
                          <a:rPr lang="en-US" sz="2400" b="1" i="1" smtClean="0">
                            <a:solidFill>
                              <a:srgbClr val="0000CC"/>
                            </a:solidFill>
                            <a:latin typeface="Cambria Math" panose="02040503050406030204" pitchFamily="18" charset="0"/>
                          </a:rPr>
                        </m:ctrlPr>
                      </m:sSubPr>
                      <m:e>
                        <m:r>
                          <a:rPr lang="en-US" sz="2400" b="1" i="1" smtClean="0">
                            <a:solidFill>
                              <a:srgbClr val="0000CC"/>
                            </a:solidFill>
                            <a:latin typeface="Cambria Math" panose="02040503050406030204" pitchFamily="18" charset="0"/>
                          </a:rPr>
                          <m:t>𝑰</m:t>
                        </m:r>
                      </m:e>
                      <m:sub>
                        <m:r>
                          <a:rPr lang="en-US" sz="2400" b="1" i="1" smtClean="0">
                            <a:solidFill>
                              <a:srgbClr val="0000CC"/>
                            </a:solidFill>
                            <a:latin typeface="Cambria Math" panose="02040503050406030204" pitchFamily="18" charset="0"/>
                          </a:rPr>
                          <m:t>𝒓𝒎𝒔</m:t>
                        </m:r>
                      </m:sub>
                    </m:sSub>
                  </m:oMath>
                </a14:m>
                <a:r>
                  <a:rPr lang="en-US" sz="2400" b="1" dirty="0">
                    <a:solidFill>
                      <a:srgbClr val="0000CC"/>
                    </a:solidFill>
                  </a:rPr>
                  <a:t> = </a:t>
                </a:r>
                <a14:m>
                  <m:oMath xmlns:m="http://schemas.openxmlformats.org/officeDocument/2006/math">
                    <m:rad>
                      <m:radPr>
                        <m:degHide m:val="on"/>
                        <m:ctrlPr>
                          <a:rPr lang="en-US" sz="2400" b="1" i="1" smtClean="0">
                            <a:solidFill>
                              <a:srgbClr val="0000CC"/>
                            </a:solidFill>
                            <a:latin typeface="Cambria Math" panose="02040503050406030204" pitchFamily="18" charset="0"/>
                          </a:rPr>
                        </m:ctrlPr>
                      </m:radPr>
                      <m:deg/>
                      <m:e>
                        <m:f>
                          <m:fPr>
                            <m:ctrlPr>
                              <a:rPr lang="en-US" sz="2400" b="1" i="1" smtClean="0">
                                <a:solidFill>
                                  <a:srgbClr val="0000CC"/>
                                </a:solidFill>
                                <a:latin typeface="Cambria Math" panose="02040503050406030204" pitchFamily="18" charset="0"/>
                              </a:rPr>
                            </m:ctrlPr>
                          </m:fPr>
                          <m:num>
                            <m:r>
                              <a:rPr lang="en-US" sz="2400" b="1" i="1" smtClean="0">
                                <a:solidFill>
                                  <a:srgbClr val="0000CC"/>
                                </a:solidFill>
                                <a:latin typeface="Cambria Math" panose="02040503050406030204" pitchFamily="18" charset="0"/>
                              </a:rPr>
                              <m:t>𝟏</m:t>
                            </m:r>
                          </m:num>
                          <m:den>
                            <m:r>
                              <a:rPr lang="en-US" sz="2400" b="1" i="1" smtClean="0">
                                <a:solidFill>
                                  <a:srgbClr val="0000CC"/>
                                </a:solidFill>
                                <a:latin typeface="Cambria Math" panose="02040503050406030204" pitchFamily="18" charset="0"/>
                              </a:rPr>
                              <m:t>𝑻</m:t>
                            </m:r>
                          </m:den>
                        </m:f>
                        <m:nary>
                          <m:naryPr>
                            <m:limLoc m:val="undOvr"/>
                            <m:ctrlPr>
                              <a:rPr lang="en-US" sz="2400" b="1" i="1" smtClean="0">
                                <a:solidFill>
                                  <a:srgbClr val="0000CC"/>
                                </a:solidFill>
                                <a:latin typeface="Cambria Math" panose="02040503050406030204" pitchFamily="18" charset="0"/>
                              </a:rPr>
                            </m:ctrlPr>
                          </m:naryPr>
                          <m:sub>
                            <m:r>
                              <m:rPr>
                                <m:brk m:alnAt="24"/>
                              </m:rPr>
                              <a:rPr lang="en-US" sz="2400" b="1" i="1" smtClean="0">
                                <a:solidFill>
                                  <a:srgbClr val="0000CC"/>
                                </a:solidFill>
                                <a:latin typeface="Cambria Math" panose="02040503050406030204" pitchFamily="18" charset="0"/>
                              </a:rPr>
                              <m:t>𝟎</m:t>
                            </m:r>
                          </m:sub>
                          <m:sup>
                            <m:r>
                              <a:rPr lang="en-US" sz="2400" b="1" i="1" smtClean="0">
                                <a:solidFill>
                                  <a:srgbClr val="0000CC"/>
                                </a:solidFill>
                                <a:latin typeface="Cambria Math" panose="02040503050406030204" pitchFamily="18" charset="0"/>
                              </a:rPr>
                              <m:t>𝑻</m:t>
                            </m:r>
                          </m:sup>
                          <m:e>
                            <m:sSup>
                              <m:sSupPr>
                                <m:ctrlPr>
                                  <a:rPr lang="en-US" sz="2400" b="1" i="1" smtClean="0">
                                    <a:solidFill>
                                      <a:srgbClr val="0000CC"/>
                                    </a:solidFill>
                                    <a:latin typeface="Cambria Math" panose="02040503050406030204" pitchFamily="18" charset="0"/>
                                  </a:rPr>
                                </m:ctrlPr>
                              </m:sSupPr>
                              <m:e>
                                <m:r>
                                  <a:rPr lang="en-US" sz="2400" b="1" i="1" smtClean="0">
                                    <a:solidFill>
                                      <a:srgbClr val="0000CC"/>
                                    </a:solidFill>
                                    <a:latin typeface="Cambria Math" panose="02040503050406030204" pitchFamily="18" charset="0"/>
                                  </a:rPr>
                                  <m:t>𝒊</m:t>
                                </m:r>
                              </m:e>
                              <m:sup>
                                <m:r>
                                  <a:rPr lang="en-US" sz="2400" b="1" i="1" smtClean="0">
                                    <a:solidFill>
                                      <a:srgbClr val="0000CC"/>
                                    </a:solidFill>
                                    <a:latin typeface="Cambria Math" panose="02040503050406030204" pitchFamily="18" charset="0"/>
                                  </a:rPr>
                                  <m:t>𝟐</m:t>
                                </m:r>
                              </m:sup>
                            </m:sSup>
                            <m:d>
                              <m:dPr>
                                <m:ctrlPr>
                                  <a:rPr lang="en-US" sz="2400" b="1" i="1" smtClean="0">
                                    <a:solidFill>
                                      <a:srgbClr val="0000CC"/>
                                    </a:solidFill>
                                    <a:latin typeface="Cambria Math" panose="02040503050406030204" pitchFamily="18" charset="0"/>
                                  </a:rPr>
                                </m:ctrlPr>
                              </m:dPr>
                              <m:e>
                                <m:r>
                                  <a:rPr lang="en-US" sz="2400" b="1" i="1" smtClean="0">
                                    <a:solidFill>
                                      <a:srgbClr val="0000CC"/>
                                    </a:solidFill>
                                    <a:latin typeface="Cambria Math" panose="02040503050406030204" pitchFamily="18" charset="0"/>
                                  </a:rPr>
                                  <m:t>𝒕</m:t>
                                </m:r>
                              </m:e>
                            </m:d>
                            <m:r>
                              <a:rPr lang="en-US" sz="2400" b="1" i="1" smtClean="0">
                                <a:solidFill>
                                  <a:srgbClr val="0000CC"/>
                                </a:solidFill>
                                <a:latin typeface="Cambria Math" panose="02040503050406030204" pitchFamily="18" charset="0"/>
                              </a:rPr>
                              <m:t>.</m:t>
                            </m:r>
                            <m:r>
                              <a:rPr lang="en-US" sz="2400" b="1" i="1" smtClean="0">
                                <a:solidFill>
                                  <a:srgbClr val="0000CC"/>
                                </a:solidFill>
                                <a:latin typeface="Cambria Math" panose="02040503050406030204" pitchFamily="18" charset="0"/>
                              </a:rPr>
                              <m:t>𝒅𝒕</m:t>
                            </m:r>
                          </m:e>
                        </m:nary>
                      </m:e>
                    </m:rad>
                  </m:oMath>
                </a14:m>
                <a:endParaRPr lang="en-US" sz="2400" b="1" dirty="0"/>
              </a:p>
            </p:txBody>
          </p:sp>
        </mc:Choice>
        <mc:Fallback xmlns="">
          <p:sp>
            <p:nvSpPr>
              <p:cNvPr id="8" name="TextBox 7">
                <a:extLst>
                  <a:ext uri="{FF2B5EF4-FFF2-40B4-BE49-F238E27FC236}">
                    <a16:creationId xmlns:a16="http://schemas.microsoft.com/office/drawing/2014/main" id="{F5CC5D85-3285-4C19-8348-8128559199BF}"/>
                  </a:ext>
                </a:extLst>
              </p:cNvPr>
              <p:cNvSpPr txBox="1">
                <a:spLocks noRot="1" noChangeAspect="1" noMove="1" noResize="1" noEditPoints="1" noAdjustHandles="1" noChangeArrowheads="1" noChangeShapeType="1" noTextEdit="1"/>
              </p:cNvSpPr>
              <p:nvPr/>
            </p:nvSpPr>
            <p:spPr>
              <a:xfrm>
                <a:off x="3736976" y="4961882"/>
                <a:ext cx="3305849" cy="843885"/>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9F1E1207-75EF-4E8A-917A-7277EE479ECD}"/>
                  </a:ext>
                </a:extLst>
              </p:cNvPr>
              <p:cNvSpPr txBox="1"/>
              <p:nvPr/>
            </p:nvSpPr>
            <p:spPr>
              <a:xfrm>
                <a:off x="3746706" y="3229583"/>
                <a:ext cx="3383668" cy="843885"/>
              </a:xfrm>
              <a:prstGeom prst="rect">
                <a:avLst/>
              </a:prstGeom>
              <a:solidFill>
                <a:srgbClr val="00FFFF"/>
              </a:solidFill>
            </p:spPr>
            <p:txBody>
              <a:bodyPr wrap="square" rtlCol="0">
                <a:spAutoFit/>
              </a:bodyPr>
              <a:lstStyle/>
              <a:p>
                <a14:m>
                  <m:oMath xmlns:m="http://schemas.openxmlformats.org/officeDocument/2006/math">
                    <m:sSub>
                      <m:sSubPr>
                        <m:ctrlPr>
                          <a:rPr lang="en-US" sz="2400" b="1" i="1" smtClean="0">
                            <a:solidFill>
                              <a:srgbClr val="0000CC"/>
                            </a:solidFill>
                            <a:latin typeface="Cambria Math" panose="02040503050406030204" pitchFamily="18" charset="0"/>
                          </a:rPr>
                        </m:ctrlPr>
                      </m:sSubPr>
                      <m:e>
                        <m:r>
                          <a:rPr lang="en-US" sz="2400" b="1" i="1" smtClean="0">
                            <a:solidFill>
                              <a:srgbClr val="0000CC"/>
                            </a:solidFill>
                            <a:latin typeface="Cambria Math" panose="02040503050406030204" pitchFamily="18" charset="0"/>
                          </a:rPr>
                          <m:t>𝑽</m:t>
                        </m:r>
                      </m:e>
                      <m:sub>
                        <m:r>
                          <a:rPr lang="en-US" sz="2400" b="1" i="1" smtClean="0">
                            <a:solidFill>
                              <a:srgbClr val="0000CC"/>
                            </a:solidFill>
                            <a:latin typeface="Cambria Math" panose="02040503050406030204" pitchFamily="18" charset="0"/>
                          </a:rPr>
                          <m:t>𝒓𝒎𝒔</m:t>
                        </m:r>
                      </m:sub>
                    </m:sSub>
                  </m:oMath>
                </a14:m>
                <a:r>
                  <a:rPr lang="en-US" sz="2400" b="1" dirty="0">
                    <a:solidFill>
                      <a:srgbClr val="0000CC"/>
                    </a:solidFill>
                  </a:rPr>
                  <a:t> = </a:t>
                </a:r>
                <a14:m>
                  <m:oMath xmlns:m="http://schemas.openxmlformats.org/officeDocument/2006/math">
                    <m:rad>
                      <m:radPr>
                        <m:degHide m:val="on"/>
                        <m:ctrlPr>
                          <a:rPr lang="en-US" sz="2400" b="1" i="1" smtClean="0">
                            <a:solidFill>
                              <a:srgbClr val="0000CC"/>
                            </a:solidFill>
                            <a:latin typeface="Cambria Math" panose="02040503050406030204" pitchFamily="18" charset="0"/>
                          </a:rPr>
                        </m:ctrlPr>
                      </m:radPr>
                      <m:deg/>
                      <m:e>
                        <m:f>
                          <m:fPr>
                            <m:ctrlPr>
                              <a:rPr lang="en-US" sz="2400" b="1" i="1" smtClean="0">
                                <a:solidFill>
                                  <a:srgbClr val="0000CC"/>
                                </a:solidFill>
                                <a:latin typeface="Cambria Math" panose="02040503050406030204" pitchFamily="18" charset="0"/>
                              </a:rPr>
                            </m:ctrlPr>
                          </m:fPr>
                          <m:num>
                            <m:r>
                              <a:rPr lang="en-US" sz="2400" b="1" i="1" smtClean="0">
                                <a:solidFill>
                                  <a:srgbClr val="0000CC"/>
                                </a:solidFill>
                                <a:latin typeface="Cambria Math" panose="02040503050406030204" pitchFamily="18" charset="0"/>
                              </a:rPr>
                              <m:t>𝟏</m:t>
                            </m:r>
                          </m:num>
                          <m:den>
                            <m:r>
                              <a:rPr lang="en-US" sz="2400" b="1" i="1" smtClean="0">
                                <a:solidFill>
                                  <a:srgbClr val="0000CC"/>
                                </a:solidFill>
                                <a:latin typeface="Cambria Math" panose="02040503050406030204" pitchFamily="18" charset="0"/>
                              </a:rPr>
                              <m:t>𝑻</m:t>
                            </m:r>
                          </m:den>
                        </m:f>
                        <m:nary>
                          <m:naryPr>
                            <m:limLoc m:val="undOvr"/>
                            <m:ctrlPr>
                              <a:rPr lang="en-US" sz="2400" b="1" i="1" smtClean="0">
                                <a:solidFill>
                                  <a:srgbClr val="0000CC"/>
                                </a:solidFill>
                                <a:latin typeface="Cambria Math" panose="02040503050406030204" pitchFamily="18" charset="0"/>
                              </a:rPr>
                            </m:ctrlPr>
                          </m:naryPr>
                          <m:sub>
                            <m:r>
                              <m:rPr>
                                <m:brk m:alnAt="24"/>
                              </m:rPr>
                              <a:rPr lang="en-US" sz="2400" b="1" i="1" smtClean="0">
                                <a:solidFill>
                                  <a:srgbClr val="0000CC"/>
                                </a:solidFill>
                                <a:latin typeface="Cambria Math" panose="02040503050406030204" pitchFamily="18" charset="0"/>
                              </a:rPr>
                              <m:t>𝟎</m:t>
                            </m:r>
                          </m:sub>
                          <m:sup>
                            <m:r>
                              <a:rPr lang="en-US" sz="2400" b="1" i="1" smtClean="0">
                                <a:solidFill>
                                  <a:srgbClr val="0000CC"/>
                                </a:solidFill>
                                <a:latin typeface="Cambria Math" panose="02040503050406030204" pitchFamily="18" charset="0"/>
                              </a:rPr>
                              <m:t>𝑻</m:t>
                            </m:r>
                          </m:sup>
                          <m:e>
                            <m:sSup>
                              <m:sSupPr>
                                <m:ctrlPr>
                                  <a:rPr lang="en-US" sz="2400" b="1" i="1" smtClean="0">
                                    <a:solidFill>
                                      <a:srgbClr val="0000CC"/>
                                    </a:solidFill>
                                    <a:latin typeface="Cambria Math" panose="02040503050406030204" pitchFamily="18" charset="0"/>
                                  </a:rPr>
                                </m:ctrlPr>
                              </m:sSupPr>
                              <m:e>
                                <m:r>
                                  <a:rPr lang="en-US" sz="2400" b="1" i="1" smtClean="0">
                                    <a:solidFill>
                                      <a:srgbClr val="0000CC"/>
                                    </a:solidFill>
                                    <a:latin typeface="Cambria Math" panose="02040503050406030204" pitchFamily="18" charset="0"/>
                                  </a:rPr>
                                  <m:t>𝒗</m:t>
                                </m:r>
                              </m:e>
                              <m:sup>
                                <m:r>
                                  <a:rPr lang="en-US" sz="2400" b="1" i="1" smtClean="0">
                                    <a:solidFill>
                                      <a:srgbClr val="0000CC"/>
                                    </a:solidFill>
                                    <a:latin typeface="Cambria Math" panose="02040503050406030204" pitchFamily="18" charset="0"/>
                                  </a:rPr>
                                  <m:t>𝟐</m:t>
                                </m:r>
                              </m:sup>
                            </m:sSup>
                            <m:d>
                              <m:dPr>
                                <m:ctrlPr>
                                  <a:rPr lang="en-US" sz="2400" b="1" i="1" smtClean="0">
                                    <a:solidFill>
                                      <a:srgbClr val="0000CC"/>
                                    </a:solidFill>
                                    <a:latin typeface="Cambria Math" panose="02040503050406030204" pitchFamily="18" charset="0"/>
                                  </a:rPr>
                                </m:ctrlPr>
                              </m:dPr>
                              <m:e>
                                <m:r>
                                  <a:rPr lang="en-US" sz="2400" b="1" i="1" smtClean="0">
                                    <a:solidFill>
                                      <a:srgbClr val="0000CC"/>
                                    </a:solidFill>
                                    <a:latin typeface="Cambria Math" panose="02040503050406030204" pitchFamily="18" charset="0"/>
                                  </a:rPr>
                                  <m:t>𝒕</m:t>
                                </m:r>
                              </m:e>
                            </m:d>
                            <m:r>
                              <a:rPr lang="en-US" sz="2400" b="1" i="1" smtClean="0">
                                <a:solidFill>
                                  <a:srgbClr val="0000CC"/>
                                </a:solidFill>
                                <a:latin typeface="Cambria Math" panose="02040503050406030204" pitchFamily="18" charset="0"/>
                              </a:rPr>
                              <m:t>.</m:t>
                            </m:r>
                            <m:r>
                              <a:rPr lang="en-US" sz="2400" b="1" i="1" smtClean="0">
                                <a:solidFill>
                                  <a:srgbClr val="0000CC"/>
                                </a:solidFill>
                                <a:latin typeface="Cambria Math" panose="02040503050406030204" pitchFamily="18" charset="0"/>
                              </a:rPr>
                              <m:t>𝒅𝒕</m:t>
                            </m:r>
                          </m:e>
                        </m:nary>
                      </m:e>
                    </m:rad>
                  </m:oMath>
                </a14:m>
                <a:endParaRPr lang="en-US" sz="2400" b="1" dirty="0"/>
              </a:p>
            </p:txBody>
          </p:sp>
        </mc:Choice>
        <mc:Fallback xmlns="">
          <p:sp>
            <p:nvSpPr>
              <p:cNvPr id="10" name="TextBox 9">
                <a:extLst>
                  <a:ext uri="{FF2B5EF4-FFF2-40B4-BE49-F238E27FC236}">
                    <a16:creationId xmlns:a16="http://schemas.microsoft.com/office/drawing/2014/main" id="{9F1E1207-75EF-4E8A-917A-7277EE479ECD}"/>
                  </a:ext>
                </a:extLst>
              </p:cNvPr>
              <p:cNvSpPr txBox="1">
                <a:spLocks noRot="1" noChangeAspect="1" noMove="1" noResize="1" noEditPoints="1" noAdjustHandles="1" noChangeArrowheads="1" noChangeShapeType="1" noTextEdit="1"/>
              </p:cNvSpPr>
              <p:nvPr/>
            </p:nvSpPr>
            <p:spPr>
              <a:xfrm>
                <a:off x="3746706" y="3229583"/>
                <a:ext cx="3383668" cy="843885"/>
              </a:xfrm>
              <a:prstGeom prst="rect">
                <a:avLst/>
              </a:prstGeom>
              <a:blipFill>
                <a:blip r:embed="rId5"/>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248482168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6">
            <a:extLst>
              <a:ext uri="{FF2B5EF4-FFF2-40B4-BE49-F238E27FC236}">
                <a16:creationId xmlns:a16="http://schemas.microsoft.com/office/drawing/2014/main" id="{56080804-F19F-41A7-8595-943961648C5E}"/>
              </a:ext>
            </a:extLst>
          </p:cNvPr>
          <p:cNvSpPr>
            <a:spLocks noGrp="1"/>
          </p:cNvSpPr>
          <p:nvPr>
            <p:ph type="sldNum" sz="quarter" idx="12"/>
          </p:nvPr>
        </p:nvSpPr>
        <p:spPr>
          <a:xfrm>
            <a:off x="8610600" y="6441692"/>
            <a:ext cx="2743200" cy="370027"/>
          </a:xfrm>
        </p:spPr>
        <p:txBody>
          <a:bodyPr/>
          <a:lstStyle/>
          <a:p>
            <a:fld id="{F4801FD5-11B4-DE43-ACA2-E85EEB9A6F9C}" type="slidenum">
              <a:rPr lang="en-US" smtClean="0">
                <a:latin typeface="Garamond" panose="02020404030301010803" pitchFamily="18" charset="0"/>
              </a:rPr>
              <a:t>20</a:t>
            </a:fld>
            <a:endParaRPr lang="en-US">
              <a:latin typeface="Garamond" panose="02020404030301010803" pitchFamily="18" charset="0"/>
            </a:endParaRPr>
          </a:p>
        </p:txBody>
      </p:sp>
      <p:sp>
        <p:nvSpPr>
          <p:cNvPr id="5" name="Title 1">
            <a:extLst>
              <a:ext uri="{FF2B5EF4-FFF2-40B4-BE49-F238E27FC236}">
                <a16:creationId xmlns:a16="http://schemas.microsoft.com/office/drawing/2014/main" id="{4710AE4B-0DB8-4451-B9E4-10BAE11B4D3A}"/>
              </a:ext>
            </a:extLst>
          </p:cNvPr>
          <p:cNvSpPr>
            <a:spLocks noGrp="1"/>
          </p:cNvSpPr>
          <p:nvPr>
            <p:ph type="title"/>
          </p:nvPr>
        </p:nvSpPr>
        <p:spPr>
          <a:xfrm>
            <a:off x="3264353" y="0"/>
            <a:ext cx="6026397" cy="558382"/>
          </a:xfrm>
        </p:spPr>
        <p:txBody>
          <a:bodyPr>
            <a:noAutofit/>
          </a:bodyPr>
          <a:lstStyle/>
          <a:p>
            <a:pPr algn="ctr"/>
            <a:r>
              <a:rPr lang="en-US" sz="3200" b="1" u="sng" dirty="0">
                <a:solidFill>
                  <a:srgbClr val="FF3386"/>
                </a:solidFill>
                <a:latin typeface="Century Gothic" panose="020B0502020202020204" pitchFamily="34" charset="0"/>
                <a:cs typeface="Helvetica"/>
              </a:rPr>
              <a:t>POWER COMPUTATION</a:t>
            </a:r>
          </a:p>
        </p:txBody>
      </p:sp>
      <p:sp>
        <p:nvSpPr>
          <p:cNvPr id="6" name="TextBox 5">
            <a:extLst>
              <a:ext uri="{FF2B5EF4-FFF2-40B4-BE49-F238E27FC236}">
                <a16:creationId xmlns:a16="http://schemas.microsoft.com/office/drawing/2014/main" id="{6BAA1F11-5BEF-4D80-964F-A7332E36BFA0}"/>
              </a:ext>
            </a:extLst>
          </p:cNvPr>
          <p:cNvSpPr txBox="1"/>
          <p:nvPr/>
        </p:nvSpPr>
        <p:spPr>
          <a:xfrm>
            <a:off x="171101" y="741130"/>
            <a:ext cx="11842669" cy="6001643"/>
          </a:xfrm>
          <a:prstGeom prst="rect">
            <a:avLst/>
          </a:prstGeom>
          <a:noFill/>
          <a:ln>
            <a:solidFill>
              <a:srgbClr val="FF0066"/>
            </a:solidFill>
          </a:ln>
        </p:spPr>
        <p:txBody>
          <a:bodyPr wrap="square" rtlCol="0">
            <a:spAutoFit/>
          </a:bodyPr>
          <a:lstStyle/>
          <a:p>
            <a:pPr marL="457200" indent="-457200">
              <a:buClr>
                <a:schemeClr val="accent2"/>
              </a:buClr>
              <a:buFont typeface="Wingdings" panose="05000000000000000000" pitchFamily="2" charset="2"/>
              <a:buChar char="v"/>
            </a:pPr>
            <a:r>
              <a:rPr lang="en-GB" sz="2400" b="1" dirty="0">
                <a:solidFill>
                  <a:srgbClr val="009750"/>
                </a:solidFill>
                <a:latin typeface="Century Gothic" panose="020B0502020202020204" pitchFamily="34" charset="0"/>
              </a:rPr>
              <a:t>SINE WAVE</a:t>
            </a:r>
            <a:br>
              <a:rPr lang="en-GB" sz="2400" b="1" dirty="0">
                <a:solidFill>
                  <a:srgbClr val="009750"/>
                </a:solidFill>
                <a:latin typeface="Century Gothic" panose="020B0502020202020204" pitchFamily="34" charset="0"/>
              </a:rPr>
            </a:br>
            <a:br>
              <a:rPr lang="en-GB" sz="2400" b="1" dirty="0">
                <a:solidFill>
                  <a:srgbClr val="009750"/>
                </a:solidFill>
                <a:latin typeface="Century Gothic" panose="020B0502020202020204" pitchFamily="34" charset="0"/>
              </a:rPr>
            </a:br>
            <a:r>
              <a:rPr lang="en-GB" sz="2400" b="1" dirty="0">
                <a:solidFill>
                  <a:srgbClr val="009750"/>
                </a:solidFill>
                <a:latin typeface="Century Gothic" panose="020B0502020202020204" pitchFamily="34" charset="0"/>
              </a:rPr>
              <a:t>		</a:t>
            </a:r>
          </a:p>
          <a:p>
            <a:pPr>
              <a:buClr>
                <a:schemeClr val="accent2"/>
              </a:buClr>
            </a:pPr>
            <a:r>
              <a:rPr lang="en-GB" sz="2400" b="1" dirty="0">
                <a:solidFill>
                  <a:srgbClr val="0000CC"/>
                </a:solidFill>
                <a:latin typeface="Century Gothic" panose="020B0502020202020204" pitchFamily="34" charset="0"/>
              </a:rPr>
              <a:t>					</a:t>
            </a:r>
            <a:endParaRPr lang="en-GB" sz="2400" kern="100" dirty="0">
              <a:latin typeface="Century Gothic" panose="020B0502020202020204" pitchFamily="34" charset="0"/>
              <a:ea typeface="Calibri" panose="020F0502020204030204" pitchFamily="34" charset="0"/>
              <a:cs typeface="Times New Roman" panose="02020603050405020304" pitchFamily="18" charset="0"/>
            </a:endParaRPr>
          </a:p>
          <a:p>
            <a:pPr>
              <a:buClr>
                <a:schemeClr val="accent2"/>
              </a:buClr>
            </a:pPr>
            <a:r>
              <a:rPr lang="en-GB" sz="2400" kern="100" dirty="0">
                <a:latin typeface="Century Gothic" panose="020B0502020202020204" pitchFamily="34" charset="0"/>
                <a:ea typeface="Calibri" panose="020F0502020204030204" pitchFamily="34" charset="0"/>
                <a:cs typeface="Times New Roman" panose="02020603050405020304" pitchFamily="18" charset="0"/>
              </a:rPr>
              <a:t>							</a:t>
            </a:r>
          </a:p>
          <a:p>
            <a:pPr>
              <a:buClr>
                <a:schemeClr val="accent2"/>
              </a:buClr>
            </a:pPr>
            <a:endParaRPr lang="en-GB" sz="2400" kern="100" dirty="0">
              <a:latin typeface="Century Gothic" panose="020B0502020202020204" pitchFamily="34" charset="0"/>
              <a:ea typeface="Calibri" panose="020F0502020204030204" pitchFamily="34" charset="0"/>
              <a:cs typeface="Times New Roman" panose="02020603050405020304" pitchFamily="18" charset="0"/>
            </a:endParaRPr>
          </a:p>
          <a:p>
            <a:pPr>
              <a:buClr>
                <a:schemeClr val="accent2"/>
              </a:buClr>
            </a:pPr>
            <a:r>
              <a:rPr lang="en-GB" sz="2400" kern="100" dirty="0">
                <a:latin typeface="Century Gothic" panose="020B0502020202020204" pitchFamily="34" charset="0"/>
                <a:ea typeface="Calibri" panose="020F0502020204030204" pitchFamily="34" charset="0"/>
                <a:cs typeface="Times New Roman" panose="02020603050405020304" pitchFamily="18" charset="0"/>
              </a:rPr>
              <a:t>                                           </a:t>
            </a:r>
          </a:p>
          <a:p>
            <a:pPr>
              <a:buClr>
                <a:schemeClr val="accent2"/>
              </a:buClr>
            </a:pPr>
            <a:endParaRPr lang="en-GB" sz="2400" kern="100" dirty="0">
              <a:latin typeface="Century Gothic" panose="020B0502020202020204" pitchFamily="34" charset="0"/>
              <a:ea typeface="Calibri" panose="020F0502020204030204" pitchFamily="34" charset="0"/>
              <a:cs typeface="Times New Roman" panose="02020603050405020304" pitchFamily="18" charset="0"/>
            </a:endParaRPr>
          </a:p>
          <a:p>
            <a:pPr>
              <a:buClr>
                <a:schemeClr val="accent2"/>
              </a:buClr>
            </a:pPr>
            <a:endParaRPr lang="en-GB" sz="2400" kern="100" dirty="0">
              <a:latin typeface="Century Gothic" panose="020B0502020202020204" pitchFamily="34" charset="0"/>
              <a:ea typeface="Calibri" panose="020F0502020204030204" pitchFamily="34" charset="0"/>
              <a:cs typeface="Times New Roman" panose="02020603050405020304" pitchFamily="18" charset="0"/>
            </a:endParaRPr>
          </a:p>
          <a:p>
            <a:pPr>
              <a:buClr>
                <a:schemeClr val="accent2"/>
              </a:buClr>
            </a:pPr>
            <a:endParaRPr lang="en-GB" sz="2400" kern="100" dirty="0">
              <a:latin typeface="Century Gothic" panose="020B0502020202020204" pitchFamily="34" charset="0"/>
              <a:ea typeface="Calibri" panose="020F0502020204030204" pitchFamily="34" charset="0"/>
              <a:cs typeface="Times New Roman" panose="02020603050405020304" pitchFamily="18" charset="0"/>
            </a:endParaRPr>
          </a:p>
          <a:p>
            <a:pPr>
              <a:buClr>
                <a:schemeClr val="accent2"/>
              </a:buClr>
            </a:pPr>
            <a:endParaRPr lang="en-GB" sz="2400" kern="100" dirty="0">
              <a:latin typeface="Century Gothic" panose="020B0502020202020204" pitchFamily="34" charset="0"/>
              <a:ea typeface="Calibri" panose="020F0502020204030204" pitchFamily="34" charset="0"/>
              <a:cs typeface="Times New Roman" panose="02020603050405020304" pitchFamily="18" charset="0"/>
            </a:endParaRPr>
          </a:p>
          <a:p>
            <a:pPr>
              <a:buClr>
                <a:schemeClr val="accent2"/>
              </a:buClr>
            </a:pPr>
            <a:endParaRPr lang="en-GB" sz="2400" kern="100" dirty="0">
              <a:latin typeface="Century Gothic" panose="020B0502020202020204" pitchFamily="34" charset="0"/>
              <a:ea typeface="Calibri" panose="020F0502020204030204" pitchFamily="34" charset="0"/>
              <a:cs typeface="Times New Roman" panose="02020603050405020304" pitchFamily="18" charset="0"/>
            </a:endParaRPr>
          </a:p>
          <a:p>
            <a:pPr>
              <a:buClr>
                <a:schemeClr val="accent2"/>
              </a:buClr>
            </a:pPr>
            <a:endParaRPr lang="en-GB" sz="2400" kern="100" dirty="0">
              <a:latin typeface="Century Gothic" panose="020B0502020202020204" pitchFamily="34" charset="0"/>
              <a:ea typeface="Calibri" panose="020F0502020204030204" pitchFamily="34" charset="0"/>
              <a:cs typeface="Times New Roman" panose="02020603050405020304" pitchFamily="18" charset="0"/>
            </a:endParaRPr>
          </a:p>
          <a:p>
            <a:pPr>
              <a:buClr>
                <a:schemeClr val="accent2"/>
              </a:buClr>
            </a:pPr>
            <a:endParaRPr lang="en-GB" sz="2400" kern="100" dirty="0">
              <a:latin typeface="Century Gothic" panose="020B0502020202020204" pitchFamily="34" charset="0"/>
              <a:ea typeface="Calibri" panose="020F0502020204030204" pitchFamily="34" charset="0"/>
              <a:cs typeface="Times New Roman" panose="02020603050405020304" pitchFamily="18" charset="0"/>
            </a:endParaRPr>
          </a:p>
          <a:p>
            <a:pPr>
              <a:buClr>
                <a:schemeClr val="accent2"/>
              </a:buClr>
            </a:pPr>
            <a:endParaRPr lang="en-GB" sz="2400" kern="100" dirty="0">
              <a:latin typeface="Century Gothic" panose="020B0502020202020204" pitchFamily="34" charset="0"/>
              <a:ea typeface="Calibri" panose="020F0502020204030204" pitchFamily="34" charset="0"/>
              <a:cs typeface="Times New Roman" panose="02020603050405020304" pitchFamily="18" charset="0"/>
            </a:endParaRPr>
          </a:p>
          <a:p>
            <a:pPr>
              <a:buClr>
                <a:schemeClr val="accent2"/>
              </a:buClr>
            </a:pPr>
            <a:endParaRPr lang="en-GB" sz="2400" kern="100" dirty="0">
              <a:latin typeface="Century Gothic" panose="020B0502020202020204" pitchFamily="34" charset="0"/>
              <a:ea typeface="Calibri" panose="020F0502020204030204" pitchFamily="34" charset="0"/>
              <a:cs typeface="Times New Roman" panose="02020603050405020304" pitchFamily="18" charset="0"/>
            </a:endParaRPr>
          </a:p>
        </p:txBody>
      </p:sp>
      <p:sp>
        <p:nvSpPr>
          <p:cNvPr id="7" name="TextBox 6">
            <a:extLst>
              <a:ext uri="{FF2B5EF4-FFF2-40B4-BE49-F238E27FC236}">
                <a16:creationId xmlns:a16="http://schemas.microsoft.com/office/drawing/2014/main" id="{C36AA635-C21F-49F3-BF21-4CBE4C20709B}"/>
              </a:ext>
            </a:extLst>
          </p:cNvPr>
          <p:cNvSpPr txBox="1"/>
          <p:nvPr/>
        </p:nvSpPr>
        <p:spPr>
          <a:xfrm>
            <a:off x="5269122" y="6037275"/>
            <a:ext cx="823314" cy="373051"/>
          </a:xfrm>
          <a:prstGeom prst="rect">
            <a:avLst/>
          </a:prstGeom>
          <a:noFill/>
        </p:spPr>
        <p:txBody>
          <a:bodyPr wrap="square" rtlCol="0">
            <a:spAutoFit/>
          </a:bodyPr>
          <a:lstStyle/>
          <a:p>
            <a:pPr algn="ctr"/>
            <a:endParaRPr lang="en-GB" sz="1824" dirty="0">
              <a:latin typeface="Garamond" panose="02020404030301010803" pitchFamily="18" charset="0"/>
            </a:endParaRPr>
          </a:p>
        </p:txBody>
      </p:sp>
      <p:pic>
        <p:nvPicPr>
          <p:cNvPr id="3" name="Picture 2">
            <a:extLst>
              <a:ext uri="{FF2B5EF4-FFF2-40B4-BE49-F238E27FC236}">
                <a16:creationId xmlns:a16="http://schemas.microsoft.com/office/drawing/2014/main" id="{3B0CA616-ED7B-4A17-AB09-EB7D5B4005C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535282" y="1626261"/>
            <a:ext cx="4573651" cy="1627129"/>
          </a:xfrm>
          <a:prstGeom prst="rect">
            <a:avLst/>
          </a:prstGeom>
        </p:spPr>
      </p:pic>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26135001-38BA-439C-BD55-03E859D97CD8}"/>
                  </a:ext>
                </a:extLst>
              </p:cNvPr>
              <p:cNvSpPr txBox="1"/>
              <p:nvPr/>
            </p:nvSpPr>
            <p:spPr>
              <a:xfrm>
                <a:off x="7441010" y="1734629"/>
                <a:ext cx="3745150" cy="656013"/>
              </a:xfrm>
              <a:prstGeom prst="rect">
                <a:avLst/>
              </a:prstGeom>
              <a:solidFill>
                <a:srgbClr val="00FFFF"/>
              </a:solidFill>
            </p:spPr>
            <p:txBody>
              <a:bodyPr wrap="square" rtlCol="0">
                <a:spAutoFit/>
              </a:bodyPr>
              <a:lstStyle/>
              <a:p>
                <a14:m>
                  <m:oMath xmlns:m="http://schemas.openxmlformats.org/officeDocument/2006/math">
                    <m:sSub>
                      <m:sSubPr>
                        <m:ctrlPr>
                          <a:rPr lang="en-US" b="1" i="1" smtClean="0">
                            <a:solidFill>
                              <a:srgbClr val="0000CC"/>
                            </a:solidFill>
                            <a:latin typeface="Cambria Math" panose="02040503050406030204" pitchFamily="18" charset="0"/>
                          </a:rPr>
                        </m:ctrlPr>
                      </m:sSubPr>
                      <m:e>
                        <m:r>
                          <a:rPr lang="en-US" b="1" i="1" smtClean="0">
                            <a:solidFill>
                              <a:srgbClr val="0000CC"/>
                            </a:solidFill>
                            <a:latin typeface="Cambria Math" panose="02040503050406030204" pitchFamily="18" charset="0"/>
                          </a:rPr>
                          <m:t>𝑽</m:t>
                        </m:r>
                      </m:e>
                      <m:sub>
                        <m:r>
                          <a:rPr lang="en-US" b="1" i="1" smtClean="0">
                            <a:solidFill>
                              <a:srgbClr val="0000CC"/>
                            </a:solidFill>
                            <a:latin typeface="Cambria Math" panose="02040503050406030204" pitchFamily="18" charset="0"/>
                          </a:rPr>
                          <m:t>𝒓𝒎𝒔</m:t>
                        </m:r>
                      </m:sub>
                    </m:sSub>
                  </m:oMath>
                </a14:m>
                <a:r>
                  <a:rPr lang="en-US" b="1" dirty="0">
                    <a:solidFill>
                      <a:srgbClr val="0000CC"/>
                    </a:solidFill>
                  </a:rPr>
                  <a:t> = </a:t>
                </a:r>
                <a14:m>
                  <m:oMath xmlns:m="http://schemas.openxmlformats.org/officeDocument/2006/math">
                    <m:rad>
                      <m:radPr>
                        <m:degHide m:val="on"/>
                        <m:ctrlPr>
                          <a:rPr lang="en-US" b="1" i="1" smtClean="0">
                            <a:solidFill>
                              <a:srgbClr val="0000CC"/>
                            </a:solidFill>
                            <a:latin typeface="Cambria Math" panose="02040503050406030204" pitchFamily="18" charset="0"/>
                          </a:rPr>
                        </m:ctrlPr>
                      </m:radPr>
                      <m:deg/>
                      <m:e>
                        <m:f>
                          <m:fPr>
                            <m:ctrlPr>
                              <a:rPr lang="en-US" b="1" i="1" smtClean="0">
                                <a:solidFill>
                                  <a:srgbClr val="0000CC"/>
                                </a:solidFill>
                                <a:latin typeface="Cambria Math" panose="02040503050406030204" pitchFamily="18" charset="0"/>
                              </a:rPr>
                            </m:ctrlPr>
                          </m:fPr>
                          <m:num>
                            <m:r>
                              <a:rPr lang="en-US" b="1" i="1" smtClean="0">
                                <a:solidFill>
                                  <a:srgbClr val="0000CC"/>
                                </a:solidFill>
                                <a:latin typeface="Cambria Math" panose="02040503050406030204" pitchFamily="18" charset="0"/>
                              </a:rPr>
                              <m:t>𝟏</m:t>
                            </m:r>
                          </m:num>
                          <m:den>
                            <m:r>
                              <a:rPr lang="en-US" b="1" i="1" smtClean="0">
                                <a:solidFill>
                                  <a:srgbClr val="0000CC"/>
                                </a:solidFill>
                                <a:latin typeface="Cambria Math" panose="02040503050406030204" pitchFamily="18" charset="0"/>
                              </a:rPr>
                              <m:t>𝟐</m:t>
                            </m:r>
                            <m:r>
                              <a:rPr lang="en-US" b="1" i="1" smtClean="0">
                                <a:solidFill>
                                  <a:srgbClr val="0000CC"/>
                                </a:solidFill>
                                <a:latin typeface="Cambria Math" panose="02040503050406030204" pitchFamily="18" charset="0"/>
                                <a:ea typeface="Cambria Math" panose="02040503050406030204" pitchFamily="18" charset="0"/>
                              </a:rPr>
                              <m:t>𝝅</m:t>
                            </m:r>
                          </m:den>
                        </m:f>
                        <m:nary>
                          <m:naryPr>
                            <m:limLoc m:val="undOvr"/>
                            <m:ctrlPr>
                              <a:rPr lang="en-US" b="1" i="1" smtClean="0">
                                <a:solidFill>
                                  <a:srgbClr val="0000CC"/>
                                </a:solidFill>
                                <a:latin typeface="Cambria Math" panose="02040503050406030204" pitchFamily="18" charset="0"/>
                              </a:rPr>
                            </m:ctrlPr>
                          </m:naryPr>
                          <m:sub>
                            <m:r>
                              <m:rPr>
                                <m:brk m:alnAt="24"/>
                              </m:rPr>
                              <a:rPr lang="en-US" b="1" i="1" smtClean="0">
                                <a:solidFill>
                                  <a:srgbClr val="0000CC"/>
                                </a:solidFill>
                                <a:latin typeface="Cambria Math" panose="02040503050406030204" pitchFamily="18" charset="0"/>
                              </a:rPr>
                              <m:t>𝟎</m:t>
                            </m:r>
                          </m:sub>
                          <m:sup>
                            <m:r>
                              <a:rPr lang="en-US" b="1" i="1" smtClean="0">
                                <a:solidFill>
                                  <a:srgbClr val="0000CC"/>
                                </a:solidFill>
                                <a:latin typeface="Cambria Math" panose="02040503050406030204" pitchFamily="18" charset="0"/>
                              </a:rPr>
                              <m:t>𝟐</m:t>
                            </m:r>
                            <m:r>
                              <a:rPr lang="en-US" b="1" i="1" smtClean="0">
                                <a:solidFill>
                                  <a:srgbClr val="0000CC"/>
                                </a:solidFill>
                                <a:latin typeface="Cambria Math" panose="02040503050406030204" pitchFamily="18" charset="0"/>
                                <a:ea typeface="Cambria Math" panose="02040503050406030204" pitchFamily="18" charset="0"/>
                              </a:rPr>
                              <m:t>𝝅</m:t>
                            </m:r>
                          </m:sup>
                          <m:e>
                            <m:sSup>
                              <m:sSupPr>
                                <m:ctrlPr>
                                  <a:rPr lang="en-US" b="1" i="1" smtClean="0">
                                    <a:solidFill>
                                      <a:srgbClr val="0000CC"/>
                                    </a:solidFill>
                                    <a:latin typeface="Cambria Math" panose="02040503050406030204" pitchFamily="18" charset="0"/>
                                  </a:rPr>
                                </m:ctrlPr>
                              </m:sSupPr>
                              <m:e>
                                <m:d>
                                  <m:dPr>
                                    <m:ctrlPr>
                                      <a:rPr lang="en-US" b="1" i="1" smtClean="0">
                                        <a:solidFill>
                                          <a:srgbClr val="0000CC"/>
                                        </a:solidFill>
                                        <a:latin typeface="Cambria Math" panose="02040503050406030204" pitchFamily="18" charset="0"/>
                                      </a:rPr>
                                    </m:ctrlPr>
                                  </m:dPr>
                                  <m:e>
                                    <m:sSub>
                                      <m:sSubPr>
                                        <m:ctrlPr>
                                          <a:rPr lang="en-US" b="1" i="1" smtClean="0">
                                            <a:solidFill>
                                              <a:srgbClr val="0000CC"/>
                                            </a:solidFill>
                                            <a:latin typeface="Cambria Math" panose="02040503050406030204" pitchFamily="18" charset="0"/>
                                          </a:rPr>
                                        </m:ctrlPr>
                                      </m:sSubPr>
                                      <m:e>
                                        <m:r>
                                          <a:rPr lang="en-US" b="1" i="1" smtClean="0">
                                            <a:solidFill>
                                              <a:srgbClr val="0000CC"/>
                                            </a:solidFill>
                                            <a:latin typeface="Cambria Math" panose="02040503050406030204" pitchFamily="18" charset="0"/>
                                          </a:rPr>
                                          <m:t>𝑽</m:t>
                                        </m:r>
                                      </m:e>
                                      <m:sub>
                                        <m:r>
                                          <a:rPr lang="en-US" b="1" i="1" smtClean="0">
                                            <a:solidFill>
                                              <a:srgbClr val="0000CC"/>
                                            </a:solidFill>
                                            <a:latin typeface="Cambria Math" panose="02040503050406030204" pitchFamily="18" charset="0"/>
                                          </a:rPr>
                                          <m:t>𝒎</m:t>
                                        </m:r>
                                      </m:sub>
                                    </m:sSub>
                                    <m:r>
                                      <a:rPr lang="en-US" b="1" i="1" smtClean="0">
                                        <a:solidFill>
                                          <a:srgbClr val="0000CC"/>
                                        </a:solidFill>
                                        <a:latin typeface="Cambria Math" panose="02040503050406030204" pitchFamily="18" charset="0"/>
                                      </a:rPr>
                                      <m:t> </m:t>
                                    </m:r>
                                    <m:r>
                                      <a:rPr lang="en-US" b="1" i="1" smtClean="0">
                                        <a:solidFill>
                                          <a:srgbClr val="0000CC"/>
                                        </a:solidFill>
                                        <a:latin typeface="Cambria Math" panose="02040503050406030204" pitchFamily="18" charset="0"/>
                                      </a:rPr>
                                      <m:t>𝒔𝒊𝒏</m:t>
                                    </m:r>
                                    <m:r>
                                      <a:rPr lang="en-US" b="1" i="1" smtClean="0">
                                        <a:solidFill>
                                          <a:srgbClr val="0000CC"/>
                                        </a:solidFill>
                                        <a:latin typeface="Cambria Math" panose="02040503050406030204" pitchFamily="18" charset="0"/>
                                        <a:ea typeface="Cambria Math" panose="02040503050406030204" pitchFamily="18" charset="0"/>
                                      </a:rPr>
                                      <m:t>𝝎</m:t>
                                    </m:r>
                                    <m:r>
                                      <a:rPr lang="en-US" b="1" i="1" smtClean="0">
                                        <a:solidFill>
                                          <a:srgbClr val="0000CC"/>
                                        </a:solidFill>
                                        <a:latin typeface="Cambria Math" panose="02040503050406030204" pitchFamily="18" charset="0"/>
                                        <a:ea typeface="Cambria Math" panose="02040503050406030204" pitchFamily="18" charset="0"/>
                                      </a:rPr>
                                      <m:t>𝒕</m:t>
                                    </m:r>
                                  </m:e>
                                </m:d>
                              </m:e>
                              <m:sup>
                                <m:r>
                                  <a:rPr lang="en-US" b="1" i="1" smtClean="0">
                                    <a:solidFill>
                                      <a:srgbClr val="0000CC"/>
                                    </a:solidFill>
                                    <a:latin typeface="Cambria Math" panose="02040503050406030204" pitchFamily="18" charset="0"/>
                                  </a:rPr>
                                  <m:t>𝟐</m:t>
                                </m:r>
                              </m:sup>
                            </m:sSup>
                            <m:r>
                              <a:rPr lang="en-US" b="1" i="1" smtClean="0">
                                <a:solidFill>
                                  <a:srgbClr val="0000CC"/>
                                </a:solidFill>
                                <a:latin typeface="Cambria Math" panose="02040503050406030204" pitchFamily="18" charset="0"/>
                              </a:rPr>
                              <m:t>𝒅</m:t>
                            </m:r>
                            <m:d>
                              <m:dPr>
                                <m:ctrlPr>
                                  <a:rPr lang="en-US" b="1" i="1" smtClean="0">
                                    <a:solidFill>
                                      <a:srgbClr val="0000CC"/>
                                    </a:solidFill>
                                    <a:latin typeface="Cambria Math" panose="02040503050406030204" pitchFamily="18" charset="0"/>
                                  </a:rPr>
                                </m:ctrlPr>
                              </m:dPr>
                              <m:e>
                                <m:r>
                                  <a:rPr lang="en-US" b="1" i="1" smtClean="0">
                                    <a:solidFill>
                                      <a:srgbClr val="0000CC"/>
                                    </a:solidFill>
                                    <a:latin typeface="Cambria Math" panose="02040503050406030204" pitchFamily="18" charset="0"/>
                                    <a:ea typeface="Cambria Math" panose="02040503050406030204" pitchFamily="18" charset="0"/>
                                  </a:rPr>
                                  <m:t>𝝎</m:t>
                                </m:r>
                                <m:r>
                                  <a:rPr lang="en-US" b="1" i="1" smtClean="0">
                                    <a:solidFill>
                                      <a:srgbClr val="0000CC"/>
                                    </a:solidFill>
                                    <a:latin typeface="Cambria Math" panose="02040503050406030204" pitchFamily="18" charset="0"/>
                                    <a:ea typeface="Cambria Math" panose="02040503050406030204" pitchFamily="18" charset="0"/>
                                  </a:rPr>
                                  <m:t>𝒕</m:t>
                                </m:r>
                              </m:e>
                            </m:d>
                          </m:e>
                        </m:nary>
                      </m:e>
                    </m:rad>
                  </m:oMath>
                </a14:m>
                <a:endParaRPr lang="en-US" b="1" dirty="0"/>
              </a:p>
            </p:txBody>
          </p:sp>
        </mc:Choice>
        <mc:Fallback xmlns="">
          <p:sp>
            <p:nvSpPr>
              <p:cNvPr id="9" name="TextBox 8">
                <a:extLst>
                  <a:ext uri="{FF2B5EF4-FFF2-40B4-BE49-F238E27FC236}">
                    <a16:creationId xmlns:a16="http://schemas.microsoft.com/office/drawing/2014/main" id="{26135001-38BA-439C-BD55-03E859D97CD8}"/>
                  </a:ext>
                </a:extLst>
              </p:cNvPr>
              <p:cNvSpPr txBox="1">
                <a:spLocks noRot="1" noChangeAspect="1" noMove="1" noResize="1" noEditPoints="1" noAdjustHandles="1" noChangeArrowheads="1" noChangeShapeType="1" noTextEdit="1"/>
              </p:cNvSpPr>
              <p:nvPr/>
            </p:nvSpPr>
            <p:spPr>
              <a:xfrm>
                <a:off x="7441010" y="1734629"/>
                <a:ext cx="3745150" cy="656013"/>
              </a:xfrm>
              <a:prstGeom prst="rect">
                <a:avLst/>
              </a:prstGeom>
              <a:blipFill>
                <a:blip r:embed="rId4"/>
                <a:stretch>
                  <a:fillRect/>
                </a:stretch>
              </a:blipFill>
            </p:spPr>
            <p:txBody>
              <a:bodyPr/>
              <a:lstStyle/>
              <a:p>
                <a:r>
                  <a:rPr lang="en-US">
                    <a:noFill/>
                  </a:rPr>
                  <a:t> </a:t>
                </a:r>
              </a:p>
            </p:txBody>
          </p:sp>
        </mc:Fallback>
      </mc:AlternateContent>
      <p:sp>
        <p:nvSpPr>
          <p:cNvPr id="11" name="TextBox 10">
            <a:extLst>
              <a:ext uri="{FF2B5EF4-FFF2-40B4-BE49-F238E27FC236}">
                <a16:creationId xmlns:a16="http://schemas.microsoft.com/office/drawing/2014/main" id="{F5D24DFB-9617-4D4C-BAC8-30336DAE21E7}"/>
              </a:ext>
            </a:extLst>
          </p:cNvPr>
          <p:cNvSpPr txBox="1"/>
          <p:nvPr/>
        </p:nvSpPr>
        <p:spPr>
          <a:xfrm>
            <a:off x="3831817" y="3146186"/>
            <a:ext cx="1806983" cy="369332"/>
          </a:xfrm>
          <a:prstGeom prst="rect">
            <a:avLst/>
          </a:prstGeom>
          <a:noFill/>
        </p:spPr>
        <p:txBody>
          <a:bodyPr wrap="square" rtlCol="0">
            <a:spAutoFit/>
          </a:bodyPr>
          <a:lstStyle/>
          <a:p>
            <a:r>
              <a:rPr lang="en-US" i="1" dirty="0"/>
              <a:t>(a)  Sine Wave</a:t>
            </a:r>
          </a:p>
        </p:txBody>
      </p:sp>
      <p:pic>
        <p:nvPicPr>
          <p:cNvPr id="13" name="Picture 12">
            <a:extLst>
              <a:ext uri="{FF2B5EF4-FFF2-40B4-BE49-F238E27FC236}">
                <a16:creationId xmlns:a16="http://schemas.microsoft.com/office/drawing/2014/main" id="{746C8F3C-0C0F-4F6E-8392-30FC89E9B05A}"/>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726002" y="3620854"/>
            <a:ext cx="4192213" cy="1447925"/>
          </a:xfrm>
          <a:prstGeom prst="rect">
            <a:avLst/>
          </a:prstGeom>
        </p:spPr>
      </p:pic>
      <p:sp>
        <p:nvSpPr>
          <p:cNvPr id="14" name="TextBox 13">
            <a:extLst>
              <a:ext uri="{FF2B5EF4-FFF2-40B4-BE49-F238E27FC236}">
                <a16:creationId xmlns:a16="http://schemas.microsoft.com/office/drawing/2014/main" id="{B43D509E-1D1E-4003-8B39-75A56754630F}"/>
              </a:ext>
            </a:extLst>
          </p:cNvPr>
          <p:cNvSpPr txBox="1"/>
          <p:nvPr/>
        </p:nvSpPr>
        <p:spPr>
          <a:xfrm>
            <a:off x="5638800" y="2956560"/>
            <a:ext cx="914400" cy="914400"/>
          </a:xfrm>
          <a:prstGeom prst="rect">
            <a:avLst/>
          </a:prstGeom>
          <a:noFill/>
        </p:spPr>
        <p:txBody>
          <a:bodyPr wrap="square" rtlCol="0">
            <a:spAutoFit/>
          </a:bodyPr>
          <a:lstStyle/>
          <a:p>
            <a:endParaRPr lang="en-US" dirty="0"/>
          </a:p>
        </p:txBody>
      </p:sp>
      <p:sp>
        <p:nvSpPr>
          <p:cNvPr id="15" name="TextBox 14">
            <a:extLst>
              <a:ext uri="{FF2B5EF4-FFF2-40B4-BE49-F238E27FC236}">
                <a16:creationId xmlns:a16="http://schemas.microsoft.com/office/drawing/2014/main" id="{B4609E84-4215-4C79-B4DB-93D75B7DC666}"/>
              </a:ext>
            </a:extLst>
          </p:cNvPr>
          <p:cNvSpPr txBox="1"/>
          <p:nvPr/>
        </p:nvSpPr>
        <p:spPr>
          <a:xfrm>
            <a:off x="3314622" y="4627916"/>
            <a:ext cx="3180080" cy="369332"/>
          </a:xfrm>
          <a:prstGeom prst="rect">
            <a:avLst/>
          </a:prstGeom>
          <a:noFill/>
        </p:spPr>
        <p:txBody>
          <a:bodyPr wrap="square" rtlCol="0">
            <a:spAutoFit/>
          </a:bodyPr>
          <a:lstStyle/>
          <a:p>
            <a:r>
              <a:rPr lang="en-US" i="1" dirty="0"/>
              <a:t>(b) Full-wave rectified sine wave</a:t>
            </a:r>
          </a:p>
        </p:txBody>
      </p:sp>
      <p:pic>
        <p:nvPicPr>
          <p:cNvPr id="17" name="Picture 16">
            <a:extLst>
              <a:ext uri="{FF2B5EF4-FFF2-40B4-BE49-F238E27FC236}">
                <a16:creationId xmlns:a16="http://schemas.microsoft.com/office/drawing/2014/main" id="{AE08E49B-E241-4EE5-BDE7-291620C2E82F}"/>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2808555" y="5174115"/>
            <a:ext cx="4027108" cy="1470787"/>
          </a:xfrm>
          <a:prstGeom prst="rect">
            <a:avLst/>
          </a:prstGeom>
        </p:spPr>
      </p:pic>
      <p:sp>
        <p:nvSpPr>
          <p:cNvPr id="18" name="TextBox 17">
            <a:extLst>
              <a:ext uri="{FF2B5EF4-FFF2-40B4-BE49-F238E27FC236}">
                <a16:creationId xmlns:a16="http://schemas.microsoft.com/office/drawing/2014/main" id="{2DA140AD-01E3-431F-8987-B425C443D9BA}"/>
              </a:ext>
            </a:extLst>
          </p:cNvPr>
          <p:cNvSpPr txBox="1"/>
          <p:nvPr/>
        </p:nvSpPr>
        <p:spPr>
          <a:xfrm>
            <a:off x="3234875" y="6241123"/>
            <a:ext cx="3339574" cy="369332"/>
          </a:xfrm>
          <a:prstGeom prst="rect">
            <a:avLst/>
          </a:prstGeom>
          <a:noFill/>
        </p:spPr>
        <p:txBody>
          <a:bodyPr wrap="square" rtlCol="0">
            <a:spAutoFit/>
          </a:bodyPr>
          <a:lstStyle/>
          <a:p>
            <a:r>
              <a:rPr lang="en-US" i="1" dirty="0"/>
              <a:t>(c) Half-wave rectified sine wave</a:t>
            </a:r>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CBEBA3A5-856D-4B8A-9AE2-3B6F939D137A}"/>
                  </a:ext>
                </a:extLst>
              </p:cNvPr>
              <p:cNvSpPr txBox="1"/>
              <p:nvPr/>
            </p:nvSpPr>
            <p:spPr>
              <a:xfrm>
                <a:off x="8354161" y="4887439"/>
                <a:ext cx="2132256" cy="656013"/>
              </a:xfrm>
              <a:prstGeom prst="rect">
                <a:avLst/>
              </a:prstGeom>
              <a:solidFill>
                <a:srgbClr val="00FFFF"/>
              </a:solidFill>
            </p:spPr>
            <p:txBody>
              <a:bodyPr wrap="square" rtlCol="0">
                <a:spAutoFit/>
              </a:bodyPr>
              <a:lstStyle/>
              <a:p>
                <a14:m>
                  <m:oMath xmlns:m="http://schemas.openxmlformats.org/officeDocument/2006/math">
                    <m:sSub>
                      <m:sSubPr>
                        <m:ctrlPr>
                          <a:rPr lang="en-US" b="1" i="1" smtClean="0">
                            <a:solidFill>
                              <a:srgbClr val="0000CC"/>
                            </a:solidFill>
                            <a:latin typeface="Cambria Math" panose="02040503050406030204" pitchFamily="18" charset="0"/>
                          </a:rPr>
                        </m:ctrlPr>
                      </m:sSubPr>
                      <m:e>
                        <m:r>
                          <a:rPr lang="en-US" b="1" i="1" smtClean="0">
                            <a:solidFill>
                              <a:srgbClr val="0000CC"/>
                            </a:solidFill>
                            <a:latin typeface="Cambria Math" panose="02040503050406030204" pitchFamily="18" charset="0"/>
                          </a:rPr>
                          <m:t>𝑽</m:t>
                        </m:r>
                      </m:e>
                      <m:sub>
                        <m:r>
                          <a:rPr lang="en-US" b="1" i="1" smtClean="0">
                            <a:solidFill>
                              <a:srgbClr val="0000CC"/>
                            </a:solidFill>
                            <a:latin typeface="Cambria Math" panose="02040503050406030204" pitchFamily="18" charset="0"/>
                          </a:rPr>
                          <m:t>𝒓𝒎𝒔</m:t>
                        </m:r>
                      </m:sub>
                    </m:sSub>
                  </m:oMath>
                </a14:m>
                <a:r>
                  <a:rPr lang="en-US" b="1" dirty="0">
                    <a:solidFill>
                      <a:srgbClr val="0000CC"/>
                    </a:solidFill>
                  </a:rPr>
                  <a:t> = </a:t>
                </a:r>
                <a14:m>
                  <m:oMath xmlns:m="http://schemas.openxmlformats.org/officeDocument/2006/math">
                    <m:rad>
                      <m:radPr>
                        <m:degHide m:val="on"/>
                        <m:ctrlPr>
                          <a:rPr lang="en-US" b="1" i="1" smtClean="0">
                            <a:solidFill>
                              <a:srgbClr val="0000CC"/>
                            </a:solidFill>
                            <a:latin typeface="Cambria Math" panose="02040503050406030204" pitchFamily="18" charset="0"/>
                          </a:rPr>
                        </m:ctrlPr>
                      </m:radPr>
                      <m:deg/>
                      <m:e>
                        <m:f>
                          <m:fPr>
                            <m:ctrlPr>
                              <a:rPr lang="en-US" b="1" i="1" smtClean="0">
                                <a:solidFill>
                                  <a:srgbClr val="0000CC"/>
                                </a:solidFill>
                                <a:latin typeface="Cambria Math" panose="02040503050406030204" pitchFamily="18" charset="0"/>
                              </a:rPr>
                            </m:ctrlPr>
                          </m:fPr>
                          <m:num>
                            <m:r>
                              <a:rPr lang="en-US" b="1" i="1" smtClean="0">
                                <a:solidFill>
                                  <a:srgbClr val="0000CC"/>
                                </a:solidFill>
                                <a:latin typeface="Cambria Math" panose="02040503050406030204" pitchFamily="18" charset="0"/>
                              </a:rPr>
                              <m:t>𝟏</m:t>
                            </m:r>
                          </m:num>
                          <m:den>
                            <m:r>
                              <a:rPr lang="en-US" b="1" i="1" smtClean="0">
                                <a:solidFill>
                                  <a:srgbClr val="0000CC"/>
                                </a:solidFill>
                                <a:latin typeface="Cambria Math" panose="02040503050406030204" pitchFamily="18" charset="0"/>
                              </a:rPr>
                              <m:t>𝟐</m:t>
                            </m:r>
                          </m:den>
                        </m:f>
                      </m:e>
                    </m:rad>
                  </m:oMath>
                </a14:m>
                <a:r>
                  <a:rPr lang="en-US" b="1" dirty="0">
                    <a:solidFill>
                      <a:srgbClr val="0000CC"/>
                    </a:solidFill>
                  </a:rPr>
                  <a:t> </a:t>
                </a:r>
                <a14:m>
                  <m:oMath xmlns:m="http://schemas.openxmlformats.org/officeDocument/2006/math">
                    <m:f>
                      <m:fPr>
                        <m:ctrlPr>
                          <a:rPr lang="en-US" b="1" i="1" dirty="0" smtClean="0">
                            <a:solidFill>
                              <a:srgbClr val="0000CC"/>
                            </a:solidFill>
                            <a:latin typeface="Cambria Math" panose="02040503050406030204" pitchFamily="18" charset="0"/>
                          </a:rPr>
                        </m:ctrlPr>
                      </m:fPr>
                      <m:num>
                        <m:sSub>
                          <m:sSubPr>
                            <m:ctrlPr>
                              <a:rPr lang="en-US" b="1" i="1" dirty="0" smtClean="0">
                                <a:solidFill>
                                  <a:srgbClr val="0000CC"/>
                                </a:solidFill>
                                <a:latin typeface="Cambria Math" panose="02040503050406030204" pitchFamily="18" charset="0"/>
                              </a:rPr>
                            </m:ctrlPr>
                          </m:sSubPr>
                          <m:e>
                            <m:r>
                              <a:rPr lang="en-US" b="1" i="1" dirty="0" smtClean="0">
                                <a:solidFill>
                                  <a:srgbClr val="0000CC"/>
                                </a:solidFill>
                                <a:latin typeface="Cambria Math" panose="02040503050406030204" pitchFamily="18" charset="0"/>
                              </a:rPr>
                              <m:t>𝑽</m:t>
                            </m:r>
                          </m:e>
                          <m:sub>
                            <m:r>
                              <a:rPr lang="en-US" b="1" i="1" dirty="0" smtClean="0">
                                <a:solidFill>
                                  <a:srgbClr val="0000CC"/>
                                </a:solidFill>
                                <a:latin typeface="Cambria Math" panose="02040503050406030204" pitchFamily="18" charset="0"/>
                              </a:rPr>
                              <m:t>𝒎</m:t>
                            </m:r>
                          </m:sub>
                        </m:sSub>
                      </m:num>
                      <m:den>
                        <m:rad>
                          <m:radPr>
                            <m:degHide m:val="on"/>
                            <m:ctrlPr>
                              <a:rPr lang="en-US" b="1" i="1" dirty="0" smtClean="0">
                                <a:solidFill>
                                  <a:srgbClr val="0000CC"/>
                                </a:solidFill>
                                <a:latin typeface="Cambria Math" panose="02040503050406030204" pitchFamily="18" charset="0"/>
                              </a:rPr>
                            </m:ctrlPr>
                          </m:radPr>
                          <m:deg/>
                          <m:e>
                            <m:r>
                              <a:rPr lang="en-US" b="1" i="1" dirty="0" smtClean="0">
                                <a:solidFill>
                                  <a:srgbClr val="0000CC"/>
                                </a:solidFill>
                                <a:latin typeface="Cambria Math" panose="02040503050406030204" pitchFamily="18" charset="0"/>
                              </a:rPr>
                              <m:t>𝟐</m:t>
                            </m:r>
                          </m:e>
                        </m:rad>
                      </m:den>
                    </m:f>
                  </m:oMath>
                </a14:m>
                <a:r>
                  <a:rPr lang="en-US" b="1" dirty="0">
                    <a:solidFill>
                      <a:srgbClr val="0000CC"/>
                    </a:solidFill>
                  </a:rPr>
                  <a:t> = </a:t>
                </a:r>
                <a14:m>
                  <m:oMath xmlns:m="http://schemas.openxmlformats.org/officeDocument/2006/math">
                    <m:f>
                      <m:fPr>
                        <m:ctrlPr>
                          <a:rPr lang="en-US" b="1" i="1" dirty="0" smtClean="0">
                            <a:solidFill>
                              <a:srgbClr val="0000CC"/>
                            </a:solidFill>
                            <a:latin typeface="Cambria Math" panose="02040503050406030204" pitchFamily="18" charset="0"/>
                          </a:rPr>
                        </m:ctrlPr>
                      </m:fPr>
                      <m:num>
                        <m:sSub>
                          <m:sSubPr>
                            <m:ctrlPr>
                              <a:rPr lang="en-US" b="1" i="1" dirty="0" smtClean="0">
                                <a:solidFill>
                                  <a:srgbClr val="0000CC"/>
                                </a:solidFill>
                                <a:latin typeface="Cambria Math" panose="02040503050406030204" pitchFamily="18" charset="0"/>
                              </a:rPr>
                            </m:ctrlPr>
                          </m:sSubPr>
                          <m:e>
                            <m:r>
                              <a:rPr lang="en-US" b="1" i="1" dirty="0" smtClean="0">
                                <a:solidFill>
                                  <a:srgbClr val="0000CC"/>
                                </a:solidFill>
                                <a:latin typeface="Cambria Math" panose="02040503050406030204" pitchFamily="18" charset="0"/>
                              </a:rPr>
                              <m:t>𝑽</m:t>
                            </m:r>
                          </m:e>
                          <m:sub>
                            <m:r>
                              <a:rPr lang="en-US" b="1" i="1" dirty="0" smtClean="0">
                                <a:solidFill>
                                  <a:srgbClr val="0000CC"/>
                                </a:solidFill>
                                <a:latin typeface="Cambria Math" panose="02040503050406030204" pitchFamily="18" charset="0"/>
                              </a:rPr>
                              <m:t>𝒎</m:t>
                            </m:r>
                          </m:sub>
                        </m:sSub>
                      </m:num>
                      <m:den>
                        <m:r>
                          <a:rPr lang="en-US" b="1" i="1" dirty="0" smtClean="0">
                            <a:solidFill>
                              <a:srgbClr val="0000CC"/>
                            </a:solidFill>
                            <a:latin typeface="Cambria Math" panose="02040503050406030204" pitchFamily="18" charset="0"/>
                          </a:rPr>
                          <m:t>𝟐</m:t>
                        </m:r>
                      </m:den>
                    </m:f>
                  </m:oMath>
                </a14:m>
                <a:endParaRPr lang="en-US" b="1" dirty="0"/>
              </a:p>
            </p:txBody>
          </p:sp>
        </mc:Choice>
        <mc:Fallback xmlns="">
          <p:sp>
            <p:nvSpPr>
              <p:cNvPr id="2" name="TextBox 1">
                <a:extLst>
                  <a:ext uri="{FF2B5EF4-FFF2-40B4-BE49-F238E27FC236}">
                    <a16:creationId xmlns:a16="http://schemas.microsoft.com/office/drawing/2014/main" id="{CBEBA3A5-856D-4B8A-9AE2-3B6F939D137A}"/>
                  </a:ext>
                </a:extLst>
              </p:cNvPr>
              <p:cNvSpPr txBox="1">
                <a:spLocks noRot="1" noChangeAspect="1" noMove="1" noResize="1" noEditPoints="1" noAdjustHandles="1" noChangeArrowheads="1" noChangeShapeType="1" noTextEdit="1"/>
              </p:cNvSpPr>
              <p:nvPr/>
            </p:nvSpPr>
            <p:spPr>
              <a:xfrm>
                <a:off x="8354161" y="4887439"/>
                <a:ext cx="2132256" cy="656013"/>
              </a:xfrm>
              <a:prstGeom prst="rect">
                <a:avLst/>
              </a:prstGeom>
              <a:blipFill>
                <a:blip r:embed="rId7"/>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180142626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6">
            <a:extLst>
              <a:ext uri="{FF2B5EF4-FFF2-40B4-BE49-F238E27FC236}">
                <a16:creationId xmlns:a16="http://schemas.microsoft.com/office/drawing/2014/main" id="{56080804-F19F-41A7-8595-943961648C5E}"/>
              </a:ext>
            </a:extLst>
          </p:cNvPr>
          <p:cNvSpPr>
            <a:spLocks noGrp="1"/>
          </p:cNvSpPr>
          <p:nvPr>
            <p:ph type="sldNum" sz="quarter" idx="12"/>
          </p:nvPr>
        </p:nvSpPr>
        <p:spPr>
          <a:xfrm>
            <a:off x="8610600" y="6441692"/>
            <a:ext cx="2743200" cy="370027"/>
          </a:xfrm>
        </p:spPr>
        <p:txBody>
          <a:bodyPr/>
          <a:lstStyle/>
          <a:p>
            <a:fld id="{F4801FD5-11B4-DE43-ACA2-E85EEB9A6F9C}" type="slidenum">
              <a:rPr lang="en-US" smtClean="0">
                <a:latin typeface="Garamond" panose="02020404030301010803" pitchFamily="18" charset="0"/>
              </a:rPr>
              <a:t>21</a:t>
            </a:fld>
            <a:endParaRPr lang="en-US">
              <a:latin typeface="Garamond" panose="02020404030301010803" pitchFamily="18" charset="0"/>
            </a:endParaRPr>
          </a:p>
        </p:txBody>
      </p:sp>
      <p:sp>
        <p:nvSpPr>
          <p:cNvPr id="5" name="Title 1">
            <a:extLst>
              <a:ext uri="{FF2B5EF4-FFF2-40B4-BE49-F238E27FC236}">
                <a16:creationId xmlns:a16="http://schemas.microsoft.com/office/drawing/2014/main" id="{4710AE4B-0DB8-4451-B9E4-10BAE11B4D3A}"/>
              </a:ext>
            </a:extLst>
          </p:cNvPr>
          <p:cNvSpPr>
            <a:spLocks noGrp="1"/>
          </p:cNvSpPr>
          <p:nvPr>
            <p:ph type="title"/>
          </p:nvPr>
        </p:nvSpPr>
        <p:spPr>
          <a:xfrm>
            <a:off x="2135945" y="50021"/>
            <a:ext cx="8194830" cy="558382"/>
          </a:xfrm>
        </p:spPr>
        <p:txBody>
          <a:bodyPr>
            <a:noAutofit/>
          </a:bodyPr>
          <a:lstStyle/>
          <a:p>
            <a:pPr algn="ctr"/>
            <a:r>
              <a:rPr lang="en-US" sz="3200" b="1" u="sng" dirty="0">
                <a:solidFill>
                  <a:srgbClr val="FF3386"/>
                </a:solidFill>
                <a:latin typeface="Century Gothic" panose="020B0502020202020204" pitchFamily="34" charset="0"/>
                <a:cs typeface="Helvetica"/>
              </a:rPr>
              <a:t>APPARENT POWER AND POWER FACTOR</a:t>
            </a:r>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6BAA1F11-5BEF-4D80-964F-A7332E36BFA0}"/>
                  </a:ext>
                </a:extLst>
              </p:cNvPr>
              <p:cNvSpPr txBox="1"/>
              <p:nvPr/>
            </p:nvSpPr>
            <p:spPr>
              <a:xfrm>
                <a:off x="101601" y="741130"/>
                <a:ext cx="11912170" cy="6001643"/>
              </a:xfrm>
              <a:prstGeom prst="rect">
                <a:avLst/>
              </a:prstGeom>
              <a:noFill/>
              <a:ln>
                <a:solidFill>
                  <a:srgbClr val="FF0066"/>
                </a:solidFill>
              </a:ln>
            </p:spPr>
            <p:txBody>
              <a:bodyPr wrap="square" rtlCol="0">
                <a:spAutoFit/>
              </a:bodyPr>
              <a:lstStyle/>
              <a:p>
                <a:pPr marL="457200" indent="-457200">
                  <a:buClr>
                    <a:schemeClr val="accent2"/>
                  </a:buClr>
                  <a:buFont typeface="Wingdings" panose="05000000000000000000" pitchFamily="2" charset="2"/>
                  <a:buChar char="v"/>
                </a:pPr>
                <a:r>
                  <a:rPr lang="en-GB" sz="2400" b="1" dirty="0">
                    <a:latin typeface="Century Gothic" panose="020B0502020202020204" pitchFamily="34" charset="0"/>
                  </a:rPr>
                  <a:t> </a:t>
                </a:r>
                <a:r>
                  <a:rPr lang="en-GB" sz="2400" b="1" dirty="0">
                    <a:solidFill>
                      <a:srgbClr val="0000CC"/>
                    </a:solidFill>
                    <a:latin typeface="Century Gothic" panose="020B0502020202020204" pitchFamily="34" charset="0"/>
                  </a:rPr>
                  <a:t>Apparent Power is the product of the rms voltage and rms current magnitude. Apparent Power is given by	</a:t>
                </a:r>
              </a:p>
              <a:p>
                <a:pPr>
                  <a:buClr>
                    <a:schemeClr val="accent2"/>
                  </a:buClr>
                </a:pPr>
                <a:endParaRPr lang="en-GB" sz="2400" b="1" dirty="0">
                  <a:solidFill>
                    <a:srgbClr val="0000CC"/>
                  </a:solidFill>
                  <a:latin typeface="Century Gothic" panose="020B0502020202020204" pitchFamily="34" charset="0"/>
                </a:endParaRPr>
              </a:p>
              <a:p>
                <a:pPr>
                  <a:buClr>
                    <a:schemeClr val="accent2"/>
                  </a:buClr>
                </a:pPr>
                <a:r>
                  <a:rPr lang="en-GB" sz="2400" b="1" dirty="0">
                    <a:solidFill>
                      <a:srgbClr val="0000CC"/>
                    </a:solidFill>
                    <a:latin typeface="Century Gothic" panose="020B0502020202020204" pitchFamily="34" charset="0"/>
                  </a:rPr>
                  <a:t>				</a:t>
                </a:r>
                <a:endParaRPr lang="en-GB" sz="2400" kern="100" dirty="0">
                  <a:latin typeface="Century Gothic" panose="020B0502020202020204" pitchFamily="34" charset="0"/>
                  <a:ea typeface="Calibri" panose="020F0502020204030204" pitchFamily="34" charset="0"/>
                  <a:cs typeface="Times New Roman" panose="02020603050405020304" pitchFamily="18" charset="0"/>
                </a:endParaRPr>
              </a:p>
              <a:p>
                <a:pPr>
                  <a:buClr>
                    <a:schemeClr val="accent2"/>
                  </a:buClr>
                </a:pPr>
                <a:r>
                  <a:rPr lang="en-GB" sz="2400" kern="100" dirty="0">
                    <a:latin typeface="Century Gothic" panose="020B0502020202020204" pitchFamily="34" charset="0"/>
                    <a:ea typeface="Calibri" panose="020F0502020204030204" pitchFamily="34" charset="0"/>
                    <a:cs typeface="Times New Roman" panose="02020603050405020304" pitchFamily="18" charset="0"/>
                  </a:rPr>
                  <a:t>							</a:t>
                </a:r>
              </a:p>
              <a:p>
                <a:pPr>
                  <a:buClr>
                    <a:schemeClr val="accent2"/>
                  </a:buClr>
                </a:pPr>
                <a:endParaRPr lang="en-GB" sz="2400" kern="100" dirty="0">
                  <a:latin typeface="Century Gothic" panose="020B0502020202020204" pitchFamily="34" charset="0"/>
                  <a:ea typeface="Calibri" panose="020F0502020204030204" pitchFamily="34" charset="0"/>
                  <a:cs typeface="Times New Roman" panose="02020603050405020304" pitchFamily="18" charset="0"/>
                </a:endParaRPr>
              </a:p>
              <a:p>
                <a:pPr marL="342900" indent="-342900">
                  <a:buClr>
                    <a:schemeClr val="accent2"/>
                  </a:buClr>
                  <a:buFont typeface="Wingdings" panose="05000000000000000000" pitchFamily="2" charset="2"/>
                  <a:buChar char="v"/>
                </a:pPr>
                <a:r>
                  <a:rPr lang="en-GB" sz="2400" kern="100" dirty="0">
                    <a:latin typeface="Century Gothic" panose="020B0502020202020204" pitchFamily="34" charset="0"/>
                    <a:ea typeface="Calibri" panose="020F0502020204030204" pitchFamily="34" charset="0"/>
                    <a:cs typeface="Times New Roman" panose="02020603050405020304" pitchFamily="18" charset="0"/>
                  </a:rPr>
                  <a:t>   </a:t>
                </a:r>
                <a:r>
                  <a:rPr lang="en-GB" sz="2400" b="1" kern="100" dirty="0">
                    <a:solidFill>
                      <a:srgbClr val="0000CC"/>
                    </a:solidFill>
                    <a:latin typeface="Century Gothic" panose="020B0502020202020204" pitchFamily="34" charset="0"/>
                    <a:ea typeface="Calibri" panose="020F0502020204030204" pitchFamily="34" charset="0"/>
                    <a:cs typeface="Times New Roman" panose="02020603050405020304" pitchFamily="18" charset="0"/>
                  </a:rPr>
                  <a:t>The</a:t>
                </a:r>
                <a:r>
                  <a:rPr lang="en-GB" sz="2400" kern="100" dirty="0">
                    <a:latin typeface="Century Gothic" panose="020B0502020202020204" pitchFamily="34" charset="0"/>
                    <a:ea typeface="Calibri" panose="020F0502020204030204" pitchFamily="34" charset="0"/>
                    <a:cs typeface="Times New Roman" panose="02020603050405020304" pitchFamily="18" charset="0"/>
                  </a:rPr>
                  <a:t> </a:t>
                </a:r>
                <a:r>
                  <a:rPr lang="en-GB" sz="2400" b="1" kern="100" dirty="0">
                    <a:solidFill>
                      <a:srgbClr val="0000CC"/>
                    </a:solidFill>
                    <a:latin typeface="Century Gothic" panose="020B0502020202020204" pitchFamily="34" charset="0"/>
                    <a:ea typeface="Calibri" panose="020F0502020204030204" pitchFamily="34" charset="0"/>
                    <a:cs typeface="Times New Roman" panose="02020603050405020304" pitchFamily="18" charset="0"/>
                  </a:rPr>
                  <a:t>power factor of a load is defined as the ratio of average power to apparent power:</a:t>
                </a:r>
              </a:p>
              <a:p>
                <a:pPr>
                  <a:buClr>
                    <a:schemeClr val="accent2"/>
                  </a:buClr>
                </a:pPr>
                <a:r>
                  <a:rPr lang="en-GB" sz="2400" b="1" kern="100" dirty="0">
                    <a:solidFill>
                      <a:srgbClr val="0000CC"/>
                    </a:solidFill>
                    <a:latin typeface="Century Gothic" panose="020B0502020202020204" pitchFamily="34" charset="0"/>
                    <a:ea typeface="Calibri" panose="020F0502020204030204" pitchFamily="34" charset="0"/>
                    <a:cs typeface="Times New Roman" panose="02020603050405020304" pitchFamily="18" charset="0"/>
                  </a:rPr>
                  <a:t>							 </a:t>
                </a:r>
                <a:endParaRPr lang="en-GB" sz="2400" kern="100" dirty="0">
                  <a:latin typeface="Century Gothic" panose="020B0502020202020204" pitchFamily="34" charset="0"/>
                  <a:ea typeface="Calibri" panose="020F0502020204030204" pitchFamily="34" charset="0"/>
                  <a:cs typeface="Times New Roman" panose="02020603050405020304" pitchFamily="18" charset="0"/>
                </a:endParaRPr>
              </a:p>
              <a:p>
                <a:pPr>
                  <a:buClr>
                    <a:schemeClr val="accent2"/>
                  </a:buClr>
                </a:pPr>
                <a:endParaRPr lang="en-GB" sz="2400" kern="100" dirty="0">
                  <a:latin typeface="Century Gothic" panose="020B0502020202020204" pitchFamily="34" charset="0"/>
                  <a:ea typeface="Calibri" panose="020F0502020204030204" pitchFamily="34" charset="0"/>
                  <a:cs typeface="Times New Roman" panose="02020603050405020304" pitchFamily="18" charset="0"/>
                </a:endParaRPr>
              </a:p>
              <a:p>
                <a:pPr>
                  <a:buClr>
                    <a:schemeClr val="accent2"/>
                  </a:buClr>
                </a:pPr>
                <a:endParaRPr lang="en-GB" sz="2400" kern="100" dirty="0">
                  <a:latin typeface="Century Gothic" panose="020B0502020202020204" pitchFamily="34" charset="0"/>
                  <a:ea typeface="Calibri" panose="020F0502020204030204" pitchFamily="34" charset="0"/>
                  <a:cs typeface="Times New Roman" panose="02020603050405020304" pitchFamily="18" charset="0"/>
                </a:endParaRPr>
              </a:p>
              <a:p>
                <a:pPr>
                  <a:buClr>
                    <a:schemeClr val="accent2"/>
                  </a:buClr>
                </a:pPr>
                <a:r>
                  <a:rPr lang="en-GB" sz="2400" kern="100" dirty="0">
                    <a:latin typeface="Century Gothic" panose="020B0502020202020204" pitchFamily="34" charset="0"/>
                    <a:ea typeface="Calibri" panose="020F0502020204030204" pitchFamily="34" charset="0"/>
                    <a:cs typeface="Times New Roman" panose="02020603050405020304" pitchFamily="18" charset="0"/>
                  </a:rPr>
                  <a:t>     </a:t>
                </a:r>
                <a:r>
                  <a:rPr lang="en-GB" sz="2400" b="1" i="1" kern="100" dirty="0">
                    <a:solidFill>
                      <a:srgbClr val="009750"/>
                    </a:solidFill>
                    <a:latin typeface="Century Gothic" panose="020B0502020202020204" pitchFamily="34" charset="0"/>
                    <a:ea typeface="Calibri" panose="020F0502020204030204" pitchFamily="34" charset="0"/>
                    <a:cs typeface="Times New Roman" panose="02020603050405020304" pitchFamily="18" charset="0"/>
                  </a:rPr>
                  <a:t>Note : In sinusoidal ac circuit pf= </a:t>
                </a:r>
                <a14:m>
                  <m:oMath xmlns:m="http://schemas.openxmlformats.org/officeDocument/2006/math">
                    <m:func>
                      <m:funcPr>
                        <m:ctrlPr>
                          <a:rPr lang="en-GB" sz="2400" b="1" i="1" kern="100" smtClean="0">
                            <a:solidFill>
                              <a:srgbClr val="009750"/>
                            </a:solidFill>
                            <a:latin typeface="Cambria Math" panose="02040503050406030204" pitchFamily="18" charset="0"/>
                            <a:ea typeface="Calibri" panose="020F0502020204030204" pitchFamily="34" charset="0"/>
                            <a:cs typeface="Times New Roman" panose="02020603050405020304" pitchFamily="18" charset="0"/>
                          </a:rPr>
                        </m:ctrlPr>
                      </m:funcPr>
                      <m:fName>
                        <m:r>
                          <a:rPr lang="en-GB" sz="2400" b="1" i="1" kern="100" smtClean="0">
                            <a:solidFill>
                              <a:srgbClr val="009750"/>
                            </a:solidFill>
                            <a:latin typeface="Cambria Math" panose="02040503050406030204" pitchFamily="18" charset="0"/>
                            <a:ea typeface="Calibri" panose="020F0502020204030204" pitchFamily="34" charset="0"/>
                            <a:cs typeface="Times New Roman" panose="02020603050405020304" pitchFamily="18" charset="0"/>
                          </a:rPr>
                          <m:t>𝒄𝒐𝒔</m:t>
                        </m:r>
                      </m:fName>
                      <m:e>
                        <m:r>
                          <a:rPr lang="en-GB" sz="2400" b="1" i="1" kern="100" smtClean="0">
                            <a:solidFill>
                              <a:srgbClr val="009750"/>
                            </a:solidFill>
                            <a:latin typeface="Cambria Math" panose="02040503050406030204" pitchFamily="18" charset="0"/>
                            <a:ea typeface="Cambria Math" panose="02040503050406030204" pitchFamily="18" charset="0"/>
                            <a:cs typeface="Times New Roman" panose="02020603050405020304" pitchFamily="18" charset="0"/>
                          </a:rPr>
                          <m:t>𝜽</m:t>
                        </m:r>
                      </m:e>
                    </m:func>
                  </m:oMath>
                </a14:m>
                <a:r>
                  <a:rPr lang="en-GB" sz="2400" b="1" i="1" kern="100" dirty="0">
                    <a:solidFill>
                      <a:srgbClr val="009750"/>
                    </a:solidFill>
                    <a:latin typeface="Century Gothic" panose="020B0502020202020204" pitchFamily="34" charset="0"/>
                    <a:ea typeface="Calibri" panose="020F0502020204030204" pitchFamily="34" charset="0"/>
                    <a:cs typeface="Times New Roman" panose="02020603050405020304" pitchFamily="18" charset="0"/>
                  </a:rPr>
                  <a:t>, where </a:t>
                </a:r>
                <a14:m>
                  <m:oMath xmlns:m="http://schemas.openxmlformats.org/officeDocument/2006/math">
                    <m:r>
                      <a:rPr lang="en-GB" sz="2400" b="1" i="1" kern="100" smtClean="0">
                        <a:solidFill>
                          <a:srgbClr val="009750"/>
                        </a:solidFill>
                        <a:latin typeface="Cambria Math" panose="02040503050406030204" pitchFamily="18" charset="0"/>
                        <a:ea typeface="Cambria Math" panose="02040503050406030204" pitchFamily="18" charset="0"/>
                        <a:cs typeface="Times New Roman" panose="02020603050405020304" pitchFamily="18" charset="0"/>
                      </a:rPr>
                      <m:t>𝜽</m:t>
                    </m:r>
                  </m:oMath>
                </a14:m>
                <a:r>
                  <a:rPr lang="en-GB" sz="2400" b="1" i="1" kern="100" dirty="0">
                    <a:solidFill>
                      <a:srgbClr val="009750"/>
                    </a:solidFill>
                    <a:latin typeface="Century Gothic" panose="020B0502020202020204" pitchFamily="34" charset="0"/>
                    <a:ea typeface="Calibri" panose="020F0502020204030204" pitchFamily="34" charset="0"/>
                    <a:cs typeface="Times New Roman" panose="02020603050405020304" pitchFamily="18" charset="0"/>
                  </a:rPr>
                  <a:t> is the phase angle between voltage and current sinusoid</a:t>
                </a:r>
                <a:r>
                  <a:rPr lang="en-GB" sz="2400" i="1" kern="100" dirty="0">
                    <a:solidFill>
                      <a:srgbClr val="009750"/>
                    </a:solidFill>
                    <a:latin typeface="Century Gothic" panose="020B0502020202020204" pitchFamily="34" charset="0"/>
                    <a:ea typeface="Calibri" panose="020F0502020204030204" pitchFamily="34" charset="0"/>
                    <a:cs typeface="Times New Roman" panose="02020603050405020304" pitchFamily="18" charset="0"/>
                  </a:rPr>
                  <a:t>. </a:t>
                </a:r>
                <a:r>
                  <a:rPr lang="en-GB" sz="2400" b="1" i="1" kern="100" dirty="0">
                    <a:solidFill>
                      <a:schemeClr val="accent2"/>
                    </a:solidFill>
                    <a:latin typeface="Century Gothic" panose="020B0502020202020204" pitchFamily="34" charset="0"/>
                    <a:ea typeface="Calibri" panose="020F0502020204030204" pitchFamily="34" charset="0"/>
                    <a:cs typeface="Times New Roman" panose="02020603050405020304" pitchFamily="18" charset="0"/>
                  </a:rPr>
                  <a:t>However, that is a special case and should be used only when both voltage and current are sinusoids</a:t>
                </a:r>
                <a:r>
                  <a:rPr lang="en-GB" sz="2400" i="1" kern="100" dirty="0">
                    <a:solidFill>
                      <a:srgbClr val="FF3386"/>
                    </a:solidFill>
                    <a:latin typeface="Century Gothic" panose="020B0502020202020204" pitchFamily="34" charset="0"/>
                    <a:ea typeface="Calibri" panose="020F0502020204030204" pitchFamily="34" charset="0"/>
                    <a:cs typeface="Times New Roman" panose="02020603050405020304" pitchFamily="18" charset="0"/>
                  </a:rPr>
                  <a:t>.</a:t>
                </a:r>
              </a:p>
              <a:p>
                <a:pPr>
                  <a:buClr>
                    <a:schemeClr val="accent2"/>
                  </a:buClr>
                </a:pPr>
                <a:endParaRPr lang="en-GB" sz="2400" kern="100" dirty="0">
                  <a:latin typeface="Century Gothic" panose="020B0502020202020204" pitchFamily="34" charset="0"/>
                  <a:ea typeface="Calibri" panose="020F0502020204030204" pitchFamily="34" charset="0"/>
                  <a:cs typeface="Times New Roman" panose="02020603050405020304" pitchFamily="18" charset="0"/>
                </a:endParaRPr>
              </a:p>
              <a:p>
                <a:pPr>
                  <a:buClr>
                    <a:schemeClr val="accent2"/>
                  </a:buClr>
                </a:pPr>
                <a:endParaRPr lang="en-GB" sz="2400" kern="100" dirty="0">
                  <a:latin typeface="Century Gothic" panose="020B0502020202020204" pitchFamily="34" charset="0"/>
                  <a:ea typeface="Calibri" panose="020F0502020204030204" pitchFamily="34" charset="0"/>
                  <a:cs typeface="Times New Roman" panose="02020603050405020304" pitchFamily="18" charset="0"/>
                </a:endParaRPr>
              </a:p>
            </p:txBody>
          </p:sp>
        </mc:Choice>
        <mc:Fallback xmlns="">
          <p:sp>
            <p:nvSpPr>
              <p:cNvPr id="6" name="TextBox 5">
                <a:extLst>
                  <a:ext uri="{FF2B5EF4-FFF2-40B4-BE49-F238E27FC236}">
                    <a16:creationId xmlns:a16="http://schemas.microsoft.com/office/drawing/2014/main" id="{6BAA1F11-5BEF-4D80-964F-A7332E36BFA0}"/>
                  </a:ext>
                </a:extLst>
              </p:cNvPr>
              <p:cNvSpPr txBox="1">
                <a:spLocks noRot="1" noChangeAspect="1" noMove="1" noResize="1" noEditPoints="1" noAdjustHandles="1" noChangeArrowheads="1" noChangeShapeType="1" noTextEdit="1"/>
              </p:cNvSpPr>
              <p:nvPr/>
            </p:nvSpPr>
            <p:spPr>
              <a:xfrm>
                <a:off x="101601" y="741130"/>
                <a:ext cx="11912170" cy="6001643"/>
              </a:xfrm>
              <a:prstGeom prst="rect">
                <a:avLst/>
              </a:prstGeom>
              <a:blipFill>
                <a:blip r:embed="rId3"/>
                <a:stretch>
                  <a:fillRect l="-767" t="-710" r="-153"/>
                </a:stretch>
              </a:blipFill>
              <a:ln>
                <a:solidFill>
                  <a:srgbClr val="FF0066"/>
                </a:solidFill>
              </a:ln>
            </p:spPr>
            <p:txBody>
              <a:bodyPr/>
              <a:lstStyle/>
              <a:p>
                <a:r>
                  <a:rPr lang="en-US">
                    <a:noFill/>
                  </a:rPr>
                  <a:t> </a:t>
                </a:r>
              </a:p>
            </p:txBody>
          </p:sp>
        </mc:Fallback>
      </mc:AlternateContent>
      <p:sp>
        <p:nvSpPr>
          <p:cNvPr id="7" name="TextBox 6">
            <a:extLst>
              <a:ext uri="{FF2B5EF4-FFF2-40B4-BE49-F238E27FC236}">
                <a16:creationId xmlns:a16="http://schemas.microsoft.com/office/drawing/2014/main" id="{C36AA635-C21F-49F3-BF21-4CBE4C20709B}"/>
              </a:ext>
            </a:extLst>
          </p:cNvPr>
          <p:cNvSpPr txBox="1"/>
          <p:nvPr/>
        </p:nvSpPr>
        <p:spPr>
          <a:xfrm>
            <a:off x="5269122" y="6037275"/>
            <a:ext cx="823314" cy="373051"/>
          </a:xfrm>
          <a:prstGeom prst="rect">
            <a:avLst/>
          </a:prstGeom>
          <a:noFill/>
        </p:spPr>
        <p:txBody>
          <a:bodyPr wrap="square" rtlCol="0">
            <a:spAutoFit/>
          </a:bodyPr>
          <a:lstStyle/>
          <a:p>
            <a:pPr algn="ctr"/>
            <a:endParaRPr lang="en-GB" sz="1824" dirty="0">
              <a:latin typeface="Garamond" panose="02020404030301010803" pitchFamily="18" charset="0"/>
            </a:endParaRPr>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3CB74E78-80FC-4827-AAAE-411E7B4EA51F}"/>
                  </a:ext>
                </a:extLst>
              </p:cNvPr>
              <p:cNvSpPr txBox="1"/>
              <p:nvPr/>
            </p:nvSpPr>
            <p:spPr>
              <a:xfrm>
                <a:off x="1678745" y="1960123"/>
                <a:ext cx="1473017" cy="369332"/>
              </a:xfrm>
              <a:prstGeom prst="rect">
                <a:avLst/>
              </a:prstGeom>
              <a:solidFill>
                <a:srgbClr val="00FFFF"/>
              </a:solidFill>
            </p:spPr>
            <p:txBody>
              <a:bodyPr wrap="square" rtlCol="0">
                <a:spAutoFit/>
              </a:bodyPr>
              <a:lstStyle/>
              <a:p>
                <a:r>
                  <a:rPr lang="en-US" b="1" dirty="0">
                    <a:solidFill>
                      <a:srgbClr val="0000CC"/>
                    </a:solidFill>
                  </a:rPr>
                  <a:t>S = </a:t>
                </a:r>
                <a14:m>
                  <m:oMath xmlns:m="http://schemas.openxmlformats.org/officeDocument/2006/math">
                    <m:sSub>
                      <m:sSubPr>
                        <m:ctrlPr>
                          <a:rPr lang="en-US" b="1" i="1" smtClean="0">
                            <a:solidFill>
                              <a:srgbClr val="0000CC"/>
                            </a:solidFill>
                            <a:latin typeface="Cambria Math" panose="02040503050406030204" pitchFamily="18" charset="0"/>
                          </a:rPr>
                        </m:ctrlPr>
                      </m:sSubPr>
                      <m:e>
                        <m:r>
                          <a:rPr lang="en-US" b="1" i="1" smtClean="0">
                            <a:solidFill>
                              <a:srgbClr val="0000CC"/>
                            </a:solidFill>
                            <a:latin typeface="Cambria Math" panose="02040503050406030204" pitchFamily="18" charset="0"/>
                          </a:rPr>
                          <m:t>𝑽</m:t>
                        </m:r>
                      </m:e>
                      <m:sub>
                        <m:r>
                          <a:rPr lang="en-US" b="1" i="1" smtClean="0">
                            <a:solidFill>
                              <a:srgbClr val="0000CC"/>
                            </a:solidFill>
                            <a:latin typeface="Cambria Math" panose="02040503050406030204" pitchFamily="18" charset="0"/>
                          </a:rPr>
                          <m:t>𝒓𝒎𝒔</m:t>
                        </m:r>
                      </m:sub>
                    </m:sSub>
                    <m:sSub>
                      <m:sSubPr>
                        <m:ctrlPr>
                          <a:rPr lang="en-US" b="1" i="1" smtClean="0">
                            <a:solidFill>
                              <a:srgbClr val="0000CC"/>
                            </a:solidFill>
                            <a:latin typeface="Cambria Math" panose="02040503050406030204" pitchFamily="18" charset="0"/>
                          </a:rPr>
                        </m:ctrlPr>
                      </m:sSubPr>
                      <m:e>
                        <m:r>
                          <a:rPr lang="en-US" b="1" i="1" smtClean="0">
                            <a:solidFill>
                              <a:srgbClr val="0000CC"/>
                            </a:solidFill>
                            <a:latin typeface="Cambria Math" panose="02040503050406030204" pitchFamily="18" charset="0"/>
                          </a:rPr>
                          <m:t>𝑰</m:t>
                        </m:r>
                      </m:e>
                      <m:sub>
                        <m:r>
                          <a:rPr lang="en-US" b="1" i="1" smtClean="0">
                            <a:solidFill>
                              <a:srgbClr val="0000CC"/>
                            </a:solidFill>
                            <a:latin typeface="Cambria Math" panose="02040503050406030204" pitchFamily="18" charset="0"/>
                          </a:rPr>
                          <m:t>𝒓𝒎𝒔</m:t>
                        </m:r>
                      </m:sub>
                    </m:sSub>
                  </m:oMath>
                </a14:m>
                <a:endParaRPr lang="en-US" b="1" dirty="0"/>
              </a:p>
            </p:txBody>
          </p:sp>
        </mc:Choice>
        <mc:Fallback xmlns="">
          <p:sp>
            <p:nvSpPr>
              <p:cNvPr id="2" name="TextBox 1">
                <a:extLst>
                  <a:ext uri="{FF2B5EF4-FFF2-40B4-BE49-F238E27FC236}">
                    <a16:creationId xmlns:a16="http://schemas.microsoft.com/office/drawing/2014/main" id="{3CB74E78-80FC-4827-AAAE-411E7B4EA51F}"/>
                  </a:ext>
                </a:extLst>
              </p:cNvPr>
              <p:cNvSpPr txBox="1">
                <a:spLocks noRot="1" noChangeAspect="1" noMove="1" noResize="1" noEditPoints="1" noAdjustHandles="1" noChangeArrowheads="1" noChangeShapeType="1" noTextEdit="1"/>
              </p:cNvSpPr>
              <p:nvPr/>
            </p:nvSpPr>
            <p:spPr>
              <a:xfrm>
                <a:off x="1678745" y="1960123"/>
                <a:ext cx="1473017" cy="369332"/>
              </a:xfrm>
              <a:prstGeom prst="rect">
                <a:avLst/>
              </a:prstGeom>
              <a:blipFill>
                <a:blip r:embed="rId4"/>
                <a:stretch>
                  <a:fillRect l="-3306" t="-10000" b="-26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4D40CF5D-E30C-4528-B261-E91EA8976B23}"/>
                  </a:ext>
                </a:extLst>
              </p:cNvPr>
              <p:cNvSpPr txBox="1"/>
              <p:nvPr/>
            </p:nvSpPr>
            <p:spPr>
              <a:xfrm>
                <a:off x="3470705" y="3962341"/>
                <a:ext cx="1798417" cy="529569"/>
              </a:xfrm>
              <a:prstGeom prst="rect">
                <a:avLst/>
              </a:prstGeom>
              <a:solidFill>
                <a:srgbClr val="00FFFF"/>
              </a:solidFill>
            </p:spPr>
            <p:txBody>
              <a:bodyPr wrap="square" rtlCol="0">
                <a:spAutoFit/>
              </a:bodyPr>
              <a:lstStyle/>
              <a:p>
                <a:r>
                  <a:rPr lang="en-US" b="1" dirty="0">
                    <a:solidFill>
                      <a:srgbClr val="0000CC"/>
                    </a:solidFill>
                  </a:rPr>
                  <a:t>pf = </a:t>
                </a:r>
                <a14:m>
                  <m:oMath xmlns:m="http://schemas.openxmlformats.org/officeDocument/2006/math">
                    <m:f>
                      <m:fPr>
                        <m:ctrlPr>
                          <a:rPr lang="en-US" b="1" i="1" smtClean="0">
                            <a:solidFill>
                              <a:srgbClr val="0000CC"/>
                            </a:solidFill>
                            <a:latin typeface="Cambria Math" panose="02040503050406030204" pitchFamily="18" charset="0"/>
                          </a:rPr>
                        </m:ctrlPr>
                      </m:fPr>
                      <m:num>
                        <m:r>
                          <a:rPr lang="en-US" b="1" i="1" smtClean="0">
                            <a:solidFill>
                              <a:srgbClr val="0000CC"/>
                            </a:solidFill>
                            <a:latin typeface="Cambria Math" panose="02040503050406030204" pitchFamily="18" charset="0"/>
                          </a:rPr>
                          <m:t>𝑷</m:t>
                        </m:r>
                      </m:num>
                      <m:den>
                        <m:r>
                          <a:rPr lang="en-US" b="1" i="1" smtClean="0">
                            <a:solidFill>
                              <a:srgbClr val="0000CC"/>
                            </a:solidFill>
                            <a:latin typeface="Cambria Math" panose="02040503050406030204" pitchFamily="18" charset="0"/>
                          </a:rPr>
                          <m:t>𝑺</m:t>
                        </m:r>
                      </m:den>
                    </m:f>
                  </m:oMath>
                </a14:m>
                <a:r>
                  <a:rPr lang="en-US" b="1" dirty="0">
                    <a:solidFill>
                      <a:srgbClr val="0000CC"/>
                    </a:solidFill>
                  </a:rPr>
                  <a:t> = </a:t>
                </a:r>
                <a14:m>
                  <m:oMath xmlns:m="http://schemas.openxmlformats.org/officeDocument/2006/math">
                    <m:f>
                      <m:fPr>
                        <m:ctrlPr>
                          <a:rPr lang="en-US" b="1" i="1" smtClean="0">
                            <a:solidFill>
                              <a:srgbClr val="0000CC"/>
                            </a:solidFill>
                            <a:latin typeface="Cambria Math" panose="02040503050406030204" pitchFamily="18" charset="0"/>
                          </a:rPr>
                        </m:ctrlPr>
                      </m:fPr>
                      <m:num>
                        <m:r>
                          <a:rPr lang="en-US" b="1" i="1" smtClean="0">
                            <a:solidFill>
                              <a:srgbClr val="0000CC"/>
                            </a:solidFill>
                            <a:latin typeface="Cambria Math" panose="02040503050406030204" pitchFamily="18" charset="0"/>
                          </a:rPr>
                          <m:t>𝑷</m:t>
                        </m:r>
                      </m:num>
                      <m:den>
                        <m:sSub>
                          <m:sSubPr>
                            <m:ctrlPr>
                              <a:rPr lang="en-US" b="1" i="1" smtClean="0">
                                <a:solidFill>
                                  <a:srgbClr val="0000CC"/>
                                </a:solidFill>
                                <a:latin typeface="Cambria Math" panose="02040503050406030204" pitchFamily="18" charset="0"/>
                              </a:rPr>
                            </m:ctrlPr>
                          </m:sSubPr>
                          <m:e>
                            <m:r>
                              <a:rPr lang="en-US" b="1" i="1" smtClean="0">
                                <a:solidFill>
                                  <a:srgbClr val="0000CC"/>
                                </a:solidFill>
                                <a:latin typeface="Cambria Math" panose="02040503050406030204" pitchFamily="18" charset="0"/>
                              </a:rPr>
                              <m:t>𝑽</m:t>
                            </m:r>
                          </m:e>
                          <m:sub>
                            <m:r>
                              <a:rPr lang="en-US" b="1" i="1" smtClean="0">
                                <a:solidFill>
                                  <a:srgbClr val="0000CC"/>
                                </a:solidFill>
                                <a:latin typeface="Cambria Math" panose="02040503050406030204" pitchFamily="18" charset="0"/>
                              </a:rPr>
                              <m:t>𝒓𝒎𝒔</m:t>
                            </m:r>
                          </m:sub>
                        </m:sSub>
                        <m:sSub>
                          <m:sSubPr>
                            <m:ctrlPr>
                              <a:rPr lang="en-US" b="1" i="1" smtClean="0">
                                <a:solidFill>
                                  <a:srgbClr val="0000CC"/>
                                </a:solidFill>
                                <a:latin typeface="Cambria Math" panose="02040503050406030204" pitchFamily="18" charset="0"/>
                              </a:rPr>
                            </m:ctrlPr>
                          </m:sSubPr>
                          <m:e>
                            <m:r>
                              <a:rPr lang="en-US" b="1" i="1" smtClean="0">
                                <a:solidFill>
                                  <a:srgbClr val="0000CC"/>
                                </a:solidFill>
                                <a:latin typeface="Cambria Math" panose="02040503050406030204" pitchFamily="18" charset="0"/>
                              </a:rPr>
                              <m:t>𝑰</m:t>
                            </m:r>
                          </m:e>
                          <m:sub>
                            <m:r>
                              <a:rPr lang="en-US" b="1" i="1" smtClean="0">
                                <a:solidFill>
                                  <a:srgbClr val="0000CC"/>
                                </a:solidFill>
                                <a:latin typeface="Cambria Math" panose="02040503050406030204" pitchFamily="18" charset="0"/>
                              </a:rPr>
                              <m:t>𝒓𝒎𝒔</m:t>
                            </m:r>
                          </m:sub>
                        </m:sSub>
                      </m:den>
                    </m:f>
                  </m:oMath>
                </a14:m>
                <a:endParaRPr lang="en-US" b="1" dirty="0"/>
              </a:p>
            </p:txBody>
          </p:sp>
        </mc:Choice>
        <mc:Fallback xmlns="">
          <p:sp>
            <p:nvSpPr>
              <p:cNvPr id="8" name="TextBox 7">
                <a:extLst>
                  <a:ext uri="{FF2B5EF4-FFF2-40B4-BE49-F238E27FC236}">
                    <a16:creationId xmlns:a16="http://schemas.microsoft.com/office/drawing/2014/main" id="{4D40CF5D-E30C-4528-B261-E91EA8976B23}"/>
                  </a:ext>
                </a:extLst>
              </p:cNvPr>
              <p:cNvSpPr txBox="1">
                <a:spLocks noRot="1" noChangeAspect="1" noMove="1" noResize="1" noEditPoints="1" noAdjustHandles="1" noChangeArrowheads="1" noChangeShapeType="1" noTextEdit="1"/>
              </p:cNvSpPr>
              <p:nvPr/>
            </p:nvSpPr>
            <p:spPr>
              <a:xfrm>
                <a:off x="3470705" y="3962341"/>
                <a:ext cx="1798417" cy="529569"/>
              </a:xfrm>
              <a:prstGeom prst="rect">
                <a:avLst/>
              </a:prstGeom>
              <a:blipFill>
                <a:blip r:embed="rId5"/>
                <a:stretch>
                  <a:fillRect l="-2712"/>
                </a:stretch>
              </a:blipFill>
            </p:spPr>
            <p:txBody>
              <a:bodyPr/>
              <a:lstStyle/>
              <a:p>
                <a:r>
                  <a:rPr lang="en-US">
                    <a:noFill/>
                  </a:rPr>
                  <a:t> </a:t>
                </a:r>
              </a:p>
            </p:txBody>
          </p:sp>
        </mc:Fallback>
      </mc:AlternateContent>
    </p:spTree>
    <p:extLst>
      <p:ext uri="{BB962C8B-B14F-4D97-AF65-F5344CB8AC3E}">
        <p14:creationId xmlns:p14="http://schemas.microsoft.com/office/powerpoint/2010/main" val="181799950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6">
            <a:extLst>
              <a:ext uri="{FF2B5EF4-FFF2-40B4-BE49-F238E27FC236}">
                <a16:creationId xmlns:a16="http://schemas.microsoft.com/office/drawing/2014/main" id="{56080804-F19F-41A7-8595-943961648C5E}"/>
              </a:ext>
            </a:extLst>
          </p:cNvPr>
          <p:cNvSpPr>
            <a:spLocks noGrp="1"/>
          </p:cNvSpPr>
          <p:nvPr>
            <p:ph type="sldNum" sz="quarter" idx="12"/>
          </p:nvPr>
        </p:nvSpPr>
        <p:spPr>
          <a:xfrm>
            <a:off x="8610600" y="6441692"/>
            <a:ext cx="2743200" cy="370027"/>
          </a:xfrm>
        </p:spPr>
        <p:txBody>
          <a:bodyPr/>
          <a:lstStyle/>
          <a:p>
            <a:fld id="{F4801FD5-11B4-DE43-ACA2-E85EEB9A6F9C}" type="slidenum">
              <a:rPr lang="en-US" smtClean="0">
                <a:latin typeface="Garamond" panose="02020404030301010803" pitchFamily="18" charset="0"/>
              </a:rPr>
              <a:t>22</a:t>
            </a:fld>
            <a:endParaRPr lang="en-US">
              <a:latin typeface="Garamond" panose="02020404030301010803" pitchFamily="18" charset="0"/>
            </a:endParaRPr>
          </a:p>
        </p:txBody>
      </p:sp>
      <p:sp>
        <p:nvSpPr>
          <p:cNvPr id="5" name="Title 1">
            <a:extLst>
              <a:ext uri="{FF2B5EF4-FFF2-40B4-BE49-F238E27FC236}">
                <a16:creationId xmlns:a16="http://schemas.microsoft.com/office/drawing/2014/main" id="{4710AE4B-0DB8-4451-B9E4-10BAE11B4D3A}"/>
              </a:ext>
            </a:extLst>
          </p:cNvPr>
          <p:cNvSpPr>
            <a:spLocks noGrp="1"/>
          </p:cNvSpPr>
          <p:nvPr>
            <p:ph type="title"/>
          </p:nvPr>
        </p:nvSpPr>
        <p:spPr>
          <a:xfrm>
            <a:off x="497840" y="113802"/>
            <a:ext cx="10972800" cy="558382"/>
          </a:xfrm>
        </p:spPr>
        <p:txBody>
          <a:bodyPr>
            <a:noAutofit/>
          </a:bodyPr>
          <a:lstStyle/>
          <a:p>
            <a:pPr algn="ctr"/>
            <a:r>
              <a:rPr lang="en-US" sz="3200" b="1" u="sng" dirty="0">
                <a:solidFill>
                  <a:srgbClr val="FF3386"/>
                </a:solidFill>
                <a:latin typeface="Century Gothic" panose="020B0502020202020204" pitchFamily="34" charset="0"/>
                <a:cs typeface="Helvetica"/>
              </a:rPr>
              <a:t>POWER COMPUTATION FOR SINUSOIDAL AC  CIRCUIT</a:t>
            </a:r>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6BAA1F11-5BEF-4D80-964F-A7332E36BFA0}"/>
                  </a:ext>
                </a:extLst>
              </p:cNvPr>
              <p:cNvSpPr txBox="1"/>
              <p:nvPr/>
            </p:nvSpPr>
            <p:spPr>
              <a:xfrm>
                <a:off x="101601" y="741130"/>
                <a:ext cx="11912170" cy="6001643"/>
              </a:xfrm>
              <a:prstGeom prst="rect">
                <a:avLst/>
              </a:prstGeom>
              <a:noFill/>
              <a:ln>
                <a:solidFill>
                  <a:srgbClr val="FF0066"/>
                </a:solidFill>
              </a:ln>
            </p:spPr>
            <p:txBody>
              <a:bodyPr wrap="square" rtlCol="0">
                <a:spAutoFit/>
              </a:bodyPr>
              <a:lstStyle/>
              <a:p>
                <a:pPr marL="457200" indent="-457200">
                  <a:buClr>
                    <a:schemeClr val="accent2"/>
                  </a:buClr>
                  <a:buFont typeface="Wingdings" panose="05000000000000000000" pitchFamily="2" charset="2"/>
                  <a:buChar char="v"/>
                </a:pPr>
                <a:r>
                  <a:rPr lang="en-GB" sz="2400" b="1" dirty="0">
                    <a:latin typeface="Century Gothic" panose="020B0502020202020204" pitchFamily="34" charset="0"/>
                  </a:rPr>
                  <a:t> In power electronics circuits, voltages and currents are often sinusoidal but can be represented by a fourier series.</a:t>
                </a:r>
              </a:p>
              <a:p>
                <a:pPr marL="457200" indent="-457200">
                  <a:buClr>
                    <a:schemeClr val="accent2"/>
                  </a:buClr>
                  <a:buFont typeface="Wingdings" panose="05000000000000000000" pitchFamily="2" charset="2"/>
                  <a:buChar char="v"/>
                </a:pPr>
                <a:endParaRPr lang="en-GB" sz="2400" b="1" dirty="0">
                  <a:latin typeface="Century Gothic" panose="020B0502020202020204" pitchFamily="34" charset="0"/>
                </a:endParaRPr>
              </a:p>
              <a:p>
                <a:pPr marL="457200" indent="-457200">
                  <a:buClr>
                    <a:schemeClr val="accent2"/>
                  </a:buClr>
                  <a:buFont typeface="Wingdings" panose="05000000000000000000" pitchFamily="2" charset="2"/>
                  <a:buChar char="v"/>
                </a:pPr>
                <a:r>
                  <a:rPr lang="en-GB" sz="2400" b="1" dirty="0">
                    <a:latin typeface="Century Gothic" panose="020B0502020202020204" pitchFamily="34" charset="0"/>
                  </a:rPr>
                  <a:t> Understanding power computation for sinusoidal cases is essential, especially for AC circuits with sinusoidal sources where steady-state voltage and currents are sinusoids.</a:t>
                </a:r>
              </a:p>
              <a:p>
                <a:pPr marL="457200" indent="-457200">
                  <a:buClr>
                    <a:schemeClr val="accent2"/>
                  </a:buClr>
                  <a:buFont typeface="Wingdings" panose="05000000000000000000" pitchFamily="2" charset="2"/>
                  <a:buChar char="v"/>
                </a:pPr>
                <a:endParaRPr lang="en-GB" sz="2400" b="1" dirty="0">
                  <a:solidFill>
                    <a:srgbClr val="0000CC"/>
                  </a:solidFill>
                  <a:latin typeface="Century Gothic" panose="020B0502020202020204" pitchFamily="34" charset="0"/>
                </a:endParaRPr>
              </a:p>
              <a:p>
                <a:pPr marL="457200" indent="-457200">
                  <a:buClr>
                    <a:schemeClr val="accent2"/>
                  </a:buClr>
                  <a:buFont typeface="Wingdings" panose="05000000000000000000" pitchFamily="2" charset="2"/>
                  <a:buChar char="v"/>
                </a:pPr>
                <a:r>
                  <a:rPr lang="en-GB" sz="2400" b="1" dirty="0">
                    <a:latin typeface="Century Gothic" panose="020B0502020202020204" pitchFamily="34" charset="0"/>
                  </a:rPr>
                  <a:t>Instantaneous and average power for AC circuits are computed using specific equations.</a:t>
                </a:r>
                <a:br>
                  <a:rPr lang="en-GB" sz="2400" b="1" dirty="0">
                    <a:latin typeface="Century Gothic" panose="020B0502020202020204" pitchFamily="34" charset="0"/>
                  </a:rPr>
                </a:br>
                <a:br>
                  <a:rPr lang="en-GB" sz="2400" b="1" dirty="0">
                    <a:latin typeface="Century Gothic" panose="020B0502020202020204" pitchFamily="34" charset="0"/>
                  </a:rPr>
                </a:br>
                <a:r>
                  <a:rPr lang="en-GB" sz="2400" b="1" dirty="0">
                    <a:latin typeface="Century Gothic" panose="020B0502020202020204" pitchFamily="34" charset="0"/>
                  </a:rPr>
                  <a:t> 	</a:t>
                </a:r>
                <a14:m>
                  <m:oMath xmlns:m="http://schemas.openxmlformats.org/officeDocument/2006/math">
                    <m:r>
                      <a:rPr lang="en-US" sz="2400" b="1" i="1" smtClean="0">
                        <a:latin typeface="Cambria Math" panose="02040503050406030204" pitchFamily="18" charset="0"/>
                      </a:rPr>
                      <m:t>𝒗</m:t>
                    </m:r>
                    <m:d>
                      <m:dPr>
                        <m:ctrlPr>
                          <a:rPr lang="en-US" sz="2400" b="1" i="1" smtClean="0">
                            <a:latin typeface="Cambria Math" panose="02040503050406030204" pitchFamily="18" charset="0"/>
                          </a:rPr>
                        </m:ctrlPr>
                      </m:dPr>
                      <m:e>
                        <m:r>
                          <a:rPr lang="en-US" sz="2400" b="1" i="1" smtClean="0">
                            <a:latin typeface="Cambria Math" panose="02040503050406030204" pitchFamily="18" charset="0"/>
                          </a:rPr>
                          <m:t>𝒕</m:t>
                        </m:r>
                      </m:e>
                    </m:d>
                    <m:r>
                      <a:rPr lang="en-US" sz="2400" b="1" i="1" smtClean="0">
                        <a:latin typeface="Cambria Math" panose="02040503050406030204" pitchFamily="18" charset="0"/>
                      </a:rPr>
                      <m:t>= </m:t>
                    </m:r>
                    <m:sSub>
                      <m:sSubPr>
                        <m:ctrlPr>
                          <a:rPr lang="en-US" sz="2400" b="1" i="1" smtClean="0">
                            <a:latin typeface="Cambria Math" panose="02040503050406030204" pitchFamily="18" charset="0"/>
                          </a:rPr>
                        </m:ctrlPr>
                      </m:sSubPr>
                      <m:e>
                        <m:r>
                          <a:rPr lang="en-US" sz="2400" b="1" i="1" smtClean="0">
                            <a:latin typeface="Cambria Math" panose="02040503050406030204" pitchFamily="18" charset="0"/>
                          </a:rPr>
                          <m:t>𝑽</m:t>
                        </m:r>
                      </m:e>
                      <m:sub>
                        <m:r>
                          <a:rPr lang="en-US" sz="2400" b="1" i="1" smtClean="0">
                            <a:latin typeface="Cambria Math" panose="02040503050406030204" pitchFamily="18" charset="0"/>
                          </a:rPr>
                          <m:t>𝒎</m:t>
                        </m:r>
                      </m:sub>
                    </m:sSub>
                    <m:r>
                      <a:rPr lang="en-US" sz="2400" b="1" i="0" smtClean="0">
                        <a:latin typeface="Cambria Math" panose="02040503050406030204" pitchFamily="18" charset="0"/>
                      </a:rPr>
                      <m:t> </m:t>
                    </m:r>
                    <m:func>
                      <m:funcPr>
                        <m:ctrlPr>
                          <a:rPr lang="en-US" sz="2400" b="1" i="1" smtClean="0">
                            <a:latin typeface="Cambria Math" panose="02040503050406030204" pitchFamily="18" charset="0"/>
                          </a:rPr>
                        </m:ctrlPr>
                      </m:funcPr>
                      <m:fName>
                        <m:r>
                          <m:rPr>
                            <m:sty m:val="p"/>
                          </m:rPr>
                          <a:rPr lang="en-US" sz="2400" b="0" i="0" smtClean="0">
                            <a:latin typeface="Cambria Math" panose="02040503050406030204" pitchFamily="18" charset="0"/>
                          </a:rPr>
                          <m:t>cos</m:t>
                        </m:r>
                      </m:fName>
                      <m:e>
                        <m:d>
                          <m:dPr>
                            <m:ctrlPr>
                              <a:rPr lang="en-US" sz="2400" b="0" i="1" smtClean="0">
                                <a:latin typeface="Cambria Math" panose="02040503050406030204" pitchFamily="18" charset="0"/>
                              </a:rPr>
                            </m:ctrlPr>
                          </m:dPr>
                          <m:e>
                            <m:r>
                              <a:rPr lang="en-US" sz="2400" b="0" i="1" smtClean="0">
                                <a:latin typeface="Cambria Math" panose="02040503050406030204" pitchFamily="18" charset="0"/>
                                <a:ea typeface="Cambria Math" panose="02040503050406030204" pitchFamily="18" charset="0"/>
                              </a:rPr>
                              <m:t>𝜔</m:t>
                            </m:r>
                            <m:r>
                              <a:rPr lang="en-US" sz="2400" b="0" i="1" smtClean="0">
                                <a:latin typeface="Cambria Math" panose="02040503050406030204" pitchFamily="18" charset="0"/>
                                <a:ea typeface="Cambria Math" panose="02040503050406030204" pitchFamily="18" charset="0"/>
                              </a:rPr>
                              <m:t>𝑡</m:t>
                            </m:r>
                            <m:r>
                              <a:rPr lang="en-US" sz="2400" b="0" i="1" smtClean="0">
                                <a:latin typeface="Cambria Math" panose="02040503050406030204" pitchFamily="18" charset="0"/>
                                <a:ea typeface="Cambria Math" panose="02040503050406030204" pitchFamily="18" charset="0"/>
                              </a:rPr>
                              <m:t> + </m:t>
                            </m:r>
                            <m:r>
                              <a:rPr lang="en-US" sz="2400" b="0" i="1" smtClean="0">
                                <a:latin typeface="Cambria Math" panose="02040503050406030204" pitchFamily="18" charset="0"/>
                                <a:ea typeface="Cambria Math" panose="02040503050406030204" pitchFamily="18" charset="0"/>
                              </a:rPr>
                              <m:t>𝜃</m:t>
                            </m:r>
                          </m:e>
                        </m:d>
                      </m:e>
                    </m:func>
                  </m:oMath>
                </a14:m>
                <a:endParaRPr lang="en-GB" sz="2400" b="1" dirty="0">
                  <a:latin typeface="Century Gothic" panose="020B0502020202020204" pitchFamily="34" charset="0"/>
                </a:endParaRPr>
              </a:p>
              <a:p>
                <a:pPr>
                  <a:buClr>
                    <a:schemeClr val="accent2"/>
                  </a:buClr>
                </a:pPr>
                <a:endParaRPr lang="en-GB" sz="2400" b="1" dirty="0">
                  <a:latin typeface="Century Gothic" panose="020B0502020202020204" pitchFamily="34" charset="0"/>
                </a:endParaRPr>
              </a:p>
              <a:p>
                <a:pPr>
                  <a:buClr>
                    <a:schemeClr val="accent2"/>
                  </a:buClr>
                </a:pPr>
                <a:r>
                  <a:rPr lang="en-GB" sz="2400" b="1" dirty="0">
                    <a:latin typeface="Century Gothic" panose="020B0502020202020204" pitchFamily="34" charset="0"/>
                  </a:rPr>
                  <a:t>           </a:t>
                </a:r>
                <a14:m>
                  <m:oMath xmlns:m="http://schemas.openxmlformats.org/officeDocument/2006/math">
                    <m:r>
                      <a:rPr lang="en-US" sz="2400" b="1" i="1" smtClean="0">
                        <a:latin typeface="Cambria Math" panose="02040503050406030204" pitchFamily="18" charset="0"/>
                      </a:rPr>
                      <m:t>𝒊</m:t>
                    </m:r>
                    <m:r>
                      <a:rPr lang="en-US" sz="2400" b="1" i="1" smtClean="0">
                        <a:latin typeface="Cambria Math" panose="02040503050406030204" pitchFamily="18" charset="0"/>
                      </a:rPr>
                      <m:t>(</m:t>
                    </m:r>
                    <m:r>
                      <a:rPr lang="en-US" sz="2400" b="1" i="1" smtClean="0">
                        <a:latin typeface="Cambria Math" panose="02040503050406030204" pitchFamily="18" charset="0"/>
                      </a:rPr>
                      <m:t>𝒕</m:t>
                    </m:r>
                    <m:r>
                      <a:rPr lang="en-US" sz="2400" b="1" i="1" smtClean="0">
                        <a:latin typeface="Cambria Math" panose="02040503050406030204" pitchFamily="18" charset="0"/>
                      </a:rPr>
                      <m:t>)</m:t>
                    </m:r>
                  </m:oMath>
                </a14:m>
                <a:r>
                  <a:rPr lang="en-GB" sz="2400" b="1" dirty="0">
                    <a:latin typeface="Century Gothic" panose="020B0502020202020204" pitchFamily="34" charset="0"/>
                  </a:rPr>
                  <a:t> = </a:t>
                </a:r>
                <a14:m>
                  <m:oMath xmlns:m="http://schemas.openxmlformats.org/officeDocument/2006/math">
                    <m:sSub>
                      <m:sSubPr>
                        <m:ctrlPr>
                          <a:rPr lang="en-GB" sz="2400" b="1" i="1" smtClean="0">
                            <a:latin typeface="Cambria Math" panose="02040503050406030204" pitchFamily="18" charset="0"/>
                          </a:rPr>
                        </m:ctrlPr>
                      </m:sSubPr>
                      <m:e>
                        <m:r>
                          <a:rPr lang="en-US" sz="2400" b="1" i="1" smtClean="0">
                            <a:latin typeface="Cambria Math" panose="02040503050406030204" pitchFamily="18" charset="0"/>
                          </a:rPr>
                          <m:t>𝑰</m:t>
                        </m:r>
                      </m:e>
                      <m:sub>
                        <m:r>
                          <a:rPr lang="en-US" sz="2400" b="1" i="1" smtClean="0">
                            <a:latin typeface="Cambria Math" panose="02040503050406030204" pitchFamily="18" charset="0"/>
                          </a:rPr>
                          <m:t>𝒎</m:t>
                        </m:r>
                      </m:sub>
                    </m:sSub>
                  </m:oMath>
                </a14:m>
                <a:r>
                  <a:rPr lang="en-GB" sz="2400" b="1" dirty="0">
                    <a:latin typeface="Century Gothic" panose="020B0502020202020204" pitchFamily="34" charset="0"/>
                  </a:rPr>
                  <a:t> </a:t>
                </a:r>
                <a14:m>
                  <m:oMath xmlns:m="http://schemas.openxmlformats.org/officeDocument/2006/math">
                    <m:func>
                      <m:funcPr>
                        <m:ctrlPr>
                          <a:rPr lang="en-GB" sz="2400" b="1" i="1" dirty="0" smtClean="0">
                            <a:latin typeface="Cambria Math" panose="02040503050406030204" pitchFamily="18" charset="0"/>
                          </a:rPr>
                        </m:ctrlPr>
                      </m:funcPr>
                      <m:fName>
                        <m:r>
                          <m:rPr>
                            <m:sty m:val="p"/>
                          </m:rPr>
                          <a:rPr lang="en-GB" sz="2400" b="0" i="0" dirty="0" smtClean="0">
                            <a:latin typeface="Cambria Math" panose="02040503050406030204" pitchFamily="18" charset="0"/>
                          </a:rPr>
                          <m:t>cos</m:t>
                        </m:r>
                      </m:fName>
                      <m:e>
                        <m:d>
                          <m:dPr>
                            <m:ctrlPr>
                              <a:rPr lang="en-GB" sz="2400" b="0" i="1" dirty="0" smtClean="0">
                                <a:latin typeface="Cambria Math" panose="02040503050406030204" pitchFamily="18" charset="0"/>
                              </a:rPr>
                            </m:ctrlPr>
                          </m:dPr>
                          <m:e>
                            <m:r>
                              <a:rPr lang="en-GB" sz="2400" b="0" i="1" dirty="0" smtClean="0">
                                <a:latin typeface="Cambria Math" panose="02040503050406030204" pitchFamily="18" charset="0"/>
                                <a:ea typeface="Cambria Math" panose="02040503050406030204" pitchFamily="18" charset="0"/>
                              </a:rPr>
                              <m:t>𝜔</m:t>
                            </m:r>
                            <m:r>
                              <a:rPr lang="en-US" sz="2400" b="0" i="1" dirty="0" smtClean="0">
                                <a:latin typeface="Cambria Math" panose="02040503050406030204" pitchFamily="18" charset="0"/>
                                <a:ea typeface="Cambria Math" panose="02040503050406030204" pitchFamily="18" charset="0"/>
                              </a:rPr>
                              <m:t>𝑡</m:t>
                            </m:r>
                            <m:r>
                              <a:rPr lang="en-US" sz="2400" b="0" i="1" dirty="0" smtClean="0">
                                <a:latin typeface="Cambria Math" panose="02040503050406030204" pitchFamily="18" charset="0"/>
                                <a:ea typeface="Cambria Math" panose="02040503050406030204" pitchFamily="18" charset="0"/>
                              </a:rPr>
                              <m:t> + </m:t>
                            </m:r>
                            <m:r>
                              <m:rPr>
                                <m:sty m:val="p"/>
                              </m:rPr>
                              <a:rPr lang="en-US" sz="2400" b="0" i="0" dirty="0" smtClean="0">
                                <a:latin typeface="Cambria Math" panose="02040503050406030204" pitchFamily="18" charset="0"/>
                                <a:ea typeface="Cambria Math" panose="02040503050406030204" pitchFamily="18" charset="0"/>
                              </a:rPr>
                              <m:t>ϕ</m:t>
                            </m:r>
                            <m:r>
                              <a:rPr lang="en-US" sz="2400" b="0" i="1" dirty="0" smtClean="0">
                                <a:latin typeface="Cambria Math" panose="02040503050406030204" pitchFamily="18" charset="0"/>
                                <a:ea typeface="Cambria Math" panose="02040503050406030204" pitchFamily="18" charset="0"/>
                              </a:rPr>
                              <m:t> </m:t>
                            </m:r>
                          </m:e>
                        </m:d>
                      </m:e>
                    </m:func>
                  </m:oMath>
                </a14:m>
                <a:endParaRPr lang="en-GB" sz="2400" b="1" dirty="0">
                  <a:latin typeface="Century Gothic" panose="020B0502020202020204" pitchFamily="34" charset="0"/>
                </a:endParaRPr>
              </a:p>
              <a:p>
                <a:pPr>
                  <a:buClr>
                    <a:schemeClr val="accent2"/>
                  </a:buClr>
                </a:pPr>
                <a:endParaRPr lang="en-GB" sz="2400" b="1" dirty="0">
                  <a:solidFill>
                    <a:srgbClr val="0000CC"/>
                  </a:solidFill>
                  <a:latin typeface="Century Gothic" panose="020B0502020202020204" pitchFamily="34" charset="0"/>
                </a:endParaRPr>
              </a:p>
              <a:p>
                <a:pPr marL="342900" indent="-342900">
                  <a:buClr>
                    <a:schemeClr val="accent2"/>
                  </a:buClr>
                  <a:buFont typeface="Wingdings" panose="05000000000000000000" pitchFamily="2" charset="2"/>
                  <a:buChar char="v"/>
                </a:pPr>
                <a:r>
                  <a:rPr lang="en-GB" sz="2400" b="1" dirty="0">
                    <a:solidFill>
                      <a:srgbClr val="0000CC"/>
                    </a:solidFill>
                    <a:latin typeface="Century Gothic" panose="020B0502020202020204" pitchFamily="34" charset="0"/>
                  </a:rPr>
                  <a:t> The instantaneous Power is expressed as</a:t>
                </a:r>
              </a:p>
              <a:p>
                <a:pPr>
                  <a:buClr>
                    <a:schemeClr val="accent2"/>
                  </a:buClr>
                </a:pPr>
                <a:r>
                  <a:rPr lang="en-GB" sz="2400" b="1" dirty="0">
                    <a:solidFill>
                      <a:srgbClr val="0000CC"/>
                    </a:solidFill>
                    <a:latin typeface="Century Gothic" panose="020B0502020202020204" pitchFamily="34" charset="0"/>
                  </a:rPr>
                  <a:t>		</a:t>
                </a:r>
                <a14:m>
                  <m:oMath xmlns:m="http://schemas.openxmlformats.org/officeDocument/2006/math">
                    <m:r>
                      <a:rPr lang="en-US" sz="2400" b="1" i="1" smtClean="0">
                        <a:solidFill>
                          <a:srgbClr val="0000CC"/>
                        </a:solidFill>
                        <a:latin typeface="Cambria Math" panose="02040503050406030204" pitchFamily="18" charset="0"/>
                      </a:rPr>
                      <m:t>𝒑</m:t>
                    </m:r>
                    <m:d>
                      <m:dPr>
                        <m:ctrlPr>
                          <a:rPr lang="en-US" sz="2400" b="1" i="1" smtClean="0">
                            <a:solidFill>
                              <a:srgbClr val="0000CC"/>
                            </a:solidFill>
                            <a:latin typeface="Cambria Math" panose="02040503050406030204" pitchFamily="18" charset="0"/>
                          </a:rPr>
                        </m:ctrlPr>
                      </m:dPr>
                      <m:e>
                        <m:r>
                          <a:rPr lang="en-US" sz="2400" b="1" i="1" smtClean="0">
                            <a:solidFill>
                              <a:srgbClr val="0000CC"/>
                            </a:solidFill>
                            <a:latin typeface="Cambria Math" panose="02040503050406030204" pitchFamily="18" charset="0"/>
                          </a:rPr>
                          <m:t>𝒕</m:t>
                        </m:r>
                      </m:e>
                    </m:d>
                    <m:r>
                      <a:rPr lang="en-US" sz="2400" b="1" i="1" smtClean="0">
                        <a:solidFill>
                          <a:srgbClr val="0000CC"/>
                        </a:solidFill>
                        <a:latin typeface="Cambria Math" panose="02040503050406030204" pitchFamily="18" charset="0"/>
                      </a:rPr>
                      <m:t>=</m:t>
                    </m:r>
                    <m:r>
                      <a:rPr lang="en-US" sz="2400" b="1" i="1" smtClean="0">
                        <a:solidFill>
                          <a:srgbClr val="0000CC"/>
                        </a:solidFill>
                        <a:latin typeface="Cambria Math" panose="02040503050406030204" pitchFamily="18" charset="0"/>
                      </a:rPr>
                      <m:t>𝒗</m:t>
                    </m:r>
                    <m:d>
                      <m:dPr>
                        <m:ctrlPr>
                          <a:rPr lang="en-US" sz="2400" b="1" i="1" smtClean="0">
                            <a:solidFill>
                              <a:srgbClr val="0000CC"/>
                            </a:solidFill>
                            <a:latin typeface="Cambria Math" panose="02040503050406030204" pitchFamily="18" charset="0"/>
                          </a:rPr>
                        </m:ctrlPr>
                      </m:dPr>
                      <m:e>
                        <m:r>
                          <a:rPr lang="en-US" sz="2400" b="1" i="1" smtClean="0">
                            <a:solidFill>
                              <a:srgbClr val="0000CC"/>
                            </a:solidFill>
                            <a:latin typeface="Cambria Math" panose="02040503050406030204" pitchFamily="18" charset="0"/>
                          </a:rPr>
                          <m:t>𝒕</m:t>
                        </m:r>
                      </m:e>
                    </m:d>
                    <m:r>
                      <a:rPr lang="en-US" sz="2400" b="1" i="1" smtClean="0">
                        <a:solidFill>
                          <a:srgbClr val="0000CC"/>
                        </a:solidFill>
                        <a:latin typeface="Cambria Math" panose="02040503050406030204" pitchFamily="18" charset="0"/>
                      </a:rPr>
                      <m:t>𝒊</m:t>
                    </m:r>
                    <m:d>
                      <m:dPr>
                        <m:ctrlPr>
                          <a:rPr lang="en-US" sz="2400" b="1" i="1" smtClean="0">
                            <a:solidFill>
                              <a:srgbClr val="0000CC"/>
                            </a:solidFill>
                            <a:latin typeface="Cambria Math" panose="02040503050406030204" pitchFamily="18" charset="0"/>
                          </a:rPr>
                        </m:ctrlPr>
                      </m:dPr>
                      <m:e>
                        <m:r>
                          <a:rPr lang="en-US" sz="2400" b="1" i="1" smtClean="0">
                            <a:solidFill>
                              <a:srgbClr val="0000CC"/>
                            </a:solidFill>
                            <a:latin typeface="Cambria Math" panose="02040503050406030204" pitchFamily="18" charset="0"/>
                          </a:rPr>
                          <m:t>𝒕</m:t>
                        </m:r>
                      </m:e>
                    </m:d>
                    <m:r>
                      <a:rPr lang="en-US" sz="2400" b="1" i="1" smtClean="0">
                        <a:solidFill>
                          <a:srgbClr val="0000CC"/>
                        </a:solidFill>
                        <a:latin typeface="Cambria Math" panose="02040503050406030204" pitchFamily="18" charset="0"/>
                      </a:rPr>
                      <m:t>=</m:t>
                    </m:r>
                    <m:d>
                      <m:dPr>
                        <m:begChr m:val="["/>
                        <m:endChr m:val="]"/>
                        <m:ctrlPr>
                          <a:rPr lang="en-US" sz="2400" b="1" i="1" smtClean="0">
                            <a:solidFill>
                              <a:srgbClr val="0000CC"/>
                            </a:solidFill>
                            <a:latin typeface="Cambria Math" panose="02040503050406030204" pitchFamily="18" charset="0"/>
                          </a:rPr>
                        </m:ctrlPr>
                      </m:dPr>
                      <m:e>
                        <m:sSub>
                          <m:sSubPr>
                            <m:ctrlPr>
                              <a:rPr lang="en-US" sz="2400" b="1" i="1" smtClean="0">
                                <a:solidFill>
                                  <a:srgbClr val="0000CC"/>
                                </a:solidFill>
                                <a:latin typeface="Cambria Math" panose="02040503050406030204" pitchFamily="18" charset="0"/>
                              </a:rPr>
                            </m:ctrlPr>
                          </m:sSubPr>
                          <m:e>
                            <m:r>
                              <a:rPr lang="en-US" sz="2400" b="1" i="1" smtClean="0">
                                <a:solidFill>
                                  <a:srgbClr val="0000CC"/>
                                </a:solidFill>
                                <a:latin typeface="Cambria Math" panose="02040503050406030204" pitchFamily="18" charset="0"/>
                              </a:rPr>
                              <m:t>𝑽</m:t>
                            </m:r>
                          </m:e>
                          <m:sub>
                            <m:r>
                              <a:rPr lang="en-US" sz="2400" b="1" i="1" smtClean="0">
                                <a:solidFill>
                                  <a:srgbClr val="0000CC"/>
                                </a:solidFill>
                                <a:latin typeface="Cambria Math" panose="02040503050406030204" pitchFamily="18" charset="0"/>
                              </a:rPr>
                              <m:t>𝒎</m:t>
                            </m:r>
                          </m:sub>
                        </m:sSub>
                        <m:func>
                          <m:funcPr>
                            <m:ctrlPr>
                              <a:rPr lang="en-US" sz="2400" b="1" i="1" smtClean="0">
                                <a:solidFill>
                                  <a:srgbClr val="0000CC"/>
                                </a:solidFill>
                                <a:latin typeface="Cambria Math" panose="02040503050406030204" pitchFamily="18" charset="0"/>
                              </a:rPr>
                            </m:ctrlPr>
                          </m:funcPr>
                          <m:fName>
                            <m:r>
                              <m:rPr>
                                <m:sty m:val="p"/>
                              </m:rPr>
                              <a:rPr lang="en-US" sz="2400" b="0" i="0" smtClean="0">
                                <a:solidFill>
                                  <a:srgbClr val="0000CC"/>
                                </a:solidFill>
                                <a:latin typeface="Cambria Math" panose="02040503050406030204" pitchFamily="18" charset="0"/>
                              </a:rPr>
                              <m:t>cos</m:t>
                            </m:r>
                          </m:fName>
                          <m:e>
                            <m:d>
                              <m:dPr>
                                <m:ctrlPr>
                                  <a:rPr lang="en-US" sz="2400" b="0" i="1" smtClean="0">
                                    <a:solidFill>
                                      <a:srgbClr val="0000CC"/>
                                    </a:solidFill>
                                    <a:latin typeface="Cambria Math" panose="02040503050406030204" pitchFamily="18" charset="0"/>
                                  </a:rPr>
                                </m:ctrlPr>
                              </m:dPr>
                              <m:e>
                                <m:r>
                                  <a:rPr lang="en-US" sz="2400" b="0" i="1" smtClean="0">
                                    <a:solidFill>
                                      <a:srgbClr val="0000CC"/>
                                    </a:solidFill>
                                    <a:latin typeface="Cambria Math" panose="02040503050406030204" pitchFamily="18" charset="0"/>
                                    <a:ea typeface="Cambria Math" panose="02040503050406030204" pitchFamily="18" charset="0"/>
                                  </a:rPr>
                                  <m:t>𝜔</m:t>
                                </m:r>
                                <m:r>
                                  <a:rPr lang="en-US" sz="2400" b="0" i="1" smtClean="0">
                                    <a:solidFill>
                                      <a:srgbClr val="0000CC"/>
                                    </a:solidFill>
                                    <a:latin typeface="Cambria Math" panose="02040503050406030204" pitchFamily="18" charset="0"/>
                                    <a:ea typeface="Cambria Math" panose="02040503050406030204" pitchFamily="18" charset="0"/>
                                  </a:rPr>
                                  <m:t>𝑡</m:t>
                                </m:r>
                                <m:r>
                                  <a:rPr lang="en-US" sz="2400" b="0" i="1" smtClean="0">
                                    <a:solidFill>
                                      <a:srgbClr val="0000CC"/>
                                    </a:solidFill>
                                    <a:latin typeface="Cambria Math" panose="02040503050406030204" pitchFamily="18" charset="0"/>
                                    <a:ea typeface="Cambria Math" panose="02040503050406030204" pitchFamily="18" charset="0"/>
                                  </a:rPr>
                                  <m:t> +</m:t>
                                </m:r>
                                <m:r>
                                  <a:rPr lang="en-US" sz="2400" b="0" i="1" smtClean="0">
                                    <a:solidFill>
                                      <a:srgbClr val="0000CC"/>
                                    </a:solidFill>
                                    <a:latin typeface="Cambria Math" panose="02040503050406030204" pitchFamily="18" charset="0"/>
                                    <a:ea typeface="Cambria Math" panose="02040503050406030204" pitchFamily="18" charset="0"/>
                                  </a:rPr>
                                  <m:t>𝜃</m:t>
                                </m:r>
                              </m:e>
                            </m:d>
                          </m:e>
                        </m:func>
                      </m:e>
                    </m:d>
                    <m:d>
                      <m:dPr>
                        <m:begChr m:val="["/>
                        <m:endChr m:val="]"/>
                        <m:ctrlPr>
                          <a:rPr lang="en-US" sz="2400" b="1" i="1" smtClean="0">
                            <a:solidFill>
                              <a:srgbClr val="0000CC"/>
                            </a:solidFill>
                            <a:latin typeface="Cambria Math" panose="02040503050406030204" pitchFamily="18" charset="0"/>
                          </a:rPr>
                        </m:ctrlPr>
                      </m:dPr>
                      <m:e>
                        <m:sSub>
                          <m:sSubPr>
                            <m:ctrlPr>
                              <a:rPr lang="en-US" sz="2400" b="1" i="1" smtClean="0">
                                <a:solidFill>
                                  <a:srgbClr val="0000CC"/>
                                </a:solidFill>
                                <a:latin typeface="Cambria Math" panose="02040503050406030204" pitchFamily="18" charset="0"/>
                              </a:rPr>
                            </m:ctrlPr>
                          </m:sSubPr>
                          <m:e>
                            <m:r>
                              <a:rPr lang="en-US" sz="2400" b="1" i="1" smtClean="0">
                                <a:solidFill>
                                  <a:srgbClr val="0000CC"/>
                                </a:solidFill>
                                <a:latin typeface="Cambria Math" panose="02040503050406030204" pitchFamily="18" charset="0"/>
                              </a:rPr>
                              <m:t>𝑰</m:t>
                            </m:r>
                          </m:e>
                          <m:sub>
                            <m:r>
                              <a:rPr lang="en-US" sz="2400" b="1" i="1" smtClean="0">
                                <a:solidFill>
                                  <a:srgbClr val="0000CC"/>
                                </a:solidFill>
                                <a:latin typeface="Cambria Math" panose="02040503050406030204" pitchFamily="18" charset="0"/>
                              </a:rPr>
                              <m:t>𝒎</m:t>
                            </m:r>
                          </m:sub>
                        </m:sSub>
                        <m:func>
                          <m:funcPr>
                            <m:ctrlPr>
                              <a:rPr lang="en-US" sz="2400" b="1" i="1" smtClean="0">
                                <a:solidFill>
                                  <a:srgbClr val="0000CC"/>
                                </a:solidFill>
                                <a:latin typeface="Cambria Math" panose="02040503050406030204" pitchFamily="18" charset="0"/>
                              </a:rPr>
                            </m:ctrlPr>
                          </m:funcPr>
                          <m:fName>
                            <m:r>
                              <m:rPr>
                                <m:sty m:val="p"/>
                              </m:rPr>
                              <a:rPr lang="en-US" sz="2400" b="0" i="0" smtClean="0">
                                <a:solidFill>
                                  <a:srgbClr val="0000CC"/>
                                </a:solidFill>
                                <a:latin typeface="Cambria Math" panose="02040503050406030204" pitchFamily="18" charset="0"/>
                              </a:rPr>
                              <m:t>cos</m:t>
                            </m:r>
                          </m:fName>
                          <m:e>
                            <m:d>
                              <m:dPr>
                                <m:ctrlPr>
                                  <a:rPr lang="en-US" sz="2400" b="0" i="1" smtClean="0">
                                    <a:solidFill>
                                      <a:srgbClr val="0000CC"/>
                                    </a:solidFill>
                                    <a:latin typeface="Cambria Math" panose="02040503050406030204" pitchFamily="18" charset="0"/>
                                  </a:rPr>
                                </m:ctrlPr>
                              </m:dPr>
                              <m:e>
                                <m:r>
                                  <a:rPr lang="en-US" sz="2400" b="0" i="1" smtClean="0">
                                    <a:solidFill>
                                      <a:srgbClr val="0000CC"/>
                                    </a:solidFill>
                                    <a:latin typeface="Cambria Math" panose="02040503050406030204" pitchFamily="18" charset="0"/>
                                    <a:ea typeface="Cambria Math" panose="02040503050406030204" pitchFamily="18" charset="0"/>
                                  </a:rPr>
                                  <m:t>𝜔</m:t>
                                </m:r>
                                <m:r>
                                  <a:rPr lang="en-US" sz="2400" b="0" i="1" smtClean="0">
                                    <a:solidFill>
                                      <a:srgbClr val="0000CC"/>
                                    </a:solidFill>
                                    <a:latin typeface="Cambria Math" panose="02040503050406030204" pitchFamily="18" charset="0"/>
                                    <a:ea typeface="Cambria Math" panose="02040503050406030204" pitchFamily="18" charset="0"/>
                                  </a:rPr>
                                  <m:t>+</m:t>
                                </m:r>
                                <m:r>
                                  <m:rPr>
                                    <m:sty m:val="p"/>
                                  </m:rPr>
                                  <a:rPr lang="en-US" sz="2400" dirty="0" smtClean="0">
                                    <a:solidFill>
                                      <a:srgbClr val="0000CC"/>
                                    </a:solidFill>
                                    <a:latin typeface="Cambria Math" panose="02040503050406030204" pitchFamily="18" charset="0"/>
                                    <a:ea typeface="Cambria Math" panose="02040503050406030204" pitchFamily="18" charset="0"/>
                                  </a:rPr>
                                  <m:t>ϕ</m:t>
                                </m:r>
                              </m:e>
                            </m:d>
                          </m:e>
                        </m:func>
                      </m:e>
                    </m:d>
                  </m:oMath>
                </a14:m>
                <a:r>
                  <a:rPr lang="en-GB" sz="2400" b="1" dirty="0">
                    <a:solidFill>
                      <a:srgbClr val="0000CC"/>
                    </a:solidFill>
                    <a:latin typeface="Century Gothic" panose="020B0502020202020204" pitchFamily="34" charset="0"/>
                  </a:rPr>
                  <a:t>	</a:t>
                </a:r>
                <a:endParaRPr lang="en-GB" sz="2400" kern="100" dirty="0">
                  <a:latin typeface="Century Gothic" panose="020B0502020202020204" pitchFamily="34" charset="0"/>
                  <a:ea typeface="Calibri" panose="020F0502020204030204" pitchFamily="34" charset="0"/>
                  <a:cs typeface="Times New Roman" panose="02020603050405020304" pitchFamily="18" charset="0"/>
                </a:endParaRPr>
              </a:p>
            </p:txBody>
          </p:sp>
        </mc:Choice>
        <mc:Fallback xmlns="">
          <p:sp>
            <p:nvSpPr>
              <p:cNvPr id="6" name="TextBox 5">
                <a:extLst>
                  <a:ext uri="{FF2B5EF4-FFF2-40B4-BE49-F238E27FC236}">
                    <a16:creationId xmlns:a16="http://schemas.microsoft.com/office/drawing/2014/main" id="{6BAA1F11-5BEF-4D80-964F-A7332E36BFA0}"/>
                  </a:ext>
                </a:extLst>
              </p:cNvPr>
              <p:cNvSpPr txBox="1">
                <a:spLocks noRot="1" noChangeAspect="1" noMove="1" noResize="1" noEditPoints="1" noAdjustHandles="1" noChangeArrowheads="1" noChangeShapeType="1" noTextEdit="1"/>
              </p:cNvSpPr>
              <p:nvPr/>
            </p:nvSpPr>
            <p:spPr>
              <a:xfrm>
                <a:off x="101601" y="741130"/>
                <a:ext cx="11912170" cy="6001643"/>
              </a:xfrm>
              <a:prstGeom prst="rect">
                <a:avLst/>
              </a:prstGeom>
              <a:blipFill>
                <a:blip r:embed="rId3"/>
                <a:stretch>
                  <a:fillRect l="-665" t="-710" r="-1125" b="-507"/>
                </a:stretch>
              </a:blipFill>
              <a:ln>
                <a:solidFill>
                  <a:srgbClr val="FF0066"/>
                </a:solidFill>
              </a:ln>
            </p:spPr>
            <p:txBody>
              <a:bodyPr/>
              <a:lstStyle/>
              <a:p>
                <a:r>
                  <a:rPr lang="en-US">
                    <a:noFill/>
                  </a:rPr>
                  <a:t> </a:t>
                </a:r>
              </a:p>
            </p:txBody>
          </p:sp>
        </mc:Fallback>
      </mc:AlternateContent>
      <p:sp>
        <p:nvSpPr>
          <p:cNvPr id="7" name="TextBox 6">
            <a:extLst>
              <a:ext uri="{FF2B5EF4-FFF2-40B4-BE49-F238E27FC236}">
                <a16:creationId xmlns:a16="http://schemas.microsoft.com/office/drawing/2014/main" id="{C36AA635-C21F-49F3-BF21-4CBE4C20709B}"/>
              </a:ext>
            </a:extLst>
          </p:cNvPr>
          <p:cNvSpPr txBox="1"/>
          <p:nvPr/>
        </p:nvSpPr>
        <p:spPr>
          <a:xfrm>
            <a:off x="5269122" y="6037275"/>
            <a:ext cx="823314" cy="373051"/>
          </a:xfrm>
          <a:prstGeom prst="rect">
            <a:avLst/>
          </a:prstGeom>
          <a:noFill/>
        </p:spPr>
        <p:txBody>
          <a:bodyPr wrap="square" rtlCol="0">
            <a:spAutoFit/>
          </a:bodyPr>
          <a:lstStyle/>
          <a:p>
            <a:pPr algn="ctr"/>
            <a:endParaRPr lang="en-GB" sz="1824" dirty="0">
              <a:latin typeface="Garamond" panose="02020404030301010803" pitchFamily="18" charset="0"/>
            </a:endParaRPr>
          </a:p>
        </p:txBody>
      </p:sp>
    </p:spTree>
    <p:extLst>
      <p:ext uri="{BB962C8B-B14F-4D97-AF65-F5344CB8AC3E}">
        <p14:creationId xmlns:p14="http://schemas.microsoft.com/office/powerpoint/2010/main" val="288686817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6">
            <a:extLst>
              <a:ext uri="{FF2B5EF4-FFF2-40B4-BE49-F238E27FC236}">
                <a16:creationId xmlns:a16="http://schemas.microsoft.com/office/drawing/2014/main" id="{56080804-F19F-41A7-8595-943961648C5E}"/>
              </a:ext>
            </a:extLst>
          </p:cNvPr>
          <p:cNvSpPr>
            <a:spLocks noGrp="1"/>
          </p:cNvSpPr>
          <p:nvPr>
            <p:ph type="sldNum" sz="quarter" idx="12"/>
          </p:nvPr>
        </p:nvSpPr>
        <p:spPr>
          <a:xfrm>
            <a:off x="8610600" y="6441692"/>
            <a:ext cx="2743200" cy="370027"/>
          </a:xfrm>
        </p:spPr>
        <p:txBody>
          <a:bodyPr/>
          <a:lstStyle/>
          <a:p>
            <a:fld id="{F4801FD5-11B4-DE43-ACA2-E85EEB9A6F9C}" type="slidenum">
              <a:rPr lang="en-US" smtClean="0">
                <a:latin typeface="Garamond" panose="02020404030301010803" pitchFamily="18" charset="0"/>
              </a:rPr>
              <a:t>23</a:t>
            </a:fld>
            <a:endParaRPr lang="en-US">
              <a:latin typeface="Garamond" panose="02020404030301010803" pitchFamily="18" charset="0"/>
            </a:endParaRPr>
          </a:p>
        </p:txBody>
      </p:sp>
      <p:sp>
        <p:nvSpPr>
          <p:cNvPr id="5" name="Title 1">
            <a:extLst>
              <a:ext uri="{FF2B5EF4-FFF2-40B4-BE49-F238E27FC236}">
                <a16:creationId xmlns:a16="http://schemas.microsoft.com/office/drawing/2014/main" id="{4710AE4B-0DB8-4451-B9E4-10BAE11B4D3A}"/>
              </a:ext>
            </a:extLst>
          </p:cNvPr>
          <p:cNvSpPr>
            <a:spLocks noGrp="1"/>
          </p:cNvSpPr>
          <p:nvPr>
            <p:ph type="title"/>
          </p:nvPr>
        </p:nvSpPr>
        <p:spPr>
          <a:xfrm>
            <a:off x="497840" y="113802"/>
            <a:ext cx="10972800" cy="558382"/>
          </a:xfrm>
        </p:spPr>
        <p:txBody>
          <a:bodyPr>
            <a:noAutofit/>
          </a:bodyPr>
          <a:lstStyle/>
          <a:p>
            <a:pPr algn="ctr"/>
            <a:r>
              <a:rPr lang="en-US" sz="3200" b="1" u="sng" dirty="0">
                <a:solidFill>
                  <a:srgbClr val="FF3386"/>
                </a:solidFill>
                <a:latin typeface="Century Gothic" panose="020B0502020202020204" pitchFamily="34" charset="0"/>
                <a:cs typeface="Helvetica"/>
              </a:rPr>
              <a:t>POWER COMPUTATION FOR SINUSOIDAL AC  CIRCUIT</a:t>
            </a:r>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6BAA1F11-5BEF-4D80-964F-A7332E36BFA0}"/>
                  </a:ext>
                </a:extLst>
              </p:cNvPr>
              <p:cNvSpPr txBox="1"/>
              <p:nvPr/>
            </p:nvSpPr>
            <p:spPr>
              <a:xfrm>
                <a:off x="101601" y="741130"/>
                <a:ext cx="11912170" cy="5978111"/>
              </a:xfrm>
              <a:prstGeom prst="rect">
                <a:avLst/>
              </a:prstGeom>
              <a:noFill/>
              <a:ln>
                <a:solidFill>
                  <a:srgbClr val="FF0066"/>
                </a:solidFill>
              </a:ln>
            </p:spPr>
            <p:txBody>
              <a:bodyPr wrap="square" rtlCol="0">
                <a:spAutoFit/>
              </a:bodyPr>
              <a:lstStyle/>
              <a:p>
                <a:pPr>
                  <a:buClr>
                    <a:schemeClr val="accent2"/>
                  </a:buClr>
                </a:pPr>
                <a:endParaRPr lang="en-GB" sz="2400" b="1" dirty="0">
                  <a:solidFill>
                    <a:srgbClr val="0000CC"/>
                  </a:solidFill>
                  <a:latin typeface="Century Gothic" panose="020B0502020202020204" pitchFamily="34" charset="0"/>
                </a:endParaRPr>
              </a:p>
              <a:p>
                <a:pPr marL="342900" indent="-342900">
                  <a:buClr>
                    <a:schemeClr val="accent2"/>
                  </a:buClr>
                  <a:buFont typeface="Wingdings" panose="05000000000000000000" pitchFamily="2" charset="2"/>
                  <a:buChar char="v"/>
                </a:pPr>
                <a:r>
                  <a:rPr lang="en-GB" sz="2400" b="1" dirty="0">
                    <a:solidFill>
                      <a:srgbClr val="0000CC"/>
                    </a:solidFill>
                    <a:latin typeface="Century Gothic" panose="020B0502020202020204" pitchFamily="34" charset="0"/>
                  </a:rPr>
                  <a:t> The instantaneous Power is expressed as</a:t>
                </a:r>
              </a:p>
              <a:p>
                <a:pPr>
                  <a:buClr>
                    <a:schemeClr val="accent2"/>
                  </a:buClr>
                </a:pPr>
                <a:r>
                  <a:rPr lang="en-GB" sz="2400" b="1" dirty="0">
                    <a:solidFill>
                      <a:srgbClr val="0000CC"/>
                    </a:solidFill>
                    <a:latin typeface="Century Gothic" panose="020B0502020202020204" pitchFamily="34" charset="0"/>
                  </a:rPr>
                  <a:t>		</a:t>
                </a:r>
                <a14:m>
                  <m:oMath xmlns:m="http://schemas.openxmlformats.org/officeDocument/2006/math">
                    <m:r>
                      <a:rPr lang="en-US" sz="2400" b="1" i="1" smtClean="0">
                        <a:solidFill>
                          <a:srgbClr val="0000CC"/>
                        </a:solidFill>
                        <a:latin typeface="Cambria Math" panose="02040503050406030204" pitchFamily="18" charset="0"/>
                      </a:rPr>
                      <m:t>𝒑</m:t>
                    </m:r>
                    <m:d>
                      <m:dPr>
                        <m:ctrlPr>
                          <a:rPr lang="en-US" sz="2400" b="1" i="1" smtClean="0">
                            <a:solidFill>
                              <a:srgbClr val="0000CC"/>
                            </a:solidFill>
                            <a:latin typeface="Cambria Math" panose="02040503050406030204" pitchFamily="18" charset="0"/>
                          </a:rPr>
                        </m:ctrlPr>
                      </m:dPr>
                      <m:e>
                        <m:r>
                          <a:rPr lang="en-US" sz="2400" b="1" i="1" smtClean="0">
                            <a:solidFill>
                              <a:srgbClr val="0000CC"/>
                            </a:solidFill>
                            <a:latin typeface="Cambria Math" panose="02040503050406030204" pitchFamily="18" charset="0"/>
                          </a:rPr>
                          <m:t>𝒕</m:t>
                        </m:r>
                      </m:e>
                    </m:d>
                    <m:r>
                      <a:rPr lang="en-US" sz="2400" b="1" i="1" smtClean="0">
                        <a:solidFill>
                          <a:srgbClr val="0000CC"/>
                        </a:solidFill>
                        <a:latin typeface="Cambria Math" panose="02040503050406030204" pitchFamily="18" charset="0"/>
                      </a:rPr>
                      <m:t>=</m:t>
                    </m:r>
                    <m:r>
                      <a:rPr lang="en-US" sz="2400" b="1" i="1" smtClean="0">
                        <a:solidFill>
                          <a:srgbClr val="0000CC"/>
                        </a:solidFill>
                        <a:latin typeface="Cambria Math" panose="02040503050406030204" pitchFamily="18" charset="0"/>
                      </a:rPr>
                      <m:t>𝒗</m:t>
                    </m:r>
                    <m:d>
                      <m:dPr>
                        <m:ctrlPr>
                          <a:rPr lang="en-US" sz="2400" b="1" i="1" smtClean="0">
                            <a:solidFill>
                              <a:srgbClr val="0000CC"/>
                            </a:solidFill>
                            <a:latin typeface="Cambria Math" panose="02040503050406030204" pitchFamily="18" charset="0"/>
                          </a:rPr>
                        </m:ctrlPr>
                      </m:dPr>
                      <m:e>
                        <m:r>
                          <a:rPr lang="en-US" sz="2400" b="1" i="1" smtClean="0">
                            <a:solidFill>
                              <a:srgbClr val="0000CC"/>
                            </a:solidFill>
                            <a:latin typeface="Cambria Math" panose="02040503050406030204" pitchFamily="18" charset="0"/>
                          </a:rPr>
                          <m:t>𝒕</m:t>
                        </m:r>
                      </m:e>
                    </m:d>
                    <m:r>
                      <a:rPr lang="en-US" sz="2400" b="1" i="1" smtClean="0">
                        <a:solidFill>
                          <a:srgbClr val="0000CC"/>
                        </a:solidFill>
                        <a:latin typeface="Cambria Math" panose="02040503050406030204" pitchFamily="18" charset="0"/>
                      </a:rPr>
                      <m:t>𝒊</m:t>
                    </m:r>
                    <m:d>
                      <m:dPr>
                        <m:ctrlPr>
                          <a:rPr lang="en-US" sz="2400" b="1" i="1" smtClean="0">
                            <a:solidFill>
                              <a:srgbClr val="0000CC"/>
                            </a:solidFill>
                            <a:latin typeface="Cambria Math" panose="02040503050406030204" pitchFamily="18" charset="0"/>
                          </a:rPr>
                        </m:ctrlPr>
                      </m:dPr>
                      <m:e>
                        <m:r>
                          <a:rPr lang="en-US" sz="2400" b="1" i="1" smtClean="0">
                            <a:solidFill>
                              <a:srgbClr val="0000CC"/>
                            </a:solidFill>
                            <a:latin typeface="Cambria Math" panose="02040503050406030204" pitchFamily="18" charset="0"/>
                          </a:rPr>
                          <m:t>𝒕</m:t>
                        </m:r>
                      </m:e>
                    </m:d>
                    <m:r>
                      <a:rPr lang="en-US" sz="2400" b="1" i="1" smtClean="0">
                        <a:solidFill>
                          <a:srgbClr val="0000CC"/>
                        </a:solidFill>
                        <a:latin typeface="Cambria Math" panose="02040503050406030204" pitchFamily="18" charset="0"/>
                      </a:rPr>
                      <m:t>=</m:t>
                    </m:r>
                    <m:d>
                      <m:dPr>
                        <m:begChr m:val="["/>
                        <m:endChr m:val="]"/>
                        <m:ctrlPr>
                          <a:rPr lang="en-US" sz="2400" b="1" i="1" smtClean="0">
                            <a:solidFill>
                              <a:srgbClr val="0000CC"/>
                            </a:solidFill>
                            <a:latin typeface="Cambria Math" panose="02040503050406030204" pitchFamily="18" charset="0"/>
                          </a:rPr>
                        </m:ctrlPr>
                      </m:dPr>
                      <m:e>
                        <m:sSub>
                          <m:sSubPr>
                            <m:ctrlPr>
                              <a:rPr lang="en-US" sz="2400" b="1" i="1" smtClean="0">
                                <a:solidFill>
                                  <a:srgbClr val="0000CC"/>
                                </a:solidFill>
                                <a:latin typeface="Cambria Math" panose="02040503050406030204" pitchFamily="18" charset="0"/>
                              </a:rPr>
                            </m:ctrlPr>
                          </m:sSubPr>
                          <m:e>
                            <m:r>
                              <a:rPr lang="en-US" sz="2400" b="1" i="1" smtClean="0">
                                <a:solidFill>
                                  <a:srgbClr val="0000CC"/>
                                </a:solidFill>
                                <a:latin typeface="Cambria Math" panose="02040503050406030204" pitchFamily="18" charset="0"/>
                              </a:rPr>
                              <m:t>𝑽</m:t>
                            </m:r>
                          </m:e>
                          <m:sub>
                            <m:r>
                              <a:rPr lang="en-US" sz="2400" b="1" i="1" smtClean="0">
                                <a:solidFill>
                                  <a:srgbClr val="0000CC"/>
                                </a:solidFill>
                                <a:latin typeface="Cambria Math" panose="02040503050406030204" pitchFamily="18" charset="0"/>
                              </a:rPr>
                              <m:t>𝒎</m:t>
                            </m:r>
                          </m:sub>
                        </m:sSub>
                        <m:func>
                          <m:funcPr>
                            <m:ctrlPr>
                              <a:rPr lang="en-US" sz="2400" b="1" i="1" smtClean="0">
                                <a:solidFill>
                                  <a:srgbClr val="0000CC"/>
                                </a:solidFill>
                                <a:latin typeface="Cambria Math" panose="02040503050406030204" pitchFamily="18" charset="0"/>
                              </a:rPr>
                            </m:ctrlPr>
                          </m:funcPr>
                          <m:fName>
                            <m:r>
                              <m:rPr>
                                <m:sty m:val="p"/>
                              </m:rPr>
                              <a:rPr lang="en-US" sz="2400" b="0" i="0" smtClean="0">
                                <a:solidFill>
                                  <a:srgbClr val="0000CC"/>
                                </a:solidFill>
                                <a:latin typeface="Cambria Math" panose="02040503050406030204" pitchFamily="18" charset="0"/>
                              </a:rPr>
                              <m:t>cos</m:t>
                            </m:r>
                          </m:fName>
                          <m:e>
                            <m:d>
                              <m:dPr>
                                <m:ctrlPr>
                                  <a:rPr lang="en-US" sz="2400" b="0" i="1" smtClean="0">
                                    <a:solidFill>
                                      <a:srgbClr val="0000CC"/>
                                    </a:solidFill>
                                    <a:latin typeface="Cambria Math" panose="02040503050406030204" pitchFamily="18" charset="0"/>
                                  </a:rPr>
                                </m:ctrlPr>
                              </m:dPr>
                              <m:e>
                                <m:r>
                                  <a:rPr lang="en-US" sz="2400" b="0" i="1" smtClean="0">
                                    <a:solidFill>
                                      <a:srgbClr val="0000CC"/>
                                    </a:solidFill>
                                    <a:latin typeface="Cambria Math" panose="02040503050406030204" pitchFamily="18" charset="0"/>
                                    <a:ea typeface="Cambria Math" panose="02040503050406030204" pitchFamily="18" charset="0"/>
                                  </a:rPr>
                                  <m:t>𝜔</m:t>
                                </m:r>
                                <m:r>
                                  <a:rPr lang="en-US" sz="2400" b="0" i="1" smtClean="0">
                                    <a:solidFill>
                                      <a:srgbClr val="0000CC"/>
                                    </a:solidFill>
                                    <a:latin typeface="Cambria Math" panose="02040503050406030204" pitchFamily="18" charset="0"/>
                                    <a:ea typeface="Cambria Math" panose="02040503050406030204" pitchFamily="18" charset="0"/>
                                  </a:rPr>
                                  <m:t>𝑡</m:t>
                                </m:r>
                                <m:r>
                                  <a:rPr lang="en-US" sz="2400" b="0" i="1" smtClean="0">
                                    <a:solidFill>
                                      <a:srgbClr val="0000CC"/>
                                    </a:solidFill>
                                    <a:latin typeface="Cambria Math" panose="02040503050406030204" pitchFamily="18" charset="0"/>
                                    <a:ea typeface="Cambria Math" panose="02040503050406030204" pitchFamily="18" charset="0"/>
                                  </a:rPr>
                                  <m:t> +</m:t>
                                </m:r>
                                <m:r>
                                  <a:rPr lang="en-US" sz="2400" b="0" i="1" smtClean="0">
                                    <a:solidFill>
                                      <a:srgbClr val="0000CC"/>
                                    </a:solidFill>
                                    <a:latin typeface="Cambria Math" panose="02040503050406030204" pitchFamily="18" charset="0"/>
                                    <a:ea typeface="Cambria Math" panose="02040503050406030204" pitchFamily="18" charset="0"/>
                                  </a:rPr>
                                  <m:t>𝜃</m:t>
                                </m:r>
                              </m:e>
                            </m:d>
                          </m:e>
                        </m:func>
                      </m:e>
                    </m:d>
                    <m:d>
                      <m:dPr>
                        <m:begChr m:val="["/>
                        <m:endChr m:val="]"/>
                        <m:ctrlPr>
                          <a:rPr lang="en-US" sz="2400" b="1" i="1" smtClean="0">
                            <a:solidFill>
                              <a:srgbClr val="0000CC"/>
                            </a:solidFill>
                            <a:latin typeface="Cambria Math" panose="02040503050406030204" pitchFamily="18" charset="0"/>
                          </a:rPr>
                        </m:ctrlPr>
                      </m:dPr>
                      <m:e>
                        <m:sSub>
                          <m:sSubPr>
                            <m:ctrlPr>
                              <a:rPr lang="en-US" sz="2400" b="1" i="1" smtClean="0">
                                <a:solidFill>
                                  <a:srgbClr val="0000CC"/>
                                </a:solidFill>
                                <a:latin typeface="Cambria Math" panose="02040503050406030204" pitchFamily="18" charset="0"/>
                              </a:rPr>
                            </m:ctrlPr>
                          </m:sSubPr>
                          <m:e>
                            <m:r>
                              <a:rPr lang="en-US" sz="2400" b="1" i="1" smtClean="0">
                                <a:solidFill>
                                  <a:srgbClr val="0000CC"/>
                                </a:solidFill>
                                <a:latin typeface="Cambria Math" panose="02040503050406030204" pitchFamily="18" charset="0"/>
                              </a:rPr>
                              <m:t>𝑰</m:t>
                            </m:r>
                          </m:e>
                          <m:sub>
                            <m:r>
                              <a:rPr lang="en-US" sz="2400" b="1" i="1" smtClean="0">
                                <a:solidFill>
                                  <a:srgbClr val="0000CC"/>
                                </a:solidFill>
                                <a:latin typeface="Cambria Math" panose="02040503050406030204" pitchFamily="18" charset="0"/>
                              </a:rPr>
                              <m:t>𝒎</m:t>
                            </m:r>
                          </m:sub>
                        </m:sSub>
                        <m:func>
                          <m:funcPr>
                            <m:ctrlPr>
                              <a:rPr lang="en-US" sz="2400" b="1" i="1" smtClean="0">
                                <a:solidFill>
                                  <a:srgbClr val="0000CC"/>
                                </a:solidFill>
                                <a:latin typeface="Cambria Math" panose="02040503050406030204" pitchFamily="18" charset="0"/>
                              </a:rPr>
                            </m:ctrlPr>
                          </m:funcPr>
                          <m:fName>
                            <m:r>
                              <m:rPr>
                                <m:sty m:val="p"/>
                              </m:rPr>
                              <a:rPr lang="en-US" sz="2400" b="0" i="0" smtClean="0">
                                <a:solidFill>
                                  <a:srgbClr val="0000CC"/>
                                </a:solidFill>
                                <a:latin typeface="Cambria Math" panose="02040503050406030204" pitchFamily="18" charset="0"/>
                              </a:rPr>
                              <m:t>cos</m:t>
                            </m:r>
                          </m:fName>
                          <m:e>
                            <m:d>
                              <m:dPr>
                                <m:ctrlPr>
                                  <a:rPr lang="en-US" sz="2400" b="0" i="1" smtClean="0">
                                    <a:solidFill>
                                      <a:srgbClr val="0000CC"/>
                                    </a:solidFill>
                                    <a:latin typeface="Cambria Math" panose="02040503050406030204" pitchFamily="18" charset="0"/>
                                  </a:rPr>
                                </m:ctrlPr>
                              </m:dPr>
                              <m:e>
                                <m:r>
                                  <a:rPr lang="en-US" sz="2400" b="0" i="1" smtClean="0">
                                    <a:solidFill>
                                      <a:srgbClr val="0000CC"/>
                                    </a:solidFill>
                                    <a:latin typeface="Cambria Math" panose="02040503050406030204" pitchFamily="18" charset="0"/>
                                    <a:ea typeface="Cambria Math" panose="02040503050406030204" pitchFamily="18" charset="0"/>
                                  </a:rPr>
                                  <m:t>𝜔</m:t>
                                </m:r>
                                <m:r>
                                  <a:rPr lang="en-US" sz="2400" b="0" i="1" smtClean="0">
                                    <a:solidFill>
                                      <a:srgbClr val="0000CC"/>
                                    </a:solidFill>
                                    <a:latin typeface="Cambria Math" panose="02040503050406030204" pitchFamily="18" charset="0"/>
                                    <a:ea typeface="Cambria Math" panose="02040503050406030204" pitchFamily="18" charset="0"/>
                                  </a:rPr>
                                  <m:t>+</m:t>
                                </m:r>
                                <m:r>
                                  <m:rPr>
                                    <m:sty m:val="p"/>
                                  </m:rPr>
                                  <a:rPr lang="en-US" sz="2400" dirty="0" smtClean="0">
                                    <a:solidFill>
                                      <a:srgbClr val="0000CC"/>
                                    </a:solidFill>
                                    <a:latin typeface="Cambria Math" panose="02040503050406030204" pitchFamily="18" charset="0"/>
                                    <a:ea typeface="Cambria Math" panose="02040503050406030204" pitchFamily="18" charset="0"/>
                                  </a:rPr>
                                  <m:t>ϕ</m:t>
                                </m:r>
                              </m:e>
                            </m:d>
                          </m:e>
                        </m:func>
                      </m:e>
                    </m:d>
                  </m:oMath>
                </a14:m>
                <a:r>
                  <a:rPr lang="en-GB" sz="2400" b="1" dirty="0">
                    <a:solidFill>
                      <a:srgbClr val="0000CC"/>
                    </a:solidFill>
                    <a:latin typeface="Century Gothic" panose="020B0502020202020204" pitchFamily="34" charset="0"/>
                  </a:rPr>
                  <a:t>	</a:t>
                </a:r>
              </a:p>
              <a:p>
                <a:pPr>
                  <a:buClr>
                    <a:schemeClr val="accent2"/>
                  </a:buClr>
                </a:pPr>
                <a:endParaRPr lang="en-GB" sz="2400" b="1" kern="100" dirty="0">
                  <a:solidFill>
                    <a:srgbClr val="0000CC"/>
                  </a:solidFill>
                  <a:latin typeface="Century Gothic" panose="020B0502020202020204" pitchFamily="34" charset="0"/>
                  <a:ea typeface="Calibri" panose="020F0502020204030204" pitchFamily="34" charset="0"/>
                  <a:cs typeface="Times New Roman" panose="02020603050405020304" pitchFamily="18" charset="0"/>
                </a:endParaRPr>
              </a:p>
              <a:p>
                <a:pPr>
                  <a:buClr>
                    <a:schemeClr val="accent2"/>
                  </a:buClr>
                </a:pPr>
                <a:r>
                  <a:rPr lang="en-GB" sz="2400" b="1" kern="100" dirty="0">
                    <a:solidFill>
                      <a:srgbClr val="0000CC"/>
                    </a:solidFill>
                    <a:latin typeface="Century Gothic" panose="020B0502020202020204" pitchFamily="34" charset="0"/>
                    <a:ea typeface="Calibri" panose="020F0502020204030204" pitchFamily="34" charset="0"/>
                    <a:cs typeface="Times New Roman" panose="02020603050405020304" pitchFamily="18" charset="0"/>
                  </a:rPr>
                  <a:t>	Using the trigonometric identity gives</a:t>
                </a:r>
              </a:p>
              <a:p>
                <a:pPr>
                  <a:buClr>
                    <a:schemeClr val="accent2"/>
                  </a:buClr>
                </a:pPr>
                <a:r>
                  <a:rPr lang="en-GB" sz="2400" b="1" kern="100" dirty="0">
                    <a:solidFill>
                      <a:srgbClr val="0000CC"/>
                    </a:solidFill>
                    <a:latin typeface="Century Gothic" panose="020B0502020202020204" pitchFamily="34" charset="0"/>
                    <a:ea typeface="Calibri" panose="020F0502020204030204" pitchFamily="34" charset="0"/>
                    <a:cs typeface="Times New Roman" panose="02020603050405020304" pitchFamily="18" charset="0"/>
                  </a:rPr>
                  <a:t>			</a:t>
                </a:r>
                <a14:m>
                  <m:oMath xmlns:m="http://schemas.openxmlformats.org/officeDocument/2006/math">
                    <m:d>
                      <m:dPr>
                        <m:ctrlPr>
                          <a:rPr lang="en-GB" sz="2400" b="1" i="1" kern="100" smtClean="0">
                            <a:solidFill>
                              <a:srgbClr val="0000CC"/>
                            </a:solidFill>
                            <a:latin typeface="Cambria Math" panose="02040503050406030204" pitchFamily="18" charset="0"/>
                            <a:ea typeface="Calibri" panose="020F0502020204030204" pitchFamily="34" charset="0"/>
                            <a:cs typeface="Times New Roman" panose="02020603050405020304" pitchFamily="18" charset="0"/>
                          </a:rPr>
                        </m:ctrlPr>
                      </m:dPr>
                      <m:e>
                        <m:func>
                          <m:funcPr>
                            <m:ctrlPr>
                              <a:rPr lang="en-GB" sz="2400" b="1" i="1" kern="100" smtClean="0">
                                <a:solidFill>
                                  <a:srgbClr val="0000CC"/>
                                </a:solidFill>
                                <a:latin typeface="Cambria Math" panose="02040503050406030204" pitchFamily="18" charset="0"/>
                                <a:ea typeface="Calibri" panose="020F0502020204030204" pitchFamily="34" charset="0"/>
                                <a:cs typeface="Times New Roman" panose="02020603050405020304" pitchFamily="18" charset="0"/>
                              </a:rPr>
                            </m:ctrlPr>
                          </m:funcPr>
                          <m:fName>
                            <m:r>
                              <m:rPr>
                                <m:sty m:val="p"/>
                              </m:rPr>
                              <a:rPr lang="en-GB" sz="2400" b="0" i="0" kern="100" smtClean="0">
                                <a:solidFill>
                                  <a:srgbClr val="0000CC"/>
                                </a:solidFill>
                                <a:latin typeface="Cambria Math" panose="02040503050406030204" pitchFamily="18" charset="0"/>
                                <a:ea typeface="Calibri" panose="020F0502020204030204" pitchFamily="34" charset="0"/>
                                <a:cs typeface="Times New Roman" panose="02020603050405020304" pitchFamily="18" charset="0"/>
                              </a:rPr>
                              <m:t>cos</m:t>
                            </m:r>
                          </m:fName>
                          <m:e>
                            <m:r>
                              <a:rPr lang="en-US" sz="2400" b="0" i="1" kern="100" smtClean="0">
                                <a:solidFill>
                                  <a:srgbClr val="0000CC"/>
                                </a:solidFill>
                                <a:latin typeface="Cambria Math" panose="02040503050406030204" pitchFamily="18" charset="0"/>
                                <a:ea typeface="Calibri" panose="020F0502020204030204" pitchFamily="34" charset="0"/>
                                <a:cs typeface="Times New Roman" panose="02020603050405020304" pitchFamily="18" charset="0"/>
                              </a:rPr>
                              <m:t>𝐴</m:t>
                            </m:r>
                          </m:e>
                        </m:func>
                      </m:e>
                    </m:d>
                    <m:d>
                      <m:dPr>
                        <m:ctrlPr>
                          <a:rPr lang="en-GB" sz="2400" b="1" i="1" kern="100" smtClean="0">
                            <a:solidFill>
                              <a:srgbClr val="0000CC"/>
                            </a:solidFill>
                            <a:latin typeface="Cambria Math" panose="02040503050406030204" pitchFamily="18" charset="0"/>
                            <a:ea typeface="Calibri" panose="020F0502020204030204" pitchFamily="34" charset="0"/>
                            <a:cs typeface="Times New Roman" panose="02020603050405020304" pitchFamily="18" charset="0"/>
                          </a:rPr>
                        </m:ctrlPr>
                      </m:dPr>
                      <m:e>
                        <m:func>
                          <m:funcPr>
                            <m:ctrlPr>
                              <a:rPr lang="en-GB" sz="2400" b="1" i="1" kern="100" smtClean="0">
                                <a:solidFill>
                                  <a:srgbClr val="0000CC"/>
                                </a:solidFill>
                                <a:latin typeface="Cambria Math" panose="02040503050406030204" pitchFamily="18" charset="0"/>
                                <a:ea typeface="Calibri" panose="020F0502020204030204" pitchFamily="34" charset="0"/>
                                <a:cs typeface="Times New Roman" panose="02020603050405020304" pitchFamily="18" charset="0"/>
                              </a:rPr>
                            </m:ctrlPr>
                          </m:funcPr>
                          <m:fName>
                            <m:r>
                              <m:rPr>
                                <m:sty m:val="p"/>
                              </m:rPr>
                              <a:rPr lang="en-GB" sz="2400" b="0" i="0" kern="100" smtClean="0">
                                <a:solidFill>
                                  <a:srgbClr val="0000CC"/>
                                </a:solidFill>
                                <a:latin typeface="Cambria Math" panose="02040503050406030204" pitchFamily="18" charset="0"/>
                                <a:ea typeface="Calibri" panose="020F0502020204030204" pitchFamily="34" charset="0"/>
                                <a:cs typeface="Times New Roman" panose="02020603050405020304" pitchFamily="18" charset="0"/>
                              </a:rPr>
                              <m:t>cos</m:t>
                            </m:r>
                          </m:fName>
                          <m:e>
                            <m:r>
                              <a:rPr lang="en-US" sz="2400" b="0" i="1" kern="100" smtClean="0">
                                <a:solidFill>
                                  <a:srgbClr val="0000CC"/>
                                </a:solidFill>
                                <a:latin typeface="Cambria Math" panose="02040503050406030204" pitchFamily="18" charset="0"/>
                                <a:ea typeface="Calibri" panose="020F0502020204030204" pitchFamily="34" charset="0"/>
                                <a:cs typeface="Times New Roman" panose="02020603050405020304" pitchFamily="18" charset="0"/>
                              </a:rPr>
                              <m:t>𝐵</m:t>
                            </m:r>
                          </m:e>
                        </m:func>
                      </m:e>
                    </m:d>
                    <m:r>
                      <a:rPr lang="en-US" sz="2400" b="1" i="1" kern="100" smtClean="0">
                        <a:solidFill>
                          <a:srgbClr val="0000CC"/>
                        </a:solidFill>
                        <a:latin typeface="Cambria Math" panose="02040503050406030204" pitchFamily="18" charset="0"/>
                        <a:ea typeface="Calibri" panose="020F0502020204030204" pitchFamily="34" charset="0"/>
                        <a:cs typeface="Times New Roman" panose="02020603050405020304" pitchFamily="18" charset="0"/>
                      </a:rPr>
                      <m:t>= </m:t>
                    </m:r>
                    <m:f>
                      <m:fPr>
                        <m:ctrlPr>
                          <a:rPr lang="en-US" sz="2400" b="1" i="1" kern="100" smtClean="0">
                            <a:solidFill>
                              <a:srgbClr val="0000CC"/>
                            </a:solidFill>
                            <a:latin typeface="Cambria Math" panose="02040503050406030204" pitchFamily="18" charset="0"/>
                            <a:ea typeface="Calibri" panose="020F0502020204030204" pitchFamily="34" charset="0"/>
                            <a:cs typeface="Times New Roman" panose="02020603050405020304" pitchFamily="18" charset="0"/>
                          </a:rPr>
                        </m:ctrlPr>
                      </m:fPr>
                      <m:num>
                        <m:r>
                          <a:rPr lang="en-US" sz="2400" b="1" i="1" kern="100" smtClean="0">
                            <a:solidFill>
                              <a:srgbClr val="0000CC"/>
                            </a:solidFill>
                            <a:latin typeface="Cambria Math" panose="02040503050406030204" pitchFamily="18" charset="0"/>
                            <a:ea typeface="Calibri" panose="020F0502020204030204" pitchFamily="34" charset="0"/>
                            <a:cs typeface="Times New Roman" panose="02020603050405020304" pitchFamily="18" charset="0"/>
                          </a:rPr>
                          <m:t>𝟏</m:t>
                        </m:r>
                      </m:num>
                      <m:den>
                        <m:r>
                          <a:rPr lang="en-US" sz="2400" b="1" i="1" kern="100" smtClean="0">
                            <a:solidFill>
                              <a:srgbClr val="0000CC"/>
                            </a:solidFill>
                            <a:latin typeface="Cambria Math" panose="02040503050406030204" pitchFamily="18" charset="0"/>
                            <a:ea typeface="Calibri" panose="020F0502020204030204" pitchFamily="34" charset="0"/>
                            <a:cs typeface="Times New Roman" panose="02020603050405020304" pitchFamily="18" charset="0"/>
                          </a:rPr>
                          <m:t>𝟐</m:t>
                        </m:r>
                      </m:den>
                    </m:f>
                    <m:d>
                      <m:dPr>
                        <m:begChr m:val="["/>
                        <m:endChr m:val="]"/>
                        <m:ctrlPr>
                          <a:rPr lang="en-US" sz="2400" b="1" i="1" kern="100" smtClean="0">
                            <a:solidFill>
                              <a:srgbClr val="0000CC"/>
                            </a:solidFill>
                            <a:latin typeface="Cambria Math" panose="02040503050406030204" pitchFamily="18" charset="0"/>
                            <a:ea typeface="Calibri" panose="020F0502020204030204" pitchFamily="34" charset="0"/>
                            <a:cs typeface="Times New Roman" panose="02020603050405020304" pitchFamily="18" charset="0"/>
                          </a:rPr>
                        </m:ctrlPr>
                      </m:dPr>
                      <m:e>
                        <m:func>
                          <m:funcPr>
                            <m:ctrlPr>
                              <a:rPr lang="en-US" sz="2400" b="1" i="1" kern="100" smtClean="0">
                                <a:solidFill>
                                  <a:srgbClr val="0000CC"/>
                                </a:solidFill>
                                <a:latin typeface="Cambria Math" panose="02040503050406030204" pitchFamily="18" charset="0"/>
                                <a:ea typeface="Calibri" panose="020F0502020204030204" pitchFamily="34" charset="0"/>
                                <a:cs typeface="Times New Roman" panose="02020603050405020304" pitchFamily="18" charset="0"/>
                              </a:rPr>
                            </m:ctrlPr>
                          </m:funcPr>
                          <m:fName>
                            <m:r>
                              <m:rPr>
                                <m:sty m:val="p"/>
                              </m:rPr>
                              <a:rPr lang="en-US" sz="2400" b="0" i="0" kern="100" smtClean="0">
                                <a:solidFill>
                                  <a:srgbClr val="0000CC"/>
                                </a:solidFill>
                                <a:latin typeface="Cambria Math" panose="02040503050406030204" pitchFamily="18" charset="0"/>
                                <a:ea typeface="Calibri" panose="020F0502020204030204" pitchFamily="34" charset="0"/>
                                <a:cs typeface="Times New Roman" panose="02020603050405020304" pitchFamily="18" charset="0"/>
                              </a:rPr>
                              <m:t>cos</m:t>
                            </m:r>
                          </m:fName>
                          <m:e>
                            <m:d>
                              <m:dPr>
                                <m:ctrlPr>
                                  <a:rPr lang="en-US" sz="2400" b="0" i="1" kern="100" smtClean="0">
                                    <a:solidFill>
                                      <a:srgbClr val="0000CC"/>
                                    </a:solidFill>
                                    <a:latin typeface="Cambria Math" panose="02040503050406030204" pitchFamily="18" charset="0"/>
                                    <a:ea typeface="Calibri" panose="020F0502020204030204" pitchFamily="34" charset="0"/>
                                    <a:cs typeface="Times New Roman" panose="02020603050405020304" pitchFamily="18" charset="0"/>
                                  </a:rPr>
                                </m:ctrlPr>
                              </m:dPr>
                              <m:e>
                                <m:r>
                                  <a:rPr lang="en-US" sz="2400" b="0" i="1" kern="100" smtClean="0">
                                    <a:solidFill>
                                      <a:srgbClr val="0000CC"/>
                                    </a:solidFill>
                                    <a:latin typeface="Cambria Math" panose="02040503050406030204" pitchFamily="18" charset="0"/>
                                    <a:ea typeface="Calibri" panose="020F0502020204030204" pitchFamily="34" charset="0"/>
                                    <a:cs typeface="Times New Roman" panose="02020603050405020304" pitchFamily="18" charset="0"/>
                                  </a:rPr>
                                  <m:t>𝐴</m:t>
                                </m:r>
                                <m:r>
                                  <a:rPr lang="en-US" sz="2400" b="0" i="1" kern="100" smtClean="0">
                                    <a:solidFill>
                                      <a:srgbClr val="0000CC"/>
                                    </a:solidFill>
                                    <a:latin typeface="Cambria Math" panose="02040503050406030204" pitchFamily="18" charset="0"/>
                                    <a:ea typeface="Cambria Math" panose="02040503050406030204" pitchFamily="18" charset="0"/>
                                    <a:cs typeface="Times New Roman" panose="02020603050405020304" pitchFamily="18" charset="0"/>
                                  </a:rPr>
                                  <m:t>+</m:t>
                                </m:r>
                                <m:r>
                                  <a:rPr lang="en-US" sz="2400" b="0" i="1" kern="100" smtClean="0">
                                    <a:solidFill>
                                      <a:srgbClr val="0000CC"/>
                                    </a:solidFill>
                                    <a:latin typeface="Cambria Math" panose="02040503050406030204" pitchFamily="18" charset="0"/>
                                    <a:ea typeface="Cambria Math" panose="02040503050406030204" pitchFamily="18" charset="0"/>
                                    <a:cs typeface="Times New Roman" panose="02020603050405020304" pitchFamily="18" charset="0"/>
                                  </a:rPr>
                                  <m:t>𝐵</m:t>
                                </m:r>
                              </m:e>
                            </m:d>
                            <m:r>
                              <a:rPr lang="en-US" sz="2400" b="0" i="1" kern="100" smtClean="0">
                                <a:solidFill>
                                  <a:srgbClr val="0000CC"/>
                                </a:solidFill>
                                <a:latin typeface="Cambria Math" panose="02040503050406030204" pitchFamily="18" charset="0"/>
                                <a:ea typeface="Cambria Math" panose="02040503050406030204" pitchFamily="18" charset="0"/>
                                <a:cs typeface="Times New Roman" panose="02020603050405020304" pitchFamily="18" charset="0"/>
                              </a:rPr>
                              <m:t>+</m:t>
                            </m:r>
                            <m:func>
                              <m:funcPr>
                                <m:ctrlPr>
                                  <a:rPr lang="en-US" sz="2400" b="0" i="1" kern="100" smtClean="0">
                                    <a:solidFill>
                                      <a:srgbClr val="0000CC"/>
                                    </a:solidFill>
                                    <a:latin typeface="Cambria Math" panose="02040503050406030204" pitchFamily="18" charset="0"/>
                                    <a:ea typeface="Cambria Math" panose="02040503050406030204" pitchFamily="18" charset="0"/>
                                    <a:cs typeface="Times New Roman" panose="02020603050405020304" pitchFamily="18" charset="0"/>
                                  </a:rPr>
                                </m:ctrlPr>
                              </m:funcPr>
                              <m:fName>
                                <m:r>
                                  <m:rPr>
                                    <m:sty m:val="p"/>
                                  </m:rPr>
                                  <a:rPr lang="en-US" sz="2400" b="0" i="0" kern="100" smtClean="0">
                                    <a:solidFill>
                                      <a:srgbClr val="0000CC"/>
                                    </a:solidFill>
                                    <a:latin typeface="Cambria Math" panose="02040503050406030204" pitchFamily="18" charset="0"/>
                                    <a:ea typeface="Cambria Math" panose="02040503050406030204" pitchFamily="18" charset="0"/>
                                    <a:cs typeface="Times New Roman" panose="02020603050405020304" pitchFamily="18" charset="0"/>
                                  </a:rPr>
                                  <m:t>cos</m:t>
                                </m:r>
                              </m:fName>
                              <m:e>
                                <m:d>
                                  <m:dPr>
                                    <m:ctrlPr>
                                      <a:rPr lang="en-US" sz="2400" b="0" i="1" kern="100" smtClean="0">
                                        <a:solidFill>
                                          <a:srgbClr val="0000CC"/>
                                        </a:solidFill>
                                        <a:latin typeface="Cambria Math" panose="02040503050406030204" pitchFamily="18" charset="0"/>
                                        <a:ea typeface="Cambria Math" panose="02040503050406030204" pitchFamily="18" charset="0"/>
                                        <a:cs typeface="Times New Roman" panose="02020603050405020304" pitchFamily="18" charset="0"/>
                                      </a:rPr>
                                    </m:ctrlPr>
                                  </m:dPr>
                                  <m:e>
                                    <m:r>
                                      <a:rPr lang="en-US" sz="2400" b="0" i="1" kern="100" smtClean="0">
                                        <a:solidFill>
                                          <a:srgbClr val="0000CC"/>
                                        </a:solidFill>
                                        <a:latin typeface="Cambria Math" panose="02040503050406030204" pitchFamily="18" charset="0"/>
                                        <a:ea typeface="Cambria Math" panose="02040503050406030204" pitchFamily="18" charset="0"/>
                                        <a:cs typeface="Times New Roman" panose="02020603050405020304" pitchFamily="18" charset="0"/>
                                      </a:rPr>
                                      <m:t>𝐴</m:t>
                                    </m:r>
                                    <m:r>
                                      <a:rPr lang="en-US" sz="2400" b="0" i="1" kern="100" smtClean="0">
                                        <a:solidFill>
                                          <a:srgbClr val="0000CC"/>
                                        </a:solidFill>
                                        <a:latin typeface="Cambria Math" panose="02040503050406030204" pitchFamily="18" charset="0"/>
                                        <a:ea typeface="Cambria Math" panose="02040503050406030204" pitchFamily="18" charset="0"/>
                                        <a:cs typeface="Times New Roman" panose="02020603050405020304" pitchFamily="18" charset="0"/>
                                      </a:rPr>
                                      <m:t>−</m:t>
                                    </m:r>
                                    <m:r>
                                      <a:rPr lang="en-US" sz="2400" b="0" i="1" kern="100" smtClean="0">
                                        <a:solidFill>
                                          <a:srgbClr val="0000CC"/>
                                        </a:solidFill>
                                        <a:latin typeface="Cambria Math" panose="02040503050406030204" pitchFamily="18" charset="0"/>
                                        <a:ea typeface="Cambria Math" panose="02040503050406030204" pitchFamily="18" charset="0"/>
                                        <a:cs typeface="Times New Roman" panose="02020603050405020304" pitchFamily="18" charset="0"/>
                                      </a:rPr>
                                      <m:t>𝐵</m:t>
                                    </m:r>
                                  </m:e>
                                </m:d>
                              </m:e>
                            </m:func>
                          </m:e>
                        </m:func>
                      </m:e>
                    </m:d>
                  </m:oMath>
                </a14:m>
                <a:endParaRPr lang="en-GB" sz="2400" b="1" kern="100" dirty="0">
                  <a:solidFill>
                    <a:srgbClr val="0000CC"/>
                  </a:solidFill>
                  <a:latin typeface="Century Gothic" panose="020B0502020202020204" pitchFamily="34" charset="0"/>
                  <a:ea typeface="Calibri" panose="020F0502020204030204" pitchFamily="34" charset="0"/>
                  <a:cs typeface="Times New Roman" panose="02020603050405020304" pitchFamily="18" charset="0"/>
                </a:endParaRPr>
              </a:p>
              <a:p>
                <a:pPr>
                  <a:buClr>
                    <a:schemeClr val="accent2"/>
                  </a:buClr>
                </a:pPr>
                <a:r>
                  <a:rPr lang="en-GB" sz="2400" b="1" kern="100" dirty="0">
                    <a:solidFill>
                      <a:srgbClr val="0000CC"/>
                    </a:solidFill>
                    <a:latin typeface="Century Gothic" panose="020B0502020202020204" pitchFamily="34" charset="0"/>
                    <a:ea typeface="Calibri" panose="020F0502020204030204" pitchFamily="34" charset="0"/>
                    <a:cs typeface="Times New Roman" panose="02020603050405020304" pitchFamily="18" charset="0"/>
                  </a:rPr>
                  <a:t>		</a:t>
                </a:r>
                <a14:m>
                  <m:oMath xmlns:m="http://schemas.openxmlformats.org/officeDocument/2006/math">
                    <m:r>
                      <a:rPr lang="en-US" sz="2400" b="1" i="1" kern="100" smtClean="0">
                        <a:solidFill>
                          <a:srgbClr val="0000CC"/>
                        </a:solidFill>
                        <a:latin typeface="Cambria Math" panose="02040503050406030204" pitchFamily="18" charset="0"/>
                        <a:ea typeface="Calibri" panose="020F0502020204030204" pitchFamily="34" charset="0"/>
                        <a:cs typeface="Times New Roman" panose="02020603050405020304" pitchFamily="18" charset="0"/>
                      </a:rPr>
                      <m:t>𝒑</m:t>
                    </m:r>
                    <m:d>
                      <m:dPr>
                        <m:ctrlPr>
                          <a:rPr lang="en-US" sz="2400" b="1" i="1" kern="100" smtClean="0">
                            <a:solidFill>
                              <a:srgbClr val="0000CC"/>
                            </a:solidFill>
                            <a:latin typeface="Cambria Math" panose="02040503050406030204" pitchFamily="18" charset="0"/>
                            <a:ea typeface="Calibri" panose="020F0502020204030204" pitchFamily="34" charset="0"/>
                            <a:cs typeface="Times New Roman" panose="02020603050405020304" pitchFamily="18" charset="0"/>
                          </a:rPr>
                        </m:ctrlPr>
                      </m:dPr>
                      <m:e>
                        <m:r>
                          <a:rPr lang="en-US" sz="2400" b="1" i="1" kern="100" smtClean="0">
                            <a:solidFill>
                              <a:srgbClr val="0000CC"/>
                            </a:solidFill>
                            <a:latin typeface="Cambria Math" panose="02040503050406030204" pitchFamily="18" charset="0"/>
                            <a:ea typeface="Calibri" panose="020F0502020204030204" pitchFamily="34" charset="0"/>
                            <a:cs typeface="Times New Roman" panose="02020603050405020304" pitchFamily="18" charset="0"/>
                          </a:rPr>
                          <m:t>𝒕</m:t>
                        </m:r>
                      </m:e>
                    </m:d>
                    <m:r>
                      <a:rPr lang="en-US" sz="2400" b="1" i="1" kern="100" smtClean="0">
                        <a:solidFill>
                          <a:srgbClr val="0000CC"/>
                        </a:solidFill>
                        <a:latin typeface="Cambria Math" panose="02040503050406030204" pitchFamily="18" charset="0"/>
                        <a:ea typeface="Calibri" panose="020F0502020204030204" pitchFamily="34" charset="0"/>
                        <a:cs typeface="Times New Roman" panose="02020603050405020304" pitchFamily="18" charset="0"/>
                      </a:rPr>
                      <m:t>= </m:t>
                    </m:r>
                    <m:d>
                      <m:dPr>
                        <m:ctrlPr>
                          <a:rPr lang="en-US" sz="2400" b="1" i="1" kern="100" smtClean="0">
                            <a:solidFill>
                              <a:srgbClr val="0000CC"/>
                            </a:solidFill>
                            <a:latin typeface="Cambria Math" panose="02040503050406030204" pitchFamily="18" charset="0"/>
                            <a:ea typeface="Calibri" panose="020F0502020204030204" pitchFamily="34" charset="0"/>
                            <a:cs typeface="Times New Roman" panose="02020603050405020304" pitchFamily="18" charset="0"/>
                          </a:rPr>
                        </m:ctrlPr>
                      </m:dPr>
                      <m:e>
                        <m:f>
                          <m:fPr>
                            <m:ctrlPr>
                              <a:rPr lang="en-US" sz="2400" b="1" i="1" kern="100" smtClean="0">
                                <a:solidFill>
                                  <a:srgbClr val="0000CC"/>
                                </a:solidFill>
                                <a:latin typeface="Cambria Math" panose="02040503050406030204" pitchFamily="18" charset="0"/>
                                <a:ea typeface="Calibri" panose="020F0502020204030204" pitchFamily="34" charset="0"/>
                                <a:cs typeface="Times New Roman" panose="02020603050405020304" pitchFamily="18" charset="0"/>
                              </a:rPr>
                            </m:ctrlPr>
                          </m:fPr>
                          <m:num>
                            <m:sSub>
                              <m:sSubPr>
                                <m:ctrlPr>
                                  <a:rPr lang="en-US" sz="2400" b="1" i="1" kern="100" smtClean="0">
                                    <a:solidFill>
                                      <a:srgbClr val="0000CC"/>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2400" b="1" i="1" kern="100" smtClean="0">
                                    <a:solidFill>
                                      <a:srgbClr val="0000CC"/>
                                    </a:solidFill>
                                    <a:latin typeface="Cambria Math" panose="02040503050406030204" pitchFamily="18" charset="0"/>
                                    <a:ea typeface="Calibri" panose="020F0502020204030204" pitchFamily="34" charset="0"/>
                                    <a:cs typeface="Times New Roman" panose="02020603050405020304" pitchFamily="18" charset="0"/>
                                  </a:rPr>
                                  <m:t>𝑽</m:t>
                                </m:r>
                              </m:e>
                              <m:sub>
                                <m:r>
                                  <a:rPr lang="en-US" sz="2400" b="1" i="1" kern="100" smtClean="0">
                                    <a:solidFill>
                                      <a:srgbClr val="0000CC"/>
                                    </a:solidFill>
                                    <a:latin typeface="Cambria Math" panose="02040503050406030204" pitchFamily="18" charset="0"/>
                                    <a:ea typeface="Calibri" panose="020F0502020204030204" pitchFamily="34" charset="0"/>
                                    <a:cs typeface="Times New Roman" panose="02020603050405020304" pitchFamily="18" charset="0"/>
                                  </a:rPr>
                                  <m:t>𝒎</m:t>
                                </m:r>
                              </m:sub>
                            </m:sSub>
                            <m:sSub>
                              <m:sSubPr>
                                <m:ctrlPr>
                                  <a:rPr lang="en-US" sz="2400" b="1" i="1" kern="100" smtClean="0">
                                    <a:solidFill>
                                      <a:srgbClr val="0000CC"/>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2400" b="1" i="1" kern="100" smtClean="0">
                                    <a:solidFill>
                                      <a:srgbClr val="0000CC"/>
                                    </a:solidFill>
                                    <a:latin typeface="Cambria Math" panose="02040503050406030204" pitchFamily="18" charset="0"/>
                                    <a:ea typeface="Calibri" panose="020F0502020204030204" pitchFamily="34" charset="0"/>
                                    <a:cs typeface="Times New Roman" panose="02020603050405020304" pitchFamily="18" charset="0"/>
                                  </a:rPr>
                                  <m:t>𝑰</m:t>
                                </m:r>
                              </m:e>
                              <m:sub>
                                <m:r>
                                  <a:rPr lang="en-US" sz="2400" b="1" i="1" kern="100" smtClean="0">
                                    <a:solidFill>
                                      <a:srgbClr val="0000CC"/>
                                    </a:solidFill>
                                    <a:latin typeface="Cambria Math" panose="02040503050406030204" pitchFamily="18" charset="0"/>
                                    <a:ea typeface="Calibri" panose="020F0502020204030204" pitchFamily="34" charset="0"/>
                                    <a:cs typeface="Times New Roman" panose="02020603050405020304" pitchFamily="18" charset="0"/>
                                  </a:rPr>
                                  <m:t>𝒎</m:t>
                                </m:r>
                              </m:sub>
                            </m:sSub>
                          </m:num>
                          <m:den>
                            <m:r>
                              <a:rPr lang="en-US" sz="2400" b="1" i="1" kern="100" smtClean="0">
                                <a:solidFill>
                                  <a:srgbClr val="0000CC"/>
                                </a:solidFill>
                                <a:latin typeface="Cambria Math" panose="02040503050406030204" pitchFamily="18" charset="0"/>
                                <a:ea typeface="Calibri" panose="020F0502020204030204" pitchFamily="34" charset="0"/>
                                <a:cs typeface="Times New Roman" panose="02020603050405020304" pitchFamily="18" charset="0"/>
                              </a:rPr>
                              <m:t>𝟐</m:t>
                            </m:r>
                          </m:den>
                        </m:f>
                      </m:e>
                    </m:d>
                    <m:d>
                      <m:dPr>
                        <m:begChr m:val="["/>
                        <m:endChr m:val="]"/>
                        <m:ctrlPr>
                          <a:rPr lang="en-US" sz="2400" b="1" i="1" kern="100" smtClean="0">
                            <a:solidFill>
                              <a:srgbClr val="0000CC"/>
                            </a:solidFill>
                            <a:latin typeface="Cambria Math" panose="02040503050406030204" pitchFamily="18" charset="0"/>
                            <a:ea typeface="Calibri" panose="020F0502020204030204" pitchFamily="34" charset="0"/>
                            <a:cs typeface="Times New Roman" panose="02020603050405020304" pitchFamily="18" charset="0"/>
                          </a:rPr>
                        </m:ctrlPr>
                      </m:dPr>
                      <m:e>
                        <m:func>
                          <m:funcPr>
                            <m:ctrlPr>
                              <a:rPr lang="en-US" sz="2400" b="1" i="1" kern="100" smtClean="0">
                                <a:solidFill>
                                  <a:srgbClr val="0000CC"/>
                                </a:solidFill>
                                <a:latin typeface="Cambria Math" panose="02040503050406030204" pitchFamily="18" charset="0"/>
                                <a:ea typeface="Calibri" panose="020F0502020204030204" pitchFamily="34" charset="0"/>
                                <a:cs typeface="Times New Roman" panose="02020603050405020304" pitchFamily="18" charset="0"/>
                              </a:rPr>
                            </m:ctrlPr>
                          </m:funcPr>
                          <m:fName>
                            <m:r>
                              <m:rPr>
                                <m:sty m:val="p"/>
                              </m:rPr>
                              <a:rPr lang="en-US" sz="2400" b="0" i="0" kern="100" smtClean="0">
                                <a:solidFill>
                                  <a:srgbClr val="0000CC"/>
                                </a:solidFill>
                                <a:latin typeface="Cambria Math" panose="02040503050406030204" pitchFamily="18" charset="0"/>
                                <a:ea typeface="Calibri" panose="020F0502020204030204" pitchFamily="34" charset="0"/>
                                <a:cs typeface="Times New Roman" panose="02020603050405020304" pitchFamily="18" charset="0"/>
                              </a:rPr>
                              <m:t>cos</m:t>
                            </m:r>
                          </m:fName>
                          <m:e>
                            <m:d>
                              <m:dPr>
                                <m:ctrlPr>
                                  <a:rPr lang="en-US" sz="2400" b="0" i="1" kern="100" smtClean="0">
                                    <a:solidFill>
                                      <a:srgbClr val="0000CC"/>
                                    </a:solidFill>
                                    <a:latin typeface="Cambria Math" panose="02040503050406030204" pitchFamily="18" charset="0"/>
                                    <a:ea typeface="Calibri" panose="020F0502020204030204" pitchFamily="34" charset="0"/>
                                    <a:cs typeface="Times New Roman" panose="02020603050405020304" pitchFamily="18" charset="0"/>
                                  </a:rPr>
                                </m:ctrlPr>
                              </m:dPr>
                              <m:e>
                                <m:r>
                                  <a:rPr lang="en-US" sz="2400" b="0" i="1" kern="100" smtClean="0">
                                    <a:solidFill>
                                      <a:srgbClr val="0000CC"/>
                                    </a:solidFill>
                                    <a:latin typeface="Cambria Math" panose="02040503050406030204" pitchFamily="18" charset="0"/>
                                    <a:ea typeface="Calibri" panose="020F0502020204030204" pitchFamily="34" charset="0"/>
                                    <a:cs typeface="Times New Roman" panose="02020603050405020304" pitchFamily="18" charset="0"/>
                                  </a:rPr>
                                  <m:t>2</m:t>
                                </m:r>
                                <m:r>
                                  <a:rPr lang="en-US" sz="2400" b="0" i="1" kern="100" smtClean="0">
                                    <a:solidFill>
                                      <a:srgbClr val="0000CC"/>
                                    </a:solidFill>
                                    <a:latin typeface="Cambria Math" panose="02040503050406030204" pitchFamily="18" charset="0"/>
                                    <a:ea typeface="Cambria Math" panose="02040503050406030204" pitchFamily="18" charset="0"/>
                                    <a:cs typeface="Times New Roman" panose="02020603050405020304" pitchFamily="18" charset="0"/>
                                  </a:rPr>
                                  <m:t>𝜔</m:t>
                                </m:r>
                                <m:r>
                                  <a:rPr lang="en-US" sz="2400" b="0" i="1" kern="100" smtClean="0">
                                    <a:solidFill>
                                      <a:srgbClr val="0000CC"/>
                                    </a:solidFill>
                                    <a:latin typeface="Cambria Math" panose="02040503050406030204" pitchFamily="18" charset="0"/>
                                    <a:ea typeface="Cambria Math" panose="02040503050406030204" pitchFamily="18" charset="0"/>
                                    <a:cs typeface="Times New Roman" panose="02020603050405020304" pitchFamily="18" charset="0"/>
                                  </a:rPr>
                                  <m:t>𝑡</m:t>
                                </m:r>
                                <m:r>
                                  <a:rPr lang="en-US" sz="2400" b="0" i="1" kern="100" smtClean="0">
                                    <a:solidFill>
                                      <a:srgbClr val="0000CC"/>
                                    </a:solidFill>
                                    <a:latin typeface="Cambria Math" panose="02040503050406030204" pitchFamily="18" charset="0"/>
                                    <a:ea typeface="Cambria Math" panose="02040503050406030204" pitchFamily="18" charset="0"/>
                                    <a:cs typeface="Times New Roman" panose="02020603050405020304" pitchFamily="18" charset="0"/>
                                  </a:rPr>
                                  <m:t>+</m:t>
                                </m:r>
                                <m:r>
                                  <a:rPr lang="en-US" sz="2400" b="0" i="1" kern="100" smtClean="0">
                                    <a:solidFill>
                                      <a:srgbClr val="0000CC"/>
                                    </a:solidFill>
                                    <a:latin typeface="Cambria Math" panose="02040503050406030204" pitchFamily="18" charset="0"/>
                                    <a:ea typeface="Cambria Math" panose="02040503050406030204" pitchFamily="18" charset="0"/>
                                    <a:cs typeface="Times New Roman" panose="02020603050405020304" pitchFamily="18" charset="0"/>
                                  </a:rPr>
                                  <m:t>𝜃</m:t>
                                </m:r>
                                <m:r>
                                  <a:rPr lang="en-US" sz="2400" b="0" i="1" kern="100" smtClean="0">
                                    <a:solidFill>
                                      <a:srgbClr val="0000CC"/>
                                    </a:solidFill>
                                    <a:latin typeface="Cambria Math" panose="02040503050406030204" pitchFamily="18" charset="0"/>
                                    <a:ea typeface="Cambria Math" panose="02040503050406030204" pitchFamily="18" charset="0"/>
                                    <a:cs typeface="Times New Roman" panose="02020603050405020304" pitchFamily="18" charset="0"/>
                                  </a:rPr>
                                  <m:t>+</m:t>
                                </m:r>
                                <m:r>
                                  <m:rPr>
                                    <m:sty m:val="p"/>
                                  </m:rPr>
                                  <a:rPr lang="en-US" sz="2400" dirty="0">
                                    <a:solidFill>
                                      <a:srgbClr val="0000CC"/>
                                    </a:solidFill>
                                    <a:latin typeface="Cambria Math" panose="02040503050406030204" pitchFamily="18" charset="0"/>
                                    <a:ea typeface="Cambria Math" panose="02040503050406030204" pitchFamily="18" charset="0"/>
                                  </a:rPr>
                                  <m:t>ϕ</m:t>
                                </m:r>
                              </m:e>
                            </m:d>
                            <m:r>
                              <a:rPr lang="en-US" sz="2400" b="0" i="1" kern="100" smtClean="0">
                                <a:solidFill>
                                  <a:srgbClr val="0000CC"/>
                                </a:solidFill>
                                <a:latin typeface="Cambria Math" panose="02040503050406030204" pitchFamily="18" charset="0"/>
                                <a:ea typeface="Cambria Math" panose="02040503050406030204" pitchFamily="18" charset="0"/>
                                <a:cs typeface="Times New Roman" panose="02020603050405020304" pitchFamily="18" charset="0"/>
                              </a:rPr>
                              <m:t>+</m:t>
                            </m:r>
                            <m:func>
                              <m:funcPr>
                                <m:ctrlPr>
                                  <a:rPr lang="en-US" sz="2400" b="0" i="1" kern="100" smtClean="0">
                                    <a:solidFill>
                                      <a:srgbClr val="0000CC"/>
                                    </a:solidFill>
                                    <a:latin typeface="Cambria Math" panose="02040503050406030204" pitchFamily="18" charset="0"/>
                                    <a:ea typeface="Cambria Math" panose="02040503050406030204" pitchFamily="18" charset="0"/>
                                    <a:cs typeface="Times New Roman" panose="02020603050405020304" pitchFamily="18" charset="0"/>
                                  </a:rPr>
                                </m:ctrlPr>
                              </m:funcPr>
                              <m:fName>
                                <m:r>
                                  <m:rPr>
                                    <m:sty m:val="p"/>
                                  </m:rPr>
                                  <a:rPr lang="en-US" sz="2400" b="0" i="0" kern="100" smtClean="0">
                                    <a:solidFill>
                                      <a:srgbClr val="0000CC"/>
                                    </a:solidFill>
                                    <a:latin typeface="Cambria Math" panose="02040503050406030204" pitchFamily="18" charset="0"/>
                                    <a:ea typeface="Cambria Math" panose="02040503050406030204" pitchFamily="18" charset="0"/>
                                    <a:cs typeface="Times New Roman" panose="02020603050405020304" pitchFamily="18" charset="0"/>
                                  </a:rPr>
                                  <m:t>cos</m:t>
                                </m:r>
                              </m:fName>
                              <m:e>
                                <m:d>
                                  <m:dPr>
                                    <m:ctrlPr>
                                      <a:rPr lang="en-US" sz="2400" b="0" i="1" kern="100" smtClean="0">
                                        <a:solidFill>
                                          <a:srgbClr val="0000CC"/>
                                        </a:solidFill>
                                        <a:latin typeface="Cambria Math" panose="02040503050406030204" pitchFamily="18" charset="0"/>
                                        <a:ea typeface="Cambria Math" panose="02040503050406030204" pitchFamily="18" charset="0"/>
                                        <a:cs typeface="Times New Roman" panose="02020603050405020304" pitchFamily="18" charset="0"/>
                                      </a:rPr>
                                    </m:ctrlPr>
                                  </m:dPr>
                                  <m:e>
                                    <m:r>
                                      <a:rPr lang="en-US" sz="2400" b="0" i="1" kern="100" smtClean="0">
                                        <a:solidFill>
                                          <a:srgbClr val="0000CC"/>
                                        </a:solidFill>
                                        <a:latin typeface="Cambria Math" panose="02040503050406030204" pitchFamily="18" charset="0"/>
                                        <a:ea typeface="Cambria Math" panose="02040503050406030204" pitchFamily="18" charset="0"/>
                                        <a:cs typeface="Times New Roman" panose="02020603050405020304" pitchFamily="18" charset="0"/>
                                      </a:rPr>
                                      <m:t>𝜃</m:t>
                                    </m:r>
                                    <m:r>
                                      <a:rPr lang="en-US" sz="2400" b="0" i="1" kern="100" smtClean="0">
                                        <a:solidFill>
                                          <a:srgbClr val="0000CC"/>
                                        </a:solidFill>
                                        <a:latin typeface="Cambria Math" panose="02040503050406030204" pitchFamily="18" charset="0"/>
                                        <a:ea typeface="Cambria Math" panose="02040503050406030204" pitchFamily="18" charset="0"/>
                                        <a:cs typeface="Times New Roman" panose="02020603050405020304" pitchFamily="18" charset="0"/>
                                      </a:rPr>
                                      <m:t>−</m:t>
                                    </m:r>
                                    <m:r>
                                      <m:rPr>
                                        <m:sty m:val="p"/>
                                      </m:rPr>
                                      <a:rPr lang="en-US" sz="2400" dirty="0">
                                        <a:solidFill>
                                          <a:srgbClr val="0000CC"/>
                                        </a:solidFill>
                                        <a:latin typeface="Cambria Math" panose="02040503050406030204" pitchFamily="18" charset="0"/>
                                        <a:ea typeface="Cambria Math" panose="02040503050406030204" pitchFamily="18" charset="0"/>
                                      </a:rPr>
                                      <m:t>ϕ</m:t>
                                    </m:r>
                                  </m:e>
                                </m:d>
                              </m:e>
                            </m:func>
                          </m:e>
                        </m:func>
                      </m:e>
                    </m:d>
                  </m:oMath>
                </a14:m>
                <a:endParaRPr lang="en-GB" sz="2400" b="1" kern="100" dirty="0">
                  <a:solidFill>
                    <a:srgbClr val="0000CC"/>
                  </a:solidFill>
                  <a:latin typeface="Century Gothic" panose="020B0502020202020204" pitchFamily="34" charset="0"/>
                  <a:ea typeface="Calibri" panose="020F0502020204030204" pitchFamily="34" charset="0"/>
                  <a:cs typeface="Times New Roman" panose="02020603050405020304" pitchFamily="18" charset="0"/>
                </a:endParaRPr>
              </a:p>
              <a:p>
                <a:pPr>
                  <a:buClr>
                    <a:schemeClr val="accent2"/>
                  </a:buClr>
                </a:pPr>
                <a:r>
                  <a:rPr lang="en-GB" sz="2400" b="1" kern="100" dirty="0">
                    <a:solidFill>
                      <a:srgbClr val="0000CC"/>
                    </a:solidFill>
                    <a:latin typeface="Century Gothic" panose="020B0502020202020204" pitchFamily="34" charset="0"/>
                    <a:ea typeface="Calibri" panose="020F0502020204030204" pitchFamily="34" charset="0"/>
                    <a:cs typeface="Times New Roman" panose="02020603050405020304" pitchFamily="18" charset="0"/>
                  </a:rPr>
                  <a:t>	</a:t>
                </a:r>
                <a:br>
                  <a:rPr lang="en-GB" sz="2400" b="1" kern="100" dirty="0">
                    <a:solidFill>
                      <a:srgbClr val="0000CC"/>
                    </a:solidFill>
                    <a:latin typeface="Century Gothic" panose="020B0502020202020204" pitchFamily="34" charset="0"/>
                    <a:ea typeface="Calibri" panose="020F0502020204030204" pitchFamily="34" charset="0"/>
                    <a:cs typeface="Times New Roman" panose="02020603050405020304" pitchFamily="18" charset="0"/>
                  </a:rPr>
                </a:br>
                <a:r>
                  <a:rPr lang="en-GB" sz="2400" b="1" kern="100" dirty="0">
                    <a:solidFill>
                      <a:srgbClr val="0000CC"/>
                    </a:solidFill>
                    <a:latin typeface="Century Gothic" panose="020B0502020202020204" pitchFamily="34" charset="0"/>
                    <a:ea typeface="Calibri" panose="020F0502020204030204" pitchFamily="34" charset="0"/>
                    <a:cs typeface="Times New Roman" panose="02020603050405020304" pitchFamily="18" charset="0"/>
                  </a:rPr>
                  <a:t>	Average Power is</a:t>
                </a:r>
              </a:p>
              <a:p>
                <a:pPr>
                  <a:buClr>
                    <a:schemeClr val="accent2"/>
                  </a:buClr>
                </a:pPr>
                <a:r>
                  <a:rPr lang="en-GB" sz="2400" b="1" kern="100" dirty="0">
                    <a:solidFill>
                      <a:srgbClr val="0000CC"/>
                    </a:solidFill>
                    <a:latin typeface="Century Gothic" panose="020B0502020202020204" pitchFamily="34" charset="0"/>
                    <a:ea typeface="Calibri" panose="020F0502020204030204" pitchFamily="34" charset="0"/>
                    <a:cs typeface="Times New Roman" panose="02020603050405020304" pitchFamily="18" charset="0"/>
                  </a:rPr>
                  <a:t>		 </a:t>
                </a:r>
              </a:p>
              <a:p>
                <a:pPr>
                  <a:buClr>
                    <a:schemeClr val="accent2"/>
                  </a:buClr>
                </a:pPr>
                <a:endParaRPr lang="en-GB" sz="2400" b="1" kern="100" dirty="0">
                  <a:solidFill>
                    <a:srgbClr val="0000CC"/>
                  </a:solidFill>
                  <a:latin typeface="Century Gothic" panose="020B0502020202020204" pitchFamily="34" charset="0"/>
                  <a:ea typeface="Calibri" panose="020F0502020204030204" pitchFamily="34" charset="0"/>
                  <a:cs typeface="Times New Roman" panose="02020603050405020304" pitchFamily="18" charset="0"/>
                </a:endParaRPr>
              </a:p>
              <a:p>
                <a:pPr>
                  <a:buClr>
                    <a:schemeClr val="accent2"/>
                  </a:buClr>
                </a:pPr>
                <a:endParaRPr lang="en-GB" sz="2400" b="1" kern="100" dirty="0">
                  <a:solidFill>
                    <a:srgbClr val="0000CC"/>
                  </a:solidFill>
                  <a:latin typeface="Century Gothic" panose="020B0502020202020204" pitchFamily="34" charset="0"/>
                  <a:ea typeface="Calibri" panose="020F0502020204030204" pitchFamily="34" charset="0"/>
                  <a:cs typeface="Times New Roman" panose="02020603050405020304" pitchFamily="18" charset="0"/>
                </a:endParaRPr>
              </a:p>
              <a:p>
                <a:pPr>
                  <a:buClr>
                    <a:schemeClr val="accent2"/>
                  </a:buClr>
                </a:pPr>
                <a:r>
                  <a:rPr lang="en-GB" sz="2400" b="1" kern="100" dirty="0">
                    <a:solidFill>
                      <a:srgbClr val="0000CC"/>
                    </a:solidFill>
                    <a:latin typeface="Century Gothic" panose="020B0502020202020204" pitchFamily="34" charset="0"/>
                    <a:ea typeface="Calibri" panose="020F0502020204030204" pitchFamily="34" charset="0"/>
                    <a:cs typeface="Times New Roman" panose="02020603050405020304" pitchFamily="18" charset="0"/>
                  </a:rPr>
                  <a:t>	  Note : Since the first term in the integration is cosine function, the integral 	over 	one period is zero. The second term in the integration is the constant </a:t>
                </a:r>
                <a14:m>
                  <m:oMath xmlns:m="http://schemas.openxmlformats.org/officeDocument/2006/math">
                    <m:func>
                      <m:funcPr>
                        <m:ctrlPr>
                          <a:rPr lang="en-US" sz="2400" b="0" i="1" kern="100" smtClean="0">
                            <a:solidFill>
                              <a:srgbClr val="0000CC"/>
                            </a:solidFill>
                            <a:latin typeface="Cambria Math" panose="02040503050406030204" pitchFamily="18" charset="0"/>
                            <a:ea typeface="Cambria Math" panose="02040503050406030204" pitchFamily="18" charset="0"/>
                            <a:cs typeface="Times New Roman" panose="02020603050405020304" pitchFamily="18" charset="0"/>
                          </a:rPr>
                        </m:ctrlPr>
                      </m:funcPr>
                      <m:fName>
                        <m:r>
                          <m:rPr>
                            <m:sty m:val="p"/>
                          </m:rPr>
                          <a:rPr lang="en-US" sz="2400" b="0" i="0" kern="100" smtClean="0">
                            <a:solidFill>
                              <a:srgbClr val="0000CC"/>
                            </a:solidFill>
                            <a:latin typeface="Cambria Math" panose="02040503050406030204" pitchFamily="18" charset="0"/>
                            <a:ea typeface="Cambria Math" panose="02040503050406030204" pitchFamily="18" charset="0"/>
                            <a:cs typeface="Times New Roman" panose="02020603050405020304" pitchFamily="18" charset="0"/>
                          </a:rPr>
                          <m:t>cos</m:t>
                        </m:r>
                      </m:fName>
                      <m:e>
                        <m:d>
                          <m:dPr>
                            <m:ctrlPr>
                              <a:rPr lang="en-US" sz="2400" b="0" i="1" kern="100" smtClean="0">
                                <a:solidFill>
                                  <a:srgbClr val="0000CC"/>
                                </a:solidFill>
                                <a:latin typeface="Cambria Math" panose="02040503050406030204" pitchFamily="18" charset="0"/>
                                <a:ea typeface="Cambria Math" panose="02040503050406030204" pitchFamily="18" charset="0"/>
                                <a:cs typeface="Times New Roman" panose="02020603050405020304" pitchFamily="18" charset="0"/>
                              </a:rPr>
                            </m:ctrlPr>
                          </m:dPr>
                          <m:e>
                            <m:r>
                              <a:rPr lang="en-US" sz="2400" b="0" i="1" kern="100" smtClean="0">
                                <a:solidFill>
                                  <a:srgbClr val="0000CC"/>
                                </a:solidFill>
                                <a:latin typeface="Cambria Math" panose="02040503050406030204" pitchFamily="18" charset="0"/>
                                <a:ea typeface="Cambria Math" panose="02040503050406030204" pitchFamily="18" charset="0"/>
                                <a:cs typeface="Times New Roman" panose="02020603050405020304" pitchFamily="18" charset="0"/>
                              </a:rPr>
                              <m:t>𝜃</m:t>
                            </m:r>
                            <m:r>
                              <a:rPr lang="en-US" sz="2400" b="0" i="1" kern="100" smtClean="0">
                                <a:solidFill>
                                  <a:srgbClr val="0000CC"/>
                                </a:solidFill>
                                <a:latin typeface="Cambria Math" panose="02040503050406030204" pitchFamily="18" charset="0"/>
                                <a:ea typeface="Cambria Math" panose="02040503050406030204" pitchFamily="18" charset="0"/>
                                <a:cs typeface="Times New Roman" panose="02020603050405020304" pitchFamily="18" charset="0"/>
                              </a:rPr>
                              <m:t>−</m:t>
                            </m:r>
                            <m:r>
                              <m:rPr>
                                <m:sty m:val="p"/>
                              </m:rPr>
                              <a:rPr lang="en-US" sz="2400" dirty="0">
                                <a:solidFill>
                                  <a:srgbClr val="0000CC"/>
                                </a:solidFill>
                                <a:latin typeface="Cambria Math" panose="02040503050406030204" pitchFamily="18" charset="0"/>
                                <a:ea typeface="Cambria Math" panose="02040503050406030204" pitchFamily="18" charset="0"/>
                              </a:rPr>
                              <m:t>ϕ</m:t>
                            </m:r>
                          </m:e>
                        </m:d>
                      </m:e>
                    </m:func>
                  </m:oMath>
                </a14:m>
                <a:r>
                  <a:rPr lang="en-GB" sz="2400" b="1" kern="100" dirty="0">
                    <a:solidFill>
                      <a:srgbClr val="0000CC"/>
                    </a:solidFill>
                    <a:latin typeface="Century Gothic" panose="020B0502020202020204" pitchFamily="34" charset="0"/>
                    <a:ea typeface="Calibri" panose="020F0502020204030204" pitchFamily="34" charset="0"/>
                    <a:cs typeface="Times New Roman" panose="02020603050405020304" pitchFamily="18" charset="0"/>
                  </a:rPr>
                  <a:t>, which has an average value of </a:t>
                </a:r>
                <a14:m>
                  <m:oMath xmlns:m="http://schemas.openxmlformats.org/officeDocument/2006/math">
                    <m:func>
                      <m:funcPr>
                        <m:ctrlPr>
                          <a:rPr lang="en-US" sz="2400" i="1" kern="100">
                            <a:solidFill>
                              <a:srgbClr val="0000CC"/>
                            </a:solidFill>
                            <a:latin typeface="Cambria Math" panose="02040503050406030204" pitchFamily="18" charset="0"/>
                            <a:ea typeface="Cambria Math" panose="02040503050406030204" pitchFamily="18" charset="0"/>
                            <a:cs typeface="Times New Roman" panose="02020603050405020304" pitchFamily="18" charset="0"/>
                          </a:rPr>
                        </m:ctrlPr>
                      </m:funcPr>
                      <m:fName>
                        <m:r>
                          <m:rPr>
                            <m:sty m:val="p"/>
                          </m:rPr>
                          <a:rPr lang="en-US" sz="2400" kern="100">
                            <a:solidFill>
                              <a:srgbClr val="0000CC"/>
                            </a:solidFill>
                            <a:latin typeface="Cambria Math" panose="02040503050406030204" pitchFamily="18" charset="0"/>
                            <a:ea typeface="Cambria Math" panose="02040503050406030204" pitchFamily="18" charset="0"/>
                            <a:cs typeface="Times New Roman" panose="02020603050405020304" pitchFamily="18" charset="0"/>
                          </a:rPr>
                          <m:t>cos</m:t>
                        </m:r>
                      </m:fName>
                      <m:e>
                        <m:d>
                          <m:dPr>
                            <m:ctrlPr>
                              <a:rPr lang="en-US" sz="2400" i="1" kern="100">
                                <a:solidFill>
                                  <a:srgbClr val="0000CC"/>
                                </a:solidFill>
                                <a:latin typeface="Cambria Math" panose="02040503050406030204" pitchFamily="18" charset="0"/>
                                <a:ea typeface="Cambria Math" panose="02040503050406030204" pitchFamily="18" charset="0"/>
                                <a:cs typeface="Times New Roman" panose="02020603050405020304" pitchFamily="18" charset="0"/>
                              </a:rPr>
                            </m:ctrlPr>
                          </m:dPr>
                          <m:e>
                            <m:r>
                              <a:rPr lang="en-US" sz="2400" i="1" kern="100">
                                <a:solidFill>
                                  <a:srgbClr val="0000CC"/>
                                </a:solidFill>
                                <a:latin typeface="Cambria Math" panose="02040503050406030204" pitchFamily="18" charset="0"/>
                                <a:ea typeface="Cambria Math" panose="02040503050406030204" pitchFamily="18" charset="0"/>
                                <a:cs typeface="Times New Roman" panose="02020603050405020304" pitchFamily="18" charset="0"/>
                              </a:rPr>
                              <m:t>𝜃</m:t>
                            </m:r>
                            <m:r>
                              <a:rPr lang="en-US" sz="2400" i="1" kern="100">
                                <a:solidFill>
                                  <a:srgbClr val="0000CC"/>
                                </a:solidFill>
                                <a:latin typeface="Cambria Math" panose="02040503050406030204" pitchFamily="18" charset="0"/>
                                <a:ea typeface="Cambria Math" panose="02040503050406030204" pitchFamily="18" charset="0"/>
                                <a:cs typeface="Times New Roman" panose="02020603050405020304" pitchFamily="18" charset="0"/>
                              </a:rPr>
                              <m:t>−</m:t>
                            </m:r>
                            <m:r>
                              <m:rPr>
                                <m:sty m:val="p"/>
                              </m:rPr>
                              <a:rPr lang="en-US" sz="2400" dirty="0">
                                <a:solidFill>
                                  <a:srgbClr val="0000CC"/>
                                </a:solidFill>
                                <a:latin typeface="Cambria Math" panose="02040503050406030204" pitchFamily="18" charset="0"/>
                                <a:ea typeface="Cambria Math" panose="02040503050406030204" pitchFamily="18" charset="0"/>
                              </a:rPr>
                              <m:t>ϕ</m:t>
                            </m:r>
                          </m:e>
                        </m:d>
                      </m:e>
                    </m:func>
                  </m:oMath>
                </a14:m>
                <a:endParaRPr lang="en-GB" sz="2400" b="1" kern="100" dirty="0">
                  <a:solidFill>
                    <a:srgbClr val="0000CC"/>
                  </a:solidFill>
                  <a:latin typeface="Century Gothic" panose="020B0502020202020204" pitchFamily="34" charset="0"/>
                  <a:ea typeface="Calibri" panose="020F0502020204030204" pitchFamily="34" charset="0"/>
                  <a:cs typeface="Times New Roman" panose="02020603050405020304" pitchFamily="18" charset="0"/>
                </a:endParaRPr>
              </a:p>
            </p:txBody>
          </p:sp>
        </mc:Choice>
        <mc:Fallback xmlns="">
          <p:sp>
            <p:nvSpPr>
              <p:cNvPr id="6" name="TextBox 5">
                <a:extLst>
                  <a:ext uri="{FF2B5EF4-FFF2-40B4-BE49-F238E27FC236}">
                    <a16:creationId xmlns:a16="http://schemas.microsoft.com/office/drawing/2014/main" id="{6BAA1F11-5BEF-4D80-964F-A7332E36BFA0}"/>
                  </a:ext>
                </a:extLst>
              </p:cNvPr>
              <p:cNvSpPr txBox="1">
                <a:spLocks noRot="1" noChangeAspect="1" noMove="1" noResize="1" noEditPoints="1" noAdjustHandles="1" noChangeArrowheads="1" noChangeShapeType="1" noTextEdit="1"/>
              </p:cNvSpPr>
              <p:nvPr/>
            </p:nvSpPr>
            <p:spPr>
              <a:xfrm>
                <a:off x="101601" y="741130"/>
                <a:ext cx="11912170" cy="5978111"/>
              </a:xfrm>
              <a:prstGeom prst="rect">
                <a:avLst/>
              </a:prstGeom>
              <a:blipFill>
                <a:blip r:embed="rId3"/>
                <a:stretch>
                  <a:fillRect l="-665" b="-1324"/>
                </a:stretch>
              </a:blipFill>
              <a:ln>
                <a:solidFill>
                  <a:srgbClr val="FF0066"/>
                </a:solidFill>
              </a:ln>
            </p:spPr>
            <p:txBody>
              <a:bodyPr/>
              <a:lstStyle/>
              <a:p>
                <a:r>
                  <a:rPr lang="en-US">
                    <a:noFill/>
                  </a:rPr>
                  <a:t> </a:t>
                </a:r>
              </a:p>
            </p:txBody>
          </p:sp>
        </mc:Fallback>
      </mc:AlternateContent>
      <p:sp>
        <p:nvSpPr>
          <p:cNvPr id="7" name="TextBox 6">
            <a:extLst>
              <a:ext uri="{FF2B5EF4-FFF2-40B4-BE49-F238E27FC236}">
                <a16:creationId xmlns:a16="http://schemas.microsoft.com/office/drawing/2014/main" id="{C36AA635-C21F-49F3-BF21-4CBE4C20709B}"/>
              </a:ext>
            </a:extLst>
          </p:cNvPr>
          <p:cNvSpPr txBox="1"/>
          <p:nvPr/>
        </p:nvSpPr>
        <p:spPr>
          <a:xfrm>
            <a:off x="5269122" y="6037275"/>
            <a:ext cx="823314" cy="373051"/>
          </a:xfrm>
          <a:prstGeom prst="rect">
            <a:avLst/>
          </a:prstGeom>
          <a:noFill/>
        </p:spPr>
        <p:txBody>
          <a:bodyPr wrap="square" rtlCol="0">
            <a:spAutoFit/>
          </a:bodyPr>
          <a:lstStyle/>
          <a:p>
            <a:pPr algn="ctr"/>
            <a:endParaRPr lang="en-GB" sz="1824" dirty="0">
              <a:latin typeface="Garamond" panose="02020404030301010803" pitchFamily="18" charset="0"/>
            </a:endParaRPr>
          </a:p>
        </p:txBody>
      </p:sp>
      <p:sp>
        <p:nvSpPr>
          <p:cNvPr id="2" name="TextBox 1">
            <a:extLst>
              <a:ext uri="{FF2B5EF4-FFF2-40B4-BE49-F238E27FC236}">
                <a16:creationId xmlns:a16="http://schemas.microsoft.com/office/drawing/2014/main" id="{DA984A20-E919-49F4-8421-AD4191E2D0D2}"/>
              </a:ext>
            </a:extLst>
          </p:cNvPr>
          <p:cNvSpPr txBox="1"/>
          <p:nvPr/>
        </p:nvSpPr>
        <p:spPr>
          <a:xfrm>
            <a:off x="5638800" y="3017520"/>
            <a:ext cx="914400" cy="914400"/>
          </a:xfrm>
          <a:prstGeom prst="rect">
            <a:avLst/>
          </a:prstGeom>
          <a:noFill/>
        </p:spPr>
        <p:txBody>
          <a:bodyPr wrap="square" rtlCol="0">
            <a:spAutoFit/>
          </a:bodyPr>
          <a:lstStyle/>
          <a:p>
            <a:endParaRPr lang="en-US" dirty="0"/>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FD6EA0F4-9562-4D1E-96DA-5E5732727BE7}"/>
                  </a:ext>
                </a:extLst>
              </p:cNvPr>
              <p:cNvSpPr txBox="1"/>
              <p:nvPr/>
            </p:nvSpPr>
            <p:spPr>
              <a:xfrm>
                <a:off x="1117600" y="4511040"/>
                <a:ext cx="7030720" cy="506870"/>
              </a:xfrm>
              <a:prstGeom prst="rect">
                <a:avLst/>
              </a:prstGeom>
              <a:solidFill>
                <a:srgbClr val="00FFFF"/>
              </a:solidFill>
            </p:spPr>
            <p:txBody>
              <a:bodyPr wrap="square" rtlCol="0">
                <a:spAutoFit/>
              </a:bodyPr>
              <a:lstStyle/>
              <a:p>
                <a:r>
                  <a:rPr lang="en-US" b="1" dirty="0">
                    <a:solidFill>
                      <a:srgbClr val="0000CC"/>
                    </a:solidFill>
                  </a:rPr>
                  <a:t>P = </a:t>
                </a:r>
                <a14:m>
                  <m:oMath xmlns:m="http://schemas.openxmlformats.org/officeDocument/2006/math">
                    <m:f>
                      <m:fPr>
                        <m:ctrlPr>
                          <a:rPr lang="en-US" b="1" i="1" smtClean="0">
                            <a:solidFill>
                              <a:srgbClr val="0000CC"/>
                            </a:solidFill>
                            <a:latin typeface="Cambria Math" panose="02040503050406030204" pitchFamily="18" charset="0"/>
                          </a:rPr>
                        </m:ctrlPr>
                      </m:fPr>
                      <m:num>
                        <m:r>
                          <a:rPr lang="en-US" b="1" i="1" smtClean="0">
                            <a:solidFill>
                              <a:srgbClr val="0000CC"/>
                            </a:solidFill>
                            <a:latin typeface="Cambria Math" panose="02040503050406030204" pitchFamily="18" charset="0"/>
                          </a:rPr>
                          <m:t>𝟏</m:t>
                        </m:r>
                      </m:num>
                      <m:den>
                        <m:r>
                          <a:rPr lang="en-US" b="1" i="1" smtClean="0">
                            <a:solidFill>
                              <a:srgbClr val="0000CC"/>
                            </a:solidFill>
                            <a:latin typeface="Cambria Math" panose="02040503050406030204" pitchFamily="18" charset="0"/>
                          </a:rPr>
                          <m:t>𝑻</m:t>
                        </m:r>
                      </m:den>
                    </m:f>
                    <m:nary>
                      <m:naryPr>
                        <m:limLoc m:val="undOvr"/>
                        <m:ctrlPr>
                          <a:rPr lang="en-US" b="1" i="1" smtClean="0">
                            <a:solidFill>
                              <a:srgbClr val="0000CC"/>
                            </a:solidFill>
                            <a:latin typeface="Cambria Math" panose="02040503050406030204" pitchFamily="18" charset="0"/>
                          </a:rPr>
                        </m:ctrlPr>
                      </m:naryPr>
                      <m:sub>
                        <m:r>
                          <m:rPr>
                            <m:brk m:alnAt="24"/>
                          </m:rPr>
                          <a:rPr lang="en-US" b="1" i="1" smtClean="0">
                            <a:solidFill>
                              <a:srgbClr val="0000CC"/>
                            </a:solidFill>
                            <a:latin typeface="Cambria Math" panose="02040503050406030204" pitchFamily="18" charset="0"/>
                          </a:rPr>
                          <m:t>𝟎</m:t>
                        </m:r>
                      </m:sub>
                      <m:sup>
                        <m:r>
                          <a:rPr lang="en-US" b="1" i="1" smtClean="0">
                            <a:solidFill>
                              <a:srgbClr val="0000CC"/>
                            </a:solidFill>
                            <a:latin typeface="Cambria Math" panose="02040503050406030204" pitchFamily="18" charset="0"/>
                          </a:rPr>
                          <m:t>𝑻</m:t>
                        </m:r>
                      </m:sup>
                      <m:e>
                        <m:r>
                          <a:rPr lang="en-US" b="1" i="1" smtClean="0">
                            <a:solidFill>
                              <a:srgbClr val="0000CC"/>
                            </a:solidFill>
                            <a:latin typeface="Cambria Math" panose="02040503050406030204" pitchFamily="18" charset="0"/>
                          </a:rPr>
                          <m:t>𝒑</m:t>
                        </m:r>
                        <m:d>
                          <m:dPr>
                            <m:ctrlPr>
                              <a:rPr lang="en-US" b="1" i="1" smtClean="0">
                                <a:solidFill>
                                  <a:srgbClr val="0000CC"/>
                                </a:solidFill>
                                <a:latin typeface="Cambria Math" panose="02040503050406030204" pitchFamily="18" charset="0"/>
                              </a:rPr>
                            </m:ctrlPr>
                          </m:dPr>
                          <m:e>
                            <m:r>
                              <a:rPr lang="en-US" b="1" i="1" smtClean="0">
                                <a:solidFill>
                                  <a:srgbClr val="0000CC"/>
                                </a:solidFill>
                                <a:latin typeface="Cambria Math" panose="02040503050406030204" pitchFamily="18" charset="0"/>
                              </a:rPr>
                              <m:t>𝒕</m:t>
                            </m:r>
                          </m:e>
                        </m:d>
                        <m:r>
                          <a:rPr lang="en-US" b="1" i="1" smtClean="0">
                            <a:solidFill>
                              <a:srgbClr val="0000CC"/>
                            </a:solidFill>
                            <a:latin typeface="Cambria Math" panose="02040503050406030204" pitchFamily="18" charset="0"/>
                          </a:rPr>
                          <m:t>𝒅𝒕</m:t>
                        </m:r>
                        <m:r>
                          <a:rPr lang="en-US" b="1" i="1" smtClean="0">
                            <a:solidFill>
                              <a:srgbClr val="0000CC"/>
                            </a:solidFill>
                            <a:latin typeface="Cambria Math" panose="02040503050406030204" pitchFamily="18" charset="0"/>
                          </a:rPr>
                          <m:t>= </m:t>
                        </m:r>
                        <m:d>
                          <m:dPr>
                            <m:ctrlPr>
                              <a:rPr lang="en-US" b="1" i="1" smtClean="0">
                                <a:solidFill>
                                  <a:srgbClr val="0000CC"/>
                                </a:solidFill>
                                <a:latin typeface="Cambria Math" panose="02040503050406030204" pitchFamily="18" charset="0"/>
                              </a:rPr>
                            </m:ctrlPr>
                          </m:dPr>
                          <m:e>
                            <m:f>
                              <m:fPr>
                                <m:ctrlPr>
                                  <a:rPr lang="en-US" b="1" i="1" smtClean="0">
                                    <a:solidFill>
                                      <a:srgbClr val="0000CC"/>
                                    </a:solidFill>
                                    <a:latin typeface="Cambria Math" panose="02040503050406030204" pitchFamily="18" charset="0"/>
                                  </a:rPr>
                                </m:ctrlPr>
                              </m:fPr>
                              <m:num>
                                <m:sSub>
                                  <m:sSubPr>
                                    <m:ctrlPr>
                                      <a:rPr lang="en-US" b="1" i="1" smtClean="0">
                                        <a:solidFill>
                                          <a:srgbClr val="0000CC"/>
                                        </a:solidFill>
                                        <a:latin typeface="Cambria Math" panose="02040503050406030204" pitchFamily="18" charset="0"/>
                                      </a:rPr>
                                    </m:ctrlPr>
                                  </m:sSubPr>
                                  <m:e>
                                    <m:r>
                                      <a:rPr lang="en-US" b="1" i="1" smtClean="0">
                                        <a:solidFill>
                                          <a:srgbClr val="0000CC"/>
                                        </a:solidFill>
                                        <a:latin typeface="Cambria Math" panose="02040503050406030204" pitchFamily="18" charset="0"/>
                                      </a:rPr>
                                      <m:t>𝑽</m:t>
                                    </m:r>
                                  </m:e>
                                  <m:sub>
                                    <m:r>
                                      <a:rPr lang="en-US" b="1" i="1" smtClean="0">
                                        <a:solidFill>
                                          <a:srgbClr val="0000CC"/>
                                        </a:solidFill>
                                        <a:latin typeface="Cambria Math" panose="02040503050406030204" pitchFamily="18" charset="0"/>
                                      </a:rPr>
                                      <m:t>𝒎</m:t>
                                    </m:r>
                                  </m:sub>
                                </m:sSub>
                                <m:sSub>
                                  <m:sSubPr>
                                    <m:ctrlPr>
                                      <a:rPr lang="en-US" b="1" i="1" smtClean="0">
                                        <a:solidFill>
                                          <a:srgbClr val="0000CC"/>
                                        </a:solidFill>
                                        <a:latin typeface="Cambria Math" panose="02040503050406030204" pitchFamily="18" charset="0"/>
                                      </a:rPr>
                                    </m:ctrlPr>
                                  </m:sSubPr>
                                  <m:e>
                                    <m:r>
                                      <a:rPr lang="en-US" b="1" i="1" smtClean="0">
                                        <a:solidFill>
                                          <a:srgbClr val="0000CC"/>
                                        </a:solidFill>
                                        <a:latin typeface="Cambria Math" panose="02040503050406030204" pitchFamily="18" charset="0"/>
                                      </a:rPr>
                                      <m:t>𝑰</m:t>
                                    </m:r>
                                  </m:e>
                                  <m:sub>
                                    <m:r>
                                      <a:rPr lang="en-US" b="1" i="1" smtClean="0">
                                        <a:solidFill>
                                          <a:srgbClr val="0000CC"/>
                                        </a:solidFill>
                                        <a:latin typeface="Cambria Math" panose="02040503050406030204" pitchFamily="18" charset="0"/>
                                      </a:rPr>
                                      <m:t>𝒎</m:t>
                                    </m:r>
                                  </m:sub>
                                </m:sSub>
                              </m:num>
                              <m:den>
                                <m:r>
                                  <a:rPr lang="en-US" b="1" i="1" smtClean="0">
                                    <a:solidFill>
                                      <a:srgbClr val="0000CC"/>
                                    </a:solidFill>
                                    <a:latin typeface="Cambria Math" panose="02040503050406030204" pitchFamily="18" charset="0"/>
                                  </a:rPr>
                                  <m:t>𝟐</m:t>
                                </m:r>
                              </m:den>
                            </m:f>
                          </m:e>
                        </m:d>
                        <m:nary>
                          <m:naryPr>
                            <m:limLoc m:val="undOvr"/>
                            <m:ctrlPr>
                              <a:rPr lang="en-US" b="1" i="1" smtClean="0">
                                <a:solidFill>
                                  <a:srgbClr val="0000CC"/>
                                </a:solidFill>
                                <a:latin typeface="Cambria Math" panose="02040503050406030204" pitchFamily="18" charset="0"/>
                              </a:rPr>
                            </m:ctrlPr>
                          </m:naryPr>
                          <m:sub>
                            <m:r>
                              <m:rPr>
                                <m:brk m:alnAt="24"/>
                              </m:rPr>
                              <a:rPr lang="en-US" b="1" i="1" smtClean="0">
                                <a:solidFill>
                                  <a:srgbClr val="0000CC"/>
                                </a:solidFill>
                                <a:latin typeface="Cambria Math" panose="02040503050406030204" pitchFamily="18" charset="0"/>
                              </a:rPr>
                              <m:t>𝟎</m:t>
                            </m:r>
                          </m:sub>
                          <m:sup>
                            <m:r>
                              <a:rPr lang="en-US" b="1" i="1" smtClean="0">
                                <a:solidFill>
                                  <a:srgbClr val="0000CC"/>
                                </a:solidFill>
                                <a:latin typeface="Cambria Math" panose="02040503050406030204" pitchFamily="18" charset="0"/>
                              </a:rPr>
                              <m:t>𝑻</m:t>
                            </m:r>
                          </m:sup>
                          <m:e>
                            <m:d>
                              <m:dPr>
                                <m:begChr m:val="["/>
                                <m:endChr m:val="]"/>
                                <m:ctrlPr>
                                  <a:rPr lang="en-US" b="1" i="1" smtClean="0">
                                    <a:solidFill>
                                      <a:srgbClr val="0000CC"/>
                                    </a:solidFill>
                                    <a:latin typeface="Cambria Math" panose="02040503050406030204" pitchFamily="18" charset="0"/>
                                  </a:rPr>
                                </m:ctrlPr>
                              </m:dPr>
                              <m:e>
                                <m:func>
                                  <m:funcPr>
                                    <m:ctrlPr>
                                      <a:rPr lang="en-US" b="1" i="1" smtClean="0">
                                        <a:solidFill>
                                          <a:srgbClr val="0000CC"/>
                                        </a:solidFill>
                                        <a:latin typeface="Cambria Math" panose="02040503050406030204" pitchFamily="18" charset="0"/>
                                      </a:rPr>
                                    </m:ctrlPr>
                                  </m:funcPr>
                                  <m:fName>
                                    <m:r>
                                      <a:rPr lang="en-US" b="1" i="0" smtClean="0">
                                        <a:solidFill>
                                          <a:srgbClr val="0000CC"/>
                                        </a:solidFill>
                                        <a:latin typeface="Cambria Math" panose="02040503050406030204" pitchFamily="18" charset="0"/>
                                      </a:rPr>
                                      <m:t>𝐜𝐨𝐬</m:t>
                                    </m:r>
                                  </m:fName>
                                  <m:e>
                                    <m:d>
                                      <m:dPr>
                                        <m:ctrlPr>
                                          <a:rPr lang="en-US" b="1" i="1" smtClean="0">
                                            <a:solidFill>
                                              <a:srgbClr val="0000CC"/>
                                            </a:solidFill>
                                            <a:latin typeface="Cambria Math" panose="02040503050406030204" pitchFamily="18" charset="0"/>
                                          </a:rPr>
                                        </m:ctrlPr>
                                      </m:dPr>
                                      <m:e>
                                        <m:r>
                                          <a:rPr lang="en-US" b="1" i="1" smtClean="0">
                                            <a:solidFill>
                                              <a:srgbClr val="0000CC"/>
                                            </a:solidFill>
                                            <a:latin typeface="Cambria Math" panose="02040503050406030204" pitchFamily="18" charset="0"/>
                                          </a:rPr>
                                          <m:t>𝟐</m:t>
                                        </m:r>
                                        <m:r>
                                          <a:rPr lang="en-US" b="1" i="1" smtClean="0">
                                            <a:solidFill>
                                              <a:srgbClr val="0000CC"/>
                                            </a:solidFill>
                                            <a:latin typeface="Cambria Math" panose="02040503050406030204" pitchFamily="18" charset="0"/>
                                            <a:ea typeface="Cambria Math" panose="02040503050406030204" pitchFamily="18" charset="0"/>
                                          </a:rPr>
                                          <m:t>𝝎</m:t>
                                        </m:r>
                                        <m:r>
                                          <a:rPr lang="en-US" b="1" i="1" smtClean="0">
                                            <a:solidFill>
                                              <a:srgbClr val="0000CC"/>
                                            </a:solidFill>
                                            <a:latin typeface="Cambria Math" panose="02040503050406030204" pitchFamily="18" charset="0"/>
                                            <a:ea typeface="Cambria Math" panose="02040503050406030204" pitchFamily="18" charset="0"/>
                                          </a:rPr>
                                          <m:t>𝒕</m:t>
                                        </m:r>
                                        <m:r>
                                          <a:rPr lang="en-US" b="1" i="1" smtClean="0">
                                            <a:solidFill>
                                              <a:srgbClr val="0000CC"/>
                                            </a:solidFill>
                                            <a:latin typeface="Cambria Math" panose="02040503050406030204" pitchFamily="18" charset="0"/>
                                            <a:ea typeface="Cambria Math" panose="02040503050406030204" pitchFamily="18" charset="0"/>
                                          </a:rPr>
                                          <m:t> + </m:t>
                                        </m:r>
                                        <m:r>
                                          <a:rPr lang="en-US" b="1" i="1" smtClean="0">
                                            <a:solidFill>
                                              <a:srgbClr val="0000CC"/>
                                            </a:solidFill>
                                            <a:latin typeface="Cambria Math" panose="02040503050406030204" pitchFamily="18" charset="0"/>
                                            <a:ea typeface="Cambria Math" panose="02040503050406030204" pitchFamily="18" charset="0"/>
                                          </a:rPr>
                                          <m:t>𝜽</m:t>
                                        </m:r>
                                        <m:r>
                                          <a:rPr lang="en-US" b="1" i="1" smtClean="0">
                                            <a:solidFill>
                                              <a:srgbClr val="0000CC"/>
                                            </a:solidFill>
                                            <a:latin typeface="Cambria Math" panose="02040503050406030204" pitchFamily="18" charset="0"/>
                                            <a:ea typeface="Cambria Math" panose="02040503050406030204" pitchFamily="18" charset="0"/>
                                          </a:rPr>
                                          <m:t>+</m:t>
                                        </m:r>
                                        <m:r>
                                          <a:rPr lang="en-US" b="1" i="1" dirty="0" smtClean="0">
                                            <a:solidFill>
                                              <a:srgbClr val="0000CC"/>
                                            </a:solidFill>
                                            <a:latin typeface="Cambria Math" panose="02040503050406030204" pitchFamily="18" charset="0"/>
                                            <a:ea typeface="Cambria Math" panose="02040503050406030204" pitchFamily="18" charset="0"/>
                                          </a:rPr>
                                          <m:t>𝛟</m:t>
                                        </m:r>
                                      </m:e>
                                    </m:d>
                                  </m:e>
                                </m:func>
                                <m:r>
                                  <a:rPr lang="en-US" b="1" i="1" smtClean="0">
                                    <a:solidFill>
                                      <a:srgbClr val="0000CC"/>
                                    </a:solidFill>
                                    <a:latin typeface="Cambria Math" panose="02040503050406030204" pitchFamily="18" charset="0"/>
                                    <a:ea typeface="Cambria Math" panose="02040503050406030204" pitchFamily="18" charset="0"/>
                                  </a:rPr>
                                  <m:t>+</m:t>
                                </m:r>
                                <m:func>
                                  <m:funcPr>
                                    <m:ctrlPr>
                                      <a:rPr lang="en-US" b="1" i="1" smtClean="0">
                                        <a:solidFill>
                                          <a:srgbClr val="0000CC"/>
                                        </a:solidFill>
                                        <a:latin typeface="Cambria Math" panose="02040503050406030204" pitchFamily="18" charset="0"/>
                                        <a:ea typeface="Cambria Math" panose="02040503050406030204" pitchFamily="18" charset="0"/>
                                      </a:rPr>
                                    </m:ctrlPr>
                                  </m:funcPr>
                                  <m:fName>
                                    <m:r>
                                      <a:rPr lang="en-US" b="1" i="0" smtClean="0">
                                        <a:solidFill>
                                          <a:srgbClr val="0000CC"/>
                                        </a:solidFill>
                                        <a:latin typeface="Cambria Math" panose="02040503050406030204" pitchFamily="18" charset="0"/>
                                        <a:ea typeface="Cambria Math" panose="02040503050406030204" pitchFamily="18" charset="0"/>
                                      </a:rPr>
                                      <m:t>𝐜𝐨𝐬</m:t>
                                    </m:r>
                                  </m:fName>
                                  <m:e>
                                    <m:d>
                                      <m:dPr>
                                        <m:ctrlPr>
                                          <a:rPr lang="en-US" b="1" i="1" smtClean="0">
                                            <a:solidFill>
                                              <a:srgbClr val="0000CC"/>
                                            </a:solidFill>
                                            <a:latin typeface="Cambria Math" panose="02040503050406030204" pitchFamily="18" charset="0"/>
                                            <a:ea typeface="Cambria Math" panose="02040503050406030204" pitchFamily="18" charset="0"/>
                                          </a:rPr>
                                        </m:ctrlPr>
                                      </m:dPr>
                                      <m:e>
                                        <m:r>
                                          <a:rPr lang="en-US" b="1" i="1" smtClean="0">
                                            <a:solidFill>
                                              <a:srgbClr val="0000CC"/>
                                            </a:solidFill>
                                            <a:latin typeface="Cambria Math" panose="02040503050406030204" pitchFamily="18" charset="0"/>
                                            <a:ea typeface="Cambria Math" panose="02040503050406030204" pitchFamily="18" charset="0"/>
                                          </a:rPr>
                                          <m:t>𝜽</m:t>
                                        </m:r>
                                        <m:r>
                                          <a:rPr lang="en-US" b="1" i="1" smtClean="0">
                                            <a:solidFill>
                                              <a:srgbClr val="0000CC"/>
                                            </a:solidFill>
                                            <a:latin typeface="Cambria Math" panose="02040503050406030204" pitchFamily="18" charset="0"/>
                                            <a:ea typeface="Cambria Math" panose="02040503050406030204" pitchFamily="18" charset="0"/>
                                          </a:rPr>
                                          <m:t>−</m:t>
                                        </m:r>
                                        <m:r>
                                          <a:rPr lang="en-US" b="1" i="1" dirty="0" smtClean="0">
                                            <a:solidFill>
                                              <a:srgbClr val="0000CC"/>
                                            </a:solidFill>
                                            <a:latin typeface="Cambria Math" panose="02040503050406030204" pitchFamily="18" charset="0"/>
                                            <a:ea typeface="Cambria Math" panose="02040503050406030204" pitchFamily="18" charset="0"/>
                                          </a:rPr>
                                          <m:t>𝛟</m:t>
                                        </m:r>
                                      </m:e>
                                    </m:d>
                                  </m:e>
                                </m:func>
                              </m:e>
                            </m:d>
                            <m:r>
                              <a:rPr lang="en-US" b="1" i="1" smtClean="0">
                                <a:solidFill>
                                  <a:srgbClr val="0000CC"/>
                                </a:solidFill>
                                <a:latin typeface="Cambria Math" panose="02040503050406030204" pitchFamily="18" charset="0"/>
                              </a:rPr>
                              <m:t>𝒅𝒕</m:t>
                            </m:r>
                          </m:e>
                        </m:nary>
                        <m:r>
                          <a:rPr lang="en-US" b="1" i="1" smtClean="0">
                            <a:solidFill>
                              <a:srgbClr val="0000CC"/>
                            </a:solidFill>
                            <a:latin typeface="Cambria Math" panose="02040503050406030204" pitchFamily="18" charset="0"/>
                          </a:rPr>
                          <m:t> </m:t>
                        </m:r>
                      </m:e>
                    </m:nary>
                  </m:oMath>
                </a14:m>
                <a:endParaRPr lang="en-US" b="1" dirty="0">
                  <a:solidFill>
                    <a:srgbClr val="0000CC"/>
                  </a:solidFill>
                </a:endParaRPr>
              </a:p>
            </p:txBody>
          </p:sp>
        </mc:Choice>
        <mc:Fallback xmlns="">
          <p:sp>
            <p:nvSpPr>
              <p:cNvPr id="3" name="TextBox 2">
                <a:extLst>
                  <a:ext uri="{FF2B5EF4-FFF2-40B4-BE49-F238E27FC236}">
                    <a16:creationId xmlns:a16="http://schemas.microsoft.com/office/drawing/2014/main" id="{FD6EA0F4-9562-4D1E-96DA-5E5732727BE7}"/>
                  </a:ext>
                </a:extLst>
              </p:cNvPr>
              <p:cNvSpPr txBox="1">
                <a:spLocks noRot="1" noChangeAspect="1" noMove="1" noResize="1" noEditPoints="1" noAdjustHandles="1" noChangeArrowheads="1" noChangeShapeType="1" noTextEdit="1"/>
              </p:cNvSpPr>
              <p:nvPr/>
            </p:nvSpPr>
            <p:spPr>
              <a:xfrm>
                <a:off x="1117600" y="4511040"/>
                <a:ext cx="7030720" cy="506870"/>
              </a:xfrm>
              <a:prstGeom prst="rect">
                <a:avLst/>
              </a:prstGeom>
              <a:blipFill>
                <a:blip r:embed="rId4"/>
                <a:stretch>
                  <a:fillRect l="-693" t="-95181" b="-151807"/>
                </a:stretch>
              </a:blipFill>
            </p:spPr>
            <p:txBody>
              <a:bodyPr/>
              <a:lstStyle/>
              <a:p>
                <a:r>
                  <a:rPr lang="en-US">
                    <a:noFill/>
                  </a:rPr>
                  <a:t> </a:t>
                </a:r>
              </a:p>
            </p:txBody>
          </p:sp>
        </mc:Fallback>
      </mc:AlternateContent>
    </p:spTree>
    <p:extLst>
      <p:ext uri="{BB962C8B-B14F-4D97-AF65-F5344CB8AC3E}">
        <p14:creationId xmlns:p14="http://schemas.microsoft.com/office/powerpoint/2010/main" val="9997136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6">
            <a:extLst>
              <a:ext uri="{FF2B5EF4-FFF2-40B4-BE49-F238E27FC236}">
                <a16:creationId xmlns:a16="http://schemas.microsoft.com/office/drawing/2014/main" id="{56080804-F19F-41A7-8595-943961648C5E}"/>
              </a:ext>
            </a:extLst>
          </p:cNvPr>
          <p:cNvSpPr>
            <a:spLocks noGrp="1"/>
          </p:cNvSpPr>
          <p:nvPr>
            <p:ph type="sldNum" sz="quarter" idx="12"/>
          </p:nvPr>
        </p:nvSpPr>
        <p:spPr>
          <a:xfrm>
            <a:off x="8610600" y="6441692"/>
            <a:ext cx="2743200" cy="370027"/>
          </a:xfrm>
        </p:spPr>
        <p:txBody>
          <a:bodyPr/>
          <a:lstStyle/>
          <a:p>
            <a:fld id="{F4801FD5-11B4-DE43-ACA2-E85EEB9A6F9C}" type="slidenum">
              <a:rPr lang="en-US" smtClean="0">
                <a:latin typeface="Garamond" panose="02020404030301010803" pitchFamily="18" charset="0"/>
              </a:rPr>
              <a:t>24</a:t>
            </a:fld>
            <a:endParaRPr lang="en-US">
              <a:latin typeface="Garamond" panose="02020404030301010803" pitchFamily="18" charset="0"/>
            </a:endParaRPr>
          </a:p>
        </p:txBody>
      </p:sp>
      <p:sp>
        <p:nvSpPr>
          <p:cNvPr id="5" name="Title 1">
            <a:extLst>
              <a:ext uri="{FF2B5EF4-FFF2-40B4-BE49-F238E27FC236}">
                <a16:creationId xmlns:a16="http://schemas.microsoft.com/office/drawing/2014/main" id="{4710AE4B-0DB8-4451-B9E4-10BAE11B4D3A}"/>
              </a:ext>
            </a:extLst>
          </p:cNvPr>
          <p:cNvSpPr>
            <a:spLocks noGrp="1"/>
          </p:cNvSpPr>
          <p:nvPr>
            <p:ph type="title"/>
          </p:nvPr>
        </p:nvSpPr>
        <p:spPr>
          <a:xfrm>
            <a:off x="497840" y="113802"/>
            <a:ext cx="10972800" cy="558382"/>
          </a:xfrm>
        </p:spPr>
        <p:txBody>
          <a:bodyPr>
            <a:noAutofit/>
          </a:bodyPr>
          <a:lstStyle/>
          <a:p>
            <a:pPr algn="ctr"/>
            <a:r>
              <a:rPr lang="en-US" sz="3200" b="1" u="sng" dirty="0">
                <a:solidFill>
                  <a:srgbClr val="FF3386"/>
                </a:solidFill>
                <a:latin typeface="Century Gothic" panose="020B0502020202020204" pitchFamily="34" charset="0"/>
                <a:cs typeface="Helvetica"/>
              </a:rPr>
              <a:t>POWER COMPUTATION FOR SINUSOIDAL AC  CIRCUIT</a:t>
            </a:r>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6BAA1F11-5BEF-4D80-964F-A7332E36BFA0}"/>
                  </a:ext>
                </a:extLst>
              </p:cNvPr>
              <p:cNvSpPr txBox="1"/>
              <p:nvPr/>
            </p:nvSpPr>
            <p:spPr>
              <a:xfrm>
                <a:off x="101601" y="741130"/>
                <a:ext cx="11912170" cy="6220998"/>
              </a:xfrm>
              <a:prstGeom prst="rect">
                <a:avLst/>
              </a:prstGeom>
              <a:noFill/>
              <a:ln>
                <a:solidFill>
                  <a:srgbClr val="FF0066"/>
                </a:solidFill>
              </a:ln>
            </p:spPr>
            <p:txBody>
              <a:bodyPr wrap="square" rtlCol="0">
                <a:spAutoFit/>
              </a:bodyPr>
              <a:lstStyle/>
              <a:p>
                <a:pPr>
                  <a:buClr>
                    <a:schemeClr val="accent2"/>
                  </a:buClr>
                </a:pPr>
                <a:endParaRPr lang="en-GB" sz="2400" b="1" dirty="0">
                  <a:solidFill>
                    <a:srgbClr val="0000CC"/>
                  </a:solidFill>
                  <a:latin typeface="Century Gothic" panose="020B0502020202020204" pitchFamily="34" charset="0"/>
                </a:endParaRPr>
              </a:p>
              <a:p>
                <a:pPr marL="342900" indent="-342900">
                  <a:buClr>
                    <a:schemeClr val="accent2"/>
                  </a:buClr>
                  <a:buFont typeface="Wingdings" panose="05000000000000000000" pitchFamily="2" charset="2"/>
                  <a:buChar char="v"/>
                </a:pPr>
                <a:r>
                  <a:rPr lang="en-GB" sz="2400" b="1" dirty="0">
                    <a:solidFill>
                      <a:srgbClr val="0000CC"/>
                    </a:solidFill>
                    <a:latin typeface="Century Gothic" panose="020B0502020202020204" pitchFamily="34" charset="0"/>
                  </a:rPr>
                  <a:t> The average power in an ac circuit is computed as </a:t>
                </a:r>
                <a:br>
                  <a:rPr lang="en-GB" sz="2400" b="1" dirty="0">
                    <a:solidFill>
                      <a:srgbClr val="0000CC"/>
                    </a:solidFill>
                    <a:latin typeface="Century Gothic" panose="020B0502020202020204" pitchFamily="34" charset="0"/>
                  </a:rPr>
                </a:br>
                <a:br>
                  <a:rPr lang="en-GB" sz="2400" b="1" dirty="0">
                    <a:solidFill>
                      <a:srgbClr val="0000CC"/>
                    </a:solidFill>
                    <a:latin typeface="Century Gothic" panose="020B0502020202020204" pitchFamily="34" charset="0"/>
                  </a:rPr>
                </a:br>
                <a:r>
                  <a:rPr lang="en-GB" sz="2400" b="1" dirty="0">
                    <a:solidFill>
                      <a:srgbClr val="0000CC"/>
                    </a:solidFill>
                    <a:latin typeface="Century Gothic" panose="020B0502020202020204" pitchFamily="34" charset="0"/>
                  </a:rPr>
                  <a:t>				</a:t>
                </a:r>
                <a:r>
                  <a:rPr lang="en-GB" sz="2400" b="1" i="1" dirty="0">
                    <a:solidFill>
                      <a:srgbClr val="0000CC"/>
                    </a:solidFill>
                    <a:latin typeface="Century Gothic" panose="020B0502020202020204" pitchFamily="34" charset="0"/>
                  </a:rPr>
                  <a:t>P</a:t>
                </a:r>
                <a:r>
                  <a:rPr lang="en-GB" sz="2400" b="1" dirty="0">
                    <a:solidFill>
                      <a:srgbClr val="0000CC"/>
                    </a:solidFill>
                    <a:latin typeface="Century Gothic" panose="020B0502020202020204" pitchFamily="34" charset="0"/>
                  </a:rPr>
                  <a:t> = </a:t>
                </a:r>
                <a14:m>
                  <m:oMath xmlns:m="http://schemas.openxmlformats.org/officeDocument/2006/math">
                    <m:d>
                      <m:dPr>
                        <m:ctrlPr>
                          <a:rPr lang="en-GB" sz="2400" b="1" i="1" smtClean="0">
                            <a:solidFill>
                              <a:srgbClr val="0000CC"/>
                            </a:solidFill>
                            <a:latin typeface="Cambria Math" panose="02040503050406030204" pitchFamily="18" charset="0"/>
                          </a:rPr>
                        </m:ctrlPr>
                      </m:dPr>
                      <m:e>
                        <m:f>
                          <m:fPr>
                            <m:ctrlPr>
                              <a:rPr lang="en-GB" sz="2400" b="1" i="1" smtClean="0">
                                <a:solidFill>
                                  <a:srgbClr val="0000CC"/>
                                </a:solidFill>
                                <a:latin typeface="Cambria Math" panose="02040503050406030204" pitchFamily="18" charset="0"/>
                              </a:rPr>
                            </m:ctrlPr>
                          </m:fPr>
                          <m:num>
                            <m:sSub>
                              <m:sSubPr>
                                <m:ctrlPr>
                                  <a:rPr lang="en-GB" sz="2400" b="1" i="1" smtClean="0">
                                    <a:solidFill>
                                      <a:srgbClr val="0000CC"/>
                                    </a:solidFill>
                                    <a:latin typeface="Cambria Math" panose="02040503050406030204" pitchFamily="18" charset="0"/>
                                  </a:rPr>
                                </m:ctrlPr>
                              </m:sSubPr>
                              <m:e>
                                <m:r>
                                  <a:rPr lang="en-US" sz="2400" b="1" i="1" smtClean="0">
                                    <a:solidFill>
                                      <a:srgbClr val="0000CC"/>
                                    </a:solidFill>
                                    <a:latin typeface="Cambria Math" panose="02040503050406030204" pitchFamily="18" charset="0"/>
                                  </a:rPr>
                                  <m:t>𝑽</m:t>
                                </m:r>
                              </m:e>
                              <m:sub>
                                <m:r>
                                  <a:rPr lang="en-US" sz="2400" b="1" i="1" smtClean="0">
                                    <a:solidFill>
                                      <a:srgbClr val="0000CC"/>
                                    </a:solidFill>
                                    <a:latin typeface="Cambria Math" panose="02040503050406030204" pitchFamily="18" charset="0"/>
                                  </a:rPr>
                                  <m:t>𝒎</m:t>
                                </m:r>
                              </m:sub>
                            </m:sSub>
                            <m:sSub>
                              <m:sSubPr>
                                <m:ctrlPr>
                                  <a:rPr lang="en-GB" sz="2400" b="1" i="1" smtClean="0">
                                    <a:solidFill>
                                      <a:srgbClr val="0000CC"/>
                                    </a:solidFill>
                                    <a:latin typeface="Cambria Math" panose="02040503050406030204" pitchFamily="18" charset="0"/>
                                  </a:rPr>
                                </m:ctrlPr>
                              </m:sSubPr>
                              <m:e>
                                <m:r>
                                  <a:rPr lang="en-US" sz="2400" b="1" i="1" smtClean="0">
                                    <a:solidFill>
                                      <a:srgbClr val="0000CC"/>
                                    </a:solidFill>
                                    <a:latin typeface="Cambria Math" panose="02040503050406030204" pitchFamily="18" charset="0"/>
                                  </a:rPr>
                                  <m:t>𝑰</m:t>
                                </m:r>
                              </m:e>
                              <m:sub>
                                <m:r>
                                  <a:rPr lang="en-US" sz="2400" b="1" i="1" smtClean="0">
                                    <a:solidFill>
                                      <a:srgbClr val="0000CC"/>
                                    </a:solidFill>
                                    <a:latin typeface="Cambria Math" panose="02040503050406030204" pitchFamily="18" charset="0"/>
                                  </a:rPr>
                                  <m:t>𝒎</m:t>
                                </m:r>
                              </m:sub>
                            </m:sSub>
                          </m:num>
                          <m:den>
                            <m:r>
                              <a:rPr lang="en-US" sz="2400" b="1" i="1" smtClean="0">
                                <a:solidFill>
                                  <a:srgbClr val="0000CC"/>
                                </a:solidFill>
                                <a:latin typeface="Cambria Math" panose="02040503050406030204" pitchFamily="18" charset="0"/>
                              </a:rPr>
                              <m:t>𝟐</m:t>
                            </m:r>
                          </m:den>
                        </m:f>
                      </m:e>
                    </m:d>
                    <m:func>
                      <m:funcPr>
                        <m:ctrlPr>
                          <a:rPr lang="en-GB" sz="2400" b="1" i="1" smtClean="0">
                            <a:solidFill>
                              <a:srgbClr val="0000CC"/>
                            </a:solidFill>
                            <a:latin typeface="Cambria Math" panose="02040503050406030204" pitchFamily="18" charset="0"/>
                          </a:rPr>
                        </m:ctrlPr>
                      </m:funcPr>
                      <m:fName>
                        <m:r>
                          <m:rPr>
                            <m:sty m:val="p"/>
                          </m:rPr>
                          <a:rPr lang="en-GB" sz="2400" b="0" i="0" smtClean="0">
                            <a:solidFill>
                              <a:srgbClr val="0000CC"/>
                            </a:solidFill>
                            <a:latin typeface="Cambria Math" panose="02040503050406030204" pitchFamily="18" charset="0"/>
                          </a:rPr>
                          <m:t>cos</m:t>
                        </m:r>
                      </m:fName>
                      <m:e>
                        <m:d>
                          <m:dPr>
                            <m:ctrlPr>
                              <a:rPr lang="en-GB" sz="2400" b="0" i="1" smtClean="0">
                                <a:solidFill>
                                  <a:srgbClr val="0000CC"/>
                                </a:solidFill>
                                <a:latin typeface="Cambria Math" panose="02040503050406030204" pitchFamily="18" charset="0"/>
                              </a:rPr>
                            </m:ctrlPr>
                          </m:dPr>
                          <m:e>
                            <m:r>
                              <a:rPr lang="en-GB" sz="2400" b="0" i="1" smtClean="0">
                                <a:solidFill>
                                  <a:srgbClr val="0000CC"/>
                                </a:solidFill>
                                <a:latin typeface="Cambria Math" panose="02040503050406030204" pitchFamily="18" charset="0"/>
                                <a:ea typeface="Cambria Math" panose="02040503050406030204" pitchFamily="18" charset="0"/>
                              </a:rPr>
                              <m:t>𝜃</m:t>
                            </m:r>
                            <m:r>
                              <a:rPr lang="en-GB" sz="2400" b="0" i="1" smtClean="0">
                                <a:solidFill>
                                  <a:srgbClr val="0000CC"/>
                                </a:solidFill>
                                <a:latin typeface="Cambria Math" panose="02040503050406030204" pitchFamily="18" charset="0"/>
                                <a:ea typeface="Cambria Math" panose="02040503050406030204" pitchFamily="18" charset="0"/>
                              </a:rPr>
                              <m:t>−</m:t>
                            </m:r>
                            <m:r>
                              <m:rPr>
                                <m:sty m:val="p"/>
                              </m:rPr>
                              <a:rPr lang="en-US" sz="2400" dirty="0">
                                <a:solidFill>
                                  <a:srgbClr val="0000CC"/>
                                </a:solidFill>
                                <a:latin typeface="Cambria Math" panose="02040503050406030204" pitchFamily="18" charset="0"/>
                                <a:ea typeface="Cambria Math" panose="02040503050406030204" pitchFamily="18" charset="0"/>
                              </a:rPr>
                              <m:t>ϕ</m:t>
                            </m:r>
                          </m:e>
                        </m:d>
                      </m:e>
                    </m:func>
                  </m:oMath>
                </a14:m>
                <a:r>
                  <a:rPr lang="en-GB" sz="2400" b="1" kern="100" dirty="0">
                    <a:solidFill>
                      <a:srgbClr val="0000CC"/>
                    </a:solidFill>
                    <a:latin typeface="Century Gothic" panose="020B0502020202020204" pitchFamily="34" charset="0"/>
                    <a:ea typeface="Calibri" panose="020F0502020204030204" pitchFamily="34" charset="0"/>
                    <a:cs typeface="Times New Roman" panose="02020603050405020304" pitchFamily="18" charset="0"/>
                  </a:rPr>
                  <a:t> </a:t>
                </a:r>
              </a:p>
              <a:p>
                <a:pPr marL="342900" indent="-342900">
                  <a:buClr>
                    <a:schemeClr val="accent2"/>
                  </a:buClr>
                  <a:buFont typeface="Wingdings" panose="05000000000000000000" pitchFamily="2" charset="2"/>
                  <a:buChar char="v"/>
                </a:pPr>
                <a:endParaRPr lang="en-GB" sz="2400" b="1" kern="100" dirty="0">
                  <a:solidFill>
                    <a:srgbClr val="0000CC"/>
                  </a:solidFill>
                  <a:latin typeface="Century Gothic" panose="020B0502020202020204" pitchFamily="34" charset="0"/>
                  <a:ea typeface="Calibri" panose="020F0502020204030204" pitchFamily="34" charset="0"/>
                  <a:cs typeface="Times New Roman" panose="02020603050405020304" pitchFamily="18" charset="0"/>
                </a:endParaRPr>
              </a:p>
              <a:p>
                <a:pPr marL="342900" indent="-342900">
                  <a:buClr>
                    <a:schemeClr val="accent2"/>
                  </a:buClr>
                  <a:buFont typeface="Wingdings" panose="05000000000000000000" pitchFamily="2" charset="2"/>
                  <a:buChar char="v"/>
                </a:pPr>
                <a:r>
                  <a:rPr lang="en-GB" sz="2400" b="1" kern="100" dirty="0">
                    <a:solidFill>
                      <a:srgbClr val="0000CC"/>
                    </a:solidFill>
                    <a:latin typeface="Century Gothic" panose="020B0502020202020204" pitchFamily="34" charset="0"/>
                    <a:ea typeface="Calibri" panose="020F0502020204030204" pitchFamily="34" charset="0"/>
                    <a:cs typeface="Times New Roman" panose="02020603050405020304" pitchFamily="18" charset="0"/>
                  </a:rPr>
                  <a:t>This equation is frequently expressed as </a:t>
                </a:r>
              </a:p>
              <a:p>
                <a:pPr>
                  <a:buClr>
                    <a:schemeClr val="accent2"/>
                  </a:buClr>
                </a:pPr>
                <a:endParaRPr lang="en-GB" sz="2400" b="1" kern="100" dirty="0">
                  <a:solidFill>
                    <a:srgbClr val="0000CC"/>
                  </a:solidFill>
                  <a:latin typeface="Century Gothic" panose="020B0502020202020204" pitchFamily="34" charset="0"/>
                  <a:ea typeface="Calibri" panose="020F0502020204030204" pitchFamily="34" charset="0"/>
                  <a:cs typeface="Times New Roman" panose="02020603050405020304" pitchFamily="18" charset="0"/>
                </a:endParaRPr>
              </a:p>
              <a:p>
                <a:pPr>
                  <a:buClr>
                    <a:schemeClr val="accent2"/>
                  </a:buClr>
                </a:pPr>
                <a:r>
                  <a:rPr lang="en-GB" sz="2400" b="1" kern="100" dirty="0">
                    <a:solidFill>
                      <a:srgbClr val="0000CC"/>
                    </a:solidFill>
                    <a:latin typeface="Century Gothic" panose="020B0502020202020204" pitchFamily="34" charset="0"/>
                    <a:ea typeface="Calibri" panose="020F0502020204030204" pitchFamily="34" charset="0"/>
                    <a:cs typeface="Times New Roman" panose="02020603050405020304" pitchFamily="18" charset="0"/>
                  </a:rPr>
                  <a:t>				</a:t>
                </a:r>
              </a:p>
              <a:p>
                <a:pPr>
                  <a:buClr>
                    <a:schemeClr val="accent2"/>
                  </a:buClr>
                </a:pPr>
                <a:r>
                  <a:rPr lang="en-GB" sz="2400" b="1" kern="100" dirty="0">
                    <a:solidFill>
                      <a:srgbClr val="0000CC"/>
                    </a:solidFill>
                    <a:latin typeface="Century Gothic" panose="020B0502020202020204" pitchFamily="34" charset="0"/>
                    <a:ea typeface="Calibri" panose="020F0502020204030204" pitchFamily="34" charset="0"/>
                    <a:cs typeface="Times New Roman" panose="02020603050405020304" pitchFamily="18" charset="0"/>
                  </a:rPr>
                  <a:t>  	 where </a:t>
                </a:r>
                <a14:m>
                  <m:oMath xmlns:m="http://schemas.openxmlformats.org/officeDocument/2006/math">
                    <m:sSub>
                      <m:sSubPr>
                        <m:ctrlPr>
                          <a:rPr lang="en-GB" sz="2400" b="1" i="1" kern="100" smtClean="0">
                            <a:solidFill>
                              <a:srgbClr val="0000CC"/>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2400" b="1" i="1" kern="100" smtClean="0">
                            <a:solidFill>
                              <a:srgbClr val="0000CC"/>
                            </a:solidFill>
                            <a:latin typeface="Cambria Math" panose="02040503050406030204" pitchFamily="18" charset="0"/>
                            <a:ea typeface="Calibri" panose="020F0502020204030204" pitchFamily="34" charset="0"/>
                            <a:cs typeface="Times New Roman" panose="02020603050405020304" pitchFamily="18" charset="0"/>
                          </a:rPr>
                          <m:t>𝑽</m:t>
                        </m:r>
                      </m:e>
                      <m:sub>
                        <m:r>
                          <a:rPr lang="en-US" sz="2400" b="1" i="1" kern="100" smtClean="0">
                            <a:solidFill>
                              <a:srgbClr val="0000CC"/>
                            </a:solidFill>
                            <a:latin typeface="Cambria Math" panose="02040503050406030204" pitchFamily="18" charset="0"/>
                            <a:ea typeface="Calibri" panose="020F0502020204030204" pitchFamily="34" charset="0"/>
                            <a:cs typeface="Times New Roman" panose="02020603050405020304" pitchFamily="18" charset="0"/>
                          </a:rPr>
                          <m:t>𝒓𝒎𝒔</m:t>
                        </m:r>
                      </m:sub>
                    </m:sSub>
                  </m:oMath>
                </a14:m>
                <a:r>
                  <a:rPr lang="en-GB" sz="2400" b="1" kern="100" dirty="0">
                    <a:solidFill>
                      <a:srgbClr val="0000CC"/>
                    </a:solidFill>
                    <a:latin typeface="Century Gothic" panose="020B0502020202020204" pitchFamily="34" charset="0"/>
                    <a:ea typeface="Calibri" panose="020F0502020204030204" pitchFamily="34" charset="0"/>
                    <a:cs typeface="Times New Roman" panose="02020603050405020304" pitchFamily="18" charset="0"/>
                  </a:rPr>
                  <a:t> = </a:t>
                </a:r>
                <a14:m>
                  <m:oMath xmlns:m="http://schemas.openxmlformats.org/officeDocument/2006/math">
                    <m:f>
                      <m:fPr>
                        <m:type m:val="lin"/>
                        <m:ctrlPr>
                          <a:rPr lang="en-GB" sz="2400" b="1" i="1" kern="100" smtClean="0">
                            <a:solidFill>
                              <a:srgbClr val="0000CC"/>
                            </a:solidFill>
                            <a:latin typeface="Cambria Math" panose="02040503050406030204" pitchFamily="18" charset="0"/>
                            <a:ea typeface="Calibri" panose="020F0502020204030204" pitchFamily="34" charset="0"/>
                            <a:cs typeface="Times New Roman" panose="02020603050405020304" pitchFamily="18" charset="0"/>
                          </a:rPr>
                        </m:ctrlPr>
                      </m:fPr>
                      <m:num>
                        <m:sSub>
                          <m:sSubPr>
                            <m:ctrlPr>
                              <a:rPr lang="en-GB" sz="2400" b="1" i="1" kern="100" smtClean="0">
                                <a:solidFill>
                                  <a:srgbClr val="0000CC"/>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2400" b="1" i="1" kern="100" smtClean="0">
                                <a:solidFill>
                                  <a:srgbClr val="0000CC"/>
                                </a:solidFill>
                                <a:latin typeface="Cambria Math" panose="02040503050406030204" pitchFamily="18" charset="0"/>
                                <a:ea typeface="Calibri" panose="020F0502020204030204" pitchFamily="34" charset="0"/>
                                <a:cs typeface="Times New Roman" panose="02020603050405020304" pitchFamily="18" charset="0"/>
                              </a:rPr>
                              <m:t>𝑽</m:t>
                            </m:r>
                          </m:e>
                          <m:sub>
                            <m:r>
                              <a:rPr lang="en-US" sz="2400" b="1" i="1" kern="100" smtClean="0">
                                <a:solidFill>
                                  <a:srgbClr val="0000CC"/>
                                </a:solidFill>
                                <a:latin typeface="Cambria Math" panose="02040503050406030204" pitchFamily="18" charset="0"/>
                                <a:ea typeface="Calibri" panose="020F0502020204030204" pitchFamily="34" charset="0"/>
                                <a:cs typeface="Times New Roman" panose="02020603050405020304" pitchFamily="18" charset="0"/>
                              </a:rPr>
                              <m:t>𝒎</m:t>
                            </m:r>
                          </m:sub>
                        </m:sSub>
                      </m:num>
                      <m:den>
                        <m:rad>
                          <m:radPr>
                            <m:degHide m:val="on"/>
                            <m:ctrlPr>
                              <a:rPr lang="en-GB" sz="2400" b="1" i="1" kern="100" smtClean="0">
                                <a:solidFill>
                                  <a:srgbClr val="0000CC"/>
                                </a:solidFill>
                                <a:latin typeface="Cambria Math" panose="02040503050406030204" pitchFamily="18" charset="0"/>
                                <a:ea typeface="Calibri" panose="020F0502020204030204" pitchFamily="34" charset="0"/>
                                <a:cs typeface="Times New Roman" panose="02020603050405020304" pitchFamily="18" charset="0"/>
                              </a:rPr>
                            </m:ctrlPr>
                          </m:radPr>
                          <m:deg/>
                          <m:e>
                            <m:r>
                              <a:rPr lang="en-US" sz="2400" b="1" i="1" kern="100" smtClean="0">
                                <a:solidFill>
                                  <a:srgbClr val="0000CC"/>
                                </a:solidFill>
                                <a:latin typeface="Cambria Math" panose="02040503050406030204" pitchFamily="18" charset="0"/>
                                <a:ea typeface="Calibri" panose="020F0502020204030204" pitchFamily="34" charset="0"/>
                                <a:cs typeface="Times New Roman" panose="02020603050405020304" pitchFamily="18" charset="0"/>
                              </a:rPr>
                              <m:t>𝟐</m:t>
                            </m:r>
                          </m:e>
                        </m:rad>
                      </m:den>
                    </m:f>
                    <m:r>
                      <a:rPr lang="en-US" sz="2400" b="1" i="0" kern="100" smtClean="0">
                        <a:solidFill>
                          <a:srgbClr val="0000CC"/>
                        </a:solidFill>
                        <a:latin typeface="Cambria Math" panose="02040503050406030204" pitchFamily="18" charset="0"/>
                        <a:ea typeface="Calibri" panose="020F0502020204030204" pitchFamily="34" charset="0"/>
                        <a:cs typeface="Times New Roman" panose="02020603050405020304" pitchFamily="18" charset="0"/>
                      </a:rPr>
                      <m:t> </m:t>
                    </m:r>
                  </m:oMath>
                </a14:m>
                <a:r>
                  <a:rPr lang="en-GB" sz="2400" b="1" kern="100" dirty="0">
                    <a:solidFill>
                      <a:srgbClr val="0000CC"/>
                    </a:solidFill>
                    <a:latin typeface="Century Gothic" panose="020B0502020202020204" pitchFamily="34" charset="0"/>
                    <a:ea typeface="Calibri" panose="020F0502020204030204" pitchFamily="34" charset="0"/>
                    <a:cs typeface="Times New Roman" panose="02020603050405020304" pitchFamily="18" charset="0"/>
                  </a:rPr>
                  <a:t>, </a:t>
                </a:r>
                <a14:m>
                  <m:oMath xmlns:m="http://schemas.openxmlformats.org/officeDocument/2006/math">
                    <m:sSub>
                      <m:sSubPr>
                        <m:ctrlPr>
                          <a:rPr lang="en-GB" sz="2400" b="1" i="1" kern="100" smtClean="0">
                            <a:solidFill>
                              <a:srgbClr val="0000CC"/>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2400" b="1" i="1" kern="100" smtClean="0">
                            <a:solidFill>
                              <a:srgbClr val="0000CC"/>
                            </a:solidFill>
                            <a:latin typeface="Cambria Math" panose="02040503050406030204" pitchFamily="18" charset="0"/>
                            <a:ea typeface="Calibri" panose="020F0502020204030204" pitchFamily="34" charset="0"/>
                            <a:cs typeface="Times New Roman" panose="02020603050405020304" pitchFamily="18" charset="0"/>
                          </a:rPr>
                          <m:t>𝑰</m:t>
                        </m:r>
                      </m:e>
                      <m:sub>
                        <m:r>
                          <a:rPr lang="en-US" sz="2400" b="1" i="1" kern="100" smtClean="0">
                            <a:solidFill>
                              <a:srgbClr val="0000CC"/>
                            </a:solidFill>
                            <a:latin typeface="Cambria Math" panose="02040503050406030204" pitchFamily="18" charset="0"/>
                            <a:ea typeface="Calibri" panose="020F0502020204030204" pitchFamily="34" charset="0"/>
                            <a:cs typeface="Times New Roman" panose="02020603050405020304" pitchFamily="18" charset="0"/>
                          </a:rPr>
                          <m:t>𝒓𝒎𝒔</m:t>
                        </m:r>
                      </m:sub>
                    </m:sSub>
                  </m:oMath>
                </a14:m>
                <a:r>
                  <a:rPr lang="en-GB" sz="2400" b="1" kern="100" dirty="0">
                    <a:solidFill>
                      <a:srgbClr val="0000CC"/>
                    </a:solidFill>
                    <a:latin typeface="Century Gothic" panose="020B0502020202020204" pitchFamily="34" charset="0"/>
                    <a:ea typeface="Calibri" panose="020F0502020204030204" pitchFamily="34" charset="0"/>
                    <a:cs typeface="Times New Roman" panose="02020603050405020304" pitchFamily="18" charset="0"/>
                  </a:rPr>
                  <a:t> = </a:t>
                </a:r>
                <a14:m>
                  <m:oMath xmlns:m="http://schemas.openxmlformats.org/officeDocument/2006/math">
                    <m:f>
                      <m:fPr>
                        <m:type m:val="lin"/>
                        <m:ctrlPr>
                          <a:rPr lang="en-GB" sz="2400" b="1" i="1" kern="100" smtClean="0">
                            <a:solidFill>
                              <a:srgbClr val="0000CC"/>
                            </a:solidFill>
                            <a:latin typeface="Cambria Math" panose="02040503050406030204" pitchFamily="18" charset="0"/>
                            <a:ea typeface="Calibri" panose="020F0502020204030204" pitchFamily="34" charset="0"/>
                            <a:cs typeface="Times New Roman" panose="02020603050405020304" pitchFamily="18" charset="0"/>
                          </a:rPr>
                        </m:ctrlPr>
                      </m:fPr>
                      <m:num>
                        <m:sSub>
                          <m:sSubPr>
                            <m:ctrlPr>
                              <a:rPr lang="en-GB" sz="2400" b="1" i="1" kern="100" smtClean="0">
                                <a:solidFill>
                                  <a:srgbClr val="0000CC"/>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2400" b="1" i="1" kern="100" smtClean="0">
                                <a:solidFill>
                                  <a:srgbClr val="0000CC"/>
                                </a:solidFill>
                                <a:latin typeface="Cambria Math" panose="02040503050406030204" pitchFamily="18" charset="0"/>
                                <a:ea typeface="Calibri" panose="020F0502020204030204" pitchFamily="34" charset="0"/>
                                <a:cs typeface="Times New Roman" panose="02020603050405020304" pitchFamily="18" charset="0"/>
                              </a:rPr>
                              <m:t>𝑰</m:t>
                            </m:r>
                          </m:e>
                          <m:sub>
                            <m:r>
                              <a:rPr lang="en-US" sz="2400" b="1" i="1" kern="100" smtClean="0">
                                <a:solidFill>
                                  <a:srgbClr val="0000CC"/>
                                </a:solidFill>
                                <a:latin typeface="Cambria Math" panose="02040503050406030204" pitchFamily="18" charset="0"/>
                                <a:ea typeface="Calibri" panose="020F0502020204030204" pitchFamily="34" charset="0"/>
                                <a:cs typeface="Times New Roman" panose="02020603050405020304" pitchFamily="18" charset="0"/>
                              </a:rPr>
                              <m:t>𝒎</m:t>
                            </m:r>
                          </m:sub>
                        </m:sSub>
                      </m:num>
                      <m:den>
                        <m:rad>
                          <m:radPr>
                            <m:degHide m:val="on"/>
                            <m:ctrlPr>
                              <a:rPr lang="en-GB" sz="2400" b="1" i="1" kern="100" smtClean="0">
                                <a:solidFill>
                                  <a:srgbClr val="0000CC"/>
                                </a:solidFill>
                                <a:latin typeface="Cambria Math" panose="02040503050406030204" pitchFamily="18" charset="0"/>
                                <a:ea typeface="Calibri" panose="020F0502020204030204" pitchFamily="34" charset="0"/>
                                <a:cs typeface="Times New Roman" panose="02020603050405020304" pitchFamily="18" charset="0"/>
                              </a:rPr>
                            </m:ctrlPr>
                          </m:radPr>
                          <m:deg/>
                          <m:e>
                            <m:r>
                              <a:rPr lang="en-US" sz="2400" b="1" i="1" kern="100" smtClean="0">
                                <a:solidFill>
                                  <a:srgbClr val="0000CC"/>
                                </a:solidFill>
                                <a:latin typeface="Cambria Math" panose="02040503050406030204" pitchFamily="18" charset="0"/>
                                <a:ea typeface="Calibri" panose="020F0502020204030204" pitchFamily="34" charset="0"/>
                                <a:cs typeface="Times New Roman" panose="02020603050405020304" pitchFamily="18" charset="0"/>
                              </a:rPr>
                              <m:t>𝟐</m:t>
                            </m:r>
                          </m:e>
                        </m:rad>
                      </m:den>
                    </m:f>
                  </m:oMath>
                </a14:m>
                <a:r>
                  <a:rPr lang="en-GB" sz="2400" b="1" kern="100" dirty="0">
                    <a:solidFill>
                      <a:srgbClr val="0000CC"/>
                    </a:solidFill>
                    <a:latin typeface="Century Gothic" panose="020B0502020202020204" pitchFamily="34" charset="0"/>
                    <a:ea typeface="Calibri" panose="020F0502020204030204" pitchFamily="34" charset="0"/>
                    <a:cs typeface="Times New Roman" panose="02020603050405020304" pitchFamily="18" charset="0"/>
                  </a:rPr>
                  <a:t> , </a:t>
                </a:r>
                <a:r>
                  <a:rPr lang="en-GB" sz="2400" kern="100" dirty="0">
                    <a:solidFill>
                      <a:srgbClr val="0000CC"/>
                    </a:solidFill>
                    <a:latin typeface="Century Gothic" panose="020B0502020202020204" pitchFamily="34" charset="0"/>
                    <a:ea typeface="Calibri" panose="020F0502020204030204" pitchFamily="34" charset="0"/>
                    <a:cs typeface="Times New Roman" panose="02020603050405020304" pitchFamily="18" charset="0"/>
                  </a:rPr>
                  <a:t>and </a:t>
                </a:r>
                <a14:m>
                  <m:oMath xmlns:m="http://schemas.openxmlformats.org/officeDocument/2006/math">
                    <m:r>
                      <a:rPr lang="en-GB" sz="2400" i="1">
                        <a:solidFill>
                          <a:srgbClr val="0000CC"/>
                        </a:solidFill>
                        <a:latin typeface="Cambria Math" panose="02040503050406030204" pitchFamily="18" charset="0"/>
                        <a:ea typeface="Cambria Math" panose="02040503050406030204" pitchFamily="18" charset="0"/>
                      </a:rPr>
                      <m:t>𝜃</m:t>
                    </m:r>
                    <m:r>
                      <a:rPr lang="en-GB" sz="2400" i="1">
                        <a:solidFill>
                          <a:srgbClr val="0000CC"/>
                        </a:solidFill>
                        <a:latin typeface="Cambria Math" panose="02040503050406030204" pitchFamily="18" charset="0"/>
                        <a:ea typeface="Cambria Math" panose="02040503050406030204" pitchFamily="18" charset="0"/>
                      </a:rPr>
                      <m:t>−</m:t>
                    </m:r>
                    <m:r>
                      <m:rPr>
                        <m:sty m:val="p"/>
                      </m:rPr>
                      <a:rPr lang="en-US" sz="2400" dirty="0">
                        <a:solidFill>
                          <a:srgbClr val="0000CC"/>
                        </a:solidFill>
                        <a:latin typeface="Cambria Math" panose="02040503050406030204" pitchFamily="18" charset="0"/>
                        <a:ea typeface="Cambria Math" panose="02040503050406030204" pitchFamily="18" charset="0"/>
                      </a:rPr>
                      <m:t>ϕ</m:t>
                    </m:r>
                  </m:oMath>
                </a14:m>
                <a:r>
                  <a:rPr lang="en-GB" sz="2400" b="1" kern="100" dirty="0">
                    <a:solidFill>
                      <a:srgbClr val="0000CC"/>
                    </a:solidFill>
                    <a:latin typeface="Century Gothic" panose="020B0502020202020204" pitchFamily="34" charset="0"/>
                    <a:ea typeface="Calibri" panose="020F0502020204030204" pitchFamily="34" charset="0"/>
                    <a:cs typeface="Times New Roman" panose="02020603050405020304" pitchFamily="18" charset="0"/>
                  </a:rPr>
                  <a:t> is the phase angle between 	voltage and current.</a:t>
                </a:r>
                <a:br>
                  <a:rPr lang="en-GB" sz="2400" b="1" kern="100" dirty="0">
                    <a:solidFill>
                      <a:srgbClr val="0000CC"/>
                    </a:solidFill>
                    <a:latin typeface="Century Gothic" panose="020B0502020202020204" pitchFamily="34" charset="0"/>
                    <a:ea typeface="Calibri" panose="020F0502020204030204" pitchFamily="34" charset="0"/>
                    <a:cs typeface="Times New Roman" panose="02020603050405020304" pitchFamily="18" charset="0"/>
                  </a:rPr>
                </a:br>
                <a:endParaRPr lang="en-GB" sz="2400" b="1" kern="100" dirty="0">
                  <a:solidFill>
                    <a:srgbClr val="0000CC"/>
                  </a:solidFill>
                  <a:latin typeface="Century Gothic" panose="020B0502020202020204" pitchFamily="34" charset="0"/>
                  <a:ea typeface="Calibri" panose="020F0502020204030204" pitchFamily="34" charset="0"/>
                  <a:cs typeface="Times New Roman" panose="02020603050405020304" pitchFamily="18" charset="0"/>
                </a:endParaRPr>
              </a:p>
              <a:p>
                <a:pPr>
                  <a:buClr>
                    <a:schemeClr val="accent2"/>
                  </a:buClr>
                </a:pPr>
                <a:r>
                  <a:rPr lang="en-GB" sz="2400" b="1" kern="100" dirty="0">
                    <a:solidFill>
                      <a:srgbClr val="0000CC"/>
                    </a:solidFill>
                    <a:latin typeface="Century Gothic" panose="020B0502020202020204" pitchFamily="34" charset="0"/>
                    <a:ea typeface="Calibri" panose="020F0502020204030204" pitchFamily="34" charset="0"/>
                    <a:cs typeface="Times New Roman" panose="02020603050405020304" pitchFamily="18" charset="0"/>
                  </a:rPr>
                  <a:t>   </a:t>
                </a:r>
              </a:p>
              <a:p>
                <a:pPr>
                  <a:buClr>
                    <a:schemeClr val="accent2"/>
                  </a:buClr>
                </a:pPr>
                <a:endParaRPr lang="en-GB" sz="2400" b="1" kern="100" dirty="0">
                  <a:solidFill>
                    <a:srgbClr val="0000CC"/>
                  </a:solidFill>
                  <a:latin typeface="Century Gothic" panose="020B0502020202020204" pitchFamily="34" charset="0"/>
                  <a:ea typeface="Calibri" panose="020F0502020204030204" pitchFamily="34" charset="0"/>
                  <a:cs typeface="Times New Roman" panose="02020603050405020304" pitchFamily="18" charset="0"/>
                </a:endParaRPr>
              </a:p>
              <a:p>
                <a:pPr marL="342900" indent="-342900">
                  <a:buClr>
                    <a:schemeClr val="accent2"/>
                  </a:buClr>
                  <a:buFont typeface="Wingdings" panose="05000000000000000000" pitchFamily="2" charset="2"/>
                  <a:buChar char="v"/>
                </a:pPr>
                <a:r>
                  <a:rPr lang="en-GB" sz="2400" b="1" kern="100" dirty="0">
                    <a:solidFill>
                      <a:srgbClr val="0000CC"/>
                    </a:solidFill>
                    <a:latin typeface="Century Gothic" panose="020B0502020202020204" pitchFamily="34" charset="0"/>
                    <a:ea typeface="Calibri" panose="020F0502020204030204" pitchFamily="34" charset="0"/>
                    <a:cs typeface="Times New Roman" panose="02020603050405020304" pitchFamily="18" charset="0"/>
                  </a:rPr>
                  <a:t>Reactive Power is determined by</a:t>
                </a:r>
                <a:br>
                  <a:rPr lang="en-GB" sz="2400" b="1" kern="100" dirty="0">
                    <a:solidFill>
                      <a:srgbClr val="0000CC"/>
                    </a:solidFill>
                    <a:latin typeface="Century Gothic" panose="020B0502020202020204" pitchFamily="34" charset="0"/>
                    <a:ea typeface="Calibri" panose="020F0502020204030204" pitchFamily="34" charset="0"/>
                    <a:cs typeface="Times New Roman" panose="02020603050405020304" pitchFamily="18" charset="0"/>
                  </a:rPr>
                </a:br>
                <a:r>
                  <a:rPr lang="en-GB" sz="2400" b="1" kern="100" dirty="0">
                    <a:solidFill>
                      <a:srgbClr val="0000CC"/>
                    </a:solidFill>
                    <a:latin typeface="Century Gothic" panose="020B0502020202020204" pitchFamily="34" charset="0"/>
                    <a:ea typeface="Calibri" panose="020F0502020204030204" pitchFamily="34" charset="0"/>
                    <a:cs typeface="Times New Roman" panose="02020603050405020304" pitchFamily="18" charset="0"/>
                  </a:rPr>
                  <a:t>        </a:t>
                </a:r>
              </a:p>
              <a:p>
                <a:pPr>
                  <a:buClr>
                    <a:schemeClr val="accent2"/>
                  </a:buClr>
                </a:pPr>
                <a:endParaRPr lang="en-GB" sz="2400" b="1" kern="100" dirty="0">
                  <a:solidFill>
                    <a:srgbClr val="0000CC"/>
                  </a:solidFill>
                  <a:latin typeface="Century Gothic" panose="020B0502020202020204" pitchFamily="34" charset="0"/>
                  <a:ea typeface="Calibri" panose="020F0502020204030204" pitchFamily="34" charset="0"/>
                  <a:cs typeface="Times New Roman" panose="02020603050405020304" pitchFamily="18" charset="0"/>
                </a:endParaRPr>
              </a:p>
            </p:txBody>
          </p:sp>
        </mc:Choice>
        <mc:Fallback xmlns="">
          <p:sp>
            <p:nvSpPr>
              <p:cNvPr id="6" name="TextBox 5">
                <a:extLst>
                  <a:ext uri="{FF2B5EF4-FFF2-40B4-BE49-F238E27FC236}">
                    <a16:creationId xmlns:a16="http://schemas.microsoft.com/office/drawing/2014/main" id="{6BAA1F11-5BEF-4D80-964F-A7332E36BFA0}"/>
                  </a:ext>
                </a:extLst>
              </p:cNvPr>
              <p:cNvSpPr txBox="1">
                <a:spLocks noRot="1" noChangeAspect="1" noMove="1" noResize="1" noEditPoints="1" noAdjustHandles="1" noChangeArrowheads="1" noChangeShapeType="1" noTextEdit="1"/>
              </p:cNvSpPr>
              <p:nvPr/>
            </p:nvSpPr>
            <p:spPr>
              <a:xfrm>
                <a:off x="101601" y="741130"/>
                <a:ext cx="11912170" cy="6220998"/>
              </a:xfrm>
              <a:prstGeom prst="rect">
                <a:avLst/>
              </a:prstGeom>
              <a:blipFill>
                <a:blip r:embed="rId3"/>
                <a:stretch>
                  <a:fillRect l="-665"/>
                </a:stretch>
              </a:blipFill>
              <a:ln>
                <a:solidFill>
                  <a:srgbClr val="FF0066"/>
                </a:solidFill>
              </a:ln>
            </p:spPr>
            <p:txBody>
              <a:bodyPr/>
              <a:lstStyle/>
              <a:p>
                <a:r>
                  <a:rPr lang="en-US">
                    <a:noFill/>
                  </a:rPr>
                  <a:t> </a:t>
                </a:r>
              </a:p>
            </p:txBody>
          </p:sp>
        </mc:Fallback>
      </mc:AlternateContent>
      <p:sp>
        <p:nvSpPr>
          <p:cNvPr id="7" name="TextBox 6">
            <a:extLst>
              <a:ext uri="{FF2B5EF4-FFF2-40B4-BE49-F238E27FC236}">
                <a16:creationId xmlns:a16="http://schemas.microsoft.com/office/drawing/2014/main" id="{C36AA635-C21F-49F3-BF21-4CBE4C20709B}"/>
              </a:ext>
            </a:extLst>
          </p:cNvPr>
          <p:cNvSpPr txBox="1"/>
          <p:nvPr/>
        </p:nvSpPr>
        <p:spPr>
          <a:xfrm>
            <a:off x="5269122" y="6037275"/>
            <a:ext cx="823314" cy="373051"/>
          </a:xfrm>
          <a:prstGeom prst="rect">
            <a:avLst/>
          </a:prstGeom>
          <a:noFill/>
        </p:spPr>
        <p:txBody>
          <a:bodyPr wrap="square" rtlCol="0">
            <a:spAutoFit/>
          </a:bodyPr>
          <a:lstStyle/>
          <a:p>
            <a:pPr algn="ctr"/>
            <a:endParaRPr lang="en-GB" sz="1824" dirty="0">
              <a:latin typeface="Garamond" panose="02020404030301010803" pitchFamily="18" charset="0"/>
            </a:endParaRPr>
          </a:p>
        </p:txBody>
      </p:sp>
      <p:sp>
        <p:nvSpPr>
          <p:cNvPr id="2" name="TextBox 1">
            <a:extLst>
              <a:ext uri="{FF2B5EF4-FFF2-40B4-BE49-F238E27FC236}">
                <a16:creationId xmlns:a16="http://schemas.microsoft.com/office/drawing/2014/main" id="{DA984A20-E919-49F4-8421-AD4191E2D0D2}"/>
              </a:ext>
            </a:extLst>
          </p:cNvPr>
          <p:cNvSpPr txBox="1"/>
          <p:nvPr/>
        </p:nvSpPr>
        <p:spPr>
          <a:xfrm>
            <a:off x="5638800" y="3017520"/>
            <a:ext cx="914400" cy="914400"/>
          </a:xfrm>
          <a:prstGeom prst="rect">
            <a:avLst/>
          </a:prstGeom>
          <a:noFill/>
        </p:spPr>
        <p:txBody>
          <a:bodyPr wrap="square" rtlCol="0">
            <a:spAutoFit/>
          </a:bodyPr>
          <a:lstStyle/>
          <a:p>
            <a:endParaRPr lang="en-US" dirty="0"/>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47F23AEC-2E0E-4BCC-9225-251D90165150}"/>
                  </a:ext>
                </a:extLst>
              </p:cNvPr>
              <p:cNvSpPr txBox="1"/>
              <p:nvPr/>
            </p:nvSpPr>
            <p:spPr>
              <a:xfrm>
                <a:off x="1188720" y="3322320"/>
                <a:ext cx="2854960" cy="369332"/>
              </a:xfrm>
              <a:prstGeom prst="rect">
                <a:avLst/>
              </a:prstGeom>
              <a:solidFill>
                <a:srgbClr val="00FFFF"/>
              </a:solidFill>
            </p:spPr>
            <p:txBody>
              <a:bodyPr wrap="square" rtlCol="0">
                <a:spAutoFit/>
              </a:bodyPr>
              <a:lstStyle/>
              <a:p>
                <a:r>
                  <a:rPr lang="en-US" b="1" i="1" dirty="0">
                    <a:solidFill>
                      <a:srgbClr val="0000CC"/>
                    </a:solidFill>
                  </a:rPr>
                  <a:t>P</a:t>
                </a:r>
                <a:r>
                  <a:rPr lang="en-US" b="1" dirty="0">
                    <a:solidFill>
                      <a:srgbClr val="0000CC"/>
                    </a:solidFill>
                  </a:rPr>
                  <a:t> = </a:t>
                </a:r>
                <a14:m>
                  <m:oMath xmlns:m="http://schemas.openxmlformats.org/officeDocument/2006/math">
                    <m:sSub>
                      <m:sSubPr>
                        <m:ctrlPr>
                          <a:rPr lang="en-US" b="1" i="1" smtClean="0">
                            <a:solidFill>
                              <a:srgbClr val="0000CC"/>
                            </a:solidFill>
                            <a:latin typeface="Cambria Math" panose="02040503050406030204" pitchFamily="18" charset="0"/>
                          </a:rPr>
                        </m:ctrlPr>
                      </m:sSubPr>
                      <m:e>
                        <m:r>
                          <a:rPr lang="en-US" b="1" i="1" smtClean="0">
                            <a:solidFill>
                              <a:srgbClr val="0000CC"/>
                            </a:solidFill>
                            <a:latin typeface="Cambria Math" panose="02040503050406030204" pitchFamily="18" charset="0"/>
                          </a:rPr>
                          <m:t>𝑽</m:t>
                        </m:r>
                      </m:e>
                      <m:sub>
                        <m:r>
                          <a:rPr lang="en-US" b="1" i="1" smtClean="0">
                            <a:solidFill>
                              <a:srgbClr val="0000CC"/>
                            </a:solidFill>
                            <a:latin typeface="Cambria Math" panose="02040503050406030204" pitchFamily="18" charset="0"/>
                          </a:rPr>
                          <m:t>𝒓𝒎𝒔</m:t>
                        </m:r>
                      </m:sub>
                    </m:sSub>
                    <m:sSub>
                      <m:sSubPr>
                        <m:ctrlPr>
                          <a:rPr lang="en-US" b="1" i="1" smtClean="0">
                            <a:solidFill>
                              <a:srgbClr val="0000CC"/>
                            </a:solidFill>
                            <a:latin typeface="Cambria Math" panose="02040503050406030204" pitchFamily="18" charset="0"/>
                          </a:rPr>
                        </m:ctrlPr>
                      </m:sSubPr>
                      <m:e>
                        <m:r>
                          <a:rPr lang="en-US" b="1" i="1" smtClean="0">
                            <a:solidFill>
                              <a:srgbClr val="0000CC"/>
                            </a:solidFill>
                            <a:latin typeface="Cambria Math" panose="02040503050406030204" pitchFamily="18" charset="0"/>
                          </a:rPr>
                          <m:t>𝑰</m:t>
                        </m:r>
                      </m:e>
                      <m:sub>
                        <m:r>
                          <a:rPr lang="en-US" b="1" i="1" smtClean="0">
                            <a:solidFill>
                              <a:srgbClr val="0000CC"/>
                            </a:solidFill>
                            <a:latin typeface="Cambria Math" panose="02040503050406030204" pitchFamily="18" charset="0"/>
                          </a:rPr>
                          <m:t>𝒓𝒎𝒔</m:t>
                        </m:r>
                      </m:sub>
                    </m:sSub>
                    <m:func>
                      <m:funcPr>
                        <m:ctrlPr>
                          <a:rPr lang="en-US" b="1" i="1" smtClean="0">
                            <a:solidFill>
                              <a:srgbClr val="0000CC"/>
                            </a:solidFill>
                            <a:latin typeface="Cambria Math" panose="02040503050406030204" pitchFamily="18" charset="0"/>
                          </a:rPr>
                        </m:ctrlPr>
                      </m:funcPr>
                      <m:fName>
                        <m:r>
                          <a:rPr lang="en-US" b="1" i="0" smtClean="0">
                            <a:solidFill>
                              <a:srgbClr val="0000CC"/>
                            </a:solidFill>
                            <a:latin typeface="Cambria Math" panose="02040503050406030204" pitchFamily="18" charset="0"/>
                          </a:rPr>
                          <m:t>𝐜𝐨𝐬</m:t>
                        </m:r>
                      </m:fName>
                      <m:e>
                        <m:d>
                          <m:dPr>
                            <m:ctrlPr>
                              <a:rPr lang="en-US" b="1" i="1" smtClean="0">
                                <a:solidFill>
                                  <a:srgbClr val="0000CC"/>
                                </a:solidFill>
                                <a:latin typeface="Cambria Math" panose="02040503050406030204" pitchFamily="18" charset="0"/>
                              </a:rPr>
                            </m:ctrlPr>
                          </m:dPr>
                          <m:e>
                            <m:r>
                              <a:rPr lang="en-US" b="1" i="1" smtClean="0">
                                <a:solidFill>
                                  <a:srgbClr val="0000CC"/>
                                </a:solidFill>
                                <a:latin typeface="Cambria Math" panose="02040503050406030204" pitchFamily="18" charset="0"/>
                                <a:ea typeface="Cambria Math" panose="02040503050406030204" pitchFamily="18" charset="0"/>
                              </a:rPr>
                              <m:t>𝜽</m:t>
                            </m:r>
                            <m:r>
                              <a:rPr lang="en-US" b="1" i="1" smtClean="0">
                                <a:solidFill>
                                  <a:srgbClr val="0000CC"/>
                                </a:solidFill>
                                <a:latin typeface="Cambria Math" panose="02040503050406030204" pitchFamily="18" charset="0"/>
                                <a:ea typeface="Cambria Math" panose="02040503050406030204" pitchFamily="18" charset="0"/>
                              </a:rPr>
                              <m:t>−</m:t>
                            </m:r>
                            <m:r>
                              <a:rPr lang="en-US" b="1" i="1" dirty="0">
                                <a:solidFill>
                                  <a:srgbClr val="0000CC"/>
                                </a:solidFill>
                                <a:latin typeface="Cambria Math" panose="02040503050406030204" pitchFamily="18" charset="0"/>
                                <a:ea typeface="Cambria Math" panose="02040503050406030204" pitchFamily="18" charset="0"/>
                              </a:rPr>
                              <m:t>𝛟</m:t>
                            </m:r>
                          </m:e>
                        </m:d>
                      </m:e>
                    </m:func>
                  </m:oMath>
                </a14:m>
                <a:endParaRPr lang="en-US" b="1" dirty="0"/>
              </a:p>
            </p:txBody>
          </p:sp>
        </mc:Choice>
        <mc:Fallback xmlns="">
          <p:sp>
            <p:nvSpPr>
              <p:cNvPr id="8" name="TextBox 7">
                <a:extLst>
                  <a:ext uri="{FF2B5EF4-FFF2-40B4-BE49-F238E27FC236}">
                    <a16:creationId xmlns:a16="http://schemas.microsoft.com/office/drawing/2014/main" id="{47F23AEC-2E0E-4BCC-9225-251D90165150}"/>
                  </a:ext>
                </a:extLst>
              </p:cNvPr>
              <p:cNvSpPr txBox="1">
                <a:spLocks noRot="1" noChangeAspect="1" noMove="1" noResize="1" noEditPoints="1" noAdjustHandles="1" noChangeArrowheads="1" noChangeShapeType="1" noTextEdit="1"/>
              </p:cNvSpPr>
              <p:nvPr/>
            </p:nvSpPr>
            <p:spPr>
              <a:xfrm>
                <a:off x="1188720" y="3322320"/>
                <a:ext cx="2854960" cy="369332"/>
              </a:xfrm>
              <a:prstGeom prst="rect">
                <a:avLst/>
              </a:prstGeom>
              <a:blipFill>
                <a:blip r:embed="rId4"/>
                <a:stretch>
                  <a:fillRect l="-1709" t="-8197" b="-24590"/>
                </a:stretch>
              </a:blipFill>
            </p:spPr>
            <p:txBody>
              <a:bodyPr/>
              <a:lstStyle/>
              <a:p>
                <a:r>
                  <a:rPr lang="en-US">
                    <a:noFill/>
                  </a:rPr>
                  <a:t> </a:t>
                </a:r>
              </a:p>
            </p:txBody>
          </p:sp>
        </mc:Fallback>
      </mc:AlternateContent>
      <p:sp>
        <p:nvSpPr>
          <p:cNvPr id="9" name="TextBox 8">
            <a:extLst>
              <a:ext uri="{FF2B5EF4-FFF2-40B4-BE49-F238E27FC236}">
                <a16:creationId xmlns:a16="http://schemas.microsoft.com/office/drawing/2014/main" id="{02CA6540-3818-4E4D-B013-E2E74FBFCFEB}"/>
              </a:ext>
            </a:extLst>
          </p:cNvPr>
          <p:cNvSpPr txBox="1"/>
          <p:nvPr/>
        </p:nvSpPr>
        <p:spPr>
          <a:xfrm>
            <a:off x="5638800" y="3017520"/>
            <a:ext cx="914400" cy="914400"/>
          </a:xfrm>
          <a:prstGeom prst="rect">
            <a:avLst/>
          </a:prstGeom>
          <a:noFill/>
        </p:spPr>
        <p:txBody>
          <a:bodyPr wrap="square" rtlCol="0">
            <a:spAutoFit/>
          </a:bodyPr>
          <a:lstStyle/>
          <a:p>
            <a:endParaRPr lang="en-US" dirty="0"/>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898497FC-E970-41A6-97BA-14A082E27EA9}"/>
                  </a:ext>
                </a:extLst>
              </p:cNvPr>
              <p:cNvSpPr txBox="1"/>
              <p:nvPr/>
            </p:nvSpPr>
            <p:spPr>
              <a:xfrm>
                <a:off x="807720" y="5020153"/>
                <a:ext cx="1808480" cy="369332"/>
              </a:xfrm>
              <a:prstGeom prst="rect">
                <a:avLst/>
              </a:prstGeom>
              <a:solidFill>
                <a:srgbClr val="00FFFF"/>
              </a:solidFill>
            </p:spPr>
            <p:txBody>
              <a:bodyPr wrap="square" rtlCol="0">
                <a:spAutoFit/>
              </a:bodyPr>
              <a:lstStyle/>
              <a:p>
                <a:r>
                  <a:rPr lang="en-US" b="1" i="1" dirty="0">
                    <a:solidFill>
                      <a:srgbClr val="0000CC"/>
                    </a:solidFill>
                  </a:rPr>
                  <a:t>Pf</a:t>
                </a:r>
                <a:r>
                  <a:rPr lang="en-US" b="1" dirty="0">
                    <a:solidFill>
                      <a:srgbClr val="0000CC"/>
                    </a:solidFill>
                  </a:rPr>
                  <a:t> = </a:t>
                </a:r>
                <a14:m>
                  <m:oMath xmlns:m="http://schemas.openxmlformats.org/officeDocument/2006/math">
                    <m:func>
                      <m:funcPr>
                        <m:ctrlPr>
                          <a:rPr lang="en-GB" sz="1800" b="1" i="1" smtClean="0">
                            <a:solidFill>
                              <a:srgbClr val="0000CC"/>
                            </a:solidFill>
                            <a:latin typeface="Cambria Math" panose="02040503050406030204" pitchFamily="18" charset="0"/>
                          </a:rPr>
                        </m:ctrlPr>
                      </m:funcPr>
                      <m:fName>
                        <m:r>
                          <a:rPr lang="en-GB" sz="1800" b="1" i="0" smtClean="0">
                            <a:solidFill>
                              <a:srgbClr val="0000CC"/>
                            </a:solidFill>
                            <a:latin typeface="Cambria Math" panose="02040503050406030204" pitchFamily="18" charset="0"/>
                          </a:rPr>
                          <m:t>𝐜𝐨𝐬</m:t>
                        </m:r>
                      </m:fName>
                      <m:e>
                        <m:d>
                          <m:dPr>
                            <m:ctrlPr>
                              <a:rPr lang="en-GB" sz="1800" b="1" i="1" smtClean="0">
                                <a:solidFill>
                                  <a:srgbClr val="0000CC"/>
                                </a:solidFill>
                                <a:latin typeface="Cambria Math" panose="02040503050406030204" pitchFamily="18" charset="0"/>
                              </a:rPr>
                            </m:ctrlPr>
                          </m:dPr>
                          <m:e>
                            <m:r>
                              <a:rPr lang="en-GB" sz="1800" b="1" i="1" smtClean="0">
                                <a:solidFill>
                                  <a:srgbClr val="0000CC"/>
                                </a:solidFill>
                                <a:latin typeface="Cambria Math" panose="02040503050406030204" pitchFamily="18" charset="0"/>
                                <a:ea typeface="Cambria Math" panose="02040503050406030204" pitchFamily="18" charset="0"/>
                              </a:rPr>
                              <m:t>𝜽</m:t>
                            </m:r>
                            <m:r>
                              <a:rPr lang="en-GB" sz="1800" b="1" i="1" smtClean="0">
                                <a:solidFill>
                                  <a:srgbClr val="0000CC"/>
                                </a:solidFill>
                                <a:latin typeface="Cambria Math" panose="02040503050406030204" pitchFamily="18" charset="0"/>
                                <a:ea typeface="Cambria Math" panose="02040503050406030204" pitchFamily="18" charset="0"/>
                              </a:rPr>
                              <m:t>−</m:t>
                            </m:r>
                            <m:r>
                              <a:rPr lang="en-US" sz="1800" b="1" i="1" dirty="0">
                                <a:solidFill>
                                  <a:srgbClr val="0000CC"/>
                                </a:solidFill>
                                <a:latin typeface="Cambria Math" panose="02040503050406030204" pitchFamily="18" charset="0"/>
                                <a:ea typeface="Cambria Math" panose="02040503050406030204" pitchFamily="18" charset="0"/>
                              </a:rPr>
                              <m:t>𝝓</m:t>
                            </m:r>
                          </m:e>
                        </m:d>
                      </m:e>
                    </m:func>
                  </m:oMath>
                </a14:m>
                <a:endParaRPr lang="en-US" b="1" dirty="0"/>
              </a:p>
            </p:txBody>
          </p:sp>
        </mc:Choice>
        <mc:Fallback xmlns="">
          <p:sp>
            <p:nvSpPr>
              <p:cNvPr id="10" name="TextBox 9">
                <a:extLst>
                  <a:ext uri="{FF2B5EF4-FFF2-40B4-BE49-F238E27FC236}">
                    <a16:creationId xmlns:a16="http://schemas.microsoft.com/office/drawing/2014/main" id="{898497FC-E970-41A6-97BA-14A082E27EA9}"/>
                  </a:ext>
                </a:extLst>
              </p:cNvPr>
              <p:cNvSpPr txBox="1">
                <a:spLocks noRot="1" noChangeAspect="1" noMove="1" noResize="1" noEditPoints="1" noAdjustHandles="1" noChangeArrowheads="1" noChangeShapeType="1" noTextEdit="1"/>
              </p:cNvSpPr>
              <p:nvPr/>
            </p:nvSpPr>
            <p:spPr>
              <a:xfrm>
                <a:off x="807720" y="5020153"/>
                <a:ext cx="1808480" cy="369332"/>
              </a:xfrm>
              <a:prstGeom prst="rect">
                <a:avLst/>
              </a:prstGeom>
              <a:blipFill>
                <a:blip r:embed="rId5"/>
                <a:stretch>
                  <a:fillRect l="-3041" t="-10000" b="-26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306552F9-591D-484C-B1BA-EC72779FC8B0}"/>
                  </a:ext>
                </a:extLst>
              </p:cNvPr>
              <p:cNvSpPr txBox="1"/>
              <p:nvPr/>
            </p:nvSpPr>
            <p:spPr>
              <a:xfrm>
                <a:off x="1043561" y="6317876"/>
                <a:ext cx="3145277" cy="400110"/>
              </a:xfrm>
              <a:prstGeom prst="rect">
                <a:avLst/>
              </a:prstGeom>
              <a:solidFill>
                <a:srgbClr val="00FFFF"/>
              </a:solidFill>
            </p:spPr>
            <p:txBody>
              <a:bodyPr wrap="square" rtlCol="0">
                <a:spAutoFit/>
              </a:bodyPr>
              <a:lstStyle/>
              <a:p>
                <a:r>
                  <a:rPr lang="en-US" sz="2000" b="1" i="1" dirty="0">
                    <a:solidFill>
                      <a:srgbClr val="0000CC"/>
                    </a:solidFill>
                  </a:rPr>
                  <a:t>Q = </a:t>
                </a:r>
                <a14:m>
                  <m:oMath xmlns:m="http://schemas.openxmlformats.org/officeDocument/2006/math">
                    <m:sSub>
                      <m:sSubPr>
                        <m:ctrlPr>
                          <a:rPr lang="en-US" sz="2000" b="1" i="1" smtClean="0">
                            <a:solidFill>
                              <a:srgbClr val="0000CC"/>
                            </a:solidFill>
                            <a:latin typeface="Cambria Math" panose="02040503050406030204" pitchFamily="18" charset="0"/>
                          </a:rPr>
                        </m:ctrlPr>
                      </m:sSubPr>
                      <m:e>
                        <m:r>
                          <a:rPr lang="en-US" sz="2000" b="1" i="1" smtClean="0">
                            <a:solidFill>
                              <a:srgbClr val="0000CC"/>
                            </a:solidFill>
                            <a:latin typeface="Cambria Math" panose="02040503050406030204" pitchFamily="18" charset="0"/>
                          </a:rPr>
                          <m:t>𝑽</m:t>
                        </m:r>
                      </m:e>
                      <m:sub>
                        <m:r>
                          <a:rPr lang="en-US" sz="2000" b="1" i="1" smtClean="0">
                            <a:solidFill>
                              <a:srgbClr val="0000CC"/>
                            </a:solidFill>
                            <a:latin typeface="Cambria Math" panose="02040503050406030204" pitchFamily="18" charset="0"/>
                          </a:rPr>
                          <m:t>𝒓𝒎𝒔</m:t>
                        </m:r>
                      </m:sub>
                    </m:sSub>
                    <m:sSub>
                      <m:sSubPr>
                        <m:ctrlPr>
                          <a:rPr lang="en-US" sz="2000" b="1" i="1" smtClean="0">
                            <a:solidFill>
                              <a:srgbClr val="0000CC"/>
                            </a:solidFill>
                            <a:latin typeface="Cambria Math" panose="02040503050406030204" pitchFamily="18" charset="0"/>
                          </a:rPr>
                        </m:ctrlPr>
                      </m:sSubPr>
                      <m:e>
                        <m:r>
                          <a:rPr lang="en-US" sz="2000" b="1" i="1" smtClean="0">
                            <a:solidFill>
                              <a:srgbClr val="0000CC"/>
                            </a:solidFill>
                            <a:latin typeface="Cambria Math" panose="02040503050406030204" pitchFamily="18" charset="0"/>
                          </a:rPr>
                          <m:t>𝑰</m:t>
                        </m:r>
                      </m:e>
                      <m:sub>
                        <m:r>
                          <a:rPr lang="en-US" sz="2000" b="1" i="1" smtClean="0">
                            <a:solidFill>
                              <a:srgbClr val="0000CC"/>
                            </a:solidFill>
                            <a:latin typeface="Cambria Math" panose="02040503050406030204" pitchFamily="18" charset="0"/>
                          </a:rPr>
                          <m:t>𝒓𝒎𝒔</m:t>
                        </m:r>
                      </m:sub>
                    </m:sSub>
                    <m:func>
                      <m:funcPr>
                        <m:ctrlPr>
                          <a:rPr lang="en-US" sz="2000" b="1" i="1" smtClean="0">
                            <a:solidFill>
                              <a:srgbClr val="0000CC"/>
                            </a:solidFill>
                            <a:latin typeface="Cambria Math" panose="02040503050406030204" pitchFamily="18" charset="0"/>
                          </a:rPr>
                        </m:ctrlPr>
                      </m:funcPr>
                      <m:fName>
                        <m:r>
                          <a:rPr lang="en-US" sz="2000" b="1" i="0" smtClean="0">
                            <a:solidFill>
                              <a:srgbClr val="0000CC"/>
                            </a:solidFill>
                            <a:latin typeface="Cambria Math" panose="02040503050406030204" pitchFamily="18" charset="0"/>
                          </a:rPr>
                          <m:t>𝐬𝐢𝐧</m:t>
                        </m:r>
                      </m:fName>
                      <m:e>
                        <m:d>
                          <m:dPr>
                            <m:ctrlPr>
                              <a:rPr lang="en-US" sz="2000" b="1" i="1" smtClean="0">
                                <a:solidFill>
                                  <a:srgbClr val="0000CC"/>
                                </a:solidFill>
                                <a:latin typeface="Cambria Math" panose="02040503050406030204" pitchFamily="18" charset="0"/>
                              </a:rPr>
                            </m:ctrlPr>
                          </m:dPr>
                          <m:e>
                            <m:r>
                              <a:rPr lang="en-US" sz="2000" b="1" i="1" smtClean="0">
                                <a:solidFill>
                                  <a:srgbClr val="0000CC"/>
                                </a:solidFill>
                                <a:latin typeface="Cambria Math" panose="02040503050406030204" pitchFamily="18" charset="0"/>
                                <a:ea typeface="Cambria Math" panose="02040503050406030204" pitchFamily="18" charset="0"/>
                              </a:rPr>
                              <m:t>𝜽</m:t>
                            </m:r>
                            <m:r>
                              <a:rPr lang="en-US" sz="2000" b="1" i="1" smtClean="0">
                                <a:solidFill>
                                  <a:srgbClr val="0000CC"/>
                                </a:solidFill>
                                <a:latin typeface="Cambria Math" panose="02040503050406030204" pitchFamily="18" charset="0"/>
                                <a:ea typeface="Cambria Math" panose="02040503050406030204" pitchFamily="18" charset="0"/>
                              </a:rPr>
                              <m:t>−</m:t>
                            </m:r>
                            <m:r>
                              <a:rPr lang="en-US" sz="2000" b="1" i="1" dirty="0" smtClean="0">
                                <a:solidFill>
                                  <a:srgbClr val="0000CC"/>
                                </a:solidFill>
                                <a:latin typeface="Cambria Math" panose="02040503050406030204" pitchFamily="18" charset="0"/>
                                <a:ea typeface="Cambria Math" panose="02040503050406030204" pitchFamily="18" charset="0"/>
                              </a:rPr>
                              <m:t>𝛟</m:t>
                            </m:r>
                          </m:e>
                        </m:d>
                      </m:e>
                    </m:func>
                  </m:oMath>
                </a14:m>
                <a:endParaRPr lang="en-US" sz="2000" b="1" i="1" dirty="0"/>
              </a:p>
            </p:txBody>
          </p:sp>
        </mc:Choice>
        <mc:Fallback xmlns="">
          <p:sp>
            <p:nvSpPr>
              <p:cNvPr id="11" name="TextBox 10">
                <a:extLst>
                  <a:ext uri="{FF2B5EF4-FFF2-40B4-BE49-F238E27FC236}">
                    <a16:creationId xmlns:a16="http://schemas.microsoft.com/office/drawing/2014/main" id="{306552F9-591D-484C-B1BA-EC72779FC8B0}"/>
                  </a:ext>
                </a:extLst>
              </p:cNvPr>
              <p:cNvSpPr txBox="1">
                <a:spLocks noRot="1" noChangeAspect="1" noMove="1" noResize="1" noEditPoints="1" noAdjustHandles="1" noChangeArrowheads="1" noChangeShapeType="1" noTextEdit="1"/>
              </p:cNvSpPr>
              <p:nvPr/>
            </p:nvSpPr>
            <p:spPr>
              <a:xfrm>
                <a:off x="1043561" y="6317876"/>
                <a:ext cx="3145277" cy="400110"/>
              </a:xfrm>
              <a:prstGeom prst="rect">
                <a:avLst/>
              </a:prstGeom>
              <a:blipFill>
                <a:blip r:embed="rId6"/>
                <a:stretch>
                  <a:fillRect l="-1938" t="-7576" b="-25758"/>
                </a:stretch>
              </a:blipFill>
            </p:spPr>
            <p:txBody>
              <a:bodyPr/>
              <a:lstStyle/>
              <a:p>
                <a:r>
                  <a:rPr lang="en-US">
                    <a:noFill/>
                  </a:rPr>
                  <a:t> </a:t>
                </a:r>
              </a:p>
            </p:txBody>
          </p:sp>
        </mc:Fallback>
      </mc:AlternateContent>
    </p:spTree>
    <p:extLst>
      <p:ext uri="{BB962C8B-B14F-4D97-AF65-F5344CB8AC3E}">
        <p14:creationId xmlns:p14="http://schemas.microsoft.com/office/powerpoint/2010/main" val="212032622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6">
            <a:extLst>
              <a:ext uri="{FF2B5EF4-FFF2-40B4-BE49-F238E27FC236}">
                <a16:creationId xmlns:a16="http://schemas.microsoft.com/office/drawing/2014/main" id="{56080804-F19F-41A7-8595-943961648C5E}"/>
              </a:ext>
            </a:extLst>
          </p:cNvPr>
          <p:cNvSpPr>
            <a:spLocks noGrp="1"/>
          </p:cNvSpPr>
          <p:nvPr>
            <p:ph type="sldNum" sz="quarter" idx="12"/>
          </p:nvPr>
        </p:nvSpPr>
        <p:spPr>
          <a:xfrm>
            <a:off x="8610600" y="6441692"/>
            <a:ext cx="2743200" cy="370027"/>
          </a:xfrm>
        </p:spPr>
        <p:txBody>
          <a:bodyPr/>
          <a:lstStyle/>
          <a:p>
            <a:fld id="{F4801FD5-11B4-DE43-ACA2-E85EEB9A6F9C}" type="slidenum">
              <a:rPr lang="en-US" smtClean="0">
                <a:latin typeface="Garamond" panose="02020404030301010803" pitchFamily="18" charset="0"/>
              </a:rPr>
              <a:t>25</a:t>
            </a:fld>
            <a:endParaRPr lang="en-US">
              <a:latin typeface="Garamond" panose="02020404030301010803" pitchFamily="18" charset="0"/>
            </a:endParaRPr>
          </a:p>
        </p:txBody>
      </p:sp>
      <p:sp>
        <p:nvSpPr>
          <p:cNvPr id="5" name="Title 1">
            <a:extLst>
              <a:ext uri="{FF2B5EF4-FFF2-40B4-BE49-F238E27FC236}">
                <a16:creationId xmlns:a16="http://schemas.microsoft.com/office/drawing/2014/main" id="{4710AE4B-0DB8-4451-B9E4-10BAE11B4D3A}"/>
              </a:ext>
            </a:extLst>
          </p:cNvPr>
          <p:cNvSpPr>
            <a:spLocks noGrp="1"/>
          </p:cNvSpPr>
          <p:nvPr>
            <p:ph type="title"/>
          </p:nvPr>
        </p:nvSpPr>
        <p:spPr>
          <a:xfrm>
            <a:off x="497840" y="113802"/>
            <a:ext cx="10972800" cy="558382"/>
          </a:xfrm>
        </p:spPr>
        <p:txBody>
          <a:bodyPr>
            <a:noAutofit/>
          </a:bodyPr>
          <a:lstStyle/>
          <a:p>
            <a:pPr algn="ctr"/>
            <a:r>
              <a:rPr lang="en-US" sz="3200" b="1" u="sng" dirty="0">
                <a:solidFill>
                  <a:srgbClr val="FF3386"/>
                </a:solidFill>
                <a:latin typeface="Century Gothic" panose="020B0502020202020204" pitchFamily="34" charset="0"/>
                <a:cs typeface="Helvetica"/>
              </a:rPr>
              <a:t>POWER COMPUTATION FOR SINUSOIDAL AC  CIRCUIT</a:t>
            </a:r>
          </a:p>
        </p:txBody>
      </p:sp>
      <p:sp>
        <p:nvSpPr>
          <p:cNvPr id="6" name="TextBox 5">
            <a:extLst>
              <a:ext uri="{FF2B5EF4-FFF2-40B4-BE49-F238E27FC236}">
                <a16:creationId xmlns:a16="http://schemas.microsoft.com/office/drawing/2014/main" id="{6BAA1F11-5BEF-4D80-964F-A7332E36BFA0}"/>
              </a:ext>
            </a:extLst>
          </p:cNvPr>
          <p:cNvSpPr txBox="1"/>
          <p:nvPr/>
        </p:nvSpPr>
        <p:spPr>
          <a:xfrm>
            <a:off x="101601" y="741130"/>
            <a:ext cx="11912170" cy="1938992"/>
          </a:xfrm>
          <a:prstGeom prst="rect">
            <a:avLst/>
          </a:prstGeom>
          <a:noFill/>
          <a:ln>
            <a:solidFill>
              <a:srgbClr val="FF0066"/>
            </a:solidFill>
          </a:ln>
        </p:spPr>
        <p:txBody>
          <a:bodyPr wrap="square" rtlCol="0">
            <a:spAutoFit/>
          </a:bodyPr>
          <a:lstStyle/>
          <a:p>
            <a:pPr>
              <a:buClr>
                <a:schemeClr val="accent2"/>
              </a:buClr>
            </a:pPr>
            <a:endParaRPr lang="en-GB" sz="2400" b="1" dirty="0">
              <a:solidFill>
                <a:srgbClr val="0000CC"/>
              </a:solidFill>
              <a:latin typeface="Century Gothic" panose="020B0502020202020204" pitchFamily="34" charset="0"/>
            </a:endParaRPr>
          </a:p>
          <a:p>
            <a:pPr marL="342900" indent="-342900">
              <a:buClr>
                <a:schemeClr val="accent2"/>
              </a:buClr>
              <a:buFont typeface="Wingdings" panose="05000000000000000000" pitchFamily="2" charset="2"/>
              <a:buChar char="v"/>
            </a:pPr>
            <a:r>
              <a:rPr lang="en-GB" sz="2400" b="1" dirty="0">
                <a:solidFill>
                  <a:srgbClr val="0000CC"/>
                </a:solidFill>
                <a:latin typeface="Century Gothic" panose="020B0502020202020204" pitchFamily="34" charset="0"/>
              </a:rPr>
              <a:t> Apparent Power is computed as</a:t>
            </a:r>
          </a:p>
          <a:p>
            <a:pPr>
              <a:buClr>
                <a:schemeClr val="accent2"/>
              </a:buClr>
            </a:pPr>
            <a:br>
              <a:rPr lang="en-GB" sz="2400" b="1" kern="100" dirty="0">
                <a:solidFill>
                  <a:srgbClr val="0000CC"/>
                </a:solidFill>
                <a:latin typeface="Century Gothic" panose="020B0502020202020204" pitchFamily="34" charset="0"/>
                <a:ea typeface="Calibri" panose="020F0502020204030204" pitchFamily="34" charset="0"/>
                <a:cs typeface="Times New Roman" panose="02020603050405020304" pitchFamily="18" charset="0"/>
              </a:rPr>
            </a:br>
            <a:r>
              <a:rPr lang="en-GB" sz="2400" b="1" kern="100" dirty="0">
                <a:solidFill>
                  <a:srgbClr val="0000CC"/>
                </a:solidFill>
                <a:latin typeface="Century Gothic" panose="020B0502020202020204" pitchFamily="34" charset="0"/>
                <a:ea typeface="Calibri" panose="020F0502020204030204" pitchFamily="34" charset="0"/>
                <a:cs typeface="Times New Roman" panose="02020603050405020304" pitchFamily="18" charset="0"/>
              </a:rPr>
              <a:t>				</a:t>
            </a:r>
          </a:p>
          <a:p>
            <a:pPr>
              <a:buClr>
                <a:schemeClr val="accent2"/>
              </a:buClr>
            </a:pPr>
            <a:endParaRPr lang="en-GB" sz="2400" b="1" kern="100" dirty="0">
              <a:solidFill>
                <a:srgbClr val="0000CC"/>
              </a:solidFill>
              <a:latin typeface="Century Gothic" panose="020B0502020202020204" pitchFamily="34" charset="0"/>
              <a:ea typeface="Calibri" panose="020F0502020204030204" pitchFamily="34" charset="0"/>
              <a:cs typeface="Times New Roman" panose="02020603050405020304" pitchFamily="18" charset="0"/>
            </a:endParaRPr>
          </a:p>
        </p:txBody>
      </p:sp>
      <p:sp>
        <p:nvSpPr>
          <p:cNvPr id="7" name="TextBox 6">
            <a:extLst>
              <a:ext uri="{FF2B5EF4-FFF2-40B4-BE49-F238E27FC236}">
                <a16:creationId xmlns:a16="http://schemas.microsoft.com/office/drawing/2014/main" id="{C36AA635-C21F-49F3-BF21-4CBE4C20709B}"/>
              </a:ext>
            </a:extLst>
          </p:cNvPr>
          <p:cNvSpPr txBox="1"/>
          <p:nvPr/>
        </p:nvSpPr>
        <p:spPr>
          <a:xfrm>
            <a:off x="5269122" y="6037275"/>
            <a:ext cx="823314" cy="373051"/>
          </a:xfrm>
          <a:prstGeom prst="rect">
            <a:avLst/>
          </a:prstGeom>
          <a:noFill/>
        </p:spPr>
        <p:txBody>
          <a:bodyPr wrap="square" rtlCol="0">
            <a:spAutoFit/>
          </a:bodyPr>
          <a:lstStyle/>
          <a:p>
            <a:pPr algn="ctr"/>
            <a:endParaRPr lang="en-GB" sz="1824" dirty="0">
              <a:latin typeface="Garamond" panose="02020404030301010803" pitchFamily="18" charset="0"/>
            </a:endParaRPr>
          </a:p>
        </p:txBody>
      </p:sp>
      <p:sp>
        <p:nvSpPr>
          <p:cNvPr id="2" name="TextBox 1">
            <a:extLst>
              <a:ext uri="{FF2B5EF4-FFF2-40B4-BE49-F238E27FC236}">
                <a16:creationId xmlns:a16="http://schemas.microsoft.com/office/drawing/2014/main" id="{DA984A20-E919-49F4-8421-AD4191E2D0D2}"/>
              </a:ext>
            </a:extLst>
          </p:cNvPr>
          <p:cNvSpPr txBox="1"/>
          <p:nvPr/>
        </p:nvSpPr>
        <p:spPr>
          <a:xfrm>
            <a:off x="5638800" y="3017520"/>
            <a:ext cx="914400" cy="914400"/>
          </a:xfrm>
          <a:prstGeom prst="rect">
            <a:avLst/>
          </a:prstGeom>
          <a:noFill/>
        </p:spPr>
        <p:txBody>
          <a:bodyPr wrap="square" rtlCol="0">
            <a:spAutoFit/>
          </a:bodyPr>
          <a:lstStyle/>
          <a:p>
            <a:endParaRPr lang="en-US" dirty="0"/>
          </a:p>
        </p:txBody>
      </p:sp>
      <p:sp>
        <p:nvSpPr>
          <p:cNvPr id="9" name="TextBox 8">
            <a:extLst>
              <a:ext uri="{FF2B5EF4-FFF2-40B4-BE49-F238E27FC236}">
                <a16:creationId xmlns:a16="http://schemas.microsoft.com/office/drawing/2014/main" id="{02CA6540-3818-4E4D-B013-E2E74FBFCFEB}"/>
              </a:ext>
            </a:extLst>
          </p:cNvPr>
          <p:cNvSpPr txBox="1"/>
          <p:nvPr/>
        </p:nvSpPr>
        <p:spPr>
          <a:xfrm>
            <a:off x="5638800" y="3017520"/>
            <a:ext cx="914400" cy="914400"/>
          </a:xfrm>
          <a:prstGeom prst="rect">
            <a:avLst/>
          </a:prstGeom>
          <a:noFill/>
        </p:spPr>
        <p:txBody>
          <a:bodyPr wrap="square" rtlCol="0">
            <a:spAutoFit/>
          </a:bodyPr>
          <a:lstStyle/>
          <a:p>
            <a:endParaRPr lang="en-US" dirty="0"/>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92112F7B-5C50-4400-A08D-E16C0D1C3025}"/>
                  </a:ext>
                </a:extLst>
              </p:cNvPr>
              <p:cNvSpPr txBox="1"/>
              <p:nvPr/>
            </p:nvSpPr>
            <p:spPr>
              <a:xfrm>
                <a:off x="1432560" y="1638569"/>
                <a:ext cx="1676400" cy="427746"/>
              </a:xfrm>
              <a:prstGeom prst="rect">
                <a:avLst/>
              </a:prstGeom>
              <a:solidFill>
                <a:srgbClr val="00FFFF"/>
              </a:solidFill>
            </p:spPr>
            <p:txBody>
              <a:bodyPr wrap="square" rtlCol="0">
                <a:spAutoFit/>
              </a:bodyPr>
              <a:lstStyle/>
              <a:p>
                <a:r>
                  <a:rPr lang="en-US" b="1" dirty="0">
                    <a:solidFill>
                      <a:srgbClr val="0000CC"/>
                    </a:solidFill>
                  </a:rPr>
                  <a:t>S = </a:t>
                </a:r>
                <a14:m>
                  <m:oMath xmlns:m="http://schemas.openxmlformats.org/officeDocument/2006/math">
                    <m:rad>
                      <m:radPr>
                        <m:degHide m:val="on"/>
                        <m:ctrlPr>
                          <a:rPr lang="en-US" b="1" i="1" smtClean="0">
                            <a:solidFill>
                              <a:srgbClr val="0000CC"/>
                            </a:solidFill>
                            <a:latin typeface="Cambria Math" panose="02040503050406030204" pitchFamily="18" charset="0"/>
                          </a:rPr>
                        </m:ctrlPr>
                      </m:radPr>
                      <m:deg/>
                      <m:e>
                        <m:sSup>
                          <m:sSupPr>
                            <m:ctrlPr>
                              <a:rPr lang="en-US" b="1" i="1" smtClean="0">
                                <a:solidFill>
                                  <a:srgbClr val="0000CC"/>
                                </a:solidFill>
                                <a:latin typeface="Cambria Math" panose="02040503050406030204" pitchFamily="18" charset="0"/>
                              </a:rPr>
                            </m:ctrlPr>
                          </m:sSupPr>
                          <m:e>
                            <m:r>
                              <a:rPr lang="en-US" b="1" i="1" smtClean="0">
                                <a:solidFill>
                                  <a:srgbClr val="0000CC"/>
                                </a:solidFill>
                                <a:latin typeface="Cambria Math" panose="02040503050406030204" pitchFamily="18" charset="0"/>
                              </a:rPr>
                              <m:t>𝑷</m:t>
                            </m:r>
                          </m:e>
                          <m:sup>
                            <m:r>
                              <a:rPr lang="en-US" b="1" i="1" smtClean="0">
                                <a:solidFill>
                                  <a:srgbClr val="0000CC"/>
                                </a:solidFill>
                                <a:latin typeface="Cambria Math" panose="02040503050406030204" pitchFamily="18" charset="0"/>
                              </a:rPr>
                              <m:t>𝟐</m:t>
                            </m:r>
                          </m:sup>
                        </m:sSup>
                        <m:r>
                          <a:rPr lang="en-US" b="1" i="1" smtClean="0">
                            <a:solidFill>
                              <a:srgbClr val="0000CC"/>
                            </a:solidFill>
                            <a:latin typeface="Cambria Math" panose="02040503050406030204" pitchFamily="18" charset="0"/>
                            <a:ea typeface="Cambria Math" panose="02040503050406030204" pitchFamily="18" charset="0"/>
                          </a:rPr>
                          <m:t>+</m:t>
                        </m:r>
                        <m:sSup>
                          <m:sSupPr>
                            <m:ctrlPr>
                              <a:rPr lang="en-US" b="1" i="1" smtClean="0">
                                <a:solidFill>
                                  <a:srgbClr val="0000CC"/>
                                </a:solidFill>
                                <a:latin typeface="Cambria Math" panose="02040503050406030204" pitchFamily="18" charset="0"/>
                                <a:ea typeface="Cambria Math" panose="02040503050406030204" pitchFamily="18" charset="0"/>
                              </a:rPr>
                            </m:ctrlPr>
                          </m:sSupPr>
                          <m:e>
                            <m:r>
                              <a:rPr lang="en-US" b="1" i="1" smtClean="0">
                                <a:solidFill>
                                  <a:srgbClr val="0000CC"/>
                                </a:solidFill>
                                <a:latin typeface="Cambria Math" panose="02040503050406030204" pitchFamily="18" charset="0"/>
                                <a:ea typeface="Cambria Math" panose="02040503050406030204" pitchFamily="18" charset="0"/>
                              </a:rPr>
                              <m:t>𝑸</m:t>
                            </m:r>
                          </m:e>
                          <m:sup>
                            <m:r>
                              <a:rPr lang="en-US" b="1" i="1" smtClean="0">
                                <a:solidFill>
                                  <a:srgbClr val="0000CC"/>
                                </a:solidFill>
                                <a:latin typeface="Cambria Math" panose="02040503050406030204" pitchFamily="18" charset="0"/>
                                <a:ea typeface="Cambria Math" panose="02040503050406030204" pitchFamily="18" charset="0"/>
                              </a:rPr>
                              <m:t>𝟐</m:t>
                            </m:r>
                          </m:sup>
                        </m:sSup>
                      </m:e>
                    </m:rad>
                  </m:oMath>
                </a14:m>
                <a:endParaRPr lang="en-US" b="1" dirty="0"/>
              </a:p>
            </p:txBody>
          </p:sp>
        </mc:Choice>
        <mc:Fallback xmlns="">
          <p:sp>
            <p:nvSpPr>
              <p:cNvPr id="3" name="TextBox 2">
                <a:extLst>
                  <a:ext uri="{FF2B5EF4-FFF2-40B4-BE49-F238E27FC236}">
                    <a16:creationId xmlns:a16="http://schemas.microsoft.com/office/drawing/2014/main" id="{92112F7B-5C50-4400-A08D-E16C0D1C3025}"/>
                  </a:ext>
                </a:extLst>
              </p:cNvPr>
              <p:cNvSpPr txBox="1">
                <a:spLocks noRot="1" noChangeAspect="1" noMove="1" noResize="1" noEditPoints="1" noAdjustHandles="1" noChangeArrowheads="1" noChangeShapeType="1" noTextEdit="1"/>
              </p:cNvSpPr>
              <p:nvPr/>
            </p:nvSpPr>
            <p:spPr>
              <a:xfrm>
                <a:off x="1432560" y="1638569"/>
                <a:ext cx="1676400" cy="427746"/>
              </a:xfrm>
              <a:prstGeom prst="rect">
                <a:avLst/>
              </a:prstGeom>
              <a:blipFill>
                <a:blip r:embed="rId3"/>
                <a:stretch>
                  <a:fillRect l="-2909" b="-22857"/>
                </a:stretch>
              </a:blipFill>
            </p:spPr>
            <p:txBody>
              <a:bodyPr/>
              <a:lstStyle/>
              <a:p>
                <a:r>
                  <a:rPr lang="en-US">
                    <a:noFill/>
                  </a:rPr>
                  <a:t> </a:t>
                </a:r>
              </a:p>
            </p:txBody>
          </p:sp>
        </mc:Fallback>
      </mc:AlternateContent>
    </p:spTree>
    <p:extLst>
      <p:ext uri="{BB962C8B-B14F-4D97-AF65-F5344CB8AC3E}">
        <p14:creationId xmlns:p14="http://schemas.microsoft.com/office/powerpoint/2010/main" val="359365792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6">
            <a:extLst>
              <a:ext uri="{FF2B5EF4-FFF2-40B4-BE49-F238E27FC236}">
                <a16:creationId xmlns:a16="http://schemas.microsoft.com/office/drawing/2014/main" id="{56080804-F19F-41A7-8595-943961648C5E}"/>
              </a:ext>
            </a:extLst>
          </p:cNvPr>
          <p:cNvSpPr>
            <a:spLocks noGrp="1"/>
          </p:cNvSpPr>
          <p:nvPr>
            <p:ph type="sldNum" sz="quarter" idx="12"/>
          </p:nvPr>
        </p:nvSpPr>
        <p:spPr>
          <a:xfrm>
            <a:off x="8610600" y="6441692"/>
            <a:ext cx="2743200" cy="370027"/>
          </a:xfrm>
        </p:spPr>
        <p:txBody>
          <a:bodyPr/>
          <a:lstStyle/>
          <a:p>
            <a:fld id="{F4801FD5-11B4-DE43-ACA2-E85EEB9A6F9C}" type="slidenum">
              <a:rPr lang="en-US" smtClean="0">
                <a:latin typeface="Garamond" panose="02020404030301010803" pitchFamily="18" charset="0"/>
              </a:rPr>
              <a:t>26</a:t>
            </a:fld>
            <a:endParaRPr lang="en-US">
              <a:latin typeface="Garamond" panose="02020404030301010803" pitchFamily="18" charset="0"/>
            </a:endParaRPr>
          </a:p>
        </p:txBody>
      </p:sp>
      <p:sp>
        <p:nvSpPr>
          <p:cNvPr id="5" name="Title 1">
            <a:extLst>
              <a:ext uri="{FF2B5EF4-FFF2-40B4-BE49-F238E27FC236}">
                <a16:creationId xmlns:a16="http://schemas.microsoft.com/office/drawing/2014/main" id="{4710AE4B-0DB8-4451-B9E4-10BAE11B4D3A}"/>
              </a:ext>
            </a:extLst>
          </p:cNvPr>
          <p:cNvSpPr>
            <a:spLocks noGrp="1"/>
          </p:cNvSpPr>
          <p:nvPr>
            <p:ph type="title"/>
          </p:nvPr>
        </p:nvSpPr>
        <p:spPr>
          <a:xfrm>
            <a:off x="497840" y="113802"/>
            <a:ext cx="10972800" cy="1115558"/>
          </a:xfrm>
        </p:spPr>
        <p:txBody>
          <a:bodyPr>
            <a:noAutofit/>
          </a:bodyPr>
          <a:lstStyle/>
          <a:p>
            <a:pPr algn="ctr"/>
            <a:r>
              <a:rPr lang="en-US" sz="3200" b="1" u="sng" dirty="0">
                <a:solidFill>
                  <a:srgbClr val="FF3386"/>
                </a:solidFill>
                <a:latin typeface="Century Gothic" panose="020B0502020202020204" pitchFamily="34" charset="0"/>
                <a:cs typeface="Helvetica"/>
              </a:rPr>
              <a:t>POWER COMPUTATION FOR NONSINUSOIDAL PERIODIC WAVEFORMS</a:t>
            </a:r>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6BAA1F11-5BEF-4D80-964F-A7332E36BFA0}"/>
                  </a:ext>
                </a:extLst>
              </p:cNvPr>
              <p:cNvSpPr txBox="1"/>
              <p:nvPr/>
            </p:nvSpPr>
            <p:spPr>
              <a:xfrm>
                <a:off x="28155" y="1238014"/>
                <a:ext cx="11912170" cy="5262979"/>
              </a:xfrm>
              <a:prstGeom prst="rect">
                <a:avLst/>
              </a:prstGeom>
              <a:noFill/>
              <a:ln>
                <a:solidFill>
                  <a:srgbClr val="FF0066"/>
                </a:solidFill>
              </a:ln>
            </p:spPr>
            <p:txBody>
              <a:bodyPr wrap="square" rtlCol="0">
                <a:spAutoFit/>
              </a:bodyPr>
              <a:lstStyle/>
              <a:p>
                <a:pPr>
                  <a:buClr>
                    <a:schemeClr val="accent2"/>
                  </a:buClr>
                </a:pPr>
                <a:endParaRPr lang="en-GB" sz="2400" b="1" dirty="0">
                  <a:solidFill>
                    <a:srgbClr val="0000CC"/>
                  </a:solidFill>
                  <a:latin typeface="Century Gothic" panose="020B0502020202020204" pitchFamily="34" charset="0"/>
                </a:endParaRPr>
              </a:p>
              <a:p>
                <a:pPr marL="342900" indent="-342900">
                  <a:buClr>
                    <a:schemeClr val="accent2"/>
                  </a:buClr>
                  <a:buFont typeface="Wingdings" panose="05000000000000000000" pitchFamily="2" charset="2"/>
                  <a:buChar char="v"/>
                </a:pPr>
                <a:r>
                  <a:rPr lang="en-GB" sz="2400" b="1" dirty="0">
                    <a:solidFill>
                      <a:srgbClr val="0000CC"/>
                    </a:solidFill>
                    <a:latin typeface="Century Gothic" panose="020B0502020202020204" pitchFamily="34" charset="0"/>
                  </a:rPr>
                  <a:t> Power electronic circuit typically have voltage and/or current that are periodic but sinusoidal.</a:t>
                </a:r>
              </a:p>
              <a:p>
                <a:pPr>
                  <a:buClr>
                    <a:schemeClr val="accent2"/>
                  </a:buClr>
                </a:pPr>
                <a:endParaRPr lang="en-GB" sz="2400" b="1" dirty="0">
                  <a:solidFill>
                    <a:srgbClr val="0000CC"/>
                  </a:solidFill>
                  <a:latin typeface="Century Gothic" panose="020B0502020202020204" pitchFamily="34" charset="0"/>
                </a:endParaRPr>
              </a:p>
              <a:p>
                <a:pPr marL="342900" indent="-342900">
                  <a:buClr>
                    <a:schemeClr val="accent2"/>
                  </a:buClr>
                  <a:buFont typeface="Wingdings" panose="05000000000000000000" pitchFamily="2" charset="2"/>
                  <a:buChar char="v"/>
                </a:pPr>
                <a:r>
                  <a:rPr lang="en-GB" sz="2400" b="1" kern="100" dirty="0">
                    <a:solidFill>
                      <a:srgbClr val="0000CC"/>
                    </a:solidFill>
                    <a:latin typeface="Century Gothic" panose="020B0502020202020204" pitchFamily="34" charset="0"/>
                    <a:ea typeface="Calibri" panose="020F0502020204030204" pitchFamily="34" charset="0"/>
                    <a:cs typeface="Times New Roman" panose="02020603050405020304" pitchFamily="18" charset="0"/>
                  </a:rPr>
                  <a:t>The fourier series can be used to describe non-sinusoidal periodic waveforms in terms of a series of sinusoid. The fourier series of a periodic function </a:t>
                </a:r>
                <a14:m>
                  <m:oMath xmlns:m="http://schemas.openxmlformats.org/officeDocument/2006/math">
                    <m:r>
                      <a:rPr lang="en-US" sz="2400" b="1" i="1" kern="100" smtClean="0">
                        <a:solidFill>
                          <a:srgbClr val="0000CC"/>
                        </a:solidFill>
                        <a:latin typeface="Cambria Math" panose="02040503050406030204" pitchFamily="18" charset="0"/>
                        <a:ea typeface="Calibri" panose="020F0502020204030204" pitchFamily="34" charset="0"/>
                        <a:cs typeface="Times New Roman" panose="02020603050405020304" pitchFamily="18" charset="0"/>
                      </a:rPr>
                      <m:t>𝒇</m:t>
                    </m:r>
                    <m:d>
                      <m:dPr>
                        <m:ctrlPr>
                          <a:rPr lang="en-US" sz="2400" b="1" i="1" kern="100" smtClean="0">
                            <a:solidFill>
                              <a:srgbClr val="0000CC"/>
                            </a:solidFill>
                            <a:latin typeface="Cambria Math" panose="02040503050406030204" pitchFamily="18" charset="0"/>
                            <a:ea typeface="Calibri" panose="020F0502020204030204" pitchFamily="34" charset="0"/>
                            <a:cs typeface="Times New Roman" panose="02020603050405020304" pitchFamily="18" charset="0"/>
                          </a:rPr>
                        </m:ctrlPr>
                      </m:dPr>
                      <m:e>
                        <m:r>
                          <a:rPr lang="en-US" sz="2400" b="1" i="1" kern="100" smtClean="0">
                            <a:solidFill>
                              <a:srgbClr val="0000CC"/>
                            </a:solidFill>
                            <a:latin typeface="Cambria Math" panose="02040503050406030204" pitchFamily="18" charset="0"/>
                            <a:ea typeface="Calibri" panose="020F0502020204030204" pitchFamily="34" charset="0"/>
                            <a:cs typeface="Times New Roman" panose="02020603050405020304" pitchFamily="18" charset="0"/>
                          </a:rPr>
                          <m:t>𝒕</m:t>
                        </m:r>
                      </m:e>
                    </m:d>
                  </m:oMath>
                </a14:m>
                <a:r>
                  <a:rPr lang="en-GB" sz="2400" b="1" kern="100" dirty="0">
                    <a:solidFill>
                      <a:srgbClr val="0000CC"/>
                    </a:solidFill>
                    <a:latin typeface="Century Gothic" panose="020B0502020202020204" pitchFamily="34" charset="0"/>
                    <a:ea typeface="Calibri" panose="020F0502020204030204" pitchFamily="34" charset="0"/>
                    <a:cs typeface="Times New Roman" panose="02020603050405020304" pitchFamily="18" charset="0"/>
                  </a:rPr>
                  <a:t> can be expressed in trigonometric form as </a:t>
                </a:r>
              </a:p>
              <a:p>
                <a:pPr>
                  <a:buClr>
                    <a:schemeClr val="accent2"/>
                  </a:buClr>
                </a:pPr>
                <a:endParaRPr lang="en-GB" sz="2400" b="1" kern="100" dirty="0">
                  <a:solidFill>
                    <a:srgbClr val="0000CC"/>
                  </a:solidFill>
                  <a:latin typeface="Century Gothic" panose="020B0502020202020204" pitchFamily="34" charset="0"/>
                  <a:ea typeface="Calibri" panose="020F0502020204030204" pitchFamily="34" charset="0"/>
                  <a:cs typeface="Times New Roman" panose="02020603050405020304" pitchFamily="18" charset="0"/>
                </a:endParaRPr>
              </a:p>
              <a:p>
                <a:pPr>
                  <a:buClr>
                    <a:schemeClr val="accent2"/>
                  </a:buClr>
                </a:pPr>
                <a:r>
                  <a:rPr lang="en-GB" sz="2400" b="1" kern="100" dirty="0">
                    <a:solidFill>
                      <a:srgbClr val="0000CC"/>
                    </a:solidFill>
                    <a:latin typeface="Century Gothic" panose="020B0502020202020204" pitchFamily="34" charset="0"/>
                    <a:ea typeface="Calibri" panose="020F0502020204030204" pitchFamily="34" charset="0"/>
                    <a:cs typeface="Times New Roman" panose="02020603050405020304" pitchFamily="18" charset="0"/>
                  </a:rPr>
                  <a:t>	</a:t>
                </a:r>
              </a:p>
              <a:p>
                <a:pPr>
                  <a:buClr>
                    <a:schemeClr val="accent2"/>
                  </a:buClr>
                </a:pPr>
                <a:r>
                  <a:rPr lang="en-GB" sz="2400" b="1" kern="100" dirty="0">
                    <a:solidFill>
                      <a:srgbClr val="0000CC"/>
                    </a:solidFill>
                    <a:latin typeface="Century Gothic" panose="020B0502020202020204" pitchFamily="34" charset="0"/>
                    <a:ea typeface="Calibri" panose="020F0502020204030204" pitchFamily="34" charset="0"/>
                    <a:cs typeface="Times New Roman" panose="02020603050405020304" pitchFamily="18" charset="0"/>
                  </a:rPr>
                  <a:t>      </a:t>
                </a:r>
              </a:p>
              <a:p>
                <a:pPr>
                  <a:buClr>
                    <a:schemeClr val="accent2"/>
                  </a:buClr>
                </a:pPr>
                <a:r>
                  <a:rPr lang="en-GB" sz="2400" b="1" kern="100" dirty="0">
                    <a:solidFill>
                      <a:srgbClr val="0000CC"/>
                    </a:solidFill>
                    <a:latin typeface="Century Gothic" panose="020B0502020202020204" pitchFamily="34" charset="0"/>
                    <a:ea typeface="Calibri" panose="020F0502020204030204" pitchFamily="34" charset="0"/>
                    <a:cs typeface="Times New Roman" panose="02020603050405020304" pitchFamily="18" charset="0"/>
                  </a:rPr>
                  <a:t>   where   </a:t>
                </a:r>
                <a:br>
                  <a:rPr lang="en-GB" sz="2400" b="1" kern="100" dirty="0">
                    <a:solidFill>
                      <a:srgbClr val="0000CC"/>
                    </a:solidFill>
                    <a:latin typeface="Century Gothic" panose="020B0502020202020204" pitchFamily="34" charset="0"/>
                    <a:ea typeface="Calibri" panose="020F0502020204030204" pitchFamily="34" charset="0"/>
                    <a:cs typeface="Times New Roman" panose="02020603050405020304" pitchFamily="18" charset="0"/>
                  </a:rPr>
                </a:br>
                <a:r>
                  <a:rPr lang="en-GB" sz="2400" b="1" kern="100" dirty="0">
                    <a:solidFill>
                      <a:srgbClr val="0000CC"/>
                    </a:solidFill>
                    <a:latin typeface="Century Gothic" panose="020B0502020202020204" pitchFamily="34" charset="0"/>
                    <a:ea typeface="Calibri" panose="020F0502020204030204" pitchFamily="34" charset="0"/>
                    <a:cs typeface="Times New Roman" panose="02020603050405020304" pitchFamily="18" charset="0"/>
                  </a:rPr>
                  <a:t>				</a:t>
                </a:r>
              </a:p>
              <a:p>
                <a:pPr>
                  <a:buClr>
                    <a:schemeClr val="accent2"/>
                  </a:buClr>
                </a:pPr>
                <a:endParaRPr lang="en-GB" sz="2400" b="1" kern="100" dirty="0">
                  <a:solidFill>
                    <a:srgbClr val="0000CC"/>
                  </a:solidFill>
                  <a:latin typeface="Century Gothic" panose="020B0502020202020204" pitchFamily="34" charset="0"/>
                  <a:ea typeface="Calibri" panose="020F0502020204030204" pitchFamily="34" charset="0"/>
                  <a:cs typeface="Times New Roman" panose="02020603050405020304" pitchFamily="18" charset="0"/>
                </a:endParaRPr>
              </a:p>
              <a:p>
                <a:pPr>
                  <a:buClr>
                    <a:schemeClr val="accent2"/>
                  </a:buClr>
                </a:pPr>
                <a:endParaRPr lang="en-GB" sz="2400" b="1" kern="100" dirty="0">
                  <a:solidFill>
                    <a:srgbClr val="0000CC"/>
                  </a:solidFill>
                  <a:latin typeface="Century Gothic" panose="020B0502020202020204" pitchFamily="34" charset="0"/>
                  <a:ea typeface="Calibri" panose="020F0502020204030204" pitchFamily="34" charset="0"/>
                  <a:cs typeface="Times New Roman" panose="02020603050405020304" pitchFamily="18" charset="0"/>
                </a:endParaRPr>
              </a:p>
            </p:txBody>
          </p:sp>
        </mc:Choice>
        <mc:Fallback xmlns="">
          <p:sp>
            <p:nvSpPr>
              <p:cNvPr id="6" name="TextBox 5">
                <a:extLst>
                  <a:ext uri="{FF2B5EF4-FFF2-40B4-BE49-F238E27FC236}">
                    <a16:creationId xmlns:a16="http://schemas.microsoft.com/office/drawing/2014/main" id="{6BAA1F11-5BEF-4D80-964F-A7332E36BFA0}"/>
                  </a:ext>
                </a:extLst>
              </p:cNvPr>
              <p:cNvSpPr txBox="1">
                <a:spLocks noRot="1" noChangeAspect="1" noMove="1" noResize="1" noEditPoints="1" noAdjustHandles="1" noChangeArrowheads="1" noChangeShapeType="1" noTextEdit="1"/>
              </p:cNvSpPr>
              <p:nvPr/>
            </p:nvSpPr>
            <p:spPr>
              <a:xfrm>
                <a:off x="28155" y="1238014"/>
                <a:ext cx="11912170" cy="5262979"/>
              </a:xfrm>
              <a:prstGeom prst="rect">
                <a:avLst/>
              </a:prstGeom>
              <a:blipFill>
                <a:blip r:embed="rId3"/>
                <a:stretch>
                  <a:fillRect l="-665" r="-1227"/>
                </a:stretch>
              </a:blipFill>
              <a:ln>
                <a:solidFill>
                  <a:srgbClr val="FF0066"/>
                </a:solidFill>
              </a:ln>
            </p:spPr>
            <p:txBody>
              <a:bodyPr/>
              <a:lstStyle/>
              <a:p>
                <a:r>
                  <a:rPr lang="en-US">
                    <a:noFill/>
                  </a:rPr>
                  <a:t> </a:t>
                </a:r>
              </a:p>
            </p:txBody>
          </p:sp>
        </mc:Fallback>
      </mc:AlternateContent>
      <p:sp>
        <p:nvSpPr>
          <p:cNvPr id="7" name="TextBox 6">
            <a:extLst>
              <a:ext uri="{FF2B5EF4-FFF2-40B4-BE49-F238E27FC236}">
                <a16:creationId xmlns:a16="http://schemas.microsoft.com/office/drawing/2014/main" id="{C36AA635-C21F-49F3-BF21-4CBE4C20709B}"/>
              </a:ext>
            </a:extLst>
          </p:cNvPr>
          <p:cNvSpPr txBox="1"/>
          <p:nvPr/>
        </p:nvSpPr>
        <p:spPr>
          <a:xfrm>
            <a:off x="5269122" y="6037275"/>
            <a:ext cx="823314" cy="373051"/>
          </a:xfrm>
          <a:prstGeom prst="rect">
            <a:avLst/>
          </a:prstGeom>
          <a:noFill/>
        </p:spPr>
        <p:txBody>
          <a:bodyPr wrap="square" rtlCol="0">
            <a:spAutoFit/>
          </a:bodyPr>
          <a:lstStyle/>
          <a:p>
            <a:pPr algn="ctr"/>
            <a:endParaRPr lang="en-GB" sz="1824" dirty="0">
              <a:latin typeface="Garamond" panose="02020404030301010803" pitchFamily="18" charset="0"/>
            </a:endParaRPr>
          </a:p>
        </p:txBody>
      </p:sp>
      <p:sp>
        <p:nvSpPr>
          <p:cNvPr id="2" name="TextBox 1">
            <a:extLst>
              <a:ext uri="{FF2B5EF4-FFF2-40B4-BE49-F238E27FC236}">
                <a16:creationId xmlns:a16="http://schemas.microsoft.com/office/drawing/2014/main" id="{DA984A20-E919-49F4-8421-AD4191E2D0D2}"/>
              </a:ext>
            </a:extLst>
          </p:cNvPr>
          <p:cNvSpPr txBox="1"/>
          <p:nvPr/>
        </p:nvSpPr>
        <p:spPr>
          <a:xfrm>
            <a:off x="5638800" y="3017520"/>
            <a:ext cx="914400" cy="914400"/>
          </a:xfrm>
          <a:prstGeom prst="rect">
            <a:avLst/>
          </a:prstGeom>
          <a:noFill/>
        </p:spPr>
        <p:txBody>
          <a:bodyPr wrap="square" rtlCol="0">
            <a:spAutoFit/>
          </a:bodyPr>
          <a:lstStyle/>
          <a:p>
            <a:endParaRPr lang="en-US" dirty="0"/>
          </a:p>
        </p:txBody>
      </p:sp>
      <p:sp>
        <p:nvSpPr>
          <p:cNvPr id="9" name="TextBox 8">
            <a:extLst>
              <a:ext uri="{FF2B5EF4-FFF2-40B4-BE49-F238E27FC236}">
                <a16:creationId xmlns:a16="http://schemas.microsoft.com/office/drawing/2014/main" id="{02CA6540-3818-4E4D-B013-E2E74FBFCFEB}"/>
              </a:ext>
            </a:extLst>
          </p:cNvPr>
          <p:cNvSpPr txBox="1"/>
          <p:nvPr/>
        </p:nvSpPr>
        <p:spPr>
          <a:xfrm>
            <a:off x="5638800" y="3017520"/>
            <a:ext cx="914400" cy="914400"/>
          </a:xfrm>
          <a:prstGeom prst="rect">
            <a:avLst/>
          </a:prstGeom>
          <a:noFill/>
        </p:spPr>
        <p:txBody>
          <a:bodyPr wrap="square" rtlCol="0">
            <a:spAutoFit/>
          </a:bodyPr>
          <a:lstStyle/>
          <a:p>
            <a:endParaRPr lang="en-US" dirty="0"/>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EA7E45D9-C262-4DA1-9C73-56DA0EAA0086}"/>
                  </a:ext>
                </a:extLst>
              </p:cNvPr>
              <p:cNvSpPr txBox="1"/>
              <p:nvPr/>
            </p:nvSpPr>
            <p:spPr>
              <a:xfrm>
                <a:off x="1662672" y="4214647"/>
                <a:ext cx="8084443" cy="523220"/>
              </a:xfrm>
              <a:prstGeom prst="rect">
                <a:avLst/>
              </a:prstGeom>
              <a:solidFill>
                <a:srgbClr val="00FFFF"/>
              </a:solidFill>
            </p:spPr>
            <p:txBody>
              <a:bodyPr wrap="square" rtlCol="0">
                <a:spAutoFit/>
              </a:bodyPr>
              <a:lstStyle/>
              <a:p>
                <a14:m>
                  <m:oMath xmlns:m="http://schemas.openxmlformats.org/officeDocument/2006/math">
                    <m:r>
                      <a:rPr lang="en-US" sz="2800" b="1" i="1" smtClean="0">
                        <a:solidFill>
                          <a:srgbClr val="0000CC"/>
                        </a:solidFill>
                        <a:latin typeface="Cambria Math" panose="02040503050406030204" pitchFamily="18" charset="0"/>
                      </a:rPr>
                      <m:t>𝒇</m:t>
                    </m:r>
                    <m:r>
                      <a:rPr lang="en-US" sz="2800" b="1" i="1" smtClean="0">
                        <a:solidFill>
                          <a:srgbClr val="0000CC"/>
                        </a:solidFill>
                        <a:latin typeface="Cambria Math" panose="02040503050406030204" pitchFamily="18" charset="0"/>
                      </a:rPr>
                      <m:t>(</m:t>
                    </m:r>
                    <m:r>
                      <a:rPr lang="en-US" sz="2800" b="1" i="1" smtClean="0">
                        <a:solidFill>
                          <a:srgbClr val="0000CC"/>
                        </a:solidFill>
                        <a:latin typeface="Cambria Math" panose="02040503050406030204" pitchFamily="18" charset="0"/>
                      </a:rPr>
                      <m:t>𝒕</m:t>
                    </m:r>
                    <m:r>
                      <a:rPr lang="en-US" sz="2800" b="1" i="1" smtClean="0">
                        <a:solidFill>
                          <a:srgbClr val="0000CC"/>
                        </a:solidFill>
                        <a:latin typeface="Cambria Math" panose="02040503050406030204" pitchFamily="18" charset="0"/>
                      </a:rPr>
                      <m:t>)</m:t>
                    </m:r>
                  </m:oMath>
                </a14:m>
                <a:r>
                  <a:rPr lang="en-US" sz="2800" b="1" dirty="0">
                    <a:solidFill>
                      <a:srgbClr val="0000CC"/>
                    </a:solidFill>
                  </a:rPr>
                  <a:t> = </a:t>
                </a:r>
                <a14:m>
                  <m:oMath xmlns:m="http://schemas.openxmlformats.org/officeDocument/2006/math">
                    <m:sSub>
                      <m:sSubPr>
                        <m:ctrlPr>
                          <a:rPr lang="en-US" sz="2800" b="1" i="1" smtClean="0">
                            <a:solidFill>
                              <a:srgbClr val="0000CC"/>
                            </a:solidFill>
                            <a:latin typeface="Cambria Math" panose="02040503050406030204" pitchFamily="18" charset="0"/>
                          </a:rPr>
                        </m:ctrlPr>
                      </m:sSubPr>
                      <m:e>
                        <m:r>
                          <a:rPr lang="en-US" sz="2800" b="1" i="1" smtClean="0">
                            <a:solidFill>
                              <a:srgbClr val="0000CC"/>
                            </a:solidFill>
                            <a:latin typeface="Cambria Math" panose="02040503050406030204" pitchFamily="18" charset="0"/>
                          </a:rPr>
                          <m:t>𝒂</m:t>
                        </m:r>
                      </m:e>
                      <m:sub>
                        <m:r>
                          <a:rPr lang="en-US" sz="2800" b="1" i="1" smtClean="0">
                            <a:solidFill>
                              <a:srgbClr val="0000CC"/>
                            </a:solidFill>
                            <a:latin typeface="Cambria Math" panose="02040503050406030204" pitchFamily="18" charset="0"/>
                          </a:rPr>
                          <m:t>𝟎</m:t>
                        </m:r>
                      </m:sub>
                    </m:sSub>
                    <m:r>
                      <a:rPr lang="en-US" sz="2800" b="1" i="1" smtClean="0">
                        <a:solidFill>
                          <a:srgbClr val="0000CC"/>
                        </a:solidFill>
                        <a:latin typeface="Cambria Math" panose="02040503050406030204" pitchFamily="18" charset="0"/>
                        <a:ea typeface="Cambria Math" panose="02040503050406030204" pitchFamily="18" charset="0"/>
                      </a:rPr>
                      <m:t>+</m:t>
                    </m:r>
                    <m:nary>
                      <m:naryPr>
                        <m:chr m:val="∑"/>
                        <m:ctrlPr>
                          <a:rPr lang="en-US" sz="2800" b="1" i="1" smtClean="0">
                            <a:solidFill>
                              <a:srgbClr val="0000CC"/>
                            </a:solidFill>
                            <a:latin typeface="Cambria Math" panose="02040503050406030204" pitchFamily="18" charset="0"/>
                            <a:ea typeface="Cambria Math" panose="02040503050406030204" pitchFamily="18" charset="0"/>
                          </a:rPr>
                        </m:ctrlPr>
                      </m:naryPr>
                      <m:sub>
                        <m:r>
                          <m:rPr>
                            <m:brk m:alnAt="23"/>
                          </m:rPr>
                          <a:rPr lang="en-US" sz="2800" b="1" i="1" smtClean="0">
                            <a:solidFill>
                              <a:srgbClr val="0000CC"/>
                            </a:solidFill>
                            <a:latin typeface="Cambria Math" panose="02040503050406030204" pitchFamily="18" charset="0"/>
                            <a:ea typeface="Cambria Math" panose="02040503050406030204" pitchFamily="18" charset="0"/>
                          </a:rPr>
                          <m:t>𝒏</m:t>
                        </m:r>
                        <m:r>
                          <a:rPr lang="en-US" sz="2800" b="1" i="1" smtClean="0">
                            <a:solidFill>
                              <a:srgbClr val="0000CC"/>
                            </a:solidFill>
                            <a:latin typeface="Cambria Math" panose="02040503050406030204" pitchFamily="18" charset="0"/>
                            <a:ea typeface="Cambria Math" panose="02040503050406030204" pitchFamily="18" charset="0"/>
                          </a:rPr>
                          <m:t>=</m:t>
                        </m:r>
                        <m:r>
                          <a:rPr lang="en-US" sz="2800" b="1" i="1" smtClean="0">
                            <a:solidFill>
                              <a:srgbClr val="0000CC"/>
                            </a:solidFill>
                            <a:latin typeface="Cambria Math" panose="02040503050406030204" pitchFamily="18" charset="0"/>
                            <a:ea typeface="Cambria Math" panose="02040503050406030204" pitchFamily="18" charset="0"/>
                          </a:rPr>
                          <m:t>𝟏</m:t>
                        </m:r>
                      </m:sub>
                      <m:sup>
                        <m:r>
                          <a:rPr lang="en-US" sz="2800" b="1" i="1" smtClean="0">
                            <a:solidFill>
                              <a:srgbClr val="0000CC"/>
                            </a:solidFill>
                            <a:latin typeface="Cambria Math" panose="02040503050406030204" pitchFamily="18" charset="0"/>
                            <a:ea typeface="Cambria Math" panose="02040503050406030204" pitchFamily="18" charset="0"/>
                          </a:rPr>
                          <m:t>∞</m:t>
                        </m:r>
                      </m:sup>
                      <m:e>
                        <m:d>
                          <m:dPr>
                            <m:begChr m:val="["/>
                            <m:endChr m:val="]"/>
                            <m:ctrlPr>
                              <a:rPr lang="en-US" sz="2800" b="1" i="1" smtClean="0">
                                <a:solidFill>
                                  <a:srgbClr val="0000CC"/>
                                </a:solidFill>
                                <a:latin typeface="Cambria Math" panose="02040503050406030204" pitchFamily="18" charset="0"/>
                                <a:ea typeface="Cambria Math" panose="02040503050406030204" pitchFamily="18" charset="0"/>
                              </a:rPr>
                            </m:ctrlPr>
                          </m:dPr>
                          <m:e>
                            <m:sSub>
                              <m:sSubPr>
                                <m:ctrlPr>
                                  <a:rPr lang="en-US" sz="2800" b="1" i="1" smtClean="0">
                                    <a:solidFill>
                                      <a:srgbClr val="0000CC"/>
                                    </a:solidFill>
                                    <a:latin typeface="Cambria Math" panose="02040503050406030204" pitchFamily="18" charset="0"/>
                                    <a:ea typeface="Cambria Math" panose="02040503050406030204" pitchFamily="18" charset="0"/>
                                  </a:rPr>
                                </m:ctrlPr>
                              </m:sSubPr>
                              <m:e>
                                <m:r>
                                  <a:rPr lang="en-US" sz="2800" b="1" i="1" smtClean="0">
                                    <a:solidFill>
                                      <a:srgbClr val="0000CC"/>
                                    </a:solidFill>
                                    <a:latin typeface="Cambria Math" panose="02040503050406030204" pitchFamily="18" charset="0"/>
                                    <a:ea typeface="Cambria Math" panose="02040503050406030204" pitchFamily="18" charset="0"/>
                                  </a:rPr>
                                  <m:t>𝒂</m:t>
                                </m:r>
                              </m:e>
                              <m:sub>
                                <m:r>
                                  <a:rPr lang="en-US" sz="2800" b="1" i="1" smtClean="0">
                                    <a:solidFill>
                                      <a:srgbClr val="0000CC"/>
                                    </a:solidFill>
                                    <a:latin typeface="Cambria Math" panose="02040503050406030204" pitchFamily="18" charset="0"/>
                                    <a:ea typeface="Cambria Math" panose="02040503050406030204" pitchFamily="18" charset="0"/>
                                  </a:rPr>
                                  <m:t>𝒏</m:t>
                                </m:r>
                              </m:sub>
                            </m:sSub>
                            <m:func>
                              <m:funcPr>
                                <m:ctrlPr>
                                  <a:rPr lang="en-US" sz="2800" b="1" i="1" smtClean="0">
                                    <a:solidFill>
                                      <a:srgbClr val="0000CC"/>
                                    </a:solidFill>
                                    <a:latin typeface="Cambria Math" panose="02040503050406030204" pitchFamily="18" charset="0"/>
                                    <a:ea typeface="Cambria Math" panose="02040503050406030204" pitchFamily="18" charset="0"/>
                                  </a:rPr>
                                </m:ctrlPr>
                              </m:funcPr>
                              <m:fName>
                                <m:r>
                                  <a:rPr lang="en-US" sz="2800" b="1" i="0" smtClean="0">
                                    <a:solidFill>
                                      <a:srgbClr val="0000CC"/>
                                    </a:solidFill>
                                    <a:latin typeface="Cambria Math" panose="02040503050406030204" pitchFamily="18" charset="0"/>
                                    <a:ea typeface="Cambria Math" panose="02040503050406030204" pitchFamily="18" charset="0"/>
                                  </a:rPr>
                                  <m:t>𝐜𝐨𝐬</m:t>
                                </m:r>
                              </m:fName>
                              <m:e>
                                <m:d>
                                  <m:dPr>
                                    <m:ctrlPr>
                                      <a:rPr lang="en-US" sz="2800" b="1" i="1" smtClean="0">
                                        <a:solidFill>
                                          <a:srgbClr val="0000CC"/>
                                        </a:solidFill>
                                        <a:latin typeface="Cambria Math" panose="02040503050406030204" pitchFamily="18" charset="0"/>
                                        <a:ea typeface="Cambria Math" panose="02040503050406030204" pitchFamily="18" charset="0"/>
                                      </a:rPr>
                                    </m:ctrlPr>
                                  </m:dPr>
                                  <m:e>
                                    <m:r>
                                      <a:rPr lang="en-US" sz="2800" b="1" i="1" smtClean="0">
                                        <a:solidFill>
                                          <a:srgbClr val="0000CC"/>
                                        </a:solidFill>
                                        <a:latin typeface="Cambria Math" panose="02040503050406030204" pitchFamily="18" charset="0"/>
                                        <a:ea typeface="Cambria Math" panose="02040503050406030204" pitchFamily="18" charset="0"/>
                                      </a:rPr>
                                      <m:t>𝒏</m:t>
                                    </m:r>
                                    <m:sSub>
                                      <m:sSubPr>
                                        <m:ctrlPr>
                                          <a:rPr lang="en-US" sz="2800" b="1" i="1" smtClean="0">
                                            <a:solidFill>
                                              <a:srgbClr val="0000CC"/>
                                            </a:solidFill>
                                            <a:latin typeface="Cambria Math" panose="02040503050406030204" pitchFamily="18" charset="0"/>
                                            <a:ea typeface="Cambria Math" panose="02040503050406030204" pitchFamily="18" charset="0"/>
                                          </a:rPr>
                                        </m:ctrlPr>
                                      </m:sSubPr>
                                      <m:e>
                                        <m:r>
                                          <a:rPr lang="en-US" sz="2800" b="1" i="1" smtClean="0">
                                            <a:solidFill>
                                              <a:srgbClr val="0000CC"/>
                                            </a:solidFill>
                                            <a:latin typeface="Cambria Math" panose="02040503050406030204" pitchFamily="18" charset="0"/>
                                            <a:ea typeface="Cambria Math" panose="02040503050406030204" pitchFamily="18" charset="0"/>
                                          </a:rPr>
                                          <m:t>𝝎</m:t>
                                        </m:r>
                                      </m:e>
                                      <m:sub>
                                        <m:r>
                                          <a:rPr lang="en-US" sz="2800" b="1" i="1" smtClean="0">
                                            <a:solidFill>
                                              <a:srgbClr val="0000CC"/>
                                            </a:solidFill>
                                            <a:latin typeface="Cambria Math" panose="02040503050406030204" pitchFamily="18" charset="0"/>
                                            <a:ea typeface="Cambria Math" panose="02040503050406030204" pitchFamily="18" charset="0"/>
                                          </a:rPr>
                                          <m:t>𝟎</m:t>
                                        </m:r>
                                      </m:sub>
                                    </m:sSub>
                                    <m:r>
                                      <a:rPr lang="en-US" sz="2800" b="1" i="1" smtClean="0">
                                        <a:solidFill>
                                          <a:srgbClr val="0000CC"/>
                                        </a:solidFill>
                                        <a:latin typeface="Cambria Math" panose="02040503050406030204" pitchFamily="18" charset="0"/>
                                        <a:ea typeface="Cambria Math" panose="02040503050406030204" pitchFamily="18" charset="0"/>
                                      </a:rPr>
                                      <m:t>𝒕</m:t>
                                    </m:r>
                                  </m:e>
                                </m:d>
                                <m:r>
                                  <a:rPr lang="en-US" sz="2800" b="1" i="1" smtClean="0">
                                    <a:solidFill>
                                      <a:srgbClr val="0000CC"/>
                                    </a:solidFill>
                                    <a:latin typeface="Cambria Math" panose="02040503050406030204" pitchFamily="18" charset="0"/>
                                    <a:ea typeface="Cambria Math" panose="02040503050406030204" pitchFamily="18" charset="0"/>
                                  </a:rPr>
                                  <m:t>+</m:t>
                                </m:r>
                                <m:sSub>
                                  <m:sSubPr>
                                    <m:ctrlPr>
                                      <a:rPr lang="en-US" sz="2800" b="1" i="1" smtClean="0">
                                        <a:solidFill>
                                          <a:srgbClr val="0000CC"/>
                                        </a:solidFill>
                                        <a:latin typeface="Cambria Math" panose="02040503050406030204" pitchFamily="18" charset="0"/>
                                        <a:ea typeface="Cambria Math" panose="02040503050406030204" pitchFamily="18" charset="0"/>
                                      </a:rPr>
                                    </m:ctrlPr>
                                  </m:sSubPr>
                                  <m:e>
                                    <m:r>
                                      <a:rPr lang="en-US" sz="2800" b="1" i="1" smtClean="0">
                                        <a:solidFill>
                                          <a:srgbClr val="0000CC"/>
                                        </a:solidFill>
                                        <a:latin typeface="Cambria Math" panose="02040503050406030204" pitchFamily="18" charset="0"/>
                                        <a:ea typeface="Cambria Math" panose="02040503050406030204" pitchFamily="18" charset="0"/>
                                      </a:rPr>
                                      <m:t>𝒃</m:t>
                                    </m:r>
                                  </m:e>
                                  <m:sub>
                                    <m:r>
                                      <a:rPr lang="en-US" sz="2800" b="1" i="1" smtClean="0">
                                        <a:solidFill>
                                          <a:srgbClr val="0000CC"/>
                                        </a:solidFill>
                                        <a:latin typeface="Cambria Math" panose="02040503050406030204" pitchFamily="18" charset="0"/>
                                        <a:ea typeface="Cambria Math" panose="02040503050406030204" pitchFamily="18" charset="0"/>
                                      </a:rPr>
                                      <m:t>𝒏</m:t>
                                    </m:r>
                                  </m:sub>
                                </m:sSub>
                                <m:func>
                                  <m:funcPr>
                                    <m:ctrlPr>
                                      <a:rPr lang="en-US" sz="2800" b="1" i="1" smtClean="0">
                                        <a:solidFill>
                                          <a:srgbClr val="0000CC"/>
                                        </a:solidFill>
                                        <a:latin typeface="Cambria Math" panose="02040503050406030204" pitchFamily="18" charset="0"/>
                                        <a:ea typeface="Cambria Math" panose="02040503050406030204" pitchFamily="18" charset="0"/>
                                      </a:rPr>
                                    </m:ctrlPr>
                                  </m:funcPr>
                                  <m:fName>
                                    <m:r>
                                      <a:rPr lang="en-US" sz="2800" b="1" i="0" smtClean="0">
                                        <a:solidFill>
                                          <a:srgbClr val="0000CC"/>
                                        </a:solidFill>
                                        <a:latin typeface="Cambria Math" panose="02040503050406030204" pitchFamily="18" charset="0"/>
                                        <a:ea typeface="Cambria Math" panose="02040503050406030204" pitchFamily="18" charset="0"/>
                                      </a:rPr>
                                      <m:t>𝐬𝐢𝐧</m:t>
                                    </m:r>
                                  </m:fName>
                                  <m:e>
                                    <m:d>
                                      <m:dPr>
                                        <m:ctrlPr>
                                          <a:rPr lang="en-US" sz="2800" b="1" i="1" smtClean="0">
                                            <a:solidFill>
                                              <a:srgbClr val="0000CC"/>
                                            </a:solidFill>
                                            <a:latin typeface="Cambria Math" panose="02040503050406030204" pitchFamily="18" charset="0"/>
                                            <a:ea typeface="Cambria Math" panose="02040503050406030204" pitchFamily="18" charset="0"/>
                                          </a:rPr>
                                        </m:ctrlPr>
                                      </m:dPr>
                                      <m:e>
                                        <m:r>
                                          <a:rPr lang="en-US" sz="2800" b="1" i="1" smtClean="0">
                                            <a:solidFill>
                                              <a:srgbClr val="0000CC"/>
                                            </a:solidFill>
                                            <a:latin typeface="Cambria Math" panose="02040503050406030204" pitchFamily="18" charset="0"/>
                                            <a:ea typeface="Cambria Math" panose="02040503050406030204" pitchFamily="18" charset="0"/>
                                          </a:rPr>
                                          <m:t>𝒏</m:t>
                                        </m:r>
                                        <m:sSub>
                                          <m:sSubPr>
                                            <m:ctrlPr>
                                              <a:rPr lang="en-US" sz="2800" b="1" i="1" smtClean="0">
                                                <a:solidFill>
                                                  <a:srgbClr val="0000CC"/>
                                                </a:solidFill>
                                                <a:latin typeface="Cambria Math" panose="02040503050406030204" pitchFamily="18" charset="0"/>
                                                <a:ea typeface="Cambria Math" panose="02040503050406030204" pitchFamily="18" charset="0"/>
                                              </a:rPr>
                                            </m:ctrlPr>
                                          </m:sSubPr>
                                          <m:e>
                                            <m:r>
                                              <a:rPr lang="en-US" sz="2800" b="1" i="1" smtClean="0">
                                                <a:solidFill>
                                                  <a:srgbClr val="0000CC"/>
                                                </a:solidFill>
                                                <a:latin typeface="Cambria Math" panose="02040503050406030204" pitchFamily="18" charset="0"/>
                                                <a:ea typeface="Cambria Math" panose="02040503050406030204" pitchFamily="18" charset="0"/>
                                              </a:rPr>
                                              <m:t>𝝎</m:t>
                                            </m:r>
                                          </m:e>
                                          <m:sub>
                                            <m:r>
                                              <a:rPr lang="en-US" sz="2800" b="1" i="1" smtClean="0">
                                                <a:solidFill>
                                                  <a:srgbClr val="0000CC"/>
                                                </a:solidFill>
                                                <a:latin typeface="Cambria Math" panose="02040503050406030204" pitchFamily="18" charset="0"/>
                                                <a:ea typeface="Cambria Math" panose="02040503050406030204" pitchFamily="18" charset="0"/>
                                              </a:rPr>
                                              <m:t>𝟎</m:t>
                                            </m:r>
                                          </m:sub>
                                        </m:sSub>
                                        <m:r>
                                          <a:rPr lang="en-US" sz="2800" b="1" i="1" smtClean="0">
                                            <a:solidFill>
                                              <a:srgbClr val="0000CC"/>
                                            </a:solidFill>
                                            <a:latin typeface="Cambria Math" panose="02040503050406030204" pitchFamily="18" charset="0"/>
                                            <a:ea typeface="Cambria Math" panose="02040503050406030204" pitchFamily="18" charset="0"/>
                                          </a:rPr>
                                          <m:t>𝒕</m:t>
                                        </m:r>
                                      </m:e>
                                    </m:d>
                                  </m:e>
                                </m:func>
                              </m:e>
                            </m:func>
                          </m:e>
                        </m:d>
                      </m:e>
                    </m:nary>
                  </m:oMath>
                </a14:m>
                <a:endParaRPr lang="en-US" sz="2800" b="1" dirty="0"/>
              </a:p>
            </p:txBody>
          </p:sp>
        </mc:Choice>
        <mc:Fallback xmlns="">
          <p:sp>
            <p:nvSpPr>
              <p:cNvPr id="3" name="TextBox 2">
                <a:extLst>
                  <a:ext uri="{FF2B5EF4-FFF2-40B4-BE49-F238E27FC236}">
                    <a16:creationId xmlns:a16="http://schemas.microsoft.com/office/drawing/2014/main" id="{EA7E45D9-C262-4DA1-9C73-56DA0EAA0086}"/>
                  </a:ext>
                </a:extLst>
              </p:cNvPr>
              <p:cNvSpPr txBox="1">
                <a:spLocks noRot="1" noChangeAspect="1" noMove="1" noResize="1" noEditPoints="1" noAdjustHandles="1" noChangeArrowheads="1" noChangeShapeType="1" noTextEdit="1"/>
              </p:cNvSpPr>
              <p:nvPr/>
            </p:nvSpPr>
            <p:spPr>
              <a:xfrm>
                <a:off x="1662672" y="4214647"/>
                <a:ext cx="8084443" cy="523220"/>
              </a:xfrm>
              <a:prstGeom prst="rect">
                <a:avLst/>
              </a:prstGeom>
              <a:blipFill>
                <a:blip r:embed="rId4"/>
                <a:stretch>
                  <a:fillRect t="-10465" b="-3255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0A7838AA-1A26-4744-8E62-EA72F60C9A74}"/>
                  </a:ext>
                </a:extLst>
              </p:cNvPr>
              <p:cNvSpPr txBox="1"/>
              <p:nvPr/>
            </p:nvSpPr>
            <p:spPr>
              <a:xfrm>
                <a:off x="2616199" y="5451990"/>
                <a:ext cx="6605621" cy="747256"/>
              </a:xfrm>
              <a:prstGeom prst="rect">
                <a:avLst/>
              </a:prstGeom>
              <a:solidFill>
                <a:srgbClr val="00FFFF"/>
              </a:solidFill>
            </p:spPr>
            <p:txBody>
              <a:bodyPr wrap="square" rtlCol="0">
                <a:spAutoFit/>
              </a:bodyPr>
              <a:lstStyle/>
              <a:p>
                <a14:m>
                  <m:oMath xmlns:m="http://schemas.openxmlformats.org/officeDocument/2006/math">
                    <m:sSub>
                      <m:sSubPr>
                        <m:ctrlPr>
                          <a:rPr lang="en-US" sz="2800" b="1" i="1" smtClean="0">
                            <a:solidFill>
                              <a:srgbClr val="0000CC"/>
                            </a:solidFill>
                            <a:latin typeface="Cambria Math" panose="02040503050406030204" pitchFamily="18" charset="0"/>
                          </a:rPr>
                        </m:ctrlPr>
                      </m:sSubPr>
                      <m:e>
                        <m:r>
                          <a:rPr lang="en-US" sz="2800" b="1" i="1" smtClean="0">
                            <a:solidFill>
                              <a:srgbClr val="0000CC"/>
                            </a:solidFill>
                            <a:latin typeface="Cambria Math" panose="02040503050406030204" pitchFamily="18" charset="0"/>
                          </a:rPr>
                          <m:t>𝒂</m:t>
                        </m:r>
                      </m:e>
                      <m:sub>
                        <m:r>
                          <a:rPr lang="en-US" sz="2800" b="1" i="1" smtClean="0">
                            <a:solidFill>
                              <a:srgbClr val="0000CC"/>
                            </a:solidFill>
                            <a:latin typeface="Cambria Math" panose="02040503050406030204" pitchFamily="18" charset="0"/>
                          </a:rPr>
                          <m:t>𝟎</m:t>
                        </m:r>
                      </m:sub>
                    </m:sSub>
                  </m:oMath>
                </a14:m>
                <a:r>
                  <a:rPr lang="en-US" sz="2800" b="1" dirty="0">
                    <a:solidFill>
                      <a:srgbClr val="0000CC"/>
                    </a:solidFill>
                  </a:rPr>
                  <a:t>=</a:t>
                </a:r>
                <a14:m>
                  <m:oMath xmlns:m="http://schemas.openxmlformats.org/officeDocument/2006/math">
                    <m:f>
                      <m:fPr>
                        <m:ctrlPr>
                          <a:rPr lang="en-US" sz="2800" b="1" i="1" dirty="0" smtClean="0">
                            <a:solidFill>
                              <a:srgbClr val="0000CC"/>
                            </a:solidFill>
                            <a:latin typeface="Cambria Math" panose="02040503050406030204" pitchFamily="18" charset="0"/>
                          </a:rPr>
                        </m:ctrlPr>
                      </m:fPr>
                      <m:num>
                        <m:r>
                          <a:rPr lang="en-US" sz="2800" b="1" i="1" dirty="0" smtClean="0">
                            <a:solidFill>
                              <a:srgbClr val="0000CC"/>
                            </a:solidFill>
                            <a:latin typeface="Cambria Math" panose="02040503050406030204" pitchFamily="18" charset="0"/>
                          </a:rPr>
                          <m:t>𝟏</m:t>
                        </m:r>
                      </m:num>
                      <m:den>
                        <m:r>
                          <a:rPr lang="en-US" sz="2800" b="1" i="1" dirty="0" smtClean="0">
                            <a:solidFill>
                              <a:srgbClr val="0000CC"/>
                            </a:solidFill>
                            <a:latin typeface="Cambria Math" panose="02040503050406030204" pitchFamily="18" charset="0"/>
                          </a:rPr>
                          <m:t>𝑻</m:t>
                        </m:r>
                      </m:den>
                    </m:f>
                    <m:nary>
                      <m:naryPr>
                        <m:limLoc m:val="undOvr"/>
                        <m:ctrlPr>
                          <a:rPr lang="en-US" sz="2800" b="1" i="1" dirty="0" smtClean="0">
                            <a:solidFill>
                              <a:srgbClr val="0000CC"/>
                            </a:solidFill>
                            <a:latin typeface="Cambria Math" panose="02040503050406030204" pitchFamily="18" charset="0"/>
                          </a:rPr>
                        </m:ctrlPr>
                      </m:naryPr>
                      <m:sub>
                        <m:f>
                          <m:fPr>
                            <m:type m:val="lin"/>
                            <m:ctrlPr>
                              <a:rPr lang="en-US" sz="2800" b="1" i="1" dirty="0" smtClean="0">
                                <a:solidFill>
                                  <a:srgbClr val="0000CC"/>
                                </a:solidFill>
                                <a:latin typeface="Cambria Math" panose="02040503050406030204" pitchFamily="18" charset="0"/>
                              </a:rPr>
                            </m:ctrlPr>
                          </m:fPr>
                          <m:num>
                            <m:r>
                              <a:rPr lang="en-US" sz="2800" b="1" i="1" dirty="0" smtClean="0">
                                <a:solidFill>
                                  <a:srgbClr val="0000CC"/>
                                </a:solidFill>
                                <a:latin typeface="Cambria Math" panose="02040503050406030204" pitchFamily="18" charset="0"/>
                              </a:rPr>
                              <m:t>−</m:t>
                            </m:r>
                            <m:r>
                              <a:rPr lang="en-US" sz="2800" b="1" i="1" dirty="0" smtClean="0">
                                <a:solidFill>
                                  <a:srgbClr val="0000CC"/>
                                </a:solidFill>
                                <a:latin typeface="Cambria Math" panose="02040503050406030204" pitchFamily="18" charset="0"/>
                              </a:rPr>
                              <m:t>𝑻</m:t>
                            </m:r>
                          </m:num>
                          <m:den>
                            <m:r>
                              <a:rPr lang="en-US" sz="2800" b="1" i="1" dirty="0" smtClean="0">
                                <a:solidFill>
                                  <a:srgbClr val="0000CC"/>
                                </a:solidFill>
                                <a:latin typeface="Cambria Math" panose="02040503050406030204" pitchFamily="18" charset="0"/>
                              </a:rPr>
                              <m:t>𝟐</m:t>
                            </m:r>
                          </m:den>
                        </m:f>
                      </m:sub>
                      <m:sup>
                        <m:f>
                          <m:fPr>
                            <m:type m:val="lin"/>
                            <m:ctrlPr>
                              <a:rPr lang="en-US" sz="2800" b="1" i="1" dirty="0" smtClean="0">
                                <a:solidFill>
                                  <a:srgbClr val="0000CC"/>
                                </a:solidFill>
                                <a:latin typeface="Cambria Math" panose="02040503050406030204" pitchFamily="18" charset="0"/>
                              </a:rPr>
                            </m:ctrlPr>
                          </m:fPr>
                          <m:num>
                            <m:r>
                              <a:rPr lang="en-US" sz="2800" b="1" i="1" dirty="0" smtClean="0">
                                <a:solidFill>
                                  <a:srgbClr val="0000CC"/>
                                </a:solidFill>
                                <a:latin typeface="Cambria Math" panose="02040503050406030204" pitchFamily="18" charset="0"/>
                              </a:rPr>
                              <m:t>𝑻</m:t>
                            </m:r>
                          </m:num>
                          <m:den>
                            <m:r>
                              <a:rPr lang="en-US" sz="2800" b="1" i="1" dirty="0" smtClean="0">
                                <a:solidFill>
                                  <a:srgbClr val="0000CC"/>
                                </a:solidFill>
                                <a:latin typeface="Cambria Math" panose="02040503050406030204" pitchFamily="18" charset="0"/>
                              </a:rPr>
                              <m:t>𝟐</m:t>
                            </m:r>
                          </m:den>
                        </m:f>
                      </m:sup>
                      <m:e>
                        <m:r>
                          <a:rPr lang="en-US" sz="2800" b="1" i="1" dirty="0" smtClean="0">
                            <a:solidFill>
                              <a:srgbClr val="0000CC"/>
                            </a:solidFill>
                            <a:latin typeface="Cambria Math" panose="02040503050406030204" pitchFamily="18" charset="0"/>
                          </a:rPr>
                          <m:t>𝒇</m:t>
                        </m:r>
                        <m:d>
                          <m:dPr>
                            <m:ctrlPr>
                              <a:rPr lang="en-US" sz="2800" b="1" i="1" dirty="0" smtClean="0">
                                <a:solidFill>
                                  <a:srgbClr val="0000CC"/>
                                </a:solidFill>
                                <a:latin typeface="Cambria Math" panose="02040503050406030204" pitchFamily="18" charset="0"/>
                              </a:rPr>
                            </m:ctrlPr>
                          </m:dPr>
                          <m:e>
                            <m:r>
                              <a:rPr lang="en-US" sz="2800" b="1" i="1" dirty="0" smtClean="0">
                                <a:solidFill>
                                  <a:srgbClr val="0000CC"/>
                                </a:solidFill>
                                <a:latin typeface="Cambria Math" panose="02040503050406030204" pitchFamily="18" charset="0"/>
                              </a:rPr>
                              <m:t>𝒕</m:t>
                            </m:r>
                          </m:e>
                        </m:d>
                        <m:r>
                          <a:rPr lang="en-US" sz="2800" b="1" i="1" dirty="0" smtClean="0">
                            <a:solidFill>
                              <a:srgbClr val="0000CC"/>
                            </a:solidFill>
                            <a:latin typeface="Cambria Math" panose="02040503050406030204" pitchFamily="18" charset="0"/>
                          </a:rPr>
                          <m:t>𝒅𝒕</m:t>
                        </m:r>
                      </m:e>
                    </m:nary>
                  </m:oMath>
                </a14:m>
                <a:endParaRPr lang="en-US" sz="2800" b="1" dirty="0"/>
              </a:p>
            </p:txBody>
          </p:sp>
        </mc:Choice>
        <mc:Fallback xmlns="">
          <p:sp>
            <p:nvSpPr>
              <p:cNvPr id="10" name="TextBox 9">
                <a:extLst>
                  <a:ext uri="{FF2B5EF4-FFF2-40B4-BE49-F238E27FC236}">
                    <a16:creationId xmlns:a16="http://schemas.microsoft.com/office/drawing/2014/main" id="{0A7838AA-1A26-4744-8E62-EA72F60C9A74}"/>
                  </a:ext>
                </a:extLst>
              </p:cNvPr>
              <p:cNvSpPr txBox="1">
                <a:spLocks noRot="1" noChangeAspect="1" noMove="1" noResize="1" noEditPoints="1" noAdjustHandles="1" noChangeArrowheads="1" noChangeShapeType="1" noTextEdit="1"/>
              </p:cNvSpPr>
              <p:nvPr/>
            </p:nvSpPr>
            <p:spPr>
              <a:xfrm>
                <a:off x="2616199" y="5451990"/>
                <a:ext cx="6605621" cy="747256"/>
              </a:xfrm>
              <a:prstGeom prst="rect">
                <a:avLst/>
              </a:prstGeom>
              <a:blipFill>
                <a:blip r:embed="rId5"/>
                <a:stretch>
                  <a:fillRect b="-8943"/>
                </a:stretch>
              </a:blipFill>
            </p:spPr>
            <p:txBody>
              <a:bodyPr/>
              <a:lstStyle/>
              <a:p>
                <a:r>
                  <a:rPr lang="en-US">
                    <a:noFill/>
                  </a:rPr>
                  <a:t> </a:t>
                </a:r>
              </a:p>
            </p:txBody>
          </p:sp>
        </mc:Fallback>
      </mc:AlternateContent>
    </p:spTree>
    <p:extLst>
      <p:ext uri="{BB962C8B-B14F-4D97-AF65-F5344CB8AC3E}">
        <p14:creationId xmlns:p14="http://schemas.microsoft.com/office/powerpoint/2010/main" val="117088282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6">
            <a:extLst>
              <a:ext uri="{FF2B5EF4-FFF2-40B4-BE49-F238E27FC236}">
                <a16:creationId xmlns:a16="http://schemas.microsoft.com/office/drawing/2014/main" id="{56080804-F19F-41A7-8595-943961648C5E}"/>
              </a:ext>
            </a:extLst>
          </p:cNvPr>
          <p:cNvSpPr>
            <a:spLocks noGrp="1"/>
          </p:cNvSpPr>
          <p:nvPr>
            <p:ph type="sldNum" sz="quarter" idx="12"/>
          </p:nvPr>
        </p:nvSpPr>
        <p:spPr>
          <a:xfrm>
            <a:off x="8610600" y="6441692"/>
            <a:ext cx="2743200" cy="370027"/>
          </a:xfrm>
        </p:spPr>
        <p:txBody>
          <a:bodyPr/>
          <a:lstStyle/>
          <a:p>
            <a:fld id="{F4801FD5-11B4-DE43-ACA2-E85EEB9A6F9C}" type="slidenum">
              <a:rPr lang="en-US" smtClean="0">
                <a:latin typeface="Garamond" panose="02020404030301010803" pitchFamily="18" charset="0"/>
              </a:rPr>
              <a:t>27</a:t>
            </a:fld>
            <a:endParaRPr lang="en-US">
              <a:latin typeface="Garamond" panose="02020404030301010803" pitchFamily="18" charset="0"/>
            </a:endParaRPr>
          </a:p>
        </p:txBody>
      </p:sp>
      <p:sp>
        <p:nvSpPr>
          <p:cNvPr id="5" name="Title 1">
            <a:extLst>
              <a:ext uri="{FF2B5EF4-FFF2-40B4-BE49-F238E27FC236}">
                <a16:creationId xmlns:a16="http://schemas.microsoft.com/office/drawing/2014/main" id="{4710AE4B-0DB8-4451-B9E4-10BAE11B4D3A}"/>
              </a:ext>
            </a:extLst>
          </p:cNvPr>
          <p:cNvSpPr>
            <a:spLocks noGrp="1"/>
          </p:cNvSpPr>
          <p:nvPr>
            <p:ph type="title"/>
          </p:nvPr>
        </p:nvSpPr>
        <p:spPr>
          <a:xfrm>
            <a:off x="497840" y="113802"/>
            <a:ext cx="10972800" cy="1115558"/>
          </a:xfrm>
        </p:spPr>
        <p:txBody>
          <a:bodyPr>
            <a:noAutofit/>
          </a:bodyPr>
          <a:lstStyle/>
          <a:p>
            <a:pPr algn="ctr"/>
            <a:r>
              <a:rPr lang="en-US" sz="3200" b="1" u="sng" dirty="0">
                <a:solidFill>
                  <a:srgbClr val="FF3386"/>
                </a:solidFill>
                <a:latin typeface="Century Gothic" panose="020B0502020202020204" pitchFamily="34" charset="0"/>
                <a:cs typeface="Helvetica"/>
              </a:rPr>
              <a:t>POWER COMPUTATION FOR NONSINUSOIDAL PERIODIC WAVEFORMS</a:t>
            </a:r>
          </a:p>
        </p:txBody>
      </p:sp>
      <p:sp>
        <p:nvSpPr>
          <p:cNvPr id="6" name="TextBox 5">
            <a:extLst>
              <a:ext uri="{FF2B5EF4-FFF2-40B4-BE49-F238E27FC236}">
                <a16:creationId xmlns:a16="http://schemas.microsoft.com/office/drawing/2014/main" id="{6BAA1F11-5BEF-4D80-964F-A7332E36BFA0}"/>
              </a:ext>
            </a:extLst>
          </p:cNvPr>
          <p:cNvSpPr txBox="1"/>
          <p:nvPr/>
        </p:nvSpPr>
        <p:spPr>
          <a:xfrm>
            <a:off x="371193" y="1229360"/>
            <a:ext cx="11442485" cy="5632311"/>
          </a:xfrm>
          <a:prstGeom prst="rect">
            <a:avLst/>
          </a:prstGeom>
          <a:noFill/>
          <a:ln>
            <a:solidFill>
              <a:srgbClr val="FF0066"/>
            </a:solidFill>
          </a:ln>
        </p:spPr>
        <p:txBody>
          <a:bodyPr wrap="square" rtlCol="0">
            <a:spAutoFit/>
          </a:bodyPr>
          <a:lstStyle/>
          <a:p>
            <a:pPr>
              <a:buClr>
                <a:schemeClr val="accent2"/>
              </a:buClr>
            </a:pPr>
            <a:r>
              <a:rPr lang="en-GB" sz="2400" b="1" kern="100" dirty="0">
                <a:solidFill>
                  <a:srgbClr val="0000CC"/>
                </a:solidFill>
                <a:latin typeface="Century Gothic" panose="020B0502020202020204" pitchFamily="34" charset="0"/>
                <a:ea typeface="Calibri" panose="020F0502020204030204" pitchFamily="34" charset="0"/>
                <a:cs typeface="Times New Roman" panose="02020603050405020304" pitchFamily="18" charset="0"/>
              </a:rPr>
              <a:t>      </a:t>
            </a:r>
          </a:p>
          <a:p>
            <a:pPr>
              <a:buClr>
                <a:schemeClr val="accent2"/>
              </a:buClr>
            </a:pPr>
            <a:r>
              <a:rPr lang="en-GB" sz="2400" b="1" kern="100" dirty="0">
                <a:solidFill>
                  <a:srgbClr val="0000CC"/>
                </a:solidFill>
                <a:latin typeface="Century Gothic" panose="020B0502020202020204" pitchFamily="34" charset="0"/>
                <a:ea typeface="Calibri" panose="020F0502020204030204" pitchFamily="34" charset="0"/>
                <a:cs typeface="Times New Roman" panose="02020603050405020304" pitchFamily="18" charset="0"/>
              </a:rPr>
              <a:t>   </a:t>
            </a:r>
            <a:br>
              <a:rPr lang="en-GB" sz="2400" b="1" kern="100" dirty="0">
                <a:solidFill>
                  <a:srgbClr val="0000CC"/>
                </a:solidFill>
                <a:latin typeface="Century Gothic" panose="020B0502020202020204" pitchFamily="34" charset="0"/>
                <a:ea typeface="Calibri" panose="020F0502020204030204" pitchFamily="34" charset="0"/>
                <a:cs typeface="Times New Roman" panose="02020603050405020304" pitchFamily="18" charset="0"/>
              </a:rPr>
            </a:br>
            <a:r>
              <a:rPr lang="en-GB" sz="2400" b="1" kern="100" dirty="0">
                <a:solidFill>
                  <a:srgbClr val="0000CC"/>
                </a:solidFill>
                <a:latin typeface="Century Gothic" panose="020B0502020202020204" pitchFamily="34" charset="0"/>
                <a:ea typeface="Calibri" panose="020F0502020204030204" pitchFamily="34" charset="0"/>
                <a:cs typeface="Times New Roman" panose="02020603050405020304" pitchFamily="18" charset="0"/>
              </a:rPr>
              <a:t>				</a:t>
            </a:r>
          </a:p>
          <a:p>
            <a:pPr>
              <a:buClr>
                <a:schemeClr val="accent2"/>
              </a:buClr>
            </a:pPr>
            <a:r>
              <a:rPr lang="en-GB" sz="2400" b="1" kern="100" dirty="0">
                <a:solidFill>
                  <a:srgbClr val="0000CC"/>
                </a:solidFill>
                <a:latin typeface="Century Gothic" panose="020B0502020202020204" pitchFamily="34" charset="0"/>
                <a:ea typeface="Calibri" panose="020F0502020204030204" pitchFamily="34" charset="0"/>
                <a:cs typeface="Times New Roman" panose="02020603050405020304" pitchFamily="18" charset="0"/>
              </a:rPr>
              <a:t>          </a:t>
            </a:r>
          </a:p>
          <a:p>
            <a:pPr>
              <a:buClr>
                <a:schemeClr val="accent2"/>
              </a:buClr>
            </a:pPr>
            <a:r>
              <a:rPr lang="en-GB" sz="2400" b="1" kern="100" dirty="0">
                <a:solidFill>
                  <a:srgbClr val="0000CC"/>
                </a:solidFill>
                <a:latin typeface="Century Gothic" panose="020B0502020202020204" pitchFamily="34" charset="0"/>
                <a:ea typeface="Calibri" panose="020F0502020204030204" pitchFamily="34" charset="0"/>
                <a:cs typeface="Times New Roman" panose="02020603050405020304" pitchFamily="18" charset="0"/>
              </a:rPr>
              <a:t>				</a:t>
            </a:r>
          </a:p>
          <a:p>
            <a:pPr>
              <a:buClr>
                <a:schemeClr val="accent2"/>
              </a:buClr>
            </a:pPr>
            <a:endParaRPr lang="en-GB" sz="2400" b="1" kern="100" dirty="0">
              <a:solidFill>
                <a:srgbClr val="0000CC"/>
              </a:solidFill>
              <a:latin typeface="Century Gothic" panose="020B0502020202020204" pitchFamily="34" charset="0"/>
              <a:ea typeface="Calibri" panose="020F0502020204030204" pitchFamily="34" charset="0"/>
              <a:cs typeface="Times New Roman" panose="02020603050405020304" pitchFamily="18" charset="0"/>
            </a:endParaRPr>
          </a:p>
          <a:p>
            <a:pPr>
              <a:buClr>
                <a:schemeClr val="accent2"/>
              </a:buClr>
            </a:pPr>
            <a:r>
              <a:rPr lang="en-GB" sz="2400" b="1" kern="100" dirty="0">
                <a:solidFill>
                  <a:srgbClr val="0000CC"/>
                </a:solidFill>
                <a:latin typeface="Century Gothic" panose="020B0502020202020204" pitchFamily="34" charset="0"/>
                <a:ea typeface="Calibri" panose="020F0502020204030204" pitchFamily="34" charset="0"/>
                <a:cs typeface="Times New Roman" panose="02020603050405020304" pitchFamily="18" charset="0"/>
              </a:rPr>
              <a:t>	</a:t>
            </a:r>
          </a:p>
          <a:p>
            <a:pPr marL="342900" indent="-342900">
              <a:buClr>
                <a:schemeClr val="accent2"/>
              </a:buClr>
              <a:buFont typeface="Courier New" panose="02070309020205020404" pitchFamily="49" charset="0"/>
              <a:buChar char="o"/>
            </a:pPr>
            <a:r>
              <a:rPr lang="en-GB" sz="2400" b="1" kern="100" dirty="0">
                <a:solidFill>
                  <a:srgbClr val="0000CC"/>
                </a:solidFill>
                <a:latin typeface="Century Gothic" panose="020B0502020202020204" pitchFamily="34" charset="0"/>
                <a:ea typeface="Calibri" panose="020F0502020204030204" pitchFamily="34" charset="0"/>
                <a:cs typeface="Times New Roman" panose="02020603050405020304" pitchFamily="18" charset="0"/>
              </a:rPr>
              <a:t> Sines and Cosines with the same frequency can merged into a single sinusoid, providing an alternative representation for a Fourier series</a:t>
            </a:r>
          </a:p>
          <a:p>
            <a:pPr>
              <a:buClr>
                <a:schemeClr val="accent2"/>
              </a:buClr>
            </a:pPr>
            <a:endParaRPr lang="en-GB" sz="2400" b="1" kern="100" dirty="0">
              <a:solidFill>
                <a:srgbClr val="0000CC"/>
              </a:solidFill>
              <a:latin typeface="Century Gothic" panose="020B0502020202020204" pitchFamily="34" charset="0"/>
              <a:ea typeface="Calibri" panose="020F0502020204030204" pitchFamily="34" charset="0"/>
              <a:cs typeface="Times New Roman" panose="02020603050405020304" pitchFamily="18" charset="0"/>
            </a:endParaRPr>
          </a:p>
          <a:p>
            <a:pPr>
              <a:buClr>
                <a:schemeClr val="accent2"/>
              </a:buClr>
            </a:pPr>
            <a:r>
              <a:rPr lang="en-GB" sz="2400" b="1" kern="100" dirty="0">
                <a:solidFill>
                  <a:srgbClr val="0000CC"/>
                </a:solidFill>
                <a:latin typeface="Century Gothic" panose="020B0502020202020204" pitchFamily="34" charset="0"/>
                <a:ea typeface="Calibri" panose="020F0502020204030204" pitchFamily="34" charset="0"/>
                <a:cs typeface="Times New Roman" panose="02020603050405020304" pitchFamily="18" charset="0"/>
              </a:rPr>
              <a:t>			</a:t>
            </a:r>
          </a:p>
          <a:p>
            <a:pPr>
              <a:buClr>
                <a:schemeClr val="accent2"/>
              </a:buClr>
            </a:pPr>
            <a:br>
              <a:rPr lang="en-GB" sz="2400" b="1" kern="100" dirty="0">
                <a:solidFill>
                  <a:srgbClr val="0000CC"/>
                </a:solidFill>
                <a:latin typeface="Century Gothic" panose="020B0502020202020204" pitchFamily="34" charset="0"/>
                <a:ea typeface="Calibri" panose="020F0502020204030204" pitchFamily="34" charset="0"/>
                <a:cs typeface="Times New Roman" panose="02020603050405020304" pitchFamily="18" charset="0"/>
              </a:rPr>
            </a:br>
            <a:r>
              <a:rPr lang="en-GB" sz="2400" kern="100" dirty="0">
                <a:solidFill>
                  <a:srgbClr val="0000CC"/>
                </a:solidFill>
                <a:latin typeface="Century Gothic" panose="020B0502020202020204" pitchFamily="34" charset="0"/>
                <a:ea typeface="Calibri" panose="020F0502020204030204" pitchFamily="34" charset="0"/>
                <a:cs typeface="Times New Roman" panose="02020603050405020304" pitchFamily="18" charset="0"/>
              </a:rPr>
              <a:t>where </a:t>
            </a:r>
          </a:p>
          <a:p>
            <a:pPr>
              <a:buClr>
                <a:schemeClr val="accent2"/>
              </a:buClr>
            </a:pPr>
            <a:endParaRPr lang="en-GB" sz="2400" kern="100" dirty="0">
              <a:solidFill>
                <a:srgbClr val="0000CC"/>
              </a:solidFill>
              <a:latin typeface="Century Gothic" panose="020B0502020202020204" pitchFamily="34" charset="0"/>
              <a:ea typeface="Calibri" panose="020F0502020204030204" pitchFamily="34" charset="0"/>
              <a:cs typeface="Times New Roman" panose="02020603050405020304" pitchFamily="18" charset="0"/>
            </a:endParaRPr>
          </a:p>
          <a:p>
            <a:pPr>
              <a:buClr>
                <a:schemeClr val="accent2"/>
              </a:buClr>
            </a:pPr>
            <a:endParaRPr lang="en-GB" sz="2400" kern="100" dirty="0">
              <a:solidFill>
                <a:srgbClr val="0000CC"/>
              </a:solidFill>
              <a:latin typeface="Century Gothic" panose="020B0502020202020204" pitchFamily="34" charset="0"/>
              <a:ea typeface="Calibri" panose="020F0502020204030204" pitchFamily="34" charset="0"/>
              <a:cs typeface="Times New Roman" panose="02020603050405020304" pitchFamily="18" charset="0"/>
            </a:endParaRPr>
          </a:p>
        </p:txBody>
      </p:sp>
      <p:sp>
        <p:nvSpPr>
          <p:cNvPr id="7" name="TextBox 6">
            <a:extLst>
              <a:ext uri="{FF2B5EF4-FFF2-40B4-BE49-F238E27FC236}">
                <a16:creationId xmlns:a16="http://schemas.microsoft.com/office/drawing/2014/main" id="{C36AA635-C21F-49F3-BF21-4CBE4C20709B}"/>
              </a:ext>
            </a:extLst>
          </p:cNvPr>
          <p:cNvSpPr txBox="1"/>
          <p:nvPr/>
        </p:nvSpPr>
        <p:spPr>
          <a:xfrm>
            <a:off x="5269122" y="6037275"/>
            <a:ext cx="823314" cy="373051"/>
          </a:xfrm>
          <a:prstGeom prst="rect">
            <a:avLst/>
          </a:prstGeom>
          <a:noFill/>
        </p:spPr>
        <p:txBody>
          <a:bodyPr wrap="square" rtlCol="0">
            <a:spAutoFit/>
          </a:bodyPr>
          <a:lstStyle/>
          <a:p>
            <a:pPr algn="ctr"/>
            <a:endParaRPr lang="en-GB" sz="1824" dirty="0">
              <a:latin typeface="Garamond" panose="02020404030301010803" pitchFamily="18" charset="0"/>
            </a:endParaRPr>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30BB3D47-87DC-4721-BDA2-0AB470B293C5}"/>
                  </a:ext>
                </a:extLst>
              </p:cNvPr>
              <p:cNvSpPr txBox="1"/>
              <p:nvPr/>
            </p:nvSpPr>
            <p:spPr>
              <a:xfrm>
                <a:off x="1229359" y="1569442"/>
                <a:ext cx="7943823" cy="653705"/>
              </a:xfrm>
              <a:prstGeom prst="rect">
                <a:avLst/>
              </a:prstGeom>
              <a:solidFill>
                <a:srgbClr val="00FFFF"/>
              </a:solidFill>
            </p:spPr>
            <p:txBody>
              <a:bodyPr wrap="square" rtlCol="0">
                <a:spAutoFit/>
              </a:bodyPr>
              <a:lstStyle/>
              <a:p>
                <a14:m>
                  <m:oMath xmlns:m="http://schemas.openxmlformats.org/officeDocument/2006/math">
                    <m:sSub>
                      <m:sSubPr>
                        <m:ctrlPr>
                          <a:rPr lang="en-US" sz="2400" b="1" i="1" smtClean="0">
                            <a:solidFill>
                              <a:srgbClr val="0000CC"/>
                            </a:solidFill>
                            <a:latin typeface="Cambria Math" panose="02040503050406030204" pitchFamily="18" charset="0"/>
                          </a:rPr>
                        </m:ctrlPr>
                      </m:sSubPr>
                      <m:e>
                        <m:r>
                          <a:rPr lang="en-US" sz="2400" b="1" i="1" smtClean="0">
                            <a:solidFill>
                              <a:srgbClr val="0000CC"/>
                            </a:solidFill>
                            <a:latin typeface="Cambria Math" panose="02040503050406030204" pitchFamily="18" charset="0"/>
                          </a:rPr>
                          <m:t>𝒂</m:t>
                        </m:r>
                      </m:e>
                      <m:sub>
                        <m:r>
                          <a:rPr lang="en-US" sz="2400" b="1" i="1" smtClean="0">
                            <a:solidFill>
                              <a:srgbClr val="0000CC"/>
                            </a:solidFill>
                            <a:latin typeface="Cambria Math" panose="02040503050406030204" pitchFamily="18" charset="0"/>
                          </a:rPr>
                          <m:t>𝒏</m:t>
                        </m:r>
                      </m:sub>
                    </m:sSub>
                  </m:oMath>
                </a14:m>
                <a:r>
                  <a:rPr lang="en-US" sz="2400" b="1" dirty="0">
                    <a:solidFill>
                      <a:srgbClr val="0000CC"/>
                    </a:solidFill>
                  </a:rPr>
                  <a:t> = </a:t>
                </a:r>
                <a14:m>
                  <m:oMath xmlns:m="http://schemas.openxmlformats.org/officeDocument/2006/math">
                    <m:f>
                      <m:fPr>
                        <m:ctrlPr>
                          <a:rPr lang="en-US" sz="2400" b="1" i="1" smtClean="0">
                            <a:solidFill>
                              <a:srgbClr val="0000CC"/>
                            </a:solidFill>
                            <a:latin typeface="Cambria Math" panose="02040503050406030204" pitchFamily="18" charset="0"/>
                          </a:rPr>
                        </m:ctrlPr>
                      </m:fPr>
                      <m:num>
                        <m:r>
                          <a:rPr lang="en-US" sz="2400" b="1" i="1" smtClean="0">
                            <a:solidFill>
                              <a:srgbClr val="0000CC"/>
                            </a:solidFill>
                            <a:latin typeface="Cambria Math" panose="02040503050406030204" pitchFamily="18" charset="0"/>
                          </a:rPr>
                          <m:t>𝟐</m:t>
                        </m:r>
                      </m:num>
                      <m:den>
                        <m:r>
                          <a:rPr lang="en-US" sz="2400" b="1" i="1" smtClean="0">
                            <a:solidFill>
                              <a:srgbClr val="0000CC"/>
                            </a:solidFill>
                            <a:latin typeface="Cambria Math" panose="02040503050406030204" pitchFamily="18" charset="0"/>
                          </a:rPr>
                          <m:t>𝑻</m:t>
                        </m:r>
                      </m:den>
                    </m:f>
                    <m:nary>
                      <m:naryPr>
                        <m:limLoc m:val="undOvr"/>
                        <m:ctrlPr>
                          <a:rPr lang="en-US" sz="2400" b="1" i="1" smtClean="0">
                            <a:solidFill>
                              <a:srgbClr val="0000CC"/>
                            </a:solidFill>
                            <a:latin typeface="Cambria Math" panose="02040503050406030204" pitchFamily="18" charset="0"/>
                          </a:rPr>
                        </m:ctrlPr>
                      </m:naryPr>
                      <m:sub>
                        <m:f>
                          <m:fPr>
                            <m:type m:val="lin"/>
                            <m:ctrlPr>
                              <a:rPr lang="en-US" sz="2400" b="1" i="1" smtClean="0">
                                <a:solidFill>
                                  <a:srgbClr val="0000CC"/>
                                </a:solidFill>
                                <a:latin typeface="Cambria Math" panose="02040503050406030204" pitchFamily="18" charset="0"/>
                              </a:rPr>
                            </m:ctrlPr>
                          </m:fPr>
                          <m:num>
                            <m:r>
                              <a:rPr lang="en-US" sz="2400" b="1" i="1" smtClean="0">
                                <a:solidFill>
                                  <a:srgbClr val="0000CC"/>
                                </a:solidFill>
                                <a:latin typeface="Cambria Math" panose="02040503050406030204" pitchFamily="18" charset="0"/>
                                <a:ea typeface="Cambria Math" panose="02040503050406030204" pitchFamily="18" charset="0"/>
                              </a:rPr>
                              <m:t>−</m:t>
                            </m:r>
                            <m:r>
                              <a:rPr lang="en-US" sz="2400" b="1" i="1" smtClean="0">
                                <a:solidFill>
                                  <a:srgbClr val="0000CC"/>
                                </a:solidFill>
                                <a:latin typeface="Cambria Math" panose="02040503050406030204" pitchFamily="18" charset="0"/>
                                <a:ea typeface="Cambria Math" panose="02040503050406030204" pitchFamily="18" charset="0"/>
                              </a:rPr>
                              <m:t>𝑻</m:t>
                            </m:r>
                          </m:num>
                          <m:den>
                            <m:r>
                              <a:rPr lang="en-US" sz="2400" b="1" i="1" smtClean="0">
                                <a:solidFill>
                                  <a:srgbClr val="0000CC"/>
                                </a:solidFill>
                                <a:latin typeface="Cambria Math" panose="02040503050406030204" pitchFamily="18" charset="0"/>
                              </a:rPr>
                              <m:t>𝟐</m:t>
                            </m:r>
                          </m:den>
                        </m:f>
                      </m:sub>
                      <m:sup>
                        <m:f>
                          <m:fPr>
                            <m:type m:val="lin"/>
                            <m:ctrlPr>
                              <a:rPr lang="en-US" sz="2400" b="1" i="1" smtClean="0">
                                <a:solidFill>
                                  <a:srgbClr val="0000CC"/>
                                </a:solidFill>
                                <a:latin typeface="Cambria Math" panose="02040503050406030204" pitchFamily="18" charset="0"/>
                              </a:rPr>
                            </m:ctrlPr>
                          </m:fPr>
                          <m:num>
                            <m:r>
                              <a:rPr lang="en-US" sz="2400" b="1" i="1" smtClean="0">
                                <a:solidFill>
                                  <a:srgbClr val="0000CC"/>
                                </a:solidFill>
                                <a:latin typeface="Cambria Math" panose="02040503050406030204" pitchFamily="18" charset="0"/>
                              </a:rPr>
                              <m:t>𝑻</m:t>
                            </m:r>
                          </m:num>
                          <m:den>
                            <m:r>
                              <a:rPr lang="en-US" sz="2400" b="1" i="1" smtClean="0">
                                <a:solidFill>
                                  <a:srgbClr val="0000CC"/>
                                </a:solidFill>
                                <a:latin typeface="Cambria Math" panose="02040503050406030204" pitchFamily="18" charset="0"/>
                              </a:rPr>
                              <m:t>𝟐</m:t>
                            </m:r>
                          </m:den>
                        </m:f>
                      </m:sup>
                      <m:e>
                        <m:r>
                          <a:rPr lang="en-US" sz="2400" b="1" i="1" smtClean="0">
                            <a:solidFill>
                              <a:srgbClr val="0000CC"/>
                            </a:solidFill>
                            <a:latin typeface="Cambria Math" panose="02040503050406030204" pitchFamily="18" charset="0"/>
                          </a:rPr>
                          <m:t>𝒇</m:t>
                        </m:r>
                        <m:d>
                          <m:dPr>
                            <m:ctrlPr>
                              <a:rPr lang="en-US" sz="2400" b="1" i="1" smtClean="0">
                                <a:solidFill>
                                  <a:srgbClr val="0000CC"/>
                                </a:solidFill>
                                <a:latin typeface="Cambria Math" panose="02040503050406030204" pitchFamily="18" charset="0"/>
                              </a:rPr>
                            </m:ctrlPr>
                          </m:dPr>
                          <m:e>
                            <m:r>
                              <a:rPr lang="en-US" sz="2400" b="1" i="1" smtClean="0">
                                <a:solidFill>
                                  <a:srgbClr val="0000CC"/>
                                </a:solidFill>
                                <a:latin typeface="Cambria Math" panose="02040503050406030204" pitchFamily="18" charset="0"/>
                              </a:rPr>
                              <m:t>𝒕</m:t>
                            </m:r>
                          </m:e>
                        </m:d>
                        <m:func>
                          <m:funcPr>
                            <m:ctrlPr>
                              <a:rPr lang="en-US" sz="2400" b="1" i="1" smtClean="0">
                                <a:solidFill>
                                  <a:srgbClr val="0000CC"/>
                                </a:solidFill>
                                <a:latin typeface="Cambria Math" panose="02040503050406030204" pitchFamily="18" charset="0"/>
                              </a:rPr>
                            </m:ctrlPr>
                          </m:funcPr>
                          <m:fName>
                            <m:r>
                              <a:rPr lang="en-US" sz="2400" b="1" i="0" smtClean="0">
                                <a:solidFill>
                                  <a:srgbClr val="0000CC"/>
                                </a:solidFill>
                                <a:latin typeface="Cambria Math" panose="02040503050406030204" pitchFamily="18" charset="0"/>
                              </a:rPr>
                              <m:t>𝐜𝐨𝐬</m:t>
                            </m:r>
                          </m:fName>
                          <m:e>
                            <m:d>
                              <m:dPr>
                                <m:ctrlPr>
                                  <a:rPr lang="en-US" sz="2400" b="1" i="1" smtClean="0">
                                    <a:solidFill>
                                      <a:srgbClr val="0000CC"/>
                                    </a:solidFill>
                                    <a:latin typeface="Cambria Math" panose="02040503050406030204" pitchFamily="18" charset="0"/>
                                  </a:rPr>
                                </m:ctrlPr>
                              </m:dPr>
                              <m:e>
                                <m:r>
                                  <a:rPr lang="en-US" sz="2400" b="1" i="1" smtClean="0">
                                    <a:solidFill>
                                      <a:srgbClr val="0000CC"/>
                                    </a:solidFill>
                                    <a:latin typeface="Cambria Math" panose="02040503050406030204" pitchFamily="18" charset="0"/>
                                  </a:rPr>
                                  <m:t>𝒏</m:t>
                                </m:r>
                                <m:sSub>
                                  <m:sSubPr>
                                    <m:ctrlPr>
                                      <a:rPr lang="en-US" sz="2400" b="1" i="1" smtClean="0">
                                        <a:solidFill>
                                          <a:srgbClr val="0000CC"/>
                                        </a:solidFill>
                                        <a:latin typeface="Cambria Math" panose="02040503050406030204" pitchFamily="18" charset="0"/>
                                      </a:rPr>
                                    </m:ctrlPr>
                                  </m:sSubPr>
                                  <m:e>
                                    <m:r>
                                      <a:rPr lang="en-US" sz="2400" b="1" i="1" smtClean="0">
                                        <a:solidFill>
                                          <a:srgbClr val="0000CC"/>
                                        </a:solidFill>
                                        <a:latin typeface="Cambria Math" panose="02040503050406030204" pitchFamily="18" charset="0"/>
                                        <a:ea typeface="Cambria Math" panose="02040503050406030204" pitchFamily="18" charset="0"/>
                                      </a:rPr>
                                      <m:t>𝝎</m:t>
                                    </m:r>
                                  </m:e>
                                  <m:sub>
                                    <m:r>
                                      <a:rPr lang="en-US" sz="2400" b="1" i="1" smtClean="0">
                                        <a:solidFill>
                                          <a:srgbClr val="0000CC"/>
                                        </a:solidFill>
                                        <a:latin typeface="Cambria Math" panose="02040503050406030204" pitchFamily="18" charset="0"/>
                                      </a:rPr>
                                      <m:t>𝟎</m:t>
                                    </m:r>
                                  </m:sub>
                                </m:sSub>
                                <m:r>
                                  <a:rPr lang="en-US" sz="2400" b="1" i="1" smtClean="0">
                                    <a:solidFill>
                                      <a:srgbClr val="0000CC"/>
                                    </a:solidFill>
                                    <a:latin typeface="Cambria Math" panose="02040503050406030204" pitchFamily="18" charset="0"/>
                                  </a:rPr>
                                  <m:t>𝒕</m:t>
                                </m:r>
                              </m:e>
                            </m:d>
                            <m:r>
                              <a:rPr lang="en-US" sz="2400" b="1" i="1" smtClean="0">
                                <a:solidFill>
                                  <a:srgbClr val="0000CC"/>
                                </a:solidFill>
                                <a:latin typeface="Cambria Math" panose="02040503050406030204" pitchFamily="18" charset="0"/>
                              </a:rPr>
                              <m:t>𝒅𝒕</m:t>
                            </m:r>
                          </m:e>
                        </m:func>
                      </m:e>
                    </m:nary>
                  </m:oMath>
                </a14:m>
                <a:endParaRPr lang="en-US" sz="2400" b="1" dirty="0"/>
              </a:p>
            </p:txBody>
          </p:sp>
        </mc:Choice>
        <mc:Fallback xmlns="">
          <p:sp>
            <p:nvSpPr>
              <p:cNvPr id="10" name="TextBox 9">
                <a:extLst>
                  <a:ext uri="{FF2B5EF4-FFF2-40B4-BE49-F238E27FC236}">
                    <a16:creationId xmlns:a16="http://schemas.microsoft.com/office/drawing/2014/main" id="{30BB3D47-87DC-4721-BDA2-0AB470B293C5}"/>
                  </a:ext>
                </a:extLst>
              </p:cNvPr>
              <p:cNvSpPr txBox="1">
                <a:spLocks noRot="1" noChangeAspect="1" noMove="1" noResize="1" noEditPoints="1" noAdjustHandles="1" noChangeArrowheads="1" noChangeShapeType="1" noTextEdit="1"/>
              </p:cNvSpPr>
              <p:nvPr/>
            </p:nvSpPr>
            <p:spPr>
              <a:xfrm>
                <a:off x="1229359" y="1569442"/>
                <a:ext cx="7943823" cy="653705"/>
              </a:xfrm>
              <a:prstGeom prst="rect">
                <a:avLst/>
              </a:prstGeom>
              <a:blipFill>
                <a:blip r:embed="rId3"/>
                <a:stretch>
                  <a:fillRect b="-648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86ABA93E-B058-4EB0-8AC1-76DA5B472841}"/>
                  </a:ext>
                </a:extLst>
              </p:cNvPr>
              <p:cNvSpPr txBox="1"/>
              <p:nvPr/>
            </p:nvSpPr>
            <p:spPr>
              <a:xfrm>
                <a:off x="1249680" y="2560320"/>
                <a:ext cx="8468252" cy="747256"/>
              </a:xfrm>
              <a:prstGeom prst="rect">
                <a:avLst/>
              </a:prstGeom>
              <a:solidFill>
                <a:srgbClr val="00FFFF"/>
              </a:solidFill>
            </p:spPr>
            <p:txBody>
              <a:bodyPr wrap="square" rtlCol="0">
                <a:spAutoFit/>
              </a:bodyPr>
              <a:lstStyle/>
              <a:p>
                <a14:m>
                  <m:oMath xmlns:m="http://schemas.openxmlformats.org/officeDocument/2006/math">
                    <m:sSub>
                      <m:sSubPr>
                        <m:ctrlPr>
                          <a:rPr lang="en-US" sz="2800" b="1" i="1" smtClean="0">
                            <a:solidFill>
                              <a:srgbClr val="0000CC"/>
                            </a:solidFill>
                            <a:latin typeface="Cambria Math" panose="02040503050406030204" pitchFamily="18" charset="0"/>
                          </a:rPr>
                        </m:ctrlPr>
                      </m:sSubPr>
                      <m:e>
                        <m:r>
                          <a:rPr lang="en-US" sz="2800" b="1" i="1" smtClean="0">
                            <a:solidFill>
                              <a:srgbClr val="0000CC"/>
                            </a:solidFill>
                            <a:latin typeface="Cambria Math" panose="02040503050406030204" pitchFamily="18" charset="0"/>
                          </a:rPr>
                          <m:t>𝒃</m:t>
                        </m:r>
                      </m:e>
                      <m:sub>
                        <m:r>
                          <a:rPr lang="en-US" sz="2800" b="1" i="1" smtClean="0">
                            <a:solidFill>
                              <a:srgbClr val="0000CC"/>
                            </a:solidFill>
                            <a:latin typeface="Cambria Math" panose="02040503050406030204" pitchFamily="18" charset="0"/>
                          </a:rPr>
                          <m:t>𝒏</m:t>
                        </m:r>
                      </m:sub>
                    </m:sSub>
                  </m:oMath>
                </a14:m>
                <a:r>
                  <a:rPr lang="en-US" sz="2800" b="1" dirty="0">
                    <a:solidFill>
                      <a:srgbClr val="0000CC"/>
                    </a:solidFill>
                  </a:rPr>
                  <a:t> = </a:t>
                </a:r>
                <a14:m>
                  <m:oMath xmlns:m="http://schemas.openxmlformats.org/officeDocument/2006/math">
                    <m:f>
                      <m:fPr>
                        <m:ctrlPr>
                          <a:rPr lang="en-US" sz="2800" b="1" i="1" smtClean="0">
                            <a:solidFill>
                              <a:srgbClr val="0000CC"/>
                            </a:solidFill>
                            <a:latin typeface="Cambria Math" panose="02040503050406030204" pitchFamily="18" charset="0"/>
                          </a:rPr>
                        </m:ctrlPr>
                      </m:fPr>
                      <m:num>
                        <m:r>
                          <a:rPr lang="en-US" sz="2800" b="1" i="1" smtClean="0">
                            <a:solidFill>
                              <a:srgbClr val="0000CC"/>
                            </a:solidFill>
                            <a:latin typeface="Cambria Math" panose="02040503050406030204" pitchFamily="18" charset="0"/>
                          </a:rPr>
                          <m:t>𝟐</m:t>
                        </m:r>
                      </m:num>
                      <m:den>
                        <m:r>
                          <a:rPr lang="en-US" sz="2800" b="1" i="1" smtClean="0">
                            <a:solidFill>
                              <a:srgbClr val="0000CC"/>
                            </a:solidFill>
                            <a:latin typeface="Cambria Math" panose="02040503050406030204" pitchFamily="18" charset="0"/>
                          </a:rPr>
                          <m:t>𝑻</m:t>
                        </m:r>
                      </m:den>
                    </m:f>
                    <m:nary>
                      <m:naryPr>
                        <m:limLoc m:val="undOvr"/>
                        <m:ctrlPr>
                          <a:rPr lang="en-US" sz="2800" b="1" i="1" smtClean="0">
                            <a:solidFill>
                              <a:srgbClr val="0000CC"/>
                            </a:solidFill>
                            <a:latin typeface="Cambria Math" panose="02040503050406030204" pitchFamily="18" charset="0"/>
                          </a:rPr>
                        </m:ctrlPr>
                      </m:naryPr>
                      <m:sub>
                        <m:f>
                          <m:fPr>
                            <m:type m:val="lin"/>
                            <m:ctrlPr>
                              <a:rPr lang="en-US" sz="2800" b="1" i="1" smtClean="0">
                                <a:solidFill>
                                  <a:srgbClr val="0000CC"/>
                                </a:solidFill>
                                <a:latin typeface="Cambria Math" panose="02040503050406030204" pitchFamily="18" charset="0"/>
                              </a:rPr>
                            </m:ctrlPr>
                          </m:fPr>
                          <m:num>
                            <m:r>
                              <a:rPr lang="en-US" sz="2800" b="1" i="1" smtClean="0">
                                <a:solidFill>
                                  <a:srgbClr val="0000CC"/>
                                </a:solidFill>
                                <a:latin typeface="Cambria Math" panose="02040503050406030204" pitchFamily="18" charset="0"/>
                                <a:ea typeface="Cambria Math" panose="02040503050406030204" pitchFamily="18" charset="0"/>
                              </a:rPr>
                              <m:t>−</m:t>
                            </m:r>
                            <m:r>
                              <a:rPr lang="en-US" sz="2800" b="1" i="1" smtClean="0">
                                <a:solidFill>
                                  <a:srgbClr val="0000CC"/>
                                </a:solidFill>
                                <a:latin typeface="Cambria Math" panose="02040503050406030204" pitchFamily="18" charset="0"/>
                                <a:ea typeface="Cambria Math" panose="02040503050406030204" pitchFamily="18" charset="0"/>
                              </a:rPr>
                              <m:t>𝑻</m:t>
                            </m:r>
                          </m:num>
                          <m:den>
                            <m:r>
                              <a:rPr lang="en-US" sz="2800" b="1" i="1" smtClean="0">
                                <a:solidFill>
                                  <a:srgbClr val="0000CC"/>
                                </a:solidFill>
                                <a:latin typeface="Cambria Math" panose="02040503050406030204" pitchFamily="18" charset="0"/>
                              </a:rPr>
                              <m:t>𝟐</m:t>
                            </m:r>
                          </m:den>
                        </m:f>
                      </m:sub>
                      <m:sup>
                        <m:f>
                          <m:fPr>
                            <m:type m:val="lin"/>
                            <m:ctrlPr>
                              <a:rPr lang="en-US" sz="2800" b="1" i="1" smtClean="0">
                                <a:solidFill>
                                  <a:srgbClr val="0000CC"/>
                                </a:solidFill>
                                <a:latin typeface="Cambria Math" panose="02040503050406030204" pitchFamily="18" charset="0"/>
                              </a:rPr>
                            </m:ctrlPr>
                          </m:fPr>
                          <m:num>
                            <m:r>
                              <a:rPr lang="en-US" sz="2800" b="1" i="1" smtClean="0">
                                <a:solidFill>
                                  <a:srgbClr val="0000CC"/>
                                </a:solidFill>
                                <a:latin typeface="Cambria Math" panose="02040503050406030204" pitchFamily="18" charset="0"/>
                              </a:rPr>
                              <m:t>𝑻</m:t>
                            </m:r>
                          </m:num>
                          <m:den>
                            <m:r>
                              <a:rPr lang="en-US" sz="2800" b="1" i="1" smtClean="0">
                                <a:solidFill>
                                  <a:srgbClr val="0000CC"/>
                                </a:solidFill>
                                <a:latin typeface="Cambria Math" panose="02040503050406030204" pitchFamily="18" charset="0"/>
                              </a:rPr>
                              <m:t>𝟐</m:t>
                            </m:r>
                          </m:den>
                        </m:f>
                      </m:sup>
                      <m:e>
                        <m:r>
                          <a:rPr lang="en-US" sz="2800" b="1" i="1" smtClean="0">
                            <a:solidFill>
                              <a:srgbClr val="0000CC"/>
                            </a:solidFill>
                            <a:latin typeface="Cambria Math" panose="02040503050406030204" pitchFamily="18" charset="0"/>
                          </a:rPr>
                          <m:t>𝒇</m:t>
                        </m:r>
                        <m:r>
                          <a:rPr lang="en-US" sz="2800" b="1" i="1" smtClean="0">
                            <a:solidFill>
                              <a:srgbClr val="0000CC"/>
                            </a:solidFill>
                            <a:latin typeface="Cambria Math" panose="02040503050406030204" pitchFamily="18" charset="0"/>
                          </a:rPr>
                          <m:t>(</m:t>
                        </m:r>
                        <m:r>
                          <a:rPr lang="en-US" sz="2800" b="1" i="1" smtClean="0">
                            <a:solidFill>
                              <a:srgbClr val="0000CC"/>
                            </a:solidFill>
                            <a:latin typeface="Cambria Math" panose="02040503050406030204" pitchFamily="18" charset="0"/>
                          </a:rPr>
                          <m:t>𝒕</m:t>
                        </m:r>
                        <m:r>
                          <a:rPr lang="en-US" sz="2800" b="1" i="1" smtClean="0">
                            <a:solidFill>
                              <a:srgbClr val="0000CC"/>
                            </a:solidFill>
                            <a:latin typeface="Cambria Math" panose="02040503050406030204" pitchFamily="18" charset="0"/>
                          </a:rPr>
                          <m:t>)</m:t>
                        </m:r>
                        <m:func>
                          <m:funcPr>
                            <m:ctrlPr>
                              <a:rPr lang="en-US" sz="2800" b="1" i="1" smtClean="0">
                                <a:solidFill>
                                  <a:srgbClr val="0000CC"/>
                                </a:solidFill>
                                <a:latin typeface="Cambria Math" panose="02040503050406030204" pitchFamily="18" charset="0"/>
                              </a:rPr>
                            </m:ctrlPr>
                          </m:funcPr>
                          <m:fName>
                            <m:r>
                              <a:rPr lang="en-US" sz="2800" b="1" i="0" smtClean="0">
                                <a:solidFill>
                                  <a:srgbClr val="0000CC"/>
                                </a:solidFill>
                                <a:latin typeface="Cambria Math" panose="02040503050406030204" pitchFamily="18" charset="0"/>
                              </a:rPr>
                              <m:t>𝐬𝐢𝐧</m:t>
                            </m:r>
                          </m:fName>
                          <m:e>
                            <m:d>
                              <m:dPr>
                                <m:ctrlPr>
                                  <a:rPr lang="en-US" sz="2800" b="1" i="1" smtClean="0">
                                    <a:solidFill>
                                      <a:srgbClr val="0000CC"/>
                                    </a:solidFill>
                                    <a:latin typeface="Cambria Math" panose="02040503050406030204" pitchFamily="18" charset="0"/>
                                  </a:rPr>
                                </m:ctrlPr>
                              </m:dPr>
                              <m:e>
                                <m:r>
                                  <a:rPr lang="en-US" sz="2800" b="1" i="1" smtClean="0">
                                    <a:solidFill>
                                      <a:srgbClr val="0000CC"/>
                                    </a:solidFill>
                                    <a:latin typeface="Cambria Math" panose="02040503050406030204" pitchFamily="18" charset="0"/>
                                  </a:rPr>
                                  <m:t>𝒏</m:t>
                                </m:r>
                                <m:sSub>
                                  <m:sSubPr>
                                    <m:ctrlPr>
                                      <a:rPr lang="en-US" sz="2800" b="1" i="1" smtClean="0">
                                        <a:solidFill>
                                          <a:srgbClr val="0000CC"/>
                                        </a:solidFill>
                                        <a:latin typeface="Cambria Math" panose="02040503050406030204" pitchFamily="18" charset="0"/>
                                      </a:rPr>
                                    </m:ctrlPr>
                                  </m:sSubPr>
                                  <m:e>
                                    <m:r>
                                      <a:rPr lang="en-US" sz="2800" b="1" i="1" smtClean="0">
                                        <a:solidFill>
                                          <a:srgbClr val="0000CC"/>
                                        </a:solidFill>
                                        <a:latin typeface="Cambria Math" panose="02040503050406030204" pitchFamily="18" charset="0"/>
                                        <a:ea typeface="Cambria Math" panose="02040503050406030204" pitchFamily="18" charset="0"/>
                                      </a:rPr>
                                      <m:t>𝝎</m:t>
                                    </m:r>
                                  </m:e>
                                  <m:sub>
                                    <m:r>
                                      <a:rPr lang="en-US" sz="2800" b="1" i="1" smtClean="0">
                                        <a:solidFill>
                                          <a:srgbClr val="0000CC"/>
                                        </a:solidFill>
                                        <a:latin typeface="Cambria Math" panose="02040503050406030204" pitchFamily="18" charset="0"/>
                                      </a:rPr>
                                      <m:t>𝟎</m:t>
                                    </m:r>
                                  </m:sub>
                                </m:sSub>
                                <m:r>
                                  <a:rPr lang="en-US" sz="2800" b="1" i="1" smtClean="0">
                                    <a:solidFill>
                                      <a:srgbClr val="0000CC"/>
                                    </a:solidFill>
                                    <a:latin typeface="Cambria Math" panose="02040503050406030204" pitchFamily="18" charset="0"/>
                                  </a:rPr>
                                  <m:t>𝒕</m:t>
                                </m:r>
                              </m:e>
                            </m:d>
                          </m:e>
                        </m:func>
                        <m:r>
                          <a:rPr lang="en-US" sz="2800" b="1" i="1" smtClean="0">
                            <a:solidFill>
                              <a:srgbClr val="0000CC"/>
                            </a:solidFill>
                            <a:latin typeface="Cambria Math" panose="02040503050406030204" pitchFamily="18" charset="0"/>
                          </a:rPr>
                          <m:t>𝒅𝒕</m:t>
                        </m:r>
                      </m:e>
                    </m:nary>
                  </m:oMath>
                </a14:m>
                <a:endParaRPr lang="en-US" sz="2800" b="1" dirty="0"/>
              </a:p>
            </p:txBody>
          </p:sp>
        </mc:Choice>
        <mc:Fallback xmlns="">
          <p:sp>
            <p:nvSpPr>
              <p:cNvPr id="11" name="TextBox 10">
                <a:extLst>
                  <a:ext uri="{FF2B5EF4-FFF2-40B4-BE49-F238E27FC236}">
                    <a16:creationId xmlns:a16="http://schemas.microsoft.com/office/drawing/2014/main" id="{86ABA93E-B058-4EB0-8AC1-76DA5B472841}"/>
                  </a:ext>
                </a:extLst>
              </p:cNvPr>
              <p:cNvSpPr txBox="1">
                <a:spLocks noRot="1" noChangeAspect="1" noMove="1" noResize="1" noEditPoints="1" noAdjustHandles="1" noChangeArrowheads="1" noChangeShapeType="1" noTextEdit="1"/>
              </p:cNvSpPr>
              <p:nvPr/>
            </p:nvSpPr>
            <p:spPr>
              <a:xfrm>
                <a:off x="1249680" y="2560320"/>
                <a:ext cx="8468252" cy="747256"/>
              </a:xfrm>
              <a:prstGeom prst="rect">
                <a:avLst/>
              </a:prstGeom>
              <a:blipFill>
                <a:blip r:embed="rId4"/>
                <a:stretch>
                  <a:fillRect b="-894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024414DF-C9E7-4439-A7B7-32162ADF2155}"/>
                  </a:ext>
                </a:extLst>
              </p:cNvPr>
              <p:cNvSpPr txBox="1"/>
              <p:nvPr/>
            </p:nvSpPr>
            <p:spPr>
              <a:xfrm>
                <a:off x="904239" y="4847602"/>
                <a:ext cx="8726143" cy="523220"/>
              </a:xfrm>
              <a:prstGeom prst="rect">
                <a:avLst/>
              </a:prstGeom>
              <a:solidFill>
                <a:srgbClr val="00FFFF"/>
              </a:solidFill>
            </p:spPr>
            <p:txBody>
              <a:bodyPr wrap="square" rtlCol="0">
                <a:spAutoFit/>
              </a:bodyPr>
              <a:lstStyle/>
              <a:p>
                <a14:m>
                  <m:oMath xmlns:m="http://schemas.openxmlformats.org/officeDocument/2006/math">
                    <m:r>
                      <a:rPr lang="en-US" sz="2800" b="1" i="1" smtClean="0">
                        <a:solidFill>
                          <a:srgbClr val="0000CC"/>
                        </a:solidFill>
                        <a:latin typeface="Cambria Math" panose="02040503050406030204" pitchFamily="18" charset="0"/>
                      </a:rPr>
                      <m:t>𝒇</m:t>
                    </m:r>
                    <m:r>
                      <a:rPr lang="en-US" sz="2800" b="1" i="1" smtClean="0">
                        <a:solidFill>
                          <a:srgbClr val="0000CC"/>
                        </a:solidFill>
                        <a:latin typeface="Cambria Math" panose="02040503050406030204" pitchFamily="18" charset="0"/>
                      </a:rPr>
                      <m:t>(</m:t>
                    </m:r>
                    <m:r>
                      <a:rPr lang="en-US" sz="2800" b="1" i="1" smtClean="0">
                        <a:solidFill>
                          <a:srgbClr val="0000CC"/>
                        </a:solidFill>
                        <a:latin typeface="Cambria Math" panose="02040503050406030204" pitchFamily="18" charset="0"/>
                      </a:rPr>
                      <m:t>𝒕</m:t>
                    </m:r>
                    <m:r>
                      <a:rPr lang="en-US" sz="2800" b="1" i="1" smtClean="0">
                        <a:solidFill>
                          <a:srgbClr val="0000CC"/>
                        </a:solidFill>
                        <a:latin typeface="Cambria Math" panose="02040503050406030204" pitchFamily="18" charset="0"/>
                      </a:rPr>
                      <m:t>)</m:t>
                    </m:r>
                  </m:oMath>
                </a14:m>
                <a:r>
                  <a:rPr lang="en-US" sz="2800" b="1" dirty="0">
                    <a:solidFill>
                      <a:srgbClr val="0000CC"/>
                    </a:solidFill>
                  </a:rPr>
                  <a:t> = </a:t>
                </a:r>
                <a14:m>
                  <m:oMath xmlns:m="http://schemas.openxmlformats.org/officeDocument/2006/math">
                    <m:sSub>
                      <m:sSubPr>
                        <m:ctrlPr>
                          <a:rPr lang="en-US" sz="2800" b="1" i="1" smtClean="0">
                            <a:solidFill>
                              <a:srgbClr val="0000CC"/>
                            </a:solidFill>
                            <a:latin typeface="Cambria Math" panose="02040503050406030204" pitchFamily="18" charset="0"/>
                          </a:rPr>
                        </m:ctrlPr>
                      </m:sSubPr>
                      <m:e>
                        <m:r>
                          <a:rPr lang="en-US" sz="2800" b="1" i="1" smtClean="0">
                            <a:solidFill>
                              <a:srgbClr val="0000CC"/>
                            </a:solidFill>
                            <a:latin typeface="Cambria Math" panose="02040503050406030204" pitchFamily="18" charset="0"/>
                          </a:rPr>
                          <m:t>𝒂</m:t>
                        </m:r>
                      </m:e>
                      <m:sub>
                        <m:r>
                          <a:rPr lang="en-US" sz="2800" b="1" i="1" smtClean="0">
                            <a:solidFill>
                              <a:srgbClr val="0000CC"/>
                            </a:solidFill>
                            <a:latin typeface="Cambria Math" panose="02040503050406030204" pitchFamily="18" charset="0"/>
                          </a:rPr>
                          <m:t>𝟎</m:t>
                        </m:r>
                      </m:sub>
                    </m:sSub>
                  </m:oMath>
                </a14:m>
                <a:r>
                  <a:rPr lang="en-US" sz="2800" b="1" dirty="0">
                    <a:solidFill>
                      <a:srgbClr val="0000CC"/>
                    </a:solidFill>
                  </a:rPr>
                  <a:t> </a:t>
                </a:r>
                <a14:m>
                  <m:oMath xmlns:m="http://schemas.openxmlformats.org/officeDocument/2006/math">
                    <m:r>
                      <a:rPr lang="en-US" sz="2800" b="1" i="1" dirty="0" smtClean="0">
                        <a:solidFill>
                          <a:srgbClr val="0000CC"/>
                        </a:solidFill>
                        <a:latin typeface="Cambria Math" panose="02040503050406030204" pitchFamily="18" charset="0"/>
                        <a:ea typeface="Cambria Math" panose="02040503050406030204" pitchFamily="18" charset="0"/>
                      </a:rPr>
                      <m:t>+</m:t>
                    </m:r>
                  </m:oMath>
                </a14:m>
                <a:r>
                  <a:rPr lang="en-US" sz="2800" b="1" dirty="0">
                    <a:solidFill>
                      <a:srgbClr val="0000CC"/>
                    </a:solidFill>
                  </a:rPr>
                  <a:t> </a:t>
                </a:r>
                <a14:m>
                  <m:oMath xmlns:m="http://schemas.openxmlformats.org/officeDocument/2006/math">
                    <m:nary>
                      <m:naryPr>
                        <m:chr m:val="∑"/>
                        <m:ctrlPr>
                          <a:rPr lang="en-US" sz="2800" b="1" i="1" dirty="0" smtClean="0">
                            <a:solidFill>
                              <a:srgbClr val="0000CC"/>
                            </a:solidFill>
                            <a:latin typeface="Cambria Math" panose="02040503050406030204" pitchFamily="18" charset="0"/>
                          </a:rPr>
                        </m:ctrlPr>
                      </m:naryPr>
                      <m:sub>
                        <m:r>
                          <m:rPr>
                            <m:brk m:alnAt="23"/>
                          </m:rPr>
                          <a:rPr lang="en-US" sz="2800" b="1" i="1" dirty="0" smtClean="0">
                            <a:solidFill>
                              <a:srgbClr val="0000CC"/>
                            </a:solidFill>
                            <a:latin typeface="Cambria Math" panose="02040503050406030204" pitchFamily="18" charset="0"/>
                          </a:rPr>
                          <m:t>𝒏</m:t>
                        </m:r>
                        <m:r>
                          <a:rPr lang="en-US" sz="2800" b="1" i="1" dirty="0" smtClean="0">
                            <a:solidFill>
                              <a:srgbClr val="0000CC"/>
                            </a:solidFill>
                            <a:latin typeface="Cambria Math" panose="02040503050406030204" pitchFamily="18" charset="0"/>
                          </a:rPr>
                          <m:t>=</m:t>
                        </m:r>
                        <m:r>
                          <a:rPr lang="en-US" sz="2800" b="1" i="1" dirty="0" smtClean="0">
                            <a:solidFill>
                              <a:srgbClr val="0000CC"/>
                            </a:solidFill>
                            <a:latin typeface="Cambria Math" panose="02040503050406030204" pitchFamily="18" charset="0"/>
                          </a:rPr>
                          <m:t>𝟏</m:t>
                        </m:r>
                      </m:sub>
                      <m:sup>
                        <m:r>
                          <a:rPr lang="en-US" sz="2800" b="1" i="1" dirty="0">
                            <a:solidFill>
                              <a:srgbClr val="0000CC"/>
                            </a:solidFill>
                            <a:latin typeface="Cambria Math" panose="02040503050406030204" pitchFamily="18" charset="0"/>
                            <a:ea typeface="Cambria Math" panose="02040503050406030204" pitchFamily="18" charset="0"/>
                          </a:rPr>
                          <m:t>∞</m:t>
                        </m:r>
                      </m:sup>
                      <m:e>
                        <m:sSub>
                          <m:sSubPr>
                            <m:ctrlPr>
                              <a:rPr lang="en-US" sz="2800" b="1" i="1" dirty="0" smtClean="0">
                                <a:solidFill>
                                  <a:srgbClr val="0000CC"/>
                                </a:solidFill>
                                <a:latin typeface="Cambria Math" panose="02040503050406030204" pitchFamily="18" charset="0"/>
                              </a:rPr>
                            </m:ctrlPr>
                          </m:sSubPr>
                          <m:e>
                            <m:r>
                              <a:rPr lang="en-US" sz="2800" b="1" i="1" dirty="0" smtClean="0">
                                <a:solidFill>
                                  <a:srgbClr val="0000CC"/>
                                </a:solidFill>
                                <a:latin typeface="Cambria Math" panose="02040503050406030204" pitchFamily="18" charset="0"/>
                              </a:rPr>
                              <m:t>𝑪</m:t>
                            </m:r>
                          </m:e>
                          <m:sub>
                            <m:r>
                              <a:rPr lang="en-US" sz="2800" b="1" i="1" dirty="0" smtClean="0">
                                <a:solidFill>
                                  <a:srgbClr val="0000CC"/>
                                </a:solidFill>
                                <a:latin typeface="Cambria Math" panose="02040503050406030204" pitchFamily="18" charset="0"/>
                              </a:rPr>
                              <m:t>𝒏</m:t>
                            </m:r>
                          </m:sub>
                        </m:sSub>
                      </m:e>
                    </m:nary>
                    <m:func>
                      <m:funcPr>
                        <m:ctrlPr>
                          <a:rPr lang="en-US" sz="2800" b="1" i="1" dirty="0" smtClean="0">
                            <a:solidFill>
                              <a:srgbClr val="0000CC"/>
                            </a:solidFill>
                            <a:latin typeface="Cambria Math" panose="02040503050406030204" pitchFamily="18" charset="0"/>
                          </a:rPr>
                        </m:ctrlPr>
                      </m:funcPr>
                      <m:fName>
                        <m:r>
                          <a:rPr lang="en-US" sz="2800" b="1" i="0" dirty="0" smtClean="0">
                            <a:solidFill>
                              <a:srgbClr val="0000CC"/>
                            </a:solidFill>
                            <a:latin typeface="Cambria Math" panose="02040503050406030204" pitchFamily="18" charset="0"/>
                          </a:rPr>
                          <m:t>𝐜𝐨𝐬</m:t>
                        </m:r>
                      </m:fName>
                      <m:e>
                        <m:d>
                          <m:dPr>
                            <m:ctrlPr>
                              <a:rPr lang="en-US" sz="2800" b="1" i="1" dirty="0" smtClean="0">
                                <a:solidFill>
                                  <a:srgbClr val="0000CC"/>
                                </a:solidFill>
                                <a:latin typeface="Cambria Math" panose="02040503050406030204" pitchFamily="18" charset="0"/>
                              </a:rPr>
                            </m:ctrlPr>
                          </m:dPr>
                          <m:e>
                            <m:r>
                              <a:rPr lang="en-US" sz="2800" b="1" i="1" dirty="0" smtClean="0">
                                <a:solidFill>
                                  <a:srgbClr val="0000CC"/>
                                </a:solidFill>
                                <a:latin typeface="Cambria Math" panose="02040503050406030204" pitchFamily="18" charset="0"/>
                              </a:rPr>
                              <m:t>𝒏</m:t>
                            </m:r>
                            <m:sSub>
                              <m:sSubPr>
                                <m:ctrlPr>
                                  <a:rPr lang="en-US" sz="2800" b="1" i="1" dirty="0" smtClean="0">
                                    <a:solidFill>
                                      <a:srgbClr val="0000CC"/>
                                    </a:solidFill>
                                    <a:latin typeface="Cambria Math" panose="02040503050406030204" pitchFamily="18" charset="0"/>
                                  </a:rPr>
                                </m:ctrlPr>
                              </m:sSubPr>
                              <m:e>
                                <m:r>
                                  <a:rPr lang="en-US" sz="2800" b="1" i="1" dirty="0" smtClean="0">
                                    <a:solidFill>
                                      <a:srgbClr val="0000CC"/>
                                    </a:solidFill>
                                    <a:latin typeface="Cambria Math" panose="02040503050406030204" pitchFamily="18" charset="0"/>
                                    <a:ea typeface="Cambria Math" panose="02040503050406030204" pitchFamily="18" charset="0"/>
                                  </a:rPr>
                                  <m:t>𝝎</m:t>
                                </m:r>
                              </m:e>
                              <m:sub>
                                <m:r>
                                  <a:rPr lang="en-US" sz="2800" b="1" i="1" dirty="0" smtClean="0">
                                    <a:solidFill>
                                      <a:srgbClr val="0000CC"/>
                                    </a:solidFill>
                                    <a:latin typeface="Cambria Math" panose="02040503050406030204" pitchFamily="18" charset="0"/>
                                  </a:rPr>
                                  <m:t>𝟎</m:t>
                                </m:r>
                              </m:sub>
                            </m:sSub>
                            <m:r>
                              <a:rPr lang="en-US" sz="2800" b="1" i="1" dirty="0" smtClean="0">
                                <a:solidFill>
                                  <a:srgbClr val="0000CC"/>
                                </a:solidFill>
                                <a:latin typeface="Cambria Math" panose="02040503050406030204" pitchFamily="18" charset="0"/>
                              </a:rPr>
                              <m:t>𝒕</m:t>
                            </m:r>
                            <m:r>
                              <a:rPr lang="en-US" sz="2800" b="1" i="1" dirty="0" smtClean="0">
                                <a:solidFill>
                                  <a:srgbClr val="0000CC"/>
                                </a:solidFill>
                                <a:latin typeface="Cambria Math" panose="02040503050406030204" pitchFamily="18" charset="0"/>
                                <a:ea typeface="Cambria Math" panose="02040503050406030204" pitchFamily="18" charset="0"/>
                              </a:rPr>
                              <m:t>+</m:t>
                            </m:r>
                            <m:sSub>
                              <m:sSubPr>
                                <m:ctrlPr>
                                  <a:rPr lang="en-US" sz="2800" b="1" i="1" dirty="0" smtClean="0">
                                    <a:solidFill>
                                      <a:srgbClr val="0000CC"/>
                                    </a:solidFill>
                                    <a:latin typeface="Cambria Math" panose="02040503050406030204" pitchFamily="18" charset="0"/>
                                    <a:ea typeface="Cambria Math" panose="02040503050406030204" pitchFamily="18" charset="0"/>
                                  </a:rPr>
                                </m:ctrlPr>
                              </m:sSubPr>
                              <m:e>
                                <m:r>
                                  <a:rPr lang="en-US" sz="2800" b="1" i="1" dirty="0" smtClean="0">
                                    <a:solidFill>
                                      <a:srgbClr val="0000CC"/>
                                    </a:solidFill>
                                    <a:latin typeface="Cambria Math" panose="02040503050406030204" pitchFamily="18" charset="0"/>
                                    <a:ea typeface="Cambria Math" panose="02040503050406030204" pitchFamily="18" charset="0"/>
                                  </a:rPr>
                                  <m:t>𝜽</m:t>
                                </m:r>
                              </m:e>
                              <m:sub>
                                <m:r>
                                  <a:rPr lang="en-US" sz="2800" b="1" i="1" dirty="0" smtClean="0">
                                    <a:solidFill>
                                      <a:srgbClr val="0000CC"/>
                                    </a:solidFill>
                                    <a:latin typeface="Cambria Math" panose="02040503050406030204" pitchFamily="18" charset="0"/>
                                    <a:ea typeface="Cambria Math" panose="02040503050406030204" pitchFamily="18" charset="0"/>
                                  </a:rPr>
                                  <m:t>𝒏</m:t>
                                </m:r>
                              </m:sub>
                            </m:sSub>
                          </m:e>
                        </m:d>
                      </m:e>
                    </m:func>
                  </m:oMath>
                </a14:m>
                <a:endParaRPr lang="en-US" sz="2800" b="1" dirty="0"/>
              </a:p>
            </p:txBody>
          </p:sp>
        </mc:Choice>
        <mc:Fallback xmlns="">
          <p:sp>
            <p:nvSpPr>
              <p:cNvPr id="12" name="TextBox 11">
                <a:extLst>
                  <a:ext uri="{FF2B5EF4-FFF2-40B4-BE49-F238E27FC236}">
                    <a16:creationId xmlns:a16="http://schemas.microsoft.com/office/drawing/2014/main" id="{024414DF-C9E7-4439-A7B7-32162ADF2155}"/>
                  </a:ext>
                </a:extLst>
              </p:cNvPr>
              <p:cNvSpPr txBox="1">
                <a:spLocks noRot="1" noChangeAspect="1" noMove="1" noResize="1" noEditPoints="1" noAdjustHandles="1" noChangeArrowheads="1" noChangeShapeType="1" noTextEdit="1"/>
              </p:cNvSpPr>
              <p:nvPr/>
            </p:nvSpPr>
            <p:spPr>
              <a:xfrm>
                <a:off x="904239" y="4847602"/>
                <a:ext cx="8726143" cy="523220"/>
              </a:xfrm>
              <a:prstGeom prst="rect">
                <a:avLst/>
              </a:prstGeom>
              <a:blipFill>
                <a:blip r:embed="rId5"/>
                <a:stretch>
                  <a:fillRect t="-10465" b="-3255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B5BE01E8-3BEC-4AC2-B875-58CC0784A836}"/>
                  </a:ext>
                </a:extLst>
              </p:cNvPr>
              <p:cNvSpPr txBox="1"/>
              <p:nvPr/>
            </p:nvSpPr>
            <p:spPr>
              <a:xfrm>
                <a:off x="2143759" y="6037275"/>
                <a:ext cx="8157831" cy="583173"/>
              </a:xfrm>
              <a:prstGeom prst="rect">
                <a:avLst/>
              </a:prstGeom>
              <a:solidFill>
                <a:srgbClr val="00FFFF"/>
              </a:solidFill>
            </p:spPr>
            <p:txBody>
              <a:bodyPr wrap="square" rtlCol="0">
                <a:spAutoFit/>
              </a:bodyPr>
              <a:lstStyle/>
              <a:p>
                <a14:m>
                  <m:oMath xmlns:m="http://schemas.openxmlformats.org/officeDocument/2006/math">
                    <m:sSub>
                      <m:sSubPr>
                        <m:ctrlPr>
                          <a:rPr lang="en-US" sz="2000" b="1" i="1" smtClean="0">
                            <a:solidFill>
                              <a:srgbClr val="0000CC"/>
                            </a:solidFill>
                            <a:latin typeface="Cambria Math" panose="02040503050406030204" pitchFamily="18" charset="0"/>
                          </a:rPr>
                        </m:ctrlPr>
                      </m:sSubPr>
                      <m:e>
                        <m:r>
                          <a:rPr lang="en-US" sz="2000" b="1" i="1" smtClean="0">
                            <a:solidFill>
                              <a:srgbClr val="0000CC"/>
                            </a:solidFill>
                            <a:latin typeface="Cambria Math" panose="02040503050406030204" pitchFamily="18" charset="0"/>
                          </a:rPr>
                          <m:t>𝑪</m:t>
                        </m:r>
                      </m:e>
                      <m:sub>
                        <m:r>
                          <a:rPr lang="en-US" sz="2000" b="1" i="1" smtClean="0">
                            <a:solidFill>
                              <a:srgbClr val="0000CC"/>
                            </a:solidFill>
                            <a:latin typeface="Cambria Math" panose="02040503050406030204" pitchFamily="18" charset="0"/>
                          </a:rPr>
                          <m:t>𝒏</m:t>
                        </m:r>
                      </m:sub>
                    </m:sSub>
                  </m:oMath>
                </a14:m>
                <a:r>
                  <a:rPr lang="en-US" sz="2000" b="1" dirty="0">
                    <a:solidFill>
                      <a:srgbClr val="0000CC"/>
                    </a:solidFill>
                  </a:rPr>
                  <a:t> = </a:t>
                </a:r>
                <a14:m>
                  <m:oMath xmlns:m="http://schemas.openxmlformats.org/officeDocument/2006/math">
                    <m:rad>
                      <m:radPr>
                        <m:degHide m:val="on"/>
                        <m:ctrlPr>
                          <a:rPr lang="en-US" sz="2000" b="1" i="1" smtClean="0">
                            <a:solidFill>
                              <a:srgbClr val="0000CC"/>
                            </a:solidFill>
                            <a:latin typeface="Cambria Math" panose="02040503050406030204" pitchFamily="18" charset="0"/>
                          </a:rPr>
                        </m:ctrlPr>
                      </m:radPr>
                      <m:deg/>
                      <m:e>
                        <m:sSubSup>
                          <m:sSubSupPr>
                            <m:ctrlPr>
                              <a:rPr lang="en-US" sz="2000" b="1" i="1" smtClean="0">
                                <a:solidFill>
                                  <a:srgbClr val="0000CC"/>
                                </a:solidFill>
                                <a:latin typeface="Cambria Math" panose="02040503050406030204" pitchFamily="18" charset="0"/>
                              </a:rPr>
                            </m:ctrlPr>
                          </m:sSubSupPr>
                          <m:e>
                            <m:r>
                              <a:rPr lang="en-US" sz="2000" b="1" i="1" smtClean="0">
                                <a:solidFill>
                                  <a:srgbClr val="0000CC"/>
                                </a:solidFill>
                                <a:latin typeface="Cambria Math" panose="02040503050406030204" pitchFamily="18" charset="0"/>
                              </a:rPr>
                              <m:t>𝒂</m:t>
                            </m:r>
                          </m:e>
                          <m:sub>
                            <m:r>
                              <a:rPr lang="en-US" sz="2000" b="1" i="1" smtClean="0">
                                <a:solidFill>
                                  <a:srgbClr val="0000CC"/>
                                </a:solidFill>
                                <a:latin typeface="Cambria Math" panose="02040503050406030204" pitchFamily="18" charset="0"/>
                              </a:rPr>
                              <m:t>𝒏</m:t>
                            </m:r>
                          </m:sub>
                          <m:sup>
                            <m:r>
                              <a:rPr lang="en-US" sz="2000" b="1" i="1" smtClean="0">
                                <a:solidFill>
                                  <a:srgbClr val="0000CC"/>
                                </a:solidFill>
                                <a:latin typeface="Cambria Math" panose="02040503050406030204" pitchFamily="18" charset="0"/>
                              </a:rPr>
                              <m:t>𝟐</m:t>
                            </m:r>
                          </m:sup>
                        </m:sSubSup>
                        <m:r>
                          <a:rPr lang="en-US" sz="2000" b="1" i="1" smtClean="0">
                            <a:solidFill>
                              <a:srgbClr val="0000CC"/>
                            </a:solidFill>
                            <a:latin typeface="Cambria Math" panose="02040503050406030204" pitchFamily="18" charset="0"/>
                            <a:ea typeface="Cambria Math" panose="02040503050406030204" pitchFamily="18" charset="0"/>
                          </a:rPr>
                          <m:t>+</m:t>
                        </m:r>
                        <m:sSubSup>
                          <m:sSubSupPr>
                            <m:ctrlPr>
                              <a:rPr lang="en-US" sz="2000" b="1" i="1" smtClean="0">
                                <a:solidFill>
                                  <a:srgbClr val="0000CC"/>
                                </a:solidFill>
                                <a:latin typeface="Cambria Math" panose="02040503050406030204" pitchFamily="18" charset="0"/>
                                <a:ea typeface="Cambria Math" panose="02040503050406030204" pitchFamily="18" charset="0"/>
                              </a:rPr>
                            </m:ctrlPr>
                          </m:sSubSupPr>
                          <m:e>
                            <m:r>
                              <a:rPr lang="en-US" sz="2000" b="1" i="1" smtClean="0">
                                <a:solidFill>
                                  <a:srgbClr val="0000CC"/>
                                </a:solidFill>
                                <a:latin typeface="Cambria Math" panose="02040503050406030204" pitchFamily="18" charset="0"/>
                                <a:ea typeface="Cambria Math" panose="02040503050406030204" pitchFamily="18" charset="0"/>
                              </a:rPr>
                              <m:t>𝒃</m:t>
                            </m:r>
                          </m:e>
                          <m:sub>
                            <m:r>
                              <a:rPr lang="en-US" sz="2000" b="1" i="1" smtClean="0">
                                <a:solidFill>
                                  <a:srgbClr val="0000CC"/>
                                </a:solidFill>
                                <a:latin typeface="Cambria Math" panose="02040503050406030204" pitchFamily="18" charset="0"/>
                                <a:ea typeface="Cambria Math" panose="02040503050406030204" pitchFamily="18" charset="0"/>
                              </a:rPr>
                              <m:t>𝒏</m:t>
                            </m:r>
                          </m:sub>
                          <m:sup>
                            <m:r>
                              <a:rPr lang="en-US" sz="2000" b="1" i="1" smtClean="0">
                                <a:solidFill>
                                  <a:srgbClr val="0000CC"/>
                                </a:solidFill>
                                <a:latin typeface="Cambria Math" panose="02040503050406030204" pitchFamily="18" charset="0"/>
                                <a:ea typeface="Cambria Math" panose="02040503050406030204" pitchFamily="18" charset="0"/>
                              </a:rPr>
                              <m:t>𝟐</m:t>
                            </m:r>
                          </m:sup>
                        </m:sSubSup>
                      </m:e>
                    </m:rad>
                  </m:oMath>
                </a14:m>
                <a:r>
                  <a:rPr lang="en-US" sz="2000" b="1" dirty="0">
                    <a:solidFill>
                      <a:srgbClr val="0000CC"/>
                    </a:solidFill>
                  </a:rPr>
                  <a:t>  and  </a:t>
                </a:r>
                <a14:m>
                  <m:oMath xmlns:m="http://schemas.openxmlformats.org/officeDocument/2006/math">
                    <m:sSub>
                      <m:sSubPr>
                        <m:ctrlPr>
                          <a:rPr lang="en-US" sz="2000" b="1" i="1" smtClean="0">
                            <a:solidFill>
                              <a:srgbClr val="0000CC"/>
                            </a:solidFill>
                            <a:latin typeface="Cambria Math" panose="02040503050406030204" pitchFamily="18" charset="0"/>
                          </a:rPr>
                        </m:ctrlPr>
                      </m:sSubPr>
                      <m:e>
                        <m:r>
                          <a:rPr lang="en-US" sz="2000" b="1" i="1" smtClean="0">
                            <a:solidFill>
                              <a:srgbClr val="0000CC"/>
                            </a:solidFill>
                            <a:latin typeface="Cambria Math" panose="02040503050406030204" pitchFamily="18" charset="0"/>
                            <a:ea typeface="Cambria Math" panose="02040503050406030204" pitchFamily="18" charset="0"/>
                          </a:rPr>
                          <m:t>𝜽</m:t>
                        </m:r>
                      </m:e>
                      <m:sub>
                        <m:r>
                          <a:rPr lang="en-US" sz="2000" b="1" i="1" smtClean="0">
                            <a:solidFill>
                              <a:srgbClr val="0000CC"/>
                            </a:solidFill>
                            <a:latin typeface="Cambria Math" panose="02040503050406030204" pitchFamily="18" charset="0"/>
                          </a:rPr>
                          <m:t>𝒏</m:t>
                        </m:r>
                      </m:sub>
                    </m:sSub>
                  </m:oMath>
                </a14:m>
                <a:r>
                  <a:rPr lang="en-US" sz="2000" b="1" dirty="0">
                    <a:solidFill>
                      <a:srgbClr val="0000CC"/>
                    </a:solidFill>
                  </a:rPr>
                  <a:t> = </a:t>
                </a:r>
                <a14:m>
                  <m:oMath xmlns:m="http://schemas.openxmlformats.org/officeDocument/2006/math">
                    <m:sSup>
                      <m:sSupPr>
                        <m:ctrlPr>
                          <a:rPr lang="en-US" sz="2000" b="1" i="1" smtClean="0">
                            <a:solidFill>
                              <a:srgbClr val="0000CC"/>
                            </a:solidFill>
                            <a:latin typeface="Cambria Math" panose="02040503050406030204" pitchFamily="18" charset="0"/>
                          </a:rPr>
                        </m:ctrlPr>
                      </m:sSupPr>
                      <m:e>
                        <m:r>
                          <a:rPr lang="en-US" sz="2000" b="1" i="1" smtClean="0">
                            <a:solidFill>
                              <a:srgbClr val="0000CC"/>
                            </a:solidFill>
                            <a:latin typeface="Cambria Math" panose="02040503050406030204" pitchFamily="18" charset="0"/>
                          </a:rPr>
                          <m:t>𝒕𝒂𝒏</m:t>
                        </m:r>
                      </m:e>
                      <m:sup>
                        <m:r>
                          <a:rPr lang="en-US" sz="2000" b="1" i="1" smtClean="0">
                            <a:solidFill>
                              <a:srgbClr val="0000CC"/>
                            </a:solidFill>
                            <a:latin typeface="Cambria Math" panose="02040503050406030204" pitchFamily="18" charset="0"/>
                          </a:rPr>
                          <m:t>−</m:t>
                        </m:r>
                        <m:r>
                          <a:rPr lang="en-US" sz="2000" b="1" i="1" smtClean="0">
                            <a:solidFill>
                              <a:srgbClr val="0000CC"/>
                            </a:solidFill>
                            <a:latin typeface="Cambria Math" panose="02040503050406030204" pitchFamily="18" charset="0"/>
                          </a:rPr>
                          <m:t>𝟏</m:t>
                        </m:r>
                      </m:sup>
                    </m:sSup>
                    <m:d>
                      <m:dPr>
                        <m:ctrlPr>
                          <a:rPr lang="en-US" sz="2000" b="1" i="1" smtClean="0">
                            <a:solidFill>
                              <a:srgbClr val="0000CC"/>
                            </a:solidFill>
                            <a:latin typeface="Cambria Math" panose="02040503050406030204" pitchFamily="18" charset="0"/>
                          </a:rPr>
                        </m:ctrlPr>
                      </m:dPr>
                      <m:e>
                        <m:f>
                          <m:fPr>
                            <m:ctrlPr>
                              <a:rPr lang="en-US" sz="2000" b="1" i="1" smtClean="0">
                                <a:solidFill>
                                  <a:srgbClr val="0000CC"/>
                                </a:solidFill>
                                <a:latin typeface="Cambria Math" panose="02040503050406030204" pitchFamily="18" charset="0"/>
                              </a:rPr>
                            </m:ctrlPr>
                          </m:fPr>
                          <m:num>
                            <m:sSub>
                              <m:sSubPr>
                                <m:ctrlPr>
                                  <a:rPr lang="en-US" sz="2000" b="1" i="1" smtClean="0">
                                    <a:solidFill>
                                      <a:srgbClr val="0000CC"/>
                                    </a:solidFill>
                                    <a:latin typeface="Cambria Math" panose="02040503050406030204" pitchFamily="18" charset="0"/>
                                  </a:rPr>
                                </m:ctrlPr>
                              </m:sSubPr>
                              <m:e>
                                <m:r>
                                  <a:rPr lang="en-US" sz="2000" b="1" i="1" smtClean="0">
                                    <a:solidFill>
                                      <a:srgbClr val="0000CC"/>
                                    </a:solidFill>
                                    <a:latin typeface="Cambria Math" panose="02040503050406030204" pitchFamily="18" charset="0"/>
                                    <a:ea typeface="Cambria Math" panose="02040503050406030204" pitchFamily="18" charset="0"/>
                                  </a:rPr>
                                  <m:t>−</m:t>
                                </m:r>
                                <m:r>
                                  <a:rPr lang="en-US" sz="2000" b="1" i="1" smtClean="0">
                                    <a:solidFill>
                                      <a:srgbClr val="0000CC"/>
                                    </a:solidFill>
                                    <a:latin typeface="Cambria Math" panose="02040503050406030204" pitchFamily="18" charset="0"/>
                                    <a:ea typeface="Cambria Math" panose="02040503050406030204" pitchFamily="18" charset="0"/>
                                  </a:rPr>
                                  <m:t>𝒃</m:t>
                                </m:r>
                              </m:e>
                              <m:sub>
                                <m:r>
                                  <a:rPr lang="en-US" sz="2000" b="1" i="1" smtClean="0">
                                    <a:solidFill>
                                      <a:srgbClr val="0000CC"/>
                                    </a:solidFill>
                                    <a:latin typeface="Cambria Math" panose="02040503050406030204" pitchFamily="18" charset="0"/>
                                  </a:rPr>
                                  <m:t>𝒏</m:t>
                                </m:r>
                              </m:sub>
                            </m:sSub>
                          </m:num>
                          <m:den>
                            <m:sSub>
                              <m:sSubPr>
                                <m:ctrlPr>
                                  <a:rPr lang="en-US" sz="2000" b="1" i="1" smtClean="0">
                                    <a:solidFill>
                                      <a:srgbClr val="0000CC"/>
                                    </a:solidFill>
                                    <a:latin typeface="Cambria Math" panose="02040503050406030204" pitchFamily="18" charset="0"/>
                                  </a:rPr>
                                </m:ctrlPr>
                              </m:sSubPr>
                              <m:e>
                                <m:r>
                                  <a:rPr lang="en-US" sz="2000" b="1" i="1" smtClean="0">
                                    <a:solidFill>
                                      <a:srgbClr val="0000CC"/>
                                    </a:solidFill>
                                    <a:latin typeface="Cambria Math" panose="02040503050406030204" pitchFamily="18" charset="0"/>
                                  </a:rPr>
                                  <m:t>𝒂</m:t>
                                </m:r>
                              </m:e>
                              <m:sub>
                                <m:r>
                                  <a:rPr lang="en-US" sz="2000" b="1" i="1" smtClean="0">
                                    <a:solidFill>
                                      <a:srgbClr val="0000CC"/>
                                    </a:solidFill>
                                    <a:latin typeface="Cambria Math" panose="02040503050406030204" pitchFamily="18" charset="0"/>
                                  </a:rPr>
                                  <m:t>𝒏</m:t>
                                </m:r>
                              </m:sub>
                            </m:sSub>
                          </m:den>
                        </m:f>
                      </m:e>
                    </m:d>
                  </m:oMath>
                </a14:m>
                <a:endParaRPr lang="en-US" sz="2000" b="1" dirty="0"/>
              </a:p>
            </p:txBody>
          </p:sp>
        </mc:Choice>
        <mc:Fallback xmlns="">
          <p:sp>
            <p:nvSpPr>
              <p:cNvPr id="13" name="TextBox 12">
                <a:extLst>
                  <a:ext uri="{FF2B5EF4-FFF2-40B4-BE49-F238E27FC236}">
                    <a16:creationId xmlns:a16="http://schemas.microsoft.com/office/drawing/2014/main" id="{B5BE01E8-3BEC-4AC2-B875-58CC0784A836}"/>
                  </a:ext>
                </a:extLst>
              </p:cNvPr>
              <p:cNvSpPr txBox="1">
                <a:spLocks noRot="1" noChangeAspect="1" noMove="1" noResize="1" noEditPoints="1" noAdjustHandles="1" noChangeArrowheads="1" noChangeShapeType="1" noTextEdit="1"/>
              </p:cNvSpPr>
              <p:nvPr/>
            </p:nvSpPr>
            <p:spPr>
              <a:xfrm>
                <a:off x="2143759" y="6037275"/>
                <a:ext cx="8157831" cy="583173"/>
              </a:xfrm>
              <a:prstGeom prst="rect">
                <a:avLst/>
              </a:prstGeom>
              <a:blipFill>
                <a:blip r:embed="rId6"/>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325153140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6">
            <a:extLst>
              <a:ext uri="{FF2B5EF4-FFF2-40B4-BE49-F238E27FC236}">
                <a16:creationId xmlns:a16="http://schemas.microsoft.com/office/drawing/2014/main" id="{56080804-F19F-41A7-8595-943961648C5E}"/>
              </a:ext>
            </a:extLst>
          </p:cNvPr>
          <p:cNvSpPr>
            <a:spLocks noGrp="1"/>
          </p:cNvSpPr>
          <p:nvPr>
            <p:ph type="sldNum" sz="quarter" idx="12"/>
          </p:nvPr>
        </p:nvSpPr>
        <p:spPr>
          <a:xfrm>
            <a:off x="8610600" y="6441692"/>
            <a:ext cx="2743200" cy="370027"/>
          </a:xfrm>
        </p:spPr>
        <p:txBody>
          <a:bodyPr/>
          <a:lstStyle/>
          <a:p>
            <a:fld id="{F4801FD5-11B4-DE43-ACA2-E85EEB9A6F9C}" type="slidenum">
              <a:rPr lang="en-US" smtClean="0">
                <a:latin typeface="Garamond" panose="02020404030301010803" pitchFamily="18" charset="0"/>
              </a:rPr>
              <a:t>28</a:t>
            </a:fld>
            <a:endParaRPr lang="en-US">
              <a:latin typeface="Garamond" panose="02020404030301010803" pitchFamily="18" charset="0"/>
            </a:endParaRPr>
          </a:p>
        </p:txBody>
      </p:sp>
      <p:sp>
        <p:nvSpPr>
          <p:cNvPr id="5" name="Title 1">
            <a:extLst>
              <a:ext uri="{FF2B5EF4-FFF2-40B4-BE49-F238E27FC236}">
                <a16:creationId xmlns:a16="http://schemas.microsoft.com/office/drawing/2014/main" id="{4710AE4B-0DB8-4451-B9E4-10BAE11B4D3A}"/>
              </a:ext>
            </a:extLst>
          </p:cNvPr>
          <p:cNvSpPr>
            <a:spLocks noGrp="1"/>
          </p:cNvSpPr>
          <p:nvPr>
            <p:ph type="title"/>
          </p:nvPr>
        </p:nvSpPr>
        <p:spPr>
          <a:xfrm>
            <a:off x="497840" y="113802"/>
            <a:ext cx="10972800" cy="1115558"/>
          </a:xfrm>
        </p:spPr>
        <p:txBody>
          <a:bodyPr>
            <a:noAutofit/>
          </a:bodyPr>
          <a:lstStyle/>
          <a:p>
            <a:pPr algn="ctr"/>
            <a:r>
              <a:rPr lang="en-US" sz="3200" b="1" u="sng" dirty="0">
                <a:solidFill>
                  <a:srgbClr val="FF3386"/>
                </a:solidFill>
                <a:latin typeface="Century Gothic" panose="020B0502020202020204" pitchFamily="34" charset="0"/>
                <a:cs typeface="Helvetica"/>
              </a:rPr>
              <a:t>POWER COMPUTATION FOR NONSINUSOIDAL PERIODIC WAVEFORMS</a:t>
            </a:r>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6BAA1F11-5BEF-4D80-964F-A7332E36BFA0}"/>
                  </a:ext>
                </a:extLst>
              </p:cNvPr>
              <p:cNvSpPr txBox="1"/>
              <p:nvPr/>
            </p:nvSpPr>
            <p:spPr>
              <a:xfrm>
                <a:off x="371193" y="1229360"/>
                <a:ext cx="11442485" cy="5262979"/>
              </a:xfrm>
              <a:prstGeom prst="rect">
                <a:avLst/>
              </a:prstGeom>
              <a:noFill/>
              <a:ln>
                <a:solidFill>
                  <a:srgbClr val="FF0066"/>
                </a:solidFill>
              </a:ln>
            </p:spPr>
            <p:txBody>
              <a:bodyPr wrap="square" rtlCol="0">
                <a:spAutoFit/>
              </a:bodyPr>
              <a:lstStyle/>
              <a:p>
                <a:pPr marL="342900" indent="-342900">
                  <a:buClr>
                    <a:schemeClr val="accent2"/>
                  </a:buClr>
                  <a:buFont typeface="Arial" panose="020B0604020202020204" pitchFamily="34" charset="0"/>
                  <a:buChar char="•"/>
                </a:pPr>
                <a:r>
                  <a:rPr lang="en-GB" sz="2400" b="1" kern="100" dirty="0">
                    <a:solidFill>
                      <a:srgbClr val="0000CC"/>
                    </a:solidFill>
                    <a:latin typeface="Century Gothic" panose="020B0502020202020204" pitchFamily="34" charset="0"/>
                    <a:ea typeface="Calibri" panose="020F0502020204030204" pitchFamily="34" charset="0"/>
                    <a:cs typeface="Times New Roman" panose="02020603050405020304" pitchFamily="18" charset="0"/>
                  </a:rPr>
                  <a:t>Alternatively,</a:t>
                </a:r>
              </a:p>
              <a:p>
                <a:pPr>
                  <a:buClr>
                    <a:schemeClr val="accent2"/>
                  </a:buClr>
                </a:pPr>
                <a:r>
                  <a:rPr lang="en-GB" sz="2400" b="1" kern="100" dirty="0">
                    <a:solidFill>
                      <a:srgbClr val="0000CC"/>
                    </a:solidFill>
                    <a:latin typeface="Century Gothic" panose="020B0502020202020204" pitchFamily="34" charset="0"/>
                    <a:ea typeface="Calibri" panose="020F0502020204030204" pitchFamily="34" charset="0"/>
                    <a:cs typeface="Times New Roman" panose="02020603050405020304" pitchFamily="18" charset="0"/>
                  </a:rPr>
                  <a:t> </a:t>
                </a:r>
                <a:br>
                  <a:rPr lang="en-GB" sz="2400" b="1" kern="100" dirty="0">
                    <a:solidFill>
                      <a:srgbClr val="0000CC"/>
                    </a:solidFill>
                    <a:latin typeface="Century Gothic" panose="020B0502020202020204" pitchFamily="34" charset="0"/>
                    <a:ea typeface="Calibri" panose="020F0502020204030204" pitchFamily="34" charset="0"/>
                    <a:cs typeface="Times New Roman" panose="02020603050405020304" pitchFamily="18" charset="0"/>
                  </a:rPr>
                </a:br>
                <a:r>
                  <a:rPr lang="en-GB" sz="2400" b="1" kern="100" dirty="0">
                    <a:solidFill>
                      <a:srgbClr val="0000CC"/>
                    </a:solidFill>
                    <a:latin typeface="Century Gothic" panose="020B0502020202020204" pitchFamily="34" charset="0"/>
                    <a:ea typeface="Calibri" panose="020F0502020204030204" pitchFamily="34" charset="0"/>
                    <a:cs typeface="Times New Roman" panose="02020603050405020304" pitchFamily="18" charset="0"/>
                  </a:rPr>
                  <a:t> 					</a:t>
                </a:r>
              </a:p>
              <a:p>
                <a:pPr>
                  <a:buClr>
                    <a:schemeClr val="accent2"/>
                  </a:buClr>
                </a:pPr>
                <a:endParaRPr lang="en-GB" sz="2400" b="1" kern="100" dirty="0">
                  <a:solidFill>
                    <a:srgbClr val="0000CC"/>
                  </a:solidFill>
                  <a:latin typeface="Century Gothic" panose="020B0502020202020204" pitchFamily="34" charset="0"/>
                  <a:ea typeface="Calibri" panose="020F0502020204030204" pitchFamily="34" charset="0"/>
                  <a:cs typeface="Times New Roman" panose="02020603050405020304" pitchFamily="18" charset="0"/>
                </a:endParaRPr>
              </a:p>
              <a:p>
                <a:pPr>
                  <a:buClr>
                    <a:schemeClr val="accent2"/>
                  </a:buClr>
                </a:pPr>
                <a:r>
                  <a:rPr lang="en-GB" sz="2400" b="1" kern="100" dirty="0">
                    <a:solidFill>
                      <a:srgbClr val="0000CC"/>
                    </a:solidFill>
                    <a:latin typeface="Century Gothic" panose="020B0502020202020204" pitchFamily="34" charset="0"/>
                    <a:ea typeface="Calibri" panose="020F0502020204030204" pitchFamily="34" charset="0"/>
                    <a:cs typeface="Times New Roman" panose="02020603050405020304" pitchFamily="18" charset="0"/>
                  </a:rPr>
                  <a:t>	</a:t>
                </a:r>
                <a:r>
                  <a:rPr lang="en-GB" sz="2400" b="1" i="1" kern="100" dirty="0">
                    <a:solidFill>
                      <a:srgbClr val="0000CC"/>
                    </a:solidFill>
                    <a:latin typeface="Century Gothic" panose="020B0502020202020204" pitchFamily="34" charset="0"/>
                    <a:ea typeface="Calibri" panose="020F0502020204030204" pitchFamily="34" charset="0"/>
                    <a:cs typeface="Times New Roman" panose="02020603050405020304" pitchFamily="18" charset="0"/>
                  </a:rPr>
                  <a:t>where, </a:t>
                </a:r>
              </a:p>
              <a:p>
                <a:pPr>
                  <a:buClr>
                    <a:schemeClr val="accent2"/>
                  </a:buClr>
                </a:pPr>
                <a:r>
                  <a:rPr lang="en-GB" sz="2400" b="1" i="1" kern="100" dirty="0">
                    <a:solidFill>
                      <a:srgbClr val="0000CC"/>
                    </a:solidFill>
                    <a:latin typeface="Century Gothic" panose="020B0502020202020204" pitchFamily="34" charset="0"/>
                    <a:ea typeface="Calibri" panose="020F0502020204030204" pitchFamily="34" charset="0"/>
                    <a:cs typeface="Times New Roman" panose="02020603050405020304" pitchFamily="18" charset="0"/>
                  </a:rPr>
                  <a:t> 				                      </a:t>
                </a:r>
                <a:r>
                  <a:rPr lang="en-GB" sz="2400" i="1" kern="100" dirty="0">
                    <a:solidFill>
                      <a:srgbClr val="0000CC"/>
                    </a:solidFill>
                    <a:latin typeface="Century Gothic" panose="020B0502020202020204" pitchFamily="34" charset="0"/>
                    <a:ea typeface="Calibri" panose="020F0502020204030204" pitchFamily="34" charset="0"/>
                    <a:cs typeface="Times New Roman" panose="02020603050405020304" pitchFamily="18" charset="0"/>
                  </a:rPr>
                  <a:t>and</a:t>
                </a:r>
                <a:r>
                  <a:rPr lang="en-GB" sz="2400" b="1" i="1" kern="100" dirty="0">
                    <a:solidFill>
                      <a:srgbClr val="0000CC"/>
                    </a:solidFill>
                    <a:latin typeface="Century Gothic" panose="020B0502020202020204" pitchFamily="34" charset="0"/>
                    <a:ea typeface="Calibri" panose="020F0502020204030204" pitchFamily="34" charset="0"/>
                    <a:cs typeface="Times New Roman" panose="02020603050405020304" pitchFamily="18" charset="0"/>
                  </a:rPr>
                  <a:t> </a:t>
                </a:r>
              </a:p>
              <a:p>
                <a:pPr>
                  <a:buClr>
                    <a:schemeClr val="accent2"/>
                  </a:buClr>
                </a:pPr>
                <a:r>
                  <a:rPr lang="en-GB" sz="2400" b="1" kern="100" dirty="0">
                    <a:solidFill>
                      <a:srgbClr val="0000CC"/>
                    </a:solidFill>
                    <a:latin typeface="Century Gothic" panose="020B0502020202020204" pitchFamily="34" charset="0"/>
                    <a:ea typeface="Calibri" panose="020F0502020204030204" pitchFamily="34" charset="0"/>
                    <a:cs typeface="Times New Roman" panose="02020603050405020304" pitchFamily="18" charset="0"/>
                  </a:rPr>
                  <a:t>                                                </a:t>
                </a:r>
                <a:br>
                  <a:rPr lang="en-GB" sz="2400" b="1" kern="100" dirty="0">
                    <a:solidFill>
                      <a:srgbClr val="0000CC"/>
                    </a:solidFill>
                    <a:latin typeface="Century Gothic" panose="020B0502020202020204" pitchFamily="34" charset="0"/>
                    <a:ea typeface="Calibri" panose="020F0502020204030204" pitchFamily="34" charset="0"/>
                    <a:cs typeface="Times New Roman" panose="02020603050405020304" pitchFamily="18" charset="0"/>
                  </a:rPr>
                </a:br>
                <a:endParaRPr lang="en-GB" sz="2400" kern="100" dirty="0">
                  <a:solidFill>
                    <a:srgbClr val="0000CC"/>
                  </a:solidFill>
                  <a:latin typeface="Century Gothic" panose="020B0502020202020204" pitchFamily="34" charset="0"/>
                  <a:ea typeface="Calibri" panose="020F0502020204030204" pitchFamily="34" charset="0"/>
                  <a:cs typeface="Times New Roman" panose="02020603050405020304" pitchFamily="18" charset="0"/>
                </a:endParaRPr>
              </a:p>
              <a:p>
                <a:pPr>
                  <a:buClr>
                    <a:schemeClr val="accent2"/>
                  </a:buClr>
                </a:pPr>
                <a:r>
                  <a:rPr lang="en-GB" sz="2400" kern="100" dirty="0">
                    <a:solidFill>
                      <a:srgbClr val="0000CC"/>
                    </a:solidFill>
                    <a:latin typeface="Century Gothic" panose="020B0502020202020204" pitchFamily="34" charset="0"/>
                    <a:ea typeface="Calibri" panose="020F0502020204030204" pitchFamily="34" charset="0"/>
                    <a:cs typeface="Times New Roman" panose="02020603050405020304" pitchFamily="18" charset="0"/>
                  </a:rPr>
                  <a:t>   </a:t>
                </a:r>
                <a14:m>
                  <m:oMath xmlns:m="http://schemas.openxmlformats.org/officeDocument/2006/math">
                    <m:sSub>
                      <m:sSubPr>
                        <m:ctrlPr>
                          <a:rPr lang="en-GB" sz="2400" b="1" i="1" kern="100" smtClean="0">
                            <a:solidFill>
                              <a:srgbClr val="0000CC"/>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2400" b="1" i="1" kern="100" smtClean="0">
                            <a:solidFill>
                              <a:srgbClr val="0000CC"/>
                            </a:solidFill>
                            <a:latin typeface="Cambria Math" panose="02040503050406030204" pitchFamily="18" charset="0"/>
                            <a:ea typeface="Calibri" panose="020F0502020204030204" pitchFamily="34" charset="0"/>
                            <a:cs typeface="Times New Roman" panose="02020603050405020304" pitchFamily="18" charset="0"/>
                          </a:rPr>
                          <m:t>𝒂</m:t>
                        </m:r>
                      </m:e>
                      <m:sub>
                        <m:r>
                          <a:rPr lang="en-US" sz="2400" b="1" i="1" kern="100" smtClean="0">
                            <a:solidFill>
                              <a:srgbClr val="0000CC"/>
                            </a:solidFill>
                            <a:latin typeface="Cambria Math" panose="02040503050406030204" pitchFamily="18" charset="0"/>
                            <a:ea typeface="Calibri" panose="020F0502020204030204" pitchFamily="34" charset="0"/>
                            <a:cs typeface="Times New Roman" panose="02020603050405020304" pitchFamily="18" charset="0"/>
                          </a:rPr>
                          <m:t>𝟎</m:t>
                        </m:r>
                      </m:sub>
                    </m:sSub>
                  </m:oMath>
                </a14:m>
                <a:r>
                  <a:rPr lang="en-GB" sz="2400" b="1" kern="100" dirty="0">
                    <a:solidFill>
                      <a:srgbClr val="0000CC"/>
                    </a:solidFill>
                    <a:latin typeface="Century Gothic" panose="020B0502020202020204" pitchFamily="34" charset="0"/>
                    <a:ea typeface="Calibri" panose="020F0502020204030204" pitchFamily="34" charset="0"/>
                    <a:cs typeface="Times New Roman" panose="02020603050405020304" pitchFamily="18" charset="0"/>
                  </a:rPr>
                  <a:t> → </a:t>
                </a:r>
                <a:r>
                  <a:rPr lang="en-GB" sz="2400" kern="100" dirty="0">
                    <a:solidFill>
                      <a:srgbClr val="0000CC"/>
                    </a:solidFill>
                    <a:latin typeface="Century Gothic" panose="020B0502020202020204" pitchFamily="34" charset="0"/>
                    <a:ea typeface="Calibri" panose="020F0502020204030204" pitchFamily="34" charset="0"/>
                    <a:cs typeface="Times New Roman" panose="02020603050405020304" pitchFamily="18" charset="0"/>
                  </a:rPr>
                  <a:t>is a constant and also represent dc voltage or current</a:t>
                </a:r>
                <a:br>
                  <a:rPr lang="en-GB" sz="2400" kern="100" dirty="0">
                    <a:solidFill>
                      <a:srgbClr val="0000CC"/>
                    </a:solidFill>
                    <a:latin typeface="Century Gothic" panose="020B0502020202020204" pitchFamily="34" charset="0"/>
                    <a:ea typeface="Calibri" panose="020F0502020204030204" pitchFamily="34" charset="0"/>
                    <a:cs typeface="Times New Roman" panose="02020603050405020304" pitchFamily="18" charset="0"/>
                  </a:rPr>
                </a:br>
                <a:br>
                  <a:rPr lang="en-GB" sz="2400" kern="100" dirty="0">
                    <a:solidFill>
                      <a:srgbClr val="0000CC"/>
                    </a:solidFill>
                    <a:latin typeface="Century Gothic" panose="020B0502020202020204" pitchFamily="34" charset="0"/>
                    <a:ea typeface="Calibri" panose="020F0502020204030204" pitchFamily="34" charset="0"/>
                    <a:cs typeface="Times New Roman" panose="02020603050405020304" pitchFamily="18" charset="0"/>
                  </a:rPr>
                </a:br>
                <a:r>
                  <a:rPr lang="en-GB" sz="2400" kern="100" dirty="0">
                    <a:solidFill>
                      <a:srgbClr val="0000CC"/>
                    </a:solidFill>
                    <a:latin typeface="Century Gothic" panose="020B0502020202020204" pitchFamily="34" charset="0"/>
                    <a:ea typeface="Calibri" panose="020F0502020204030204" pitchFamily="34" charset="0"/>
                    <a:cs typeface="Times New Roman" panose="02020603050405020304" pitchFamily="18" charset="0"/>
                  </a:rPr>
                  <a:t>   </a:t>
                </a:r>
                <a14:m>
                  <m:oMath xmlns:m="http://schemas.openxmlformats.org/officeDocument/2006/math">
                    <m:sSub>
                      <m:sSubPr>
                        <m:ctrlPr>
                          <a:rPr lang="en-GB" sz="2400" b="1" i="1" kern="100" smtClean="0">
                            <a:solidFill>
                              <a:srgbClr val="0000CC"/>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2400" b="1" i="1" kern="100" smtClean="0">
                            <a:solidFill>
                              <a:srgbClr val="0000CC"/>
                            </a:solidFill>
                            <a:latin typeface="Cambria Math" panose="02040503050406030204" pitchFamily="18" charset="0"/>
                            <a:ea typeface="Calibri" panose="020F0502020204030204" pitchFamily="34" charset="0"/>
                            <a:cs typeface="Times New Roman" panose="02020603050405020304" pitchFamily="18" charset="0"/>
                          </a:rPr>
                          <m:t>𝑪</m:t>
                        </m:r>
                      </m:e>
                      <m:sub>
                        <m:r>
                          <a:rPr lang="en-US" sz="2400" b="1" i="1" kern="100" smtClean="0">
                            <a:solidFill>
                              <a:srgbClr val="0000CC"/>
                            </a:solidFill>
                            <a:latin typeface="Cambria Math" panose="02040503050406030204" pitchFamily="18" charset="0"/>
                            <a:ea typeface="Calibri" panose="020F0502020204030204" pitchFamily="34" charset="0"/>
                            <a:cs typeface="Times New Roman" panose="02020603050405020304" pitchFamily="18" charset="0"/>
                          </a:rPr>
                          <m:t>𝟏</m:t>
                        </m:r>
                      </m:sub>
                    </m:sSub>
                  </m:oMath>
                </a14:m>
                <a:r>
                  <a:rPr lang="en-GB" sz="2400" b="1" kern="100" dirty="0">
                    <a:solidFill>
                      <a:srgbClr val="0000CC"/>
                    </a:solidFill>
                    <a:latin typeface="Century Gothic" panose="020B0502020202020204" pitchFamily="34" charset="0"/>
                    <a:ea typeface="Calibri" panose="020F0502020204030204" pitchFamily="34" charset="0"/>
                    <a:cs typeface="Times New Roman" panose="02020603050405020304" pitchFamily="18" charset="0"/>
                  </a:rPr>
                  <a:t>→ </a:t>
                </a:r>
                <a:r>
                  <a:rPr lang="en-GB" sz="2400" kern="100" dirty="0">
                    <a:solidFill>
                      <a:srgbClr val="0000CC"/>
                    </a:solidFill>
                    <a:latin typeface="Century Gothic" panose="020B0502020202020204" pitchFamily="34" charset="0"/>
                    <a:ea typeface="Calibri" panose="020F0502020204030204" pitchFamily="34" charset="0"/>
                    <a:cs typeface="Times New Roman" panose="02020603050405020304" pitchFamily="18" charset="0"/>
                  </a:rPr>
                  <a:t>Amplitude at fundamental frequency</a:t>
                </a:r>
              </a:p>
              <a:p>
                <a:pPr>
                  <a:buClr>
                    <a:schemeClr val="accent2"/>
                  </a:buClr>
                </a:pPr>
                <a:endParaRPr lang="en-GB" sz="2400" b="1" kern="100" dirty="0">
                  <a:solidFill>
                    <a:srgbClr val="0000CC"/>
                  </a:solidFill>
                  <a:latin typeface="Century Gothic" panose="020B0502020202020204" pitchFamily="34" charset="0"/>
                  <a:ea typeface="Calibri" panose="020F0502020204030204" pitchFamily="34" charset="0"/>
                  <a:cs typeface="Times New Roman" panose="02020603050405020304" pitchFamily="18" charset="0"/>
                </a:endParaRPr>
              </a:p>
              <a:p>
                <a:pPr>
                  <a:buClr>
                    <a:schemeClr val="accent2"/>
                  </a:buClr>
                </a:pPr>
                <a:r>
                  <a:rPr lang="en-GB" sz="2400" b="1" kern="100" dirty="0">
                    <a:solidFill>
                      <a:srgbClr val="0000CC"/>
                    </a:solidFill>
                    <a:latin typeface="Century Gothic" panose="020B0502020202020204" pitchFamily="34" charset="0"/>
                    <a:ea typeface="Calibri" panose="020F0502020204030204" pitchFamily="34" charset="0"/>
                    <a:cs typeface="Times New Roman" panose="02020603050405020304" pitchFamily="18" charset="0"/>
                  </a:rPr>
                  <a:t>   </a:t>
                </a:r>
                <a14:m>
                  <m:oMath xmlns:m="http://schemas.openxmlformats.org/officeDocument/2006/math">
                    <m:sSub>
                      <m:sSubPr>
                        <m:ctrlPr>
                          <a:rPr lang="en-GB" sz="2400" b="1" i="1" kern="100" smtClean="0">
                            <a:solidFill>
                              <a:srgbClr val="0000CC"/>
                            </a:solidFill>
                            <a:latin typeface="Cambria Math" panose="02040503050406030204" pitchFamily="18" charset="0"/>
                            <a:ea typeface="Calibri" panose="020F0502020204030204" pitchFamily="34" charset="0"/>
                            <a:cs typeface="Times New Roman" panose="02020603050405020304" pitchFamily="18" charset="0"/>
                          </a:rPr>
                        </m:ctrlPr>
                      </m:sSubPr>
                      <m:e>
                        <m:r>
                          <a:rPr lang="en-GB" sz="2400" b="1" i="1" kern="100" smtClean="0">
                            <a:solidFill>
                              <a:srgbClr val="0000CC"/>
                            </a:solidFill>
                            <a:latin typeface="Cambria Math" panose="02040503050406030204" pitchFamily="18" charset="0"/>
                            <a:ea typeface="Cambria Math" panose="02040503050406030204" pitchFamily="18" charset="0"/>
                            <a:cs typeface="Times New Roman" panose="02020603050405020304" pitchFamily="18" charset="0"/>
                          </a:rPr>
                          <m:t>𝝎</m:t>
                        </m:r>
                      </m:e>
                      <m:sub>
                        <m:r>
                          <a:rPr lang="en-US" sz="2400" b="1" i="1" kern="100" smtClean="0">
                            <a:solidFill>
                              <a:srgbClr val="0000CC"/>
                            </a:solidFill>
                            <a:latin typeface="Cambria Math" panose="02040503050406030204" pitchFamily="18" charset="0"/>
                            <a:ea typeface="Calibri" panose="020F0502020204030204" pitchFamily="34" charset="0"/>
                            <a:cs typeface="Times New Roman" panose="02020603050405020304" pitchFamily="18" charset="0"/>
                          </a:rPr>
                          <m:t>𝟎</m:t>
                        </m:r>
                      </m:sub>
                    </m:sSub>
                    <m:r>
                      <a:rPr lang="en-GB" sz="2400" b="1" i="1" kern="100" smtClean="0">
                        <a:solidFill>
                          <a:srgbClr val="0000CC"/>
                        </a:solidFill>
                        <a:latin typeface="Cambria Math" panose="02040503050406030204" pitchFamily="18" charset="0"/>
                        <a:ea typeface="Calibri" panose="020F0502020204030204" pitchFamily="34" charset="0"/>
                        <a:cs typeface="Times New Roman" panose="02020603050405020304" pitchFamily="18" charset="0"/>
                      </a:rPr>
                      <m:t>→</m:t>
                    </m:r>
                  </m:oMath>
                </a14:m>
                <a:r>
                  <a:rPr lang="en-GB" sz="2400" b="1" kern="100" dirty="0">
                    <a:solidFill>
                      <a:srgbClr val="0000CC"/>
                    </a:solidFill>
                    <a:latin typeface="Century Gothic" panose="020B0502020202020204" pitchFamily="34" charset="0"/>
                    <a:ea typeface="Calibri" panose="020F0502020204030204" pitchFamily="34" charset="0"/>
                    <a:cs typeface="Times New Roman" panose="02020603050405020304" pitchFamily="18" charset="0"/>
                  </a:rPr>
                  <a:t> </a:t>
                </a:r>
                <a:r>
                  <a:rPr lang="en-GB" sz="2400" kern="100" dirty="0">
                    <a:solidFill>
                      <a:srgbClr val="0000CC"/>
                    </a:solidFill>
                    <a:latin typeface="Century Gothic" panose="020B0502020202020204" pitchFamily="34" charset="0"/>
                    <a:ea typeface="Calibri" panose="020F0502020204030204" pitchFamily="34" charset="0"/>
                    <a:cs typeface="Times New Roman" panose="02020603050405020304" pitchFamily="18" charset="0"/>
                  </a:rPr>
                  <a:t>Fundamental frequency</a:t>
                </a:r>
                <a:endParaRPr lang="en-GB" sz="2400" b="1" kern="100" dirty="0">
                  <a:solidFill>
                    <a:srgbClr val="0000CC"/>
                  </a:solidFill>
                  <a:latin typeface="Century Gothic" panose="020B0502020202020204" pitchFamily="34" charset="0"/>
                  <a:ea typeface="Calibri" panose="020F0502020204030204" pitchFamily="34" charset="0"/>
                  <a:cs typeface="Times New Roman" panose="02020603050405020304" pitchFamily="18" charset="0"/>
                </a:endParaRPr>
              </a:p>
              <a:p>
                <a:pPr>
                  <a:buClr>
                    <a:schemeClr val="accent2"/>
                  </a:buClr>
                </a:pPr>
                <a:endParaRPr lang="en-GB" sz="2400" kern="100" dirty="0">
                  <a:solidFill>
                    <a:srgbClr val="0000CC"/>
                  </a:solidFill>
                  <a:latin typeface="Century Gothic" panose="020B0502020202020204" pitchFamily="34" charset="0"/>
                  <a:ea typeface="Calibri" panose="020F0502020204030204" pitchFamily="34" charset="0"/>
                  <a:cs typeface="Times New Roman" panose="02020603050405020304" pitchFamily="18" charset="0"/>
                </a:endParaRPr>
              </a:p>
            </p:txBody>
          </p:sp>
        </mc:Choice>
        <mc:Fallback xmlns="">
          <p:sp>
            <p:nvSpPr>
              <p:cNvPr id="6" name="TextBox 5">
                <a:extLst>
                  <a:ext uri="{FF2B5EF4-FFF2-40B4-BE49-F238E27FC236}">
                    <a16:creationId xmlns:a16="http://schemas.microsoft.com/office/drawing/2014/main" id="{6BAA1F11-5BEF-4D80-964F-A7332E36BFA0}"/>
                  </a:ext>
                </a:extLst>
              </p:cNvPr>
              <p:cNvSpPr txBox="1">
                <a:spLocks noRot="1" noChangeAspect="1" noMove="1" noResize="1" noEditPoints="1" noAdjustHandles="1" noChangeArrowheads="1" noChangeShapeType="1" noTextEdit="1"/>
              </p:cNvSpPr>
              <p:nvPr/>
            </p:nvSpPr>
            <p:spPr>
              <a:xfrm>
                <a:off x="371193" y="1229360"/>
                <a:ext cx="11442485" cy="5262979"/>
              </a:xfrm>
              <a:prstGeom prst="rect">
                <a:avLst/>
              </a:prstGeom>
              <a:blipFill>
                <a:blip r:embed="rId3"/>
                <a:stretch>
                  <a:fillRect l="-692" t="-809"/>
                </a:stretch>
              </a:blipFill>
              <a:ln>
                <a:solidFill>
                  <a:srgbClr val="FF0066"/>
                </a:solidFill>
              </a:ln>
            </p:spPr>
            <p:txBody>
              <a:bodyPr/>
              <a:lstStyle/>
              <a:p>
                <a:r>
                  <a:rPr lang="en-US">
                    <a:noFill/>
                  </a:rPr>
                  <a:t> </a:t>
                </a:r>
              </a:p>
            </p:txBody>
          </p:sp>
        </mc:Fallback>
      </mc:AlternateContent>
      <p:sp>
        <p:nvSpPr>
          <p:cNvPr id="7" name="TextBox 6">
            <a:extLst>
              <a:ext uri="{FF2B5EF4-FFF2-40B4-BE49-F238E27FC236}">
                <a16:creationId xmlns:a16="http://schemas.microsoft.com/office/drawing/2014/main" id="{C36AA635-C21F-49F3-BF21-4CBE4C20709B}"/>
              </a:ext>
            </a:extLst>
          </p:cNvPr>
          <p:cNvSpPr txBox="1"/>
          <p:nvPr/>
        </p:nvSpPr>
        <p:spPr>
          <a:xfrm>
            <a:off x="5269122" y="6037275"/>
            <a:ext cx="823314" cy="373051"/>
          </a:xfrm>
          <a:prstGeom prst="rect">
            <a:avLst/>
          </a:prstGeom>
          <a:noFill/>
        </p:spPr>
        <p:txBody>
          <a:bodyPr wrap="square" rtlCol="0">
            <a:spAutoFit/>
          </a:bodyPr>
          <a:lstStyle/>
          <a:p>
            <a:pPr algn="ctr"/>
            <a:endParaRPr lang="en-GB" sz="1824" dirty="0">
              <a:latin typeface="Garamond" panose="02020404030301010803" pitchFamily="18" charset="0"/>
            </a:endParaRPr>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5175BD72-E02E-4887-9EB1-D8EB980D40ED}"/>
                  </a:ext>
                </a:extLst>
              </p:cNvPr>
              <p:cNvSpPr txBox="1"/>
              <p:nvPr/>
            </p:nvSpPr>
            <p:spPr>
              <a:xfrm>
                <a:off x="1870779" y="2065040"/>
                <a:ext cx="3810000" cy="369332"/>
              </a:xfrm>
              <a:prstGeom prst="rect">
                <a:avLst/>
              </a:prstGeom>
              <a:solidFill>
                <a:srgbClr val="00FFFF"/>
              </a:solidFill>
            </p:spPr>
            <p:txBody>
              <a:bodyPr wrap="square" rtlCol="0">
                <a:spAutoFit/>
              </a:bodyPr>
              <a:lstStyle/>
              <a:p>
                <a14:m>
                  <m:oMath xmlns:m="http://schemas.openxmlformats.org/officeDocument/2006/math">
                    <m:r>
                      <a:rPr lang="en-US" b="1" i="1" smtClean="0">
                        <a:solidFill>
                          <a:srgbClr val="0000CC"/>
                        </a:solidFill>
                        <a:latin typeface="Cambria Math" panose="02040503050406030204" pitchFamily="18" charset="0"/>
                      </a:rPr>
                      <m:t>𝒇</m:t>
                    </m:r>
                    <m:r>
                      <a:rPr lang="en-US" b="1" i="1" smtClean="0">
                        <a:solidFill>
                          <a:srgbClr val="0000CC"/>
                        </a:solidFill>
                        <a:latin typeface="Cambria Math" panose="02040503050406030204" pitchFamily="18" charset="0"/>
                      </a:rPr>
                      <m:t>(</m:t>
                    </m:r>
                    <m:r>
                      <a:rPr lang="en-US" b="1" i="1" smtClean="0">
                        <a:solidFill>
                          <a:srgbClr val="0000CC"/>
                        </a:solidFill>
                        <a:latin typeface="Cambria Math" panose="02040503050406030204" pitchFamily="18" charset="0"/>
                      </a:rPr>
                      <m:t>𝒕</m:t>
                    </m:r>
                    <m:r>
                      <a:rPr lang="en-US" b="1" i="1" smtClean="0">
                        <a:solidFill>
                          <a:srgbClr val="0000CC"/>
                        </a:solidFill>
                        <a:latin typeface="Cambria Math" panose="02040503050406030204" pitchFamily="18" charset="0"/>
                      </a:rPr>
                      <m:t>)</m:t>
                    </m:r>
                  </m:oMath>
                </a14:m>
                <a:r>
                  <a:rPr lang="en-US" b="1" dirty="0">
                    <a:solidFill>
                      <a:srgbClr val="0000CC"/>
                    </a:solidFill>
                  </a:rPr>
                  <a:t> = </a:t>
                </a:r>
                <a14:m>
                  <m:oMath xmlns:m="http://schemas.openxmlformats.org/officeDocument/2006/math">
                    <m:sSub>
                      <m:sSubPr>
                        <m:ctrlPr>
                          <a:rPr lang="en-US" b="1" i="1" smtClean="0">
                            <a:solidFill>
                              <a:srgbClr val="0000CC"/>
                            </a:solidFill>
                            <a:latin typeface="Cambria Math" panose="02040503050406030204" pitchFamily="18" charset="0"/>
                          </a:rPr>
                        </m:ctrlPr>
                      </m:sSubPr>
                      <m:e>
                        <m:r>
                          <a:rPr lang="en-US" b="1" i="1" smtClean="0">
                            <a:solidFill>
                              <a:srgbClr val="0000CC"/>
                            </a:solidFill>
                            <a:latin typeface="Cambria Math" panose="02040503050406030204" pitchFamily="18" charset="0"/>
                          </a:rPr>
                          <m:t>𝒂</m:t>
                        </m:r>
                      </m:e>
                      <m:sub>
                        <m:r>
                          <a:rPr lang="en-US" b="1" i="1" smtClean="0">
                            <a:solidFill>
                              <a:srgbClr val="0000CC"/>
                            </a:solidFill>
                            <a:latin typeface="Cambria Math" panose="02040503050406030204" pitchFamily="18" charset="0"/>
                          </a:rPr>
                          <m:t>𝟎</m:t>
                        </m:r>
                      </m:sub>
                    </m:sSub>
                    <m:r>
                      <a:rPr lang="en-US" b="1" i="1" smtClean="0">
                        <a:solidFill>
                          <a:srgbClr val="0000CC"/>
                        </a:solidFill>
                        <a:latin typeface="Cambria Math" panose="02040503050406030204" pitchFamily="18" charset="0"/>
                        <a:ea typeface="Cambria Math" panose="02040503050406030204" pitchFamily="18" charset="0"/>
                      </a:rPr>
                      <m:t>+</m:t>
                    </m:r>
                    <m:nary>
                      <m:naryPr>
                        <m:chr m:val="∑"/>
                        <m:limLoc m:val="subSup"/>
                        <m:ctrlPr>
                          <a:rPr lang="en-US" b="1" i="1" smtClean="0">
                            <a:solidFill>
                              <a:srgbClr val="0000CC"/>
                            </a:solidFill>
                            <a:latin typeface="Cambria Math" panose="02040503050406030204" pitchFamily="18" charset="0"/>
                            <a:ea typeface="Cambria Math" panose="02040503050406030204" pitchFamily="18" charset="0"/>
                          </a:rPr>
                        </m:ctrlPr>
                      </m:naryPr>
                      <m:sub>
                        <m:r>
                          <m:rPr>
                            <m:brk m:alnAt="25"/>
                          </m:rPr>
                          <a:rPr lang="en-US" b="1" i="1" smtClean="0">
                            <a:solidFill>
                              <a:srgbClr val="0000CC"/>
                            </a:solidFill>
                            <a:latin typeface="Cambria Math" panose="02040503050406030204" pitchFamily="18" charset="0"/>
                            <a:ea typeface="Cambria Math" panose="02040503050406030204" pitchFamily="18" charset="0"/>
                          </a:rPr>
                          <m:t>𝒏</m:t>
                        </m:r>
                        <m:r>
                          <a:rPr lang="en-US" b="1" i="1" smtClean="0">
                            <a:solidFill>
                              <a:srgbClr val="0000CC"/>
                            </a:solidFill>
                            <a:latin typeface="Cambria Math" panose="02040503050406030204" pitchFamily="18" charset="0"/>
                            <a:ea typeface="Cambria Math" panose="02040503050406030204" pitchFamily="18" charset="0"/>
                          </a:rPr>
                          <m:t>=</m:t>
                        </m:r>
                        <m:r>
                          <a:rPr lang="en-US" b="1" i="1" smtClean="0">
                            <a:solidFill>
                              <a:srgbClr val="0000CC"/>
                            </a:solidFill>
                            <a:latin typeface="Cambria Math" panose="02040503050406030204" pitchFamily="18" charset="0"/>
                            <a:ea typeface="Cambria Math" panose="02040503050406030204" pitchFamily="18" charset="0"/>
                          </a:rPr>
                          <m:t>𝟏</m:t>
                        </m:r>
                      </m:sub>
                      <m:sup>
                        <m:r>
                          <a:rPr lang="en-US" b="1" i="1" smtClean="0">
                            <a:solidFill>
                              <a:srgbClr val="0000CC"/>
                            </a:solidFill>
                            <a:latin typeface="Cambria Math" panose="02040503050406030204" pitchFamily="18" charset="0"/>
                            <a:ea typeface="Cambria Math" panose="02040503050406030204" pitchFamily="18" charset="0"/>
                          </a:rPr>
                          <m:t>∞</m:t>
                        </m:r>
                      </m:sup>
                      <m:e>
                        <m:sSub>
                          <m:sSubPr>
                            <m:ctrlPr>
                              <a:rPr lang="en-US" b="1" i="1" smtClean="0">
                                <a:solidFill>
                                  <a:srgbClr val="0000CC"/>
                                </a:solidFill>
                                <a:latin typeface="Cambria Math" panose="02040503050406030204" pitchFamily="18" charset="0"/>
                                <a:ea typeface="Cambria Math" panose="02040503050406030204" pitchFamily="18" charset="0"/>
                              </a:rPr>
                            </m:ctrlPr>
                          </m:sSubPr>
                          <m:e>
                            <m:r>
                              <a:rPr lang="en-US" b="1" i="1" smtClean="0">
                                <a:solidFill>
                                  <a:srgbClr val="0000CC"/>
                                </a:solidFill>
                                <a:latin typeface="Cambria Math" panose="02040503050406030204" pitchFamily="18" charset="0"/>
                                <a:ea typeface="Cambria Math" panose="02040503050406030204" pitchFamily="18" charset="0"/>
                              </a:rPr>
                              <m:t>𝑪</m:t>
                            </m:r>
                          </m:e>
                          <m:sub>
                            <m:r>
                              <a:rPr lang="en-US" b="1" i="1" smtClean="0">
                                <a:solidFill>
                                  <a:srgbClr val="0000CC"/>
                                </a:solidFill>
                                <a:latin typeface="Cambria Math" panose="02040503050406030204" pitchFamily="18" charset="0"/>
                                <a:ea typeface="Cambria Math" panose="02040503050406030204" pitchFamily="18" charset="0"/>
                              </a:rPr>
                              <m:t>𝒏</m:t>
                            </m:r>
                          </m:sub>
                        </m:sSub>
                        <m:func>
                          <m:funcPr>
                            <m:ctrlPr>
                              <a:rPr lang="en-US" b="1" i="1" smtClean="0">
                                <a:solidFill>
                                  <a:srgbClr val="0000CC"/>
                                </a:solidFill>
                                <a:latin typeface="Cambria Math" panose="02040503050406030204" pitchFamily="18" charset="0"/>
                                <a:ea typeface="Cambria Math" panose="02040503050406030204" pitchFamily="18" charset="0"/>
                              </a:rPr>
                            </m:ctrlPr>
                          </m:funcPr>
                          <m:fName>
                            <m:r>
                              <a:rPr lang="en-US" b="1" i="0" smtClean="0">
                                <a:solidFill>
                                  <a:srgbClr val="0000CC"/>
                                </a:solidFill>
                                <a:latin typeface="Cambria Math" panose="02040503050406030204" pitchFamily="18" charset="0"/>
                                <a:ea typeface="Cambria Math" panose="02040503050406030204" pitchFamily="18" charset="0"/>
                              </a:rPr>
                              <m:t>𝐬𝐢𝐧</m:t>
                            </m:r>
                          </m:fName>
                          <m:e>
                            <m:d>
                              <m:dPr>
                                <m:ctrlPr>
                                  <a:rPr lang="en-US" b="1" i="1" smtClean="0">
                                    <a:solidFill>
                                      <a:srgbClr val="0000CC"/>
                                    </a:solidFill>
                                    <a:latin typeface="Cambria Math" panose="02040503050406030204" pitchFamily="18" charset="0"/>
                                    <a:ea typeface="Cambria Math" panose="02040503050406030204" pitchFamily="18" charset="0"/>
                                  </a:rPr>
                                </m:ctrlPr>
                              </m:dPr>
                              <m:e>
                                <m:r>
                                  <a:rPr lang="en-US" b="1" i="1" smtClean="0">
                                    <a:solidFill>
                                      <a:srgbClr val="0000CC"/>
                                    </a:solidFill>
                                    <a:latin typeface="Cambria Math" panose="02040503050406030204" pitchFamily="18" charset="0"/>
                                    <a:ea typeface="Cambria Math" panose="02040503050406030204" pitchFamily="18" charset="0"/>
                                  </a:rPr>
                                  <m:t>𝒏</m:t>
                                </m:r>
                                <m:sSub>
                                  <m:sSubPr>
                                    <m:ctrlPr>
                                      <a:rPr lang="en-US" b="1" i="1" smtClean="0">
                                        <a:solidFill>
                                          <a:srgbClr val="0000CC"/>
                                        </a:solidFill>
                                        <a:latin typeface="Cambria Math" panose="02040503050406030204" pitchFamily="18" charset="0"/>
                                        <a:ea typeface="Cambria Math" panose="02040503050406030204" pitchFamily="18" charset="0"/>
                                      </a:rPr>
                                    </m:ctrlPr>
                                  </m:sSubPr>
                                  <m:e>
                                    <m:r>
                                      <a:rPr lang="en-US" b="1" i="1" smtClean="0">
                                        <a:solidFill>
                                          <a:srgbClr val="0000CC"/>
                                        </a:solidFill>
                                        <a:latin typeface="Cambria Math" panose="02040503050406030204" pitchFamily="18" charset="0"/>
                                        <a:ea typeface="Cambria Math" panose="02040503050406030204" pitchFamily="18" charset="0"/>
                                      </a:rPr>
                                      <m:t>𝝎</m:t>
                                    </m:r>
                                  </m:e>
                                  <m:sub>
                                    <m:r>
                                      <a:rPr lang="en-US" b="1" i="1" smtClean="0">
                                        <a:solidFill>
                                          <a:srgbClr val="0000CC"/>
                                        </a:solidFill>
                                        <a:latin typeface="Cambria Math" panose="02040503050406030204" pitchFamily="18" charset="0"/>
                                        <a:ea typeface="Cambria Math" panose="02040503050406030204" pitchFamily="18" charset="0"/>
                                      </a:rPr>
                                      <m:t>𝟎</m:t>
                                    </m:r>
                                  </m:sub>
                                </m:sSub>
                                <m:r>
                                  <a:rPr lang="en-US" b="1" i="1" smtClean="0">
                                    <a:solidFill>
                                      <a:srgbClr val="0000CC"/>
                                    </a:solidFill>
                                    <a:latin typeface="Cambria Math" panose="02040503050406030204" pitchFamily="18" charset="0"/>
                                    <a:ea typeface="Cambria Math" panose="02040503050406030204" pitchFamily="18" charset="0"/>
                                  </a:rPr>
                                  <m:t>𝒕</m:t>
                                </m:r>
                                <m:r>
                                  <a:rPr lang="en-US" b="1" i="1" smtClean="0">
                                    <a:solidFill>
                                      <a:srgbClr val="0000CC"/>
                                    </a:solidFill>
                                    <a:latin typeface="Cambria Math" panose="02040503050406030204" pitchFamily="18" charset="0"/>
                                    <a:ea typeface="Cambria Math" panose="02040503050406030204" pitchFamily="18" charset="0"/>
                                  </a:rPr>
                                  <m:t>+</m:t>
                                </m:r>
                                <m:sSub>
                                  <m:sSubPr>
                                    <m:ctrlPr>
                                      <a:rPr lang="en-US" b="1" i="1" smtClean="0">
                                        <a:solidFill>
                                          <a:srgbClr val="0000CC"/>
                                        </a:solidFill>
                                        <a:latin typeface="Cambria Math" panose="02040503050406030204" pitchFamily="18" charset="0"/>
                                        <a:ea typeface="Cambria Math" panose="02040503050406030204" pitchFamily="18" charset="0"/>
                                      </a:rPr>
                                    </m:ctrlPr>
                                  </m:sSubPr>
                                  <m:e>
                                    <m:r>
                                      <a:rPr lang="en-US" b="1" i="1" smtClean="0">
                                        <a:solidFill>
                                          <a:srgbClr val="0000CC"/>
                                        </a:solidFill>
                                        <a:latin typeface="Cambria Math" panose="02040503050406030204" pitchFamily="18" charset="0"/>
                                        <a:ea typeface="Cambria Math" panose="02040503050406030204" pitchFamily="18" charset="0"/>
                                      </a:rPr>
                                      <m:t>𝜽</m:t>
                                    </m:r>
                                  </m:e>
                                  <m:sub>
                                    <m:r>
                                      <a:rPr lang="en-US" b="1" i="1" smtClean="0">
                                        <a:solidFill>
                                          <a:srgbClr val="0000CC"/>
                                        </a:solidFill>
                                        <a:latin typeface="Cambria Math" panose="02040503050406030204" pitchFamily="18" charset="0"/>
                                        <a:ea typeface="Cambria Math" panose="02040503050406030204" pitchFamily="18" charset="0"/>
                                      </a:rPr>
                                      <m:t>𝒏</m:t>
                                    </m:r>
                                  </m:sub>
                                </m:sSub>
                              </m:e>
                            </m:d>
                          </m:e>
                        </m:func>
                      </m:e>
                    </m:nary>
                  </m:oMath>
                </a14:m>
                <a:endParaRPr lang="en-US" b="1" dirty="0"/>
              </a:p>
            </p:txBody>
          </p:sp>
        </mc:Choice>
        <mc:Fallback xmlns="">
          <p:sp>
            <p:nvSpPr>
              <p:cNvPr id="2" name="TextBox 1">
                <a:extLst>
                  <a:ext uri="{FF2B5EF4-FFF2-40B4-BE49-F238E27FC236}">
                    <a16:creationId xmlns:a16="http://schemas.microsoft.com/office/drawing/2014/main" id="{5175BD72-E02E-4887-9EB1-D8EB980D40ED}"/>
                  </a:ext>
                </a:extLst>
              </p:cNvPr>
              <p:cNvSpPr txBox="1">
                <a:spLocks noRot="1" noChangeAspect="1" noMove="1" noResize="1" noEditPoints="1" noAdjustHandles="1" noChangeArrowheads="1" noChangeShapeType="1" noTextEdit="1"/>
              </p:cNvSpPr>
              <p:nvPr/>
            </p:nvSpPr>
            <p:spPr>
              <a:xfrm>
                <a:off x="1870779" y="2065040"/>
                <a:ext cx="3810000" cy="369332"/>
              </a:xfrm>
              <a:prstGeom prst="rect">
                <a:avLst/>
              </a:prstGeom>
              <a:blipFill>
                <a:blip r:embed="rId4"/>
                <a:stretch>
                  <a:fillRect l="-480" t="-121667" b="-18833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0338C5A8-4710-4737-9FAD-8E3DC72C62F9}"/>
                  </a:ext>
                </a:extLst>
              </p:cNvPr>
              <p:cNvSpPr txBox="1"/>
              <p:nvPr/>
            </p:nvSpPr>
            <p:spPr>
              <a:xfrm>
                <a:off x="2143760" y="3129344"/>
                <a:ext cx="1849120" cy="427746"/>
              </a:xfrm>
              <a:prstGeom prst="rect">
                <a:avLst/>
              </a:prstGeom>
              <a:solidFill>
                <a:srgbClr val="00FFFF"/>
              </a:solidFill>
            </p:spPr>
            <p:txBody>
              <a:bodyPr wrap="square" rtlCol="0">
                <a:spAutoFit/>
              </a:bodyPr>
              <a:lstStyle/>
              <a:p>
                <a14:m>
                  <m:oMath xmlns:m="http://schemas.openxmlformats.org/officeDocument/2006/math">
                    <m:sSub>
                      <m:sSubPr>
                        <m:ctrlPr>
                          <a:rPr lang="en-US" b="1" i="1" smtClean="0">
                            <a:solidFill>
                              <a:srgbClr val="0000CC"/>
                            </a:solidFill>
                            <a:latin typeface="Cambria Math" panose="02040503050406030204" pitchFamily="18" charset="0"/>
                          </a:rPr>
                        </m:ctrlPr>
                      </m:sSubPr>
                      <m:e>
                        <m:r>
                          <a:rPr lang="en-US" b="1" i="1" smtClean="0">
                            <a:solidFill>
                              <a:srgbClr val="0000CC"/>
                            </a:solidFill>
                            <a:latin typeface="Cambria Math" panose="02040503050406030204" pitchFamily="18" charset="0"/>
                          </a:rPr>
                          <m:t>𝑪</m:t>
                        </m:r>
                      </m:e>
                      <m:sub>
                        <m:r>
                          <a:rPr lang="en-US" b="1" i="1" smtClean="0">
                            <a:solidFill>
                              <a:srgbClr val="0000CC"/>
                            </a:solidFill>
                            <a:latin typeface="Cambria Math" panose="02040503050406030204" pitchFamily="18" charset="0"/>
                          </a:rPr>
                          <m:t>𝒏</m:t>
                        </m:r>
                      </m:sub>
                    </m:sSub>
                  </m:oMath>
                </a14:m>
                <a:r>
                  <a:rPr lang="en-US" b="1" dirty="0">
                    <a:solidFill>
                      <a:srgbClr val="0000CC"/>
                    </a:solidFill>
                  </a:rPr>
                  <a:t> = </a:t>
                </a:r>
                <a14:m>
                  <m:oMath xmlns:m="http://schemas.openxmlformats.org/officeDocument/2006/math">
                    <m:rad>
                      <m:radPr>
                        <m:degHide m:val="on"/>
                        <m:ctrlPr>
                          <a:rPr lang="en-US" b="1" i="1" smtClean="0">
                            <a:solidFill>
                              <a:srgbClr val="0000CC"/>
                            </a:solidFill>
                            <a:latin typeface="Cambria Math" panose="02040503050406030204" pitchFamily="18" charset="0"/>
                          </a:rPr>
                        </m:ctrlPr>
                      </m:radPr>
                      <m:deg/>
                      <m:e>
                        <m:sSubSup>
                          <m:sSubSupPr>
                            <m:ctrlPr>
                              <a:rPr lang="en-US" b="1" i="1" smtClean="0">
                                <a:solidFill>
                                  <a:srgbClr val="0000CC"/>
                                </a:solidFill>
                                <a:latin typeface="Cambria Math" panose="02040503050406030204" pitchFamily="18" charset="0"/>
                              </a:rPr>
                            </m:ctrlPr>
                          </m:sSubSupPr>
                          <m:e>
                            <m:r>
                              <a:rPr lang="en-US" b="1" i="1" smtClean="0">
                                <a:solidFill>
                                  <a:srgbClr val="0000CC"/>
                                </a:solidFill>
                                <a:latin typeface="Cambria Math" panose="02040503050406030204" pitchFamily="18" charset="0"/>
                              </a:rPr>
                              <m:t>𝒂</m:t>
                            </m:r>
                          </m:e>
                          <m:sub>
                            <m:r>
                              <a:rPr lang="en-US" b="1" i="1" smtClean="0">
                                <a:solidFill>
                                  <a:srgbClr val="0000CC"/>
                                </a:solidFill>
                                <a:latin typeface="Cambria Math" panose="02040503050406030204" pitchFamily="18" charset="0"/>
                              </a:rPr>
                              <m:t>𝒏</m:t>
                            </m:r>
                          </m:sub>
                          <m:sup>
                            <m:r>
                              <a:rPr lang="en-US" b="1" i="1" smtClean="0">
                                <a:solidFill>
                                  <a:srgbClr val="0000CC"/>
                                </a:solidFill>
                                <a:latin typeface="Cambria Math" panose="02040503050406030204" pitchFamily="18" charset="0"/>
                              </a:rPr>
                              <m:t>𝟐</m:t>
                            </m:r>
                          </m:sup>
                        </m:sSubSup>
                        <m:r>
                          <a:rPr lang="en-US" b="1" i="1" smtClean="0">
                            <a:solidFill>
                              <a:srgbClr val="0000CC"/>
                            </a:solidFill>
                            <a:latin typeface="Cambria Math" panose="02040503050406030204" pitchFamily="18" charset="0"/>
                            <a:ea typeface="Cambria Math" panose="02040503050406030204" pitchFamily="18" charset="0"/>
                          </a:rPr>
                          <m:t>+</m:t>
                        </m:r>
                        <m:sSubSup>
                          <m:sSubSupPr>
                            <m:ctrlPr>
                              <a:rPr lang="en-US" b="1" i="1" smtClean="0">
                                <a:solidFill>
                                  <a:srgbClr val="0000CC"/>
                                </a:solidFill>
                                <a:latin typeface="Cambria Math" panose="02040503050406030204" pitchFamily="18" charset="0"/>
                                <a:ea typeface="Cambria Math" panose="02040503050406030204" pitchFamily="18" charset="0"/>
                              </a:rPr>
                            </m:ctrlPr>
                          </m:sSubSupPr>
                          <m:e>
                            <m:r>
                              <a:rPr lang="en-US" b="1" i="1" smtClean="0">
                                <a:solidFill>
                                  <a:srgbClr val="0000CC"/>
                                </a:solidFill>
                                <a:latin typeface="Cambria Math" panose="02040503050406030204" pitchFamily="18" charset="0"/>
                                <a:ea typeface="Cambria Math" panose="02040503050406030204" pitchFamily="18" charset="0"/>
                              </a:rPr>
                              <m:t>𝒃</m:t>
                            </m:r>
                          </m:e>
                          <m:sub>
                            <m:r>
                              <a:rPr lang="en-US" b="1" i="1" smtClean="0">
                                <a:solidFill>
                                  <a:srgbClr val="0000CC"/>
                                </a:solidFill>
                                <a:latin typeface="Cambria Math" panose="02040503050406030204" pitchFamily="18" charset="0"/>
                                <a:ea typeface="Cambria Math" panose="02040503050406030204" pitchFamily="18" charset="0"/>
                              </a:rPr>
                              <m:t>𝒏</m:t>
                            </m:r>
                          </m:sub>
                          <m:sup>
                            <m:r>
                              <a:rPr lang="en-US" b="1" i="1" smtClean="0">
                                <a:solidFill>
                                  <a:srgbClr val="0000CC"/>
                                </a:solidFill>
                                <a:latin typeface="Cambria Math" panose="02040503050406030204" pitchFamily="18" charset="0"/>
                                <a:ea typeface="Cambria Math" panose="02040503050406030204" pitchFamily="18" charset="0"/>
                              </a:rPr>
                              <m:t>𝟐</m:t>
                            </m:r>
                          </m:sup>
                        </m:sSubSup>
                      </m:e>
                    </m:rad>
                  </m:oMath>
                </a14:m>
                <a:endParaRPr lang="en-US" b="1" dirty="0"/>
              </a:p>
            </p:txBody>
          </p:sp>
        </mc:Choice>
        <mc:Fallback xmlns="">
          <p:sp>
            <p:nvSpPr>
              <p:cNvPr id="3" name="TextBox 2">
                <a:extLst>
                  <a:ext uri="{FF2B5EF4-FFF2-40B4-BE49-F238E27FC236}">
                    <a16:creationId xmlns:a16="http://schemas.microsoft.com/office/drawing/2014/main" id="{0338C5A8-4710-4737-9FAD-8E3DC72C62F9}"/>
                  </a:ext>
                </a:extLst>
              </p:cNvPr>
              <p:cNvSpPr txBox="1">
                <a:spLocks noRot="1" noChangeAspect="1" noMove="1" noResize="1" noEditPoints="1" noAdjustHandles="1" noChangeArrowheads="1" noChangeShapeType="1" noTextEdit="1"/>
              </p:cNvSpPr>
              <p:nvPr/>
            </p:nvSpPr>
            <p:spPr>
              <a:xfrm>
                <a:off x="2143760" y="3129344"/>
                <a:ext cx="1849120" cy="427746"/>
              </a:xfrm>
              <a:prstGeom prst="rect">
                <a:avLst/>
              </a:prstGeom>
              <a:blipFill>
                <a:blip r:embed="rId5"/>
                <a:stretch>
                  <a:fillRect b="-2112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7B546F1A-4655-4CCF-953C-726703CEF078}"/>
                  </a:ext>
                </a:extLst>
              </p:cNvPr>
              <p:cNvSpPr txBox="1"/>
              <p:nvPr/>
            </p:nvSpPr>
            <p:spPr>
              <a:xfrm>
                <a:off x="5336678" y="3021102"/>
                <a:ext cx="2141082" cy="534249"/>
              </a:xfrm>
              <a:prstGeom prst="rect">
                <a:avLst/>
              </a:prstGeom>
              <a:solidFill>
                <a:srgbClr val="00FFFF"/>
              </a:solidFill>
            </p:spPr>
            <p:txBody>
              <a:bodyPr wrap="square" rtlCol="0">
                <a:spAutoFit/>
              </a:bodyPr>
              <a:lstStyle/>
              <a:p>
                <a14:m>
                  <m:oMath xmlns:m="http://schemas.openxmlformats.org/officeDocument/2006/math">
                    <m:sSub>
                      <m:sSubPr>
                        <m:ctrlPr>
                          <a:rPr lang="en-US" b="1" i="1" smtClean="0">
                            <a:solidFill>
                              <a:srgbClr val="0000CC"/>
                            </a:solidFill>
                            <a:latin typeface="Cambria Math" panose="02040503050406030204" pitchFamily="18" charset="0"/>
                          </a:rPr>
                        </m:ctrlPr>
                      </m:sSubPr>
                      <m:e>
                        <m:r>
                          <a:rPr lang="en-US" b="1" i="1" smtClean="0">
                            <a:solidFill>
                              <a:srgbClr val="0000CC"/>
                            </a:solidFill>
                            <a:latin typeface="Cambria Math" panose="02040503050406030204" pitchFamily="18" charset="0"/>
                            <a:ea typeface="Cambria Math" panose="02040503050406030204" pitchFamily="18" charset="0"/>
                          </a:rPr>
                          <m:t>𝜽</m:t>
                        </m:r>
                      </m:e>
                      <m:sub>
                        <m:r>
                          <a:rPr lang="en-US" b="1" i="1" smtClean="0">
                            <a:solidFill>
                              <a:srgbClr val="0000CC"/>
                            </a:solidFill>
                            <a:latin typeface="Cambria Math" panose="02040503050406030204" pitchFamily="18" charset="0"/>
                          </a:rPr>
                          <m:t>𝒏</m:t>
                        </m:r>
                      </m:sub>
                    </m:sSub>
                  </m:oMath>
                </a14:m>
                <a:r>
                  <a:rPr lang="en-US" b="1" dirty="0">
                    <a:solidFill>
                      <a:srgbClr val="0000CC"/>
                    </a:solidFill>
                  </a:rPr>
                  <a:t> = </a:t>
                </a:r>
                <a14:m>
                  <m:oMath xmlns:m="http://schemas.openxmlformats.org/officeDocument/2006/math">
                    <m:sSup>
                      <m:sSupPr>
                        <m:ctrlPr>
                          <a:rPr lang="en-US" b="1" i="1" smtClean="0">
                            <a:solidFill>
                              <a:srgbClr val="0000CC"/>
                            </a:solidFill>
                            <a:latin typeface="Cambria Math" panose="02040503050406030204" pitchFamily="18" charset="0"/>
                          </a:rPr>
                        </m:ctrlPr>
                      </m:sSupPr>
                      <m:e>
                        <m:r>
                          <a:rPr lang="en-US" b="1" i="1" smtClean="0">
                            <a:solidFill>
                              <a:srgbClr val="0000CC"/>
                            </a:solidFill>
                            <a:latin typeface="Cambria Math" panose="02040503050406030204" pitchFamily="18" charset="0"/>
                          </a:rPr>
                          <m:t>𝒕𝒂𝒏</m:t>
                        </m:r>
                      </m:e>
                      <m:sup>
                        <m:r>
                          <a:rPr lang="en-US" b="1" i="1" smtClean="0">
                            <a:solidFill>
                              <a:srgbClr val="0000CC"/>
                            </a:solidFill>
                            <a:latin typeface="Cambria Math" panose="02040503050406030204" pitchFamily="18" charset="0"/>
                          </a:rPr>
                          <m:t>−</m:t>
                        </m:r>
                        <m:r>
                          <a:rPr lang="en-US" b="1" i="1" smtClean="0">
                            <a:solidFill>
                              <a:srgbClr val="0000CC"/>
                            </a:solidFill>
                            <a:latin typeface="Cambria Math" panose="02040503050406030204" pitchFamily="18" charset="0"/>
                          </a:rPr>
                          <m:t>𝟏</m:t>
                        </m:r>
                      </m:sup>
                    </m:sSup>
                    <m:d>
                      <m:dPr>
                        <m:ctrlPr>
                          <a:rPr lang="en-US" b="1" i="1" smtClean="0">
                            <a:solidFill>
                              <a:srgbClr val="0000CC"/>
                            </a:solidFill>
                            <a:latin typeface="Cambria Math" panose="02040503050406030204" pitchFamily="18" charset="0"/>
                          </a:rPr>
                        </m:ctrlPr>
                      </m:dPr>
                      <m:e>
                        <m:f>
                          <m:fPr>
                            <m:ctrlPr>
                              <a:rPr lang="en-US" b="1" i="1" smtClean="0">
                                <a:solidFill>
                                  <a:srgbClr val="0000CC"/>
                                </a:solidFill>
                                <a:latin typeface="Cambria Math" panose="02040503050406030204" pitchFamily="18" charset="0"/>
                              </a:rPr>
                            </m:ctrlPr>
                          </m:fPr>
                          <m:num>
                            <m:sSub>
                              <m:sSubPr>
                                <m:ctrlPr>
                                  <a:rPr lang="en-US" b="1" i="1" smtClean="0">
                                    <a:solidFill>
                                      <a:srgbClr val="0000CC"/>
                                    </a:solidFill>
                                    <a:latin typeface="Cambria Math" panose="02040503050406030204" pitchFamily="18" charset="0"/>
                                  </a:rPr>
                                </m:ctrlPr>
                              </m:sSubPr>
                              <m:e>
                                <m:r>
                                  <a:rPr lang="en-US" b="1" i="1" smtClean="0">
                                    <a:solidFill>
                                      <a:srgbClr val="0000CC"/>
                                    </a:solidFill>
                                    <a:latin typeface="Cambria Math" panose="02040503050406030204" pitchFamily="18" charset="0"/>
                                  </a:rPr>
                                  <m:t>𝒂</m:t>
                                </m:r>
                              </m:e>
                              <m:sub>
                                <m:r>
                                  <a:rPr lang="en-US" b="1" i="1" smtClean="0">
                                    <a:solidFill>
                                      <a:srgbClr val="0000CC"/>
                                    </a:solidFill>
                                    <a:latin typeface="Cambria Math" panose="02040503050406030204" pitchFamily="18" charset="0"/>
                                  </a:rPr>
                                  <m:t>𝒏</m:t>
                                </m:r>
                              </m:sub>
                            </m:sSub>
                          </m:num>
                          <m:den>
                            <m:sSub>
                              <m:sSubPr>
                                <m:ctrlPr>
                                  <a:rPr lang="en-US" b="1" i="1" smtClean="0">
                                    <a:solidFill>
                                      <a:srgbClr val="0000CC"/>
                                    </a:solidFill>
                                    <a:latin typeface="Cambria Math" panose="02040503050406030204" pitchFamily="18" charset="0"/>
                                  </a:rPr>
                                </m:ctrlPr>
                              </m:sSubPr>
                              <m:e>
                                <m:r>
                                  <a:rPr lang="en-US" b="1" i="1" smtClean="0">
                                    <a:solidFill>
                                      <a:srgbClr val="0000CC"/>
                                    </a:solidFill>
                                    <a:latin typeface="Cambria Math" panose="02040503050406030204" pitchFamily="18" charset="0"/>
                                  </a:rPr>
                                  <m:t>𝒃</m:t>
                                </m:r>
                              </m:e>
                              <m:sub>
                                <m:r>
                                  <a:rPr lang="en-US" b="1" i="1" smtClean="0">
                                    <a:solidFill>
                                      <a:srgbClr val="0000CC"/>
                                    </a:solidFill>
                                    <a:latin typeface="Cambria Math" panose="02040503050406030204" pitchFamily="18" charset="0"/>
                                  </a:rPr>
                                  <m:t>𝒏</m:t>
                                </m:r>
                              </m:sub>
                            </m:sSub>
                          </m:den>
                        </m:f>
                      </m:e>
                    </m:d>
                  </m:oMath>
                </a14:m>
                <a:endParaRPr lang="en-US" b="1" dirty="0"/>
              </a:p>
            </p:txBody>
          </p:sp>
        </mc:Choice>
        <mc:Fallback xmlns="">
          <p:sp>
            <p:nvSpPr>
              <p:cNvPr id="8" name="TextBox 7">
                <a:extLst>
                  <a:ext uri="{FF2B5EF4-FFF2-40B4-BE49-F238E27FC236}">
                    <a16:creationId xmlns:a16="http://schemas.microsoft.com/office/drawing/2014/main" id="{7B546F1A-4655-4CCF-953C-726703CEF078}"/>
                  </a:ext>
                </a:extLst>
              </p:cNvPr>
              <p:cNvSpPr txBox="1">
                <a:spLocks noRot="1" noChangeAspect="1" noMove="1" noResize="1" noEditPoints="1" noAdjustHandles="1" noChangeArrowheads="1" noChangeShapeType="1" noTextEdit="1"/>
              </p:cNvSpPr>
              <p:nvPr/>
            </p:nvSpPr>
            <p:spPr>
              <a:xfrm>
                <a:off x="5336678" y="3021102"/>
                <a:ext cx="2141082" cy="534249"/>
              </a:xfrm>
              <a:prstGeom prst="rect">
                <a:avLst/>
              </a:prstGeom>
              <a:blipFill>
                <a:blip r:embed="rId6"/>
                <a:stretch>
                  <a:fillRect b="-1149"/>
                </a:stretch>
              </a:blipFill>
            </p:spPr>
            <p:txBody>
              <a:bodyPr/>
              <a:lstStyle/>
              <a:p>
                <a:r>
                  <a:rPr lang="en-US">
                    <a:noFill/>
                  </a:rPr>
                  <a:t> </a:t>
                </a:r>
              </a:p>
            </p:txBody>
          </p:sp>
        </mc:Fallback>
      </mc:AlternateContent>
    </p:spTree>
    <p:extLst>
      <p:ext uri="{BB962C8B-B14F-4D97-AF65-F5344CB8AC3E}">
        <p14:creationId xmlns:p14="http://schemas.microsoft.com/office/powerpoint/2010/main" val="68064313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6">
            <a:extLst>
              <a:ext uri="{FF2B5EF4-FFF2-40B4-BE49-F238E27FC236}">
                <a16:creationId xmlns:a16="http://schemas.microsoft.com/office/drawing/2014/main" id="{56080804-F19F-41A7-8595-943961648C5E}"/>
              </a:ext>
            </a:extLst>
          </p:cNvPr>
          <p:cNvSpPr>
            <a:spLocks noGrp="1"/>
          </p:cNvSpPr>
          <p:nvPr>
            <p:ph type="sldNum" sz="quarter" idx="12"/>
          </p:nvPr>
        </p:nvSpPr>
        <p:spPr>
          <a:xfrm>
            <a:off x="8610600" y="6441692"/>
            <a:ext cx="2743200" cy="370027"/>
          </a:xfrm>
        </p:spPr>
        <p:txBody>
          <a:bodyPr/>
          <a:lstStyle/>
          <a:p>
            <a:fld id="{F4801FD5-11B4-DE43-ACA2-E85EEB9A6F9C}" type="slidenum">
              <a:rPr lang="en-US" smtClean="0">
                <a:latin typeface="Garamond" panose="02020404030301010803" pitchFamily="18" charset="0"/>
              </a:rPr>
              <a:t>29</a:t>
            </a:fld>
            <a:endParaRPr lang="en-US">
              <a:latin typeface="Garamond" panose="02020404030301010803" pitchFamily="18" charset="0"/>
            </a:endParaRPr>
          </a:p>
        </p:txBody>
      </p:sp>
      <p:sp>
        <p:nvSpPr>
          <p:cNvPr id="5" name="Title 1">
            <a:extLst>
              <a:ext uri="{FF2B5EF4-FFF2-40B4-BE49-F238E27FC236}">
                <a16:creationId xmlns:a16="http://schemas.microsoft.com/office/drawing/2014/main" id="{4710AE4B-0DB8-4451-B9E4-10BAE11B4D3A}"/>
              </a:ext>
            </a:extLst>
          </p:cNvPr>
          <p:cNvSpPr>
            <a:spLocks noGrp="1"/>
          </p:cNvSpPr>
          <p:nvPr>
            <p:ph type="title"/>
          </p:nvPr>
        </p:nvSpPr>
        <p:spPr>
          <a:xfrm>
            <a:off x="497840" y="113802"/>
            <a:ext cx="10972800" cy="1115558"/>
          </a:xfrm>
        </p:spPr>
        <p:txBody>
          <a:bodyPr>
            <a:noAutofit/>
          </a:bodyPr>
          <a:lstStyle/>
          <a:p>
            <a:pPr algn="ctr"/>
            <a:r>
              <a:rPr lang="en-US" sz="3200" b="1" u="sng" dirty="0">
                <a:solidFill>
                  <a:srgbClr val="FF3386"/>
                </a:solidFill>
                <a:latin typeface="Century Gothic" panose="020B0502020202020204" pitchFamily="34" charset="0"/>
                <a:cs typeface="Helvetica"/>
              </a:rPr>
              <a:t>POWER COMPUTATION FOR NONSINUSOIDAL PERIODIC WAVEFORMS</a:t>
            </a:r>
          </a:p>
        </p:txBody>
      </p:sp>
      <p:sp>
        <p:nvSpPr>
          <p:cNvPr id="6" name="TextBox 5">
            <a:extLst>
              <a:ext uri="{FF2B5EF4-FFF2-40B4-BE49-F238E27FC236}">
                <a16:creationId xmlns:a16="http://schemas.microsoft.com/office/drawing/2014/main" id="{6BAA1F11-5BEF-4D80-964F-A7332E36BFA0}"/>
              </a:ext>
            </a:extLst>
          </p:cNvPr>
          <p:cNvSpPr txBox="1"/>
          <p:nvPr/>
        </p:nvSpPr>
        <p:spPr>
          <a:xfrm>
            <a:off x="193040" y="1229360"/>
            <a:ext cx="11887199" cy="5632311"/>
          </a:xfrm>
          <a:prstGeom prst="rect">
            <a:avLst/>
          </a:prstGeom>
          <a:noFill/>
          <a:ln>
            <a:solidFill>
              <a:srgbClr val="FF0066"/>
            </a:solidFill>
          </a:ln>
        </p:spPr>
        <p:txBody>
          <a:bodyPr wrap="square" rtlCol="0">
            <a:spAutoFit/>
          </a:bodyPr>
          <a:lstStyle/>
          <a:p>
            <a:pPr marL="342900" indent="-342900">
              <a:buClr>
                <a:schemeClr val="accent2"/>
              </a:buClr>
              <a:buFont typeface="Arial" panose="020B0604020202020204" pitchFamily="34" charset="0"/>
              <a:buChar char="•"/>
            </a:pPr>
            <a:r>
              <a:rPr lang="en-GB" sz="2400" b="1" kern="100" dirty="0">
                <a:solidFill>
                  <a:srgbClr val="0000CC"/>
                </a:solidFill>
                <a:latin typeface="Century Gothic" panose="020B0502020202020204" pitchFamily="34" charset="0"/>
                <a:ea typeface="Calibri" panose="020F0502020204030204" pitchFamily="34" charset="0"/>
                <a:cs typeface="Times New Roman" panose="02020603050405020304" pitchFamily="18" charset="0"/>
              </a:rPr>
              <a:t>Periodic voltage and current waveform represented by Fourier series:</a:t>
            </a:r>
          </a:p>
          <a:p>
            <a:pPr>
              <a:buClr>
                <a:schemeClr val="accent2"/>
              </a:buClr>
            </a:pPr>
            <a:endParaRPr lang="en-GB" sz="2400" b="1" kern="100" dirty="0">
              <a:solidFill>
                <a:srgbClr val="0000CC"/>
              </a:solidFill>
              <a:latin typeface="Century Gothic" panose="020B0502020202020204" pitchFamily="34" charset="0"/>
              <a:ea typeface="Calibri" panose="020F0502020204030204" pitchFamily="34" charset="0"/>
              <a:cs typeface="Times New Roman" panose="02020603050405020304" pitchFamily="18" charset="0"/>
            </a:endParaRPr>
          </a:p>
          <a:p>
            <a:pPr>
              <a:buClr>
                <a:schemeClr val="accent2"/>
              </a:buClr>
            </a:pPr>
            <a:r>
              <a:rPr lang="en-GB" sz="2400" b="1" kern="100" dirty="0">
                <a:solidFill>
                  <a:srgbClr val="0000CC"/>
                </a:solidFill>
                <a:latin typeface="Century Gothic" panose="020B0502020202020204" pitchFamily="34" charset="0"/>
                <a:ea typeface="Calibri" panose="020F0502020204030204" pitchFamily="34" charset="0"/>
                <a:cs typeface="Times New Roman" panose="02020603050405020304" pitchFamily="18" charset="0"/>
              </a:rPr>
              <a:t>	</a:t>
            </a:r>
          </a:p>
          <a:p>
            <a:pPr>
              <a:buClr>
                <a:schemeClr val="accent2"/>
              </a:buClr>
            </a:pPr>
            <a:r>
              <a:rPr lang="en-GB" sz="2400" b="1" kern="100" dirty="0">
                <a:solidFill>
                  <a:srgbClr val="0000CC"/>
                </a:solidFill>
                <a:latin typeface="Century Gothic" panose="020B0502020202020204" pitchFamily="34" charset="0"/>
                <a:ea typeface="Calibri" panose="020F0502020204030204" pitchFamily="34" charset="0"/>
                <a:cs typeface="Times New Roman" panose="02020603050405020304" pitchFamily="18" charset="0"/>
              </a:rPr>
              <a:t> </a:t>
            </a:r>
            <a:br>
              <a:rPr lang="en-GB" sz="2400" b="1" kern="100" dirty="0">
                <a:solidFill>
                  <a:srgbClr val="0000CC"/>
                </a:solidFill>
                <a:latin typeface="Century Gothic" panose="020B0502020202020204" pitchFamily="34" charset="0"/>
                <a:ea typeface="Calibri" panose="020F0502020204030204" pitchFamily="34" charset="0"/>
                <a:cs typeface="Times New Roman" panose="02020603050405020304" pitchFamily="18" charset="0"/>
              </a:rPr>
            </a:br>
            <a:r>
              <a:rPr lang="en-GB" sz="2400" b="1" kern="100" dirty="0">
                <a:solidFill>
                  <a:srgbClr val="0000CC"/>
                </a:solidFill>
                <a:latin typeface="Century Gothic" panose="020B0502020202020204" pitchFamily="34" charset="0"/>
                <a:ea typeface="Calibri" panose="020F0502020204030204" pitchFamily="34" charset="0"/>
                <a:cs typeface="Times New Roman" panose="02020603050405020304" pitchFamily="18" charset="0"/>
              </a:rPr>
              <a:t> 		</a:t>
            </a:r>
            <a:br>
              <a:rPr lang="en-GB" sz="2400" b="1" kern="100" dirty="0">
                <a:solidFill>
                  <a:srgbClr val="0000CC"/>
                </a:solidFill>
                <a:latin typeface="Century Gothic" panose="020B0502020202020204" pitchFamily="34" charset="0"/>
                <a:ea typeface="Calibri" panose="020F0502020204030204" pitchFamily="34" charset="0"/>
                <a:cs typeface="Times New Roman" panose="02020603050405020304" pitchFamily="18" charset="0"/>
              </a:rPr>
            </a:br>
            <a:r>
              <a:rPr lang="en-GB" sz="2400" b="1" kern="100" dirty="0">
                <a:solidFill>
                  <a:srgbClr val="0000CC"/>
                </a:solidFill>
                <a:latin typeface="Century Gothic" panose="020B0502020202020204" pitchFamily="34" charset="0"/>
                <a:ea typeface="Calibri" panose="020F0502020204030204" pitchFamily="34" charset="0"/>
                <a:cs typeface="Times New Roman" panose="02020603050405020304" pitchFamily="18" charset="0"/>
              </a:rPr>
              <a:t>					</a:t>
            </a:r>
          </a:p>
          <a:p>
            <a:pPr>
              <a:buClr>
                <a:schemeClr val="accent2"/>
              </a:buClr>
            </a:pPr>
            <a:endParaRPr lang="en-GB" sz="2400" b="1" kern="100" dirty="0">
              <a:solidFill>
                <a:srgbClr val="0000CC"/>
              </a:solidFill>
              <a:latin typeface="Century Gothic" panose="020B0502020202020204" pitchFamily="34" charset="0"/>
              <a:ea typeface="Calibri" panose="020F0502020204030204" pitchFamily="34" charset="0"/>
              <a:cs typeface="Times New Roman" panose="02020603050405020304" pitchFamily="18" charset="0"/>
            </a:endParaRPr>
          </a:p>
          <a:p>
            <a:pPr marL="342900" indent="-342900">
              <a:buClr>
                <a:schemeClr val="accent2"/>
              </a:buClr>
              <a:buFont typeface="Arial" panose="020B0604020202020204" pitchFamily="34" charset="0"/>
              <a:buChar char="•"/>
            </a:pPr>
            <a:r>
              <a:rPr lang="en-GB" sz="2400" b="1" kern="100" dirty="0">
                <a:solidFill>
                  <a:srgbClr val="0000CC"/>
                </a:solidFill>
                <a:latin typeface="Century Gothic" panose="020B0502020202020204" pitchFamily="34" charset="0"/>
                <a:ea typeface="Calibri" panose="020F0502020204030204" pitchFamily="34" charset="0"/>
                <a:cs typeface="Times New Roman" panose="02020603050405020304" pitchFamily="18" charset="0"/>
              </a:rPr>
              <a:t>Average Power is computed as</a:t>
            </a:r>
          </a:p>
          <a:p>
            <a:pPr>
              <a:buClr>
                <a:schemeClr val="accent2"/>
              </a:buClr>
            </a:pPr>
            <a:br>
              <a:rPr lang="en-GB" sz="2400" b="1" kern="100" dirty="0">
                <a:solidFill>
                  <a:srgbClr val="0000CC"/>
                </a:solidFill>
                <a:latin typeface="Century Gothic" panose="020B0502020202020204" pitchFamily="34" charset="0"/>
                <a:ea typeface="Calibri" panose="020F0502020204030204" pitchFamily="34" charset="0"/>
                <a:cs typeface="Times New Roman" panose="02020603050405020304" pitchFamily="18" charset="0"/>
              </a:rPr>
            </a:br>
            <a:r>
              <a:rPr lang="en-GB" sz="2400" b="1" kern="100" dirty="0">
                <a:solidFill>
                  <a:srgbClr val="0000CC"/>
                </a:solidFill>
                <a:latin typeface="Century Gothic" panose="020B0502020202020204" pitchFamily="34" charset="0"/>
                <a:ea typeface="Calibri" panose="020F0502020204030204" pitchFamily="34" charset="0"/>
                <a:cs typeface="Times New Roman" panose="02020603050405020304" pitchFamily="18" charset="0"/>
              </a:rPr>
              <a:t> 	</a:t>
            </a:r>
          </a:p>
          <a:p>
            <a:pPr>
              <a:buClr>
                <a:schemeClr val="accent2"/>
              </a:buClr>
            </a:pPr>
            <a:endParaRPr lang="en-GB" sz="2400" b="1" kern="100" dirty="0">
              <a:solidFill>
                <a:srgbClr val="0000CC"/>
              </a:solidFill>
              <a:latin typeface="Century Gothic" panose="020B0502020202020204" pitchFamily="34" charset="0"/>
              <a:ea typeface="Calibri" panose="020F0502020204030204" pitchFamily="34" charset="0"/>
              <a:cs typeface="Times New Roman" panose="02020603050405020304" pitchFamily="18" charset="0"/>
            </a:endParaRPr>
          </a:p>
          <a:p>
            <a:pPr>
              <a:buClr>
                <a:schemeClr val="accent2"/>
              </a:buClr>
            </a:pPr>
            <a:r>
              <a:rPr lang="en-GB" sz="2400" b="1" kern="100" dirty="0">
                <a:solidFill>
                  <a:srgbClr val="0000CC"/>
                </a:solidFill>
                <a:latin typeface="Century Gothic" panose="020B0502020202020204" pitchFamily="34" charset="0"/>
                <a:ea typeface="Calibri" panose="020F0502020204030204" pitchFamily="34" charset="0"/>
                <a:cs typeface="Times New Roman" panose="02020603050405020304" pitchFamily="18" charset="0"/>
              </a:rPr>
              <a:t>	</a:t>
            </a:r>
            <a:endParaRPr lang="en-GB" sz="2400" b="1" i="1" kern="100" dirty="0">
              <a:solidFill>
                <a:srgbClr val="0000CC"/>
              </a:solidFill>
              <a:latin typeface="Century Gothic" panose="020B0502020202020204" pitchFamily="34" charset="0"/>
              <a:ea typeface="Calibri" panose="020F0502020204030204" pitchFamily="34" charset="0"/>
              <a:cs typeface="Times New Roman" panose="02020603050405020304" pitchFamily="18" charset="0"/>
            </a:endParaRPr>
          </a:p>
          <a:p>
            <a:pPr>
              <a:buClr>
                <a:schemeClr val="accent2"/>
              </a:buClr>
            </a:pPr>
            <a:r>
              <a:rPr lang="en-GB" sz="2400" b="1" i="1" kern="100" dirty="0">
                <a:solidFill>
                  <a:srgbClr val="0000CC"/>
                </a:solidFill>
                <a:latin typeface="Century Gothic" panose="020B0502020202020204" pitchFamily="34" charset="0"/>
                <a:ea typeface="Calibri" panose="020F0502020204030204" pitchFamily="34" charset="0"/>
                <a:cs typeface="Times New Roman" panose="02020603050405020304" pitchFamily="18" charset="0"/>
              </a:rPr>
              <a:t>  Note : The average of voltage and current products of different frequencies 	is 	ZERO.                   </a:t>
            </a:r>
          </a:p>
          <a:p>
            <a:pPr>
              <a:buClr>
                <a:schemeClr val="accent2"/>
              </a:buClr>
            </a:pPr>
            <a:r>
              <a:rPr lang="en-GB" sz="2400" b="1" kern="100" dirty="0">
                <a:solidFill>
                  <a:srgbClr val="0000CC"/>
                </a:solidFill>
                <a:latin typeface="Century Gothic" panose="020B0502020202020204" pitchFamily="34" charset="0"/>
                <a:ea typeface="Calibri" panose="020F0502020204030204" pitchFamily="34" charset="0"/>
                <a:cs typeface="Times New Roman" panose="02020603050405020304" pitchFamily="18" charset="0"/>
              </a:rPr>
              <a:t>                                                </a:t>
            </a:r>
            <a:endParaRPr lang="en-GB" sz="2400" kern="100" dirty="0">
              <a:solidFill>
                <a:srgbClr val="0000CC"/>
              </a:solidFill>
              <a:latin typeface="Century Gothic" panose="020B0502020202020204" pitchFamily="34" charset="0"/>
              <a:ea typeface="Calibri" panose="020F0502020204030204" pitchFamily="34" charset="0"/>
              <a:cs typeface="Times New Roman" panose="02020603050405020304" pitchFamily="18" charset="0"/>
            </a:endParaRPr>
          </a:p>
        </p:txBody>
      </p:sp>
      <p:sp>
        <p:nvSpPr>
          <p:cNvPr id="7" name="TextBox 6">
            <a:extLst>
              <a:ext uri="{FF2B5EF4-FFF2-40B4-BE49-F238E27FC236}">
                <a16:creationId xmlns:a16="http://schemas.microsoft.com/office/drawing/2014/main" id="{C36AA635-C21F-49F3-BF21-4CBE4C20709B}"/>
              </a:ext>
            </a:extLst>
          </p:cNvPr>
          <p:cNvSpPr txBox="1"/>
          <p:nvPr/>
        </p:nvSpPr>
        <p:spPr>
          <a:xfrm>
            <a:off x="5269122" y="6037275"/>
            <a:ext cx="823314" cy="373051"/>
          </a:xfrm>
          <a:prstGeom prst="rect">
            <a:avLst/>
          </a:prstGeom>
          <a:noFill/>
        </p:spPr>
        <p:txBody>
          <a:bodyPr wrap="square" rtlCol="0">
            <a:spAutoFit/>
          </a:bodyPr>
          <a:lstStyle/>
          <a:p>
            <a:pPr algn="ctr"/>
            <a:endParaRPr lang="en-GB" sz="1824" dirty="0">
              <a:latin typeface="Garamond" panose="02020404030301010803" pitchFamily="18" charset="0"/>
            </a:endParaRPr>
          </a:p>
        </p:txBody>
      </p: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600C4B01-9F05-430C-99C4-BAE6E35A29A8}"/>
                  </a:ext>
                </a:extLst>
              </p:cNvPr>
              <p:cNvSpPr txBox="1"/>
              <p:nvPr/>
            </p:nvSpPr>
            <p:spPr>
              <a:xfrm>
                <a:off x="1310640" y="2123440"/>
                <a:ext cx="3958482" cy="369332"/>
              </a:xfrm>
              <a:prstGeom prst="rect">
                <a:avLst/>
              </a:prstGeom>
              <a:solidFill>
                <a:srgbClr val="00FFFF"/>
              </a:solidFill>
            </p:spPr>
            <p:txBody>
              <a:bodyPr wrap="square" rtlCol="0">
                <a:spAutoFit/>
              </a:bodyPr>
              <a:lstStyle/>
              <a:p>
                <a14:m>
                  <m:oMath xmlns:m="http://schemas.openxmlformats.org/officeDocument/2006/math">
                    <m:r>
                      <a:rPr lang="en-US" b="1" i="1" smtClean="0">
                        <a:solidFill>
                          <a:srgbClr val="0000CC"/>
                        </a:solidFill>
                        <a:latin typeface="Cambria Math" panose="02040503050406030204" pitchFamily="18" charset="0"/>
                      </a:rPr>
                      <m:t>𝒗</m:t>
                    </m:r>
                    <m:d>
                      <m:dPr>
                        <m:ctrlPr>
                          <a:rPr lang="en-US" b="1" i="1" smtClean="0">
                            <a:solidFill>
                              <a:srgbClr val="0000CC"/>
                            </a:solidFill>
                            <a:latin typeface="Cambria Math" panose="02040503050406030204" pitchFamily="18" charset="0"/>
                          </a:rPr>
                        </m:ctrlPr>
                      </m:dPr>
                      <m:e>
                        <m:r>
                          <a:rPr lang="en-US" b="1" i="1" smtClean="0">
                            <a:solidFill>
                              <a:srgbClr val="0000CC"/>
                            </a:solidFill>
                            <a:latin typeface="Cambria Math" panose="02040503050406030204" pitchFamily="18" charset="0"/>
                          </a:rPr>
                          <m:t>𝒕</m:t>
                        </m:r>
                      </m:e>
                    </m:d>
                  </m:oMath>
                </a14:m>
                <a:r>
                  <a:rPr lang="en-US" b="1" dirty="0">
                    <a:solidFill>
                      <a:srgbClr val="0000CC"/>
                    </a:solidFill>
                  </a:rPr>
                  <a:t> = </a:t>
                </a:r>
                <a14:m>
                  <m:oMath xmlns:m="http://schemas.openxmlformats.org/officeDocument/2006/math">
                    <m:sSub>
                      <m:sSubPr>
                        <m:ctrlPr>
                          <a:rPr lang="en-US" b="1" i="1" smtClean="0">
                            <a:solidFill>
                              <a:srgbClr val="0000CC"/>
                            </a:solidFill>
                            <a:latin typeface="Cambria Math" panose="02040503050406030204" pitchFamily="18" charset="0"/>
                          </a:rPr>
                        </m:ctrlPr>
                      </m:sSubPr>
                      <m:e>
                        <m:r>
                          <a:rPr lang="en-US" b="1" i="1" smtClean="0">
                            <a:solidFill>
                              <a:srgbClr val="0000CC"/>
                            </a:solidFill>
                            <a:latin typeface="Cambria Math" panose="02040503050406030204" pitchFamily="18" charset="0"/>
                          </a:rPr>
                          <m:t>𝑽</m:t>
                        </m:r>
                      </m:e>
                      <m:sub>
                        <m:r>
                          <a:rPr lang="en-US" b="1" i="1" smtClean="0">
                            <a:solidFill>
                              <a:srgbClr val="0000CC"/>
                            </a:solidFill>
                            <a:latin typeface="Cambria Math" panose="02040503050406030204" pitchFamily="18" charset="0"/>
                          </a:rPr>
                          <m:t>𝟎</m:t>
                        </m:r>
                      </m:sub>
                    </m:sSub>
                    <m:r>
                      <a:rPr lang="en-US" b="1" i="1" smtClean="0">
                        <a:solidFill>
                          <a:srgbClr val="0000CC"/>
                        </a:solidFill>
                        <a:latin typeface="Cambria Math" panose="02040503050406030204" pitchFamily="18" charset="0"/>
                        <a:ea typeface="Cambria Math" panose="02040503050406030204" pitchFamily="18" charset="0"/>
                      </a:rPr>
                      <m:t>+ </m:t>
                    </m:r>
                    <m:nary>
                      <m:naryPr>
                        <m:chr m:val="∑"/>
                        <m:limLoc m:val="subSup"/>
                        <m:ctrlPr>
                          <a:rPr lang="en-US" b="1" i="1" smtClean="0">
                            <a:solidFill>
                              <a:srgbClr val="0000CC"/>
                            </a:solidFill>
                            <a:latin typeface="Cambria Math" panose="02040503050406030204" pitchFamily="18" charset="0"/>
                            <a:ea typeface="Cambria Math" panose="02040503050406030204" pitchFamily="18" charset="0"/>
                          </a:rPr>
                        </m:ctrlPr>
                      </m:naryPr>
                      <m:sub>
                        <m:r>
                          <m:rPr>
                            <m:brk m:alnAt="25"/>
                          </m:rPr>
                          <a:rPr lang="en-US" b="1" i="1" smtClean="0">
                            <a:solidFill>
                              <a:srgbClr val="0000CC"/>
                            </a:solidFill>
                            <a:latin typeface="Cambria Math" panose="02040503050406030204" pitchFamily="18" charset="0"/>
                            <a:ea typeface="Cambria Math" panose="02040503050406030204" pitchFamily="18" charset="0"/>
                          </a:rPr>
                          <m:t>𝒏</m:t>
                        </m:r>
                        <m:r>
                          <a:rPr lang="en-US" b="1" i="1" smtClean="0">
                            <a:solidFill>
                              <a:srgbClr val="0000CC"/>
                            </a:solidFill>
                            <a:latin typeface="Cambria Math" panose="02040503050406030204" pitchFamily="18" charset="0"/>
                            <a:ea typeface="Cambria Math" panose="02040503050406030204" pitchFamily="18" charset="0"/>
                          </a:rPr>
                          <m:t>=</m:t>
                        </m:r>
                        <m:r>
                          <a:rPr lang="en-US" b="1" i="1" smtClean="0">
                            <a:solidFill>
                              <a:srgbClr val="0000CC"/>
                            </a:solidFill>
                            <a:latin typeface="Cambria Math" panose="02040503050406030204" pitchFamily="18" charset="0"/>
                            <a:ea typeface="Cambria Math" panose="02040503050406030204" pitchFamily="18" charset="0"/>
                          </a:rPr>
                          <m:t>𝟏</m:t>
                        </m:r>
                      </m:sub>
                      <m:sup>
                        <m:r>
                          <a:rPr lang="en-US" b="1" i="1" smtClean="0">
                            <a:solidFill>
                              <a:srgbClr val="0000CC"/>
                            </a:solidFill>
                            <a:latin typeface="Cambria Math" panose="02040503050406030204" pitchFamily="18" charset="0"/>
                            <a:ea typeface="Cambria Math" panose="02040503050406030204" pitchFamily="18" charset="0"/>
                          </a:rPr>
                          <m:t>∞</m:t>
                        </m:r>
                      </m:sup>
                      <m:e>
                        <m:sSub>
                          <m:sSubPr>
                            <m:ctrlPr>
                              <a:rPr lang="en-US" b="1" i="1" smtClean="0">
                                <a:solidFill>
                                  <a:srgbClr val="0000CC"/>
                                </a:solidFill>
                                <a:latin typeface="Cambria Math" panose="02040503050406030204" pitchFamily="18" charset="0"/>
                                <a:ea typeface="Cambria Math" panose="02040503050406030204" pitchFamily="18" charset="0"/>
                              </a:rPr>
                            </m:ctrlPr>
                          </m:sSubPr>
                          <m:e>
                            <m:r>
                              <a:rPr lang="en-US" b="1" i="1" smtClean="0">
                                <a:solidFill>
                                  <a:srgbClr val="0000CC"/>
                                </a:solidFill>
                                <a:latin typeface="Cambria Math" panose="02040503050406030204" pitchFamily="18" charset="0"/>
                                <a:ea typeface="Cambria Math" panose="02040503050406030204" pitchFamily="18" charset="0"/>
                              </a:rPr>
                              <m:t>𝑽</m:t>
                            </m:r>
                          </m:e>
                          <m:sub>
                            <m:r>
                              <a:rPr lang="en-US" b="1" i="1" smtClean="0">
                                <a:solidFill>
                                  <a:srgbClr val="0000CC"/>
                                </a:solidFill>
                                <a:latin typeface="Cambria Math" panose="02040503050406030204" pitchFamily="18" charset="0"/>
                                <a:ea typeface="Cambria Math" panose="02040503050406030204" pitchFamily="18" charset="0"/>
                              </a:rPr>
                              <m:t>𝒏</m:t>
                            </m:r>
                          </m:sub>
                        </m:sSub>
                        <m:func>
                          <m:funcPr>
                            <m:ctrlPr>
                              <a:rPr lang="en-US" b="1" i="1" smtClean="0">
                                <a:solidFill>
                                  <a:srgbClr val="0000CC"/>
                                </a:solidFill>
                                <a:latin typeface="Cambria Math" panose="02040503050406030204" pitchFamily="18" charset="0"/>
                                <a:ea typeface="Cambria Math" panose="02040503050406030204" pitchFamily="18" charset="0"/>
                              </a:rPr>
                            </m:ctrlPr>
                          </m:funcPr>
                          <m:fName>
                            <m:r>
                              <a:rPr lang="en-US" b="1" i="0" smtClean="0">
                                <a:solidFill>
                                  <a:srgbClr val="0000CC"/>
                                </a:solidFill>
                                <a:latin typeface="Cambria Math" panose="02040503050406030204" pitchFamily="18" charset="0"/>
                                <a:ea typeface="Cambria Math" panose="02040503050406030204" pitchFamily="18" charset="0"/>
                              </a:rPr>
                              <m:t>𝐜𝐨𝐬</m:t>
                            </m:r>
                          </m:fName>
                          <m:e>
                            <m:d>
                              <m:dPr>
                                <m:ctrlPr>
                                  <a:rPr lang="en-US" b="1" i="1" smtClean="0">
                                    <a:solidFill>
                                      <a:srgbClr val="0000CC"/>
                                    </a:solidFill>
                                    <a:latin typeface="Cambria Math" panose="02040503050406030204" pitchFamily="18" charset="0"/>
                                    <a:ea typeface="Cambria Math" panose="02040503050406030204" pitchFamily="18" charset="0"/>
                                  </a:rPr>
                                </m:ctrlPr>
                              </m:dPr>
                              <m:e>
                                <m:r>
                                  <a:rPr lang="en-US" b="1" i="1" smtClean="0">
                                    <a:solidFill>
                                      <a:srgbClr val="0000CC"/>
                                    </a:solidFill>
                                    <a:latin typeface="Cambria Math" panose="02040503050406030204" pitchFamily="18" charset="0"/>
                                    <a:ea typeface="Cambria Math" panose="02040503050406030204" pitchFamily="18" charset="0"/>
                                  </a:rPr>
                                  <m:t>𝒏</m:t>
                                </m:r>
                                <m:sSub>
                                  <m:sSubPr>
                                    <m:ctrlPr>
                                      <a:rPr lang="en-US" b="1" i="1" smtClean="0">
                                        <a:solidFill>
                                          <a:srgbClr val="0000CC"/>
                                        </a:solidFill>
                                        <a:latin typeface="Cambria Math" panose="02040503050406030204" pitchFamily="18" charset="0"/>
                                        <a:ea typeface="Cambria Math" panose="02040503050406030204" pitchFamily="18" charset="0"/>
                                      </a:rPr>
                                    </m:ctrlPr>
                                  </m:sSubPr>
                                  <m:e>
                                    <m:r>
                                      <a:rPr lang="en-US" b="1" i="1" smtClean="0">
                                        <a:solidFill>
                                          <a:srgbClr val="0000CC"/>
                                        </a:solidFill>
                                        <a:latin typeface="Cambria Math" panose="02040503050406030204" pitchFamily="18" charset="0"/>
                                        <a:ea typeface="Cambria Math" panose="02040503050406030204" pitchFamily="18" charset="0"/>
                                      </a:rPr>
                                      <m:t>𝝎</m:t>
                                    </m:r>
                                  </m:e>
                                  <m:sub>
                                    <m:r>
                                      <a:rPr lang="en-US" b="1" i="1" smtClean="0">
                                        <a:solidFill>
                                          <a:srgbClr val="0000CC"/>
                                        </a:solidFill>
                                        <a:latin typeface="Cambria Math" panose="02040503050406030204" pitchFamily="18" charset="0"/>
                                        <a:ea typeface="Cambria Math" panose="02040503050406030204" pitchFamily="18" charset="0"/>
                                      </a:rPr>
                                      <m:t>𝟎</m:t>
                                    </m:r>
                                  </m:sub>
                                </m:sSub>
                                <m:r>
                                  <a:rPr lang="en-US" b="1" i="1" smtClean="0">
                                    <a:solidFill>
                                      <a:srgbClr val="0000CC"/>
                                    </a:solidFill>
                                    <a:latin typeface="Cambria Math" panose="02040503050406030204" pitchFamily="18" charset="0"/>
                                    <a:ea typeface="Cambria Math" panose="02040503050406030204" pitchFamily="18" charset="0"/>
                                  </a:rPr>
                                  <m:t>𝒕</m:t>
                                </m:r>
                                <m:r>
                                  <a:rPr lang="en-US" b="1" i="1" smtClean="0">
                                    <a:solidFill>
                                      <a:srgbClr val="0000CC"/>
                                    </a:solidFill>
                                    <a:latin typeface="Cambria Math" panose="02040503050406030204" pitchFamily="18" charset="0"/>
                                    <a:ea typeface="Cambria Math" panose="02040503050406030204" pitchFamily="18" charset="0"/>
                                  </a:rPr>
                                  <m:t>+</m:t>
                                </m:r>
                                <m:sSub>
                                  <m:sSubPr>
                                    <m:ctrlPr>
                                      <a:rPr lang="en-US" b="1" i="1" smtClean="0">
                                        <a:solidFill>
                                          <a:srgbClr val="0000CC"/>
                                        </a:solidFill>
                                        <a:latin typeface="Cambria Math" panose="02040503050406030204" pitchFamily="18" charset="0"/>
                                        <a:ea typeface="Cambria Math" panose="02040503050406030204" pitchFamily="18" charset="0"/>
                                      </a:rPr>
                                    </m:ctrlPr>
                                  </m:sSubPr>
                                  <m:e>
                                    <m:r>
                                      <a:rPr lang="en-US" b="1" i="1" smtClean="0">
                                        <a:solidFill>
                                          <a:srgbClr val="0000CC"/>
                                        </a:solidFill>
                                        <a:latin typeface="Cambria Math" panose="02040503050406030204" pitchFamily="18" charset="0"/>
                                        <a:ea typeface="Cambria Math" panose="02040503050406030204" pitchFamily="18" charset="0"/>
                                      </a:rPr>
                                      <m:t>𝜽</m:t>
                                    </m:r>
                                  </m:e>
                                  <m:sub>
                                    <m:r>
                                      <a:rPr lang="en-US" b="1" i="1" smtClean="0">
                                        <a:solidFill>
                                          <a:srgbClr val="0000CC"/>
                                        </a:solidFill>
                                        <a:latin typeface="Cambria Math" panose="02040503050406030204" pitchFamily="18" charset="0"/>
                                        <a:ea typeface="Cambria Math" panose="02040503050406030204" pitchFamily="18" charset="0"/>
                                      </a:rPr>
                                      <m:t>𝒏</m:t>
                                    </m:r>
                                  </m:sub>
                                </m:sSub>
                              </m:e>
                            </m:d>
                          </m:e>
                        </m:func>
                      </m:e>
                    </m:nary>
                  </m:oMath>
                </a14:m>
                <a:endParaRPr lang="en-US" b="1" dirty="0"/>
              </a:p>
            </p:txBody>
          </p:sp>
        </mc:Choice>
        <mc:Fallback xmlns="">
          <p:sp>
            <p:nvSpPr>
              <p:cNvPr id="9" name="TextBox 8">
                <a:extLst>
                  <a:ext uri="{FF2B5EF4-FFF2-40B4-BE49-F238E27FC236}">
                    <a16:creationId xmlns:a16="http://schemas.microsoft.com/office/drawing/2014/main" id="{600C4B01-9F05-430C-99C4-BAE6E35A29A8}"/>
                  </a:ext>
                </a:extLst>
              </p:cNvPr>
              <p:cNvSpPr txBox="1">
                <a:spLocks noRot="1" noChangeAspect="1" noMove="1" noResize="1" noEditPoints="1" noAdjustHandles="1" noChangeArrowheads="1" noChangeShapeType="1" noTextEdit="1"/>
              </p:cNvSpPr>
              <p:nvPr/>
            </p:nvSpPr>
            <p:spPr>
              <a:xfrm>
                <a:off x="1310640" y="2123440"/>
                <a:ext cx="3958482" cy="369332"/>
              </a:xfrm>
              <a:prstGeom prst="rect">
                <a:avLst/>
              </a:prstGeom>
              <a:blipFill>
                <a:blip r:embed="rId3"/>
                <a:stretch>
                  <a:fillRect t="-119672" b="-18360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EFFE6732-9F42-4A52-90C1-84DF9A7EE70A}"/>
                  </a:ext>
                </a:extLst>
              </p:cNvPr>
              <p:cNvSpPr txBox="1"/>
              <p:nvPr/>
            </p:nvSpPr>
            <p:spPr>
              <a:xfrm>
                <a:off x="1310640" y="2929652"/>
                <a:ext cx="3789680" cy="369332"/>
              </a:xfrm>
              <a:prstGeom prst="rect">
                <a:avLst/>
              </a:prstGeom>
              <a:solidFill>
                <a:srgbClr val="00FFFF"/>
              </a:solidFill>
            </p:spPr>
            <p:txBody>
              <a:bodyPr wrap="square" rtlCol="0">
                <a:spAutoFit/>
              </a:bodyPr>
              <a:lstStyle/>
              <a:p>
                <a14:m>
                  <m:oMath xmlns:m="http://schemas.openxmlformats.org/officeDocument/2006/math">
                    <m:r>
                      <a:rPr lang="en-US" b="1" i="1" smtClean="0">
                        <a:solidFill>
                          <a:srgbClr val="0000CC"/>
                        </a:solidFill>
                        <a:latin typeface="Cambria Math" panose="02040503050406030204" pitchFamily="18" charset="0"/>
                      </a:rPr>
                      <m:t>𝒊</m:t>
                    </m:r>
                    <m:r>
                      <a:rPr lang="en-US" b="1" i="1" smtClean="0">
                        <a:solidFill>
                          <a:srgbClr val="0000CC"/>
                        </a:solidFill>
                        <a:latin typeface="Cambria Math" panose="02040503050406030204" pitchFamily="18" charset="0"/>
                      </a:rPr>
                      <m:t>(</m:t>
                    </m:r>
                    <m:r>
                      <a:rPr lang="en-US" b="1" i="1" smtClean="0">
                        <a:solidFill>
                          <a:srgbClr val="0000CC"/>
                        </a:solidFill>
                        <a:latin typeface="Cambria Math" panose="02040503050406030204" pitchFamily="18" charset="0"/>
                      </a:rPr>
                      <m:t>𝒕</m:t>
                    </m:r>
                    <m:r>
                      <a:rPr lang="en-US" b="1" i="1" smtClean="0">
                        <a:solidFill>
                          <a:srgbClr val="0000CC"/>
                        </a:solidFill>
                        <a:latin typeface="Cambria Math" panose="02040503050406030204" pitchFamily="18" charset="0"/>
                      </a:rPr>
                      <m:t>)</m:t>
                    </m:r>
                  </m:oMath>
                </a14:m>
                <a:r>
                  <a:rPr lang="en-US" b="1" dirty="0">
                    <a:solidFill>
                      <a:srgbClr val="0000CC"/>
                    </a:solidFill>
                  </a:rPr>
                  <a:t> = </a:t>
                </a:r>
                <a14:m>
                  <m:oMath xmlns:m="http://schemas.openxmlformats.org/officeDocument/2006/math">
                    <m:sSub>
                      <m:sSubPr>
                        <m:ctrlPr>
                          <a:rPr lang="en-US" b="1" i="1" smtClean="0">
                            <a:solidFill>
                              <a:srgbClr val="0000CC"/>
                            </a:solidFill>
                            <a:latin typeface="Cambria Math" panose="02040503050406030204" pitchFamily="18" charset="0"/>
                          </a:rPr>
                        </m:ctrlPr>
                      </m:sSubPr>
                      <m:e>
                        <m:r>
                          <a:rPr lang="en-US" b="1" i="1" smtClean="0">
                            <a:solidFill>
                              <a:srgbClr val="0000CC"/>
                            </a:solidFill>
                            <a:latin typeface="Cambria Math" panose="02040503050406030204" pitchFamily="18" charset="0"/>
                          </a:rPr>
                          <m:t>𝑰</m:t>
                        </m:r>
                      </m:e>
                      <m:sub>
                        <m:r>
                          <a:rPr lang="en-US" b="1" i="1" smtClean="0">
                            <a:solidFill>
                              <a:srgbClr val="0000CC"/>
                            </a:solidFill>
                            <a:latin typeface="Cambria Math" panose="02040503050406030204" pitchFamily="18" charset="0"/>
                          </a:rPr>
                          <m:t>𝟎</m:t>
                        </m:r>
                      </m:sub>
                    </m:sSub>
                    <m:r>
                      <a:rPr lang="en-US" b="1" i="1" smtClean="0">
                        <a:solidFill>
                          <a:srgbClr val="0000CC"/>
                        </a:solidFill>
                        <a:latin typeface="Cambria Math" panose="02040503050406030204" pitchFamily="18" charset="0"/>
                        <a:ea typeface="Cambria Math" panose="02040503050406030204" pitchFamily="18" charset="0"/>
                      </a:rPr>
                      <m:t>+</m:t>
                    </m:r>
                  </m:oMath>
                </a14:m>
                <a:r>
                  <a:rPr lang="en-US" b="1" dirty="0">
                    <a:solidFill>
                      <a:srgbClr val="0000CC"/>
                    </a:solidFill>
                  </a:rPr>
                  <a:t> </a:t>
                </a:r>
                <a14:m>
                  <m:oMath xmlns:m="http://schemas.openxmlformats.org/officeDocument/2006/math">
                    <m:nary>
                      <m:naryPr>
                        <m:chr m:val="∑"/>
                        <m:limLoc m:val="subSup"/>
                        <m:ctrlPr>
                          <a:rPr lang="en-US" b="1" i="1" dirty="0" smtClean="0">
                            <a:solidFill>
                              <a:srgbClr val="0000CC"/>
                            </a:solidFill>
                            <a:latin typeface="Cambria Math" panose="02040503050406030204" pitchFamily="18" charset="0"/>
                          </a:rPr>
                        </m:ctrlPr>
                      </m:naryPr>
                      <m:sub>
                        <m:r>
                          <m:rPr>
                            <m:brk m:alnAt="25"/>
                          </m:rPr>
                          <a:rPr lang="en-US" b="1" i="1" dirty="0" smtClean="0">
                            <a:solidFill>
                              <a:srgbClr val="0000CC"/>
                            </a:solidFill>
                            <a:latin typeface="Cambria Math" panose="02040503050406030204" pitchFamily="18" charset="0"/>
                          </a:rPr>
                          <m:t>𝒏</m:t>
                        </m:r>
                        <m:r>
                          <a:rPr lang="en-US" b="1" i="1" dirty="0" smtClean="0">
                            <a:solidFill>
                              <a:srgbClr val="0000CC"/>
                            </a:solidFill>
                            <a:latin typeface="Cambria Math" panose="02040503050406030204" pitchFamily="18" charset="0"/>
                          </a:rPr>
                          <m:t>=</m:t>
                        </m:r>
                        <m:r>
                          <a:rPr lang="en-US" b="1" i="1" dirty="0" smtClean="0">
                            <a:solidFill>
                              <a:srgbClr val="0000CC"/>
                            </a:solidFill>
                            <a:latin typeface="Cambria Math" panose="02040503050406030204" pitchFamily="18" charset="0"/>
                          </a:rPr>
                          <m:t>𝟏</m:t>
                        </m:r>
                      </m:sub>
                      <m:sup>
                        <m:r>
                          <a:rPr lang="en-US" b="1" i="1" dirty="0" smtClean="0">
                            <a:solidFill>
                              <a:srgbClr val="0000CC"/>
                            </a:solidFill>
                            <a:latin typeface="Cambria Math" panose="02040503050406030204" pitchFamily="18" charset="0"/>
                            <a:ea typeface="Cambria Math" panose="02040503050406030204" pitchFamily="18" charset="0"/>
                          </a:rPr>
                          <m:t>∞</m:t>
                        </m:r>
                      </m:sup>
                      <m:e>
                        <m:sSub>
                          <m:sSubPr>
                            <m:ctrlPr>
                              <a:rPr lang="en-US" b="1" i="1" dirty="0" smtClean="0">
                                <a:solidFill>
                                  <a:srgbClr val="0000CC"/>
                                </a:solidFill>
                                <a:latin typeface="Cambria Math" panose="02040503050406030204" pitchFamily="18" charset="0"/>
                              </a:rPr>
                            </m:ctrlPr>
                          </m:sSubPr>
                          <m:e>
                            <m:r>
                              <a:rPr lang="en-US" b="1" i="1" dirty="0" smtClean="0">
                                <a:solidFill>
                                  <a:srgbClr val="0000CC"/>
                                </a:solidFill>
                                <a:latin typeface="Cambria Math" panose="02040503050406030204" pitchFamily="18" charset="0"/>
                              </a:rPr>
                              <m:t>𝑰</m:t>
                            </m:r>
                          </m:e>
                          <m:sub>
                            <m:r>
                              <a:rPr lang="en-US" b="1" i="1" dirty="0" smtClean="0">
                                <a:solidFill>
                                  <a:srgbClr val="0000CC"/>
                                </a:solidFill>
                                <a:latin typeface="Cambria Math" panose="02040503050406030204" pitchFamily="18" charset="0"/>
                              </a:rPr>
                              <m:t>𝒏</m:t>
                            </m:r>
                          </m:sub>
                        </m:sSub>
                      </m:e>
                    </m:nary>
                    <m:func>
                      <m:funcPr>
                        <m:ctrlPr>
                          <a:rPr lang="en-US" b="1" i="1" dirty="0" smtClean="0">
                            <a:solidFill>
                              <a:srgbClr val="0000CC"/>
                            </a:solidFill>
                            <a:latin typeface="Cambria Math" panose="02040503050406030204" pitchFamily="18" charset="0"/>
                          </a:rPr>
                        </m:ctrlPr>
                      </m:funcPr>
                      <m:fName>
                        <m:r>
                          <a:rPr lang="en-US" b="1" i="0" dirty="0" smtClean="0">
                            <a:solidFill>
                              <a:srgbClr val="0000CC"/>
                            </a:solidFill>
                            <a:latin typeface="Cambria Math" panose="02040503050406030204" pitchFamily="18" charset="0"/>
                          </a:rPr>
                          <m:t>𝐜𝐨𝐬</m:t>
                        </m:r>
                      </m:fName>
                      <m:e>
                        <m:d>
                          <m:dPr>
                            <m:ctrlPr>
                              <a:rPr lang="en-US" b="1" i="1" dirty="0" smtClean="0">
                                <a:solidFill>
                                  <a:srgbClr val="0000CC"/>
                                </a:solidFill>
                                <a:latin typeface="Cambria Math" panose="02040503050406030204" pitchFamily="18" charset="0"/>
                              </a:rPr>
                            </m:ctrlPr>
                          </m:dPr>
                          <m:e>
                            <m:r>
                              <a:rPr lang="en-US" b="1" i="1" dirty="0" smtClean="0">
                                <a:solidFill>
                                  <a:srgbClr val="0000CC"/>
                                </a:solidFill>
                                <a:latin typeface="Cambria Math" panose="02040503050406030204" pitchFamily="18" charset="0"/>
                              </a:rPr>
                              <m:t>𝒏</m:t>
                            </m:r>
                            <m:sSub>
                              <m:sSubPr>
                                <m:ctrlPr>
                                  <a:rPr lang="en-US" b="1" i="1" dirty="0" smtClean="0">
                                    <a:solidFill>
                                      <a:srgbClr val="0000CC"/>
                                    </a:solidFill>
                                    <a:latin typeface="Cambria Math" panose="02040503050406030204" pitchFamily="18" charset="0"/>
                                  </a:rPr>
                                </m:ctrlPr>
                              </m:sSubPr>
                              <m:e>
                                <m:r>
                                  <a:rPr lang="en-US" b="1" i="1" dirty="0" smtClean="0">
                                    <a:solidFill>
                                      <a:srgbClr val="0000CC"/>
                                    </a:solidFill>
                                    <a:latin typeface="Cambria Math" panose="02040503050406030204" pitchFamily="18" charset="0"/>
                                    <a:ea typeface="Cambria Math" panose="02040503050406030204" pitchFamily="18" charset="0"/>
                                  </a:rPr>
                                  <m:t>𝝎</m:t>
                                </m:r>
                              </m:e>
                              <m:sub>
                                <m:r>
                                  <a:rPr lang="en-US" b="1" i="1" dirty="0" smtClean="0">
                                    <a:solidFill>
                                      <a:srgbClr val="0000CC"/>
                                    </a:solidFill>
                                    <a:latin typeface="Cambria Math" panose="02040503050406030204" pitchFamily="18" charset="0"/>
                                  </a:rPr>
                                  <m:t>𝟎</m:t>
                                </m:r>
                              </m:sub>
                            </m:sSub>
                            <m:r>
                              <a:rPr lang="en-US" b="1" i="1" dirty="0" smtClean="0">
                                <a:solidFill>
                                  <a:srgbClr val="0000CC"/>
                                </a:solidFill>
                                <a:latin typeface="Cambria Math" panose="02040503050406030204" pitchFamily="18" charset="0"/>
                              </a:rPr>
                              <m:t>𝒕</m:t>
                            </m:r>
                            <m:r>
                              <a:rPr lang="en-US" b="1" i="1" dirty="0" smtClean="0">
                                <a:solidFill>
                                  <a:srgbClr val="0000CC"/>
                                </a:solidFill>
                                <a:latin typeface="Cambria Math" panose="02040503050406030204" pitchFamily="18" charset="0"/>
                                <a:ea typeface="Cambria Math" panose="02040503050406030204" pitchFamily="18" charset="0"/>
                              </a:rPr>
                              <m:t>+</m:t>
                            </m:r>
                            <m:sSub>
                              <m:sSubPr>
                                <m:ctrlPr>
                                  <a:rPr lang="en-US" b="1" i="1" dirty="0" smtClean="0">
                                    <a:solidFill>
                                      <a:srgbClr val="0000CC"/>
                                    </a:solidFill>
                                    <a:latin typeface="Cambria Math" panose="02040503050406030204" pitchFamily="18" charset="0"/>
                                    <a:ea typeface="Cambria Math" panose="02040503050406030204" pitchFamily="18" charset="0"/>
                                  </a:rPr>
                                </m:ctrlPr>
                              </m:sSubPr>
                              <m:e>
                                <m:r>
                                  <a:rPr lang="en-US" b="1" i="1" dirty="0">
                                    <a:solidFill>
                                      <a:srgbClr val="0000CC"/>
                                    </a:solidFill>
                                    <a:latin typeface="Cambria Math" panose="02040503050406030204" pitchFamily="18" charset="0"/>
                                    <a:ea typeface="Cambria Math" panose="02040503050406030204" pitchFamily="18" charset="0"/>
                                  </a:rPr>
                                  <m:t>𝝓</m:t>
                                </m:r>
                              </m:e>
                              <m:sub>
                                <m:r>
                                  <a:rPr lang="en-US" b="1" i="1" dirty="0" smtClean="0">
                                    <a:solidFill>
                                      <a:srgbClr val="0000CC"/>
                                    </a:solidFill>
                                    <a:latin typeface="Cambria Math" panose="02040503050406030204" pitchFamily="18" charset="0"/>
                                    <a:ea typeface="Cambria Math" panose="02040503050406030204" pitchFamily="18" charset="0"/>
                                  </a:rPr>
                                  <m:t>𝒏</m:t>
                                </m:r>
                              </m:sub>
                            </m:sSub>
                          </m:e>
                        </m:d>
                      </m:e>
                    </m:func>
                  </m:oMath>
                </a14:m>
                <a:endParaRPr lang="en-US" b="1" dirty="0"/>
              </a:p>
            </p:txBody>
          </p:sp>
        </mc:Choice>
        <mc:Fallback xmlns="">
          <p:sp>
            <p:nvSpPr>
              <p:cNvPr id="10" name="TextBox 9">
                <a:extLst>
                  <a:ext uri="{FF2B5EF4-FFF2-40B4-BE49-F238E27FC236}">
                    <a16:creationId xmlns:a16="http://schemas.microsoft.com/office/drawing/2014/main" id="{EFFE6732-9F42-4A52-90C1-84DF9A7EE70A}"/>
                  </a:ext>
                </a:extLst>
              </p:cNvPr>
              <p:cNvSpPr txBox="1">
                <a:spLocks noRot="1" noChangeAspect="1" noMove="1" noResize="1" noEditPoints="1" noAdjustHandles="1" noChangeArrowheads="1" noChangeShapeType="1" noTextEdit="1"/>
              </p:cNvSpPr>
              <p:nvPr/>
            </p:nvSpPr>
            <p:spPr>
              <a:xfrm>
                <a:off x="1310640" y="2929652"/>
                <a:ext cx="3789680" cy="369332"/>
              </a:xfrm>
              <a:prstGeom prst="rect">
                <a:avLst/>
              </a:prstGeom>
              <a:blipFill>
                <a:blip r:embed="rId4"/>
                <a:stretch>
                  <a:fillRect t="-121667" b="-18833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62C2AA20-2A09-4A95-B678-3BE2A85C2F21}"/>
                  </a:ext>
                </a:extLst>
              </p:cNvPr>
              <p:cNvSpPr txBox="1"/>
              <p:nvPr/>
            </p:nvSpPr>
            <p:spPr>
              <a:xfrm>
                <a:off x="2169160" y="4592437"/>
                <a:ext cx="2072640" cy="493533"/>
              </a:xfrm>
              <a:prstGeom prst="rect">
                <a:avLst/>
              </a:prstGeom>
              <a:solidFill>
                <a:srgbClr val="00FFFF"/>
              </a:solidFill>
            </p:spPr>
            <p:txBody>
              <a:bodyPr wrap="square" rtlCol="0">
                <a:spAutoFit/>
              </a:bodyPr>
              <a:lstStyle/>
              <a:p>
                <a14:m>
                  <m:oMath xmlns:m="http://schemas.openxmlformats.org/officeDocument/2006/math">
                    <m:r>
                      <a:rPr lang="en-US" b="1" i="1" smtClean="0">
                        <a:solidFill>
                          <a:srgbClr val="0000CC"/>
                        </a:solidFill>
                        <a:latin typeface="Cambria Math" panose="02040503050406030204" pitchFamily="18" charset="0"/>
                      </a:rPr>
                      <m:t>𝑷</m:t>
                    </m:r>
                    <m:r>
                      <a:rPr lang="en-US" b="1" i="1" smtClean="0">
                        <a:solidFill>
                          <a:srgbClr val="0000CC"/>
                        </a:solidFill>
                        <a:latin typeface="Cambria Math" panose="02040503050406030204" pitchFamily="18" charset="0"/>
                      </a:rPr>
                      <m:t> </m:t>
                    </m:r>
                  </m:oMath>
                </a14:m>
                <a:r>
                  <a:rPr lang="en-US" b="1" dirty="0">
                    <a:solidFill>
                      <a:srgbClr val="0000CC"/>
                    </a:solidFill>
                  </a:rPr>
                  <a:t>= </a:t>
                </a:r>
                <a14:m>
                  <m:oMath xmlns:m="http://schemas.openxmlformats.org/officeDocument/2006/math">
                    <m:f>
                      <m:fPr>
                        <m:ctrlPr>
                          <a:rPr lang="en-US" b="1" i="1" smtClean="0">
                            <a:solidFill>
                              <a:srgbClr val="0000CC"/>
                            </a:solidFill>
                            <a:latin typeface="Cambria Math" panose="02040503050406030204" pitchFamily="18" charset="0"/>
                          </a:rPr>
                        </m:ctrlPr>
                      </m:fPr>
                      <m:num>
                        <m:r>
                          <a:rPr lang="en-US" b="1" i="1" smtClean="0">
                            <a:solidFill>
                              <a:srgbClr val="0000CC"/>
                            </a:solidFill>
                            <a:latin typeface="Cambria Math" panose="02040503050406030204" pitchFamily="18" charset="0"/>
                          </a:rPr>
                          <m:t>𝟏</m:t>
                        </m:r>
                      </m:num>
                      <m:den>
                        <m:r>
                          <a:rPr lang="en-US" b="1" i="1" smtClean="0">
                            <a:solidFill>
                              <a:srgbClr val="0000CC"/>
                            </a:solidFill>
                            <a:latin typeface="Cambria Math" panose="02040503050406030204" pitchFamily="18" charset="0"/>
                          </a:rPr>
                          <m:t>𝑻</m:t>
                        </m:r>
                      </m:den>
                    </m:f>
                    <m:nary>
                      <m:naryPr>
                        <m:limLoc m:val="undOvr"/>
                        <m:ctrlPr>
                          <a:rPr lang="en-US" b="1" i="1" smtClean="0">
                            <a:solidFill>
                              <a:srgbClr val="0000CC"/>
                            </a:solidFill>
                            <a:latin typeface="Cambria Math" panose="02040503050406030204" pitchFamily="18" charset="0"/>
                          </a:rPr>
                        </m:ctrlPr>
                      </m:naryPr>
                      <m:sub>
                        <m:r>
                          <m:rPr>
                            <m:brk m:alnAt="24"/>
                          </m:rPr>
                          <a:rPr lang="en-US" b="1" i="1" smtClean="0">
                            <a:solidFill>
                              <a:srgbClr val="0000CC"/>
                            </a:solidFill>
                            <a:latin typeface="Cambria Math" panose="02040503050406030204" pitchFamily="18" charset="0"/>
                          </a:rPr>
                          <m:t>𝟎</m:t>
                        </m:r>
                      </m:sub>
                      <m:sup>
                        <m:r>
                          <a:rPr lang="en-US" b="1" i="1" smtClean="0">
                            <a:solidFill>
                              <a:srgbClr val="0000CC"/>
                            </a:solidFill>
                            <a:latin typeface="Cambria Math" panose="02040503050406030204" pitchFamily="18" charset="0"/>
                          </a:rPr>
                          <m:t>𝑻</m:t>
                        </m:r>
                      </m:sup>
                      <m:e>
                        <m:r>
                          <a:rPr lang="en-US" b="1" i="1" smtClean="0">
                            <a:solidFill>
                              <a:srgbClr val="0000CC"/>
                            </a:solidFill>
                            <a:latin typeface="Cambria Math" panose="02040503050406030204" pitchFamily="18" charset="0"/>
                          </a:rPr>
                          <m:t>𝑽</m:t>
                        </m:r>
                        <m:d>
                          <m:dPr>
                            <m:ctrlPr>
                              <a:rPr lang="en-US" b="1" i="1" smtClean="0">
                                <a:solidFill>
                                  <a:srgbClr val="0000CC"/>
                                </a:solidFill>
                                <a:latin typeface="Cambria Math" panose="02040503050406030204" pitchFamily="18" charset="0"/>
                              </a:rPr>
                            </m:ctrlPr>
                          </m:dPr>
                          <m:e>
                            <m:r>
                              <a:rPr lang="en-US" b="1" i="1" smtClean="0">
                                <a:solidFill>
                                  <a:srgbClr val="0000CC"/>
                                </a:solidFill>
                                <a:latin typeface="Cambria Math" panose="02040503050406030204" pitchFamily="18" charset="0"/>
                              </a:rPr>
                              <m:t>𝒕</m:t>
                            </m:r>
                          </m:e>
                        </m:d>
                        <m:r>
                          <a:rPr lang="en-US" b="1" i="1" smtClean="0">
                            <a:solidFill>
                              <a:srgbClr val="0000CC"/>
                            </a:solidFill>
                            <a:latin typeface="Cambria Math" panose="02040503050406030204" pitchFamily="18" charset="0"/>
                          </a:rPr>
                          <m:t>𝒊</m:t>
                        </m:r>
                        <m:d>
                          <m:dPr>
                            <m:ctrlPr>
                              <a:rPr lang="en-US" b="1" i="1" smtClean="0">
                                <a:solidFill>
                                  <a:srgbClr val="0000CC"/>
                                </a:solidFill>
                                <a:latin typeface="Cambria Math" panose="02040503050406030204" pitchFamily="18" charset="0"/>
                              </a:rPr>
                            </m:ctrlPr>
                          </m:dPr>
                          <m:e>
                            <m:r>
                              <a:rPr lang="en-US" b="1" i="1" smtClean="0">
                                <a:solidFill>
                                  <a:srgbClr val="0000CC"/>
                                </a:solidFill>
                                <a:latin typeface="Cambria Math" panose="02040503050406030204" pitchFamily="18" charset="0"/>
                              </a:rPr>
                              <m:t>𝒕</m:t>
                            </m:r>
                          </m:e>
                        </m:d>
                        <m:r>
                          <a:rPr lang="en-US" b="1" i="1" smtClean="0">
                            <a:solidFill>
                              <a:srgbClr val="0000CC"/>
                            </a:solidFill>
                            <a:latin typeface="Cambria Math" panose="02040503050406030204" pitchFamily="18" charset="0"/>
                          </a:rPr>
                          <m:t>𝒅𝒕</m:t>
                        </m:r>
                      </m:e>
                    </m:nary>
                  </m:oMath>
                </a14:m>
                <a:endParaRPr lang="en-US" b="1" dirty="0"/>
              </a:p>
            </p:txBody>
          </p:sp>
        </mc:Choice>
        <mc:Fallback xmlns="">
          <p:sp>
            <p:nvSpPr>
              <p:cNvPr id="11" name="TextBox 10">
                <a:extLst>
                  <a:ext uri="{FF2B5EF4-FFF2-40B4-BE49-F238E27FC236}">
                    <a16:creationId xmlns:a16="http://schemas.microsoft.com/office/drawing/2014/main" id="{62C2AA20-2A09-4A95-B678-3BE2A85C2F21}"/>
                  </a:ext>
                </a:extLst>
              </p:cNvPr>
              <p:cNvSpPr txBox="1">
                <a:spLocks noRot="1" noChangeAspect="1" noMove="1" noResize="1" noEditPoints="1" noAdjustHandles="1" noChangeArrowheads="1" noChangeShapeType="1" noTextEdit="1"/>
              </p:cNvSpPr>
              <p:nvPr/>
            </p:nvSpPr>
            <p:spPr>
              <a:xfrm>
                <a:off x="2169160" y="4592437"/>
                <a:ext cx="2072640" cy="493533"/>
              </a:xfrm>
              <a:prstGeom prst="rect">
                <a:avLst/>
              </a:prstGeom>
              <a:blipFill>
                <a:blip r:embed="rId5"/>
                <a:stretch>
                  <a:fillRect t="-98765" b="-156790"/>
                </a:stretch>
              </a:blipFill>
            </p:spPr>
            <p:txBody>
              <a:bodyPr/>
              <a:lstStyle/>
              <a:p>
                <a:r>
                  <a:rPr lang="en-US">
                    <a:noFill/>
                  </a:rPr>
                  <a:t> </a:t>
                </a:r>
              </a:p>
            </p:txBody>
          </p:sp>
        </mc:Fallback>
      </mc:AlternateContent>
    </p:spTree>
    <p:extLst>
      <p:ext uri="{BB962C8B-B14F-4D97-AF65-F5344CB8AC3E}">
        <p14:creationId xmlns:p14="http://schemas.microsoft.com/office/powerpoint/2010/main" val="192206757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6">
            <a:extLst>
              <a:ext uri="{FF2B5EF4-FFF2-40B4-BE49-F238E27FC236}">
                <a16:creationId xmlns:a16="http://schemas.microsoft.com/office/drawing/2014/main" id="{56080804-F19F-41A7-8595-943961648C5E}"/>
              </a:ext>
            </a:extLst>
          </p:cNvPr>
          <p:cNvSpPr>
            <a:spLocks noGrp="1"/>
          </p:cNvSpPr>
          <p:nvPr>
            <p:ph type="sldNum" sz="quarter" idx="12"/>
          </p:nvPr>
        </p:nvSpPr>
        <p:spPr>
          <a:xfrm>
            <a:off x="8610600" y="6441692"/>
            <a:ext cx="2743200" cy="370027"/>
          </a:xfrm>
        </p:spPr>
        <p:txBody>
          <a:bodyPr/>
          <a:lstStyle/>
          <a:p>
            <a:fld id="{F4801FD5-11B4-DE43-ACA2-E85EEB9A6F9C}" type="slidenum">
              <a:rPr lang="en-US" smtClean="0">
                <a:latin typeface="Garamond" panose="02020404030301010803" pitchFamily="18" charset="0"/>
              </a:rPr>
              <a:t>30</a:t>
            </a:fld>
            <a:endParaRPr lang="en-US">
              <a:latin typeface="Garamond" panose="02020404030301010803" pitchFamily="18" charset="0"/>
            </a:endParaRPr>
          </a:p>
        </p:txBody>
      </p:sp>
      <p:sp>
        <p:nvSpPr>
          <p:cNvPr id="5" name="Title 1">
            <a:extLst>
              <a:ext uri="{FF2B5EF4-FFF2-40B4-BE49-F238E27FC236}">
                <a16:creationId xmlns:a16="http://schemas.microsoft.com/office/drawing/2014/main" id="{4710AE4B-0DB8-4451-B9E4-10BAE11B4D3A}"/>
              </a:ext>
            </a:extLst>
          </p:cNvPr>
          <p:cNvSpPr>
            <a:spLocks noGrp="1"/>
          </p:cNvSpPr>
          <p:nvPr>
            <p:ph type="title"/>
          </p:nvPr>
        </p:nvSpPr>
        <p:spPr>
          <a:xfrm>
            <a:off x="497840" y="113802"/>
            <a:ext cx="10972800" cy="1115558"/>
          </a:xfrm>
        </p:spPr>
        <p:txBody>
          <a:bodyPr>
            <a:noAutofit/>
          </a:bodyPr>
          <a:lstStyle/>
          <a:p>
            <a:pPr algn="ctr"/>
            <a:r>
              <a:rPr lang="en-US" sz="3200" b="1" u="sng" dirty="0">
                <a:solidFill>
                  <a:srgbClr val="FF3386"/>
                </a:solidFill>
                <a:latin typeface="Century Gothic" panose="020B0502020202020204" pitchFamily="34" charset="0"/>
                <a:cs typeface="Helvetica"/>
              </a:rPr>
              <a:t>POWER COMPUTATION FOR NONSINUSOIDAL PERIODIC WAVEFORMS</a:t>
            </a:r>
          </a:p>
        </p:txBody>
      </p:sp>
      <p:sp>
        <p:nvSpPr>
          <p:cNvPr id="6" name="TextBox 5">
            <a:extLst>
              <a:ext uri="{FF2B5EF4-FFF2-40B4-BE49-F238E27FC236}">
                <a16:creationId xmlns:a16="http://schemas.microsoft.com/office/drawing/2014/main" id="{6BAA1F11-5BEF-4D80-964F-A7332E36BFA0}"/>
              </a:ext>
            </a:extLst>
          </p:cNvPr>
          <p:cNvSpPr txBox="1"/>
          <p:nvPr/>
        </p:nvSpPr>
        <p:spPr>
          <a:xfrm>
            <a:off x="193040" y="1229360"/>
            <a:ext cx="11887199" cy="5632311"/>
          </a:xfrm>
          <a:prstGeom prst="rect">
            <a:avLst/>
          </a:prstGeom>
          <a:noFill/>
          <a:ln>
            <a:solidFill>
              <a:srgbClr val="FF0066"/>
            </a:solidFill>
          </a:ln>
        </p:spPr>
        <p:txBody>
          <a:bodyPr wrap="square" rtlCol="0">
            <a:spAutoFit/>
          </a:bodyPr>
          <a:lstStyle/>
          <a:p>
            <a:pPr marL="342900" indent="-342900">
              <a:buClr>
                <a:schemeClr val="accent2"/>
              </a:buClr>
              <a:buFont typeface="Arial" panose="020B0604020202020204" pitchFamily="34" charset="0"/>
              <a:buChar char="•"/>
            </a:pPr>
            <a:r>
              <a:rPr lang="en-GB" sz="2400" b="1" kern="100" dirty="0">
                <a:solidFill>
                  <a:srgbClr val="0000CC"/>
                </a:solidFill>
                <a:latin typeface="Century Gothic" panose="020B0502020202020204" pitchFamily="34" charset="0"/>
                <a:ea typeface="Calibri" panose="020F0502020204030204" pitchFamily="34" charset="0"/>
                <a:cs typeface="Times New Roman" panose="02020603050405020304" pitchFamily="18" charset="0"/>
              </a:rPr>
              <a:t>Consequently, average power for nonsinusoidal periodic voltage and current waveform is</a:t>
            </a:r>
          </a:p>
          <a:p>
            <a:pPr>
              <a:buClr>
                <a:schemeClr val="accent2"/>
              </a:buClr>
            </a:pPr>
            <a:endParaRPr lang="en-GB" sz="2400" b="1" kern="100" dirty="0">
              <a:solidFill>
                <a:srgbClr val="0000CC"/>
              </a:solidFill>
              <a:latin typeface="Century Gothic" panose="020B0502020202020204" pitchFamily="34" charset="0"/>
              <a:ea typeface="Calibri" panose="020F0502020204030204" pitchFamily="34" charset="0"/>
              <a:cs typeface="Times New Roman" panose="02020603050405020304" pitchFamily="18" charset="0"/>
            </a:endParaRPr>
          </a:p>
          <a:p>
            <a:pPr lvl="2">
              <a:buClr>
                <a:schemeClr val="accent2"/>
              </a:buClr>
            </a:pPr>
            <a:r>
              <a:rPr lang="en-GB" sz="2400" b="1" kern="100" dirty="0">
                <a:solidFill>
                  <a:srgbClr val="0000CC"/>
                </a:solidFill>
                <a:latin typeface="Century Gothic" panose="020B0502020202020204" pitchFamily="34" charset="0"/>
                <a:ea typeface="Calibri" panose="020F0502020204030204" pitchFamily="34" charset="0"/>
                <a:cs typeface="Times New Roman" panose="02020603050405020304" pitchFamily="18" charset="0"/>
              </a:rPr>
              <a:t>                                                                           </a:t>
            </a:r>
          </a:p>
          <a:p>
            <a:pPr lvl="2">
              <a:buClr>
                <a:schemeClr val="accent2"/>
              </a:buClr>
            </a:pPr>
            <a:endParaRPr lang="en-GB" sz="2400" b="1" kern="100" dirty="0">
              <a:solidFill>
                <a:srgbClr val="0000CC"/>
              </a:solidFill>
              <a:latin typeface="Century Gothic" panose="020B0502020202020204" pitchFamily="34" charset="0"/>
              <a:ea typeface="Calibri" panose="020F0502020204030204" pitchFamily="34" charset="0"/>
              <a:cs typeface="Times New Roman" panose="02020603050405020304" pitchFamily="18" charset="0"/>
            </a:endParaRPr>
          </a:p>
          <a:p>
            <a:pPr lvl="2">
              <a:buClr>
                <a:schemeClr val="accent2"/>
              </a:buClr>
            </a:pPr>
            <a:endParaRPr lang="en-GB" sz="2400" b="1" kern="100" dirty="0">
              <a:solidFill>
                <a:srgbClr val="0000CC"/>
              </a:solidFill>
              <a:latin typeface="Century Gothic" panose="020B0502020202020204" pitchFamily="34" charset="0"/>
              <a:ea typeface="Calibri" panose="020F0502020204030204" pitchFamily="34" charset="0"/>
              <a:cs typeface="Times New Roman" panose="02020603050405020304" pitchFamily="18" charset="0"/>
            </a:endParaRPr>
          </a:p>
          <a:p>
            <a:pPr lvl="2">
              <a:buClr>
                <a:schemeClr val="accent2"/>
              </a:buClr>
            </a:pPr>
            <a:r>
              <a:rPr lang="en-GB" sz="2400" b="1" kern="100" dirty="0">
                <a:solidFill>
                  <a:srgbClr val="0000CC"/>
                </a:solidFill>
                <a:latin typeface="Century Gothic" panose="020B0502020202020204" pitchFamily="34" charset="0"/>
                <a:ea typeface="Calibri" panose="020F0502020204030204" pitchFamily="34" charset="0"/>
                <a:cs typeface="Times New Roman" panose="02020603050405020304" pitchFamily="18" charset="0"/>
              </a:rPr>
              <a:t>                           </a:t>
            </a:r>
          </a:p>
          <a:p>
            <a:pPr lvl="2">
              <a:buClr>
                <a:schemeClr val="accent2"/>
              </a:buClr>
            </a:pPr>
            <a:r>
              <a:rPr lang="en-GB" sz="2400" b="1" kern="100" dirty="0">
                <a:solidFill>
                  <a:srgbClr val="0000CC"/>
                </a:solidFill>
                <a:latin typeface="Century Gothic" panose="020B0502020202020204" pitchFamily="34" charset="0"/>
                <a:ea typeface="Calibri" panose="020F0502020204030204" pitchFamily="34" charset="0"/>
                <a:cs typeface="Times New Roman" panose="02020603050405020304" pitchFamily="18" charset="0"/>
              </a:rPr>
              <a:t>                            or</a:t>
            </a:r>
          </a:p>
          <a:p>
            <a:pPr lvl="2">
              <a:buClr>
                <a:schemeClr val="accent2"/>
              </a:buClr>
            </a:pPr>
            <a:endParaRPr lang="en-GB" sz="2400" b="1" kern="100" dirty="0">
              <a:solidFill>
                <a:srgbClr val="0000CC"/>
              </a:solidFill>
              <a:latin typeface="Century Gothic" panose="020B0502020202020204" pitchFamily="34" charset="0"/>
              <a:ea typeface="Calibri" panose="020F0502020204030204" pitchFamily="34" charset="0"/>
              <a:cs typeface="Times New Roman" panose="02020603050405020304" pitchFamily="18" charset="0"/>
            </a:endParaRPr>
          </a:p>
          <a:p>
            <a:pPr lvl="2">
              <a:buClr>
                <a:schemeClr val="accent2"/>
              </a:buClr>
            </a:pPr>
            <a:r>
              <a:rPr lang="en-GB" sz="2400" b="1" kern="100" dirty="0">
                <a:solidFill>
                  <a:srgbClr val="0000CC"/>
                </a:solidFill>
                <a:latin typeface="Century Gothic" panose="020B0502020202020204" pitchFamily="34" charset="0"/>
                <a:ea typeface="Calibri" panose="020F0502020204030204" pitchFamily="34" charset="0"/>
                <a:cs typeface="Times New Roman" panose="02020603050405020304" pitchFamily="18" charset="0"/>
              </a:rPr>
              <a:t>	</a:t>
            </a:r>
          </a:p>
          <a:p>
            <a:pPr>
              <a:buClr>
                <a:schemeClr val="accent2"/>
              </a:buClr>
            </a:pPr>
            <a:r>
              <a:rPr lang="en-GB" sz="2400" b="1" kern="100" dirty="0">
                <a:solidFill>
                  <a:srgbClr val="0000CC"/>
                </a:solidFill>
                <a:latin typeface="Century Gothic" panose="020B0502020202020204" pitchFamily="34" charset="0"/>
                <a:ea typeface="Calibri" panose="020F0502020204030204" pitchFamily="34" charset="0"/>
                <a:cs typeface="Times New Roman" panose="02020603050405020304" pitchFamily="18" charset="0"/>
              </a:rPr>
              <a:t>	                                                                                   </a:t>
            </a:r>
          </a:p>
          <a:p>
            <a:pPr>
              <a:buClr>
                <a:schemeClr val="accent2"/>
              </a:buClr>
            </a:pPr>
            <a:endParaRPr lang="en-GB" sz="2400" b="1" kern="100" dirty="0">
              <a:solidFill>
                <a:srgbClr val="0000CC"/>
              </a:solidFill>
              <a:latin typeface="Century Gothic" panose="020B0502020202020204" pitchFamily="34" charset="0"/>
              <a:ea typeface="Calibri" panose="020F0502020204030204" pitchFamily="34" charset="0"/>
              <a:cs typeface="Times New Roman" panose="02020603050405020304" pitchFamily="18" charset="0"/>
            </a:endParaRPr>
          </a:p>
          <a:p>
            <a:pPr>
              <a:buClr>
                <a:schemeClr val="accent2"/>
              </a:buClr>
            </a:pPr>
            <a:br>
              <a:rPr lang="en-GB" sz="2400" b="1" kern="100" dirty="0">
                <a:solidFill>
                  <a:srgbClr val="0000CC"/>
                </a:solidFill>
                <a:latin typeface="Century Gothic" panose="020B0502020202020204" pitchFamily="34" charset="0"/>
                <a:ea typeface="Calibri" panose="020F0502020204030204" pitchFamily="34" charset="0"/>
                <a:cs typeface="Times New Roman" panose="02020603050405020304" pitchFamily="18" charset="0"/>
              </a:rPr>
            </a:br>
            <a:r>
              <a:rPr lang="en-GB" sz="2400" b="1" kern="100" dirty="0">
                <a:solidFill>
                  <a:srgbClr val="0000CC"/>
                </a:solidFill>
                <a:latin typeface="Century Gothic" panose="020B0502020202020204" pitchFamily="34" charset="0"/>
                <a:ea typeface="Calibri" panose="020F0502020204030204" pitchFamily="34" charset="0"/>
                <a:cs typeface="Times New Roman" panose="02020603050405020304" pitchFamily="18" charset="0"/>
              </a:rPr>
              <a:t> </a:t>
            </a:r>
          </a:p>
          <a:p>
            <a:pPr>
              <a:buClr>
                <a:schemeClr val="accent2"/>
              </a:buClr>
            </a:pPr>
            <a:r>
              <a:rPr lang="en-GB" sz="2400" b="1" kern="100" dirty="0">
                <a:solidFill>
                  <a:srgbClr val="0000CC"/>
                </a:solidFill>
                <a:latin typeface="Century Gothic" panose="020B0502020202020204" pitchFamily="34" charset="0"/>
                <a:ea typeface="Calibri" panose="020F0502020204030204" pitchFamily="34" charset="0"/>
                <a:cs typeface="Times New Roman" panose="02020603050405020304" pitchFamily="18" charset="0"/>
              </a:rPr>
              <a:t>	</a:t>
            </a:r>
            <a:endParaRPr lang="en-GB" sz="2400" kern="100" dirty="0">
              <a:solidFill>
                <a:srgbClr val="0000CC"/>
              </a:solidFill>
              <a:latin typeface="Century Gothic" panose="020B0502020202020204" pitchFamily="34" charset="0"/>
              <a:ea typeface="Calibri" panose="020F0502020204030204" pitchFamily="34" charset="0"/>
              <a:cs typeface="Times New Roman" panose="02020603050405020304" pitchFamily="18" charset="0"/>
            </a:endParaRPr>
          </a:p>
        </p:txBody>
      </p:sp>
      <p:sp>
        <p:nvSpPr>
          <p:cNvPr id="7" name="TextBox 6">
            <a:extLst>
              <a:ext uri="{FF2B5EF4-FFF2-40B4-BE49-F238E27FC236}">
                <a16:creationId xmlns:a16="http://schemas.microsoft.com/office/drawing/2014/main" id="{C36AA635-C21F-49F3-BF21-4CBE4C20709B}"/>
              </a:ext>
            </a:extLst>
          </p:cNvPr>
          <p:cNvSpPr txBox="1"/>
          <p:nvPr/>
        </p:nvSpPr>
        <p:spPr>
          <a:xfrm>
            <a:off x="5269122" y="6037275"/>
            <a:ext cx="823314" cy="373051"/>
          </a:xfrm>
          <a:prstGeom prst="rect">
            <a:avLst/>
          </a:prstGeom>
          <a:noFill/>
        </p:spPr>
        <p:txBody>
          <a:bodyPr wrap="square" rtlCol="0">
            <a:spAutoFit/>
          </a:bodyPr>
          <a:lstStyle/>
          <a:p>
            <a:pPr algn="ctr"/>
            <a:endParaRPr lang="en-GB" sz="1824" dirty="0">
              <a:latin typeface="Garamond" panose="02020404030301010803" pitchFamily="18" charset="0"/>
            </a:endParaRPr>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49FA48B8-400F-4C80-9AF7-E2F4DC8259AB}"/>
                  </a:ext>
                </a:extLst>
              </p:cNvPr>
              <p:cNvSpPr txBox="1"/>
              <p:nvPr/>
            </p:nvSpPr>
            <p:spPr>
              <a:xfrm>
                <a:off x="1088851" y="2402803"/>
                <a:ext cx="10020136" cy="542136"/>
              </a:xfrm>
              <a:prstGeom prst="rect">
                <a:avLst/>
              </a:prstGeom>
              <a:solidFill>
                <a:srgbClr val="00FFFF"/>
              </a:solidFill>
            </p:spPr>
            <p:txBody>
              <a:bodyPr wrap="square" rtlCol="0">
                <a:spAutoFit/>
              </a:bodyPr>
              <a:lstStyle/>
              <a:p>
                <a14:m>
                  <m:oMath xmlns:m="http://schemas.openxmlformats.org/officeDocument/2006/math">
                    <m:r>
                      <a:rPr lang="en-US" sz="2800" b="1" i="1" smtClean="0">
                        <a:solidFill>
                          <a:srgbClr val="0000CC"/>
                        </a:solidFill>
                        <a:latin typeface="Cambria Math" panose="02040503050406030204" pitchFamily="18" charset="0"/>
                      </a:rPr>
                      <m:t>𝑷</m:t>
                    </m:r>
                  </m:oMath>
                </a14:m>
                <a:r>
                  <a:rPr lang="en-US" sz="2800" b="1" dirty="0">
                    <a:solidFill>
                      <a:srgbClr val="0000CC"/>
                    </a:solidFill>
                  </a:rPr>
                  <a:t> = </a:t>
                </a:r>
                <a14:m>
                  <m:oMath xmlns:m="http://schemas.openxmlformats.org/officeDocument/2006/math">
                    <m:nary>
                      <m:naryPr>
                        <m:chr m:val="∑"/>
                        <m:limLoc m:val="subSup"/>
                        <m:ctrlPr>
                          <a:rPr lang="en-US" sz="2800" b="1" i="1" smtClean="0">
                            <a:solidFill>
                              <a:srgbClr val="0000CC"/>
                            </a:solidFill>
                            <a:latin typeface="Cambria Math" panose="02040503050406030204" pitchFamily="18" charset="0"/>
                          </a:rPr>
                        </m:ctrlPr>
                      </m:naryPr>
                      <m:sub>
                        <m:r>
                          <m:rPr>
                            <m:brk m:alnAt="25"/>
                          </m:rPr>
                          <a:rPr lang="en-US" sz="2800" b="1" i="1" smtClean="0">
                            <a:solidFill>
                              <a:srgbClr val="0000CC"/>
                            </a:solidFill>
                            <a:latin typeface="Cambria Math" panose="02040503050406030204" pitchFamily="18" charset="0"/>
                          </a:rPr>
                          <m:t>𝒏</m:t>
                        </m:r>
                        <m:r>
                          <a:rPr lang="en-US" sz="2800" b="1" i="1" smtClean="0">
                            <a:solidFill>
                              <a:srgbClr val="0000CC"/>
                            </a:solidFill>
                            <a:latin typeface="Cambria Math" panose="02040503050406030204" pitchFamily="18" charset="0"/>
                          </a:rPr>
                          <m:t>=</m:t>
                        </m:r>
                        <m:r>
                          <a:rPr lang="en-US" sz="2800" b="1" i="1" smtClean="0">
                            <a:solidFill>
                              <a:srgbClr val="0000CC"/>
                            </a:solidFill>
                            <a:latin typeface="Cambria Math" panose="02040503050406030204" pitchFamily="18" charset="0"/>
                          </a:rPr>
                          <m:t>𝟎</m:t>
                        </m:r>
                      </m:sub>
                      <m:sup>
                        <m:r>
                          <a:rPr lang="en-US" sz="2800" b="1" i="1" smtClean="0">
                            <a:solidFill>
                              <a:srgbClr val="0000CC"/>
                            </a:solidFill>
                            <a:latin typeface="Cambria Math" panose="02040503050406030204" pitchFamily="18" charset="0"/>
                            <a:ea typeface="Cambria Math" panose="02040503050406030204" pitchFamily="18" charset="0"/>
                          </a:rPr>
                          <m:t>∞</m:t>
                        </m:r>
                      </m:sup>
                      <m:e>
                        <m:sSub>
                          <m:sSubPr>
                            <m:ctrlPr>
                              <a:rPr lang="en-US" sz="2800" b="1" i="1" smtClean="0">
                                <a:solidFill>
                                  <a:srgbClr val="0000CC"/>
                                </a:solidFill>
                                <a:latin typeface="Cambria Math" panose="02040503050406030204" pitchFamily="18" charset="0"/>
                              </a:rPr>
                            </m:ctrlPr>
                          </m:sSubPr>
                          <m:e>
                            <m:r>
                              <a:rPr lang="en-US" sz="2800" b="1" i="1" smtClean="0">
                                <a:solidFill>
                                  <a:srgbClr val="0000CC"/>
                                </a:solidFill>
                                <a:latin typeface="Cambria Math" panose="02040503050406030204" pitchFamily="18" charset="0"/>
                              </a:rPr>
                              <m:t>𝑷</m:t>
                            </m:r>
                          </m:e>
                          <m:sub>
                            <m:r>
                              <a:rPr lang="en-US" sz="2800" b="1" i="1" smtClean="0">
                                <a:solidFill>
                                  <a:srgbClr val="0000CC"/>
                                </a:solidFill>
                                <a:latin typeface="Cambria Math" panose="02040503050406030204" pitchFamily="18" charset="0"/>
                              </a:rPr>
                              <m:t>𝒏</m:t>
                            </m:r>
                          </m:sub>
                        </m:sSub>
                      </m:e>
                    </m:nary>
                  </m:oMath>
                </a14:m>
                <a:r>
                  <a:rPr lang="en-US" sz="2800" b="1" dirty="0">
                    <a:solidFill>
                      <a:srgbClr val="0000CC"/>
                    </a:solidFill>
                  </a:rPr>
                  <a:t> = </a:t>
                </a:r>
                <a14:m>
                  <m:oMath xmlns:m="http://schemas.openxmlformats.org/officeDocument/2006/math">
                    <m:sSub>
                      <m:sSubPr>
                        <m:ctrlPr>
                          <a:rPr lang="en-US" sz="2800" b="1" i="1" smtClean="0">
                            <a:solidFill>
                              <a:srgbClr val="0000CC"/>
                            </a:solidFill>
                            <a:latin typeface="Cambria Math" panose="02040503050406030204" pitchFamily="18" charset="0"/>
                          </a:rPr>
                        </m:ctrlPr>
                      </m:sSubPr>
                      <m:e>
                        <m:r>
                          <a:rPr lang="en-US" sz="2800" b="1" i="1" smtClean="0">
                            <a:solidFill>
                              <a:srgbClr val="0000CC"/>
                            </a:solidFill>
                            <a:latin typeface="Cambria Math" panose="02040503050406030204" pitchFamily="18" charset="0"/>
                          </a:rPr>
                          <m:t>𝑽</m:t>
                        </m:r>
                      </m:e>
                      <m:sub>
                        <m:r>
                          <a:rPr lang="en-US" sz="2800" b="1" i="1" smtClean="0">
                            <a:solidFill>
                              <a:srgbClr val="0000CC"/>
                            </a:solidFill>
                            <a:latin typeface="Cambria Math" panose="02040503050406030204" pitchFamily="18" charset="0"/>
                          </a:rPr>
                          <m:t>𝟎</m:t>
                        </m:r>
                      </m:sub>
                    </m:sSub>
                    <m:sSub>
                      <m:sSubPr>
                        <m:ctrlPr>
                          <a:rPr lang="en-US" sz="2800" b="1" i="1" smtClean="0">
                            <a:solidFill>
                              <a:srgbClr val="0000CC"/>
                            </a:solidFill>
                            <a:latin typeface="Cambria Math" panose="02040503050406030204" pitchFamily="18" charset="0"/>
                          </a:rPr>
                        </m:ctrlPr>
                      </m:sSubPr>
                      <m:e>
                        <m:r>
                          <a:rPr lang="en-US" sz="2800" b="1" i="1" smtClean="0">
                            <a:solidFill>
                              <a:srgbClr val="0000CC"/>
                            </a:solidFill>
                            <a:latin typeface="Cambria Math" panose="02040503050406030204" pitchFamily="18" charset="0"/>
                          </a:rPr>
                          <m:t>𝑰</m:t>
                        </m:r>
                      </m:e>
                      <m:sub>
                        <m:r>
                          <a:rPr lang="en-US" sz="2800" b="1" i="1" smtClean="0">
                            <a:solidFill>
                              <a:srgbClr val="0000CC"/>
                            </a:solidFill>
                            <a:latin typeface="Cambria Math" panose="02040503050406030204" pitchFamily="18" charset="0"/>
                          </a:rPr>
                          <m:t>𝟎</m:t>
                        </m:r>
                      </m:sub>
                    </m:sSub>
                    <m:r>
                      <a:rPr lang="en-US" sz="2800" b="1" i="1" smtClean="0">
                        <a:solidFill>
                          <a:srgbClr val="0000CC"/>
                        </a:solidFill>
                        <a:latin typeface="Cambria Math" panose="02040503050406030204" pitchFamily="18" charset="0"/>
                        <a:ea typeface="Cambria Math" panose="02040503050406030204" pitchFamily="18" charset="0"/>
                      </a:rPr>
                      <m:t>+ </m:t>
                    </m:r>
                    <m:nary>
                      <m:naryPr>
                        <m:chr m:val="∑"/>
                        <m:limLoc m:val="subSup"/>
                        <m:ctrlPr>
                          <a:rPr lang="en-US" sz="2800" b="1" i="1" smtClean="0">
                            <a:solidFill>
                              <a:srgbClr val="0000CC"/>
                            </a:solidFill>
                            <a:latin typeface="Cambria Math" panose="02040503050406030204" pitchFamily="18" charset="0"/>
                            <a:ea typeface="Cambria Math" panose="02040503050406030204" pitchFamily="18" charset="0"/>
                          </a:rPr>
                        </m:ctrlPr>
                      </m:naryPr>
                      <m:sub>
                        <m:r>
                          <m:rPr>
                            <m:brk m:alnAt="25"/>
                          </m:rPr>
                          <a:rPr lang="en-US" sz="2800" b="1" i="1" smtClean="0">
                            <a:solidFill>
                              <a:srgbClr val="0000CC"/>
                            </a:solidFill>
                            <a:latin typeface="Cambria Math" panose="02040503050406030204" pitchFamily="18" charset="0"/>
                            <a:ea typeface="Cambria Math" panose="02040503050406030204" pitchFamily="18" charset="0"/>
                          </a:rPr>
                          <m:t>𝒏</m:t>
                        </m:r>
                        <m:r>
                          <a:rPr lang="en-US" sz="2800" b="1" i="1" smtClean="0">
                            <a:solidFill>
                              <a:srgbClr val="0000CC"/>
                            </a:solidFill>
                            <a:latin typeface="Cambria Math" panose="02040503050406030204" pitchFamily="18" charset="0"/>
                            <a:ea typeface="Cambria Math" panose="02040503050406030204" pitchFamily="18" charset="0"/>
                          </a:rPr>
                          <m:t>=</m:t>
                        </m:r>
                        <m:r>
                          <a:rPr lang="en-US" sz="2800" b="1" i="1" smtClean="0">
                            <a:solidFill>
                              <a:srgbClr val="0000CC"/>
                            </a:solidFill>
                            <a:latin typeface="Cambria Math" panose="02040503050406030204" pitchFamily="18" charset="0"/>
                            <a:ea typeface="Cambria Math" panose="02040503050406030204" pitchFamily="18" charset="0"/>
                          </a:rPr>
                          <m:t>𝟏</m:t>
                        </m:r>
                      </m:sub>
                      <m:sup>
                        <m:r>
                          <a:rPr lang="en-US" sz="2800" b="1" i="1" smtClean="0">
                            <a:solidFill>
                              <a:srgbClr val="0000CC"/>
                            </a:solidFill>
                            <a:latin typeface="Cambria Math" panose="02040503050406030204" pitchFamily="18" charset="0"/>
                            <a:ea typeface="Cambria Math" panose="02040503050406030204" pitchFamily="18" charset="0"/>
                          </a:rPr>
                          <m:t>∞</m:t>
                        </m:r>
                      </m:sup>
                      <m:e>
                        <m:sSub>
                          <m:sSubPr>
                            <m:ctrlPr>
                              <a:rPr lang="en-US" sz="2800" b="1" i="1" smtClean="0">
                                <a:solidFill>
                                  <a:srgbClr val="0000CC"/>
                                </a:solidFill>
                                <a:latin typeface="Cambria Math" panose="02040503050406030204" pitchFamily="18" charset="0"/>
                                <a:ea typeface="Cambria Math" panose="02040503050406030204" pitchFamily="18" charset="0"/>
                              </a:rPr>
                            </m:ctrlPr>
                          </m:sSubPr>
                          <m:e>
                            <m:r>
                              <a:rPr lang="en-US" sz="2800" b="1" i="1" smtClean="0">
                                <a:solidFill>
                                  <a:srgbClr val="0000CC"/>
                                </a:solidFill>
                                <a:latin typeface="Cambria Math" panose="02040503050406030204" pitchFamily="18" charset="0"/>
                                <a:ea typeface="Cambria Math" panose="02040503050406030204" pitchFamily="18" charset="0"/>
                              </a:rPr>
                              <m:t>𝑽</m:t>
                            </m:r>
                          </m:e>
                          <m:sub>
                            <m:r>
                              <a:rPr lang="en-US" sz="2800" b="1" i="1" smtClean="0">
                                <a:solidFill>
                                  <a:srgbClr val="0000CC"/>
                                </a:solidFill>
                                <a:latin typeface="Cambria Math" panose="02040503050406030204" pitchFamily="18" charset="0"/>
                                <a:ea typeface="Cambria Math" panose="02040503050406030204" pitchFamily="18" charset="0"/>
                              </a:rPr>
                              <m:t>𝒏</m:t>
                            </m:r>
                            <m:r>
                              <a:rPr lang="en-US" sz="2800" b="1" i="1" smtClean="0">
                                <a:solidFill>
                                  <a:srgbClr val="0000CC"/>
                                </a:solidFill>
                                <a:latin typeface="Cambria Math" panose="02040503050406030204" pitchFamily="18" charset="0"/>
                                <a:ea typeface="Cambria Math" panose="02040503050406030204" pitchFamily="18" charset="0"/>
                              </a:rPr>
                              <m:t>,</m:t>
                            </m:r>
                            <m:r>
                              <a:rPr lang="en-US" sz="2800" b="1" i="1" smtClean="0">
                                <a:solidFill>
                                  <a:srgbClr val="0000CC"/>
                                </a:solidFill>
                                <a:latin typeface="Cambria Math" panose="02040503050406030204" pitchFamily="18" charset="0"/>
                                <a:ea typeface="Cambria Math" panose="02040503050406030204" pitchFamily="18" charset="0"/>
                              </a:rPr>
                              <m:t>𝒓𝒎𝒔</m:t>
                            </m:r>
                          </m:sub>
                        </m:sSub>
                      </m:e>
                    </m:nary>
                    <m:sSub>
                      <m:sSubPr>
                        <m:ctrlPr>
                          <a:rPr lang="en-US" sz="2800" b="1" i="1" smtClean="0">
                            <a:solidFill>
                              <a:srgbClr val="0000CC"/>
                            </a:solidFill>
                            <a:latin typeface="Cambria Math" panose="02040503050406030204" pitchFamily="18" charset="0"/>
                            <a:ea typeface="Cambria Math" panose="02040503050406030204" pitchFamily="18" charset="0"/>
                          </a:rPr>
                        </m:ctrlPr>
                      </m:sSubPr>
                      <m:e>
                        <m:r>
                          <a:rPr lang="en-US" sz="2800" b="1" i="1" smtClean="0">
                            <a:solidFill>
                              <a:srgbClr val="0000CC"/>
                            </a:solidFill>
                            <a:latin typeface="Cambria Math" panose="02040503050406030204" pitchFamily="18" charset="0"/>
                            <a:ea typeface="Cambria Math" panose="02040503050406030204" pitchFamily="18" charset="0"/>
                          </a:rPr>
                          <m:t>𝑰</m:t>
                        </m:r>
                      </m:e>
                      <m:sub>
                        <m:r>
                          <a:rPr lang="en-US" sz="2800" b="1" i="1" smtClean="0">
                            <a:solidFill>
                              <a:srgbClr val="0000CC"/>
                            </a:solidFill>
                            <a:latin typeface="Cambria Math" panose="02040503050406030204" pitchFamily="18" charset="0"/>
                            <a:ea typeface="Cambria Math" panose="02040503050406030204" pitchFamily="18" charset="0"/>
                          </a:rPr>
                          <m:t>𝒏</m:t>
                        </m:r>
                        <m:r>
                          <a:rPr lang="en-US" sz="2800" b="1" i="1" smtClean="0">
                            <a:solidFill>
                              <a:srgbClr val="0000CC"/>
                            </a:solidFill>
                            <a:latin typeface="Cambria Math" panose="02040503050406030204" pitchFamily="18" charset="0"/>
                            <a:ea typeface="Cambria Math" panose="02040503050406030204" pitchFamily="18" charset="0"/>
                          </a:rPr>
                          <m:t>,</m:t>
                        </m:r>
                        <m:r>
                          <a:rPr lang="en-US" sz="2800" b="1" i="1" smtClean="0">
                            <a:solidFill>
                              <a:srgbClr val="0000CC"/>
                            </a:solidFill>
                            <a:latin typeface="Cambria Math" panose="02040503050406030204" pitchFamily="18" charset="0"/>
                            <a:ea typeface="Cambria Math" panose="02040503050406030204" pitchFamily="18" charset="0"/>
                          </a:rPr>
                          <m:t>𝒓𝒎𝒔</m:t>
                        </m:r>
                      </m:sub>
                    </m:sSub>
                    <m:func>
                      <m:funcPr>
                        <m:ctrlPr>
                          <a:rPr lang="en-US" sz="2800" b="1" i="1" smtClean="0">
                            <a:solidFill>
                              <a:srgbClr val="0000CC"/>
                            </a:solidFill>
                            <a:latin typeface="Cambria Math" panose="02040503050406030204" pitchFamily="18" charset="0"/>
                            <a:ea typeface="Cambria Math" panose="02040503050406030204" pitchFamily="18" charset="0"/>
                          </a:rPr>
                        </m:ctrlPr>
                      </m:funcPr>
                      <m:fName>
                        <m:r>
                          <a:rPr lang="en-US" sz="2800" b="1" i="0" smtClean="0">
                            <a:solidFill>
                              <a:srgbClr val="0000CC"/>
                            </a:solidFill>
                            <a:latin typeface="Cambria Math" panose="02040503050406030204" pitchFamily="18" charset="0"/>
                            <a:ea typeface="Cambria Math" panose="02040503050406030204" pitchFamily="18" charset="0"/>
                          </a:rPr>
                          <m:t>𝐜𝐨𝐬</m:t>
                        </m:r>
                      </m:fName>
                      <m:e>
                        <m:d>
                          <m:dPr>
                            <m:ctrlPr>
                              <a:rPr lang="en-US" sz="2800" b="1" i="1" smtClean="0">
                                <a:solidFill>
                                  <a:srgbClr val="0000CC"/>
                                </a:solidFill>
                                <a:latin typeface="Cambria Math" panose="02040503050406030204" pitchFamily="18" charset="0"/>
                                <a:ea typeface="Cambria Math" panose="02040503050406030204" pitchFamily="18" charset="0"/>
                              </a:rPr>
                            </m:ctrlPr>
                          </m:dPr>
                          <m:e>
                            <m:sSub>
                              <m:sSubPr>
                                <m:ctrlPr>
                                  <a:rPr lang="en-US" sz="2800" b="1" i="1" smtClean="0">
                                    <a:solidFill>
                                      <a:srgbClr val="0000CC"/>
                                    </a:solidFill>
                                    <a:latin typeface="Cambria Math" panose="02040503050406030204" pitchFamily="18" charset="0"/>
                                    <a:ea typeface="Cambria Math" panose="02040503050406030204" pitchFamily="18" charset="0"/>
                                  </a:rPr>
                                </m:ctrlPr>
                              </m:sSubPr>
                              <m:e>
                                <m:r>
                                  <a:rPr lang="en-US" sz="2800" b="1" i="1" smtClean="0">
                                    <a:solidFill>
                                      <a:srgbClr val="0000CC"/>
                                    </a:solidFill>
                                    <a:latin typeface="Cambria Math" panose="02040503050406030204" pitchFamily="18" charset="0"/>
                                    <a:ea typeface="Cambria Math" panose="02040503050406030204" pitchFamily="18" charset="0"/>
                                  </a:rPr>
                                  <m:t>𝜽</m:t>
                                </m:r>
                              </m:e>
                              <m:sub>
                                <m:r>
                                  <a:rPr lang="en-US" sz="2800" b="1" i="1" smtClean="0">
                                    <a:solidFill>
                                      <a:srgbClr val="0000CC"/>
                                    </a:solidFill>
                                    <a:latin typeface="Cambria Math" panose="02040503050406030204" pitchFamily="18" charset="0"/>
                                    <a:ea typeface="Cambria Math" panose="02040503050406030204" pitchFamily="18" charset="0"/>
                                  </a:rPr>
                                  <m:t>𝒏</m:t>
                                </m:r>
                              </m:sub>
                            </m:sSub>
                            <m:r>
                              <a:rPr lang="en-US" sz="2800" b="1" i="1" smtClean="0">
                                <a:solidFill>
                                  <a:srgbClr val="0000CC"/>
                                </a:solidFill>
                                <a:latin typeface="Cambria Math" panose="02040503050406030204" pitchFamily="18" charset="0"/>
                                <a:ea typeface="Cambria Math" panose="02040503050406030204" pitchFamily="18" charset="0"/>
                              </a:rPr>
                              <m:t>−</m:t>
                            </m:r>
                            <m:sSub>
                              <m:sSubPr>
                                <m:ctrlPr>
                                  <a:rPr lang="en-US" sz="2800" b="1" i="1" smtClean="0">
                                    <a:solidFill>
                                      <a:srgbClr val="0000CC"/>
                                    </a:solidFill>
                                    <a:latin typeface="Cambria Math" panose="02040503050406030204" pitchFamily="18" charset="0"/>
                                    <a:ea typeface="Cambria Math" panose="02040503050406030204" pitchFamily="18" charset="0"/>
                                  </a:rPr>
                                </m:ctrlPr>
                              </m:sSubPr>
                              <m:e>
                                <m:r>
                                  <a:rPr lang="en-US" sz="2800" b="1" i="1" dirty="0">
                                    <a:solidFill>
                                      <a:srgbClr val="0000CC"/>
                                    </a:solidFill>
                                    <a:latin typeface="Cambria Math" panose="02040503050406030204" pitchFamily="18" charset="0"/>
                                    <a:ea typeface="Cambria Math" panose="02040503050406030204" pitchFamily="18" charset="0"/>
                                  </a:rPr>
                                  <m:t>𝝓</m:t>
                                </m:r>
                              </m:e>
                              <m:sub>
                                <m:r>
                                  <a:rPr lang="en-US" sz="2800" b="1" i="1" smtClean="0">
                                    <a:solidFill>
                                      <a:srgbClr val="0000CC"/>
                                    </a:solidFill>
                                    <a:latin typeface="Cambria Math" panose="02040503050406030204" pitchFamily="18" charset="0"/>
                                    <a:ea typeface="Cambria Math" panose="02040503050406030204" pitchFamily="18" charset="0"/>
                                  </a:rPr>
                                  <m:t>𝒏</m:t>
                                </m:r>
                              </m:sub>
                            </m:sSub>
                          </m:e>
                        </m:d>
                      </m:e>
                    </m:func>
                  </m:oMath>
                </a14:m>
                <a:r>
                  <a:rPr lang="en-US" sz="2800" b="1" dirty="0">
                    <a:solidFill>
                      <a:srgbClr val="0000CC"/>
                    </a:solidFill>
                  </a:rPr>
                  <a:t> </a:t>
                </a:r>
                <a:endParaRPr lang="en-US" sz="2800" b="1" dirty="0"/>
              </a:p>
            </p:txBody>
          </p:sp>
        </mc:Choice>
        <mc:Fallback xmlns="">
          <p:sp>
            <p:nvSpPr>
              <p:cNvPr id="2" name="TextBox 1">
                <a:extLst>
                  <a:ext uri="{FF2B5EF4-FFF2-40B4-BE49-F238E27FC236}">
                    <a16:creationId xmlns:a16="http://schemas.microsoft.com/office/drawing/2014/main" id="{49FA48B8-400F-4C80-9AF7-E2F4DC8259AB}"/>
                  </a:ext>
                </a:extLst>
              </p:cNvPr>
              <p:cNvSpPr txBox="1">
                <a:spLocks noRot="1" noChangeAspect="1" noMove="1" noResize="1" noEditPoints="1" noAdjustHandles="1" noChangeArrowheads="1" noChangeShapeType="1" noTextEdit="1"/>
              </p:cNvSpPr>
              <p:nvPr/>
            </p:nvSpPr>
            <p:spPr>
              <a:xfrm>
                <a:off x="1088851" y="2402803"/>
                <a:ext cx="10020136" cy="542136"/>
              </a:xfrm>
              <a:prstGeom prst="rect">
                <a:avLst/>
              </a:prstGeom>
              <a:blipFill>
                <a:blip r:embed="rId3"/>
                <a:stretch>
                  <a:fillRect t="-10112" b="-2809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D3BA5730-F8DE-40A6-AF75-B7AF0F45845C}"/>
                  </a:ext>
                </a:extLst>
              </p:cNvPr>
              <p:cNvSpPr txBox="1"/>
              <p:nvPr/>
            </p:nvSpPr>
            <p:spPr>
              <a:xfrm>
                <a:off x="952662" y="4726113"/>
                <a:ext cx="9319746" cy="737189"/>
              </a:xfrm>
              <a:prstGeom prst="rect">
                <a:avLst/>
              </a:prstGeom>
              <a:solidFill>
                <a:srgbClr val="00FFFF"/>
              </a:solidFill>
            </p:spPr>
            <p:txBody>
              <a:bodyPr wrap="square" rtlCol="0">
                <a:spAutoFit/>
              </a:bodyPr>
              <a:lstStyle/>
              <a:p>
                <a14:m>
                  <m:oMath xmlns:m="http://schemas.openxmlformats.org/officeDocument/2006/math">
                    <m:r>
                      <a:rPr lang="en-US" sz="2800" b="1" i="1" smtClean="0">
                        <a:solidFill>
                          <a:srgbClr val="0000CC"/>
                        </a:solidFill>
                        <a:latin typeface="Cambria Math" panose="02040503050406030204" pitchFamily="18" charset="0"/>
                      </a:rPr>
                      <m:t>𝑷</m:t>
                    </m:r>
                  </m:oMath>
                </a14:m>
                <a:r>
                  <a:rPr lang="en-US" sz="2800" b="1" dirty="0">
                    <a:solidFill>
                      <a:srgbClr val="0000CC"/>
                    </a:solidFill>
                  </a:rPr>
                  <a:t> = </a:t>
                </a:r>
                <a14:m>
                  <m:oMath xmlns:m="http://schemas.openxmlformats.org/officeDocument/2006/math">
                    <m:sSub>
                      <m:sSubPr>
                        <m:ctrlPr>
                          <a:rPr lang="en-US" sz="2800" b="1" i="1" smtClean="0">
                            <a:solidFill>
                              <a:srgbClr val="0000CC"/>
                            </a:solidFill>
                            <a:latin typeface="Cambria Math" panose="02040503050406030204" pitchFamily="18" charset="0"/>
                          </a:rPr>
                        </m:ctrlPr>
                      </m:sSubPr>
                      <m:e>
                        <m:r>
                          <a:rPr lang="en-US" sz="2800" b="1" i="1" smtClean="0">
                            <a:solidFill>
                              <a:srgbClr val="0000CC"/>
                            </a:solidFill>
                            <a:latin typeface="Cambria Math" panose="02040503050406030204" pitchFamily="18" charset="0"/>
                          </a:rPr>
                          <m:t>𝑽</m:t>
                        </m:r>
                      </m:e>
                      <m:sub>
                        <m:r>
                          <a:rPr lang="en-US" sz="2800" b="1" i="1" smtClean="0">
                            <a:solidFill>
                              <a:srgbClr val="0000CC"/>
                            </a:solidFill>
                            <a:latin typeface="Cambria Math" panose="02040503050406030204" pitchFamily="18" charset="0"/>
                          </a:rPr>
                          <m:t>𝟎</m:t>
                        </m:r>
                      </m:sub>
                    </m:sSub>
                    <m:sSub>
                      <m:sSubPr>
                        <m:ctrlPr>
                          <a:rPr lang="en-US" sz="2800" b="1" i="1" smtClean="0">
                            <a:solidFill>
                              <a:srgbClr val="0000CC"/>
                            </a:solidFill>
                            <a:latin typeface="Cambria Math" panose="02040503050406030204" pitchFamily="18" charset="0"/>
                          </a:rPr>
                        </m:ctrlPr>
                      </m:sSubPr>
                      <m:e>
                        <m:r>
                          <a:rPr lang="en-US" sz="2800" b="1" i="1" smtClean="0">
                            <a:solidFill>
                              <a:srgbClr val="0000CC"/>
                            </a:solidFill>
                            <a:latin typeface="Cambria Math" panose="02040503050406030204" pitchFamily="18" charset="0"/>
                          </a:rPr>
                          <m:t>𝑰</m:t>
                        </m:r>
                      </m:e>
                      <m:sub>
                        <m:r>
                          <a:rPr lang="en-US" sz="2800" b="1" i="1" smtClean="0">
                            <a:solidFill>
                              <a:srgbClr val="0000CC"/>
                            </a:solidFill>
                            <a:latin typeface="Cambria Math" panose="02040503050406030204" pitchFamily="18" charset="0"/>
                          </a:rPr>
                          <m:t>𝟎</m:t>
                        </m:r>
                      </m:sub>
                    </m:sSub>
                    <m:r>
                      <a:rPr lang="en-US" sz="2800" b="1" i="1" smtClean="0">
                        <a:solidFill>
                          <a:srgbClr val="0000CC"/>
                        </a:solidFill>
                        <a:latin typeface="Cambria Math" panose="02040503050406030204" pitchFamily="18" charset="0"/>
                        <a:ea typeface="Cambria Math" panose="02040503050406030204" pitchFamily="18" charset="0"/>
                      </a:rPr>
                      <m:t>+ </m:t>
                    </m:r>
                    <m:nary>
                      <m:naryPr>
                        <m:chr m:val="∑"/>
                        <m:limLoc m:val="subSup"/>
                        <m:ctrlPr>
                          <a:rPr lang="en-US" sz="2800" b="1" i="1" smtClean="0">
                            <a:solidFill>
                              <a:srgbClr val="0000CC"/>
                            </a:solidFill>
                            <a:latin typeface="Cambria Math" panose="02040503050406030204" pitchFamily="18" charset="0"/>
                            <a:ea typeface="Cambria Math" panose="02040503050406030204" pitchFamily="18" charset="0"/>
                          </a:rPr>
                        </m:ctrlPr>
                      </m:naryPr>
                      <m:sub>
                        <m:r>
                          <m:rPr>
                            <m:brk m:alnAt="25"/>
                          </m:rPr>
                          <a:rPr lang="en-US" sz="2800" b="1" i="1" smtClean="0">
                            <a:solidFill>
                              <a:srgbClr val="0000CC"/>
                            </a:solidFill>
                            <a:latin typeface="Cambria Math" panose="02040503050406030204" pitchFamily="18" charset="0"/>
                            <a:ea typeface="Cambria Math" panose="02040503050406030204" pitchFamily="18" charset="0"/>
                          </a:rPr>
                          <m:t>𝒏</m:t>
                        </m:r>
                        <m:r>
                          <a:rPr lang="en-US" sz="2800" b="1" i="1" smtClean="0">
                            <a:solidFill>
                              <a:srgbClr val="0000CC"/>
                            </a:solidFill>
                            <a:latin typeface="Cambria Math" panose="02040503050406030204" pitchFamily="18" charset="0"/>
                            <a:ea typeface="Cambria Math" panose="02040503050406030204" pitchFamily="18" charset="0"/>
                          </a:rPr>
                          <m:t>=</m:t>
                        </m:r>
                        <m:r>
                          <a:rPr lang="en-US" sz="2800" b="1" i="1" smtClean="0">
                            <a:solidFill>
                              <a:srgbClr val="0000CC"/>
                            </a:solidFill>
                            <a:latin typeface="Cambria Math" panose="02040503050406030204" pitchFamily="18" charset="0"/>
                            <a:ea typeface="Cambria Math" panose="02040503050406030204" pitchFamily="18" charset="0"/>
                          </a:rPr>
                          <m:t>𝟏</m:t>
                        </m:r>
                      </m:sub>
                      <m:sup>
                        <m:r>
                          <a:rPr lang="en-US" sz="2800" b="1" i="1" smtClean="0">
                            <a:solidFill>
                              <a:srgbClr val="0000CC"/>
                            </a:solidFill>
                            <a:latin typeface="Cambria Math" panose="02040503050406030204" pitchFamily="18" charset="0"/>
                            <a:ea typeface="Cambria Math" panose="02040503050406030204" pitchFamily="18" charset="0"/>
                          </a:rPr>
                          <m:t>∞</m:t>
                        </m:r>
                      </m:sup>
                      <m:e>
                        <m:d>
                          <m:dPr>
                            <m:ctrlPr>
                              <a:rPr lang="en-US" sz="2800" b="1" i="1" smtClean="0">
                                <a:solidFill>
                                  <a:srgbClr val="0000CC"/>
                                </a:solidFill>
                                <a:latin typeface="Cambria Math" panose="02040503050406030204" pitchFamily="18" charset="0"/>
                                <a:ea typeface="Cambria Math" panose="02040503050406030204" pitchFamily="18" charset="0"/>
                              </a:rPr>
                            </m:ctrlPr>
                          </m:dPr>
                          <m:e>
                            <m:f>
                              <m:fPr>
                                <m:ctrlPr>
                                  <a:rPr lang="en-US" sz="2800" b="1" i="1" smtClean="0">
                                    <a:solidFill>
                                      <a:srgbClr val="0000CC"/>
                                    </a:solidFill>
                                    <a:latin typeface="Cambria Math" panose="02040503050406030204" pitchFamily="18" charset="0"/>
                                    <a:ea typeface="Cambria Math" panose="02040503050406030204" pitchFamily="18" charset="0"/>
                                  </a:rPr>
                                </m:ctrlPr>
                              </m:fPr>
                              <m:num>
                                <m:sSub>
                                  <m:sSubPr>
                                    <m:ctrlPr>
                                      <a:rPr lang="en-US" sz="2800" b="1" i="1" smtClean="0">
                                        <a:solidFill>
                                          <a:srgbClr val="0000CC"/>
                                        </a:solidFill>
                                        <a:latin typeface="Cambria Math" panose="02040503050406030204" pitchFamily="18" charset="0"/>
                                        <a:ea typeface="Cambria Math" panose="02040503050406030204" pitchFamily="18" charset="0"/>
                                      </a:rPr>
                                    </m:ctrlPr>
                                  </m:sSubPr>
                                  <m:e>
                                    <m:r>
                                      <a:rPr lang="en-US" sz="2800" b="1" i="1" smtClean="0">
                                        <a:solidFill>
                                          <a:srgbClr val="0000CC"/>
                                        </a:solidFill>
                                        <a:latin typeface="Cambria Math" panose="02040503050406030204" pitchFamily="18" charset="0"/>
                                        <a:ea typeface="Cambria Math" panose="02040503050406030204" pitchFamily="18" charset="0"/>
                                      </a:rPr>
                                      <m:t>𝑽</m:t>
                                    </m:r>
                                  </m:e>
                                  <m:sub>
                                    <m:r>
                                      <a:rPr lang="en-US" sz="2800" b="1" i="1" smtClean="0">
                                        <a:solidFill>
                                          <a:srgbClr val="0000CC"/>
                                        </a:solidFill>
                                        <a:latin typeface="Cambria Math" panose="02040503050406030204" pitchFamily="18" charset="0"/>
                                        <a:ea typeface="Cambria Math" panose="02040503050406030204" pitchFamily="18" charset="0"/>
                                      </a:rPr>
                                      <m:t>𝒏</m:t>
                                    </m:r>
                                    <m:r>
                                      <a:rPr lang="en-US" sz="2800" b="1" i="1" smtClean="0">
                                        <a:solidFill>
                                          <a:srgbClr val="0000CC"/>
                                        </a:solidFill>
                                        <a:latin typeface="Cambria Math" panose="02040503050406030204" pitchFamily="18" charset="0"/>
                                        <a:ea typeface="Cambria Math" panose="02040503050406030204" pitchFamily="18" charset="0"/>
                                      </a:rPr>
                                      <m:t>,</m:t>
                                    </m:r>
                                    <m:r>
                                      <a:rPr lang="en-US" sz="2800" b="1" i="1" smtClean="0">
                                        <a:solidFill>
                                          <a:srgbClr val="0000CC"/>
                                        </a:solidFill>
                                        <a:latin typeface="Cambria Math" panose="02040503050406030204" pitchFamily="18" charset="0"/>
                                        <a:ea typeface="Cambria Math" panose="02040503050406030204" pitchFamily="18" charset="0"/>
                                      </a:rPr>
                                      <m:t>𝒎𝒂</m:t>
                                    </m:r>
                                    <m:r>
                                      <a:rPr lang="en-US" sz="2800" b="1" i="1" smtClean="0">
                                        <a:solidFill>
                                          <a:srgbClr val="0000CC"/>
                                        </a:solidFill>
                                        <a:latin typeface="Cambria Math" panose="02040503050406030204" pitchFamily="18" charset="0"/>
                                        <a:ea typeface="Cambria Math" panose="02040503050406030204" pitchFamily="18" charset="0"/>
                                      </a:rPr>
                                      <m:t>×</m:t>
                                    </m:r>
                                  </m:sub>
                                </m:sSub>
                                <m:sSub>
                                  <m:sSubPr>
                                    <m:ctrlPr>
                                      <a:rPr lang="en-US" sz="2800" b="1" i="1" smtClean="0">
                                        <a:solidFill>
                                          <a:srgbClr val="0000CC"/>
                                        </a:solidFill>
                                        <a:latin typeface="Cambria Math" panose="02040503050406030204" pitchFamily="18" charset="0"/>
                                        <a:ea typeface="Cambria Math" panose="02040503050406030204" pitchFamily="18" charset="0"/>
                                      </a:rPr>
                                    </m:ctrlPr>
                                  </m:sSubPr>
                                  <m:e>
                                    <m:r>
                                      <a:rPr lang="en-US" sz="2800" b="1" i="1" smtClean="0">
                                        <a:solidFill>
                                          <a:srgbClr val="0000CC"/>
                                        </a:solidFill>
                                        <a:latin typeface="Cambria Math" panose="02040503050406030204" pitchFamily="18" charset="0"/>
                                        <a:ea typeface="Cambria Math" panose="02040503050406030204" pitchFamily="18" charset="0"/>
                                      </a:rPr>
                                      <m:t>𝑰</m:t>
                                    </m:r>
                                  </m:e>
                                  <m:sub>
                                    <m:r>
                                      <a:rPr lang="en-US" sz="2800" b="1" i="1" smtClean="0">
                                        <a:solidFill>
                                          <a:srgbClr val="0000CC"/>
                                        </a:solidFill>
                                        <a:latin typeface="Cambria Math" panose="02040503050406030204" pitchFamily="18" charset="0"/>
                                        <a:ea typeface="Cambria Math" panose="02040503050406030204" pitchFamily="18" charset="0"/>
                                      </a:rPr>
                                      <m:t>𝒏</m:t>
                                    </m:r>
                                    <m:r>
                                      <a:rPr lang="en-US" sz="2800" b="1" i="1" smtClean="0">
                                        <a:solidFill>
                                          <a:srgbClr val="0000CC"/>
                                        </a:solidFill>
                                        <a:latin typeface="Cambria Math" panose="02040503050406030204" pitchFamily="18" charset="0"/>
                                        <a:ea typeface="Cambria Math" panose="02040503050406030204" pitchFamily="18" charset="0"/>
                                      </a:rPr>
                                      <m:t>,</m:t>
                                    </m:r>
                                    <m:r>
                                      <a:rPr lang="en-US" sz="2800" b="1" i="1" smtClean="0">
                                        <a:solidFill>
                                          <a:srgbClr val="0000CC"/>
                                        </a:solidFill>
                                        <a:latin typeface="Cambria Math" panose="02040503050406030204" pitchFamily="18" charset="0"/>
                                        <a:ea typeface="Cambria Math" panose="02040503050406030204" pitchFamily="18" charset="0"/>
                                      </a:rPr>
                                      <m:t>𝒎𝒂</m:t>
                                    </m:r>
                                    <m:r>
                                      <a:rPr lang="en-US" sz="2800" b="1" i="1" smtClean="0">
                                        <a:solidFill>
                                          <a:srgbClr val="0000CC"/>
                                        </a:solidFill>
                                        <a:latin typeface="Cambria Math" panose="02040503050406030204" pitchFamily="18" charset="0"/>
                                        <a:ea typeface="Cambria Math" panose="02040503050406030204" pitchFamily="18" charset="0"/>
                                      </a:rPr>
                                      <m:t>×</m:t>
                                    </m:r>
                                  </m:sub>
                                </m:sSub>
                              </m:num>
                              <m:den>
                                <m:r>
                                  <a:rPr lang="en-US" sz="2800" b="1" i="1" smtClean="0">
                                    <a:solidFill>
                                      <a:srgbClr val="0000CC"/>
                                    </a:solidFill>
                                    <a:latin typeface="Cambria Math" panose="02040503050406030204" pitchFamily="18" charset="0"/>
                                    <a:ea typeface="Cambria Math" panose="02040503050406030204" pitchFamily="18" charset="0"/>
                                  </a:rPr>
                                  <m:t>𝟐</m:t>
                                </m:r>
                              </m:den>
                            </m:f>
                          </m:e>
                        </m:d>
                      </m:e>
                    </m:nary>
                    <m:func>
                      <m:funcPr>
                        <m:ctrlPr>
                          <a:rPr lang="en-US" sz="2800" b="1" i="1" smtClean="0">
                            <a:solidFill>
                              <a:srgbClr val="0000CC"/>
                            </a:solidFill>
                            <a:latin typeface="Cambria Math" panose="02040503050406030204" pitchFamily="18" charset="0"/>
                            <a:ea typeface="Cambria Math" panose="02040503050406030204" pitchFamily="18" charset="0"/>
                          </a:rPr>
                        </m:ctrlPr>
                      </m:funcPr>
                      <m:fName>
                        <m:r>
                          <a:rPr lang="en-US" sz="2800" b="1" i="0" smtClean="0">
                            <a:solidFill>
                              <a:srgbClr val="0000CC"/>
                            </a:solidFill>
                            <a:latin typeface="Cambria Math" panose="02040503050406030204" pitchFamily="18" charset="0"/>
                            <a:ea typeface="Cambria Math" panose="02040503050406030204" pitchFamily="18" charset="0"/>
                          </a:rPr>
                          <m:t>𝐜𝐨𝐬</m:t>
                        </m:r>
                      </m:fName>
                      <m:e>
                        <m:d>
                          <m:dPr>
                            <m:ctrlPr>
                              <a:rPr lang="en-US" sz="2800" b="1" i="1" smtClean="0">
                                <a:solidFill>
                                  <a:srgbClr val="0000CC"/>
                                </a:solidFill>
                                <a:latin typeface="Cambria Math" panose="02040503050406030204" pitchFamily="18" charset="0"/>
                                <a:ea typeface="Cambria Math" panose="02040503050406030204" pitchFamily="18" charset="0"/>
                              </a:rPr>
                            </m:ctrlPr>
                          </m:dPr>
                          <m:e>
                            <m:sSub>
                              <m:sSubPr>
                                <m:ctrlPr>
                                  <a:rPr lang="en-US" sz="2800" b="1" i="1" smtClean="0">
                                    <a:solidFill>
                                      <a:srgbClr val="0000CC"/>
                                    </a:solidFill>
                                    <a:latin typeface="Cambria Math" panose="02040503050406030204" pitchFamily="18" charset="0"/>
                                    <a:ea typeface="Cambria Math" panose="02040503050406030204" pitchFamily="18" charset="0"/>
                                  </a:rPr>
                                </m:ctrlPr>
                              </m:sSubPr>
                              <m:e>
                                <m:r>
                                  <a:rPr lang="en-US" sz="2800" b="1" i="1" smtClean="0">
                                    <a:solidFill>
                                      <a:srgbClr val="0000CC"/>
                                    </a:solidFill>
                                    <a:latin typeface="Cambria Math" panose="02040503050406030204" pitchFamily="18" charset="0"/>
                                    <a:ea typeface="Cambria Math" panose="02040503050406030204" pitchFamily="18" charset="0"/>
                                  </a:rPr>
                                  <m:t>𝜽</m:t>
                                </m:r>
                              </m:e>
                              <m:sub>
                                <m:r>
                                  <a:rPr lang="en-US" sz="2800" b="1" i="1" smtClean="0">
                                    <a:solidFill>
                                      <a:srgbClr val="0000CC"/>
                                    </a:solidFill>
                                    <a:latin typeface="Cambria Math" panose="02040503050406030204" pitchFamily="18" charset="0"/>
                                    <a:ea typeface="Cambria Math" panose="02040503050406030204" pitchFamily="18" charset="0"/>
                                  </a:rPr>
                                  <m:t>𝒏</m:t>
                                </m:r>
                              </m:sub>
                            </m:sSub>
                            <m:r>
                              <a:rPr lang="en-US" sz="2800" b="1" i="1" smtClean="0">
                                <a:solidFill>
                                  <a:srgbClr val="0000CC"/>
                                </a:solidFill>
                                <a:latin typeface="Cambria Math" panose="02040503050406030204" pitchFamily="18" charset="0"/>
                                <a:ea typeface="Cambria Math" panose="02040503050406030204" pitchFamily="18" charset="0"/>
                              </a:rPr>
                              <m:t>−</m:t>
                            </m:r>
                            <m:sSub>
                              <m:sSubPr>
                                <m:ctrlPr>
                                  <a:rPr lang="en-US" sz="2800" b="1" i="1" smtClean="0">
                                    <a:solidFill>
                                      <a:srgbClr val="0000CC"/>
                                    </a:solidFill>
                                    <a:latin typeface="Cambria Math" panose="02040503050406030204" pitchFamily="18" charset="0"/>
                                    <a:ea typeface="Cambria Math" panose="02040503050406030204" pitchFamily="18" charset="0"/>
                                  </a:rPr>
                                </m:ctrlPr>
                              </m:sSubPr>
                              <m:e>
                                <m:r>
                                  <a:rPr lang="en-US" sz="2800" b="1" i="1" dirty="0">
                                    <a:solidFill>
                                      <a:srgbClr val="0000CC"/>
                                    </a:solidFill>
                                    <a:latin typeface="Cambria Math" panose="02040503050406030204" pitchFamily="18" charset="0"/>
                                    <a:ea typeface="Cambria Math" panose="02040503050406030204" pitchFamily="18" charset="0"/>
                                  </a:rPr>
                                  <m:t>𝝓</m:t>
                                </m:r>
                              </m:e>
                              <m:sub>
                                <m:r>
                                  <a:rPr lang="en-US" sz="2800" b="1" i="1" smtClean="0">
                                    <a:solidFill>
                                      <a:srgbClr val="0000CC"/>
                                    </a:solidFill>
                                    <a:latin typeface="Cambria Math" panose="02040503050406030204" pitchFamily="18" charset="0"/>
                                    <a:ea typeface="Cambria Math" panose="02040503050406030204" pitchFamily="18" charset="0"/>
                                  </a:rPr>
                                  <m:t>𝒏</m:t>
                                </m:r>
                              </m:sub>
                            </m:sSub>
                          </m:e>
                        </m:d>
                      </m:e>
                    </m:func>
                  </m:oMath>
                </a14:m>
                <a:endParaRPr lang="en-US" sz="2800" b="1" dirty="0"/>
              </a:p>
            </p:txBody>
          </p:sp>
        </mc:Choice>
        <mc:Fallback xmlns="">
          <p:sp>
            <p:nvSpPr>
              <p:cNvPr id="3" name="TextBox 2">
                <a:extLst>
                  <a:ext uri="{FF2B5EF4-FFF2-40B4-BE49-F238E27FC236}">
                    <a16:creationId xmlns:a16="http://schemas.microsoft.com/office/drawing/2014/main" id="{D3BA5730-F8DE-40A6-AF75-B7AF0F45845C}"/>
                  </a:ext>
                </a:extLst>
              </p:cNvPr>
              <p:cNvSpPr txBox="1">
                <a:spLocks noRot="1" noChangeAspect="1" noMove="1" noResize="1" noEditPoints="1" noAdjustHandles="1" noChangeArrowheads="1" noChangeShapeType="1" noTextEdit="1"/>
              </p:cNvSpPr>
              <p:nvPr/>
            </p:nvSpPr>
            <p:spPr>
              <a:xfrm>
                <a:off x="952662" y="4726113"/>
                <a:ext cx="9319746" cy="737189"/>
              </a:xfrm>
              <a:prstGeom prst="rect">
                <a:avLst/>
              </a:prstGeom>
              <a:blipFill>
                <a:blip r:embed="rId4"/>
                <a:stretch>
                  <a:fillRect b="-9091"/>
                </a:stretch>
              </a:blipFill>
            </p:spPr>
            <p:txBody>
              <a:bodyPr/>
              <a:lstStyle/>
              <a:p>
                <a:r>
                  <a:rPr lang="en-US">
                    <a:noFill/>
                  </a:rPr>
                  <a:t> </a:t>
                </a:r>
              </a:p>
            </p:txBody>
          </p:sp>
        </mc:Fallback>
      </mc:AlternateContent>
    </p:spTree>
    <p:extLst>
      <p:ext uri="{BB962C8B-B14F-4D97-AF65-F5344CB8AC3E}">
        <p14:creationId xmlns:p14="http://schemas.microsoft.com/office/powerpoint/2010/main" val="328849962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6">
            <a:extLst>
              <a:ext uri="{FF2B5EF4-FFF2-40B4-BE49-F238E27FC236}">
                <a16:creationId xmlns:a16="http://schemas.microsoft.com/office/drawing/2014/main" id="{56080804-F19F-41A7-8595-943961648C5E}"/>
              </a:ext>
            </a:extLst>
          </p:cNvPr>
          <p:cNvSpPr>
            <a:spLocks noGrp="1"/>
          </p:cNvSpPr>
          <p:nvPr>
            <p:ph type="sldNum" sz="quarter" idx="12"/>
          </p:nvPr>
        </p:nvSpPr>
        <p:spPr>
          <a:xfrm>
            <a:off x="8610600" y="6441692"/>
            <a:ext cx="2743200" cy="370027"/>
          </a:xfrm>
        </p:spPr>
        <p:txBody>
          <a:bodyPr/>
          <a:lstStyle/>
          <a:p>
            <a:fld id="{F4801FD5-11B4-DE43-ACA2-E85EEB9A6F9C}" type="slidenum">
              <a:rPr lang="en-US" smtClean="0">
                <a:latin typeface="Garamond" panose="02020404030301010803" pitchFamily="18" charset="0"/>
              </a:rPr>
              <a:t>31</a:t>
            </a:fld>
            <a:endParaRPr lang="en-US">
              <a:latin typeface="Garamond" panose="02020404030301010803" pitchFamily="18" charset="0"/>
            </a:endParaRPr>
          </a:p>
        </p:txBody>
      </p:sp>
      <p:sp>
        <p:nvSpPr>
          <p:cNvPr id="5" name="Title 1">
            <a:extLst>
              <a:ext uri="{FF2B5EF4-FFF2-40B4-BE49-F238E27FC236}">
                <a16:creationId xmlns:a16="http://schemas.microsoft.com/office/drawing/2014/main" id="{4710AE4B-0DB8-4451-B9E4-10BAE11B4D3A}"/>
              </a:ext>
            </a:extLst>
          </p:cNvPr>
          <p:cNvSpPr>
            <a:spLocks noGrp="1"/>
          </p:cNvSpPr>
          <p:nvPr>
            <p:ph type="title"/>
          </p:nvPr>
        </p:nvSpPr>
        <p:spPr>
          <a:xfrm>
            <a:off x="497840" y="113802"/>
            <a:ext cx="10972800" cy="1115558"/>
          </a:xfrm>
        </p:spPr>
        <p:txBody>
          <a:bodyPr>
            <a:noAutofit/>
          </a:bodyPr>
          <a:lstStyle/>
          <a:p>
            <a:pPr algn="ctr"/>
            <a:r>
              <a:rPr lang="en-US" sz="3200" b="1" u="sng" dirty="0">
                <a:solidFill>
                  <a:srgbClr val="FF3386"/>
                </a:solidFill>
                <a:latin typeface="Century Gothic" panose="020B0502020202020204" pitchFamily="34" charset="0"/>
                <a:cs typeface="Helvetica"/>
              </a:rPr>
              <a:t>POWER COMPUTATION FOR NONSINUSOIDAL SOURCE AND LINEAR LOAD</a:t>
            </a:r>
          </a:p>
        </p:txBody>
      </p:sp>
      <p:sp>
        <p:nvSpPr>
          <p:cNvPr id="6" name="TextBox 5">
            <a:extLst>
              <a:ext uri="{FF2B5EF4-FFF2-40B4-BE49-F238E27FC236}">
                <a16:creationId xmlns:a16="http://schemas.microsoft.com/office/drawing/2014/main" id="{6BAA1F11-5BEF-4D80-964F-A7332E36BFA0}"/>
              </a:ext>
            </a:extLst>
          </p:cNvPr>
          <p:cNvSpPr txBox="1"/>
          <p:nvPr/>
        </p:nvSpPr>
        <p:spPr>
          <a:xfrm>
            <a:off x="193040" y="1229360"/>
            <a:ext cx="11887199" cy="5632311"/>
          </a:xfrm>
          <a:prstGeom prst="rect">
            <a:avLst/>
          </a:prstGeom>
          <a:noFill/>
          <a:ln>
            <a:solidFill>
              <a:srgbClr val="FF0066"/>
            </a:solidFill>
          </a:ln>
        </p:spPr>
        <p:txBody>
          <a:bodyPr wrap="square" rtlCol="0">
            <a:spAutoFit/>
          </a:bodyPr>
          <a:lstStyle/>
          <a:p>
            <a:pPr marL="342900" indent="-342900">
              <a:buClr>
                <a:schemeClr val="accent2"/>
              </a:buClr>
              <a:buFont typeface="Arial" panose="020B0604020202020204" pitchFamily="34" charset="0"/>
              <a:buChar char="•"/>
            </a:pPr>
            <a:r>
              <a:rPr lang="en-GB" sz="2400" b="1" kern="100" dirty="0">
                <a:solidFill>
                  <a:srgbClr val="0000CC"/>
                </a:solidFill>
                <a:latin typeface="Century Gothic" panose="020B0502020202020204" pitchFamily="34" charset="0"/>
                <a:ea typeface="Calibri" panose="020F0502020204030204" pitchFamily="34" charset="0"/>
                <a:cs typeface="Times New Roman" panose="02020603050405020304" pitchFamily="18" charset="0"/>
              </a:rPr>
              <a:t>If a nonsinusoidal periodic voltage is applied to a load that is a combination of linear element, the power absorbed by the load can be determined by using superposition.</a:t>
            </a:r>
            <a:br>
              <a:rPr lang="en-GB" sz="2400" b="1" kern="100" dirty="0">
                <a:solidFill>
                  <a:srgbClr val="0000CC"/>
                </a:solidFill>
                <a:latin typeface="Century Gothic" panose="020B0502020202020204" pitchFamily="34" charset="0"/>
                <a:ea typeface="Calibri" panose="020F0502020204030204" pitchFamily="34" charset="0"/>
                <a:cs typeface="Times New Roman" panose="02020603050405020304" pitchFamily="18" charset="0"/>
              </a:rPr>
            </a:br>
            <a:endParaRPr lang="en-GB" sz="2400" b="1" kern="100" dirty="0">
              <a:solidFill>
                <a:srgbClr val="0000CC"/>
              </a:solidFill>
              <a:latin typeface="Century Gothic" panose="020B0502020202020204" pitchFamily="34" charset="0"/>
              <a:ea typeface="Calibri" panose="020F0502020204030204" pitchFamily="34" charset="0"/>
              <a:cs typeface="Times New Roman" panose="02020603050405020304" pitchFamily="18" charset="0"/>
            </a:endParaRPr>
          </a:p>
          <a:p>
            <a:pPr marL="342900" indent="-342900">
              <a:buClr>
                <a:schemeClr val="accent2"/>
              </a:buClr>
              <a:buFont typeface="Arial" panose="020B0604020202020204" pitchFamily="34" charset="0"/>
              <a:buChar char="•"/>
            </a:pPr>
            <a:r>
              <a:rPr lang="en-GB" sz="2400" b="1" kern="100" dirty="0">
                <a:solidFill>
                  <a:srgbClr val="0000CC"/>
                </a:solidFill>
                <a:latin typeface="Century Gothic" panose="020B0502020202020204" pitchFamily="34" charset="0"/>
                <a:ea typeface="Calibri" panose="020F0502020204030204" pitchFamily="34" charset="0"/>
                <a:cs typeface="Times New Roman" panose="02020603050405020304" pitchFamily="18" charset="0"/>
              </a:rPr>
              <a:t>A nonsinusoidal periodic voltage is equivalent to the series combination of the Fourier series voltage.</a:t>
            </a:r>
            <a:br>
              <a:rPr lang="en-GB" sz="2400" b="1" kern="100" dirty="0">
                <a:solidFill>
                  <a:srgbClr val="0000CC"/>
                </a:solidFill>
                <a:latin typeface="Century Gothic" panose="020B0502020202020204" pitchFamily="34" charset="0"/>
                <a:ea typeface="Calibri" panose="020F0502020204030204" pitchFamily="34" charset="0"/>
                <a:cs typeface="Times New Roman" panose="02020603050405020304" pitchFamily="18" charset="0"/>
              </a:rPr>
            </a:br>
            <a:br>
              <a:rPr lang="en-GB" sz="2400" b="1" kern="100" dirty="0">
                <a:solidFill>
                  <a:srgbClr val="0000CC"/>
                </a:solidFill>
                <a:latin typeface="Century Gothic" panose="020B0502020202020204" pitchFamily="34" charset="0"/>
                <a:ea typeface="Calibri" panose="020F0502020204030204" pitchFamily="34" charset="0"/>
                <a:cs typeface="Times New Roman" panose="02020603050405020304" pitchFamily="18" charset="0"/>
              </a:rPr>
            </a:br>
            <a:endParaRPr lang="en-GB" sz="2400" b="1" kern="100" dirty="0">
              <a:solidFill>
                <a:srgbClr val="0000CC"/>
              </a:solidFill>
              <a:latin typeface="Century Gothic" panose="020B0502020202020204" pitchFamily="34" charset="0"/>
              <a:ea typeface="Calibri" panose="020F0502020204030204" pitchFamily="34" charset="0"/>
              <a:cs typeface="Times New Roman" panose="02020603050405020304" pitchFamily="18" charset="0"/>
            </a:endParaRPr>
          </a:p>
          <a:p>
            <a:pPr lvl="2">
              <a:buClr>
                <a:schemeClr val="accent2"/>
              </a:buClr>
            </a:pPr>
            <a:endParaRPr lang="en-GB" sz="2400" b="1" kern="100" dirty="0">
              <a:solidFill>
                <a:srgbClr val="0000CC"/>
              </a:solidFill>
              <a:latin typeface="Century Gothic" panose="020B0502020202020204" pitchFamily="34" charset="0"/>
              <a:ea typeface="Calibri" panose="020F0502020204030204" pitchFamily="34" charset="0"/>
              <a:cs typeface="Times New Roman" panose="02020603050405020304" pitchFamily="18" charset="0"/>
            </a:endParaRPr>
          </a:p>
          <a:p>
            <a:pPr lvl="2">
              <a:buClr>
                <a:schemeClr val="accent2"/>
              </a:buClr>
            </a:pPr>
            <a:r>
              <a:rPr lang="en-GB" sz="2400" b="1" kern="100" dirty="0">
                <a:solidFill>
                  <a:srgbClr val="0000CC"/>
                </a:solidFill>
                <a:latin typeface="Century Gothic" panose="020B0502020202020204" pitchFamily="34" charset="0"/>
                <a:ea typeface="Calibri" panose="020F0502020204030204" pitchFamily="34" charset="0"/>
                <a:cs typeface="Times New Roman" panose="02020603050405020304" pitchFamily="18" charset="0"/>
              </a:rPr>
              <a:t>	</a:t>
            </a:r>
          </a:p>
          <a:p>
            <a:pPr>
              <a:buClr>
                <a:schemeClr val="accent2"/>
              </a:buClr>
            </a:pPr>
            <a:r>
              <a:rPr lang="en-GB" sz="2400" b="1" kern="100" dirty="0">
                <a:solidFill>
                  <a:srgbClr val="0000CC"/>
                </a:solidFill>
                <a:latin typeface="Century Gothic" panose="020B0502020202020204" pitchFamily="34" charset="0"/>
                <a:ea typeface="Calibri" panose="020F0502020204030204" pitchFamily="34" charset="0"/>
                <a:cs typeface="Times New Roman" panose="02020603050405020304" pitchFamily="18" charset="0"/>
              </a:rPr>
              <a:t>	                                                                                   </a:t>
            </a:r>
          </a:p>
          <a:p>
            <a:pPr>
              <a:buClr>
                <a:schemeClr val="accent2"/>
              </a:buClr>
            </a:pPr>
            <a:r>
              <a:rPr lang="en-GB" sz="2400" b="1" kern="100" dirty="0">
                <a:solidFill>
                  <a:srgbClr val="0000CC"/>
                </a:solidFill>
                <a:latin typeface="Century Gothic" panose="020B0502020202020204" pitchFamily="34" charset="0"/>
                <a:ea typeface="Calibri" panose="020F0502020204030204" pitchFamily="34" charset="0"/>
                <a:cs typeface="Times New Roman" panose="02020603050405020304" pitchFamily="18" charset="0"/>
              </a:rPr>
              <a:t> </a:t>
            </a:r>
            <a:br>
              <a:rPr lang="en-GB" sz="2400" b="1" kern="100" dirty="0">
                <a:solidFill>
                  <a:srgbClr val="0000CC"/>
                </a:solidFill>
                <a:latin typeface="Century Gothic" panose="020B0502020202020204" pitchFamily="34" charset="0"/>
                <a:ea typeface="Calibri" panose="020F0502020204030204" pitchFamily="34" charset="0"/>
                <a:cs typeface="Times New Roman" panose="02020603050405020304" pitchFamily="18" charset="0"/>
              </a:rPr>
            </a:br>
            <a:r>
              <a:rPr lang="en-GB" sz="2400" b="1" kern="100" dirty="0">
                <a:solidFill>
                  <a:srgbClr val="0000CC"/>
                </a:solidFill>
                <a:latin typeface="Century Gothic" panose="020B0502020202020204" pitchFamily="34" charset="0"/>
                <a:ea typeface="Calibri" panose="020F0502020204030204" pitchFamily="34" charset="0"/>
                <a:cs typeface="Times New Roman" panose="02020603050405020304" pitchFamily="18" charset="0"/>
              </a:rPr>
              <a:t>				</a:t>
            </a:r>
          </a:p>
          <a:p>
            <a:pPr>
              <a:buClr>
                <a:schemeClr val="accent2"/>
              </a:buClr>
            </a:pPr>
            <a:endParaRPr lang="en-GB" sz="2400" b="1" kern="100" dirty="0">
              <a:solidFill>
                <a:srgbClr val="0000CC"/>
              </a:solidFill>
              <a:latin typeface="Century Gothic" panose="020B0502020202020204" pitchFamily="34" charset="0"/>
              <a:ea typeface="Calibri" panose="020F0502020204030204" pitchFamily="34" charset="0"/>
              <a:cs typeface="Times New Roman" panose="02020603050405020304" pitchFamily="18" charset="0"/>
            </a:endParaRPr>
          </a:p>
          <a:p>
            <a:pPr>
              <a:buClr>
                <a:schemeClr val="accent2"/>
              </a:buClr>
            </a:pPr>
            <a:endParaRPr lang="en-GB" sz="2400" b="1" kern="100" dirty="0">
              <a:solidFill>
                <a:srgbClr val="0000CC"/>
              </a:solidFill>
              <a:latin typeface="Century Gothic" panose="020B0502020202020204" pitchFamily="34" charset="0"/>
              <a:ea typeface="Calibri" panose="020F0502020204030204" pitchFamily="34" charset="0"/>
              <a:cs typeface="Times New Roman" panose="02020603050405020304" pitchFamily="18" charset="0"/>
            </a:endParaRPr>
          </a:p>
        </p:txBody>
      </p:sp>
      <p:sp>
        <p:nvSpPr>
          <p:cNvPr id="7" name="TextBox 6">
            <a:extLst>
              <a:ext uri="{FF2B5EF4-FFF2-40B4-BE49-F238E27FC236}">
                <a16:creationId xmlns:a16="http://schemas.microsoft.com/office/drawing/2014/main" id="{C36AA635-C21F-49F3-BF21-4CBE4C20709B}"/>
              </a:ext>
            </a:extLst>
          </p:cNvPr>
          <p:cNvSpPr txBox="1"/>
          <p:nvPr/>
        </p:nvSpPr>
        <p:spPr>
          <a:xfrm>
            <a:off x="5269122" y="6037275"/>
            <a:ext cx="823314" cy="373051"/>
          </a:xfrm>
          <a:prstGeom prst="rect">
            <a:avLst/>
          </a:prstGeom>
          <a:noFill/>
        </p:spPr>
        <p:txBody>
          <a:bodyPr wrap="square" rtlCol="0">
            <a:spAutoFit/>
          </a:bodyPr>
          <a:lstStyle/>
          <a:p>
            <a:pPr algn="ctr"/>
            <a:endParaRPr lang="en-GB" sz="1824" dirty="0">
              <a:latin typeface="Garamond" panose="02020404030301010803" pitchFamily="18" charset="0"/>
            </a:endParaRPr>
          </a:p>
        </p:txBody>
      </p:sp>
      <p:pic>
        <p:nvPicPr>
          <p:cNvPr id="9" name="Picture 8">
            <a:extLst>
              <a:ext uri="{FF2B5EF4-FFF2-40B4-BE49-F238E27FC236}">
                <a16:creationId xmlns:a16="http://schemas.microsoft.com/office/drawing/2014/main" id="{4A5543F8-13FA-4F5F-87E2-31891ABB91D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01608" y="3691409"/>
            <a:ext cx="5894961" cy="3010948"/>
          </a:xfrm>
          <a:prstGeom prst="rect">
            <a:avLst/>
          </a:prstGeom>
        </p:spPr>
      </p:pic>
      <p:sp>
        <p:nvSpPr>
          <p:cNvPr id="10" name="TextBox 9">
            <a:extLst>
              <a:ext uri="{FF2B5EF4-FFF2-40B4-BE49-F238E27FC236}">
                <a16:creationId xmlns:a16="http://schemas.microsoft.com/office/drawing/2014/main" id="{1E2695AA-5D99-45BC-A930-FF4A3ADBB743}"/>
              </a:ext>
            </a:extLst>
          </p:cNvPr>
          <p:cNvSpPr txBox="1"/>
          <p:nvPr/>
        </p:nvSpPr>
        <p:spPr>
          <a:xfrm>
            <a:off x="6647210" y="6228016"/>
            <a:ext cx="3650264" cy="369332"/>
          </a:xfrm>
          <a:prstGeom prst="rect">
            <a:avLst/>
          </a:prstGeom>
          <a:noFill/>
        </p:spPr>
        <p:txBody>
          <a:bodyPr wrap="square" rtlCol="0">
            <a:spAutoFit/>
          </a:bodyPr>
          <a:lstStyle/>
          <a:p>
            <a:r>
              <a:rPr lang="en-US" dirty="0"/>
              <a:t>Equivalent circuit for Fourier Analysis</a:t>
            </a:r>
          </a:p>
        </p:txBody>
      </p:sp>
    </p:spTree>
    <p:extLst>
      <p:ext uri="{BB962C8B-B14F-4D97-AF65-F5344CB8AC3E}">
        <p14:creationId xmlns:p14="http://schemas.microsoft.com/office/powerpoint/2010/main" val="327783064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6">
            <a:extLst>
              <a:ext uri="{FF2B5EF4-FFF2-40B4-BE49-F238E27FC236}">
                <a16:creationId xmlns:a16="http://schemas.microsoft.com/office/drawing/2014/main" id="{56080804-F19F-41A7-8595-943961648C5E}"/>
              </a:ext>
            </a:extLst>
          </p:cNvPr>
          <p:cNvSpPr>
            <a:spLocks noGrp="1"/>
          </p:cNvSpPr>
          <p:nvPr>
            <p:ph type="sldNum" sz="quarter" idx="12"/>
          </p:nvPr>
        </p:nvSpPr>
        <p:spPr>
          <a:xfrm>
            <a:off x="8610600" y="6441692"/>
            <a:ext cx="2743200" cy="370027"/>
          </a:xfrm>
        </p:spPr>
        <p:txBody>
          <a:bodyPr/>
          <a:lstStyle/>
          <a:p>
            <a:fld id="{F4801FD5-11B4-DE43-ACA2-E85EEB9A6F9C}" type="slidenum">
              <a:rPr lang="en-US" smtClean="0">
                <a:latin typeface="Garamond" panose="02020404030301010803" pitchFamily="18" charset="0"/>
              </a:rPr>
              <a:t>32</a:t>
            </a:fld>
            <a:endParaRPr lang="en-US">
              <a:latin typeface="Garamond" panose="02020404030301010803" pitchFamily="18" charset="0"/>
            </a:endParaRPr>
          </a:p>
        </p:txBody>
      </p:sp>
      <p:sp>
        <p:nvSpPr>
          <p:cNvPr id="5" name="Title 1">
            <a:extLst>
              <a:ext uri="{FF2B5EF4-FFF2-40B4-BE49-F238E27FC236}">
                <a16:creationId xmlns:a16="http://schemas.microsoft.com/office/drawing/2014/main" id="{4710AE4B-0DB8-4451-B9E4-10BAE11B4D3A}"/>
              </a:ext>
            </a:extLst>
          </p:cNvPr>
          <p:cNvSpPr>
            <a:spLocks noGrp="1"/>
          </p:cNvSpPr>
          <p:nvPr>
            <p:ph type="title"/>
          </p:nvPr>
        </p:nvSpPr>
        <p:spPr>
          <a:xfrm>
            <a:off x="497840" y="113802"/>
            <a:ext cx="10972800" cy="1115558"/>
          </a:xfrm>
        </p:spPr>
        <p:txBody>
          <a:bodyPr>
            <a:noAutofit/>
          </a:bodyPr>
          <a:lstStyle/>
          <a:p>
            <a:pPr algn="ctr"/>
            <a:r>
              <a:rPr lang="en-US" sz="3200" b="1" u="sng" dirty="0">
                <a:solidFill>
                  <a:srgbClr val="FF3386"/>
                </a:solidFill>
                <a:latin typeface="Century Gothic" panose="020B0502020202020204" pitchFamily="34" charset="0"/>
                <a:cs typeface="Helvetica"/>
              </a:rPr>
              <a:t>POWER COMPUTATION FOR NONSINUSOIDAL SOURCE AND LINEAR LOAD</a:t>
            </a:r>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6BAA1F11-5BEF-4D80-964F-A7332E36BFA0}"/>
                  </a:ext>
                </a:extLst>
              </p:cNvPr>
              <p:cNvSpPr txBox="1"/>
              <p:nvPr/>
            </p:nvSpPr>
            <p:spPr>
              <a:xfrm>
                <a:off x="193040" y="1229360"/>
                <a:ext cx="11887199" cy="5363712"/>
              </a:xfrm>
              <a:prstGeom prst="rect">
                <a:avLst/>
              </a:prstGeom>
              <a:noFill/>
              <a:ln>
                <a:solidFill>
                  <a:srgbClr val="FF0066"/>
                </a:solidFill>
              </a:ln>
            </p:spPr>
            <p:txBody>
              <a:bodyPr wrap="square" rtlCol="0">
                <a:spAutoFit/>
              </a:bodyPr>
              <a:lstStyle/>
              <a:p>
                <a:pPr marL="342900" indent="-342900">
                  <a:buClr>
                    <a:schemeClr val="accent2"/>
                  </a:buClr>
                  <a:buFont typeface="Arial" panose="020B0604020202020204" pitchFamily="34" charset="0"/>
                  <a:buChar char="•"/>
                </a:pPr>
                <a:r>
                  <a:rPr lang="en-GB" sz="2400" b="1" kern="100" dirty="0">
                    <a:solidFill>
                      <a:srgbClr val="0000CC"/>
                    </a:solidFill>
                    <a:latin typeface="Century Gothic" panose="020B0502020202020204" pitchFamily="34" charset="0"/>
                    <a:ea typeface="Calibri" panose="020F0502020204030204" pitchFamily="34" charset="0"/>
                    <a:cs typeface="Times New Roman" panose="02020603050405020304" pitchFamily="18" charset="0"/>
                  </a:rPr>
                  <a:t>Example 2.9</a:t>
                </a:r>
              </a:p>
              <a:p>
                <a:pPr>
                  <a:buClr>
                    <a:schemeClr val="accent2"/>
                  </a:buClr>
                </a:pPr>
                <a:r>
                  <a:rPr lang="en-GB" sz="2400" b="1" kern="100" dirty="0">
                    <a:solidFill>
                      <a:srgbClr val="0000CC"/>
                    </a:solidFill>
                    <a:latin typeface="Century Gothic" panose="020B0502020202020204" pitchFamily="34" charset="0"/>
                    <a:ea typeface="Calibri" panose="020F0502020204030204" pitchFamily="34" charset="0"/>
                    <a:cs typeface="Times New Roman" panose="02020603050405020304" pitchFamily="18" charset="0"/>
                  </a:rPr>
                  <a:t>	</a:t>
                </a:r>
                <a:r>
                  <a:rPr lang="en-GB" sz="2400" kern="100" dirty="0">
                    <a:solidFill>
                      <a:srgbClr val="0000CC"/>
                    </a:solidFill>
                    <a:latin typeface="Century Gothic" panose="020B0502020202020204" pitchFamily="34" charset="0"/>
                    <a:ea typeface="Calibri" panose="020F0502020204030204" pitchFamily="34" charset="0"/>
                    <a:cs typeface="Times New Roman" panose="02020603050405020304" pitchFamily="18" charset="0"/>
                  </a:rPr>
                  <a:t>A nonsinusoidal periodic voltage has a Fourier series of </a:t>
                </a:r>
                <a:br>
                  <a:rPr lang="en-GB" sz="2400" kern="100" dirty="0">
                    <a:solidFill>
                      <a:srgbClr val="0000CC"/>
                    </a:solidFill>
                    <a:latin typeface="Century Gothic" panose="020B0502020202020204" pitchFamily="34" charset="0"/>
                    <a:ea typeface="Calibri" panose="020F0502020204030204" pitchFamily="34" charset="0"/>
                    <a:cs typeface="Times New Roman" panose="02020603050405020304" pitchFamily="18" charset="0"/>
                  </a:rPr>
                </a:br>
                <a:r>
                  <a:rPr lang="en-GB" sz="2400" kern="100" dirty="0">
                    <a:solidFill>
                      <a:srgbClr val="0000CC"/>
                    </a:solidFill>
                    <a:latin typeface="Century Gothic" panose="020B0502020202020204" pitchFamily="34" charset="0"/>
                    <a:ea typeface="Calibri" panose="020F0502020204030204" pitchFamily="34" charset="0"/>
                    <a:cs typeface="Times New Roman" panose="02020603050405020304" pitchFamily="18" charset="0"/>
                  </a:rPr>
                  <a:t>	</a:t>
                </a:r>
                <a14:m>
                  <m:oMath xmlns:m="http://schemas.openxmlformats.org/officeDocument/2006/math">
                    <m:r>
                      <a:rPr lang="en-US" sz="2400" b="0" i="1" kern="100" smtClean="0">
                        <a:solidFill>
                          <a:srgbClr val="0000CC"/>
                        </a:solidFill>
                        <a:latin typeface="Cambria Math" panose="02040503050406030204" pitchFamily="18" charset="0"/>
                        <a:ea typeface="Calibri" panose="020F0502020204030204" pitchFamily="34" charset="0"/>
                        <a:cs typeface="Times New Roman" panose="02020603050405020304" pitchFamily="18" charset="0"/>
                      </a:rPr>
                      <m:t>𝑣</m:t>
                    </m:r>
                    <m:d>
                      <m:dPr>
                        <m:ctrlPr>
                          <a:rPr lang="en-US" sz="2400" i="1" kern="100" smtClean="0">
                            <a:solidFill>
                              <a:srgbClr val="0000CC"/>
                            </a:solidFill>
                            <a:latin typeface="Cambria Math" panose="02040503050406030204" pitchFamily="18" charset="0"/>
                            <a:ea typeface="Calibri" panose="020F0502020204030204" pitchFamily="34" charset="0"/>
                            <a:cs typeface="Times New Roman" panose="02020603050405020304" pitchFamily="18" charset="0"/>
                          </a:rPr>
                        </m:ctrlPr>
                      </m:dPr>
                      <m:e>
                        <m:r>
                          <a:rPr lang="en-US" sz="2400" b="0" i="1" kern="100" smtClean="0">
                            <a:solidFill>
                              <a:srgbClr val="0000CC"/>
                            </a:solidFill>
                            <a:latin typeface="Cambria Math" panose="02040503050406030204" pitchFamily="18" charset="0"/>
                            <a:ea typeface="Calibri" panose="020F0502020204030204" pitchFamily="34" charset="0"/>
                            <a:cs typeface="Times New Roman" panose="02020603050405020304" pitchFamily="18" charset="0"/>
                          </a:rPr>
                          <m:t>𝑡</m:t>
                        </m:r>
                      </m:e>
                    </m:d>
                    <m:r>
                      <a:rPr lang="en-US" sz="2400" b="0" i="1" kern="100" smtClean="0">
                        <a:solidFill>
                          <a:srgbClr val="0000CC"/>
                        </a:solidFill>
                        <a:latin typeface="Cambria Math" panose="02040503050406030204" pitchFamily="18" charset="0"/>
                        <a:ea typeface="Calibri" panose="020F0502020204030204" pitchFamily="34" charset="0"/>
                        <a:cs typeface="Times New Roman" panose="02020603050405020304" pitchFamily="18" charset="0"/>
                      </a:rPr>
                      <m:t>=10</m:t>
                    </m:r>
                    <m:r>
                      <a:rPr lang="en-US" sz="2400" b="0" i="1" kern="100" smtClean="0">
                        <a:solidFill>
                          <a:srgbClr val="0000CC"/>
                        </a:solidFill>
                        <a:latin typeface="Cambria Math" panose="02040503050406030204" pitchFamily="18" charset="0"/>
                        <a:ea typeface="Cambria Math" panose="02040503050406030204" pitchFamily="18" charset="0"/>
                        <a:cs typeface="Times New Roman" panose="02020603050405020304" pitchFamily="18" charset="0"/>
                      </a:rPr>
                      <m:t>+20</m:t>
                    </m:r>
                    <m:func>
                      <m:funcPr>
                        <m:ctrlPr>
                          <a:rPr lang="en-US" sz="2400" i="1" kern="100" smtClean="0">
                            <a:solidFill>
                              <a:srgbClr val="0000CC"/>
                            </a:solidFill>
                            <a:latin typeface="Cambria Math" panose="02040503050406030204" pitchFamily="18" charset="0"/>
                            <a:ea typeface="Cambria Math" panose="02040503050406030204" pitchFamily="18" charset="0"/>
                            <a:cs typeface="Times New Roman" panose="02020603050405020304" pitchFamily="18" charset="0"/>
                          </a:rPr>
                        </m:ctrlPr>
                      </m:funcPr>
                      <m:fName>
                        <m:r>
                          <m:rPr>
                            <m:sty m:val="p"/>
                          </m:rPr>
                          <a:rPr lang="en-US" sz="2400" b="0" i="0" kern="100" smtClean="0">
                            <a:solidFill>
                              <a:srgbClr val="0000CC"/>
                            </a:solidFill>
                            <a:latin typeface="Cambria Math" panose="02040503050406030204" pitchFamily="18" charset="0"/>
                            <a:ea typeface="Cambria Math" panose="02040503050406030204" pitchFamily="18" charset="0"/>
                            <a:cs typeface="Times New Roman" panose="02020603050405020304" pitchFamily="18" charset="0"/>
                          </a:rPr>
                          <m:t>cos</m:t>
                        </m:r>
                      </m:fName>
                      <m:e>
                        <m:d>
                          <m:dPr>
                            <m:ctrlPr>
                              <a:rPr lang="en-US" sz="2400" i="1" kern="100" smtClean="0">
                                <a:solidFill>
                                  <a:srgbClr val="0000CC"/>
                                </a:solidFill>
                                <a:latin typeface="Cambria Math" panose="02040503050406030204" pitchFamily="18" charset="0"/>
                                <a:ea typeface="Cambria Math" panose="02040503050406030204" pitchFamily="18" charset="0"/>
                                <a:cs typeface="Times New Roman" panose="02020603050405020304" pitchFamily="18" charset="0"/>
                              </a:rPr>
                            </m:ctrlPr>
                          </m:dPr>
                          <m:e>
                            <m:r>
                              <a:rPr lang="en-US" sz="2400" b="0" i="1" kern="100" smtClean="0">
                                <a:solidFill>
                                  <a:srgbClr val="0000CC"/>
                                </a:solidFill>
                                <a:latin typeface="Cambria Math" panose="02040503050406030204" pitchFamily="18" charset="0"/>
                                <a:ea typeface="Cambria Math" panose="02040503050406030204" pitchFamily="18" charset="0"/>
                                <a:cs typeface="Times New Roman" panose="02020603050405020304" pitchFamily="18" charset="0"/>
                              </a:rPr>
                              <m:t>2</m:t>
                            </m:r>
                            <m:r>
                              <a:rPr lang="en-US" sz="2400" b="0" i="1" kern="100" smtClean="0">
                                <a:solidFill>
                                  <a:srgbClr val="0000CC"/>
                                </a:solidFill>
                                <a:latin typeface="Cambria Math" panose="02040503050406030204" pitchFamily="18" charset="0"/>
                                <a:ea typeface="Cambria Math" panose="02040503050406030204" pitchFamily="18" charset="0"/>
                                <a:cs typeface="Times New Roman" panose="02020603050405020304" pitchFamily="18" charset="0"/>
                              </a:rPr>
                              <m:t>𝜋</m:t>
                            </m:r>
                            <m:r>
                              <a:rPr lang="en-US" sz="2400" b="0" i="1" kern="100" smtClean="0">
                                <a:solidFill>
                                  <a:srgbClr val="0000CC"/>
                                </a:solidFill>
                                <a:latin typeface="Cambria Math" panose="02040503050406030204" pitchFamily="18" charset="0"/>
                                <a:ea typeface="Cambria Math" panose="02040503050406030204" pitchFamily="18" charset="0"/>
                                <a:cs typeface="Times New Roman" panose="02020603050405020304" pitchFamily="18" charset="0"/>
                              </a:rPr>
                              <m:t>60</m:t>
                            </m:r>
                            <m:r>
                              <a:rPr lang="en-US" sz="2400" b="0" i="1" kern="100" smtClean="0">
                                <a:solidFill>
                                  <a:srgbClr val="0000CC"/>
                                </a:solidFill>
                                <a:latin typeface="Cambria Math" panose="02040503050406030204" pitchFamily="18" charset="0"/>
                                <a:ea typeface="Cambria Math" panose="02040503050406030204" pitchFamily="18" charset="0"/>
                                <a:cs typeface="Times New Roman" panose="02020603050405020304" pitchFamily="18" charset="0"/>
                              </a:rPr>
                              <m:t>𝑡</m:t>
                            </m:r>
                            <m:r>
                              <a:rPr lang="en-US" sz="2400" b="0" i="1" kern="100" smtClean="0">
                                <a:solidFill>
                                  <a:srgbClr val="0000CC"/>
                                </a:solidFill>
                                <a:latin typeface="Cambria Math" panose="02040503050406030204" pitchFamily="18" charset="0"/>
                                <a:ea typeface="Cambria Math" panose="02040503050406030204" pitchFamily="18" charset="0"/>
                                <a:cs typeface="Times New Roman" panose="02020603050405020304" pitchFamily="18" charset="0"/>
                              </a:rPr>
                              <m:t>−</m:t>
                            </m:r>
                            <m:sSup>
                              <m:sSupPr>
                                <m:ctrlPr>
                                  <a:rPr lang="en-US" sz="2400" i="1" kern="100" smtClean="0">
                                    <a:solidFill>
                                      <a:srgbClr val="0000CC"/>
                                    </a:solidFill>
                                    <a:latin typeface="Cambria Math" panose="02040503050406030204" pitchFamily="18" charset="0"/>
                                    <a:ea typeface="Cambria Math" panose="02040503050406030204" pitchFamily="18" charset="0"/>
                                    <a:cs typeface="Times New Roman" panose="02020603050405020304" pitchFamily="18" charset="0"/>
                                  </a:rPr>
                                </m:ctrlPr>
                              </m:sSupPr>
                              <m:e>
                                <m:r>
                                  <a:rPr lang="en-US" sz="2400" b="0" i="1" kern="100" smtClean="0">
                                    <a:solidFill>
                                      <a:srgbClr val="0000CC"/>
                                    </a:solidFill>
                                    <a:latin typeface="Cambria Math" panose="02040503050406030204" pitchFamily="18" charset="0"/>
                                    <a:ea typeface="Cambria Math" panose="02040503050406030204" pitchFamily="18" charset="0"/>
                                    <a:cs typeface="Times New Roman" panose="02020603050405020304" pitchFamily="18" charset="0"/>
                                  </a:rPr>
                                  <m:t>25</m:t>
                                </m:r>
                              </m:e>
                              <m:sup>
                                <m:r>
                                  <a:rPr lang="en-US" sz="2400" b="0" i="1" kern="100" smtClean="0">
                                    <a:solidFill>
                                      <a:srgbClr val="0000CC"/>
                                    </a:solidFill>
                                    <a:latin typeface="Cambria Math" panose="02040503050406030204" pitchFamily="18" charset="0"/>
                                    <a:ea typeface="Cambria Math" panose="02040503050406030204" pitchFamily="18" charset="0"/>
                                    <a:cs typeface="Times New Roman" panose="02020603050405020304" pitchFamily="18" charset="0"/>
                                  </a:rPr>
                                  <m:t>°</m:t>
                                </m:r>
                              </m:sup>
                            </m:sSup>
                          </m:e>
                        </m:d>
                      </m:e>
                    </m:func>
                    <m:r>
                      <a:rPr lang="en-US" sz="2400" b="0" i="1" kern="100" smtClean="0">
                        <a:solidFill>
                          <a:srgbClr val="0000CC"/>
                        </a:solidFill>
                        <a:latin typeface="Cambria Math" panose="02040503050406030204" pitchFamily="18" charset="0"/>
                        <a:ea typeface="Cambria Math" panose="02040503050406030204" pitchFamily="18" charset="0"/>
                        <a:cs typeface="Times New Roman" panose="02020603050405020304" pitchFamily="18" charset="0"/>
                      </a:rPr>
                      <m:t>+30</m:t>
                    </m:r>
                    <m:func>
                      <m:funcPr>
                        <m:ctrlPr>
                          <a:rPr lang="en-US" sz="2400" i="1" kern="100" smtClean="0">
                            <a:solidFill>
                              <a:srgbClr val="0000CC"/>
                            </a:solidFill>
                            <a:latin typeface="Cambria Math" panose="02040503050406030204" pitchFamily="18" charset="0"/>
                            <a:ea typeface="Cambria Math" panose="02040503050406030204" pitchFamily="18" charset="0"/>
                            <a:cs typeface="Times New Roman" panose="02020603050405020304" pitchFamily="18" charset="0"/>
                          </a:rPr>
                        </m:ctrlPr>
                      </m:funcPr>
                      <m:fName>
                        <m:r>
                          <m:rPr>
                            <m:sty m:val="p"/>
                          </m:rPr>
                          <a:rPr lang="en-US" sz="2400" b="0" i="0" kern="100" smtClean="0">
                            <a:solidFill>
                              <a:srgbClr val="0000CC"/>
                            </a:solidFill>
                            <a:latin typeface="Cambria Math" panose="02040503050406030204" pitchFamily="18" charset="0"/>
                            <a:ea typeface="Cambria Math" panose="02040503050406030204" pitchFamily="18" charset="0"/>
                            <a:cs typeface="Times New Roman" panose="02020603050405020304" pitchFamily="18" charset="0"/>
                          </a:rPr>
                          <m:t>cos</m:t>
                        </m:r>
                      </m:fName>
                      <m:e>
                        <m:d>
                          <m:dPr>
                            <m:ctrlPr>
                              <a:rPr lang="en-US" sz="2400" i="1" kern="100" smtClean="0">
                                <a:solidFill>
                                  <a:srgbClr val="0000CC"/>
                                </a:solidFill>
                                <a:latin typeface="Cambria Math" panose="02040503050406030204" pitchFamily="18" charset="0"/>
                                <a:ea typeface="Cambria Math" panose="02040503050406030204" pitchFamily="18" charset="0"/>
                                <a:cs typeface="Times New Roman" panose="02020603050405020304" pitchFamily="18" charset="0"/>
                              </a:rPr>
                            </m:ctrlPr>
                          </m:dPr>
                          <m:e>
                            <m:r>
                              <a:rPr lang="en-US" sz="2400" b="0" i="1" kern="100" smtClean="0">
                                <a:solidFill>
                                  <a:srgbClr val="0000CC"/>
                                </a:solidFill>
                                <a:latin typeface="Cambria Math" panose="02040503050406030204" pitchFamily="18" charset="0"/>
                                <a:ea typeface="Cambria Math" panose="02040503050406030204" pitchFamily="18" charset="0"/>
                                <a:cs typeface="Times New Roman" panose="02020603050405020304" pitchFamily="18" charset="0"/>
                              </a:rPr>
                              <m:t>4</m:t>
                            </m:r>
                            <m:r>
                              <a:rPr lang="en-US" sz="2400" b="0" i="1" kern="100" smtClean="0">
                                <a:solidFill>
                                  <a:srgbClr val="0000CC"/>
                                </a:solidFill>
                                <a:latin typeface="Cambria Math" panose="02040503050406030204" pitchFamily="18" charset="0"/>
                                <a:ea typeface="Cambria Math" panose="02040503050406030204" pitchFamily="18" charset="0"/>
                                <a:cs typeface="Times New Roman" panose="02020603050405020304" pitchFamily="18" charset="0"/>
                              </a:rPr>
                              <m:t>𝜋</m:t>
                            </m:r>
                            <m:r>
                              <a:rPr lang="en-US" sz="2400" b="0" i="1" kern="100" smtClean="0">
                                <a:solidFill>
                                  <a:srgbClr val="0000CC"/>
                                </a:solidFill>
                                <a:latin typeface="Cambria Math" panose="02040503050406030204" pitchFamily="18" charset="0"/>
                                <a:ea typeface="Cambria Math" panose="02040503050406030204" pitchFamily="18" charset="0"/>
                                <a:cs typeface="Times New Roman" panose="02020603050405020304" pitchFamily="18" charset="0"/>
                              </a:rPr>
                              <m:t>60</m:t>
                            </m:r>
                            <m:r>
                              <a:rPr lang="en-US" sz="2400" b="0" i="1" kern="100" smtClean="0">
                                <a:solidFill>
                                  <a:srgbClr val="0000CC"/>
                                </a:solidFill>
                                <a:latin typeface="Cambria Math" panose="02040503050406030204" pitchFamily="18" charset="0"/>
                                <a:ea typeface="Cambria Math" panose="02040503050406030204" pitchFamily="18" charset="0"/>
                                <a:cs typeface="Times New Roman" panose="02020603050405020304" pitchFamily="18" charset="0"/>
                              </a:rPr>
                              <m:t>𝑡</m:t>
                            </m:r>
                            <m:r>
                              <a:rPr lang="en-US" sz="2400" b="0" i="1" kern="100" smtClean="0">
                                <a:solidFill>
                                  <a:srgbClr val="0000CC"/>
                                </a:solidFill>
                                <a:latin typeface="Cambria Math" panose="02040503050406030204" pitchFamily="18" charset="0"/>
                                <a:ea typeface="Cambria Math" panose="02040503050406030204" pitchFamily="18" charset="0"/>
                                <a:cs typeface="Times New Roman" panose="02020603050405020304" pitchFamily="18" charset="0"/>
                              </a:rPr>
                              <m:t>+</m:t>
                            </m:r>
                            <m:sSup>
                              <m:sSupPr>
                                <m:ctrlPr>
                                  <a:rPr lang="en-US" sz="2400" i="1" kern="100" smtClean="0">
                                    <a:solidFill>
                                      <a:srgbClr val="0000CC"/>
                                    </a:solidFill>
                                    <a:latin typeface="Cambria Math" panose="02040503050406030204" pitchFamily="18" charset="0"/>
                                    <a:ea typeface="Cambria Math" panose="02040503050406030204" pitchFamily="18" charset="0"/>
                                    <a:cs typeface="Times New Roman" panose="02020603050405020304" pitchFamily="18" charset="0"/>
                                  </a:rPr>
                                </m:ctrlPr>
                              </m:sSupPr>
                              <m:e>
                                <m:r>
                                  <a:rPr lang="en-US" sz="2400" b="0" i="1" kern="100" smtClean="0">
                                    <a:solidFill>
                                      <a:srgbClr val="0000CC"/>
                                    </a:solidFill>
                                    <a:latin typeface="Cambria Math" panose="02040503050406030204" pitchFamily="18" charset="0"/>
                                    <a:ea typeface="Cambria Math" panose="02040503050406030204" pitchFamily="18" charset="0"/>
                                    <a:cs typeface="Times New Roman" panose="02020603050405020304" pitchFamily="18" charset="0"/>
                                  </a:rPr>
                                  <m:t>20</m:t>
                                </m:r>
                              </m:e>
                              <m:sup>
                                <m:r>
                                  <a:rPr lang="en-US" sz="2400" b="0" i="1" kern="100" smtClean="0">
                                    <a:solidFill>
                                      <a:srgbClr val="0000CC"/>
                                    </a:solidFill>
                                    <a:latin typeface="Cambria Math" panose="02040503050406030204" pitchFamily="18" charset="0"/>
                                    <a:ea typeface="Cambria Math" panose="02040503050406030204" pitchFamily="18" charset="0"/>
                                    <a:cs typeface="Times New Roman" panose="02020603050405020304" pitchFamily="18" charset="0"/>
                                  </a:rPr>
                                  <m:t>°</m:t>
                                </m:r>
                              </m:sup>
                            </m:sSup>
                          </m:e>
                        </m:d>
                      </m:e>
                    </m:func>
                    <m:r>
                      <a:rPr lang="en-US" sz="2400" b="0" i="1" kern="100" smtClean="0">
                        <a:solidFill>
                          <a:srgbClr val="0000CC"/>
                        </a:solidFill>
                        <a:latin typeface="Cambria Math" panose="02040503050406030204" pitchFamily="18" charset="0"/>
                        <a:ea typeface="Cambria Math" panose="02040503050406030204" pitchFamily="18" charset="0"/>
                        <a:cs typeface="Times New Roman" panose="02020603050405020304" pitchFamily="18" charset="0"/>
                      </a:rPr>
                      <m:t>𝑉</m:t>
                    </m:r>
                  </m:oMath>
                </a14:m>
                <a:r>
                  <a:rPr lang="en-GB" sz="2400" kern="100" dirty="0">
                    <a:solidFill>
                      <a:srgbClr val="0000CC"/>
                    </a:solidFill>
                    <a:latin typeface="Century Gothic" panose="020B0502020202020204" pitchFamily="34" charset="0"/>
                    <a:ea typeface="Calibri" panose="020F0502020204030204" pitchFamily="34" charset="0"/>
                    <a:cs typeface="Times New Roman" panose="02020603050405020304" pitchFamily="18" charset="0"/>
                  </a:rPr>
                  <a:t>. This voltage is connected to a load that is a 5-</a:t>
                </a:r>
                <a:r>
                  <a:rPr lang="el-GR" sz="2400" kern="100" dirty="0">
                    <a:solidFill>
                      <a:srgbClr val="0000CC"/>
                    </a:solidFill>
                    <a:latin typeface="Century Gothic" panose="020B0502020202020204" pitchFamily="34" charset="0"/>
                    <a:ea typeface="Calibri" panose="020F0502020204030204" pitchFamily="34" charset="0"/>
                    <a:cs typeface="Times New Roman" panose="02020603050405020304" pitchFamily="18" charset="0"/>
                  </a:rPr>
                  <a:t>Ω</a:t>
                </a:r>
                <a:r>
                  <a:rPr lang="en-GB" sz="2400" kern="100" dirty="0">
                    <a:solidFill>
                      <a:srgbClr val="0000CC"/>
                    </a:solidFill>
                    <a:latin typeface="Century Gothic" panose="020B0502020202020204" pitchFamily="34" charset="0"/>
                    <a:ea typeface="Calibri" panose="020F0502020204030204" pitchFamily="34" charset="0"/>
                    <a:cs typeface="Times New Roman" panose="02020603050405020304" pitchFamily="18" charset="0"/>
                  </a:rPr>
                  <a:t> resistor and a 15-mH inductor connected in series. Determine the power absorbed by the load.</a:t>
                </a:r>
                <a:br>
                  <a:rPr lang="en-GB" sz="2400" kern="100" dirty="0">
                    <a:solidFill>
                      <a:srgbClr val="0000CC"/>
                    </a:solidFill>
                    <a:latin typeface="Century Gothic" panose="020B0502020202020204" pitchFamily="34" charset="0"/>
                    <a:ea typeface="Calibri" panose="020F0502020204030204" pitchFamily="34" charset="0"/>
                    <a:cs typeface="Times New Roman" panose="02020603050405020304" pitchFamily="18" charset="0"/>
                  </a:rPr>
                </a:br>
                <a:r>
                  <a:rPr lang="en-GB" sz="2400" kern="100" dirty="0">
                    <a:solidFill>
                      <a:srgbClr val="0000CC"/>
                    </a:solidFill>
                    <a:latin typeface="Century Gothic" panose="020B0502020202020204" pitchFamily="34" charset="0"/>
                    <a:ea typeface="Calibri" panose="020F0502020204030204" pitchFamily="34" charset="0"/>
                    <a:cs typeface="Times New Roman" panose="02020603050405020304" pitchFamily="18" charset="0"/>
                  </a:rPr>
                  <a:t> </a:t>
                </a:r>
              </a:p>
              <a:p>
                <a:pPr marL="342900" indent="-342900">
                  <a:buClr>
                    <a:schemeClr val="accent2"/>
                  </a:buClr>
                  <a:buFont typeface="Arial" panose="020B0604020202020204" pitchFamily="34" charset="0"/>
                  <a:buChar char="•"/>
                </a:pPr>
                <a:r>
                  <a:rPr lang="en-GB" sz="2400" b="1" kern="100" dirty="0">
                    <a:solidFill>
                      <a:srgbClr val="0000CC"/>
                    </a:solidFill>
                    <a:latin typeface="Century Gothic" panose="020B0502020202020204" pitchFamily="34" charset="0"/>
                    <a:ea typeface="Calibri" panose="020F0502020204030204" pitchFamily="34" charset="0"/>
                    <a:cs typeface="Times New Roman" panose="02020603050405020304" pitchFamily="18" charset="0"/>
                  </a:rPr>
                  <a:t>Solution</a:t>
                </a:r>
              </a:p>
              <a:p>
                <a:pPr>
                  <a:buClr>
                    <a:schemeClr val="accent2"/>
                  </a:buClr>
                </a:pPr>
                <a:endParaRPr lang="en-GB" sz="2400" b="1" kern="100" dirty="0">
                  <a:solidFill>
                    <a:srgbClr val="0000CC"/>
                  </a:solidFill>
                  <a:latin typeface="Century Gothic" panose="020B0502020202020204" pitchFamily="34" charset="0"/>
                  <a:ea typeface="Calibri" panose="020F0502020204030204" pitchFamily="34" charset="0"/>
                  <a:cs typeface="Times New Roman" panose="02020603050405020304" pitchFamily="18" charset="0"/>
                </a:endParaRPr>
              </a:p>
              <a:p>
                <a:pPr>
                  <a:buClr>
                    <a:schemeClr val="accent2"/>
                  </a:buClr>
                </a:pPr>
                <a:r>
                  <a:rPr lang="en-GB" sz="2400" b="1" kern="100" dirty="0">
                    <a:solidFill>
                      <a:srgbClr val="0000CC"/>
                    </a:solidFill>
                    <a:latin typeface="Century Gothic" panose="020B0502020202020204" pitchFamily="34" charset="0"/>
                    <a:ea typeface="Calibri" panose="020F0502020204030204" pitchFamily="34" charset="0"/>
                    <a:cs typeface="Times New Roman" panose="02020603050405020304" pitchFamily="18" charset="0"/>
                  </a:rPr>
                  <a:t>The dc current term is expressed as</a:t>
                </a:r>
              </a:p>
              <a:p>
                <a:pPr>
                  <a:buClr>
                    <a:schemeClr val="accent2"/>
                  </a:buClr>
                </a:pPr>
                <a:r>
                  <a:rPr lang="en-GB" sz="2400" b="1" kern="100" dirty="0">
                    <a:solidFill>
                      <a:srgbClr val="0000CC"/>
                    </a:solidFill>
                    <a:latin typeface="Century Gothic" panose="020B0502020202020204" pitchFamily="34" charset="0"/>
                    <a:ea typeface="Calibri" panose="020F0502020204030204" pitchFamily="34" charset="0"/>
                    <a:cs typeface="Times New Roman" panose="02020603050405020304" pitchFamily="18" charset="0"/>
                  </a:rPr>
                  <a:t>								</a:t>
                </a:r>
                <a14:m>
                  <m:oMath xmlns:m="http://schemas.openxmlformats.org/officeDocument/2006/math">
                    <m:sSub>
                      <m:sSubPr>
                        <m:ctrlPr>
                          <a:rPr lang="en-GB" sz="2400" b="1" i="1" kern="100" smtClean="0">
                            <a:solidFill>
                              <a:srgbClr val="0000CC"/>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2400" b="1" i="1" kern="100" smtClean="0">
                            <a:solidFill>
                              <a:srgbClr val="0000CC"/>
                            </a:solidFill>
                            <a:latin typeface="Cambria Math" panose="02040503050406030204" pitchFamily="18" charset="0"/>
                            <a:ea typeface="Calibri" panose="020F0502020204030204" pitchFamily="34" charset="0"/>
                            <a:cs typeface="Times New Roman" panose="02020603050405020304" pitchFamily="18" charset="0"/>
                          </a:rPr>
                          <m:t>𝑰</m:t>
                        </m:r>
                      </m:e>
                      <m:sub>
                        <m:r>
                          <a:rPr lang="en-US" sz="2400" b="1" i="1" kern="100" smtClean="0">
                            <a:solidFill>
                              <a:srgbClr val="0000CC"/>
                            </a:solidFill>
                            <a:latin typeface="Cambria Math" panose="02040503050406030204" pitchFamily="18" charset="0"/>
                            <a:ea typeface="Calibri" panose="020F0502020204030204" pitchFamily="34" charset="0"/>
                            <a:cs typeface="Times New Roman" panose="02020603050405020304" pitchFamily="18" charset="0"/>
                          </a:rPr>
                          <m:t>𝟎</m:t>
                        </m:r>
                      </m:sub>
                    </m:sSub>
                  </m:oMath>
                </a14:m>
                <a:r>
                  <a:rPr lang="en-GB" sz="2400" kern="100" dirty="0">
                    <a:solidFill>
                      <a:srgbClr val="0000CC"/>
                    </a:solidFill>
                    <a:latin typeface="Century Gothic" panose="020B0502020202020204" pitchFamily="34" charset="0"/>
                    <a:ea typeface="Calibri" panose="020F0502020204030204" pitchFamily="34" charset="0"/>
                    <a:cs typeface="Times New Roman" panose="02020603050405020304" pitchFamily="18" charset="0"/>
                  </a:rPr>
                  <a:t> = </a:t>
                </a:r>
                <a14:m>
                  <m:oMath xmlns:m="http://schemas.openxmlformats.org/officeDocument/2006/math">
                    <m:f>
                      <m:fPr>
                        <m:ctrlPr>
                          <a:rPr lang="en-GB" sz="2400" i="1" kern="100" smtClean="0">
                            <a:solidFill>
                              <a:srgbClr val="0000CC"/>
                            </a:solidFill>
                            <a:latin typeface="Cambria Math" panose="02040503050406030204" pitchFamily="18" charset="0"/>
                            <a:ea typeface="Calibri" panose="020F0502020204030204" pitchFamily="34" charset="0"/>
                            <a:cs typeface="Times New Roman" panose="02020603050405020304" pitchFamily="18" charset="0"/>
                          </a:rPr>
                        </m:ctrlPr>
                      </m:fPr>
                      <m:num>
                        <m:sSub>
                          <m:sSubPr>
                            <m:ctrlPr>
                              <a:rPr lang="en-GB" sz="2400" i="1" kern="100" smtClean="0">
                                <a:solidFill>
                                  <a:srgbClr val="0000CC"/>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2400" b="0" i="1" kern="100" smtClean="0">
                                <a:solidFill>
                                  <a:srgbClr val="0000CC"/>
                                </a:solidFill>
                                <a:latin typeface="Cambria Math" panose="02040503050406030204" pitchFamily="18" charset="0"/>
                                <a:ea typeface="Calibri" panose="020F0502020204030204" pitchFamily="34" charset="0"/>
                                <a:cs typeface="Times New Roman" panose="02020603050405020304" pitchFamily="18" charset="0"/>
                              </a:rPr>
                              <m:t>𝑉</m:t>
                            </m:r>
                          </m:e>
                          <m:sub>
                            <m:r>
                              <a:rPr lang="en-US" sz="2400" b="0" i="1" kern="100" smtClean="0">
                                <a:solidFill>
                                  <a:srgbClr val="0000CC"/>
                                </a:solidFill>
                                <a:latin typeface="Cambria Math" panose="02040503050406030204" pitchFamily="18" charset="0"/>
                                <a:ea typeface="Calibri" panose="020F0502020204030204" pitchFamily="34" charset="0"/>
                                <a:cs typeface="Times New Roman" panose="02020603050405020304" pitchFamily="18" charset="0"/>
                              </a:rPr>
                              <m:t>0</m:t>
                            </m:r>
                          </m:sub>
                        </m:sSub>
                      </m:num>
                      <m:den>
                        <m:r>
                          <a:rPr lang="en-US" sz="2400" b="0" i="1" kern="100" smtClean="0">
                            <a:solidFill>
                              <a:srgbClr val="0000CC"/>
                            </a:solidFill>
                            <a:latin typeface="Cambria Math" panose="02040503050406030204" pitchFamily="18" charset="0"/>
                            <a:ea typeface="Calibri" panose="020F0502020204030204" pitchFamily="34" charset="0"/>
                            <a:cs typeface="Times New Roman" panose="02020603050405020304" pitchFamily="18" charset="0"/>
                          </a:rPr>
                          <m:t>𝑅</m:t>
                        </m:r>
                      </m:den>
                    </m:f>
                  </m:oMath>
                </a14:m>
                <a:r>
                  <a:rPr lang="en-GB" sz="2400" kern="100" dirty="0">
                    <a:solidFill>
                      <a:srgbClr val="0000CC"/>
                    </a:solidFill>
                    <a:latin typeface="Century Gothic" panose="020B0502020202020204" pitchFamily="34" charset="0"/>
                    <a:ea typeface="Calibri" panose="020F0502020204030204" pitchFamily="34" charset="0"/>
                    <a:cs typeface="Times New Roman" panose="02020603050405020304" pitchFamily="18" charset="0"/>
                  </a:rPr>
                  <a:t> = </a:t>
                </a:r>
                <a14:m>
                  <m:oMath xmlns:m="http://schemas.openxmlformats.org/officeDocument/2006/math">
                    <m:f>
                      <m:fPr>
                        <m:ctrlPr>
                          <a:rPr lang="en-GB" sz="2400" i="1" kern="100" smtClean="0">
                            <a:solidFill>
                              <a:srgbClr val="0000CC"/>
                            </a:solidFill>
                            <a:latin typeface="Cambria Math" panose="02040503050406030204" pitchFamily="18" charset="0"/>
                            <a:ea typeface="Calibri" panose="020F0502020204030204" pitchFamily="34" charset="0"/>
                            <a:cs typeface="Times New Roman" panose="02020603050405020304" pitchFamily="18" charset="0"/>
                          </a:rPr>
                        </m:ctrlPr>
                      </m:fPr>
                      <m:num>
                        <m:r>
                          <a:rPr lang="en-US" sz="2400" b="0" i="1" kern="100" smtClean="0">
                            <a:solidFill>
                              <a:srgbClr val="0000CC"/>
                            </a:solidFill>
                            <a:latin typeface="Cambria Math" panose="02040503050406030204" pitchFamily="18" charset="0"/>
                            <a:ea typeface="Calibri" panose="020F0502020204030204" pitchFamily="34" charset="0"/>
                            <a:cs typeface="Times New Roman" panose="02020603050405020304" pitchFamily="18" charset="0"/>
                          </a:rPr>
                          <m:t>10</m:t>
                        </m:r>
                      </m:num>
                      <m:den>
                        <m:r>
                          <a:rPr lang="en-US" sz="2400" b="0" i="1" kern="100" smtClean="0">
                            <a:solidFill>
                              <a:srgbClr val="0000CC"/>
                            </a:solidFill>
                            <a:latin typeface="Cambria Math" panose="02040503050406030204" pitchFamily="18" charset="0"/>
                            <a:ea typeface="Calibri" panose="020F0502020204030204" pitchFamily="34" charset="0"/>
                            <a:cs typeface="Times New Roman" panose="02020603050405020304" pitchFamily="18" charset="0"/>
                          </a:rPr>
                          <m:t>5</m:t>
                        </m:r>
                      </m:den>
                    </m:f>
                  </m:oMath>
                </a14:m>
                <a:r>
                  <a:rPr lang="en-GB" sz="2400" kern="100" dirty="0">
                    <a:solidFill>
                      <a:srgbClr val="0000CC"/>
                    </a:solidFill>
                    <a:latin typeface="Century Gothic" panose="020B0502020202020204" pitchFamily="34" charset="0"/>
                    <a:ea typeface="Calibri" panose="020F0502020204030204" pitchFamily="34" charset="0"/>
                    <a:cs typeface="Times New Roman" panose="02020603050405020304" pitchFamily="18" charset="0"/>
                  </a:rPr>
                  <a:t> = 2 A</a:t>
                </a:r>
                <a:br>
                  <a:rPr lang="en-GB" sz="2400" kern="100" dirty="0">
                    <a:solidFill>
                      <a:srgbClr val="0000CC"/>
                    </a:solidFill>
                    <a:latin typeface="Century Gothic" panose="020B0502020202020204" pitchFamily="34" charset="0"/>
                    <a:ea typeface="Calibri" panose="020F0502020204030204" pitchFamily="34" charset="0"/>
                    <a:cs typeface="Times New Roman" panose="02020603050405020304" pitchFamily="18" charset="0"/>
                  </a:rPr>
                </a:br>
                <a:br>
                  <a:rPr lang="en-GB" sz="2400" kern="100" dirty="0">
                    <a:solidFill>
                      <a:srgbClr val="0000CC"/>
                    </a:solidFill>
                    <a:latin typeface="Century Gothic" panose="020B0502020202020204" pitchFamily="34" charset="0"/>
                    <a:ea typeface="Calibri" panose="020F0502020204030204" pitchFamily="34" charset="0"/>
                    <a:cs typeface="Times New Roman" panose="02020603050405020304" pitchFamily="18" charset="0"/>
                  </a:rPr>
                </a:br>
                <a:r>
                  <a:rPr lang="en-GB" sz="2400" kern="100" dirty="0">
                    <a:solidFill>
                      <a:srgbClr val="0000CC"/>
                    </a:solidFill>
                    <a:latin typeface="Century Gothic" panose="020B0502020202020204" pitchFamily="34" charset="0"/>
                    <a:ea typeface="Calibri" panose="020F0502020204030204" pitchFamily="34" charset="0"/>
                    <a:cs typeface="Times New Roman" panose="02020603050405020304" pitchFamily="18" charset="0"/>
                  </a:rPr>
                  <a:t>The amplitudes of ac current are determined from phasor analysis</a:t>
                </a:r>
              </a:p>
              <a:p>
                <a:pPr>
                  <a:buClr>
                    <a:schemeClr val="accent2"/>
                  </a:buClr>
                </a:pPr>
                <a:r>
                  <a:rPr lang="en-GB" sz="2400" b="1" kern="100" dirty="0">
                    <a:solidFill>
                      <a:srgbClr val="0000CC"/>
                    </a:solidFill>
                    <a:latin typeface="Century Gothic" panose="020B0502020202020204" pitchFamily="34" charset="0"/>
                    <a:ea typeface="Calibri" panose="020F0502020204030204" pitchFamily="34" charset="0"/>
                    <a:cs typeface="Times New Roman" panose="02020603050405020304" pitchFamily="18" charset="0"/>
                  </a:rPr>
                  <a:t>					</a:t>
                </a:r>
                <a14:m>
                  <m:oMath xmlns:m="http://schemas.openxmlformats.org/officeDocument/2006/math">
                    <m:sSub>
                      <m:sSubPr>
                        <m:ctrlPr>
                          <a:rPr lang="en-GB" sz="2400" b="1" i="1" kern="100" smtClean="0">
                            <a:solidFill>
                              <a:srgbClr val="0000CC"/>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2400" b="1" i="1" kern="100" smtClean="0">
                            <a:solidFill>
                              <a:srgbClr val="0000CC"/>
                            </a:solidFill>
                            <a:latin typeface="Cambria Math" panose="02040503050406030204" pitchFamily="18" charset="0"/>
                            <a:ea typeface="Calibri" panose="020F0502020204030204" pitchFamily="34" charset="0"/>
                            <a:cs typeface="Times New Roman" panose="02020603050405020304" pitchFamily="18" charset="0"/>
                          </a:rPr>
                          <m:t>𝑰</m:t>
                        </m:r>
                      </m:e>
                      <m:sub>
                        <m:r>
                          <a:rPr lang="en-US" sz="2400" b="1" i="1" kern="100" smtClean="0">
                            <a:solidFill>
                              <a:srgbClr val="0000CC"/>
                            </a:solidFill>
                            <a:latin typeface="Cambria Math" panose="02040503050406030204" pitchFamily="18" charset="0"/>
                            <a:ea typeface="Calibri" panose="020F0502020204030204" pitchFamily="34" charset="0"/>
                            <a:cs typeface="Times New Roman" panose="02020603050405020304" pitchFamily="18" charset="0"/>
                          </a:rPr>
                          <m:t>𝟏</m:t>
                        </m:r>
                      </m:sub>
                    </m:sSub>
                  </m:oMath>
                </a14:m>
                <a:r>
                  <a:rPr lang="en-GB" sz="2400" b="1" kern="100" dirty="0">
                    <a:solidFill>
                      <a:srgbClr val="0000CC"/>
                    </a:solidFill>
                    <a:latin typeface="Century Gothic" panose="020B0502020202020204" pitchFamily="34" charset="0"/>
                    <a:ea typeface="Calibri" panose="020F0502020204030204" pitchFamily="34" charset="0"/>
                    <a:cs typeface="Times New Roman" panose="02020603050405020304" pitchFamily="18" charset="0"/>
                  </a:rPr>
                  <a:t> = </a:t>
                </a:r>
                <a14:m>
                  <m:oMath xmlns:m="http://schemas.openxmlformats.org/officeDocument/2006/math">
                    <m:f>
                      <m:fPr>
                        <m:ctrlPr>
                          <a:rPr lang="en-GB" sz="2400" b="1" i="1" kern="100" smtClean="0">
                            <a:solidFill>
                              <a:srgbClr val="0000CC"/>
                            </a:solidFill>
                            <a:latin typeface="Cambria Math" panose="02040503050406030204" pitchFamily="18" charset="0"/>
                            <a:ea typeface="Calibri" panose="020F0502020204030204" pitchFamily="34" charset="0"/>
                            <a:cs typeface="Times New Roman" panose="02020603050405020304" pitchFamily="18" charset="0"/>
                          </a:rPr>
                        </m:ctrlPr>
                      </m:fPr>
                      <m:num>
                        <m:sSub>
                          <m:sSubPr>
                            <m:ctrlPr>
                              <a:rPr lang="en-GB" sz="2400" b="1" i="1" kern="100" smtClean="0">
                                <a:solidFill>
                                  <a:srgbClr val="0000CC"/>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2400" b="1" i="1" kern="100" smtClean="0">
                                <a:solidFill>
                                  <a:srgbClr val="0000CC"/>
                                </a:solidFill>
                                <a:latin typeface="Cambria Math" panose="02040503050406030204" pitchFamily="18" charset="0"/>
                                <a:ea typeface="Calibri" panose="020F0502020204030204" pitchFamily="34" charset="0"/>
                                <a:cs typeface="Times New Roman" panose="02020603050405020304" pitchFamily="18" charset="0"/>
                              </a:rPr>
                              <m:t>𝑽</m:t>
                            </m:r>
                          </m:e>
                          <m:sub>
                            <m:r>
                              <a:rPr lang="en-US" sz="2400" b="1" i="1" kern="100" smtClean="0">
                                <a:solidFill>
                                  <a:srgbClr val="0000CC"/>
                                </a:solidFill>
                                <a:latin typeface="Cambria Math" panose="02040503050406030204" pitchFamily="18" charset="0"/>
                                <a:ea typeface="Calibri" panose="020F0502020204030204" pitchFamily="34" charset="0"/>
                                <a:cs typeface="Times New Roman" panose="02020603050405020304" pitchFamily="18" charset="0"/>
                              </a:rPr>
                              <m:t>𝟏</m:t>
                            </m:r>
                          </m:sub>
                        </m:sSub>
                      </m:num>
                      <m:den>
                        <m:r>
                          <a:rPr lang="en-US" sz="2400" b="1" i="1" kern="100" smtClean="0">
                            <a:solidFill>
                              <a:srgbClr val="0000CC"/>
                            </a:solidFill>
                            <a:latin typeface="Cambria Math" panose="02040503050406030204" pitchFamily="18" charset="0"/>
                            <a:ea typeface="Calibri" panose="020F0502020204030204" pitchFamily="34" charset="0"/>
                            <a:cs typeface="Times New Roman" panose="02020603050405020304" pitchFamily="18" charset="0"/>
                          </a:rPr>
                          <m:t>𝑹</m:t>
                        </m:r>
                        <m:r>
                          <a:rPr lang="en-US" sz="2400" b="1" i="1" kern="100" smtClean="0">
                            <a:solidFill>
                              <a:srgbClr val="0000CC"/>
                            </a:solidFill>
                            <a:latin typeface="Cambria Math" panose="02040503050406030204" pitchFamily="18" charset="0"/>
                            <a:ea typeface="Cambria Math" panose="02040503050406030204" pitchFamily="18" charset="0"/>
                            <a:cs typeface="Times New Roman" panose="02020603050405020304" pitchFamily="18" charset="0"/>
                          </a:rPr>
                          <m:t>+</m:t>
                        </m:r>
                        <m:r>
                          <a:rPr lang="en-US" sz="2400" b="1" i="1" kern="100" smtClean="0">
                            <a:solidFill>
                              <a:srgbClr val="0000CC"/>
                            </a:solidFill>
                            <a:latin typeface="Cambria Math" panose="02040503050406030204" pitchFamily="18" charset="0"/>
                            <a:ea typeface="Cambria Math" panose="02040503050406030204" pitchFamily="18" charset="0"/>
                            <a:cs typeface="Times New Roman" panose="02020603050405020304" pitchFamily="18" charset="0"/>
                          </a:rPr>
                          <m:t>𝒋</m:t>
                        </m:r>
                        <m:sSub>
                          <m:sSubPr>
                            <m:ctrlPr>
                              <a:rPr lang="en-US" sz="2400" b="1" i="1" kern="100" smtClean="0">
                                <a:solidFill>
                                  <a:srgbClr val="0000CC"/>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sz="2400" b="1" i="1" kern="100" smtClean="0">
                                <a:solidFill>
                                  <a:srgbClr val="0000CC"/>
                                </a:solidFill>
                                <a:latin typeface="Cambria Math" panose="02040503050406030204" pitchFamily="18" charset="0"/>
                                <a:ea typeface="Cambria Math" panose="02040503050406030204" pitchFamily="18" charset="0"/>
                                <a:cs typeface="Times New Roman" panose="02020603050405020304" pitchFamily="18" charset="0"/>
                              </a:rPr>
                              <m:t>𝝎</m:t>
                            </m:r>
                          </m:e>
                          <m:sub>
                            <m:r>
                              <a:rPr lang="en-US" sz="2400" b="1" i="1" kern="100" smtClean="0">
                                <a:solidFill>
                                  <a:srgbClr val="0000CC"/>
                                </a:solidFill>
                                <a:latin typeface="Cambria Math" panose="02040503050406030204" pitchFamily="18" charset="0"/>
                                <a:ea typeface="Cambria Math" panose="02040503050406030204" pitchFamily="18" charset="0"/>
                                <a:cs typeface="Times New Roman" panose="02020603050405020304" pitchFamily="18" charset="0"/>
                              </a:rPr>
                              <m:t>𝟏</m:t>
                            </m:r>
                          </m:sub>
                        </m:sSub>
                        <m:r>
                          <a:rPr lang="en-US" sz="2400" b="1" i="1" kern="100" smtClean="0">
                            <a:solidFill>
                              <a:srgbClr val="0000CC"/>
                            </a:solidFill>
                            <a:latin typeface="Cambria Math" panose="02040503050406030204" pitchFamily="18" charset="0"/>
                            <a:ea typeface="Cambria Math" panose="02040503050406030204" pitchFamily="18" charset="0"/>
                            <a:cs typeface="Times New Roman" panose="02020603050405020304" pitchFamily="18" charset="0"/>
                          </a:rPr>
                          <m:t>𝑳</m:t>
                        </m:r>
                      </m:den>
                    </m:f>
                  </m:oMath>
                </a14:m>
                <a:r>
                  <a:rPr lang="en-GB" sz="2400" b="1" kern="100" dirty="0">
                    <a:solidFill>
                      <a:srgbClr val="0000CC"/>
                    </a:solidFill>
                    <a:latin typeface="Century Gothic" panose="020B0502020202020204" pitchFamily="34" charset="0"/>
                    <a:ea typeface="Calibri" panose="020F0502020204030204" pitchFamily="34" charset="0"/>
                    <a:cs typeface="Times New Roman" panose="02020603050405020304" pitchFamily="18" charset="0"/>
                  </a:rPr>
                  <a:t> = </a:t>
                </a:r>
                <a14:m>
                  <m:oMath xmlns:m="http://schemas.openxmlformats.org/officeDocument/2006/math">
                    <m:f>
                      <m:fPr>
                        <m:ctrlPr>
                          <a:rPr lang="en-GB" sz="2400" b="1" i="1" kern="100" smtClean="0">
                            <a:solidFill>
                              <a:srgbClr val="0000CC"/>
                            </a:solidFill>
                            <a:latin typeface="Cambria Math" panose="02040503050406030204" pitchFamily="18" charset="0"/>
                            <a:ea typeface="Calibri" panose="020F0502020204030204" pitchFamily="34" charset="0"/>
                            <a:cs typeface="Times New Roman" panose="02020603050405020304" pitchFamily="18" charset="0"/>
                          </a:rPr>
                        </m:ctrlPr>
                      </m:fPr>
                      <m:num>
                        <m:r>
                          <a:rPr lang="en-US" sz="2400" b="1" i="1" kern="100" smtClean="0">
                            <a:solidFill>
                              <a:srgbClr val="0000CC"/>
                            </a:solidFill>
                            <a:latin typeface="Cambria Math" panose="02040503050406030204" pitchFamily="18" charset="0"/>
                            <a:ea typeface="Calibri" panose="020F0502020204030204" pitchFamily="34" charset="0"/>
                            <a:cs typeface="Times New Roman" panose="02020603050405020304" pitchFamily="18" charset="0"/>
                          </a:rPr>
                          <m:t>𝟐𝟎</m:t>
                        </m:r>
                        <m:r>
                          <a:rPr lang="en-US" sz="2400" b="1" i="1" kern="100">
                            <a:solidFill>
                              <a:srgbClr val="0000CC"/>
                            </a:solidFill>
                            <a:latin typeface="Cambria Math" panose="02040503050406030204" pitchFamily="18" charset="0"/>
                            <a:ea typeface="Cambria Math" panose="02040503050406030204" pitchFamily="18" charset="0"/>
                            <a:cs typeface="Times New Roman" panose="02020603050405020304" pitchFamily="18" charset="0"/>
                          </a:rPr>
                          <m:t>∠</m:t>
                        </m:r>
                        <m:r>
                          <a:rPr lang="en-US" sz="2400" b="1" i="1" kern="100" smtClean="0">
                            <a:solidFill>
                              <a:srgbClr val="0000CC"/>
                            </a:solidFill>
                            <a:latin typeface="Cambria Math" panose="02040503050406030204" pitchFamily="18" charset="0"/>
                            <a:ea typeface="Cambria Math" panose="02040503050406030204" pitchFamily="18" charset="0"/>
                            <a:cs typeface="Times New Roman" panose="02020603050405020304" pitchFamily="18" charset="0"/>
                          </a:rPr>
                          <m:t>(−</m:t>
                        </m:r>
                        <m:sSup>
                          <m:sSupPr>
                            <m:ctrlPr>
                              <a:rPr lang="en-US" sz="2400" b="1" i="1" kern="100" smtClean="0">
                                <a:solidFill>
                                  <a:srgbClr val="0000CC"/>
                                </a:solidFill>
                                <a:latin typeface="Cambria Math" panose="02040503050406030204" pitchFamily="18" charset="0"/>
                                <a:ea typeface="Cambria Math" panose="02040503050406030204" pitchFamily="18" charset="0"/>
                                <a:cs typeface="Times New Roman" panose="02020603050405020304" pitchFamily="18" charset="0"/>
                              </a:rPr>
                            </m:ctrlPr>
                          </m:sSupPr>
                          <m:e>
                            <m:r>
                              <a:rPr lang="en-US" sz="2400" b="1" i="1" kern="100" smtClean="0">
                                <a:solidFill>
                                  <a:srgbClr val="0000CC"/>
                                </a:solidFill>
                                <a:latin typeface="Cambria Math" panose="02040503050406030204" pitchFamily="18" charset="0"/>
                                <a:ea typeface="Cambria Math" panose="02040503050406030204" pitchFamily="18" charset="0"/>
                                <a:cs typeface="Times New Roman" panose="02020603050405020304" pitchFamily="18" charset="0"/>
                              </a:rPr>
                              <m:t>𝟐𝟓</m:t>
                            </m:r>
                          </m:e>
                          <m:sup>
                            <m:r>
                              <a:rPr lang="en-US" sz="2400" b="1" i="1" kern="100" smtClean="0">
                                <a:solidFill>
                                  <a:srgbClr val="0000CC"/>
                                </a:solidFill>
                                <a:latin typeface="Cambria Math" panose="02040503050406030204" pitchFamily="18" charset="0"/>
                                <a:ea typeface="Cambria Math" panose="02040503050406030204" pitchFamily="18" charset="0"/>
                                <a:cs typeface="Times New Roman" panose="02020603050405020304" pitchFamily="18" charset="0"/>
                              </a:rPr>
                              <m:t>°</m:t>
                            </m:r>
                          </m:sup>
                        </m:sSup>
                        <m:r>
                          <a:rPr lang="en-US" sz="2400" b="1" i="1" kern="100" smtClean="0">
                            <a:solidFill>
                              <a:srgbClr val="0000CC"/>
                            </a:solidFill>
                            <a:latin typeface="Cambria Math" panose="02040503050406030204" pitchFamily="18" charset="0"/>
                            <a:ea typeface="Cambria Math" panose="02040503050406030204" pitchFamily="18" charset="0"/>
                            <a:cs typeface="Times New Roman" panose="02020603050405020304" pitchFamily="18" charset="0"/>
                          </a:rPr>
                          <m:t>)</m:t>
                        </m:r>
                      </m:num>
                      <m:den>
                        <m:r>
                          <a:rPr lang="en-US" sz="2400" b="1" i="1" kern="100" smtClean="0">
                            <a:solidFill>
                              <a:srgbClr val="0000CC"/>
                            </a:solidFill>
                            <a:latin typeface="Cambria Math" panose="02040503050406030204" pitchFamily="18" charset="0"/>
                            <a:ea typeface="Calibri" panose="020F0502020204030204" pitchFamily="34" charset="0"/>
                            <a:cs typeface="Times New Roman" panose="02020603050405020304" pitchFamily="18" charset="0"/>
                          </a:rPr>
                          <m:t>𝟓</m:t>
                        </m:r>
                        <m:r>
                          <a:rPr lang="en-US" sz="2400" b="1" i="1" kern="100" smtClean="0">
                            <a:solidFill>
                              <a:srgbClr val="0000CC"/>
                            </a:solidFill>
                            <a:latin typeface="Cambria Math" panose="02040503050406030204" pitchFamily="18" charset="0"/>
                            <a:ea typeface="Cambria Math" panose="02040503050406030204" pitchFamily="18" charset="0"/>
                            <a:cs typeface="Times New Roman" panose="02020603050405020304" pitchFamily="18" charset="0"/>
                          </a:rPr>
                          <m:t>+</m:t>
                        </m:r>
                        <m:r>
                          <a:rPr lang="en-US" sz="2400" b="1" i="1" kern="100" smtClean="0">
                            <a:solidFill>
                              <a:srgbClr val="0000CC"/>
                            </a:solidFill>
                            <a:latin typeface="Cambria Math" panose="02040503050406030204" pitchFamily="18" charset="0"/>
                            <a:ea typeface="Cambria Math" panose="02040503050406030204" pitchFamily="18" charset="0"/>
                            <a:cs typeface="Times New Roman" panose="02020603050405020304" pitchFamily="18" charset="0"/>
                          </a:rPr>
                          <m:t>𝒋</m:t>
                        </m:r>
                        <m:r>
                          <a:rPr lang="en-US" sz="2400" b="1" i="1" kern="100" smtClean="0">
                            <a:solidFill>
                              <a:srgbClr val="0000CC"/>
                            </a:solidFill>
                            <a:latin typeface="Cambria Math" panose="02040503050406030204" pitchFamily="18" charset="0"/>
                            <a:ea typeface="Cambria Math" panose="02040503050406030204" pitchFamily="18" charset="0"/>
                            <a:cs typeface="Times New Roman" panose="02020603050405020304" pitchFamily="18" charset="0"/>
                          </a:rPr>
                          <m:t>(</m:t>
                        </m:r>
                        <m:r>
                          <a:rPr lang="en-US" sz="2400" b="1" i="1" kern="100" smtClean="0">
                            <a:solidFill>
                              <a:srgbClr val="0000CC"/>
                            </a:solidFill>
                            <a:latin typeface="Cambria Math" panose="02040503050406030204" pitchFamily="18" charset="0"/>
                            <a:ea typeface="Cambria Math" panose="02040503050406030204" pitchFamily="18" charset="0"/>
                            <a:cs typeface="Times New Roman" panose="02020603050405020304" pitchFamily="18" charset="0"/>
                          </a:rPr>
                          <m:t>𝟐</m:t>
                        </m:r>
                        <m:r>
                          <a:rPr lang="en-US" sz="2400" b="1" i="1" kern="100" smtClean="0">
                            <a:solidFill>
                              <a:srgbClr val="0000CC"/>
                            </a:solidFill>
                            <a:latin typeface="Cambria Math" panose="02040503050406030204" pitchFamily="18" charset="0"/>
                            <a:ea typeface="Cambria Math" panose="02040503050406030204" pitchFamily="18" charset="0"/>
                            <a:cs typeface="Times New Roman" panose="02020603050405020304" pitchFamily="18" charset="0"/>
                          </a:rPr>
                          <m:t>𝝅</m:t>
                        </m:r>
                        <m:r>
                          <a:rPr lang="en-US" sz="2400" b="1" i="1" kern="100" smtClean="0">
                            <a:solidFill>
                              <a:srgbClr val="0000CC"/>
                            </a:solidFill>
                            <a:latin typeface="Cambria Math" panose="02040503050406030204" pitchFamily="18" charset="0"/>
                            <a:ea typeface="Cambria Math" panose="02040503050406030204" pitchFamily="18" charset="0"/>
                            <a:cs typeface="Times New Roman" panose="02020603050405020304" pitchFamily="18" charset="0"/>
                          </a:rPr>
                          <m:t>𝟔𝟎</m:t>
                        </m:r>
                        <m:r>
                          <a:rPr lang="en-US" sz="2400" b="1" i="1" kern="100" smtClean="0">
                            <a:solidFill>
                              <a:srgbClr val="0000CC"/>
                            </a:solidFill>
                            <a:latin typeface="Cambria Math" panose="02040503050406030204" pitchFamily="18" charset="0"/>
                            <a:ea typeface="Cambria Math" panose="02040503050406030204" pitchFamily="18" charset="0"/>
                            <a:cs typeface="Times New Roman" panose="02020603050405020304" pitchFamily="18" charset="0"/>
                          </a:rPr>
                          <m:t>)(</m:t>
                        </m:r>
                        <m:r>
                          <a:rPr lang="en-US" sz="2400" b="1" i="1" kern="100" smtClean="0">
                            <a:solidFill>
                              <a:srgbClr val="0000CC"/>
                            </a:solidFill>
                            <a:latin typeface="Cambria Math" panose="02040503050406030204" pitchFamily="18" charset="0"/>
                            <a:ea typeface="Cambria Math" panose="02040503050406030204" pitchFamily="18" charset="0"/>
                            <a:cs typeface="Times New Roman" panose="02020603050405020304" pitchFamily="18" charset="0"/>
                          </a:rPr>
                          <m:t>𝟎</m:t>
                        </m:r>
                        <m:r>
                          <a:rPr lang="en-US" sz="2400" b="1" i="1" kern="100" smtClean="0">
                            <a:solidFill>
                              <a:srgbClr val="0000CC"/>
                            </a:solidFill>
                            <a:latin typeface="Cambria Math" panose="02040503050406030204" pitchFamily="18" charset="0"/>
                            <a:ea typeface="Cambria Math" panose="02040503050406030204" pitchFamily="18" charset="0"/>
                            <a:cs typeface="Times New Roman" panose="02020603050405020304" pitchFamily="18" charset="0"/>
                          </a:rPr>
                          <m:t>.</m:t>
                        </m:r>
                        <m:r>
                          <a:rPr lang="en-US" sz="2400" b="1" i="1" kern="100" smtClean="0">
                            <a:solidFill>
                              <a:srgbClr val="0000CC"/>
                            </a:solidFill>
                            <a:latin typeface="Cambria Math" panose="02040503050406030204" pitchFamily="18" charset="0"/>
                            <a:ea typeface="Cambria Math" panose="02040503050406030204" pitchFamily="18" charset="0"/>
                            <a:cs typeface="Times New Roman" panose="02020603050405020304" pitchFamily="18" charset="0"/>
                          </a:rPr>
                          <m:t>𝟎𝟏𝟓</m:t>
                        </m:r>
                        <m:r>
                          <a:rPr lang="en-US" sz="2400" b="1" i="1" kern="100" smtClean="0">
                            <a:solidFill>
                              <a:srgbClr val="0000CC"/>
                            </a:solidFill>
                            <a:latin typeface="Cambria Math" panose="02040503050406030204" pitchFamily="18" charset="0"/>
                            <a:ea typeface="Cambria Math" panose="02040503050406030204" pitchFamily="18" charset="0"/>
                            <a:cs typeface="Times New Roman" panose="02020603050405020304" pitchFamily="18" charset="0"/>
                          </a:rPr>
                          <m:t>)</m:t>
                        </m:r>
                      </m:den>
                    </m:f>
                  </m:oMath>
                </a14:m>
                <a:r>
                  <a:rPr lang="en-GB" sz="2400" b="1" kern="100" dirty="0">
                    <a:solidFill>
                      <a:srgbClr val="0000CC"/>
                    </a:solidFill>
                    <a:latin typeface="Century Gothic" panose="020B0502020202020204" pitchFamily="34" charset="0"/>
                    <a:ea typeface="Calibri" panose="020F0502020204030204" pitchFamily="34" charset="0"/>
                    <a:cs typeface="Times New Roman" panose="02020603050405020304" pitchFamily="18" charset="0"/>
                  </a:rPr>
                  <a:t> = 2.65</a:t>
                </a:r>
                <a:r>
                  <a:rPr lang="en-GB" sz="2400" b="1" kern="100" dirty="0">
                    <a:solidFill>
                      <a:srgbClr val="0000CC"/>
                    </a:solidFill>
                    <a:latin typeface="Cambria Math" panose="02040503050406030204" pitchFamily="18" charset="0"/>
                    <a:ea typeface="Cambria Math" panose="02040503050406030204" pitchFamily="18" charset="0"/>
                    <a:cs typeface="Times New Roman" panose="02020603050405020304" pitchFamily="18" charset="0"/>
                  </a:rPr>
                  <a:t>∠</a:t>
                </a:r>
                <a14:m>
                  <m:oMath xmlns:m="http://schemas.openxmlformats.org/officeDocument/2006/math">
                    <m:d>
                      <m:dPr>
                        <m:ctrlPr>
                          <a:rPr lang="en-GB" sz="2400" b="1" i="1" kern="100" smtClean="0">
                            <a:solidFill>
                              <a:srgbClr val="0000CC"/>
                            </a:solidFill>
                            <a:latin typeface="Cambria Math" panose="02040503050406030204" pitchFamily="18" charset="0"/>
                            <a:ea typeface="Cambria Math" panose="02040503050406030204" pitchFamily="18" charset="0"/>
                            <a:cs typeface="Times New Roman" panose="02020603050405020304" pitchFamily="18" charset="0"/>
                          </a:rPr>
                        </m:ctrlPr>
                      </m:dPr>
                      <m:e>
                        <m:r>
                          <a:rPr lang="en-US" sz="2400" b="1" i="1" kern="100" smtClean="0">
                            <a:solidFill>
                              <a:srgbClr val="0000CC"/>
                            </a:solidFill>
                            <a:latin typeface="Cambria Math" panose="02040503050406030204" pitchFamily="18" charset="0"/>
                            <a:ea typeface="Cambria Math" panose="02040503050406030204" pitchFamily="18" charset="0"/>
                            <a:cs typeface="Times New Roman" panose="02020603050405020304" pitchFamily="18" charset="0"/>
                          </a:rPr>
                          <m:t>−</m:t>
                        </m:r>
                        <m:sSup>
                          <m:sSupPr>
                            <m:ctrlPr>
                              <a:rPr lang="en-US" sz="2400" b="1" i="1" kern="100" smtClean="0">
                                <a:solidFill>
                                  <a:srgbClr val="0000CC"/>
                                </a:solidFill>
                                <a:latin typeface="Cambria Math" panose="02040503050406030204" pitchFamily="18" charset="0"/>
                                <a:ea typeface="Cambria Math" panose="02040503050406030204" pitchFamily="18" charset="0"/>
                                <a:cs typeface="Times New Roman" panose="02020603050405020304" pitchFamily="18" charset="0"/>
                              </a:rPr>
                            </m:ctrlPr>
                          </m:sSupPr>
                          <m:e>
                            <m:r>
                              <a:rPr lang="en-US" sz="2400" b="1" i="1" kern="100" smtClean="0">
                                <a:solidFill>
                                  <a:srgbClr val="0000CC"/>
                                </a:solidFill>
                                <a:latin typeface="Cambria Math" panose="02040503050406030204" pitchFamily="18" charset="0"/>
                                <a:ea typeface="Cambria Math" panose="02040503050406030204" pitchFamily="18" charset="0"/>
                                <a:cs typeface="Times New Roman" panose="02020603050405020304" pitchFamily="18" charset="0"/>
                              </a:rPr>
                              <m:t>𝟕𝟑</m:t>
                            </m:r>
                            <m:r>
                              <a:rPr lang="en-US" sz="2400" b="1" i="1" kern="100" smtClean="0">
                                <a:solidFill>
                                  <a:srgbClr val="0000CC"/>
                                </a:solidFill>
                                <a:latin typeface="Cambria Math" panose="02040503050406030204" pitchFamily="18" charset="0"/>
                                <a:ea typeface="Cambria Math" panose="02040503050406030204" pitchFamily="18" charset="0"/>
                                <a:cs typeface="Times New Roman" panose="02020603050405020304" pitchFamily="18" charset="0"/>
                              </a:rPr>
                              <m:t>.</m:t>
                            </m:r>
                            <m:r>
                              <a:rPr lang="en-US" sz="2400" b="1" i="1" kern="100" smtClean="0">
                                <a:solidFill>
                                  <a:srgbClr val="0000CC"/>
                                </a:solidFill>
                                <a:latin typeface="Cambria Math" panose="02040503050406030204" pitchFamily="18" charset="0"/>
                                <a:ea typeface="Cambria Math" panose="02040503050406030204" pitchFamily="18" charset="0"/>
                                <a:cs typeface="Times New Roman" panose="02020603050405020304" pitchFamily="18" charset="0"/>
                              </a:rPr>
                              <m:t>𝟓</m:t>
                            </m:r>
                          </m:e>
                          <m:sup>
                            <m:r>
                              <a:rPr lang="en-US" sz="2400" b="1" i="1" kern="100" smtClean="0">
                                <a:solidFill>
                                  <a:srgbClr val="0000CC"/>
                                </a:solidFill>
                                <a:latin typeface="Cambria Math" panose="02040503050406030204" pitchFamily="18" charset="0"/>
                                <a:ea typeface="Cambria Math" panose="02040503050406030204" pitchFamily="18" charset="0"/>
                                <a:cs typeface="Times New Roman" panose="02020603050405020304" pitchFamily="18" charset="0"/>
                              </a:rPr>
                              <m:t>°</m:t>
                            </m:r>
                          </m:sup>
                        </m:sSup>
                      </m:e>
                    </m:d>
                  </m:oMath>
                </a14:m>
                <a:r>
                  <a:rPr lang="en-GB" sz="2400" b="1" kern="100" dirty="0">
                    <a:solidFill>
                      <a:srgbClr val="0000CC"/>
                    </a:solidFill>
                    <a:latin typeface="Century Gothic" panose="020B0502020202020204" pitchFamily="34" charset="0"/>
                    <a:ea typeface="Calibri" panose="020F0502020204030204" pitchFamily="34" charset="0"/>
                    <a:cs typeface="Times New Roman" panose="02020603050405020304" pitchFamily="18" charset="0"/>
                  </a:rPr>
                  <a:t> A</a:t>
                </a:r>
              </a:p>
            </p:txBody>
          </p:sp>
        </mc:Choice>
        <mc:Fallback xmlns="">
          <p:sp>
            <p:nvSpPr>
              <p:cNvPr id="6" name="TextBox 5">
                <a:extLst>
                  <a:ext uri="{FF2B5EF4-FFF2-40B4-BE49-F238E27FC236}">
                    <a16:creationId xmlns:a16="http://schemas.microsoft.com/office/drawing/2014/main" id="{6BAA1F11-5BEF-4D80-964F-A7332E36BFA0}"/>
                  </a:ext>
                </a:extLst>
              </p:cNvPr>
              <p:cNvSpPr txBox="1">
                <a:spLocks noRot="1" noChangeAspect="1" noMove="1" noResize="1" noEditPoints="1" noAdjustHandles="1" noChangeArrowheads="1" noChangeShapeType="1" noTextEdit="1"/>
              </p:cNvSpPr>
              <p:nvPr/>
            </p:nvSpPr>
            <p:spPr>
              <a:xfrm>
                <a:off x="193040" y="1229360"/>
                <a:ext cx="11887199" cy="5363712"/>
              </a:xfrm>
              <a:prstGeom prst="rect">
                <a:avLst/>
              </a:prstGeom>
              <a:blipFill>
                <a:blip r:embed="rId3"/>
                <a:stretch>
                  <a:fillRect l="-768" t="-794"/>
                </a:stretch>
              </a:blipFill>
              <a:ln>
                <a:solidFill>
                  <a:srgbClr val="FF0066"/>
                </a:solidFill>
              </a:ln>
            </p:spPr>
            <p:txBody>
              <a:bodyPr/>
              <a:lstStyle/>
              <a:p>
                <a:r>
                  <a:rPr lang="en-US">
                    <a:noFill/>
                  </a:rPr>
                  <a:t> </a:t>
                </a:r>
              </a:p>
            </p:txBody>
          </p:sp>
        </mc:Fallback>
      </mc:AlternateContent>
      <p:sp>
        <p:nvSpPr>
          <p:cNvPr id="7" name="TextBox 6">
            <a:extLst>
              <a:ext uri="{FF2B5EF4-FFF2-40B4-BE49-F238E27FC236}">
                <a16:creationId xmlns:a16="http://schemas.microsoft.com/office/drawing/2014/main" id="{C36AA635-C21F-49F3-BF21-4CBE4C20709B}"/>
              </a:ext>
            </a:extLst>
          </p:cNvPr>
          <p:cNvSpPr txBox="1"/>
          <p:nvPr/>
        </p:nvSpPr>
        <p:spPr>
          <a:xfrm>
            <a:off x="5269122" y="6037275"/>
            <a:ext cx="823314" cy="373051"/>
          </a:xfrm>
          <a:prstGeom prst="rect">
            <a:avLst/>
          </a:prstGeom>
          <a:noFill/>
        </p:spPr>
        <p:txBody>
          <a:bodyPr wrap="square" rtlCol="0">
            <a:spAutoFit/>
          </a:bodyPr>
          <a:lstStyle/>
          <a:p>
            <a:pPr algn="ctr"/>
            <a:endParaRPr lang="en-GB" sz="1824" dirty="0">
              <a:latin typeface="Garamond" panose="02020404030301010803" pitchFamily="18" charset="0"/>
            </a:endParaRPr>
          </a:p>
        </p:txBody>
      </p:sp>
    </p:spTree>
    <p:extLst>
      <p:ext uri="{BB962C8B-B14F-4D97-AF65-F5344CB8AC3E}">
        <p14:creationId xmlns:p14="http://schemas.microsoft.com/office/powerpoint/2010/main" val="293314159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6">
            <a:extLst>
              <a:ext uri="{FF2B5EF4-FFF2-40B4-BE49-F238E27FC236}">
                <a16:creationId xmlns:a16="http://schemas.microsoft.com/office/drawing/2014/main" id="{56080804-F19F-41A7-8595-943961648C5E}"/>
              </a:ext>
            </a:extLst>
          </p:cNvPr>
          <p:cNvSpPr>
            <a:spLocks noGrp="1"/>
          </p:cNvSpPr>
          <p:nvPr>
            <p:ph type="sldNum" sz="quarter" idx="12"/>
          </p:nvPr>
        </p:nvSpPr>
        <p:spPr>
          <a:xfrm>
            <a:off x="8610600" y="6441692"/>
            <a:ext cx="2743200" cy="370027"/>
          </a:xfrm>
        </p:spPr>
        <p:txBody>
          <a:bodyPr/>
          <a:lstStyle/>
          <a:p>
            <a:fld id="{F4801FD5-11B4-DE43-ACA2-E85EEB9A6F9C}" type="slidenum">
              <a:rPr lang="en-US" smtClean="0">
                <a:latin typeface="Garamond" panose="02020404030301010803" pitchFamily="18" charset="0"/>
              </a:rPr>
              <a:t>33</a:t>
            </a:fld>
            <a:endParaRPr lang="en-US">
              <a:latin typeface="Garamond" panose="02020404030301010803" pitchFamily="18" charset="0"/>
            </a:endParaRPr>
          </a:p>
        </p:txBody>
      </p:sp>
      <p:sp>
        <p:nvSpPr>
          <p:cNvPr id="5" name="Title 1">
            <a:extLst>
              <a:ext uri="{FF2B5EF4-FFF2-40B4-BE49-F238E27FC236}">
                <a16:creationId xmlns:a16="http://schemas.microsoft.com/office/drawing/2014/main" id="{4710AE4B-0DB8-4451-B9E4-10BAE11B4D3A}"/>
              </a:ext>
            </a:extLst>
          </p:cNvPr>
          <p:cNvSpPr>
            <a:spLocks noGrp="1"/>
          </p:cNvSpPr>
          <p:nvPr>
            <p:ph type="title"/>
          </p:nvPr>
        </p:nvSpPr>
        <p:spPr>
          <a:xfrm>
            <a:off x="497840" y="113802"/>
            <a:ext cx="10972800" cy="1115558"/>
          </a:xfrm>
        </p:spPr>
        <p:txBody>
          <a:bodyPr>
            <a:noAutofit/>
          </a:bodyPr>
          <a:lstStyle/>
          <a:p>
            <a:pPr algn="ctr"/>
            <a:r>
              <a:rPr lang="en-US" sz="3200" b="1" u="sng" dirty="0">
                <a:solidFill>
                  <a:srgbClr val="FF3386"/>
                </a:solidFill>
                <a:latin typeface="Century Gothic" panose="020B0502020202020204" pitchFamily="34" charset="0"/>
                <a:cs typeface="Helvetica"/>
              </a:rPr>
              <a:t>POWER COMPUTATION FOR NONSINUSOIDAL SOURCE AND LINEAR LOAD</a:t>
            </a:r>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6BAA1F11-5BEF-4D80-964F-A7332E36BFA0}"/>
                  </a:ext>
                </a:extLst>
              </p:cNvPr>
              <p:cNvSpPr txBox="1"/>
              <p:nvPr/>
            </p:nvSpPr>
            <p:spPr>
              <a:xfrm>
                <a:off x="193040" y="1229360"/>
                <a:ext cx="11887199" cy="5935920"/>
              </a:xfrm>
              <a:prstGeom prst="rect">
                <a:avLst/>
              </a:prstGeom>
              <a:noFill/>
              <a:ln>
                <a:solidFill>
                  <a:srgbClr val="FF0066"/>
                </a:solidFill>
              </a:ln>
            </p:spPr>
            <p:txBody>
              <a:bodyPr wrap="square" rtlCol="0">
                <a:spAutoFit/>
              </a:bodyPr>
              <a:lstStyle/>
              <a:p>
                <a:pPr>
                  <a:buClr>
                    <a:schemeClr val="accent2"/>
                  </a:buClr>
                </a:pPr>
                <a:r>
                  <a:rPr lang="en-GB" sz="2400" kern="100" dirty="0">
                    <a:solidFill>
                      <a:srgbClr val="0000CC"/>
                    </a:solidFill>
                    <a:latin typeface="Century Gothic" panose="020B0502020202020204" pitchFamily="34" charset="0"/>
                    <a:ea typeface="Calibri" panose="020F0502020204030204" pitchFamily="34" charset="0"/>
                    <a:cs typeface="Times New Roman" panose="02020603050405020304" pitchFamily="18" charset="0"/>
                  </a:rPr>
                  <a:t> </a:t>
                </a:r>
                <a14:m>
                  <m:oMath xmlns:m="http://schemas.openxmlformats.org/officeDocument/2006/math">
                    <m:sSub>
                      <m:sSubPr>
                        <m:ctrlPr>
                          <a:rPr lang="en-GB" sz="2400" b="1" i="1" kern="100" smtClean="0">
                            <a:solidFill>
                              <a:srgbClr val="0000CC"/>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2400" b="1" i="1" kern="100" smtClean="0">
                            <a:solidFill>
                              <a:srgbClr val="0000CC"/>
                            </a:solidFill>
                            <a:latin typeface="Cambria Math" panose="02040503050406030204" pitchFamily="18" charset="0"/>
                            <a:ea typeface="Calibri" panose="020F0502020204030204" pitchFamily="34" charset="0"/>
                            <a:cs typeface="Times New Roman" panose="02020603050405020304" pitchFamily="18" charset="0"/>
                          </a:rPr>
                          <m:t>𝑰</m:t>
                        </m:r>
                      </m:e>
                      <m:sub>
                        <m:r>
                          <a:rPr lang="en-US" sz="2400" b="1" i="1" kern="100" smtClean="0">
                            <a:solidFill>
                              <a:srgbClr val="0000CC"/>
                            </a:solidFill>
                            <a:latin typeface="Cambria Math" panose="02040503050406030204" pitchFamily="18" charset="0"/>
                            <a:ea typeface="Calibri" panose="020F0502020204030204" pitchFamily="34" charset="0"/>
                            <a:cs typeface="Times New Roman" panose="02020603050405020304" pitchFamily="18" charset="0"/>
                          </a:rPr>
                          <m:t>𝟐</m:t>
                        </m:r>
                      </m:sub>
                    </m:sSub>
                  </m:oMath>
                </a14:m>
                <a:r>
                  <a:rPr lang="en-GB" sz="2400" b="1" kern="100" dirty="0">
                    <a:solidFill>
                      <a:srgbClr val="0000CC"/>
                    </a:solidFill>
                    <a:latin typeface="Century Gothic" panose="020B0502020202020204" pitchFamily="34" charset="0"/>
                    <a:ea typeface="Calibri" panose="020F0502020204030204" pitchFamily="34" charset="0"/>
                    <a:cs typeface="Times New Roman" panose="02020603050405020304" pitchFamily="18" charset="0"/>
                  </a:rPr>
                  <a:t> = </a:t>
                </a:r>
                <a14:m>
                  <m:oMath xmlns:m="http://schemas.openxmlformats.org/officeDocument/2006/math">
                    <m:f>
                      <m:fPr>
                        <m:ctrlPr>
                          <a:rPr lang="en-GB" sz="2400" b="1" i="1" kern="100" smtClean="0">
                            <a:solidFill>
                              <a:srgbClr val="0000CC"/>
                            </a:solidFill>
                            <a:latin typeface="Cambria Math" panose="02040503050406030204" pitchFamily="18" charset="0"/>
                            <a:ea typeface="Calibri" panose="020F0502020204030204" pitchFamily="34" charset="0"/>
                            <a:cs typeface="Times New Roman" panose="02020603050405020304" pitchFamily="18" charset="0"/>
                          </a:rPr>
                        </m:ctrlPr>
                      </m:fPr>
                      <m:num>
                        <m:sSub>
                          <m:sSubPr>
                            <m:ctrlPr>
                              <a:rPr lang="en-GB" sz="2400" b="1" i="1" kern="100" smtClean="0">
                                <a:solidFill>
                                  <a:srgbClr val="0000CC"/>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2400" b="1" i="1" kern="100" smtClean="0">
                                <a:solidFill>
                                  <a:srgbClr val="0000CC"/>
                                </a:solidFill>
                                <a:latin typeface="Cambria Math" panose="02040503050406030204" pitchFamily="18" charset="0"/>
                                <a:ea typeface="Calibri" panose="020F0502020204030204" pitchFamily="34" charset="0"/>
                                <a:cs typeface="Times New Roman" panose="02020603050405020304" pitchFamily="18" charset="0"/>
                              </a:rPr>
                              <m:t>𝑽</m:t>
                            </m:r>
                          </m:e>
                          <m:sub>
                            <m:r>
                              <a:rPr lang="en-US" sz="2400" b="1" i="1" kern="100" smtClean="0">
                                <a:solidFill>
                                  <a:srgbClr val="0000CC"/>
                                </a:solidFill>
                                <a:latin typeface="Cambria Math" panose="02040503050406030204" pitchFamily="18" charset="0"/>
                                <a:ea typeface="Calibri" panose="020F0502020204030204" pitchFamily="34" charset="0"/>
                                <a:cs typeface="Times New Roman" panose="02020603050405020304" pitchFamily="18" charset="0"/>
                              </a:rPr>
                              <m:t>𝟐</m:t>
                            </m:r>
                          </m:sub>
                        </m:sSub>
                      </m:num>
                      <m:den>
                        <m:r>
                          <a:rPr lang="en-US" sz="2400" b="1" i="1" kern="100" smtClean="0">
                            <a:solidFill>
                              <a:srgbClr val="0000CC"/>
                            </a:solidFill>
                            <a:latin typeface="Cambria Math" panose="02040503050406030204" pitchFamily="18" charset="0"/>
                            <a:ea typeface="Calibri" panose="020F0502020204030204" pitchFamily="34" charset="0"/>
                            <a:cs typeface="Times New Roman" panose="02020603050405020304" pitchFamily="18" charset="0"/>
                          </a:rPr>
                          <m:t>𝑹</m:t>
                        </m:r>
                        <m:r>
                          <a:rPr lang="en-US" sz="2400" b="1" i="1" kern="100" smtClean="0">
                            <a:solidFill>
                              <a:srgbClr val="0000CC"/>
                            </a:solidFill>
                            <a:latin typeface="Cambria Math" panose="02040503050406030204" pitchFamily="18" charset="0"/>
                            <a:ea typeface="Cambria Math" panose="02040503050406030204" pitchFamily="18" charset="0"/>
                            <a:cs typeface="Times New Roman" panose="02020603050405020304" pitchFamily="18" charset="0"/>
                          </a:rPr>
                          <m:t>+</m:t>
                        </m:r>
                        <m:r>
                          <a:rPr lang="en-US" sz="2400" b="1" i="1" kern="100" smtClean="0">
                            <a:solidFill>
                              <a:srgbClr val="0000CC"/>
                            </a:solidFill>
                            <a:latin typeface="Cambria Math" panose="02040503050406030204" pitchFamily="18" charset="0"/>
                            <a:ea typeface="Cambria Math" panose="02040503050406030204" pitchFamily="18" charset="0"/>
                            <a:cs typeface="Times New Roman" panose="02020603050405020304" pitchFamily="18" charset="0"/>
                          </a:rPr>
                          <m:t>𝒋</m:t>
                        </m:r>
                        <m:sSub>
                          <m:sSubPr>
                            <m:ctrlPr>
                              <a:rPr lang="en-US" sz="2400" b="1" i="1" kern="100" smtClean="0">
                                <a:solidFill>
                                  <a:srgbClr val="0000CC"/>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sz="2400" b="1" i="1" kern="100" smtClean="0">
                                <a:solidFill>
                                  <a:srgbClr val="0000CC"/>
                                </a:solidFill>
                                <a:latin typeface="Cambria Math" panose="02040503050406030204" pitchFamily="18" charset="0"/>
                                <a:ea typeface="Cambria Math" panose="02040503050406030204" pitchFamily="18" charset="0"/>
                                <a:cs typeface="Times New Roman" panose="02020603050405020304" pitchFamily="18" charset="0"/>
                              </a:rPr>
                              <m:t>𝝎</m:t>
                            </m:r>
                          </m:e>
                          <m:sub>
                            <m:r>
                              <a:rPr lang="en-US" sz="2400" b="1" i="1" kern="100" smtClean="0">
                                <a:solidFill>
                                  <a:srgbClr val="0000CC"/>
                                </a:solidFill>
                                <a:latin typeface="Cambria Math" panose="02040503050406030204" pitchFamily="18" charset="0"/>
                                <a:ea typeface="Cambria Math" panose="02040503050406030204" pitchFamily="18" charset="0"/>
                                <a:cs typeface="Times New Roman" panose="02020603050405020304" pitchFamily="18" charset="0"/>
                              </a:rPr>
                              <m:t>𝟐</m:t>
                            </m:r>
                          </m:sub>
                        </m:sSub>
                        <m:r>
                          <a:rPr lang="en-US" sz="2400" b="1" i="1" kern="100" smtClean="0">
                            <a:solidFill>
                              <a:srgbClr val="0000CC"/>
                            </a:solidFill>
                            <a:latin typeface="Cambria Math" panose="02040503050406030204" pitchFamily="18" charset="0"/>
                            <a:ea typeface="Cambria Math" panose="02040503050406030204" pitchFamily="18" charset="0"/>
                            <a:cs typeface="Times New Roman" panose="02020603050405020304" pitchFamily="18" charset="0"/>
                          </a:rPr>
                          <m:t>𝑳</m:t>
                        </m:r>
                      </m:den>
                    </m:f>
                  </m:oMath>
                </a14:m>
                <a:r>
                  <a:rPr lang="en-GB" sz="2400" b="1" kern="100" dirty="0">
                    <a:solidFill>
                      <a:srgbClr val="0000CC"/>
                    </a:solidFill>
                    <a:latin typeface="Century Gothic" panose="020B0502020202020204" pitchFamily="34" charset="0"/>
                    <a:ea typeface="Calibri" panose="020F0502020204030204" pitchFamily="34" charset="0"/>
                    <a:cs typeface="Times New Roman" panose="02020603050405020304" pitchFamily="18" charset="0"/>
                  </a:rPr>
                  <a:t> = </a:t>
                </a:r>
                <a14:m>
                  <m:oMath xmlns:m="http://schemas.openxmlformats.org/officeDocument/2006/math">
                    <m:f>
                      <m:fPr>
                        <m:ctrlPr>
                          <a:rPr lang="en-GB" sz="2400" b="1" i="1" kern="100" smtClean="0">
                            <a:solidFill>
                              <a:srgbClr val="0000CC"/>
                            </a:solidFill>
                            <a:latin typeface="Cambria Math" panose="02040503050406030204" pitchFamily="18" charset="0"/>
                            <a:ea typeface="Calibri" panose="020F0502020204030204" pitchFamily="34" charset="0"/>
                            <a:cs typeface="Times New Roman" panose="02020603050405020304" pitchFamily="18" charset="0"/>
                          </a:rPr>
                        </m:ctrlPr>
                      </m:fPr>
                      <m:num>
                        <m:r>
                          <a:rPr lang="en-US" sz="2400" b="1" i="1" kern="100" smtClean="0">
                            <a:solidFill>
                              <a:srgbClr val="0000CC"/>
                            </a:solidFill>
                            <a:latin typeface="Cambria Math" panose="02040503050406030204" pitchFamily="18" charset="0"/>
                            <a:ea typeface="Calibri" panose="020F0502020204030204" pitchFamily="34" charset="0"/>
                            <a:cs typeface="Times New Roman" panose="02020603050405020304" pitchFamily="18" charset="0"/>
                          </a:rPr>
                          <m:t>𝟑𝟎</m:t>
                        </m:r>
                        <m:r>
                          <a:rPr lang="en-US" sz="2400" b="1" i="1" kern="100">
                            <a:solidFill>
                              <a:srgbClr val="0000CC"/>
                            </a:solidFill>
                            <a:latin typeface="Cambria Math" panose="02040503050406030204" pitchFamily="18" charset="0"/>
                            <a:ea typeface="Cambria Math" panose="02040503050406030204" pitchFamily="18" charset="0"/>
                            <a:cs typeface="Times New Roman" panose="02020603050405020304" pitchFamily="18" charset="0"/>
                          </a:rPr>
                          <m:t>∠</m:t>
                        </m:r>
                        <m:r>
                          <a:rPr lang="en-US" sz="2400" b="1" i="1" kern="100" smtClean="0">
                            <a:solidFill>
                              <a:srgbClr val="0000CC"/>
                            </a:solidFill>
                            <a:latin typeface="Cambria Math" panose="02040503050406030204" pitchFamily="18" charset="0"/>
                            <a:ea typeface="Cambria Math" panose="02040503050406030204" pitchFamily="18" charset="0"/>
                            <a:cs typeface="Times New Roman" panose="02020603050405020304" pitchFamily="18" charset="0"/>
                          </a:rPr>
                          <m:t>(</m:t>
                        </m:r>
                        <m:sSup>
                          <m:sSupPr>
                            <m:ctrlPr>
                              <a:rPr lang="en-US" sz="2400" b="1" i="1" kern="100" smtClean="0">
                                <a:solidFill>
                                  <a:srgbClr val="0000CC"/>
                                </a:solidFill>
                                <a:latin typeface="Cambria Math" panose="02040503050406030204" pitchFamily="18" charset="0"/>
                                <a:ea typeface="Cambria Math" panose="02040503050406030204" pitchFamily="18" charset="0"/>
                                <a:cs typeface="Times New Roman" panose="02020603050405020304" pitchFamily="18" charset="0"/>
                              </a:rPr>
                            </m:ctrlPr>
                          </m:sSupPr>
                          <m:e>
                            <m:r>
                              <a:rPr lang="en-US" sz="2400" b="1" i="1" kern="100" smtClean="0">
                                <a:solidFill>
                                  <a:srgbClr val="0000CC"/>
                                </a:solidFill>
                                <a:latin typeface="Cambria Math" panose="02040503050406030204" pitchFamily="18" charset="0"/>
                                <a:ea typeface="Cambria Math" panose="02040503050406030204" pitchFamily="18" charset="0"/>
                                <a:cs typeface="Times New Roman" panose="02020603050405020304" pitchFamily="18" charset="0"/>
                              </a:rPr>
                              <m:t>𝟐𝟎</m:t>
                            </m:r>
                          </m:e>
                          <m:sup>
                            <m:r>
                              <a:rPr lang="en-US" sz="2400" b="1" i="1" kern="100" smtClean="0">
                                <a:solidFill>
                                  <a:srgbClr val="0000CC"/>
                                </a:solidFill>
                                <a:latin typeface="Cambria Math" panose="02040503050406030204" pitchFamily="18" charset="0"/>
                                <a:ea typeface="Cambria Math" panose="02040503050406030204" pitchFamily="18" charset="0"/>
                                <a:cs typeface="Times New Roman" panose="02020603050405020304" pitchFamily="18" charset="0"/>
                              </a:rPr>
                              <m:t>°</m:t>
                            </m:r>
                          </m:sup>
                        </m:sSup>
                        <m:r>
                          <a:rPr lang="en-US" sz="2400" b="1" i="1" kern="100" smtClean="0">
                            <a:solidFill>
                              <a:srgbClr val="0000CC"/>
                            </a:solidFill>
                            <a:latin typeface="Cambria Math" panose="02040503050406030204" pitchFamily="18" charset="0"/>
                            <a:ea typeface="Cambria Math" panose="02040503050406030204" pitchFamily="18" charset="0"/>
                            <a:cs typeface="Times New Roman" panose="02020603050405020304" pitchFamily="18" charset="0"/>
                          </a:rPr>
                          <m:t>)</m:t>
                        </m:r>
                      </m:num>
                      <m:den>
                        <m:r>
                          <a:rPr lang="en-US" sz="2400" b="1" i="1" kern="100" smtClean="0">
                            <a:solidFill>
                              <a:srgbClr val="0000CC"/>
                            </a:solidFill>
                            <a:latin typeface="Cambria Math" panose="02040503050406030204" pitchFamily="18" charset="0"/>
                            <a:ea typeface="Calibri" panose="020F0502020204030204" pitchFamily="34" charset="0"/>
                            <a:cs typeface="Times New Roman" panose="02020603050405020304" pitchFamily="18" charset="0"/>
                          </a:rPr>
                          <m:t>𝟓</m:t>
                        </m:r>
                        <m:r>
                          <a:rPr lang="en-US" sz="2400" b="1" i="1" kern="100" smtClean="0">
                            <a:solidFill>
                              <a:srgbClr val="0000CC"/>
                            </a:solidFill>
                            <a:latin typeface="Cambria Math" panose="02040503050406030204" pitchFamily="18" charset="0"/>
                            <a:ea typeface="Cambria Math" panose="02040503050406030204" pitchFamily="18" charset="0"/>
                            <a:cs typeface="Times New Roman" panose="02020603050405020304" pitchFamily="18" charset="0"/>
                          </a:rPr>
                          <m:t>+</m:t>
                        </m:r>
                        <m:r>
                          <a:rPr lang="en-US" sz="2400" b="1" i="1" kern="100" smtClean="0">
                            <a:solidFill>
                              <a:srgbClr val="0000CC"/>
                            </a:solidFill>
                            <a:latin typeface="Cambria Math" panose="02040503050406030204" pitchFamily="18" charset="0"/>
                            <a:ea typeface="Cambria Math" panose="02040503050406030204" pitchFamily="18" charset="0"/>
                            <a:cs typeface="Times New Roman" panose="02020603050405020304" pitchFamily="18" charset="0"/>
                          </a:rPr>
                          <m:t>𝒋</m:t>
                        </m:r>
                        <m:r>
                          <a:rPr lang="en-US" sz="2400" b="1" i="1" kern="100" smtClean="0">
                            <a:solidFill>
                              <a:srgbClr val="0000CC"/>
                            </a:solidFill>
                            <a:latin typeface="Cambria Math" panose="02040503050406030204" pitchFamily="18" charset="0"/>
                            <a:ea typeface="Cambria Math" panose="02040503050406030204" pitchFamily="18" charset="0"/>
                            <a:cs typeface="Times New Roman" panose="02020603050405020304" pitchFamily="18" charset="0"/>
                          </a:rPr>
                          <m:t>(</m:t>
                        </m:r>
                        <m:r>
                          <a:rPr lang="en-US" sz="2400" b="1" i="1" kern="100" smtClean="0">
                            <a:solidFill>
                              <a:srgbClr val="0000CC"/>
                            </a:solidFill>
                            <a:latin typeface="Cambria Math" panose="02040503050406030204" pitchFamily="18" charset="0"/>
                            <a:ea typeface="Cambria Math" panose="02040503050406030204" pitchFamily="18" charset="0"/>
                            <a:cs typeface="Times New Roman" panose="02020603050405020304" pitchFamily="18" charset="0"/>
                          </a:rPr>
                          <m:t>𝟒</m:t>
                        </m:r>
                        <m:r>
                          <a:rPr lang="en-US" sz="2400" b="1" i="1" kern="100" smtClean="0">
                            <a:solidFill>
                              <a:srgbClr val="0000CC"/>
                            </a:solidFill>
                            <a:latin typeface="Cambria Math" panose="02040503050406030204" pitchFamily="18" charset="0"/>
                            <a:ea typeface="Cambria Math" panose="02040503050406030204" pitchFamily="18" charset="0"/>
                            <a:cs typeface="Times New Roman" panose="02020603050405020304" pitchFamily="18" charset="0"/>
                          </a:rPr>
                          <m:t>𝝅</m:t>
                        </m:r>
                        <m:r>
                          <a:rPr lang="en-US" sz="2400" b="1" i="1" kern="100" smtClean="0">
                            <a:solidFill>
                              <a:srgbClr val="0000CC"/>
                            </a:solidFill>
                            <a:latin typeface="Cambria Math" panose="02040503050406030204" pitchFamily="18" charset="0"/>
                            <a:ea typeface="Cambria Math" panose="02040503050406030204" pitchFamily="18" charset="0"/>
                            <a:cs typeface="Times New Roman" panose="02020603050405020304" pitchFamily="18" charset="0"/>
                          </a:rPr>
                          <m:t>𝟔𝟎</m:t>
                        </m:r>
                        <m:r>
                          <a:rPr lang="en-US" sz="2400" b="1" i="1" kern="100" smtClean="0">
                            <a:solidFill>
                              <a:srgbClr val="0000CC"/>
                            </a:solidFill>
                            <a:latin typeface="Cambria Math" panose="02040503050406030204" pitchFamily="18" charset="0"/>
                            <a:ea typeface="Cambria Math" panose="02040503050406030204" pitchFamily="18" charset="0"/>
                            <a:cs typeface="Times New Roman" panose="02020603050405020304" pitchFamily="18" charset="0"/>
                          </a:rPr>
                          <m:t>)(</m:t>
                        </m:r>
                        <m:r>
                          <a:rPr lang="en-US" sz="2400" b="1" i="1" kern="100" smtClean="0">
                            <a:solidFill>
                              <a:srgbClr val="0000CC"/>
                            </a:solidFill>
                            <a:latin typeface="Cambria Math" panose="02040503050406030204" pitchFamily="18" charset="0"/>
                            <a:ea typeface="Cambria Math" panose="02040503050406030204" pitchFamily="18" charset="0"/>
                            <a:cs typeface="Times New Roman" panose="02020603050405020304" pitchFamily="18" charset="0"/>
                          </a:rPr>
                          <m:t>𝟎</m:t>
                        </m:r>
                        <m:r>
                          <a:rPr lang="en-US" sz="2400" b="1" i="1" kern="100" smtClean="0">
                            <a:solidFill>
                              <a:srgbClr val="0000CC"/>
                            </a:solidFill>
                            <a:latin typeface="Cambria Math" panose="02040503050406030204" pitchFamily="18" charset="0"/>
                            <a:ea typeface="Cambria Math" panose="02040503050406030204" pitchFamily="18" charset="0"/>
                            <a:cs typeface="Times New Roman" panose="02020603050405020304" pitchFamily="18" charset="0"/>
                          </a:rPr>
                          <m:t>.</m:t>
                        </m:r>
                        <m:r>
                          <a:rPr lang="en-US" sz="2400" b="1" i="1" kern="100" smtClean="0">
                            <a:solidFill>
                              <a:srgbClr val="0000CC"/>
                            </a:solidFill>
                            <a:latin typeface="Cambria Math" panose="02040503050406030204" pitchFamily="18" charset="0"/>
                            <a:ea typeface="Cambria Math" panose="02040503050406030204" pitchFamily="18" charset="0"/>
                            <a:cs typeface="Times New Roman" panose="02020603050405020304" pitchFamily="18" charset="0"/>
                          </a:rPr>
                          <m:t>𝟎𝟏𝟓</m:t>
                        </m:r>
                        <m:r>
                          <a:rPr lang="en-US" sz="2400" b="1" i="1" kern="100" smtClean="0">
                            <a:solidFill>
                              <a:srgbClr val="0000CC"/>
                            </a:solidFill>
                            <a:latin typeface="Cambria Math" panose="02040503050406030204" pitchFamily="18" charset="0"/>
                            <a:ea typeface="Cambria Math" panose="02040503050406030204" pitchFamily="18" charset="0"/>
                            <a:cs typeface="Times New Roman" panose="02020603050405020304" pitchFamily="18" charset="0"/>
                          </a:rPr>
                          <m:t>)</m:t>
                        </m:r>
                      </m:den>
                    </m:f>
                  </m:oMath>
                </a14:m>
                <a:r>
                  <a:rPr lang="en-GB" sz="2400" b="1" kern="100" dirty="0">
                    <a:solidFill>
                      <a:srgbClr val="0000CC"/>
                    </a:solidFill>
                    <a:latin typeface="Century Gothic" panose="020B0502020202020204" pitchFamily="34" charset="0"/>
                    <a:ea typeface="Calibri" panose="020F0502020204030204" pitchFamily="34" charset="0"/>
                    <a:cs typeface="Times New Roman" panose="02020603050405020304" pitchFamily="18" charset="0"/>
                  </a:rPr>
                  <a:t> = 2.43</a:t>
                </a:r>
                <a:r>
                  <a:rPr lang="en-GB" sz="2400" b="1" kern="100" dirty="0">
                    <a:solidFill>
                      <a:srgbClr val="0000CC"/>
                    </a:solidFill>
                    <a:latin typeface="Cambria Math" panose="02040503050406030204" pitchFamily="18" charset="0"/>
                    <a:ea typeface="Cambria Math" panose="02040503050406030204" pitchFamily="18" charset="0"/>
                    <a:cs typeface="Times New Roman" panose="02020603050405020304" pitchFamily="18" charset="0"/>
                  </a:rPr>
                  <a:t>∠</a:t>
                </a:r>
                <a14:m>
                  <m:oMath xmlns:m="http://schemas.openxmlformats.org/officeDocument/2006/math">
                    <m:d>
                      <m:dPr>
                        <m:ctrlPr>
                          <a:rPr lang="en-GB" sz="2400" b="1" i="1" kern="100" smtClean="0">
                            <a:solidFill>
                              <a:srgbClr val="0000CC"/>
                            </a:solidFill>
                            <a:latin typeface="Cambria Math" panose="02040503050406030204" pitchFamily="18" charset="0"/>
                            <a:ea typeface="Cambria Math" panose="02040503050406030204" pitchFamily="18" charset="0"/>
                            <a:cs typeface="Times New Roman" panose="02020603050405020304" pitchFamily="18" charset="0"/>
                          </a:rPr>
                        </m:ctrlPr>
                      </m:dPr>
                      <m:e>
                        <m:r>
                          <a:rPr lang="en-US" sz="2400" b="1" i="1" kern="100" smtClean="0">
                            <a:solidFill>
                              <a:srgbClr val="0000CC"/>
                            </a:solidFill>
                            <a:latin typeface="Cambria Math" panose="02040503050406030204" pitchFamily="18" charset="0"/>
                            <a:ea typeface="Cambria Math" panose="02040503050406030204" pitchFamily="18" charset="0"/>
                            <a:cs typeface="Times New Roman" panose="02020603050405020304" pitchFamily="18" charset="0"/>
                          </a:rPr>
                          <m:t>−</m:t>
                        </m:r>
                        <m:sSup>
                          <m:sSupPr>
                            <m:ctrlPr>
                              <a:rPr lang="en-US" sz="2400" b="1" i="1" kern="100" smtClean="0">
                                <a:solidFill>
                                  <a:srgbClr val="0000CC"/>
                                </a:solidFill>
                                <a:latin typeface="Cambria Math" panose="02040503050406030204" pitchFamily="18" charset="0"/>
                                <a:ea typeface="Cambria Math" panose="02040503050406030204" pitchFamily="18" charset="0"/>
                                <a:cs typeface="Times New Roman" panose="02020603050405020304" pitchFamily="18" charset="0"/>
                              </a:rPr>
                            </m:ctrlPr>
                          </m:sSupPr>
                          <m:e>
                            <m:r>
                              <a:rPr lang="en-US" sz="2400" b="1" i="1" kern="100" smtClean="0">
                                <a:solidFill>
                                  <a:srgbClr val="0000CC"/>
                                </a:solidFill>
                                <a:latin typeface="Cambria Math" panose="02040503050406030204" pitchFamily="18" charset="0"/>
                                <a:ea typeface="Cambria Math" panose="02040503050406030204" pitchFamily="18" charset="0"/>
                                <a:cs typeface="Times New Roman" panose="02020603050405020304" pitchFamily="18" charset="0"/>
                              </a:rPr>
                              <m:t>𝟒𝟔</m:t>
                            </m:r>
                            <m:r>
                              <a:rPr lang="en-US" sz="2400" b="1" i="1" kern="100" smtClean="0">
                                <a:solidFill>
                                  <a:srgbClr val="0000CC"/>
                                </a:solidFill>
                                <a:latin typeface="Cambria Math" panose="02040503050406030204" pitchFamily="18" charset="0"/>
                                <a:ea typeface="Cambria Math" panose="02040503050406030204" pitchFamily="18" charset="0"/>
                                <a:cs typeface="Times New Roman" panose="02020603050405020304" pitchFamily="18" charset="0"/>
                              </a:rPr>
                              <m:t>.</m:t>
                            </m:r>
                            <m:r>
                              <a:rPr lang="en-US" sz="2400" b="1" i="1" kern="100" smtClean="0">
                                <a:solidFill>
                                  <a:srgbClr val="0000CC"/>
                                </a:solidFill>
                                <a:latin typeface="Cambria Math" panose="02040503050406030204" pitchFamily="18" charset="0"/>
                                <a:ea typeface="Cambria Math" panose="02040503050406030204" pitchFamily="18" charset="0"/>
                                <a:cs typeface="Times New Roman" panose="02020603050405020304" pitchFamily="18" charset="0"/>
                              </a:rPr>
                              <m:t>𝟐</m:t>
                            </m:r>
                          </m:e>
                          <m:sup>
                            <m:r>
                              <a:rPr lang="en-US" sz="2400" b="1" i="1" kern="100" smtClean="0">
                                <a:solidFill>
                                  <a:srgbClr val="0000CC"/>
                                </a:solidFill>
                                <a:latin typeface="Cambria Math" panose="02040503050406030204" pitchFamily="18" charset="0"/>
                                <a:ea typeface="Cambria Math" panose="02040503050406030204" pitchFamily="18" charset="0"/>
                                <a:cs typeface="Times New Roman" panose="02020603050405020304" pitchFamily="18" charset="0"/>
                              </a:rPr>
                              <m:t>°</m:t>
                            </m:r>
                          </m:sup>
                        </m:sSup>
                      </m:e>
                    </m:d>
                  </m:oMath>
                </a14:m>
                <a:r>
                  <a:rPr lang="en-GB" sz="2400" b="1" kern="100" dirty="0">
                    <a:solidFill>
                      <a:srgbClr val="0000CC"/>
                    </a:solidFill>
                    <a:latin typeface="Century Gothic" panose="020B0502020202020204" pitchFamily="34" charset="0"/>
                    <a:ea typeface="Calibri" panose="020F0502020204030204" pitchFamily="34" charset="0"/>
                    <a:cs typeface="Times New Roman" panose="02020603050405020304" pitchFamily="18" charset="0"/>
                  </a:rPr>
                  <a:t> A</a:t>
                </a:r>
              </a:p>
              <a:p>
                <a:pPr>
                  <a:buClr>
                    <a:schemeClr val="accent2"/>
                  </a:buClr>
                </a:pPr>
                <a:endParaRPr lang="en-GB" sz="2400" b="1" kern="100" dirty="0">
                  <a:solidFill>
                    <a:srgbClr val="0000CC"/>
                  </a:solidFill>
                  <a:latin typeface="Century Gothic" panose="020B0502020202020204" pitchFamily="34" charset="0"/>
                  <a:ea typeface="Calibri" panose="020F0502020204030204" pitchFamily="34" charset="0"/>
                  <a:cs typeface="Times New Roman" panose="02020603050405020304" pitchFamily="18" charset="0"/>
                </a:endParaRPr>
              </a:p>
              <a:p>
                <a:pPr>
                  <a:buClr>
                    <a:schemeClr val="accent2"/>
                  </a:buClr>
                </a:pPr>
                <a:r>
                  <a:rPr lang="en-GB" sz="2400" b="1" kern="100" dirty="0">
                    <a:solidFill>
                      <a:srgbClr val="0000CC"/>
                    </a:solidFill>
                    <a:latin typeface="Century Gothic" panose="020B0502020202020204" pitchFamily="34" charset="0"/>
                    <a:ea typeface="Calibri" panose="020F0502020204030204" pitchFamily="34" charset="0"/>
                    <a:cs typeface="Times New Roman" panose="02020603050405020304" pitchFamily="18" charset="0"/>
                  </a:rPr>
                  <a:t>Load current can be expressed by</a:t>
                </a:r>
              </a:p>
              <a:p>
                <a:pPr>
                  <a:buClr>
                    <a:schemeClr val="accent2"/>
                  </a:buClr>
                </a:pPr>
                <a:r>
                  <a:rPr lang="en-GB" sz="2400" b="1" kern="100" dirty="0">
                    <a:solidFill>
                      <a:srgbClr val="0000CC"/>
                    </a:solidFill>
                    <a:latin typeface="Century Gothic" panose="020B0502020202020204" pitchFamily="34" charset="0"/>
                    <a:ea typeface="Calibri" panose="020F0502020204030204" pitchFamily="34" charset="0"/>
                    <a:cs typeface="Times New Roman" panose="02020603050405020304" pitchFamily="18" charset="0"/>
                  </a:rPr>
                  <a:t>				</a:t>
                </a:r>
                <a14:m>
                  <m:oMath xmlns:m="http://schemas.openxmlformats.org/officeDocument/2006/math">
                    <m:r>
                      <a:rPr lang="en-US" sz="2400" b="1" i="1" kern="100" smtClean="0">
                        <a:solidFill>
                          <a:srgbClr val="0000CC"/>
                        </a:solidFill>
                        <a:latin typeface="Cambria Math" panose="02040503050406030204" pitchFamily="18" charset="0"/>
                        <a:ea typeface="Calibri" panose="020F0502020204030204" pitchFamily="34" charset="0"/>
                        <a:cs typeface="Times New Roman" panose="02020603050405020304" pitchFamily="18" charset="0"/>
                      </a:rPr>
                      <m:t>𝒊</m:t>
                    </m:r>
                    <m:d>
                      <m:dPr>
                        <m:ctrlPr>
                          <a:rPr lang="en-US" sz="2400" b="1" i="1" kern="100" smtClean="0">
                            <a:solidFill>
                              <a:srgbClr val="0000CC"/>
                            </a:solidFill>
                            <a:latin typeface="Cambria Math" panose="02040503050406030204" pitchFamily="18" charset="0"/>
                            <a:ea typeface="Calibri" panose="020F0502020204030204" pitchFamily="34" charset="0"/>
                            <a:cs typeface="Times New Roman" panose="02020603050405020304" pitchFamily="18" charset="0"/>
                          </a:rPr>
                        </m:ctrlPr>
                      </m:dPr>
                      <m:e>
                        <m:r>
                          <a:rPr lang="en-US" sz="2400" b="1" i="1" kern="100" smtClean="0">
                            <a:solidFill>
                              <a:srgbClr val="0000CC"/>
                            </a:solidFill>
                            <a:latin typeface="Cambria Math" panose="02040503050406030204" pitchFamily="18" charset="0"/>
                            <a:ea typeface="Calibri" panose="020F0502020204030204" pitchFamily="34" charset="0"/>
                            <a:cs typeface="Times New Roman" panose="02020603050405020304" pitchFamily="18" charset="0"/>
                          </a:rPr>
                          <m:t>𝒕</m:t>
                        </m:r>
                      </m:e>
                    </m:d>
                    <m:r>
                      <a:rPr lang="en-US" sz="2400" b="1" i="1" kern="100" smtClean="0">
                        <a:solidFill>
                          <a:srgbClr val="0000CC"/>
                        </a:solidFill>
                        <a:latin typeface="Cambria Math" panose="02040503050406030204" pitchFamily="18" charset="0"/>
                        <a:ea typeface="Calibri" panose="020F0502020204030204" pitchFamily="34" charset="0"/>
                        <a:cs typeface="Times New Roman" panose="02020603050405020304" pitchFamily="18" charset="0"/>
                      </a:rPr>
                      <m:t>=</m:t>
                    </m:r>
                    <m:r>
                      <a:rPr lang="en-US" sz="2400" b="1" i="1" kern="100" smtClean="0">
                        <a:solidFill>
                          <a:srgbClr val="0000CC"/>
                        </a:solidFill>
                        <a:latin typeface="Cambria Math" panose="02040503050406030204" pitchFamily="18" charset="0"/>
                        <a:ea typeface="Calibri" panose="020F0502020204030204" pitchFamily="34" charset="0"/>
                        <a:cs typeface="Times New Roman" panose="02020603050405020304" pitchFamily="18" charset="0"/>
                      </a:rPr>
                      <m:t>𝟐</m:t>
                    </m:r>
                    <m:r>
                      <a:rPr lang="en-US" sz="2400" b="1" i="1" kern="100" smtClean="0">
                        <a:solidFill>
                          <a:srgbClr val="0000CC"/>
                        </a:solidFill>
                        <a:latin typeface="Cambria Math" panose="02040503050406030204" pitchFamily="18" charset="0"/>
                        <a:ea typeface="Cambria Math" panose="02040503050406030204" pitchFamily="18" charset="0"/>
                        <a:cs typeface="Times New Roman" panose="02020603050405020304" pitchFamily="18" charset="0"/>
                      </a:rPr>
                      <m:t>+</m:t>
                    </m:r>
                    <m:r>
                      <a:rPr lang="en-US" sz="2400" b="1" i="1" kern="100" smtClean="0">
                        <a:solidFill>
                          <a:srgbClr val="0000CC"/>
                        </a:solidFill>
                        <a:latin typeface="Cambria Math" panose="02040503050406030204" pitchFamily="18" charset="0"/>
                        <a:ea typeface="Cambria Math" panose="02040503050406030204" pitchFamily="18" charset="0"/>
                        <a:cs typeface="Times New Roman" panose="02020603050405020304" pitchFamily="18" charset="0"/>
                      </a:rPr>
                      <m:t>𝟐</m:t>
                    </m:r>
                    <m:r>
                      <a:rPr lang="en-US" sz="2400" b="1" i="1" kern="100" smtClean="0">
                        <a:solidFill>
                          <a:srgbClr val="0000CC"/>
                        </a:solidFill>
                        <a:latin typeface="Cambria Math" panose="02040503050406030204" pitchFamily="18" charset="0"/>
                        <a:ea typeface="Cambria Math" panose="02040503050406030204" pitchFamily="18" charset="0"/>
                        <a:cs typeface="Times New Roman" panose="02020603050405020304" pitchFamily="18" charset="0"/>
                      </a:rPr>
                      <m:t>.</m:t>
                    </m:r>
                    <m:r>
                      <a:rPr lang="en-US" sz="2400" b="1" i="1" kern="100" smtClean="0">
                        <a:solidFill>
                          <a:srgbClr val="0000CC"/>
                        </a:solidFill>
                        <a:latin typeface="Cambria Math" panose="02040503050406030204" pitchFamily="18" charset="0"/>
                        <a:ea typeface="Cambria Math" panose="02040503050406030204" pitchFamily="18" charset="0"/>
                        <a:cs typeface="Times New Roman" panose="02020603050405020304" pitchFamily="18" charset="0"/>
                      </a:rPr>
                      <m:t>𝟔𝟓</m:t>
                    </m:r>
                    <m:func>
                      <m:funcPr>
                        <m:ctrlPr>
                          <a:rPr lang="en-US" sz="2400" b="1" i="1" kern="100" smtClean="0">
                            <a:solidFill>
                              <a:srgbClr val="0000CC"/>
                            </a:solidFill>
                            <a:latin typeface="Cambria Math" panose="02040503050406030204" pitchFamily="18" charset="0"/>
                            <a:ea typeface="Cambria Math" panose="02040503050406030204" pitchFamily="18" charset="0"/>
                            <a:cs typeface="Times New Roman" panose="02020603050405020304" pitchFamily="18" charset="0"/>
                          </a:rPr>
                        </m:ctrlPr>
                      </m:funcPr>
                      <m:fName>
                        <m:r>
                          <m:rPr>
                            <m:sty m:val="p"/>
                          </m:rPr>
                          <a:rPr lang="en-US" sz="2400" b="0" i="0" kern="100" smtClean="0">
                            <a:solidFill>
                              <a:srgbClr val="0000CC"/>
                            </a:solidFill>
                            <a:latin typeface="Cambria Math" panose="02040503050406030204" pitchFamily="18" charset="0"/>
                            <a:ea typeface="Cambria Math" panose="02040503050406030204" pitchFamily="18" charset="0"/>
                            <a:cs typeface="Times New Roman" panose="02020603050405020304" pitchFamily="18" charset="0"/>
                          </a:rPr>
                          <m:t>cos</m:t>
                        </m:r>
                      </m:fName>
                      <m:e>
                        <m:d>
                          <m:dPr>
                            <m:ctrlPr>
                              <a:rPr lang="en-US" sz="2400" b="0" i="1" kern="100" smtClean="0">
                                <a:solidFill>
                                  <a:srgbClr val="0000CC"/>
                                </a:solidFill>
                                <a:latin typeface="Cambria Math" panose="02040503050406030204" pitchFamily="18" charset="0"/>
                                <a:ea typeface="Cambria Math" panose="02040503050406030204" pitchFamily="18" charset="0"/>
                                <a:cs typeface="Times New Roman" panose="02020603050405020304" pitchFamily="18" charset="0"/>
                              </a:rPr>
                            </m:ctrlPr>
                          </m:dPr>
                          <m:e>
                            <m:r>
                              <a:rPr lang="en-US" sz="2400" b="0" i="1" kern="100" smtClean="0">
                                <a:solidFill>
                                  <a:srgbClr val="0000CC"/>
                                </a:solidFill>
                                <a:latin typeface="Cambria Math" panose="02040503050406030204" pitchFamily="18" charset="0"/>
                                <a:ea typeface="Cambria Math" panose="02040503050406030204" pitchFamily="18" charset="0"/>
                                <a:cs typeface="Times New Roman" panose="02020603050405020304" pitchFamily="18" charset="0"/>
                              </a:rPr>
                              <m:t>2</m:t>
                            </m:r>
                            <m:r>
                              <a:rPr lang="en-US" sz="2400" b="0" i="1" kern="100" smtClean="0">
                                <a:solidFill>
                                  <a:srgbClr val="0000CC"/>
                                </a:solidFill>
                                <a:latin typeface="Cambria Math" panose="02040503050406030204" pitchFamily="18" charset="0"/>
                                <a:ea typeface="Cambria Math" panose="02040503050406030204" pitchFamily="18" charset="0"/>
                                <a:cs typeface="Times New Roman" panose="02020603050405020304" pitchFamily="18" charset="0"/>
                              </a:rPr>
                              <m:t>𝜋</m:t>
                            </m:r>
                            <m:r>
                              <a:rPr lang="en-US" sz="2400" b="0" i="1" kern="100" smtClean="0">
                                <a:solidFill>
                                  <a:srgbClr val="0000CC"/>
                                </a:solidFill>
                                <a:latin typeface="Cambria Math" panose="02040503050406030204" pitchFamily="18" charset="0"/>
                                <a:ea typeface="Cambria Math" panose="02040503050406030204" pitchFamily="18" charset="0"/>
                                <a:cs typeface="Times New Roman" panose="02020603050405020304" pitchFamily="18" charset="0"/>
                              </a:rPr>
                              <m:t>60</m:t>
                            </m:r>
                            <m:r>
                              <a:rPr lang="en-US" sz="2400" b="0" i="1" kern="100" smtClean="0">
                                <a:solidFill>
                                  <a:srgbClr val="0000CC"/>
                                </a:solidFill>
                                <a:latin typeface="Cambria Math" panose="02040503050406030204" pitchFamily="18" charset="0"/>
                                <a:ea typeface="Cambria Math" panose="02040503050406030204" pitchFamily="18" charset="0"/>
                                <a:cs typeface="Times New Roman" panose="02020603050405020304" pitchFamily="18" charset="0"/>
                              </a:rPr>
                              <m:t>𝑡</m:t>
                            </m:r>
                            <m:r>
                              <a:rPr lang="en-US" sz="2400" b="0" i="1" kern="100" smtClean="0">
                                <a:solidFill>
                                  <a:srgbClr val="0000CC"/>
                                </a:solidFill>
                                <a:latin typeface="Cambria Math" panose="02040503050406030204" pitchFamily="18" charset="0"/>
                                <a:ea typeface="Cambria Math" panose="02040503050406030204" pitchFamily="18" charset="0"/>
                                <a:cs typeface="Times New Roman" panose="02020603050405020304" pitchFamily="18" charset="0"/>
                              </a:rPr>
                              <m:t>−</m:t>
                            </m:r>
                            <m:sSup>
                              <m:sSupPr>
                                <m:ctrlPr>
                                  <a:rPr lang="en-US" sz="2400" b="0" i="1" kern="100" smtClean="0">
                                    <a:solidFill>
                                      <a:srgbClr val="0000CC"/>
                                    </a:solidFill>
                                    <a:latin typeface="Cambria Math" panose="02040503050406030204" pitchFamily="18" charset="0"/>
                                    <a:ea typeface="Cambria Math" panose="02040503050406030204" pitchFamily="18" charset="0"/>
                                    <a:cs typeface="Times New Roman" panose="02020603050405020304" pitchFamily="18" charset="0"/>
                                  </a:rPr>
                                </m:ctrlPr>
                              </m:sSupPr>
                              <m:e>
                                <m:r>
                                  <a:rPr lang="en-US" sz="2400" b="0" i="1" kern="100" smtClean="0">
                                    <a:solidFill>
                                      <a:srgbClr val="0000CC"/>
                                    </a:solidFill>
                                    <a:latin typeface="Cambria Math" panose="02040503050406030204" pitchFamily="18" charset="0"/>
                                    <a:ea typeface="Cambria Math" panose="02040503050406030204" pitchFamily="18" charset="0"/>
                                    <a:cs typeface="Times New Roman" panose="02020603050405020304" pitchFamily="18" charset="0"/>
                                  </a:rPr>
                                  <m:t>73.5</m:t>
                                </m:r>
                              </m:e>
                              <m:sup>
                                <m:r>
                                  <a:rPr lang="en-US" sz="2400" b="0" i="1" kern="100" smtClean="0">
                                    <a:solidFill>
                                      <a:srgbClr val="0000CC"/>
                                    </a:solidFill>
                                    <a:latin typeface="Cambria Math" panose="02040503050406030204" pitchFamily="18" charset="0"/>
                                    <a:ea typeface="Cambria Math" panose="02040503050406030204" pitchFamily="18" charset="0"/>
                                    <a:cs typeface="Times New Roman" panose="02020603050405020304" pitchFamily="18" charset="0"/>
                                  </a:rPr>
                                  <m:t>°</m:t>
                                </m:r>
                              </m:sup>
                            </m:sSup>
                          </m:e>
                        </m:d>
                      </m:e>
                    </m:func>
                    <m:r>
                      <a:rPr lang="en-US" sz="2400" b="1" i="1" kern="100" smtClean="0">
                        <a:solidFill>
                          <a:srgbClr val="0000CC"/>
                        </a:solidFill>
                        <a:latin typeface="Cambria Math" panose="02040503050406030204" pitchFamily="18" charset="0"/>
                        <a:ea typeface="Cambria Math" panose="02040503050406030204" pitchFamily="18" charset="0"/>
                        <a:cs typeface="Times New Roman" panose="02020603050405020304" pitchFamily="18" charset="0"/>
                      </a:rPr>
                      <m:t>+</m:t>
                    </m:r>
                    <m:r>
                      <a:rPr lang="en-US" sz="2400" b="1" i="1" kern="100" smtClean="0">
                        <a:solidFill>
                          <a:srgbClr val="0000CC"/>
                        </a:solidFill>
                        <a:latin typeface="Cambria Math" panose="02040503050406030204" pitchFamily="18" charset="0"/>
                        <a:ea typeface="Cambria Math" panose="02040503050406030204" pitchFamily="18" charset="0"/>
                        <a:cs typeface="Times New Roman" panose="02020603050405020304" pitchFamily="18" charset="0"/>
                      </a:rPr>
                      <m:t>𝟐</m:t>
                    </m:r>
                    <m:r>
                      <a:rPr lang="en-US" sz="2400" b="1" i="1" kern="100" smtClean="0">
                        <a:solidFill>
                          <a:srgbClr val="0000CC"/>
                        </a:solidFill>
                        <a:latin typeface="Cambria Math" panose="02040503050406030204" pitchFamily="18" charset="0"/>
                        <a:ea typeface="Cambria Math" panose="02040503050406030204" pitchFamily="18" charset="0"/>
                        <a:cs typeface="Times New Roman" panose="02020603050405020304" pitchFamily="18" charset="0"/>
                      </a:rPr>
                      <m:t>.</m:t>
                    </m:r>
                    <m:r>
                      <a:rPr lang="en-US" sz="2400" b="1" i="1" kern="100" smtClean="0">
                        <a:solidFill>
                          <a:srgbClr val="0000CC"/>
                        </a:solidFill>
                        <a:latin typeface="Cambria Math" panose="02040503050406030204" pitchFamily="18" charset="0"/>
                        <a:ea typeface="Cambria Math" panose="02040503050406030204" pitchFamily="18" charset="0"/>
                        <a:cs typeface="Times New Roman" panose="02020603050405020304" pitchFamily="18" charset="0"/>
                      </a:rPr>
                      <m:t>𝟒𝟑</m:t>
                    </m:r>
                    <m:func>
                      <m:funcPr>
                        <m:ctrlPr>
                          <a:rPr lang="en-US" sz="2400" b="1" i="1" kern="100" smtClean="0">
                            <a:solidFill>
                              <a:srgbClr val="0000CC"/>
                            </a:solidFill>
                            <a:latin typeface="Cambria Math" panose="02040503050406030204" pitchFamily="18" charset="0"/>
                            <a:ea typeface="Cambria Math" panose="02040503050406030204" pitchFamily="18" charset="0"/>
                            <a:cs typeface="Times New Roman" panose="02020603050405020304" pitchFamily="18" charset="0"/>
                          </a:rPr>
                        </m:ctrlPr>
                      </m:funcPr>
                      <m:fName>
                        <m:r>
                          <m:rPr>
                            <m:sty m:val="p"/>
                          </m:rPr>
                          <a:rPr lang="en-US" sz="2400" b="0" i="0" kern="100" smtClean="0">
                            <a:solidFill>
                              <a:srgbClr val="0000CC"/>
                            </a:solidFill>
                            <a:latin typeface="Cambria Math" panose="02040503050406030204" pitchFamily="18" charset="0"/>
                            <a:ea typeface="Cambria Math" panose="02040503050406030204" pitchFamily="18" charset="0"/>
                            <a:cs typeface="Times New Roman" panose="02020603050405020304" pitchFamily="18" charset="0"/>
                          </a:rPr>
                          <m:t>cos</m:t>
                        </m:r>
                      </m:fName>
                      <m:e>
                        <m:d>
                          <m:dPr>
                            <m:ctrlPr>
                              <a:rPr lang="en-US" sz="2400" b="0" i="1" kern="100" smtClean="0">
                                <a:solidFill>
                                  <a:srgbClr val="0000CC"/>
                                </a:solidFill>
                                <a:latin typeface="Cambria Math" panose="02040503050406030204" pitchFamily="18" charset="0"/>
                                <a:ea typeface="Cambria Math" panose="02040503050406030204" pitchFamily="18" charset="0"/>
                                <a:cs typeface="Times New Roman" panose="02020603050405020304" pitchFamily="18" charset="0"/>
                              </a:rPr>
                            </m:ctrlPr>
                          </m:dPr>
                          <m:e>
                            <m:r>
                              <a:rPr lang="en-US" sz="2400" b="0" i="1" kern="100" smtClean="0">
                                <a:solidFill>
                                  <a:srgbClr val="0000CC"/>
                                </a:solidFill>
                                <a:latin typeface="Cambria Math" panose="02040503050406030204" pitchFamily="18" charset="0"/>
                                <a:ea typeface="Cambria Math" panose="02040503050406030204" pitchFamily="18" charset="0"/>
                                <a:cs typeface="Times New Roman" panose="02020603050405020304" pitchFamily="18" charset="0"/>
                              </a:rPr>
                              <m:t>4</m:t>
                            </m:r>
                            <m:r>
                              <a:rPr lang="en-US" sz="2400" b="0" i="1" kern="100" smtClean="0">
                                <a:solidFill>
                                  <a:srgbClr val="0000CC"/>
                                </a:solidFill>
                                <a:latin typeface="Cambria Math" panose="02040503050406030204" pitchFamily="18" charset="0"/>
                                <a:ea typeface="Cambria Math" panose="02040503050406030204" pitchFamily="18" charset="0"/>
                                <a:cs typeface="Times New Roman" panose="02020603050405020304" pitchFamily="18" charset="0"/>
                              </a:rPr>
                              <m:t>𝜋</m:t>
                            </m:r>
                            <m:r>
                              <a:rPr lang="en-US" sz="2400" b="0" i="1" kern="100" smtClean="0">
                                <a:solidFill>
                                  <a:srgbClr val="0000CC"/>
                                </a:solidFill>
                                <a:latin typeface="Cambria Math" panose="02040503050406030204" pitchFamily="18" charset="0"/>
                                <a:ea typeface="Cambria Math" panose="02040503050406030204" pitchFamily="18" charset="0"/>
                                <a:cs typeface="Times New Roman" panose="02020603050405020304" pitchFamily="18" charset="0"/>
                              </a:rPr>
                              <m:t>60</m:t>
                            </m:r>
                            <m:r>
                              <a:rPr lang="en-US" sz="2400" b="0" i="1" kern="100" smtClean="0">
                                <a:solidFill>
                                  <a:srgbClr val="0000CC"/>
                                </a:solidFill>
                                <a:latin typeface="Cambria Math" panose="02040503050406030204" pitchFamily="18" charset="0"/>
                                <a:ea typeface="Cambria Math" panose="02040503050406030204" pitchFamily="18" charset="0"/>
                                <a:cs typeface="Times New Roman" panose="02020603050405020304" pitchFamily="18" charset="0"/>
                              </a:rPr>
                              <m:t>𝑡</m:t>
                            </m:r>
                            <m:r>
                              <a:rPr lang="en-US" sz="2400" b="0" i="1" kern="100" smtClean="0">
                                <a:solidFill>
                                  <a:srgbClr val="0000CC"/>
                                </a:solidFill>
                                <a:latin typeface="Cambria Math" panose="02040503050406030204" pitchFamily="18" charset="0"/>
                                <a:ea typeface="Cambria Math" panose="02040503050406030204" pitchFamily="18" charset="0"/>
                                <a:cs typeface="Times New Roman" panose="02020603050405020304" pitchFamily="18" charset="0"/>
                              </a:rPr>
                              <m:t>−</m:t>
                            </m:r>
                            <m:sSup>
                              <m:sSupPr>
                                <m:ctrlPr>
                                  <a:rPr lang="en-US" sz="2400" b="0" i="1" kern="100" smtClean="0">
                                    <a:solidFill>
                                      <a:srgbClr val="0000CC"/>
                                    </a:solidFill>
                                    <a:latin typeface="Cambria Math" panose="02040503050406030204" pitchFamily="18" charset="0"/>
                                    <a:ea typeface="Cambria Math" panose="02040503050406030204" pitchFamily="18" charset="0"/>
                                    <a:cs typeface="Times New Roman" panose="02020603050405020304" pitchFamily="18" charset="0"/>
                                  </a:rPr>
                                </m:ctrlPr>
                              </m:sSupPr>
                              <m:e>
                                <m:r>
                                  <a:rPr lang="en-US" sz="2400" b="0" i="1" kern="100" smtClean="0">
                                    <a:solidFill>
                                      <a:srgbClr val="0000CC"/>
                                    </a:solidFill>
                                    <a:latin typeface="Cambria Math" panose="02040503050406030204" pitchFamily="18" charset="0"/>
                                    <a:ea typeface="Cambria Math" panose="02040503050406030204" pitchFamily="18" charset="0"/>
                                    <a:cs typeface="Times New Roman" panose="02020603050405020304" pitchFamily="18" charset="0"/>
                                  </a:rPr>
                                  <m:t>46.2</m:t>
                                </m:r>
                              </m:e>
                              <m:sup>
                                <m:r>
                                  <a:rPr lang="en-US" sz="2400" b="0" i="1" kern="100" smtClean="0">
                                    <a:solidFill>
                                      <a:srgbClr val="0000CC"/>
                                    </a:solidFill>
                                    <a:latin typeface="Cambria Math" panose="02040503050406030204" pitchFamily="18" charset="0"/>
                                    <a:ea typeface="Cambria Math" panose="02040503050406030204" pitchFamily="18" charset="0"/>
                                    <a:cs typeface="Times New Roman" panose="02020603050405020304" pitchFamily="18" charset="0"/>
                                  </a:rPr>
                                  <m:t>°</m:t>
                                </m:r>
                              </m:sup>
                            </m:sSup>
                          </m:e>
                        </m:d>
                      </m:e>
                    </m:func>
                  </m:oMath>
                </a14:m>
                <a:endParaRPr lang="en-GB" sz="2400" b="1" kern="100" dirty="0">
                  <a:solidFill>
                    <a:srgbClr val="0000CC"/>
                  </a:solidFill>
                  <a:latin typeface="Century Gothic" panose="020B0502020202020204" pitchFamily="34" charset="0"/>
                  <a:ea typeface="Calibri" panose="020F0502020204030204" pitchFamily="34" charset="0"/>
                  <a:cs typeface="Times New Roman" panose="02020603050405020304" pitchFamily="18" charset="0"/>
                </a:endParaRPr>
              </a:p>
              <a:p>
                <a:pPr>
                  <a:buClr>
                    <a:schemeClr val="accent2"/>
                  </a:buClr>
                </a:pPr>
                <a:br>
                  <a:rPr lang="en-GB" sz="2400" b="1" kern="100" dirty="0">
                    <a:solidFill>
                      <a:srgbClr val="0000CC"/>
                    </a:solidFill>
                    <a:latin typeface="Century Gothic" panose="020B0502020202020204" pitchFamily="34" charset="0"/>
                    <a:ea typeface="Calibri" panose="020F0502020204030204" pitchFamily="34" charset="0"/>
                    <a:cs typeface="Times New Roman" panose="02020603050405020304" pitchFamily="18" charset="0"/>
                  </a:rPr>
                </a:br>
                <a:r>
                  <a:rPr lang="en-GB" sz="2400" b="1" kern="100" dirty="0">
                    <a:solidFill>
                      <a:srgbClr val="0000CC"/>
                    </a:solidFill>
                    <a:latin typeface="Century Gothic" panose="020B0502020202020204" pitchFamily="34" charset="0"/>
                    <a:ea typeface="Calibri" panose="020F0502020204030204" pitchFamily="34" charset="0"/>
                    <a:cs typeface="Times New Roman" panose="02020603050405020304" pitchFamily="18" charset="0"/>
                  </a:rPr>
                  <a:t>Power at each frequency in the Fourier series is determined by</a:t>
                </a:r>
              </a:p>
              <a:p>
                <a:pPr>
                  <a:buClr>
                    <a:schemeClr val="accent2"/>
                  </a:buClr>
                </a:pPr>
                <a:r>
                  <a:rPr lang="en-GB" sz="2400" b="1" kern="100" dirty="0">
                    <a:solidFill>
                      <a:srgbClr val="0000CC"/>
                    </a:solidFill>
                    <a:latin typeface="Century Gothic" panose="020B0502020202020204" pitchFamily="34" charset="0"/>
                    <a:ea typeface="Calibri" panose="020F0502020204030204" pitchFamily="34" charset="0"/>
                    <a:cs typeface="Times New Roman" panose="02020603050405020304" pitchFamily="18" charset="0"/>
                  </a:rPr>
                  <a:t>		dc term :  </a:t>
                </a:r>
                <a14:m>
                  <m:oMath xmlns:m="http://schemas.openxmlformats.org/officeDocument/2006/math">
                    <m:sSub>
                      <m:sSubPr>
                        <m:ctrlPr>
                          <a:rPr lang="en-GB" sz="2400" b="1" i="1" kern="100" smtClean="0">
                            <a:solidFill>
                              <a:srgbClr val="0000CC"/>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2400" b="1" i="1" kern="100" smtClean="0">
                            <a:solidFill>
                              <a:srgbClr val="0000CC"/>
                            </a:solidFill>
                            <a:latin typeface="Cambria Math" panose="02040503050406030204" pitchFamily="18" charset="0"/>
                            <a:ea typeface="Calibri" panose="020F0502020204030204" pitchFamily="34" charset="0"/>
                            <a:cs typeface="Times New Roman" panose="02020603050405020304" pitchFamily="18" charset="0"/>
                          </a:rPr>
                          <m:t>𝑷</m:t>
                        </m:r>
                      </m:e>
                      <m:sub>
                        <m:r>
                          <a:rPr lang="en-US" sz="2400" b="1" i="1" kern="100" smtClean="0">
                            <a:solidFill>
                              <a:srgbClr val="0000CC"/>
                            </a:solidFill>
                            <a:latin typeface="Cambria Math" panose="02040503050406030204" pitchFamily="18" charset="0"/>
                            <a:ea typeface="Calibri" panose="020F0502020204030204" pitchFamily="34" charset="0"/>
                            <a:cs typeface="Times New Roman" panose="02020603050405020304" pitchFamily="18" charset="0"/>
                          </a:rPr>
                          <m:t>𝟎</m:t>
                        </m:r>
                      </m:sub>
                    </m:sSub>
                  </m:oMath>
                </a14:m>
                <a:r>
                  <a:rPr lang="en-GB" sz="2400" b="1" kern="100" dirty="0">
                    <a:solidFill>
                      <a:srgbClr val="0000CC"/>
                    </a:solidFill>
                    <a:latin typeface="Century Gothic" panose="020B0502020202020204" pitchFamily="34" charset="0"/>
                    <a:ea typeface="Calibri" panose="020F0502020204030204" pitchFamily="34" charset="0"/>
                    <a:cs typeface="Times New Roman" panose="02020603050405020304" pitchFamily="18" charset="0"/>
                  </a:rPr>
                  <a:t> = </a:t>
                </a:r>
                <a14:m>
                  <m:oMath xmlns:m="http://schemas.openxmlformats.org/officeDocument/2006/math">
                    <m:d>
                      <m:dPr>
                        <m:ctrlPr>
                          <a:rPr lang="en-GB" sz="2400" b="1" i="1" kern="100" smtClean="0">
                            <a:solidFill>
                              <a:srgbClr val="0000CC"/>
                            </a:solidFill>
                            <a:latin typeface="Cambria Math" panose="02040503050406030204" pitchFamily="18" charset="0"/>
                            <a:ea typeface="Calibri" panose="020F0502020204030204" pitchFamily="34" charset="0"/>
                            <a:cs typeface="Times New Roman" panose="02020603050405020304" pitchFamily="18" charset="0"/>
                          </a:rPr>
                        </m:ctrlPr>
                      </m:dPr>
                      <m:e>
                        <m:r>
                          <a:rPr lang="en-US" sz="2400" b="1" i="1" kern="100" smtClean="0">
                            <a:solidFill>
                              <a:srgbClr val="0000CC"/>
                            </a:solidFill>
                            <a:latin typeface="Cambria Math" panose="02040503050406030204" pitchFamily="18" charset="0"/>
                            <a:ea typeface="Calibri" panose="020F0502020204030204" pitchFamily="34" charset="0"/>
                            <a:cs typeface="Times New Roman" panose="02020603050405020304" pitchFamily="18" charset="0"/>
                          </a:rPr>
                          <m:t>𝟏𝟎</m:t>
                        </m:r>
                        <m:r>
                          <a:rPr lang="en-US" sz="2400" b="1" i="1" kern="100" smtClean="0">
                            <a:solidFill>
                              <a:srgbClr val="0000CC"/>
                            </a:solidFill>
                            <a:latin typeface="Cambria Math" panose="02040503050406030204" pitchFamily="18" charset="0"/>
                            <a:ea typeface="Calibri" panose="020F0502020204030204" pitchFamily="34" charset="0"/>
                            <a:cs typeface="Times New Roman" panose="02020603050405020304" pitchFamily="18" charset="0"/>
                          </a:rPr>
                          <m:t>𝑽</m:t>
                        </m:r>
                      </m:e>
                    </m:d>
                    <m:d>
                      <m:dPr>
                        <m:ctrlPr>
                          <a:rPr lang="en-GB" sz="2400" b="1" i="1" kern="100" smtClean="0">
                            <a:solidFill>
                              <a:srgbClr val="0000CC"/>
                            </a:solidFill>
                            <a:latin typeface="Cambria Math" panose="02040503050406030204" pitchFamily="18" charset="0"/>
                            <a:ea typeface="Calibri" panose="020F0502020204030204" pitchFamily="34" charset="0"/>
                            <a:cs typeface="Times New Roman" panose="02020603050405020304" pitchFamily="18" charset="0"/>
                          </a:rPr>
                        </m:ctrlPr>
                      </m:dPr>
                      <m:e>
                        <m:r>
                          <a:rPr lang="en-US" sz="2400" b="1" i="1" kern="100" smtClean="0">
                            <a:solidFill>
                              <a:srgbClr val="0000CC"/>
                            </a:solidFill>
                            <a:latin typeface="Cambria Math" panose="02040503050406030204" pitchFamily="18" charset="0"/>
                            <a:ea typeface="Calibri" panose="020F0502020204030204" pitchFamily="34" charset="0"/>
                            <a:cs typeface="Times New Roman" panose="02020603050405020304" pitchFamily="18" charset="0"/>
                          </a:rPr>
                          <m:t>𝟐</m:t>
                        </m:r>
                        <m:r>
                          <a:rPr lang="en-US" sz="2400" b="1" i="1" kern="100" smtClean="0">
                            <a:solidFill>
                              <a:srgbClr val="0000CC"/>
                            </a:solidFill>
                            <a:latin typeface="Cambria Math" panose="02040503050406030204" pitchFamily="18" charset="0"/>
                            <a:ea typeface="Calibri" panose="020F0502020204030204" pitchFamily="34" charset="0"/>
                            <a:cs typeface="Times New Roman" panose="02020603050405020304" pitchFamily="18" charset="0"/>
                          </a:rPr>
                          <m:t>𝑨</m:t>
                        </m:r>
                      </m:e>
                    </m:d>
                  </m:oMath>
                </a14:m>
                <a:r>
                  <a:rPr lang="en-GB" sz="2400" b="1" kern="100" dirty="0">
                    <a:solidFill>
                      <a:srgbClr val="0000CC"/>
                    </a:solidFill>
                    <a:latin typeface="Century Gothic" panose="020B0502020202020204" pitchFamily="34" charset="0"/>
                    <a:ea typeface="Calibri" panose="020F0502020204030204" pitchFamily="34" charset="0"/>
                    <a:cs typeface="Times New Roman" panose="02020603050405020304" pitchFamily="18" charset="0"/>
                  </a:rPr>
                  <a:t> = 20W</a:t>
                </a:r>
                <a:br>
                  <a:rPr lang="en-GB" sz="2400" b="1" kern="100" dirty="0">
                    <a:solidFill>
                      <a:srgbClr val="0000CC"/>
                    </a:solidFill>
                    <a:latin typeface="Century Gothic" panose="020B0502020202020204" pitchFamily="34" charset="0"/>
                    <a:ea typeface="Calibri" panose="020F0502020204030204" pitchFamily="34" charset="0"/>
                    <a:cs typeface="Times New Roman" panose="02020603050405020304" pitchFamily="18" charset="0"/>
                  </a:rPr>
                </a:br>
                <a:br>
                  <a:rPr lang="en-GB" sz="2400" b="1" kern="100" dirty="0">
                    <a:solidFill>
                      <a:srgbClr val="0000CC"/>
                    </a:solidFill>
                    <a:latin typeface="Century Gothic" panose="020B0502020202020204" pitchFamily="34" charset="0"/>
                    <a:ea typeface="Calibri" panose="020F0502020204030204" pitchFamily="34" charset="0"/>
                    <a:cs typeface="Times New Roman" panose="02020603050405020304" pitchFamily="18" charset="0"/>
                  </a:rPr>
                </a:br>
                <a:r>
                  <a:rPr lang="en-GB" sz="2400" b="1" kern="100" dirty="0">
                    <a:solidFill>
                      <a:srgbClr val="0000CC"/>
                    </a:solidFill>
                    <a:latin typeface="Century Gothic" panose="020B0502020202020204" pitchFamily="34" charset="0"/>
                    <a:ea typeface="Calibri" panose="020F0502020204030204" pitchFamily="34" charset="0"/>
                    <a:cs typeface="Times New Roman" panose="02020603050405020304" pitchFamily="18" charset="0"/>
                  </a:rPr>
                  <a:t>		</a:t>
                </a:r>
                <a14:m>
                  <m:oMath xmlns:m="http://schemas.openxmlformats.org/officeDocument/2006/math">
                    <m:r>
                      <a:rPr lang="en-GB" sz="2400" b="1" i="1" kern="100" smtClean="0">
                        <a:solidFill>
                          <a:srgbClr val="0000CC"/>
                        </a:solidFill>
                        <a:latin typeface="Cambria Math" panose="02040503050406030204" pitchFamily="18" charset="0"/>
                        <a:ea typeface="Cambria Math" panose="02040503050406030204" pitchFamily="18" charset="0"/>
                        <a:cs typeface="Times New Roman" panose="02020603050405020304" pitchFamily="18" charset="0"/>
                      </a:rPr>
                      <m:t>𝝎</m:t>
                    </m:r>
                  </m:oMath>
                </a14:m>
                <a:r>
                  <a:rPr lang="en-GB" sz="2400" b="1" kern="100" dirty="0">
                    <a:solidFill>
                      <a:srgbClr val="0000CC"/>
                    </a:solidFill>
                    <a:latin typeface="Century Gothic" panose="020B0502020202020204" pitchFamily="34" charset="0"/>
                    <a:ea typeface="Calibri" panose="020F0502020204030204" pitchFamily="34" charset="0"/>
                    <a:cs typeface="Times New Roman" panose="02020603050405020304" pitchFamily="18" charset="0"/>
                  </a:rPr>
                  <a:t> = </a:t>
                </a:r>
                <a14:m>
                  <m:oMath xmlns:m="http://schemas.openxmlformats.org/officeDocument/2006/math">
                    <m:r>
                      <a:rPr lang="en-US" sz="2400" b="1" i="1" kern="100" smtClean="0">
                        <a:solidFill>
                          <a:srgbClr val="0000CC"/>
                        </a:solidFill>
                        <a:latin typeface="Cambria Math" panose="02040503050406030204" pitchFamily="18" charset="0"/>
                        <a:ea typeface="Calibri" panose="020F0502020204030204" pitchFamily="34" charset="0"/>
                        <a:cs typeface="Times New Roman" panose="02020603050405020304" pitchFamily="18" charset="0"/>
                      </a:rPr>
                      <m:t>𝟐</m:t>
                    </m:r>
                    <m:r>
                      <a:rPr lang="en-US" sz="2400" b="1" i="1" kern="100" smtClean="0">
                        <a:solidFill>
                          <a:srgbClr val="0000CC"/>
                        </a:solidFill>
                        <a:latin typeface="Cambria Math" panose="02040503050406030204" pitchFamily="18" charset="0"/>
                        <a:ea typeface="Cambria Math" panose="02040503050406030204" pitchFamily="18" charset="0"/>
                        <a:cs typeface="Times New Roman" panose="02020603050405020304" pitchFamily="18" charset="0"/>
                      </a:rPr>
                      <m:t>𝝅</m:t>
                    </m:r>
                    <m:r>
                      <a:rPr lang="en-US" sz="2400" b="1" i="1" kern="100" smtClean="0">
                        <a:solidFill>
                          <a:srgbClr val="0000CC"/>
                        </a:solidFill>
                        <a:latin typeface="Cambria Math" panose="02040503050406030204" pitchFamily="18" charset="0"/>
                        <a:ea typeface="Cambria Math" panose="02040503050406030204" pitchFamily="18" charset="0"/>
                        <a:cs typeface="Times New Roman" panose="02020603050405020304" pitchFamily="18" charset="0"/>
                      </a:rPr>
                      <m:t>𝟔𝟎</m:t>
                    </m:r>
                  </m:oMath>
                </a14:m>
                <a:r>
                  <a:rPr lang="en-GB" sz="2400" b="1" kern="100" dirty="0">
                    <a:solidFill>
                      <a:srgbClr val="0000CC"/>
                    </a:solidFill>
                    <a:latin typeface="Century Gothic" panose="020B0502020202020204" pitchFamily="34" charset="0"/>
                    <a:ea typeface="Calibri" panose="020F0502020204030204" pitchFamily="34" charset="0"/>
                    <a:cs typeface="Times New Roman" panose="02020603050405020304" pitchFamily="18" charset="0"/>
                  </a:rPr>
                  <a:t> : </a:t>
                </a:r>
                <a14:m>
                  <m:oMath xmlns:m="http://schemas.openxmlformats.org/officeDocument/2006/math">
                    <m:sSub>
                      <m:sSubPr>
                        <m:ctrlPr>
                          <a:rPr lang="en-GB" sz="2400" b="1" i="1" kern="100" smtClean="0">
                            <a:solidFill>
                              <a:srgbClr val="0000CC"/>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2400" b="1" i="1" kern="100" smtClean="0">
                            <a:solidFill>
                              <a:srgbClr val="0000CC"/>
                            </a:solidFill>
                            <a:latin typeface="Cambria Math" panose="02040503050406030204" pitchFamily="18" charset="0"/>
                            <a:ea typeface="Calibri" panose="020F0502020204030204" pitchFamily="34" charset="0"/>
                            <a:cs typeface="Times New Roman" panose="02020603050405020304" pitchFamily="18" charset="0"/>
                          </a:rPr>
                          <m:t>𝑷</m:t>
                        </m:r>
                      </m:e>
                      <m:sub>
                        <m:r>
                          <a:rPr lang="en-US" sz="2400" b="1" i="1" kern="100" smtClean="0">
                            <a:solidFill>
                              <a:srgbClr val="0000CC"/>
                            </a:solidFill>
                            <a:latin typeface="Cambria Math" panose="02040503050406030204" pitchFamily="18" charset="0"/>
                            <a:ea typeface="Calibri" panose="020F0502020204030204" pitchFamily="34" charset="0"/>
                            <a:cs typeface="Times New Roman" panose="02020603050405020304" pitchFamily="18" charset="0"/>
                          </a:rPr>
                          <m:t>𝟏</m:t>
                        </m:r>
                      </m:sub>
                    </m:sSub>
                  </m:oMath>
                </a14:m>
                <a:r>
                  <a:rPr lang="en-GB" sz="2400" b="1" kern="100" dirty="0">
                    <a:solidFill>
                      <a:srgbClr val="0000CC"/>
                    </a:solidFill>
                    <a:latin typeface="Century Gothic" panose="020B0502020202020204" pitchFamily="34" charset="0"/>
                    <a:ea typeface="Calibri" panose="020F0502020204030204" pitchFamily="34" charset="0"/>
                    <a:cs typeface="Times New Roman" panose="02020603050405020304" pitchFamily="18" charset="0"/>
                  </a:rPr>
                  <a:t> = </a:t>
                </a:r>
                <a14:m>
                  <m:oMath xmlns:m="http://schemas.openxmlformats.org/officeDocument/2006/math">
                    <m:f>
                      <m:fPr>
                        <m:ctrlPr>
                          <a:rPr lang="en-GB" sz="2400" b="1" i="1" kern="100" smtClean="0">
                            <a:solidFill>
                              <a:srgbClr val="0000CC"/>
                            </a:solidFill>
                            <a:latin typeface="Cambria Math" panose="02040503050406030204" pitchFamily="18" charset="0"/>
                            <a:ea typeface="Calibri" panose="020F0502020204030204" pitchFamily="34" charset="0"/>
                            <a:cs typeface="Times New Roman" panose="02020603050405020304" pitchFamily="18" charset="0"/>
                          </a:rPr>
                        </m:ctrlPr>
                      </m:fPr>
                      <m:num>
                        <m:d>
                          <m:dPr>
                            <m:ctrlPr>
                              <a:rPr lang="en-GB" sz="2400" b="1" i="1" kern="100" smtClean="0">
                                <a:solidFill>
                                  <a:srgbClr val="0000CC"/>
                                </a:solidFill>
                                <a:latin typeface="Cambria Math" panose="02040503050406030204" pitchFamily="18" charset="0"/>
                                <a:ea typeface="Calibri" panose="020F0502020204030204" pitchFamily="34" charset="0"/>
                                <a:cs typeface="Times New Roman" panose="02020603050405020304" pitchFamily="18" charset="0"/>
                              </a:rPr>
                            </m:ctrlPr>
                          </m:dPr>
                          <m:e>
                            <m:r>
                              <a:rPr lang="en-US" sz="2400" b="1" i="1" kern="100" smtClean="0">
                                <a:solidFill>
                                  <a:srgbClr val="0000CC"/>
                                </a:solidFill>
                                <a:latin typeface="Cambria Math" panose="02040503050406030204" pitchFamily="18" charset="0"/>
                                <a:ea typeface="Calibri" panose="020F0502020204030204" pitchFamily="34" charset="0"/>
                                <a:cs typeface="Times New Roman" panose="02020603050405020304" pitchFamily="18" charset="0"/>
                              </a:rPr>
                              <m:t>𝟐𝟎</m:t>
                            </m:r>
                          </m:e>
                        </m:d>
                        <m:d>
                          <m:dPr>
                            <m:ctrlPr>
                              <a:rPr lang="en-GB" sz="2400" b="1" i="1" kern="100" smtClean="0">
                                <a:solidFill>
                                  <a:srgbClr val="0000CC"/>
                                </a:solidFill>
                                <a:latin typeface="Cambria Math" panose="02040503050406030204" pitchFamily="18" charset="0"/>
                                <a:ea typeface="Calibri" panose="020F0502020204030204" pitchFamily="34" charset="0"/>
                                <a:cs typeface="Times New Roman" panose="02020603050405020304" pitchFamily="18" charset="0"/>
                              </a:rPr>
                            </m:ctrlPr>
                          </m:dPr>
                          <m:e>
                            <m:r>
                              <a:rPr lang="en-US" sz="2400" b="1" i="1" kern="100" smtClean="0">
                                <a:solidFill>
                                  <a:srgbClr val="0000CC"/>
                                </a:solidFill>
                                <a:latin typeface="Cambria Math" panose="02040503050406030204" pitchFamily="18" charset="0"/>
                                <a:ea typeface="Calibri" panose="020F0502020204030204" pitchFamily="34" charset="0"/>
                                <a:cs typeface="Times New Roman" panose="02020603050405020304" pitchFamily="18" charset="0"/>
                              </a:rPr>
                              <m:t>𝟐</m:t>
                            </m:r>
                            <m:r>
                              <a:rPr lang="en-US" sz="2400" b="1" i="1" kern="100" smtClean="0">
                                <a:solidFill>
                                  <a:srgbClr val="0000CC"/>
                                </a:solidFill>
                                <a:latin typeface="Cambria Math" panose="02040503050406030204" pitchFamily="18" charset="0"/>
                                <a:ea typeface="Calibri" panose="020F0502020204030204" pitchFamily="34" charset="0"/>
                                <a:cs typeface="Times New Roman" panose="02020603050405020304" pitchFamily="18" charset="0"/>
                              </a:rPr>
                              <m:t>.</m:t>
                            </m:r>
                            <m:r>
                              <a:rPr lang="en-US" sz="2400" b="1" i="1" kern="100" smtClean="0">
                                <a:solidFill>
                                  <a:srgbClr val="0000CC"/>
                                </a:solidFill>
                                <a:latin typeface="Cambria Math" panose="02040503050406030204" pitchFamily="18" charset="0"/>
                                <a:ea typeface="Calibri" panose="020F0502020204030204" pitchFamily="34" charset="0"/>
                                <a:cs typeface="Times New Roman" panose="02020603050405020304" pitchFamily="18" charset="0"/>
                              </a:rPr>
                              <m:t>𝟔𝟓</m:t>
                            </m:r>
                          </m:e>
                        </m:d>
                      </m:num>
                      <m:den>
                        <m:r>
                          <a:rPr lang="en-US" sz="2400" b="1" i="1" kern="100" smtClean="0">
                            <a:solidFill>
                              <a:srgbClr val="0000CC"/>
                            </a:solidFill>
                            <a:latin typeface="Cambria Math" panose="02040503050406030204" pitchFamily="18" charset="0"/>
                            <a:ea typeface="Calibri" panose="020F0502020204030204" pitchFamily="34" charset="0"/>
                            <a:cs typeface="Times New Roman" panose="02020603050405020304" pitchFamily="18" charset="0"/>
                          </a:rPr>
                          <m:t>𝟐</m:t>
                        </m:r>
                      </m:den>
                    </m:f>
                    <m:func>
                      <m:funcPr>
                        <m:ctrlPr>
                          <a:rPr lang="en-GB" sz="2400" b="1" i="1" kern="100" smtClean="0">
                            <a:solidFill>
                              <a:srgbClr val="0000CC"/>
                            </a:solidFill>
                            <a:latin typeface="Cambria Math" panose="02040503050406030204" pitchFamily="18" charset="0"/>
                            <a:ea typeface="Calibri" panose="020F0502020204030204" pitchFamily="34" charset="0"/>
                            <a:cs typeface="Times New Roman" panose="02020603050405020304" pitchFamily="18" charset="0"/>
                          </a:rPr>
                        </m:ctrlPr>
                      </m:funcPr>
                      <m:fName>
                        <m:r>
                          <m:rPr>
                            <m:sty m:val="p"/>
                          </m:rPr>
                          <a:rPr lang="en-GB" sz="2400" b="0" i="0" kern="100" smtClean="0">
                            <a:solidFill>
                              <a:srgbClr val="0000CC"/>
                            </a:solidFill>
                            <a:latin typeface="Cambria Math" panose="02040503050406030204" pitchFamily="18" charset="0"/>
                            <a:ea typeface="Calibri" panose="020F0502020204030204" pitchFamily="34" charset="0"/>
                            <a:cs typeface="Times New Roman" panose="02020603050405020304" pitchFamily="18" charset="0"/>
                          </a:rPr>
                          <m:t>cos</m:t>
                        </m:r>
                      </m:fName>
                      <m:e>
                        <m:d>
                          <m:dPr>
                            <m:ctrlPr>
                              <a:rPr lang="en-GB" sz="2400" b="0" i="1" kern="100" smtClean="0">
                                <a:solidFill>
                                  <a:srgbClr val="0000CC"/>
                                </a:solidFill>
                                <a:latin typeface="Cambria Math" panose="02040503050406030204" pitchFamily="18" charset="0"/>
                                <a:ea typeface="Calibri" panose="020F0502020204030204" pitchFamily="34" charset="0"/>
                                <a:cs typeface="Times New Roman" panose="02020603050405020304" pitchFamily="18" charset="0"/>
                              </a:rPr>
                            </m:ctrlPr>
                          </m:dPr>
                          <m:e>
                            <m:r>
                              <a:rPr lang="en-GB" sz="2400" i="1" kern="100">
                                <a:solidFill>
                                  <a:srgbClr val="0000CC"/>
                                </a:solidFill>
                                <a:latin typeface="Cambria Math" panose="02040503050406030204" pitchFamily="18" charset="0"/>
                                <a:ea typeface="Cambria Math" panose="02040503050406030204" pitchFamily="18" charset="0"/>
                                <a:cs typeface="Times New Roman" panose="02020603050405020304" pitchFamily="18" charset="0"/>
                              </a:rPr>
                              <m:t>−</m:t>
                            </m:r>
                            <m:sSup>
                              <m:sSupPr>
                                <m:ctrlPr>
                                  <a:rPr lang="en-GB" sz="2400" i="1" kern="100" smtClean="0">
                                    <a:solidFill>
                                      <a:srgbClr val="0000CC"/>
                                    </a:solidFill>
                                    <a:latin typeface="Cambria Math" panose="02040503050406030204" pitchFamily="18" charset="0"/>
                                    <a:ea typeface="Cambria Math" panose="02040503050406030204" pitchFamily="18" charset="0"/>
                                    <a:cs typeface="Times New Roman" panose="02020603050405020304" pitchFamily="18" charset="0"/>
                                  </a:rPr>
                                </m:ctrlPr>
                              </m:sSupPr>
                              <m:e>
                                <m:r>
                                  <a:rPr lang="en-US" sz="2400" b="0" i="1" kern="100" smtClean="0">
                                    <a:solidFill>
                                      <a:srgbClr val="0000CC"/>
                                    </a:solidFill>
                                    <a:latin typeface="Cambria Math" panose="02040503050406030204" pitchFamily="18" charset="0"/>
                                    <a:ea typeface="Cambria Math" panose="02040503050406030204" pitchFamily="18" charset="0"/>
                                    <a:cs typeface="Times New Roman" panose="02020603050405020304" pitchFamily="18" charset="0"/>
                                  </a:rPr>
                                  <m:t>25</m:t>
                                </m:r>
                              </m:e>
                              <m:sup>
                                <m:r>
                                  <a:rPr lang="en-GB" sz="2400" i="1" kern="100" smtClean="0">
                                    <a:solidFill>
                                      <a:srgbClr val="0000CC"/>
                                    </a:solidFill>
                                    <a:latin typeface="Cambria Math" panose="02040503050406030204" pitchFamily="18" charset="0"/>
                                    <a:ea typeface="Cambria Math" panose="02040503050406030204" pitchFamily="18" charset="0"/>
                                    <a:cs typeface="Times New Roman" panose="02020603050405020304" pitchFamily="18" charset="0"/>
                                  </a:rPr>
                                  <m:t>°</m:t>
                                </m:r>
                              </m:sup>
                            </m:sSup>
                            <m:r>
                              <a:rPr lang="en-GB" sz="2400" i="1" kern="100" smtClean="0">
                                <a:solidFill>
                                  <a:srgbClr val="0000CC"/>
                                </a:solidFill>
                                <a:latin typeface="Cambria Math" panose="02040503050406030204" pitchFamily="18" charset="0"/>
                                <a:ea typeface="Cambria Math" panose="02040503050406030204" pitchFamily="18" charset="0"/>
                                <a:cs typeface="Times New Roman" panose="02020603050405020304" pitchFamily="18" charset="0"/>
                              </a:rPr>
                              <m:t>+</m:t>
                            </m:r>
                            <m:sSup>
                              <m:sSupPr>
                                <m:ctrlPr>
                                  <a:rPr lang="en-GB" sz="2400" i="1" kern="100" smtClean="0">
                                    <a:solidFill>
                                      <a:srgbClr val="0000CC"/>
                                    </a:solidFill>
                                    <a:latin typeface="Cambria Math" panose="02040503050406030204" pitchFamily="18" charset="0"/>
                                    <a:ea typeface="Cambria Math" panose="02040503050406030204" pitchFamily="18" charset="0"/>
                                    <a:cs typeface="Times New Roman" panose="02020603050405020304" pitchFamily="18" charset="0"/>
                                  </a:rPr>
                                </m:ctrlPr>
                              </m:sSupPr>
                              <m:e>
                                <m:r>
                                  <a:rPr lang="en-US" sz="2400" b="0" i="1" kern="100" smtClean="0">
                                    <a:solidFill>
                                      <a:srgbClr val="0000CC"/>
                                    </a:solidFill>
                                    <a:latin typeface="Cambria Math" panose="02040503050406030204" pitchFamily="18" charset="0"/>
                                    <a:ea typeface="Cambria Math" panose="02040503050406030204" pitchFamily="18" charset="0"/>
                                    <a:cs typeface="Times New Roman" panose="02020603050405020304" pitchFamily="18" charset="0"/>
                                  </a:rPr>
                                  <m:t>73.5</m:t>
                                </m:r>
                              </m:e>
                              <m:sup>
                                <m:r>
                                  <a:rPr lang="en-GB" sz="2400" i="1" kern="100" smtClean="0">
                                    <a:solidFill>
                                      <a:srgbClr val="0000CC"/>
                                    </a:solidFill>
                                    <a:latin typeface="Cambria Math" panose="02040503050406030204" pitchFamily="18" charset="0"/>
                                    <a:ea typeface="Cambria Math" panose="02040503050406030204" pitchFamily="18" charset="0"/>
                                    <a:cs typeface="Times New Roman" panose="02020603050405020304" pitchFamily="18" charset="0"/>
                                  </a:rPr>
                                  <m:t>°</m:t>
                                </m:r>
                              </m:sup>
                            </m:sSup>
                          </m:e>
                        </m:d>
                      </m:e>
                    </m:func>
                  </m:oMath>
                </a14:m>
                <a:r>
                  <a:rPr lang="en-GB" sz="2400" b="1" kern="100" dirty="0">
                    <a:solidFill>
                      <a:srgbClr val="0000CC"/>
                    </a:solidFill>
                    <a:latin typeface="Century Gothic" panose="020B0502020202020204" pitchFamily="34" charset="0"/>
                    <a:ea typeface="Calibri" panose="020F0502020204030204" pitchFamily="34" charset="0"/>
                    <a:cs typeface="Times New Roman" panose="02020603050405020304" pitchFamily="18" charset="0"/>
                  </a:rPr>
                  <a:t> = 17.4W</a:t>
                </a:r>
              </a:p>
              <a:p>
                <a:pPr>
                  <a:buClr>
                    <a:schemeClr val="accent2"/>
                  </a:buClr>
                </a:pPr>
                <a:br>
                  <a:rPr lang="en-GB" sz="2400" b="1" kern="100" dirty="0">
                    <a:solidFill>
                      <a:srgbClr val="0000CC"/>
                    </a:solidFill>
                    <a:latin typeface="Century Gothic" panose="020B0502020202020204" pitchFamily="34" charset="0"/>
                    <a:ea typeface="Calibri" panose="020F0502020204030204" pitchFamily="34" charset="0"/>
                    <a:cs typeface="Times New Roman" panose="02020603050405020304" pitchFamily="18" charset="0"/>
                  </a:rPr>
                </a:br>
                <a:r>
                  <a:rPr lang="en-GB" sz="2400" b="1" kern="100" dirty="0">
                    <a:solidFill>
                      <a:srgbClr val="0000CC"/>
                    </a:solidFill>
                    <a:latin typeface="Century Gothic" panose="020B0502020202020204" pitchFamily="34" charset="0"/>
                    <a:ea typeface="Calibri" panose="020F0502020204030204" pitchFamily="34" charset="0"/>
                    <a:cs typeface="Times New Roman" panose="02020603050405020304" pitchFamily="18" charset="0"/>
                  </a:rPr>
                  <a:t>		</a:t>
                </a:r>
                <a14:m>
                  <m:oMath xmlns:m="http://schemas.openxmlformats.org/officeDocument/2006/math">
                    <m:r>
                      <a:rPr lang="en-GB" sz="2400" b="1" i="1" kern="100" smtClean="0">
                        <a:solidFill>
                          <a:srgbClr val="0000CC"/>
                        </a:solidFill>
                        <a:latin typeface="Cambria Math" panose="02040503050406030204" pitchFamily="18" charset="0"/>
                        <a:ea typeface="Cambria Math" panose="02040503050406030204" pitchFamily="18" charset="0"/>
                        <a:cs typeface="Times New Roman" panose="02020603050405020304" pitchFamily="18" charset="0"/>
                      </a:rPr>
                      <m:t>𝝎</m:t>
                    </m:r>
                  </m:oMath>
                </a14:m>
                <a:r>
                  <a:rPr lang="en-GB" sz="2400" b="1" kern="100" dirty="0">
                    <a:solidFill>
                      <a:srgbClr val="0000CC"/>
                    </a:solidFill>
                    <a:latin typeface="Century Gothic" panose="020B0502020202020204" pitchFamily="34" charset="0"/>
                    <a:ea typeface="Calibri" panose="020F0502020204030204" pitchFamily="34" charset="0"/>
                    <a:cs typeface="Times New Roman" panose="02020603050405020304" pitchFamily="18" charset="0"/>
                  </a:rPr>
                  <a:t> = </a:t>
                </a:r>
                <a14:m>
                  <m:oMath xmlns:m="http://schemas.openxmlformats.org/officeDocument/2006/math">
                    <m:r>
                      <a:rPr lang="en-US" sz="2400" b="1" i="1" kern="100" smtClean="0">
                        <a:solidFill>
                          <a:srgbClr val="0000CC"/>
                        </a:solidFill>
                        <a:latin typeface="Cambria Math" panose="02040503050406030204" pitchFamily="18" charset="0"/>
                        <a:ea typeface="Calibri" panose="020F0502020204030204" pitchFamily="34" charset="0"/>
                        <a:cs typeface="Times New Roman" panose="02020603050405020304" pitchFamily="18" charset="0"/>
                      </a:rPr>
                      <m:t>𝟒</m:t>
                    </m:r>
                    <m:r>
                      <a:rPr lang="en-US" sz="2400" b="1" i="1" kern="100" smtClean="0">
                        <a:solidFill>
                          <a:srgbClr val="0000CC"/>
                        </a:solidFill>
                        <a:latin typeface="Cambria Math" panose="02040503050406030204" pitchFamily="18" charset="0"/>
                        <a:ea typeface="Cambria Math" panose="02040503050406030204" pitchFamily="18" charset="0"/>
                        <a:cs typeface="Times New Roman" panose="02020603050405020304" pitchFamily="18" charset="0"/>
                      </a:rPr>
                      <m:t>𝝅</m:t>
                    </m:r>
                    <m:r>
                      <a:rPr lang="en-US" sz="2400" b="1" i="1" kern="100" smtClean="0">
                        <a:solidFill>
                          <a:srgbClr val="0000CC"/>
                        </a:solidFill>
                        <a:latin typeface="Cambria Math" panose="02040503050406030204" pitchFamily="18" charset="0"/>
                        <a:ea typeface="Cambria Math" panose="02040503050406030204" pitchFamily="18" charset="0"/>
                        <a:cs typeface="Times New Roman" panose="02020603050405020304" pitchFamily="18" charset="0"/>
                      </a:rPr>
                      <m:t>𝟔𝟎</m:t>
                    </m:r>
                  </m:oMath>
                </a14:m>
                <a:r>
                  <a:rPr lang="en-GB" sz="2400" b="1" kern="100" dirty="0">
                    <a:solidFill>
                      <a:srgbClr val="0000CC"/>
                    </a:solidFill>
                    <a:latin typeface="Century Gothic" panose="020B0502020202020204" pitchFamily="34" charset="0"/>
                    <a:ea typeface="Calibri" panose="020F0502020204030204" pitchFamily="34" charset="0"/>
                    <a:cs typeface="Times New Roman" panose="02020603050405020304" pitchFamily="18" charset="0"/>
                  </a:rPr>
                  <a:t> : </a:t>
                </a:r>
                <a14:m>
                  <m:oMath xmlns:m="http://schemas.openxmlformats.org/officeDocument/2006/math">
                    <m:sSub>
                      <m:sSubPr>
                        <m:ctrlPr>
                          <a:rPr lang="en-GB" sz="2400" b="1" i="1" kern="100" smtClean="0">
                            <a:solidFill>
                              <a:srgbClr val="0000CC"/>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2400" b="1" i="1" kern="100" smtClean="0">
                            <a:solidFill>
                              <a:srgbClr val="0000CC"/>
                            </a:solidFill>
                            <a:latin typeface="Cambria Math" panose="02040503050406030204" pitchFamily="18" charset="0"/>
                            <a:ea typeface="Calibri" panose="020F0502020204030204" pitchFamily="34" charset="0"/>
                            <a:cs typeface="Times New Roman" panose="02020603050405020304" pitchFamily="18" charset="0"/>
                          </a:rPr>
                          <m:t>𝑷</m:t>
                        </m:r>
                      </m:e>
                      <m:sub>
                        <m:r>
                          <a:rPr lang="en-US" sz="2400" b="1" i="1" kern="100" smtClean="0">
                            <a:solidFill>
                              <a:srgbClr val="0000CC"/>
                            </a:solidFill>
                            <a:latin typeface="Cambria Math" panose="02040503050406030204" pitchFamily="18" charset="0"/>
                            <a:ea typeface="Calibri" panose="020F0502020204030204" pitchFamily="34" charset="0"/>
                            <a:cs typeface="Times New Roman" panose="02020603050405020304" pitchFamily="18" charset="0"/>
                          </a:rPr>
                          <m:t>𝟐</m:t>
                        </m:r>
                      </m:sub>
                    </m:sSub>
                  </m:oMath>
                </a14:m>
                <a:r>
                  <a:rPr lang="en-GB" sz="2400" b="1" kern="100" dirty="0">
                    <a:solidFill>
                      <a:srgbClr val="0000CC"/>
                    </a:solidFill>
                    <a:latin typeface="Century Gothic" panose="020B0502020202020204" pitchFamily="34" charset="0"/>
                    <a:ea typeface="Calibri" panose="020F0502020204030204" pitchFamily="34" charset="0"/>
                    <a:cs typeface="Times New Roman" panose="02020603050405020304" pitchFamily="18" charset="0"/>
                  </a:rPr>
                  <a:t> = </a:t>
                </a:r>
                <a14:m>
                  <m:oMath xmlns:m="http://schemas.openxmlformats.org/officeDocument/2006/math">
                    <m:f>
                      <m:fPr>
                        <m:ctrlPr>
                          <a:rPr lang="en-GB" sz="2400" b="1" i="1" kern="100" smtClean="0">
                            <a:solidFill>
                              <a:srgbClr val="0000CC"/>
                            </a:solidFill>
                            <a:latin typeface="Cambria Math" panose="02040503050406030204" pitchFamily="18" charset="0"/>
                            <a:ea typeface="Calibri" panose="020F0502020204030204" pitchFamily="34" charset="0"/>
                            <a:cs typeface="Times New Roman" panose="02020603050405020304" pitchFamily="18" charset="0"/>
                          </a:rPr>
                        </m:ctrlPr>
                      </m:fPr>
                      <m:num>
                        <m:d>
                          <m:dPr>
                            <m:ctrlPr>
                              <a:rPr lang="en-GB" sz="2400" b="1" i="1" kern="100" smtClean="0">
                                <a:solidFill>
                                  <a:srgbClr val="0000CC"/>
                                </a:solidFill>
                                <a:latin typeface="Cambria Math" panose="02040503050406030204" pitchFamily="18" charset="0"/>
                                <a:ea typeface="Calibri" panose="020F0502020204030204" pitchFamily="34" charset="0"/>
                                <a:cs typeface="Times New Roman" panose="02020603050405020304" pitchFamily="18" charset="0"/>
                              </a:rPr>
                            </m:ctrlPr>
                          </m:dPr>
                          <m:e>
                            <m:r>
                              <a:rPr lang="en-US" sz="2400" b="1" i="1" kern="100" smtClean="0">
                                <a:solidFill>
                                  <a:srgbClr val="0000CC"/>
                                </a:solidFill>
                                <a:latin typeface="Cambria Math" panose="02040503050406030204" pitchFamily="18" charset="0"/>
                                <a:ea typeface="Calibri" panose="020F0502020204030204" pitchFamily="34" charset="0"/>
                                <a:cs typeface="Times New Roman" panose="02020603050405020304" pitchFamily="18" charset="0"/>
                              </a:rPr>
                              <m:t>𝟑𝟎</m:t>
                            </m:r>
                          </m:e>
                        </m:d>
                        <m:d>
                          <m:dPr>
                            <m:ctrlPr>
                              <a:rPr lang="en-GB" sz="2400" b="1" i="1" kern="100" smtClean="0">
                                <a:solidFill>
                                  <a:srgbClr val="0000CC"/>
                                </a:solidFill>
                                <a:latin typeface="Cambria Math" panose="02040503050406030204" pitchFamily="18" charset="0"/>
                                <a:ea typeface="Calibri" panose="020F0502020204030204" pitchFamily="34" charset="0"/>
                                <a:cs typeface="Times New Roman" panose="02020603050405020304" pitchFamily="18" charset="0"/>
                              </a:rPr>
                            </m:ctrlPr>
                          </m:dPr>
                          <m:e>
                            <m:r>
                              <a:rPr lang="en-US" sz="2400" b="1" i="1" kern="100" smtClean="0">
                                <a:solidFill>
                                  <a:srgbClr val="0000CC"/>
                                </a:solidFill>
                                <a:latin typeface="Cambria Math" panose="02040503050406030204" pitchFamily="18" charset="0"/>
                                <a:ea typeface="Calibri" panose="020F0502020204030204" pitchFamily="34" charset="0"/>
                                <a:cs typeface="Times New Roman" panose="02020603050405020304" pitchFamily="18" charset="0"/>
                              </a:rPr>
                              <m:t>𝟐</m:t>
                            </m:r>
                            <m:r>
                              <a:rPr lang="en-US" sz="2400" b="1" i="1" kern="100" smtClean="0">
                                <a:solidFill>
                                  <a:srgbClr val="0000CC"/>
                                </a:solidFill>
                                <a:latin typeface="Cambria Math" panose="02040503050406030204" pitchFamily="18" charset="0"/>
                                <a:ea typeface="Calibri" panose="020F0502020204030204" pitchFamily="34" charset="0"/>
                                <a:cs typeface="Times New Roman" panose="02020603050405020304" pitchFamily="18" charset="0"/>
                              </a:rPr>
                              <m:t>.</m:t>
                            </m:r>
                            <m:r>
                              <a:rPr lang="en-US" sz="2400" b="1" i="1" kern="100" smtClean="0">
                                <a:solidFill>
                                  <a:srgbClr val="0000CC"/>
                                </a:solidFill>
                                <a:latin typeface="Cambria Math" panose="02040503050406030204" pitchFamily="18" charset="0"/>
                                <a:ea typeface="Calibri" panose="020F0502020204030204" pitchFamily="34" charset="0"/>
                                <a:cs typeface="Times New Roman" panose="02020603050405020304" pitchFamily="18" charset="0"/>
                              </a:rPr>
                              <m:t>𝟒𝟑</m:t>
                            </m:r>
                          </m:e>
                        </m:d>
                      </m:num>
                      <m:den>
                        <m:r>
                          <a:rPr lang="en-US" sz="2400" b="1" i="1" kern="100" smtClean="0">
                            <a:solidFill>
                              <a:srgbClr val="0000CC"/>
                            </a:solidFill>
                            <a:latin typeface="Cambria Math" panose="02040503050406030204" pitchFamily="18" charset="0"/>
                            <a:ea typeface="Calibri" panose="020F0502020204030204" pitchFamily="34" charset="0"/>
                            <a:cs typeface="Times New Roman" panose="02020603050405020304" pitchFamily="18" charset="0"/>
                          </a:rPr>
                          <m:t>𝟐</m:t>
                        </m:r>
                      </m:den>
                    </m:f>
                    <m:func>
                      <m:funcPr>
                        <m:ctrlPr>
                          <a:rPr lang="en-GB" sz="2400" b="1" i="1" kern="100" smtClean="0">
                            <a:solidFill>
                              <a:srgbClr val="0000CC"/>
                            </a:solidFill>
                            <a:latin typeface="Cambria Math" panose="02040503050406030204" pitchFamily="18" charset="0"/>
                            <a:ea typeface="Calibri" panose="020F0502020204030204" pitchFamily="34" charset="0"/>
                            <a:cs typeface="Times New Roman" panose="02020603050405020304" pitchFamily="18" charset="0"/>
                          </a:rPr>
                        </m:ctrlPr>
                      </m:funcPr>
                      <m:fName>
                        <m:r>
                          <m:rPr>
                            <m:sty m:val="p"/>
                          </m:rPr>
                          <a:rPr lang="en-GB" sz="2400" b="0" i="0" kern="100" smtClean="0">
                            <a:solidFill>
                              <a:srgbClr val="0000CC"/>
                            </a:solidFill>
                            <a:latin typeface="Cambria Math" panose="02040503050406030204" pitchFamily="18" charset="0"/>
                            <a:ea typeface="Calibri" panose="020F0502020204030204" pitchFamily="34" charset="0"/>
                            <a:cs typeface="Times New Roman" panose="02020603050405020304" pitchFamily="18" charset="0"/>
                          </a:rPr>
                          <m:t>cos</m:t>
                        </m:r>
                      </m:fName>
                      <m:e>
                        <m:d>
                          <m:dPr>
                            <m:ctrlPr>
                              <a:rPr lang="en-GB" sz="2400" b="0" i="1" kern="100" smtClean="0">
                                <a:solidFill>
                                  <a:srgbClr val="0000CC"/>
                                </a:solidFill>
                                <a:latin typeface="Cambria Math" panose="02040503050406030204" pitchFamily="18" charset="0"/>
                                <a:ea typeface="Calibri" panose="020F0502020204030204" pitchFamily="34" charset="0"/>
                                <a:cs typeface="Times New Roman" panose="02020603050405020304" pitchFamily="18" charset="0"/>
                              </a:rPr>
                            </m:ctrlPr>
                          </m:dPr>
                          <m:e>
                            <m:sSup>
                              <m:sSupPr>
                                <m:ctrlPr>
                                  <a:rPr lang="en-GB" sz="2400" b="0" i="1" kern="100" smtClean="0">
                                    <a:solidFill>
                                      <a:srgbClr val="0000CC"/>
                                    </a:solidFill>
                                    <a:latin typeface="Cambria Math" panose="02040503050406030204" pitchFamily="18" charset="0"/>
                                    <a:ea typeface="Calibri" panose="020F0502020204030204" pitchFamily="34" charset="0"/>
                                    <a:cs typeface="Times New Roman" panose="02020603050405020304" pitchFamily="18" charset="0"/>
                                  </a:rPr>
                                </m:ctrlPr>
                              </m:sSupPr>
                              <m:e>
                                <m:r>
                                  <a:rPr lang="en-US" sz="2400" b="0" i="1" kern="100" smtClean="0">
                                    <a:solidFill>
                                      <a:srgbClr val="0000CC"/>
                                    </a:solidFill>
                                    <a:latin typeface="Cambria Math" panose="02040503050406030204" pitchFamily="18" charset="0"/>
                                    <a:ea typeface="Calibri" panose="020F0502020204030204" pitchFamily="34" charset="0"/>
                                    <a:cs typeface="Times New Roman" panose="02020603050405020304" pitchFamily="18" charset="0"/>
                                  </a:rPr>
                                  <m:t>20</m:t>
                                </m:r>
                              </m:e>
                              <m:sup>
                                <m:r>
                                  <a:rPr lang="en-GB" sz="2400" b="0" i="1" kern="100" smtClean="0">
                                    <a:solidFill>
                                      <a:srgbClr val="0000CC"/>
                                    </a:solidFill>
                                    <a:latin typeface="Cambria Math" panose="02040503050406030204" pitchFamily="18" charset="0"/>
                                    <a:ea typeface="Cambria Math" panose="02040503050406030204" pitchFamily="18" charset="0"/>
                                    <a:cs typeface="Times New Roman" panose="02020603050405020304" pitchFamily="18" charset="0"/>
                                  </a:rPr>
                                  <m:t>°</m:t>
                                </m:r>
                              </m:sup>
                            </m:sSup>
                            <m:r>
                              <a:rPr lang="en-GB" sz="2400" b="0" i="1" kern="100" smtClean="0">
                                <a:solidFill>
                                  <a:srgbClr val="0000CC"/>
                                </a:solidFill>
                                <a:latin typeface="Cambria Math" panose="02040503050406030204" pitchFamily="18" charset="0"/>
                                <a:ea typeface="Cambria Math" panose="02040503050406030204" pitchFamily="18" charset="0"/>
                                <a:cs typeface="Times New Roman" panose="02020603050405020304" pitchFamily="18" charset="0"/>
                              </a:rPr>
                              <m:t>+</m:t>
                            </m:r>
                            <m:sSup>
                              <m:sSupPr>
                                <m:ctrlPr>
                                  <a:rPr lang="en-GB" sz="2400" b="0" i="1" kern="100" smtClean="0">
                                    <a:solidFill>
                                      <a:srgbClr val="0000CC"/>
                                    </a:solidFill>
                                    <a:latin typeface="Cambria Math" panose="02040503050406030204" pitchFamily="18" charset="0"/>
                                    <a:ea typeface="Cambria Math" panose="02040503050406030204" pitchFamily="18" charset="0"/>
                                    <a:cs typeface="Times New Roman" panose="02020603050405020304" pitchFamily="18" charset="0"/>
                                  </a:rPr>
                                </m:ctrlPr>
                              </m:sSupPr>
                              <m:e>
                                <m:r>
                                  <a:rPr lang="en-US" sz="2400" b="0" i="1" kern="100" smtClean="0">
                                    <a:solidFill>
                                      <a:srgbClr val="0000CC"/>
                                    </a:solidFill>
                                    <a:latin typeface="Cambria Math" panose="02040503050406030204" pitchFamily="18" charset="0"/>
                                    <a:ea typeface="Cambria Math" panose="02040503050406030204" pitchFamily="18" charset="0"/>
                                    <a:cs typeface="Times New Roman" panose="02020603050405020304" pitchFamily="18" charset="0"/>
                                  </a:rPr>
                                  <m:t>46</m:t>
                                </m:r>
                              </m:e>
                              <m:sup>
                                <m:r>
                                  <a:rPr lang="en-GB" sz="2400" b="0" i="1" kern="100" smtClean="0">
                                    <a:solidFill>
                                      <a:srgbClr val="0000CC"/>
                                    </a:solidFill>
                                    <a:latin typeface="Cambria Math" panose="02040503050406030204" pitchFamily="18" charset="0"/>
                                    <a:ea typeface="Cambria Math" panose="02040503050406030204" pitchFamily="18" charset="0"/>
                                    <a:cs typeface="Times New Roman" panose="02020603050405020304" pitchFamily="18" charset="0"/>
                                  </a:rPr>
                                  <m:t>°</m:t>
                                </m:r>
                              </m:sup>
                            </m:sSup>
                          </m:e>
                        </m:d>
                      </m:e>
                    </m:func>
                  </m:oMath>
                </a14:m>
                <a:r>
                  <a:rPr lang="en-GB" sz="2400" b="1" kern="100" dirty="0">
                    <a:solidFill>
                      <a:srgbClr val="0000CC"/>
                    </a:solidFill>
                    <a:latin typeface="Century Gothic" panose="020B0502020202020204" pitchFamily="34" charset="0"/>
                    <a:ea typeface="Calibri" panose="020F0502020204030204" pitchFamily="34" charset="0"/>
                    <a:cs typeface="Times New Roman" panose="02020603050405020304" pitchFamily="18" charset="0"/>
                  </a:rPr>
                  <a:t> = 14.8W</a:t>
                </a:r>
                <a:br>
                  <a:rPr lang="en-GB" sz="2400" b="1" kern="100" dirty="0">
                    <a:solidFill>
                      <a:srgbClr val="0000CC"/>
                    </a:solidFill>
                    <a:latin typeface="Century Gothic" panose="020B0502020202020204" pitchFamily="34" charset="0"/>
                    <a:ea typeface="Calibri" panose="020F0502020204030204" pitchFamily="34" charset="0"/>
                    <a:cs typeface="Times New Roman" panose="02020603050405020304" pitchFamily="18" charset="0"/>
                  </a:rPr>
                </a:br>
                <a:br>
                  <a:rPr lang="en-GB" sz="2400" b="1" kern="100" dirty="0">
                    <a:solidFill>
                      <a:srgbClr val="0000CC"/>
                    </a:solidFill>
                    <a:latin typeface="Century Gothic" panose="020B0502020202020204" pitchFamily="34" charset="0"/>
                    <a:ea typeface="Calibri" panose="020F0502020204030204" pitchFamily="34" charset="0"/>
                    <a:cs typeface="Times New Roman" panose="02020603050405020304" pitchFamily="18" charset="0"/>
                  </a:rPr>
                </a:br>
                <a:endParaRPr lang="en-GB" sz="2400" b="1" kern="100" dirty="0">
                  <a:solidFill>
                    <a:srgbClr val="0000CC"/>
                  </a:solidFill>
                  <a:latin typeface="Century Gothic" panose="020B0502020202020204" pitchFamily="34" charset="0"/>
                  <a:ea typeface="Calibri" panose="020F0502020204030204" pitchFamily="34" charset="0"/>
                  <a:cs typeface="Times New Roman" panose="02020603050405020304" pitchFamily="18" charset="0"/>
                </a:endParaRPr>
              </a:p>
              <a:p>
                <a:pPr>
                  <a:buClr>
                    <a:schemeClr val="accent2"/>
                  </a:buClr>
                </a:pPr>
                <a:endParaRPr lang="en-GB" sz="2400" b="1" kern="100" dirty="0">
                  <a:solidFill>
                    <a:srgbClr val="0000CC"/>
                  </a:solidFill>
                  <a:latin typeface="Century Gothic" panose="020B0502020202020204" pitchFamily="34" charset="0"/>
                  <a:ea typeface="Calibri" panose="020F0502020204030204" pitchFamily="34" charset="0"/>
                  <a:cs typeface="Times New Roman" panose="02020603050405020304" pitchFamily="18" charset="0"/>
                </a:endParaRPr>
              </a:p>
            </p:txBody>
          </p:sp>
        </mc:Choice>
        <mc:Fallback xmlns="">
          <p:sp>
            <p:nvSpPr>
              <p:cNvPr id="6" name="TextBox 5">
                <a:extLst>
                  <a:ext uri="{FF2B5EF4-FFF2-40B4-BE49-F238E27FC236}">
                    <a16:creationId xmlns:a16="http://schemas.microsoft.com/office/drawing/2014/main" id="{6BAA1F11-5BEF-4D80-964F-A7332E36BFA0}"/>
                  </a:ext>
                </a:extLst>
              </p:cNvPr>
              <p:cNvSpPr txBox="1">
                <a:spLocks noRot="1" noChangeAspect="1" noMove="1" noResize="1" noEditPoints="1" noAdjustHandles="1" noChangeArrowheads="1" noChangeShapeType="1" noTextEdit="1"/>
              </p:cNvSpPr>
              <p:nvPr/>
            </p:nvSpPr>
            <p:spPr>
              <a:xfrm>
                <a:off x="193040" y="1229360"/>
                <a:ext cx="11887199" cy="5935920"/>
              </a:xfrm>
              <a:prstGeom prst="rect">
                <a:avLst/>
              </a:prstGeom>
              <a:blipFill>
                <a:blip r:embed="rId3"/>
                <a:stretch>
                  <a:fillRect l="-768"/>
                </a:stretch>
              </a:blipFill>
              <a:ln>
                <a:solidFill>
                  <a:srgbClr val="FF0066"/>
                </a:solidFill>
              </a:ln>
            </p:spPr>
            <p:txBody>
              <a:bodyPr/>
              <a:lstStyle/>
              <a:p>
                <a:r>
                  <a:rPr lang="en-US">
                    <a:noFill/>
                  </a:rPr>
                  <a:t> </a:t>
                </a:r>
              </a:p>
            </p:txBody>
          </p:sp>
        </mc:Fallback>
      </mc:AlternateContent>
      <p:sp>
        <p:nvSpPr>
          <p:cNvPr id="7" name="TextBox 6">
            <a:extLst>
              <a:ext uri="{FF2B5EF4-FFF2-40B4-BE49-F238E27FC236}">
                <a16:creationId xmlns:a16="http://schemas.microsoft.com/office/drawing/2014/main" id="{C36AA635-C21F-49F3-BF21-4CBE4C20709B}"/>
              </a:ext>
            </a:extLst>
          </p:cNvPr>
          <p:cNvSpPr txBox="1"/>
          <p:nvPr/>
        </p:nvSpPr>
        <p:spPr>
          <a:xfrm>
            <a:off x="5269122" y="6037275"/>
            <a:ext cx="823314" cy="373051"/>
          </a:xfrm>
          <a:prstGeom prst="rect">
            <a:avLst/>
          </a:prstGeom>
          <a:noFill/>
        </p:spPr>
        <p:txBody>
          <a:bodyPr wrap="square" rtlCol="0">
            <a:spAutoFit/>
          </a:bodyPr>
          <a:lstStyle/>
          <a:p>
            <a:pPr algn="ctr"/>
            <a:endParaRPr lang="en-GB" sz="1824" dirty="0">
              <a:latin typeface="Garamond" panose="02020404030301010803" pitchFamily="18" charset="0"/>
            </a:endParaRPr>
          </a:p>
        </p:txBody>
      </p:sp>
    </p:spTree>
    <p:extLst>
      <p:ext uri="{BB962C8B-B14F-4D97-AF65-F5344CB8AC3E}">
        <p14:creationId xmlns:p14="http://schemas.microsoft.com/office/powerpoint/2010/main" val="205097209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6">
            <a:extLst>
              <a:ext uri="{FF2B5EF4-FFF2-40B4-BE49-F238E27FC236}">
                <a16:creationId xmlns:a16="http://schemas.microsoft.com/office/drawing/2014/main" id="{56080804-F19F-41A7-8595-943961648C5E}"/>
              </a:ext>
            </a:extLst>
          </p:cNvPr>
          <p:cNvSpPr>
            <a:spLocks noGrp="1"/>
          </p:cNvSpPr>
          <p:nvPr>
            <p:ph type="sldNum" sz="quarter" idx="12"/>
          </p:nvPr>
        </p:nvSpPr>
        <p:spPr>
          <a:xfrm>
            <a:off x="8610600" y="6441692"/>
            <a:ext cx="2743200" cy="370027"/>
          </a:xfrm>
        </p:spPr>
        <p:txBody>
          <a:bodyPr/>
          <a:lstStyle/>
          <a:p>
            <a:fld id="{F4801FD5-11B4-DE43-ACA2-E85EEB9A6F9C}" type="slidenum">
              <a:rPr lang="en-US" smtClean="0">
                <a:latin typeface="Garamond" panose="02020404030301010803" pitchFamily="18" charset="0"/>
              </a:rPr>
              <a:t>34</a:t>
            </a:fld>
            <a:endParaRPr lang="en-US">
              <a:latin typeface="Garamond" panose="02020404030301010803" pitchFamily="18" charset="0"/>
            </a:endParaRPr>
          </a:p>
        </p:txBody>
      </p:sp>
      <p:sp>
        <p:nvSpPr>
          <p:cNvPr id="5" name="Title 1">
            <a:extLst>
              <a:ext uri="{FF2B5EF4-FFF2-40B4-BE49-F238E27FC236}">
                <a16:creationId xmlns:a16="http://schemas.microsoft.com/office/drawing/2014/main" id="{4710AE4B-0DB8-4451-B9E4-10BAE11B4D3A}"/>
              </a:ext>
            </a:extLst>
          </p:cNvPr>
          <p:cNvSpPr>
            <a:spLocks noGrp="1"/>
          </p:cNvSpPr>
          <p:nvPr>
            <p:ph type="title"/>
          </p:nvPr>
        </p:nvSpPr>
        <p:spPr>
          <a:xfrm>
            <a:off x="497840" y="113802"/>
            <a:ext cx="10972800" cy="1115558"/>
          </a:xfrm>
        </p:spPr>
        <p:txBody>
          <a:bodyPr>
            <a:noAutofit/>
          </a:bodyPr>
          <a:lstStyle/>
          <a:p>
            <a:pPr algn="ctr"/>
            <a:r>
              <a:rPr lang="en-US" sz="3200" b="1" u="sng" dirty="0">
                <a:solidFill>
                  <a:srgbClr val="FF3386"/>
                </a:solidFill>
                <a:latin typeface="Century Gothic" panose="020B0502020202020204" pitchFamily="34" charset="0"/>
                <a:cs typeface="Helvetica"/>
              </a:rPr>
              <a:t>POWER COMPUTATION FOR NONSINUSOIDAL SOURCE AND LINEAR LOAD</a:t>
            </a:r>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6BAA1F11-5BEF-4D80-964F-A7332E36BFA0}"/>
                  </a:ext>
                </a:extLst>
              </p:cNvPr>
              <p:cNvSpPr txBox="1"/>
              <p:nvPr/>
            </p:nvSpPr>
            <p:spPr>
              <a:xfrm>
                <a:off x="193040" y="1229360"/>
                <a:ext cx="11887199" cy="3877215"/>
              </a:xfrm>
              <a:prstGeom prst="rect">
                <a:avLst/>
              </a:prstGeom>
              <a:noFill/>
              <a:ln>
                <a:solidFill>
                  <a:srgbClr val="FF0066"/>
                </a:solidFill>
              </a:ln>
            </p:spPr>
            <p:txBody>
              <a:bodyPr wrap="square" rtlCol="0">
                <a:spAutoFit/>
              </a:bodyPr>
              <a:lstStyle/>
              <a:p>
                <a:pPr marL="342900" indent="-342900">
                  <a:buClr>
                    <a:schemeClr val="accent2"/>
                  </a:buClr>
                  <a:buFont typeface="Arial" panose="020B0604020202020204" pitchFamily="34" charset="0"/>
                  <a:buChar char="•"/>
                </a:pPr>
                <a:r>
                  <a:rPr lang="en-GB" sz="2400" b="1" kern="100" dirty="0">
                    <a:solidFill>
                      <a:srgbClr val="0000CC"/>
                    </a:solidFill>
                    <a:latin typeface="Century Gothic" panose="020B0502020202020204" pitchFamily="34" charset="0"/>
                    <a:ea typeface="Calibri" panose="020F0502020204030204" pitchFamily="34" charset="0"/>
                    <a:cs typeface="Times New Roman" panose="02020603050405020304" pitchFamily="18" charset="0"/>
                  </a:rPr>
                  <a:t>Total Power is then</a:t>
                </a:r>
                <a:br>
                  <a:rPr lang="en-GB" sz="2400" b="1" kern="100" dirty="0">
                    <a:solidFill>
                      <a:srgbClr val="0000CC"/>
                    </a:solidFill>
                    <a:latin typeface="Century Gothic" panose="020B0502020202020204" pitchFamily="34" charset="0"/>
                    <a:ea typeface="Calibri" panose="020F0502020204030204" pitchFamily="34" charset="0"/>
                    <a:cs typeface="Times New Roman" panose="02020603050405020304" pitchFamily="18" charset="0"/>
                  </a:rPr>
                </a:br>
                <a:r>
                  <a:rPr lang="en-GB" sz="2400" b="1" kern="100" dirty="0">
                    <a:solidFill>
                      <a:srgbClr val="0000CC"/>
                    </a:solidFill>
                    <a:latin typeface="Century Gothic" panose="020B0502020202020204" pitchFamily="34" charset="0"/>
                    <a:ea typeface="Calibri" panose="020F0502020204030204" pitchFamily="34" charset="0"/>
                    <a:cs typeface="Times New Roman" panose="02020603050405020304" pitchFamily="18" charset="0"/>
                  </a:rPr>
                  <a:t>  						P = 20</a:t>
                </a:r>
                <a14:m>
                  <m:oMath xmlns:m="http://schemas.openxmlformats.org/officeDocument/2006/math">
                    <m:r>
                      <a:rPr lang="en-GB" sz="2400" b="1" i="1" kern="100" smtClean="0">
                        <a:solidFill>
                          <a:srgbClr val="0000CC"/>
                        </a:solidFill>
                        <a:latin typeface="Cambria Math" panose="02040503050406030204" pitchFamily="18" charset="0"/>
                        <a:ea typeface="Cambria Math" panose="02040503050406030204" pitchFamily="18" charset="0"/>
                        <a:cs typeface="Times New Roman" panose="02020603050405020304" pitchFamily="18" charset="0"/>
                      </a:rPr>
                      <m:t>+</m:t>
                    </m:r>
                    <m:r>
                      <a:rPr lang="en-US" sz="2400" b="1" i="1" kern="100" smtClean="0">
                        <a:solidFill>
                          <a:srgbClr val="0000CC"/>
                        </a:solidFill>
                        <a:latin typeface="Cambria Math" panose="02040503050406030204" pitchFamily="18" charset="0"/>
                        <a:ea typeface="Cambria Math" panose="02040503050406030204" pitchFamily="18" charset="0"/>
                        <a:cs typeface="Times New Roman" panose="02020603050405020304" pitchFamily="18" charset="0"/>
                      </a:rPr>
                      <m:t>𝟏𝟕</m:t>
                    </m:r>
                    <m:r>
                      <a:rPr lang="en-US" sz="2400" b="1" i="1" kern="100" smtClean="0">
                        <a:solidFill>
                          <a:srgbClr val="0000CC"/>
                        </a:solidFill>
                        <a:latin typeface="Cambria Math" panose="02040503050406030204" pitchFamily="18" charset="0"/>
                        <a:ea typeface="Cambria Math" panose="02040503050406030204" pitchFamily="18" charset="0"/>
                        <a:cs typeface="Times New Roman" panose="02020603050405020304" pitchFamily="18" charset="0"/>
                      </a:rPr>
                      <m:t>.</m:t>
                    </m:r>
                    <m:r>
                      <a:rPr lang="en-US" sz="2400" b="1" i="1" kern="100" smtClean="0">
                        <a:solidFill>
                          <a:srgbClr val="0000CC"/>
                        </a:solidFill>
                        <a:latin typeface="Cambria Math" panose="02040503050406030204" pitchFamily="18" charset="0"/>
                        <a:ea typeface="Cambria Math" panose="02040503050406030204" pitchFamily="18" charset="0"/>
                        <a:cs typeface="Times New Roman" panose="02020603050405020304" pitchFamily="18" charset="0"/>
                      </a:rPr>
                      <m:t>𝟒</m:t>
                    </m:r>
                    <m:r>
                      <a:rPr lang="en-US" sz="2400" b="1" i="1" kern="100" smtClean="0">
                        <a:solidFill>
                          <a:srgbClr val="0000CC"/>
                        </a:solidFill>
                        <a:latin typeface="Cambria Math" panose="02040503050406030204" pitchFamily="18" charset="0"/>
                        <a:ea typeface="Cambria Math" panose="02040503050406030204" pitchFamily="18" charset="0"/>
                        <a:cs typeface="Times New Roman" panose="02020603050405020304" pitchFamily="18" charset="0"/>
                      </a:rPr>
                      <m:t>+</m:t>
                    </m:r>
                    <m:r>
                      <a:rPr lang="en-US" sz="2400" b="1" i="1" kern="100" smtClean="0">
                        <a:solidFill>
                          <a:srgbClr val="0000CC"/>
                        </a:solidFill>
                        <a:latin typeface="Cambria Math" panose="02040503050406030204" pitchFamily="18" charset="0"/>
                        <a:ea typeface="Cambria Math" panose="02040503050406030204" pitchFamily="18" charset="0"/>
                        <a:cs typeface="Times New Roman" panose="02020603050405020304" pitchFamily="18" charset="0"/>
                      </a:rPr>
                      <m:t>𝟏𝟒</m:t>
                    </m:r>
                    <m:r>
                      <a:rPr lang="en-US" sz="2400" b="1" i="1" kern="100" smtClean="0">
                        <a:solidFill>
                          <a:srgbClr val="0000CC"/>
                        </a:solidFill>
                        <a:latin typeface="Cambria Math" panose="02040503050406030204" pitchFamily="18" charset="0"/>
                        <a:ea typeface="Cambria Math" panose="02040503050406030204" pitchFamily="18" charset="0"/>
                        <a:cs typeface="Times New Roman" panose="02020603050405020304" pitchFamily="18" charset="0"/>
                      </a:rPr>
                      <m:t>.</m:t>
                    </m:r>
                    <m:r>
                      <a:rPr lang="en-US" sz="2400" b="1" i="1" kern="100" smtClean="0">
                        <a:solidFill>
                          <a:srgbClr val="0000CC"/>
                        </a:solidFill>
                        <a:latin typeface="Cambria Math" panose="02040503050406030204" pitchFamily="18" charset="0"/>
                        <a:ea typeface="Cambria Math" panose="02040503050406030204" pitchFamily="18" charset="0"/>
                        <a:cs typeface="Times New Roman" panose="02020603050405020304" pitchFamily="18" charset="0"/>
                      </a:rPr>
                      <m:t>𝟖</m:t>
                    </m:r>
                    <m:r>
                      <a:rPr lang="en-US" sz="2400" b="1" i="1" kern="100" smtClean="0">
                        <a:solidFill>
                          <a:srgbClr val="0000CC"/>
                        </a:solidFill>
                        <a:latin typeface="Cambria Math" panose="02040503050406030204" pitchFamily="18" charset="0"/>
                        <a:ea typeface="Cambria Math" panose="02040503050406030204" pitchFamily="18" charset="0"/>
                        <a:cs typeface="Times New Roman" panose="02020603050405020304" pitchFamily="18" charset="0"/>
                      </a:rPr>
                      <m:t>=</m:t>
                    </m:r>
                    <m:r>
                      <a:rPr lang="en-US" sz="2400" b="1" i="1" kern="100" smtClean="0">
                        <a:solidFill>
                          <a:srgbClr val="0000CC"/>
                        </a:solidFill>
                        <a:latin typeface="Cambria Math" panose="02040503050406030204" pitchFamily="18" charset="0"/>
                        <a:ea typeface="Cambria Math" panose="02040503050406030204" pitchFamily="18" charset="0"/>
                        <a:cs typeface="Times New Roman" panose="02020603050405020304" pitchFamily="18" charset="0"/>
                      </a:rPr>
                      <m:t>𝟓𝟐</m:t>
                    </m:r>
                    <m:r>
                      <a:rPr lang="en-US" sz="2400" b="1" i="1" kern="100" smtClean="0">
                        <a:solidFill>
                          <a:srgbClr val="0000CC"/>
                        </a:solidFill>
                        <a:latin typeface="Cambria Math" panose="02040503050406030204" pitchFamily="18" charset="0"/>
                        <a:ea typeface="Cambria Math" panose="02040503050406030204" pitchFamily="18" charset="0"/>
                        <a:cs typeface="Times New Roman" panose="02020603050405020304" pitchFamily="18" charset="0"/>
                      </a:rPr>
                      <m:t>.</m:t>
                    </m:r>
                    <m:r>
                      <a:rPr lang="en-US" sz="2400" b="1" i="1" kern="100" smtClean="0">
                        <a:solidFill>
                          <a:srgbClr val="0000CC"/>
                        </a:solidFill>
                        <a:latin typeface="Cambria Math" panose="02040503050406030204" pitchFamily="18" charset="0"/>
                        <a:ea typeface="Cambria Math" panose="02040503050406030204" pitchFamily="18" charset="0"/>
                        <a:cs typeface="Times New Roman" panose="02020603050405020304" pitchFamily="18" charset="0"/>
                      </a:rPr>
                      <m:t>𝟐</m:t>
                    </m:r>
                    <m:r>
                      <a:rPr lang="en-US" sz="2400" b="1" i="1" kern="100" smtClean="0">
                        <a:solidFill>
                          <a:srgbClr val="0000CC"/>
                        </a:solidFill>
                        <a:latin typeface="Cambria Math" panose="02040503050406030204" pitchFamily="18" charset="0"/>
                        <a:ea typeface="Cambria Math" panose="02040503050406030204" pitchFamily="18" charset="0"/>
                        <a:cs typeface="Times New Roman" panose="02020603050405020304" pitchFamily="18" charset="0"/>
                      </a:rPr>
                      <m:t>𝑾</m:t>
                    </m:r>
                  </m:oMath>
                </a14:m>
                <a:br>
                  <a:rPr lang="en-US" sz="2400" b="1" kern="100" dirty="0">
                    <a:solidFill>
                      <a:srgbClr val="0000CC"/>
                    </a:solidFill>
                    <a:latin typeface="Century Gothic" panose="020B0502020202020204" pitchFamily="34" charset="0"/>
                    <a:ea typeface="Calibri" panose="020F0502020204030204" pitchFamily="34" charset="0"/>
                    <a:cs typeface="Times New Roman" panose="02020603050405020304" pitchFamily="18" charset="0"/>
                  </a:rPr>
                </a:br>
                <a:endParaRPr lang="en-GB" sz="2400" b="1" kern="100" dirty="0">
                  <a:solidFill>
                    <a:srgbClr val="0000CC"/>
                  </a:solidFill>
                  <a:latin typeface="Century Gothic" panose="020B0502020202020204" pitchFamily="34" charset="0"/>
                  <a:ea typeface="Calibri" panose="020F0502020204030204" pitchFamily="34" charset="0"/>
                  <a:cs typeface="Times New Roman" panose="02020603050405020304" pitchFamily="18" charset="0"/>
                </a:endParaRPr>
              </a:p>
              <a:p>
                <a:pPr marL="342900" indent="-342900">
                  <a:buClr>
                    <a:schemeClr val="accent2"/>
                  </a:buClr>
                  <a:buFont typeface="Arial" panose="020B0604020202020204" pitchFamily="34" charset="0"/>
                  <a:buChar char="•"/>
                </a:pPr>
                <a:r>
                  <a:rPr lang="en-GB" sz="2400" b="1" kern="100" dirty="0">
                    <a:solidFill>
                      <a:srgbClr val="0000CC"/>
                    </a:solidFill>
                    <a:latin typeface="Century Gothic" panose="020B0502020202020204" pitchFamily="34" charset="0"/>
                    <a:ea typeface="Calibri" panose="020F0502020204030204" pitchFamily="34" charset="0"/>
                    <a:cs typeface="Times New Roman" panose="02020603050405020304" pitchFamily="18" charset="0"/>
                  </a:rPr>
                  <a:t>Power absorbed by the load can also be computed from </a:t>
                </a:r>
                <a14:m>
                  <m:oMath xmlns:m="http://schemas.openxmlformats.org/officeDocument/2006/math">
                    <m:sSubSup>
                      <m:sSubSupPr>
                        <m:ctrlPr>
                          <a:rPr lang="en-GB" sz="2400" b="1" i="1" kern="100" smtClean="0">
                            <a:solidFill>
                              <a:srgbClr val="0000CC"/>
                            </a:solidFill>
                            <a:latin typeface="Cambria Math" panose="02040503050406030204" pitchFamily="18" charset="0"/>
                            <a:ea typeface="Calibri" panose="020F0502020204030204" pitchFamily="34" charset="0"/>
                            <a:cs typeface="Times New Roman" panose="02020603050405020304" pitchFamily="18" charset="0"/>
                          </a:rPr>
                        </m:ctrlPr>
                      </m:sSubSupPr>
                      <m:e>
                        <m:r>
                          <a:rPr lang="en-US" sz="2400" b="1" i="1" kern="100" smtClean="0">
                            <a:solidFill>
                              <a:srgbClr val="0000CC"/>
                            </a:solidFill>
                            <a:latin typeface="Cambria Math" panose="02040503050406030204" pitchFamily="18" charset="0"/>
                            <a:ea typeface="Calibri" panose="020F0502020204030204" pitchFamily="34" charset="0"/>
                            <a:cs typeface="Times New Roman" panose="02020603050405020304" pitchFamily="18" charset="0"/>
                          </a:rPr>
                          <m:t>𝑰</m:t>
                        </m:r>
                      </m:e>
                      <m:sub>
                        <m:r>
                          <a:rPr lang="en-US" sz="2400" b="1" i="1" kern="100" smtClean="0">
                            <a:solidFill>
                              <a:srgbClr val="0000CC"/>
                            </a:solidFill>
                            <a:latin typeface="Cambria Math" panose="02040503050406030204" pitchFamily="18" charset="0"/>
                            <a:ea typeface="Calibri" panose="020F0502020204030204" pitchFamily="34" charset="0"/>
                            <a:cs typeface="Times New Roman" panose="02020603050405020304" pitchFamily="18" charset="0"/>
                          </a:rPr>
                          <m:t>𝒓𝒎𝒔</m:t>
                        </m:r>
                      </m:sub>
                      <m:sup>
                        <m:r>
                          <a:rPr lang="en-US" sz="2400" b="1" i="1" kern="100" smtClean="0">
                            <a:solidFill>
                              <a:srgbClr val="0000CC"/>
                            </a:solidFill>
                            <a:latin typeface="Cambria Math" panose="02040503050406030204" pitchFamily="18" charset="0"/>
                            <a:ea typeface="Calibri" panose="020F0502020204030204" pitchFamily="34" charset="0"/>
                            <a:cs typeface="Times New Roman" panose="02020603050405020304" pitchFamily="18" charset="0"/>
                          </a:rPr>
                          <m:t>𝟐</m:t>
                        </m:r>
                      </m:sup>
                    </m:sSubSup>
                  </m:oMath>
                </a14:m>
                <a:r>
                  <a:rPr lang="en-GB" sz="2400" b="1" kern="100" dirty="0">
                    <a:solidFill>
                      <a:srgbClr val="0000CC"/>
                    </a:solidFill>
                    <a:latin typeface="Century Gothic" panose="020B0502020202020204" pitchFamily="34" charset="0"/>
                    <a:ea typeface="Calibri" panose="020F0502020204030204" pitchFamily="34" charset="0"/>
                    <a:cs typeface="Times New Roman" panose="02020603050405020304" pitchFamily="18" charset="0"/>
                  </a:rPr>
                  <a:t> </a:t>
                </a:r>
              </a:p>
              <a:p>
                <a:pPr>
                  <a:buClr>
                    <a:schemeClr val="accent2"/>
                  </a:buClr>
                </a:pPr>
                <a:r>
                  <a:rPr lang="en-GB" sz="2400" b="1" kern="100" dirty="0">
                    <a:solidFill>
                      <a:srgbClr val="0000CC"/>
                    </a:solidFill>
                    <a:latin typeface="Century Gothic" panose="020B0502020202020204" pitchFamily="34" charset="0"/>
                    <a:ea typeface="Calibri" panose="020F0502020204030204" pitchFamily="34" charset="0"/>
                    <a:cs typeface="Times New Roman" panose="02020603050405020304" pitchFamily="18" charset="0"/>
                  </a:rPr>
                  <a:t> </a:t>
                </a:r>
              </a:p>
              <a:p>
                <a:pPr>
                  <a:buClr>
                    <a:schemeClr val="accent2"/>
                  </a:buClr>
                </a:pPr>
                <a:r>
                  <a:rPr lang="en-GB" sz="2400" b="1" kern="100" dirty="0">
                    <a:solidFill>
                      <a:srgbClr val="0000CC"/>
                    </a:solidFill>
                    <a:latin typeface="Century Gothic" panose="020B0502020202020204" pitchFamily="34" charset="0"/>
                    <a:ea typeface="Calibri" panose="020F0502020204030204" pitchFamily="34" charset="0"/>
                    <a:cs typeface="Times New Roman" panose="02020603050405020304" pitchFamily="18" charset="0"/>
                  </a:rPr>
                  <a:t>         P = </a:t>
                </a:r>
                <a14:m>
                  <m:oMath xmlns:m="http://schemas.openxmlformats.org/officeDocument/2006/math">
                    <m:sSubSup>
                      <m:sSubSupPr>
                        <m:ctrlPr>
                          <a:rPr lang="en-GB" sz="2400" b="1" i="1" kern="100" smtClean="0">
                            <a:solidFill>
                              <a:srgbClr val="0000CC"/>
                            </a:solidFill>
                            <a:latin typeface="Cambria Math" panose="02040503050406030204" pitchFamily="18" charset="0"/>
                            <a:ea typeface="Calibri" panose="020F0502020204030204" pitchFamily="34" charset="0"/>
                            <a:cs typeface="Times New Roman" panose="02020603050405020304" pitchFamily="18" charset="0"/>
                          </a:rPr>
                        </m:ctrlPr>
                      </m:sSubSupPr>
                      <m:e>
                        <m:r>
                          <a:rPr lang="en-US" sz="2400" b="1" i="1" kern="100" smtClean="0">
                            <a:solidFill>
                              <a:srgbClr val="0000CC"/>
                            </a:solidFill>
                            <a:latin typeface="Cambria Math" panose="02040503050406030204" pitchFamily="18" charset="0"/>
                            <a:ea typeface="Calibri" panose="020F0502020204030204" pitchFamily="34" charset="0"/>
                            <a:cs typeface="Times New Roman" panose="02020603050405020304" pitchFamily="18" charset="0"/>
                          </a:rPr>
                          <m:t>𝑰</m:t>
                        </m:r>
                      </m:e>
                      <m:sub>
                        <m:r>
                          <a:rPr lang="en-US" sz="2400" b="1" i="1" kern="100" smtClean="0">
                            <a:solidFill>
                              <a:srgbClr val="0000CC"/>
                            </a:solidFill>
                            <a:latin typeface="Cambria Math" panose="02040503050406030204" pitchFamily="18" charset="0"/>
                            <a:ea typeface="Calibri" panose="020F0502020204030204" pitchFamily="34" charset="0"/>
                            <a:cs typeface="Times New Roman" panose="02020603050405020304" pitchFamily="18" charset="0"/>
                          </a:rPr>
                          <m:t>𝒓𝒎𝒔</m:t>
                        </m:r>
                      </m:sub>
                      <m:sup>
                        <m:r>
                          <a:rPr lang="en-US" sz="2400" b="1" i="1" kern="100" smtClean="0">
                            <a:solidFill>
                              <a:srgbClr val="0000CC"/>
                            </a:solidFill>
                            <a:latin typeface="Cambria Math" panose="02040503050406030204" pitchFamily="18" charset="0"/>
                            <a:ea typeface="Calibri" panose="020F0502020204030204" pitchFamily="34" charset="0"/>
                            <a:cs typeface="Times New Roman" panose="02020603050405020304" pitchFamily="18" charset="0"/>
                          </a:rPr>
                          <m:t>𝟐</m:t>
                        </m:r>
                      </m:sup>
                    </m:sSubSup>
                    <m:r>
                      <a:rPr lang="en-US" sz="2400" b="1" i="0" kern="100" smtClean="0">
                        <a:solidFill>
                          <a:srgbClr val="0000CC"/>
                        </a:solidFill>
                        <a:latin typeface="Cambria Math" panose="02040503050406030204" pitchFamily="18" charset="0"/>
                        <a:ea typeface="Calibri" panose="020F0502020204030204" pitchFamily="34" charset="0"/>
                        <a:cs typeface="Times New Roman" panose="02020603050405020304" pitchFamily="18" charset="0"/>
                      </a:rPr>
                      <m:t>𝐑</m:t>
                    </m:r>
                  </m:oMath>
                </a14:m>
                <a:r>
                  <a:rPr lang="en-GB" sz="2400" b="1" kern="100" dirty="0">
                    <a:solidFill>
                      <a:srgbClr val="0000CC"/>
                    </a:solidFill>
                    <a:latin typeface="Century Gothic" panose="020B0502020202020204" pitchFamily="34" charset="0"/>
                    <a:ea typeface="Calibri" panose="020F0502020204030204" pitchFamily="34" charset="0"/>
                    <a:cs typeface="Times New Roman" panose="02020603050405020304" pitchFamily="18" charset="0"/>
                  </a:rPr>
                  <a:t> = </a:t>
                </a:r>
                <a14:m>
                  <m:oMath xmlns:m="http://schemas.openxmlformats.org/officeDocument/2006/math">
                    <m:d>
                      <m:dPr>
                        <m:begChr m:val="["/>
                        <m:endChr m:val="]"/>
                        <m:ctrlPr>
                          <a:rPr lang="en-GB" sz="2400" b="1" i="1" kern="100" smtClean="0">
                            <a:solidFill>
                              <a:srgbClr val="0000CC"/>
                            </a:solidFill>
                            <a:latin typeface="Cambria Math" panose="02040503050406030204" pitchFamily="18" charset="0"/>
                            <a:ea typeface="Calibri" panose="020F0502020204030204" pitchFamily="34" charset="0"/>
                            <a:cs typeface="Times New Roman" panose="02020603050405020304" pitchFamily="18" charset="0"/>
                          </a:rPr>
                        </m:ctrlPr>
                      </m:dPr>
                      <m:e>
                        <m:sSup>
                          <m:sSupPr>
                            <m:ctrlPr>
                              <a:rPr lang="en-GB" sz="2400" b="1" i="1" kern="100" smtClean="0">
                                <a:solidFill>
                                  <a:srgbClr val="0000CC"/>
                                </a:solidFill>
                                <a:latin typeface="Cambria Math" panose="02040503050406030204" pitchFamily="18" charset="0"/>
                                <a:ea typeface="Calibri" panose="020F0502020204030204" pitchFamily="34" charset="0"/>
                                <a:cs typeface="Times New Roman" panose="02020603050405020304" pitchFamily="18" charset="0"/>
                              </a:rPr>
                            </m:ctrlPr>
                          </m:sSupPr>
                          <m:e>
                            <m:r>
                              <a:rPr lang="en-US" sz="2400" b="1" i="1" kern="100" smtClean="0">
                                <a:solidFill>
                                  <a:srgbClr val="0000CC"/>
                                </a:solidFill>
                                <a:latin typeface="Cambria Math" panose="02040503050406030204" pitchFamily="18" charset="0"/>
                                <a:ea typeface="Calibri" panose="020F0502020204030204" pitchFamily="34" charset="0"/>
                                <a:cs typeface="Times New Roman" panose="02020603050405020304" pitchFamily="18" charset="0"/>
                              </a:rPr>
                              <m:t>𝟐</m:t>
                            </m:r>
                          </m:e>
                          <m:sup>
                            <m:r>
                              <a:rPr lang="en-US" sz="2400" b="1" i="1" kern="100" smtClean="0">
                                <a:solidFill>
                                  <a:srgbClr val="0000CC"/>
                                </a:solidFill>
                                <a:latin typeface="Cambria Math" panose="02040503050406030204" pitchFamily="18" charset="0"/>
                                <a:ea typeface="Calibri" panose="020F0502020204030204" pitchFamily="34" charset="0"/>
                                <a:cs typeface="Times New Roman" panose="02020603050405020304" pitchFamily="18" charset="0"/>
                              </a:rPr>
                              <m:t>𝟐</m:t>
                            </m:r>
                          </m:sup>
                        </m:sSup>
                        <m:r>
                          <a:rPr lang="en-GB" sz="2400" b="1" i="1" kern="100" smtClean="0">
                            <a:solidFill>
                              <a:srgbClr val="0000CC"/>
                            </a:solidFill>
                            <a:latin typeface="Cambria Math" panose="02040503050406030204" pitchFamily="18" charset="0"/>
                            <a:ea typeface="Cambria Math" panose="02040503050406030204" pitchFamily="18" charset="0"/>
                            <a:cs typeface="Times New Roman" panose="02020603050405020304" pitchFamily="18" charset="0"/>
                          </a:rPr>
                          <m:t>+</m:t>
                        </m:r>
                        <m:sSup>
                          <m:sSupPr>
                            <m:ctrlPr>
                              <a:rPr lang="en-GB" sz="2400" b="1" i="1" kern="100" smtClean="0">
                                <a:solidFill>
                                  <a:srgbClr val="0000CC"/>
                                </a:solidFill>
                                <a:latin typeface="Cambria Math" panose="02040503050406030204" pitchFamily="18" charset="0"/>
                                <a:ea typeface="Cambria Math" panose="02040503050406030204" pitchFamily="18" charset="0"/>
                                <a:cs typeface="Times New Roman" panose="02020603050405020304" pitchFamily="18" charset="0"/>
                              </a:rPr>
                            </m:ctrlPr>
                          </m:sSupPr>
                          <m:e>
                            <m:d>
                              <m:dPr>
                                <m:ctrlPr>
                                  <a:rPr lang="en-GB" sz="2400" b="1" i="1" kern="100" smtClean="0">
                                    <a:solidFill>
                                      <a:srgbClr val="0000CC"/>
                                    </a:solidFill>
                                    <a:latin typeface="Cambria Math" panose="02040503050406030204" pitchFamily="18" charset="0"/>
                                    <a:ea typeface="Cambria Math" panose="02040503050406030204" pitchFamily="18" charset="0"/>
                                    <a:cs typeface="Times New Roman" panose="02020603050405020304" pitchFamily="18" charset="0"/>
                                  </a:rPr>
                                </m:ctrlPr>
                              </m:dPr>
                              <m:e>
                                <m:f>
                                  <m:fPr>
                                    <m:ctrlPr>
                                      <a:rPr lang="en-GB" sz="2400" b="1" i="1" kern="100" smtClean="0">
                                        <a:solidFill>
                                          <a:srgbClr val="0000CC"/>
                                        </a:solidFill>
                                        <a:latin typeface="Cambria Math" panose="02040503050406030204" pitchFamily="18" charset="0"/>
                                        <a:ea typeface="Cambria Math" panose="02040503050406030204" pitchFamily="18" charset="0"/>
                                        <a:cs typeface="Times New Roman" panose="02020603050405020304" pitchFamily="18" charset="0"/>
                                      </a:rPr>
                                    </m:ctrlPr>
                                  </m:fPr>
                                  <m:num>
                                    <m:r>
                                      <a:rPr lang="en-US" sz="2400" b="1" i="1" kern="100" smtClean="0">
                                        <a:solidFill>
                                          <a:srgbClr val="0000CC"/>
                                        </a:solidFill>
                                        <a:latin typeface="Cambria Math" panose="02040503050406030204" pitchFamily="18" charset="0"/>
                                        <a:ea typeface="Cambria Math" panose="02040503050406030204" pitchFamily="18" charset="0"/>
                                        <a:cs typeface="Times New Roman" panose="02020603050405020304" pitchFamily="18" charset="0"/>
                                      </a:rPr>
                                      <m:t>𝟐</m:t>
                                    </m:r>
                                    <m:r>
                                      <a:rPr lang="en-US" sz="2400" b="1" i="1" kern="100" smtClean="0">
                                        <a:solidFill>
                                          <a:srgbClr val="0000CC"/>
                                        </a:solidFill>
                                        <a:latin typeface="Cambria Math" panose="02040503050406030204" pitchFamily="18" charset="0"/>
                                        <a:ea typeface="Cambria Math" panose="02040503050406030204" pitchFamily="18" charset="0"/>
                                        <a:cs typeface="Times New Roman" panose="02020603050405020304" pitchFamily="18" charset="0"/>
                                      </a:rPr>
                                      <m:t>.</m:t>
                                    </m:r>
                                    <m:r>
                                      <a:rPr lang="en-US" sz="2400" b="1" i="1" kern="100" smtClean="0">
                                        <a:solidFill>
                                          <a:srgbClr val="0000CC"/>
                                        </a:solidFill>
                                        <a:latin typeface="Cambria Math" panose="02040503050406030204" pitchFamily="18" charset="0"/>
                                        <a:ea typeface="Cambria Math" panose="02040503050406030204" pitchFamily="18" charset="0"/>
                                        <a:cs typeface="Times New Roman" panose="02020603050405020304" pitchFamily="18" charset="0"/>
                                      </a:rPr>
                                      <m:t>𝟔𝟓</m:t>
                                    </m:r>
                                  </m:num>
                                  <m:den>
                                    <m:rad>
                                      <m:radPr>
                                        <m:degHide m:val="on"/>
                                        <m:ctrlPr>
                                          <a:rPr lang="en-GB" sz="2400" b="1" i="1" kern="100" smtClean="0">
                                            <a:solidFill>
                                              <a:srgbClr val="0000CC"/>
                                            </a:solidFill>
                                            <a:latin typeface="Cambria Math" panose="02040503050406030204" pitchFamily="18" charset="0"/>
                                            <a:ea typeface="Cambria Math" panose="02040503050406030204" pitchFamily="18" charset="0"/>
                                            <a:cs typeface="Times New Roman" panose="02020603050405020304" pitchFamily="18" charset="0"/>
                                          </a:rPr>
                                        </m:ctrlPr>
                                      </m:radPr>
                                      <m:deg/>
                                      <m:e>
                                        <m:r>
                                          <a:rPr lang="en-US" sz="2400" b="1" i="1" kern="100" smtClean="0">
                                            <a:solidFill>
                                              <a:srgbClr val="0000CC"/>
                                            </a:solidFill>
                                            <a:latin typeface="Cambria Math" panose="02040503050406030204" pitchFamily="18" charset="0"/>
                                            <a:ea typeface="Cambria Math" panose="02040503050406030204" pitchFamily="18" charset="0"/>
                                            <a:cs typeface="Times New Roman" panose="02020603050405020304" pitchFamily="18" charset="0"/>
                                          </a:rPr>
                                          <m:t>𝟐</m:t>
                                        </m:r>
                                      </m:e>
                                    </m:rad>
                                  </m:den>
                                </m:f>
                              </m:e>
                            </m:d>
                          </m:e>
                          <m:sup>
                            <m:r>
                              <a:rPr lang="en-US" sz="2400" b="1" i="1" kern="100" smtClean="0">
                                <a:solidFill>
                                  <a:srgbClr val="0000CC"/>
                                </a:solidFill>
                                <a:latin typeface="Cambria Math" panose="02040503050406030204" pitchFamily="18" charset="0"/>
                                <a:ea typeface="Cambria Math" panose="02040503050406030204" pitchFamily="18" charset="0"/>
                                <a:cs typeface="Times New Roman" panose="02020603050405020304" pitchFamily="18" charset="0"/>
                              </a:rPr>
                              <m:t>𝟐</m:t>
                            </m:r>
                          </m:sup>
                        </m:sSup>
                        <m:r>
                          <a:rPr lang="en-GB" sz="2400" b="1" i="1" kern="100" smtClean="0">
                            <a:solidFill>
                              <a:srgbClr val="0000CC"/>
                            </a:solidFill>
                            <a:latin typeface="Cambria Math" panose="02040503050406030204" pitchFamily="18" charset="0"/>
                            <a:ea typeface="Cambria Math" panose="02040503050406030204" pitchFamily="18" charset="0"/>
                            <a:cs typeface="Times New Roman" panose="02020603050405020304" pitchFamily="18" charset="0"/>
                          </a:rPr>
                          <m:t>+</m:t>
                        </m:r>
                        <m:sSup>
                          <m:sSupPr>
                            <m:ctrlPr>
                              <a:rPr lang="en-GB" sz="2400" b="1" i="1" kern="100" smtClean="0">
                                <a:solidFill>
                                  <a:srgbClr val="0000CC"/>
                                </a:solidFill>
                                <a:latin typeface="Cambria Math" panose="02040503050406030204" pitchFamily="18" charset="0"/>
                                <a:ea typeface="Cambria Math" panose="02040503050406030204" pitchFamily="18" charset="0"/>
                                <a:cs typeface="Times New Roman" panose="02020603050405020304" pitchFamily="18" charset="0"/>
                              </a:rPr>
                            </m:ctrlPr>
                          </m:sSupPr>
                          <m:e>
                            <m:d>
                              <m:dPr>
                                <m:ctrlPr>
                                  <a:rPr lang="en-GB" sz="2400" b="1" i="1" kern="100" smtClean="0">
                                    <a:solidFill>
                                      <a:srgbClr val="0000CC"/>
                                    </a:solidFill>
                                    <a:latin typeface="Cambria Math" panose="02040503050406030204" pitchFamily="18" charset="0"/>
                                    <a:ea typeface="Cambria Math" panose="02040503050406030204" pitchFamily="18" charset="0"/>
                                    <a:cs typeface="Times New Roman" panose="02020603050405020304" pitchFamily="18" charset="0"/>
                                  </a:rPr>
                                </m:ctrlPr>
                              </m:dPr>
                              <m:e>
                                <m:f>
                                  <m:fPr>
                                    <m:ctrlPr>
                                      <a:rPr lang="en-GB" sz="2400" b="1" i="1" kern="100" smtClean="0">
                                        <a:solidFill>
                                          <a:srgbClr val="0000CC"/>
                                        </a:solidFill>
                                        <a:latin typeface="Cambria Math" panose="02040503050406030204" pitchFamily="18" charset="0"/>
                                        <a:ea typeface="Cambria Math" panose="02040503050406030204" pitchFamily="18" charset="0"/>
                                        <a:cs typeface="Times New Roman" panose="02020603050405020304" pitchFamily="18" charset="0"/>
                                      </a:rPr>
                                    </m:ctrlPr>
                                  </m:fPr>
                                  <m:num>
                                    <m:r>
                                      <a:rPr lang="en-US" sz="2400" b="1" i="1" kern="100" smtClean="0">
                                        <a:solidFill>
                                          <a:srgbClr val="0000CC"/>
                                        </a:solidFill>
                                        <a:latin typeface="Cambria Math" panose="02040503050406030204" pitchFamily="18" charset="0"/>
                                        <a:ea typeface="Cambria Math" panose="02040503050406030204" pitchFamily="18" charset="0"/>
                                        <a:cs typeface="Times New Roman" panose="02020603050405020304" pitchFamily="18" charset="0"/>
                                      </a:rPr>
                                      <m:t>𝟐</m:t>
                                    </m:r>
                                    <m:r>
                                      <a:rPr lang="en-US" sz="2400" b="1" i="1" kern="100" smtClean="0">
                                        <a:solidFill>
                                          <a:srgbClr val="0000CC"/>
                                        </a:solidFill>
                                        <a:latin typeface="Cambria Math" panose="02040503050406030204" pitchFamily="18" charset="0"/>
                                        <a:ea typeface="Cambria Math" panose="02040503050406030204" pitchFamily="18" charset="0"/>
                                        <a:cs typeface="Times New Roman" panose="02020603050405020304" pitchFamily="18" charset="0"/>
                                      </a:rPr>
                                      <m:t>.</m:t>
                                    </m:r>
                                    <m:r>
                                      <a:rPr lang="en-US" sz="2400" b="1" i="1" kern="100" smtClean="0">
                                        <a:solidFill>
                                          <a:srgbClr val="0000CC"/>
                                        </a:solidFill>
                                        <a:latin typeface="Cambria Math" panose="02040503050406030204" pitchFamily="18" charset="0"/>
                                        <a:ea typeface="Cambria Math" panose="02040503050406030204" pitchFamily="18" charset="0"/>
                                        <a:cs typeface="Times New Roman" panose="02020603050405020304" pitchFamily="18" charset="0"/>
                                      </a:rPr>
                                      <m:t>𝟒𝟑</m:t>
                                    </m:r>
                                  </m:num>
                                  <m:den>
                                    <m:rad>
                                      <m:radPr>
                                        <m:degHide m:val="on"/>
                                        <m:ctrlPr>
                                          <a:rPr lang="en-GB" sz="2400" b="1" i="1" kern="100" smtClean="0">
                                            <a:solidFill>
                                              <a:srgbClr val="0000CC"/>
                                            </a:solidFill>
                                            <a:latin typeface="Cambria Math" panose="02040503050406030204" pitchFamily="18" charset="0"/>
                                            <a:ea typeface="Cambria Math" panose="02040503050406030204" pitchFamily="18" charset="0"/>
                                            <a:cs typeface="Times New Roman" panose="02020603050405020304" pitchFamily="18" charset="0"/>
                                          </a:rPr>
                                        </m:ctrlPr>
                                      </m:radPr>
                                      <m:deg/>
                                      <m:e>
                                        <m:r>
                                          <a:rPr lang="en-US" sz="2400" b="1" i="1" kern="100" smtClean="0">
                                            <a:solidFill>
                                              <a:srgbClr val="0000CC"/>
                                            </a:solidFill>
                                            <a:latin typeface="Cambria Math" panose="02040503050406030204" pitchFamily="18" charset="0"/>
                                            <a:ea typeface="Cambria Math" panose="02040503050406030204" pitchFamily="18" charset="0"/>
                                            <a:cs typeface="Times New Roman" panose="02020603050405020304" pitchFamily="18" charset="0"/>
                                          </a:rPr>
                                          <m:t>𝟐</m:t>
                                        </m:r>
                                      </m:e>
                                    </m:rad>
                                  </m:den>
                                </m:f>
                              </m:e>
                            </m:d>
                          </m:e>
                          <m:sup>
                            <m:r>
                              <a:rPr lang="en-US" sz="2400" b="1" i="1" kern="100" smtClean="0">
                                <a:solidFill>
                                  <a:srgbClr val="0000CC"/>
                                </a:solidFill>
                                <a:latin typeface="Cambria Math" panose="02040503050406030204" pitchFamily="18" charset="0"/>
                                <a:ea typeface="Cambria Math" panose="02040503050406030204" pitchFamily="18" charset="0"/>
                                <a:cs typeface="Times New Roman" panose="02020603050405020304" pitchFamily="18" charset="0"/>
                              </a:rPr>
                              <m:t>𝟐</m:t>
                            </m:r>
                          </m:sup>
                        </m:sSup>
                      </m:e>
                    </m:d>
                    <m:r>
                      <a:rPr lang="en-US" sz="2400" b="1" i="1" kern="100" smtClean="0">
                        <a:solidFill>
                          <a:srgbClr val="0000CC"/>
                        </a:solidFill>
                        <a:latin typeface="Cambria Math" panose="02040503050406030204" pitchFamily="18" charset="0"/>
                        <a:ea typeface="Calibri" panose="020F0502020204030204" pitchFamily="34" charset="0"/>
                        <a:cs typeface="Times New Roman" panose="02020603050405020304" pitchFamily="18" charset="0"/>
                      </a:rPr>
                      <m:t>𝟓</m:t>
                    </m:r>
                  </m:oMath>
                </a14:m>
                <a:r>
                  <a:rPr lang="en-GB" sz="2400" b="1" kern="100" dirty="0">
                    <a:solidFill>
                      <a:srgbClr val="0000CC"/>
                    </a:solidFill>
                    <a:latin typeface="Century Gothic" panose="020B0502020202020204" pitchFamily="34" charset="0"/>
                    <a:ea typeface="Calibri" panose="020F0502020204030204" pitchFamily="34" charset="0"/>
                    <a:cs typeface="Times New Roman" panose="02020603050405020304" pitchFamily="18" charset="0"/>
                  </a:rPr>
                  <a:t> = 52.2 W</a:t>
                </a:r>
                <a:br>
                  <a:rPr lang="en-GB" sz="2400" b="1" kern="100" dirty="0">
                    <a:solidFill>
                      <a:srgbClr val="0000CC"/>
                    </a:solidFill>
                    <a:latin typeface="Century Gothic" panose="020B0502020202020204" pitchFamily="34" charset="0"/>
                    <a:ea typeface="Calibri" panose="020F0502020204030204" pitchFamily="34" charset="0"/>
                    <a:cs typeface="Times New Roman" panose="02020603050405020304" pitchFamily="18" charset="0"/>
                  </a:rPr>
                </a:br>
                <a:br>
                  <a:rPr lang="en-GB" sz="2400" b="1" kern="100" dirty="0">
                    <a:solidFill>
                      <a:srgbClr val="0000CC"/>
                    </a:solidFill>
                    <a:latin typeface="Century Gothic" panose="020B0502020202020204" pitchFamily="34" charset="0"/>
                    <a:ea typeface="Calibri" panose="020F0502020204030204" pitchFamily="34" charset="0"/>
                    <a:cs typeface="Times New Roman" panose="02020603050405020304" pitchFamily="18" charset="0"/>
                  </a:rPr>
                </a:br>
                <a:endParaRPr lang="en-GB" sz="2400" b="1" kern="100" dirty="0">
                  <a:solidFill>
                    <a:srgbClr val="0000CC"/>
                  </a:solidFill>
                  <a:latin typeface="Century Gothic" panose="020B0502020202020204" pitchFamily="34" charset="0"/>
                  <a:ea typeface="Calibri" panose="020F0502020204030204" pitchFamily="34" charset="0"/>
                  <a:cs typeface="Times New Roman" panose="02020603050405020304" pitchFamily="18" charset="0"/>
                </a:endParaRPr>
              </a:p>
              <a:p>
                <a:pPr>
                  <a:buClr>
                    <a:schemeClr val="accent2"/>
                  </a:buClr>
                </a:pPr>
                <a:endParaRPr lang="en-GB" sz="2400" b="1" kern="100" dirty="0">
                  <a:solidFill>
                    <a:srgbClr val="0000CC"/>
                  </a:solidFill>
                  <a:latin typeface="Century Gothic" panose="020B0502020202020204" pitchFamily="34" charset="0"/>
                  <a:ea typeface="Calibri" panose="020F0502020204030204" pitchFamily="34" charset="0"/>
                  <a:cs typeface="Times New Roman" panose="02020603050405020304" pitchFamily="18" charset="0"/>
                </a:endParaRPr>
              </a:p>
            </p:txBody>
          </p:sp>
        </mc:Choice>
        <mc:Fallback xmlns="">
          <p:sp>
            <p:nvSpPr>
              <p:cNvPr id="6" name="TextBox 5">
                <a:extLst>
                  <a:ext uri="{FF2B5EF4-FFF2-40B4-BE49-F238E27FC236}">
                    <a16:creationId xmlns:a16="http://schemas.microsoft.com/office/drawing/2014/main" id="{6BAA1F11-5BEF-4D80-964F-A7332E36BFA0}"/>
                  </a:ext>
                </a:extLst>
              </p:cNvPr>
              <p:cNvSpPr txBox="1">
                <a:spLocks noRot="1" noChangeAspect="1" noMove="1" noResize="1" noEditPoints="1" noAdjustHandles="1" noChangeArrowheads="1" noChangeShapeType="1" noTextEdit="1"/>
              </p:cNvSpPr>
              <p:nvPr/>
            </p:nvSpPr>
            <p:spPr>
              <a:xfrm>
                <a:off x="193040" y="1229360"/>
                <a:ext cx="11887199" cy="3877215"/>
              </a:xfrm>
              <a:prstGeom prst="rect">
                <a:avLst/>
              </a:prstGeom>
              <a:blipFill>
                <a:blip r:embed="rId3"/>
                <a:stretch>
                  <a:fillRect l="-666" t="-1097"/>
                </a:stretch>
              </a:blipFill>
              <a:ln>
                <a:solidFill>
                  <a:srgbClr val="FF0066"/>
                </a:solidFill>
              </a:ln>
            </p:spPr>
            <p:txBody>
              <a:bodyPr/>
              <a:lstStyle/>
              <a:p>
                <a:r>
                  <a:rPr lang="en-US">
                    <a:noFill/>
                  </a:rPr>
                  <a:t> </a:t>
                </a:r>
              </a:p>
            </p:txBody>
          </p:sp>
        </mc:Fallback>
      </mc:AlternateContent>
      <p:sp>
        <p:nvSpPr>
          <p:cNvPr id="7" name="TextBox 6">
            <a:extLst>
              <a:ext uri="{FF2B5EF4-FFF2-40B4-BE49-F238E27FC236}">
                <a16:creationId xmlns:a16="http://schemas.microsoft.com/office/drawing/2014/main" id="{C36AA635-C21F-49F3-BF21-4CBE4C20709B}"/>
              </a:ext>
            </a:extLst>
          </p:cNvPr>
          <p:cNvSpPr txBox="1"/>
          <p:nvPr/>
        </p:nvSpPr>
        <p:spPr>
          <a:xfrm>
            <a:off x="5269122" y="6037275"/>
            <a:ext cx="823314" cy="373051"/>
          </a:xfrm>
          <a:prstGeom prst="rect">
            <a:avLst/>
          </a:prstGeom>
          <a:noFill/>
        </p:spPr>
        <p:txBody>
          <a:bodyPr wrap="square" rtlCol="0">
            <a:spAutoFit/>
          </a:bodyPr>
          <a:lstStyle/>
          <a:p>
            <a:pPr algn="ctr"/>
            <a:endParaRPr lang="en-GB" sz="1824" dirty="0">
              <a:latin typeface="Garamond" panose="02020404030301010803" pitchFamily="18" charset="0"/>
            </a:endParaRPr>
          </a:p>
        </p:txBody>
      </p:sp>
    </p:spTree>
    <p:extLst>
      <p:ext uri="{BB962C8B-B14F-4D97-AF65-F5344CB8AC3E}">
        <p14:creationId xmlns:p14="http://schemas.microsoft.com/office/powerpoint/2010/main" val="224193450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6">
            <a:extLst>
              <a:ext uri="{FF2B5EF4-FFF2-40B4-BE49-F238E27FC236}">
                <a16:creationId xmlns:a16="http://schemas.microsoft.com/office/drawing/2014/main" id="{56080804-F19F-41A7-8595-943961648C5E}"/>
              </a:ext>
            </a:extLst>
          </p:cNvPr>
          <p:cNvSpPr>
            <a:spLocks noGrp="1"/>
          </p:cNvSpPr>
          <p:nvPr>
            <p:ph type="sldNum" sz="quarter" idx="12"/>
          </p:nvPr>
        </p:nvSpPr>
        <p:spPr>
          <a:xfrm>
            <a:off x="8610600" y="6441692"/>
            <a:ext cx="2743200" cy="370027"/>
          </a:xfrm>
        </p:spPr>
        <p:txBody>
          <a:bodyPr/>
          <a:lstStyle/>
          <a:p>
            <a:fld id="{F4801FD5-11B4-DE43-ACA2-E85EEB9A6F9C}" type="slidenum">
              <a:rPr lang="en-US" smtClean="0">
                <a:latin typeface="Garamond" panose="02020404030301010803" pitchFamily="18" charset="0"/>
              </a:rPr>
              <a:t>35</a:t>
            </a:fld>
            <a:endParaRPr lang="en-US">
              <a:latin typeface="Garamond" panose="02020404030301010803" pitchFamily="18" charset="0"/>
            </a:endParaRPr>
          </a:p>
        </p:txBody>
      </p:sp>
      <p:sp>
        <p:nvSpPr>
          <p:cNvPr id="5" name="Title 1">
            <a:extLst>
              <a:ext uri="{FF2B5EF4-FFF2-40B4-BE49-F238E27FC236}">
                <a16:creationId xmlns:a16="http://schemas.microsoft.com/office/drawing/2014/main" id="{4710AE4B-0DB8-4451-B9E4-10BAE11B4D3A}"/>
              </a:ext>
            </a:extLst>
          </p:cNvPr>
          <p:cNvSpPr>
            <a:spLocks noGrp="1"/>
          </p:cNvSpPr>
          <p:nvPr>
            <p:ph type="title"/>
          </p:nvPr>
        </p:nvSpPr>
        <p:spPr>
          <a:xfrm>
            <a:off x="475035" y="138356"/>
            <a:ext cx="10972800" cy="1115558"/>
          </a:xfrm>
        </p:spPr>
        <p:txBody>
          <a:bodyPr>
            <a:noAutofit/>
          </a:bodyPr>
          <a:lstStyle/>
          <a:p>
            <a:pPr algn="ctr"/>
            <a:r>
              <a:rPr lang="en-US" sz="3200" b="1" u="sng" dirty="0">
                <a:solidFill>
                  <a:srgbClr val="FF3386"/>
                </a:solidFill>
                <a:latin typeface="Century Gothic" panose="020B0502020202020204" pitchFamily="34" charset="0"/>
                <a:cs typeface="Helvetica"/>
              </a:rPr>
              <a:t>POWER COMPUTATION FOR SINUSOIDAL SOURCE AND LINEAR LOAD</a:t>
            </a:r>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6BAA1F11-5BEF-4D80-964F-A7332E36BFA0}"/>
                  </a:ext>
                </a:extLst>
              </p:cNvPr>
              <p:cNvSpPr txBox="1"/>
              <p:nvPr/>
            </p:nvSpPr>
            <p:spPr>
              <a:xfrm>
                <a:off x="116732" y="1167598"/>
                <a:ext cx="12075267" cy="5343899"/>
              </a:xfrm>
              <a:prstGeom prst="rect">
                <a:avLst/>
              </a:prstGeom>
              <a:noFill/>
              <a:ln>
                <a:solidFill>
                  <a:srgbClr val="FF0066"/>
                </a:solidFill>
              </a:ln>
            </p:spPr>
            <p:txBody>
              <a:bodyPr wrap="square" rtlCol="0">
                <a:spAutoFit/>
              </a:bodyPr>
              <a:lstStyle/>
              <a:p>
                <a:pPr marL="342900" indent="-342900">
                  <a:buClr>
                    <a:schemeClr val="accent2"/>
                  </a:buClr>
                  <a:buFont typeface="Arial" panose="020B0604020202020204" pitchFamily="34" charset="0"/>
                  <a:buChar char="•"/>
                </a:pPr>
                <a:r>
                  <a:rPr lang="en-GB" sz="2400" b="1" kern="100" dirty="0">
                    <a:solidFill>
                      <a:srgbClr val="0000CC"/>
                    </a:solidFill>
                    <a:latin typeface="Century Gothic" panose="020B0502020202020204" pitchFamily="34" charset="0"/>
                    <a:ea typeface="Calibri" panose="020F0502020204030204" pitchFamily="34" charset="0"/>
                    <a:cs typeface="Times New Roman" panose="02020603050405020304" pitchFamily="18" charset="0"/>
                  </a:rPr>
                  <a:t>Voltage sinusoid is given by</a:t>
                </a:r>
                <a:br>
                  <a:rPr lang="en-GB" sz="2400" b="1" kern="100" dirty="0">
                    <a:solidFill>
                      <a:srgbClr val="0000CC"/>
                    </a:solidFill>
                    <a:latin typeface="Century Gothic" panose="020B0502020202020204" pitchFamily="34" charset="0"/>
                    <a:ea typeface="Calibri" panose="020F0502020204030204" pitchFamily="34" charset="0"/>
                    <a:cs typeface="Times New Roman" panose="02020603050405020304" pitchFamily="18" charset="0"/>
                  </a:rPr>
                </a:br>
                <a:br>
                  <a:rPr lang="en-GB" sz="2400" b="1" kern="100" dirty="0">
                    <a:solidFill>
                      <a:srgbClr val="0000CC"/>
                    </a:solidFill>
                    <a:latin typeface="Century Gothic" panose="020B0502020202020204" pitchFamily="34" charset="0"/>
                    <a:ea typeface="Calibri" panose="020F0502020204030204" pitchFamily="34" charset="0"/>
                    <a:cs typeface="Times New Roman" panose="02020603050405020304" pitchFamily="18" charset="0"/>
                  </a:rPr>
                </a:br>
                <a:r>
                  <a:rPr lang="en-GB" sz="2400" b="1" kern="100" dirty="0">
                    <a:solidFill>
                      <a:srgbClr val="0000CC"/>
                    </a:solidFill>
                    <a:latin typeface="Century Gothic" panose="020B0502020202020204" pitchFamily="34" charset="0"/>
                    <a:ea typeface="Calibri" panose="020F0502020204030204" pitchFamily="34" charset="0"/>
                    <a:cs typeface="Times New Roman" panose="02020603050405020304" pitchFamily="18" charset="0"/>
                  </a:rPr>
                  <a:t>				</a:t>
                </a:r>
              </a:p>
              <a:p>
                <a:pPr marL="342900" indent="-342900">
                  <a:buClr>
                    <a:schemeClr val="accent2"/>
                  </a:buClr>
                  <a:buFont typeface="Arial" panose="020B0604020202020204" pitchFamily="34" charset="0"/>
                  <a:buChar char="•"/>
                </a:pPr>
                <a:r>
                  <a:rPr lang="en-GB" sz="2400" b="1" kern="100" dirty="0">
                    <a:solidFill>
                      <a:srgbClr val="0000CC"/>
                    </a:solidFill>
                    <a:latin typeface="Century Gothic" panose="020B0502020202020204" pitchFamily="34" charset="0"/>
                    <a:ea typeface="Calibri" panose="020F0502020204030204" pitchFamily="34" charset="0"/>
                    <a:cs typeface="Times New Roman" panose="02020603050405020304" pitchFamily="18" charset="0"/>
                  </a:rPr>
                  <a:t>Current sinusoid is given</a:t>
                </a:r>
              </a:p>
              <a:p>
                <a:pPr>
                  <a:buClr>
                    <a:schemeClr val="accent2"/>
                  </a:buClr>
                </a:pPr>
                <a:r>
                  <a:rPr lang="en-GB" sz="2400" b="1" kern="100" dirty="0">
                    <a:solidFill>
                      <a:srgbClr val="0000CC"/>
                    </a:solidFill>
                    <a:latin typeface="Century Gothic" panose="020B0502020202020204" pitchFamily="34" charset="0"/>
                    <a:ea typeface="Calibri" panose="020F0502020204030204" pitchFamily="34" charset="0"/>
                    <a:cs typeface="Times New Roman" panose="02020603050405020304" pitchFamily="18" charset="0"/>
                  </a:rPr>
                  <a:t>			</a:t>
                </a:r>
                <a:br>
                  <a:rPr lang="en-GB" sz="2400" b="1" kern="100" dirty="0">
                    <a:solidFill>
                      <a:srgbClr val="0000CC"/>
                    </a:solidFill>
                    <a:latin typeface="Century Gothic" panose="020B0502020202020204" pitchFamily="34" charset="0"/>
                    <a:ea typeface="Calibri" panose="020F0502020204030204" pitchFamily="34" charset="0"/>
                    <a:cs typeface="Times New Roman" panose="02020603050405020304" pitchFamily="18" charset="0"/>
                  </a:rPr>
                </a:br>
                <a:endParaRPr lang="en-GB" sz="2400" b="1" kern="100" dirty="0">
                  <a:solidFill>
                    <a:srgbClr val="0000CC"/>
                  </a:solidFill>
                  <a:latin typeface="Century Gothic" panose="020B0502020202020204" pitchFamily="34" charset="0"/>
                  <a:ea typeface="Calibri" panose="020F0502020204030204" pitchFamily="34" charset="0"/>
                  <a:cs typeface="Times New Roman" panose="02020603050405020304" pitchFamily="18" charset="0"/>
                </a:endParaRPr>
              </a:p>
              <a:p>
                <a:pPr marL="342900" indent="-342900">
                  <a:buClr>
                    <a:schemeClr val="accent2"/>
                  </a:buClr>
                  <a:buFont typeface="Arial" panose="020B0604020202020204" pitchFamily="34" charset="0"/>
                  <a:buChar char="•"/>
                </a:pPr>
                <a:r>
                  <a:rPr lang="en-GB" sz="2400" b="1" kern="100" dirty="0">
                    <a:solidFill>
                      <a:srgbClr val="0000CC"/>
                    </a:solidFill>
                    <a:latin typeface="Century Gothic" panose="020B0502020202020204" pitchFamily="34" charset="0"/>
                    <a:ea typeface="Calibri" panose="020F0502020204030204" pitchFamily="34" charset="0"/>
                    <a:cs typeface="Times New Roman" panose="02020603050405020304" pitchFamily="18" charset="0"/>
                  </a:rPr>
                  <a:t>Average Power absorbed by load is given by</a:t>
                </a:r>
              </a:p>
              <a:p>
                <a:pPr>
                  <a:buClr>
                    <a:schemeClr val="accent2"/>
                  </a:buClr>
                </a:pPr>
                <a:br>
                  <a:rPr lang="en-GB" sz="2400" b="1" kern="100" dirty="0">
                    <a:solidFill>
                      <a:srgbClr val="0000CC"/>
                    </a:solidFill>
                    <a:latin typeface="Century Gothic" panose="020B0502020202020204" pitchFamily="34" charset="0"/>
                    <a:ea typeface="Calibri" panose="020F0502020204030204" pitchFamily="34" charset="0"/>
                    <a:cs typeface="Times New Roman" panose="02020603050405020304" pitchFamily="18" charset="0"/>
                  </a:rPr>
                </a:br>
                <a:r>
                  <a:rPr lang="en-GB" sz="2400" b="1" kern="100" dirty="0">
                    <a:solidFill>
                      <a:srgbClr val="0000CC"/>
                    </a:solidFill>
                    <a:latin typeface="Century Gothic" panose="020B0502020202020204" pitchFamily="34" charset="0"/>
                    <a:ea typeface="Calibri" panose="020F0502020204030204" pitchFamily="34" charset="0"/>
                    <a:cs typeface="Times New Roman" panose="02020603050405020304" pitchFamily="18" charset="0"/>
                  </a:rPr>
                  <a:t>			</a:t>
                </a:r>
                <a:br>
                  <a:rPr lang="en-GB" sz="2400" b="1" kern="100" dirty="0">
                    <a:solidFill>
                      <a:srgbClr val="0000CC"/>
                    </a:solidFill>
                    <a:latin typeface="Century Gothic" panose="020B0502020202020204" pitchFamily="34" charset="0"/>
                    <a:ea typeface="Calibri" panose="020F0502020204030204" pitchFamily="34" charset="0"/>
                    <a:cs typeface="Times New Roman" panose="02020603050405020304" pitchFamily="18" charset="0"/>
                  </a:rPr>
                </a:br>
                <a:br>
                  <a:rPr lang="en-GB" sz="2400" b="1" kern="100" dirty="0">
                    <a:solidFill>
                      <a:srgbClr val="0000CC"/>
                    </a:solidFill>
                    <a:latin typeface="Century Gothic" panose="020B0502020202020204" pitchFamily="34" charset="0"/>
                    <a:ea typeface="Calibri" panose="020F0502020204030204" pitchFamily="34" charset="0"/>
                    <a:cs typeface="Times New Roman" panose="02020603050405020304" pitchFamily="18" charset="0"/>
                  </a:rPr>
                </a:br>
                <a:r>
                  <a:rPr lang="en-GB" sz="2400" b="1" kern="100" dirty="0">
                    <a:solidFill>
                      <a:srgbClr val="0000CC"/>
                    </a:solidFill>
                    <a:latin typeface="Century Gothic" panose="020B0502020202020204" pitchFamily="34" charset="0"/>
                    <a:ea typeface="Calibri" panose="020F0502020204030204" pitchFamily="34" charset="0"/>
                    <a:cs typeface="Times New Roman" panose="02020603050405020304" pitchFamily="18" charset="0"/>
                  </a:rPr>
                  <a:t>      = (0)</a:t>
                </a:r>
                <a14:m>
                  <m:oMath xmlns:m="http://schemas.openxmlformats.org/officeDocument/2006/math">
                    <m:d>
                      <m:dPr>
                        <m:ctrlPr>
                          <a:rPr lang="en-GB" b="1" i="1" kern="100" smtClean="0">
                            <a:solidFill>
                              <a:srgbClr val="0000CC"/>
                            </a:solidFill>
                            <a:latin typeface="Cambria Math" panose="02040503050406030204" pitchFamily="18" charset="0"/>
                            <a:ea typeface="Calibri" panose="020F0502020204030204" pitchFamily="34" charset="0"/>
                            <a:cs typeface="Times New Roman" panose="02020603050405020304" pitchFamily="18" charset="0"/>
                          </a:rPr>
                        </m:ctrlPr>
                      </m:dPr>
                      <m:e>
                        <m:sSub>
                          <m:sSubPr>
                            <m:ctrlPr>
                              <a:rPr lang="en-GB" b="1" i="1" kern="100" smtClean="0">
                                <a:solidFill>
                                  <a:srgbClr val="0000CC"/>
                                </a:solidFill>
                                <a:latin typeface="Cambria Math" panose="02040503050406030204" pitchFamily="18" charset="0"/>
                                <a:ea typeface="Calibri" panose="020F0502020204030204" pitchFamily="34" charset="0"/>
                                <a:cs typeface="Times New Roman" panose="02020603050405020304" pitchFamily="18" charset="0"/>
                              </a:rPr>
                            </m:ctrlPr>
                          </m:sSubPr>
                          <m:e>
                            <m:r>
                              <a:rPr lang="en-US" b="1" i="1" kern="100" smtClean="0">
                                <a:solidFill>
                                  <a:srgbClr val="0000CC"/>
                                </a:solidFill>
                                <a:latin typeface="Cambria Math" panose="02040503050406030204" pitchFamily="18" charset="0"/>
                                <a:ea typeface="Calibri" panose="020F0502020204030204" pitchFamily="34" charset="0"/>
                                <a:cs typeface="Times New Roman" panose="02020603050405020304" pitchFamily="18" charset="0"/>
                              </a:rPr>
                              <m:t>𝑰</m:t>
                            </m:r>
                          </m:e>
                          <m:sub>
                            <m:r>
                              <a:rPr lang="en-US" b="1" i="1" kern="100" smtClean="0">
                                <a:solidFill>
                                  <a:srgbClr val="0000CC"/>
                                </a:solidFill>
                                <a:latin typeface="Cambria Math" panose="02040503050406030204" pitchFamily="18" charset="0"/>
                                <a:ea typeface="Calibri" panose="020F0502020204030204" pitchFamily="34" charset="0"/>
                                <a:cs typeface="Times New Roman" panose="02020603050405020304" pitchFamily="18" charset="0"/>
                              </a:rPr>
                              <m:t>𝟎</m:t>
                            </m:r>
                          </m:sub>
                        </m:sSub>
                      </m:e>
                    </m:d>
                    <m:r>
                      <a:rPr lang="en-GB" b="1" i="1" kern="100" smtClean="0">
                        <a:solidFill>
                          <a:srgbClr val="0000CC"/>
                        </a:solidFill>
                        <a:latin typeface="Cambria Math" panose="02040503050406030204" pitchFamily="18" charset="0"/>
                        <a:ea typeface="Cambria Math" panose="02040503050406030204" pitchFamily="18" charset="0"/>
                        <a:cs typeface="Times New Roman" panose="02020603050405020304" pitchFamily="18" charset="0"/>
                      </a:rPr>
                      <m:t>+</m:t>
                    </m:r>
                    <m:d>
                      <m:dPr>
                        <m:ctrlPr>
                          <a:rPr lang="en-GB" b="1" i="1" kern="100" smtClean="0">
                            <a:solidFill>
                              <a:srgbClr val="0000CC"/>
                            </a:solidFill>
                            <a:latin typeface="Cambria Math" panose="02040503050406030204" pitchFamily="18" charset="0"/>
                            <a:ea typeface="Cambria Math" panose="02040503050406030204" pitchFamily="18" charset="0"/>
                            <a:cs typeface="Times New Roman" panose="02020603050405020304" pitchFamily="18" charset="0"/>
                          </a:rPr>
                        </m:ctrlPr>
                      </m:dPr>
                      <m:e>
                        <m:f>
                          <m:fPr>
                            <m:ctrlPr>
                              <a:rPr lang="en-GB" b="1" i="1" kern="100" smtClean="0">
                                <a:solidFill>
                                  <a:srgbClr val="0000CC"/>
                                </a:solidFill>
                                <a:latin typeface="Cambria Math" panose="02040503050406030204" pitchFamily="18" charset="0"/>
                                <a:ea typeface="Cambria Math" panose="02040503050406030204" pitchFamily="18" charset="0"/>
                                <a:cs typeface="Times New Roman" panose="02020603050405020304" pitchFamily="18" charset="0"/>
                              </a:rPr>
                            </m:ctrlPr>
                          </m:fPr>
                          <m:num>
                            <m:sSub>
                              <m:sSubPr>
                                <m:ctrlPr>
                                  <a:rPr lang="en-GB" b="1" i="1" kern="100" smtClean="0">
                                    <a:solidFill>
                                      <a:srgbClr val="0000CC"/>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b="1" i="1" kern="100" smtClean="0">
                                    <a:solidFill>
                                      <a:srgbClr val="0000CC"/>
                                    </a:solidFill>
                                    <a:latin typeface="Cambria Math" panose="02040503050406030204" pitchFamily="18" charset="0"/>
                                    <a:ea typeface="Cambria Math" panose="02040503050406030204" pitchFamily="18" charset="0"/>
                                    <a:cs typeface="Times New Roman" panose="02020603050405020304" pitchFamily="18" charset="0"/>
                                  </a:rPr>
                                  <m:t>𝑽</m:t>
                                </m:r>
                              </m:e>
                              <m:sub>
                                <m:r>
                                  <a:rPr lang="en-US" b="1" i="1" kern="100" smtClean="0">
                                    <a:solidFill>
                                      <a:srgbClr val="0000CC"/>
                                    </a:solidFill>
                                    <a:latin typeface="Cambria Math" panose="02040503050406030204" pitchFamily="18" charset="0"/>
                                    <a:ea typeface="Cambria Math" panose="02040503050406030204" pitchFamily="18" charset="0"/>
                                    <a:cs typeface="Times New Roman" panose="02020603050405020304" pitchFamily="18" charset="0"/>
                                  </a:rPr>
                                  <m:t>𝟏</m:t>
                                </m:r>
                              </m:sub>
                            </m:sSub>
                            <m:sSub>
                              <m:sSubPr>
                                <m:ctrlPr>
                                  <a:rPr lang="en-GB" b="1" i="1" kern="100" smtClean="0">
                                    <a:solidFill>
                                      <a:srgbClr val="0000CC"/>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b="1" i="1" kern="100" smtClean="0">
                                    <a:solidFill>
                                      <a:srgbClr val="0000CC"/>
                                    </a:solidFill>
                                    <a:latin typeface="Cambria Math" panose="02040503050406030204" pitchFamily="18" charset="0"/>
                                    <a:ea typeface="Cambria Math" panose="02040503050406030204" pitchFamily="18" charset="0"/>
                                    <a:cs typeface="Times New Roman" panose="02020603050405020304" pitchFamily="18" charset="0"/>
                                  </a:rPr>
                                  <m:t>𝑰</m:t>
                                </m:r>
                              </m:e>
                              <m:sub>
                                <m:r>
                                  <a:rPr lang="en-US" b="1" i="1" kern="100" smtClean="0">
                                    <a:solidFill>
                                      <a:srgbClr val="0000CC"/>
                                    </a:solidFill>
                                    <a:latin typeface="Cambria Math" panose="02040503050406030204" pitchFamily="18" charset="0"/>
                                    <a:ea typeface="Cambria Math" panose="02040503050406030204" pitchFamily="18" charset="0"/>
                                    <a:cs typeface="Times New Roman" panose="02020603050405020304" pitchFamily="18" charset="0"/>
                                  </a:rPr>
                                  <m:t>𝟏</m:t>
                                </m:r>
                              </m:sub>
                            </m:sSub>
                          </m:num>
                          <m:den>
                            <m:r>
                              <a:rPr lang="en-US" b="1" i="1" kern="100" smtClean="0">
                                <a:solidFill>
                                  <a:srgbClr val="0000CC"/>
                                </a:solidFill>
                                <a:latin typeface="Cambria Math" panose="02040503050406030204" pitchFamily="18" charset="0"/>
                                <a:ea typeface="Cambria Math" panose="02040503050406030204" pitchFamily="18" charset="0"/>
                                <a:cs typeface="Times New Roman" panose="02020603050405020304" pitchFamily="18" charset="0"/>
                              </a:rPr>
                              <m:t>𝟐</m:t>
                            </m:r>
                          </m:den>
                        </m:f>
                      </m:e>
                    </m:d>
                    <m:func>
                      <m:funcPr>
                        <m:ctrlPr>
                          <a:rPr lang="en-GB" b="1" i="1" kern="100" smtClean="0">
                            <a:solidFill>
                              <a:srgbClr val="0000CC"/>
                            </a:solidFill>
                            <a:latin typeface="Cambria Math" panose="02040503050406030204" pitchFamily="18" charset="0"/>
                            <a:ea typeface="Cambria Math" panose="02040503050406030204" pitchFamily="18" charset="0"/>
                            <a:cs typeface="Times New Roman" panose="02020603050405020304" pitchFamily="18" charset="0"/>
                          </a:rPr>
                        </m:ctrlPr>
                      </m:funcPr>
                      <m:fName>
                        <m:r>
                          <m:rPr>
                            <m:sty m:val="p"/>
                          </m:rPr>
                          <a:rPr lang="en-GB" b="0" i="0" kern="100" smtClean="0">
                            <a:solidFill>
                              <a:srgbClr val="0000CC"/>
                            </a:solidFill>
                            <a:latin typeface="Cambria Math" panose="02040503050406030204" pitchFamily="18" charset="0"/>
                            <a:ea typeface="Cambria Math" panose="02040503050406030204" pitchFamily="18" charset="0"/>
                            <a:cs typeface="Times New Roman" panose="02020603050405020304" pitchFamily="18" charset="0"/>
                          </a:rPr>
                          <m:t>cos</m:t>
                        </m:r>
                      </m:fName>
                      <m:e>
                        <m:d>
                          <m:dPr>
                            <m:ctrlPr>
                              <a:rPr lang="en-GB" b="0" i="1" kern="100" smtClean="0">
                                <a:solidFill>
                                  <a:srgbClr val="0000CC"/>
                                </a:solidFill>
                                <a:latin typeface="Cambria Math" panose="02040503050406030204" pitchFamily="18" charset="0"/>
                                <a:ea typeface="Cambria Math" panose="02040503050406030204" pitchFamily="18" charset="0"/>
                                <a:cs typeface="Times New Roman" panose="02020603050405020304" pitchFamily="18" charset="0"/>
                              </a:rPr>
                            </m:ctrlPr>
                          </m:dPr>
                          <m:e>
                            <m:sSub>
                              <m:sSubPr>
                                <m:ctrlPr>
                                  <a:rPr lang="en-GB" b="0" i="1" kern="100" smtClean="0">
                                    <a:solidFill>
                                      <a:srgbClr val="0000CC"/>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GB" b="0" i="1" kern="100" smtClean="0">
                                    <a:solidFill>
                                      <a:srgbClr val="0000CC"/>
                                    </a:solidFill>
                                    <a:latin typeface="Cambria Math" panose="02040503050406030204" pitchFamily="18" charset="0"/>
                                    <a:ea typeface="Cambria Math" panose="02040503050406030204" pitchFamily="18" charset="0"/>
                                    <a:cs typeface="Times New Roman" panose="02020603050405020304" pitchFamily="18" charset="0"/>
                                  </a:rPr>
                                  <m:t>𝜃</m:t>
                                </m:r>
                              </m:e>
                              <m:sub>
                                <m:r>
                                  <a:rPr lang="en-US" b="0" i="1" kern="100" smtClean="0">
                                    <a:solidFill>
                                      <a:srgbClr val="0000CC"/>
                                    </a:solidFill>
                                    <a:latin typeface="Cambria Math" panose="02040503050406030204" pitchFamily="18" charset="0"/>
                                    <a:ea typeface="Cambria Math" panose="02040503050406030204" pitchFamily="18" charset="0"/>
                                    <a:cs typeface="Times New Roman" panose="02020603050405020304" pitchFamily="18" charset="0"/>
                                  </a:rPr>
                                  <m:t>1</m:t>
                                </m:r>
                              </m:sub>
                            </m:sSub>
                            <m:r>
                              <a:rPr lang="en-GB" b="0" i="1" kern="100" smtClean="0">
                                <a:solidFill>
                                  <a:srgbClr val="0000CC"/>
                                </a:solidFill>
                                <a:latin typeface="Cambria Math" panose="02040503050406030204" pitchFamily="18" charset="0"/>
                                <a:ea typeface="Cambria Math" panose="02040503050406030204" pitchFamily="18" charset="0"/>
                                <a:cs typeface="Times New Roman" panose="02020603050405020304" pitchFamily="18" charset="0"/>
                              </a:rPr>
                              <m:t>−</m:t>
                            </m:r>
                            <m:sSub>
                              <m:sSubPr>
                                <m:ctrlPr>
                                  <a:rPr lang="en-US" b="1" i="1">
                                    <a:solidFill>
                                      <a:srgbClr val="0000CC"/>
                                    </a:solidFill>
                                    <a:latin typeface="Cambria Math" panose="02040503050406030204" pitchFamily="18" charset="0"/>
                                    <a:ea typeface="Cambria Math" panose="02040503050406030204" pitchFamily="18" charset="0"/>
                                  </a:rPr>
                                </m:ctrlPr>
                              </m:sSubPr>
                              <m:e>
                                <m:r>
                                  <a:rPr lang="en-US" b="1" i="1" dirty="0">
                                    <a:solidFill>
                                      <a:srgbClr val="0000CC"/>
                                    </a:solidFill>
                                    <a:latin typeface="Cambria Math" panose="02040503050406030204" pitchFamily="18" charset="0"/>
                                    <a:ea typeface="Cambria Math" panose="02040503050406030204" pitchFamily="18" charset="0"/>
                                  </a:rPr>
                                  <m:t>𝝓</m:t>
                                </m:r>
                              </m:e>
                              <m:sub>
                                <m:r>
                                  <a:rPr lang="en-US" b="1" i="1" dirty="0" smtClean="0">
                                    <a:solidFill>
                                      <a:srgbClr val="0000CC"/>
                                    </a:solidFill>
                                    <a:latin typeface="Cambria Math" panose="02040503050406030204" pitchFamily="18" charset="0"/>
                                    <a:ea typeface="Cambria Math" panose="02040503050406030204" pitchFamily="18" charset="0"/>
                                  </a:rPr>
                                  <m:t>𝟏</m:t>
                                </m:r>
                              </m:sub>
                            </m:sSub>
                          </m:e>
                        </m:d>
                      </m:e>
                    </m:func>
                    <m:r>
                      <a:rPr lang="en-GB" b="1" i="1" kern="100" smtClean="0">
                        <a:solidFill>
                          <a:srgbClr val="0000CC"/>
                        </a:solidFill>
                        <a:latin typeface="Cambria Math" panose="02040503050406030204" pitchFamily="18" charset="0"/>
                        <a:ea typeface="Cambria Math" panose="02040503050406030204" pitchFamily="18" charset="0"/>
                        <a:cs typeface="Times New Roman" panose="02020603050405020304" pitchFamily="18" charset="0"/>
                      </a:rPr>
                      <m:t>+</m:t>
                    </m:r>
                    <m:nary>
                      <m:naryPr>
                        <m:chr m:val="∑"/>
                        <m:limLoc m:val="subSup"/>
                        <m:ctrlPr>
                          <a:rPr lang="en-GB" b="1" i="1" kern="100" smtClean="0">
                            <a:solidFill>
                              <a:srgbClr val="0000CC"/>
                            </a:solidFill>
                            <a:latin typeface="Cambria Math" panose="02040503050406030204" pitchFamily="18" charset="0"/>
                            <a:ea typeface="Cambria Math" panose="02040503050406030204" pitchFamily="18" charset="0"/>
                            <a:cs typeface="Times New Roman" panose="02020603050405020304" pitchFamily="18" charset="0"/>
                          </a:rPr>
                        </m:ctrlPr>
                      </m:naryPr>
                      <m:sub>
                        <m:r>
                          <m:rPr>
                            <m:brk m:alnAt="25"/>
                          </m:rPr>
                          <a:rPr lang="en-US" b="1" i="1" kern="100" smtClean="0">
                            <a:solidFill>
                              <a:srgbClr val="0000CC"/>
                            </a:solidFill>
                            <a:latin typeface="Cambria Math" panose="02040503050406030204" pitchFamily="18" charset="0"/>
                            <a:ea typeface="Cambria Math" panose="02040503050406030204" pitchFamily="18" charset="0"/>
                            <a:cs typeface="Times New Roman" panose="02020603050405020304" pitchFamily="18" charset="0"/>
                          </a:rPr>
                          <m:t>𝒏</m:t>
                        </m:r>
                        <m:r>
                          <a:rPr lang="en-US" b="1" i="1" kern="100" smtClean="0">
                            <a:solidFill>
                              <a:srgbClr val="0000CC"/>
                            </a:solidFill>
                            <a:latin typeface="Cambria Math" panose="02040503050406030204" pitchFamily="18" charset="0"/>
                            <a:ea typeface="Cambria Math" panose="02040503050406030204" pitchFamily="18" charset="0"/>
                            <a:cs typeface="Times New Roman" panose="02020603050405020304" pitchFamily="18" charset="0"/>
                          </a:rPr>
                          <m:t>=</m:t>
                        </m:r>
                        <m:r>
                          <a:rPr lang="en-US" b="1" i="1" kern="100" smtClean="0">
                            <a:solidFill>
                              <a:srgbClr val="0000CC"/>
                            </a:solidFill>
                            <a:latin typeface="Cambria Math" panose="02040503050406030204" pitchFamily="18" charset="0"/>
                            <a:ea typeface="Cambria Math" panose="02040503050406030204" pitchFamily="18" charset="0"/>
                            <a:cs typeface="Times New Roman" panose="02020603050405020304" pitchFamily="18" charset="0"/>
                          </a:rPr>
                          <m:t>𝟏</m:t>
                        </m:r>
                      </m:sub>
                      <m:sup>
                        <m:r>
                          <a:rPr lang="en-GB" b="1" i="1" kern="100" smtClean="0">
                            <a:solidFill>
                              <a:srgbClr val="0000CC"/>
                            </a:solidFill>
                            <a:latin typeface="Cambria Math" panose="02040503050406030204" pitchFamily="18" charset="0"/>
                            <a:ea typeface="Cambria Math" panose="02040503050406030204" pitchFamily="18" charset="0"/>
                            <a:cs typeface="Times New Roman" panose="02020603050405020304" pitchFamily="18" charset="0"/>
                          </a:rPr>
                          <m:t>∞</m:t>
                        </m:r>
                      </m:sup>
                      <m:e>
                        <m:f>
                          <m:fPr>
                            <m:ctrlPr>
                              <a:rPr lang="en-GB" b="1" i="1" kern="100" smtClean="0">
                                <a:solidFill>
                                  <a:srgbClr val="0000CC"/>
                                </a:solidFill>
                                <a:latin typeface="Cambria Math" panose="02040503050406030204" pitchFamily="18" charset="0"/>
                                <a:ea typeface="Cambria Math" panose="02040503050406030204" pitchFamily="18" charset="0"/>
                                <a:cs typeface="Times New Roman" panose="02020603050405020304" pitchFamily="18" charset="0"/>
                              </a:rPr>
                            </m:ctrlPr>
                          </m:fPr>
                          <m:num>
                            <m:d>
                              <m:dPr>
                                <m:ctrlPr>
                                  <a:rPr lang="en-GB" b="1" i="1" kern="100" smtClean="0">
                                    <a:solidFill>
                                      <a:srgbClr val="0000CC"/>
                                    </a:solidFill>
                                    <a:latin typeface="Cambria Math" panose="02040503050406030204" pitchFamily="18" charset="0"/>
                                    <a:ea typeface="Cambria Math" panose="02040503050406030204" pitchFamily="18" charset="0"/>
                                    <a:cs typeface="Times New Roman" panose="02020603050405020304" pitchFamily="18" charset="0"/>
                                  </a:rPr>
                                </m:ctrlPr>
                              </m:dPr>
                              <m:e>
                                <m:r>
                                  <a:rPr lang="en-US" b="1" i="1" kern="100" smtClean="0">
                                    <a:solidFill>
                                      <a:srgbClr val="0000CC"/>
                                    </a:solidFill>
                                    <a:latin typeface="Cambria Math" panose="02040503050406030204" pitchFamily="18" charset="0"/>
                                    <a:ea typeface="Cambria Math" panose="02040503050406030204" pitchFamily="18" charset="0"/>
                                    <a:cs typeface="Times New Roman" panose="02020603050405020304" pitchFamily="18" charset="0"/>
                                  </a:rPr>
                                  <m:t>𝟎</m:t>
                                </m:r>
                              </m:e>
                            </m:d>
                            <m:d>
                              <m:dPr>
                                <m:ctrlPr>
                                  <a:rPr lang="en-GB" b="1" i="1" kern="100" smtClean="0">
                                    <a:solidFill>
                                      <a:srgbClr val="0000CC"/>
                                    </a:solidFill>
                                    <a:latin typeface="Cambria Math" panose="02040503050406030204" pitchFamily="18" charset="0"/>
                                    <a:ea typeface="Cambria Math" panose="02040503050406030204" pitchFamily="18" charset="0"/>
                                    <a:cs typeface="Times New Roman" panose="02020603050405020304" pitchFamily="18" charset="0"/>
                                  </a:rPr>
                                </m:ctrlPr>
                              </m:dPr>
                              <m:e>
                                <m:sSub>
                                  <m:sSubPr>
                                    <m:ctrlPr>
                                      <a:rPr lang="en-GB" b="1" i="1" kern="100" smtClean="0">
                                        <a:solidFill>
                                          <a:srgbClr val="0000CC"/>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b="1" i="1" kern="100" smtClean="0">
                                        <a:solidFill>
                                          <a:srgbClr val="0000CC"/>
                                        </a:solidFill>
                                        <a:latin typeface="Cambria Math" panose="02040503050406030204" pitchFamily="18" charset="0"/>
                                        <a:ea typeface="Cambria Math" panose="02040503050406030204" pitchFamily="18" charset="0"/>
                                        <a:cs typeface="Times New Roman" panose="02020603050405020304" pitchFamily="18" charset="0"/>
                                      </a:rPr>
                                      <m:t>𝑰</m:t>
                                    </m:r>
                                  </m:e>
                                  <m:sub>
                                    <m:r>
                                      <a:rPr lang="en-US" b="1" i="1" kern="100" smtClean="0">
                                        <a:solidFill>
                                          <a:srgbClr val="0000CC"/>
                                        </a:solidFill>
                                        <a:latin typeface="Cambria Math" panose="02040503050406030204" pitchFamily="18" charset="0"/>
                                        <a:ea typeface="Cambria Math" panose="02040503050406030204" pitchFamily="18" charset="0"/>
                                        <a:cs typeface="Times New Roman" panose="02020603050405020304" pitchFamily="18" charset="0"/>
                                      </a:rPr>
                                      <m:t>𝒏</m:t>
                                    </m:r>
                                    <m:r>
                                      <a:rPr lang="en-US" b="1" i="1" kern="100" smtClean="0">
                                        <a:solidFill>
                                          <a:srgbClr val="0000CC"/>
                                        </a:solidFill>
                                        <a:latin typeface="Cambria Math" panose="02040503050406030204" pitchFamily="18" charset="0"/>
                                        <a:ea typeface="Cambria Math" panose="02040503050406030204" pitchFamily="18" charset="0"/>
                                        <a:cs typeface="Times New Roman" panose="02020603050405020304" pitchFamily="18" charset="0"/>
                                      </a:rPr>
                                      <m:t>,</m:t>
                                    </m:r>
                                    <m:r>
                                      <a:rPr lang="en-US" b="1" i="1" kern="100" smtClean="0">
                                        <a:solidFill>
                                          <a:srgbClr val="0000CC"/>
                                        </a:solidFill>
                                        <a:latin typeface="Cambria Math" panose="02040503050406030204" pitchFamily="18" charset="0"/>
                                        <a:ea typeface="Cambria Math" panose="02040503050406030204" pitchFamily="18" charset="0"/>
                                        <a:cs typeface="Times New Roman" panose="02020603050405020304" pitchFamily="18" charset="0"/>
                                      </a:rPr>
                                      <m:t>𝒎𝒂</m:t>
                                    </m:r>
                                    <m:r>
                                      <a:rPr lang="en-US" b="1" i="1" kern="100" smtClean="0">
                                        <a:solidFill>
                                          <a:srgbClr val="0000CC"/>
                                        </a:solidFill>
                                        <a:latin typeface="Cambria Math" panose="02040503050406030204" pitchFamily="18" charset="0"/>
                                        <a:ea typeface="Cambria Math" panose="02040503050406030204" pitchFamily="18" charset="0"/>
                                        <a:cs typeface="Times New Roman" panose="02020603050405020304" pitchFamily="18" charset="0"/>
                                      </a:rPr>
                                      <m:t>×</m:t>
                                    </m:r>
                                  </m:sub>
                                </m:sSub>
                              </m:e>
                            </m:d>
                          </m:num>
                          <m:den>
                            <m:r>
                              <a:rPr lang="en-US" b="1" i="1" kern="100" smtClean="0">
                                <a:solidFill>
                                  <a:srgbClr val="0000CC"/>
                                </a:solidFill>
                                <a:latin typeface="Cambria Math" panose="02040503050406030204" pitchFamily="18" charset="0"/>
                                <a:ea typeface="Cambria Math" panose="02040503050406030204" pitchFamily="18" charset="0"/>
                                <a:cs typeface="Times New Roman" panose="02020603050405020304" pitchFamily="18" charset="0"/>
                              </a:rPr>
                              <m:t>𝟐</m:t>
                            </m:r>
                          </m:den>
                        </m:f>
                      </m:e>
                    </m:nary>
                    <m:func>
                      <m:funcPr>
                        <m:ctrlPr>
                          <a:rPr lang="en-GB" b="1" i="1" kern="100" smtClean="0">
                            <a:solidFill>
                              <a:srgbClr val="0000CC"/>
                            </a:solidFill>
                            <a:latin typeface="Cambria Math" panose="02040503050406030204" pitchFamily="18" charset="0"/>
                            <a:ea typeface="Cambria Math" panose="02040503050406030204" pitchFamily="18" charset="0"/>
                            <a:cs typeface="Times New Roman" panose="02020603050405020304" pitchFamily="18" charset="0"/>
                          </a:rPr>
                        </m:ctrlPr>
                      </m:funcPr>
                      <m:fName>
                        <m:r>
                          <m:rPr>
                            <m:sty m:val="p"/>
                          </m:rPr>
                          <a:rPr lang="en-GB" b="0" i="0" kern="100" smtClean="0">
                            <a:solidFill>
                              <a:srgbClr val="0000CC"/>
                            </a:solidFill>
                            <a:latin typeface="Cambria Math" panose="02040503050406030204" pitchFamily="18" charset="0"/>
                            <a:ea typeface="Cambria Math" panose="02040503050406030204" pitchFamily="18" charset="0"/>
                            <a:cs typeface="Times New Roman" panose="02020603050405020304" pitchFamily="18" charset="0"/>
                          </a:rPr>
                          <m:t>cos</m:t>
                        </m:r>
                      </m:fName>
                      <m:e>
                        <m:d>
                          <m:dPr>
                            <m:ctrlPr>
                              <a:rPr lang="en-GB" b="0" i="1" kern="100" smtClean="0">
                                <a:solidFill>
                                  <a:srgbClr val="0000CC"/>
                                </a:solidFill>
                                <a:latin typeface="Cambria Math" panose="02040503050406030204" pitchFamily="18" charset="0"/>
                                <a:ea typeface="Cambria Math" panose="02040503050406030204" pitchFamily="18" charset="0"/>
                                <a:cs typeface="Times New Roman" panose="02020603050405020304" pitchFamily="18" charset="0"/>
                              </a:rPr>
                            </m:ctrlPr>
                          </m:dPr>
                          <m:e>
                            <m:sSub>
                              <m:sSubPr>
                                <m:ctrlPr>
                                  <a:rPr lang="en-GB" b="0" i="1" kern="100" smtClean="0">
                                    <a:solidFill>
                                      <a:srgbClr val="0000CC"/>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GB" b="0" i="1" kern="100" smtClean="0">
                                    <a:solidFill>
                                      <a:srgbClr val="0000CC"/>
                                    </a:solidFill>
                                    <a:latin typeface="Cambria Math" panose="02040503050406030204" pitchFamily="18" charset="0"/>
                                    <a:ea typeface="Cambria Math" panose="02040503050406030204" pitchFamily="18" charset="0"/>
                                    <a:cs typeface="Times New Roman" panose="02020603050405020304" pitchFamily="18" charset="0"/>
                                  </a:rPr>
                                  <m:t>𝜃</m:t>
                                </m:r>
                              </m:e>
                              <m:sub>
                                <m:r>
                                  <a:rPr lang="en-US" b="0" i="1" kern="100" smtClean="0">
                                    <a:solidFill>
                                      <a:srgbClr val="0000CC"/>
                                    </a:solidFill>
                                    <a:latin typeface="Cambria Math" panose="02040503050406030204" pitchFamily="18" charset="0"/>
                                    <a:ea typeface="Cambria Math" panose="02040503050406030204" pitchFamily="18" charset="0"/>
                                    <a:cs typeface="Times New Roman" panose="02020603050405020304" pitchFamily="18" charset="0"/>
                                  </a:rPr>
                                  <m:t>𝑛</m:t>
                                </m:r>
                              </m:sub>
                            </m:sSub>
                            <m:r>
                              <a:rPr lang="en-GB" b="0" i="1" kern="100" smtClean="0">
                                <a:solidFill>
                                  <a:srgbClr val="0000CC"/>
                                </a:solidFill>
                                <a:latin typeface="Cambria Math" panose="02040503050406030204" pitchFamily="18" charset="0"/>
                                <a:ea typeface="Cambria Math" panose="02040503050406030204" pitchFamily="18" charset="0"/>
                                <a:cs typeface="Times New Roman" panose="02020603050405020304" pitchFamily="18" charset="0"/>
                              </a:rPr>
                              <m:t>−</m:t>
                            </m:r>
                            <m:sSub>
                              <m:sSubPr>
                                <m:ctrlPr>
                                  <a:rPr lang="en-US" i="1">
                                    <a:solidFill>
                                      <a:srgbClr val="0000CC"/>
                                    </a:solidFill>
                                    <a:latin typeface="Cambria Math" panose="02040503050406030204" pitchFamily="18" charset="0"/>
                                    <a:ea typeface="Cambria Math" panose="02040503050406030204" pitchFamily="18" charset="0"/>
                                  </a:rPr>
                                </m:ctrlPr>
                              </m:sSubPr>
                              <m:e>
                                <m:r>
                                  <a:rPr lang="en-US" b="0" i="1" dirty="0">
                                    <a:solidFill>
                                      <a:srgbClr val="0000CC"/>
                                    </a:solidFill>
                                    <a:latin typeface="Cambria Math" panose="02040503050406030204" pitchFamily="18" charset="0"/>
                                    <a:ea typeface="Cambria Math" panose="02040503050406030204" pitchFamily="18" charset="0"/>
                                  </a:rPr>
                                  <m:t>𝜙</m:t>
                                </m:r>
                              </m:e>
                              <m:sub>
                                <m:r>
                                  <a:rPr lang="en-US" b="0" i="1" dirty="0" smtClean="0">
                                    <a:solidFill>
                                      <a:srgbClr val="0000CC"/>
                                    </a:solidFill>
                                    <a:latin typeface="Cambria Math" panose="02040503050406030204" pitchFamily="18" charset="0"/>
                                    <a:ea typeface="Cambria Math" panose="02040503050406030204" pitchFamily="18" charset="0"/>
                                  </a:rPr>
                                  <m:t>𝑛</m:t>
                                </m:r>
                              </m:sub>
                            </m:sSub>
                          </m:e>
                        </m:d>
                      </m:e>
                    </m:func>
                  </m:oMath>
                </a14:m>
                <a:br>
                  <a:rPr lang="en-US" sz="2400" b="1" kern="100" dirty="0">
                    <a:solidFill>
                      <a:srgbClr val="0000CC"/>
                    </a:solidFill>
                    <a:latin typeface="Century Gothic" panose="020B0502020202020204" pitchFamily="34" charset="0"/>
                    <a:ea typeface="Calibri" panose="020F0502020204030204" pitchFamily="34" charset="0"/>
                    <a:cs typeface="Times New Roman" panose="02020603050405020304" pitchFamily="18" charset="0"/>
                  </a:rPr>
                </a:br>
                <a:br>
                  <a:rPr lang="en-US" sz="2400" b="1" kern="100" dirty="0">
                    <a:solidFill>
                      <a:srgbClr val="0000CC"/>
                    </a:solidFill>
                    <a:latin typeface="Century Gothic" panose="020B0502020202020204" pitchFamily="34" charset="0"/>
                    <a:ea typeface="Calibri" panose="020F0502020204030204" pitchFamily="34" charset="0"/>
                    <a:cs typeface="Times New Roman" panose="02020603050405020304" pitchFamily="18" charset="0"/>
                  </a:rPr>
                </a:br>
                <a:r>
                  <a:rPr lang="en-US" sz="2400" b="1" kern="100" dirty="0">
                    <a:solidFill>
                      <a:srgbClr val="0000CC"/>
                    </a:solidFill>
                    <a:latin typeface="Century Gothic" panose="020B0502020202020204" pitchFamily="34" charset="0"/>
                    <a:ea typeface="Calibri" panose="020F0502020204030204" pitchFamily="34" charset="0"/>
                    <a:cs typeface="Times New Roman" panose="02020603050405020304" pitchFamily="18" charset="0"/>
                  </a:rPr>
                  <a:t>	</a:t>
                </a:r>
                <a:br>
                  <a:rPr lang="en-GB" sz="2400" b="1" kern="100" dirty="0">
                    <a:solidFill>
                      <a:srgbClr val="0000CC"/>
                    </a:solidFill>
                    <a:latin typeface="Century Gothic" panose="020B0502020202020204" pitchFamily="34" charset="0"/>
                    <a:ea typeface="Calibri" panose="020F0502020204030204" pitchFamily="34" charset="0"/>
                    <a:cs typeface="Times New Roman" panose="02020603050405020304" pitchFamily="18" charset="0"/>
                  </a:rPr>
                </a:br>
                <a:r>
                  <a:rPr lang="en-GB" sz="2400" b="1" kern="100" dirty="0">
                    <a:solidFill>
                      <a:srgbClr val="0000CC"/>
                    </a:solidFill>
                    <a:latin typeface="Century Gothic" panose="020B0502020202020204" pitchFamily="34" charset="0"/>
                    <a:ea typeface="Calibri" panose="020F0502020204030204" pitchFamily="34" charset="0"/>
                    <a:cs typeface="Times New Roman" panose="02020603050405020304" pitchFamily="18" charset="0"/>
                  </a:rPr>
                  <a:t>NB: Note that only nonzero power term is at the frequency of the applied voltage</a:t>
                </a:r>
              </a:p>
            </p:txBody>
          </p:sp>
        </mc:Choice>
        <mc:Fallback xmlns="">
          <p:sp>
            <p:nvSpPr>
              <p:cNvPr id="6" name="TextBox 5">
                <a:extLst>
                  <a:ext uri="{FF2B5EF4-FFF2-40B4-BE49-F238E27FC236}">
                    <a16:creationId xmlns:a16="http://schemas.microsoft.com/office/drawing/2014/main" id="{6BAA1F11-5BEF-4D80-964F-A7332E36BFA0}"/>
                  </a:ext>
                </a:extLst>
              </p:cNvPr>
              <p:cNvSpPr txBox="1">
                <a:spLocks noRot="1" noChangeAspect="1" noMove="1" noResize="1" noEditPoints="1" noAdjustHandles="1" noChangeArrowheads="1" noChangeShapeType="1" noTextEdit="1"/>
              </p:cNvSpPr>
              <p:nvPr/>
            </p:nvSpPr>
            <p:spPr>
              <a:xfrm>
                <a:off x="116732" y="1167598"/>
                <a:ext cx="12075267" cy="5343899"/>
              </a:xfrm>
              <a:prstGeom prst="rect">
                <a:avLst/>
              </a:prstGeom>
              <a:blipFill>
                <a:blip r:embed="rId3"/>
                <a:stretch>
                  <a:fillRect l="-706" t="-797" r="-706" b="-1595"/>
                </a:stretch>
              </a:blipFill>
              <a:ln>
                <a:solidFill>
                  <a:srgbClr val="FF0066"/>
                </a:solidFill>
              </a:ln>
            </p:spPr>
            <p:txBody>
              <a:bodyPr/>
              <a:lstStyle/>
              <a:p>
                <a:r>
                  <a:rPr lang="en-US">
                    <a:noFill/>
                  </a:rPr>
                  <a:t> </a:t>
                </a:r>
              </a:p>
            </p:txBody>
          </p:sp>
        </mc:Fallback>
      </mc:AlternateContent>
      <p:sp>
        <p:nvSpPr>
          <p:cNvPr id="7" name="TextBox 6">
            <a:extLst>
              <a:ext uri="{FF2B5EF4-FFF2-40B4-BE49-F238E27FC236}">
                <a16:creationId xmlns:a16="http://schemas.microsoft.com/office/drawing/2014/main" id="{C36AA635-C21F-49F3-BF21-4CBE4C20709B}"/>
              </a:ext>
            </a:extLst>
          </p:cNvPr>
          <p:cNvSpPr txBox="1"/>
          <p:nvPr/>
        </p:nvSpPr>
        <p:spPr>
          <a:xfrm>
            <a:off x="5269122" y="6037275"/>
            <a:ext cx="823314" cy="373051"/>
          </a:xfrm>
          <a:prstGeom prst="rect">
            <a:avLst/>
          </a:prstGeom>
          <a:noFill/>
        </p:spPr>
        <p:txBody>
          <a:bodyPr wrap="square" rtlCol="0">
            <a:spAutoFit/>
          </a:bodyPr>
          <a:lstStyle/>
          <a:p>
            <a:pPr algn="ctr"/>
            <a:endParaRPr lang="en-GB" sz="1824" dirty="0">
              <a:latin typeface="Garamond" panose="02020404030301010803" pitchFamily="18" charset="0"/>
            </a:endParaRPr>
          </a:p>
        </p:txBody>
      </p:sp>
      <mc:AlternateContent xmlns:mc="http://schemas.openxmlformats.org/markup-compatibility/2006">
        <mc:Choice xmlns:a14="http://schemas.microsoft.com/office/drawing/2010/main" Requires="a14">
          <p:sp>
            <p:nvSpPr>
              <p:cNvPr id="2" name="TextBox 1">
                <a:extLst>
                  <a:ext uri="{FF2B5EF4-FFF2-40B4-BE49-F238E27FC236}">
                    <a16:creationId xmlns:a16="http://schemas.microsoft.com/office/drawing/2014/main" id="{79F1ED2B-C372-4314-A8E4-73391187A294}"/>
                  </a:ext>
                </a:extLst>
              </p:cNvPr>
              <p:cNvSpPr txBox="1"/>
              <p:nvPr/>
            </p:nvSpPr>
            <p:spPr>
              <a:xfrm>
                <a:off x="1734751" y="1733182"/>
                <a:ext cx="2543784" cy="369332"/>
              </a:xfrm>
              <a:prstGeom prst="rect">
                <a:avLst/>
              </a:prstGeom>
              <a:solidFill>
                <a:srgbClr val="00FFFF"/>
              </a:solidFill>
            </p:spPr>
            <p:txBody>
              <a:bodyPr wrap="square" rtlCol="0">
                <a:spAutoFit/>
              </a:bodyPr>
              <a:lstStyle/>
              <a:p>
                <a14:m>
                  <m:oMath xmlns:m="http://schemas.openxmlformats.org/officeDocument/2006/math">
                    <m:r>
                      <a:rPr lang="en-US" b="1" i="1" smtClean="0">
                        <a:solidFill>
                          <a:srgbClr val="0000CC"/>
                        </a:solidFill>
                        <a:latin typeface="Cambria Math" panose="02040503050406030204" pitchFamily="18" charset="0"/>
                      </a:rPr>
                      <m:t>𝒗</m:t>
                    </m:r>
                    <m:r>
                      <a:rPr lang="en-US" b="1" i="0" smtClean="0">
                        <a:solidFill>
                          <a:srgbClr val="0000CC"/>
                        </a:solidFill>
                        <a:latin typeface="Cambria Math" panose="02040503050406030204" pitchFamily="18" charset="0"/>
                      </a:rPr>
                      <m:t>(</m:t>
                    </m:r>
                    <m:r>
                      <a:rPr lang="en-US" b="1" i="0" smtClean="0">
                        <a:solidFill>
                          <a:srgbClr val="0000CC"/>
                        </a:solidFill>
                        <a:latin typeface="Cambria Math" panose="02040503050406030204" pitchFamily="18" charset="0"/>
                      </a:rPr>
                      <m:t>𝐭</m:t>
                    </m:r>
                    <m:r>
                      <a:rPr lang="en-US" b="1" i="0" smtClean="0">
                        <a:solidFill>
                          <a:srgbClr val="0000CC"/>
                        </a:solidFill>
                        <a:latin typeface="Cambria Math" panose="02040503050406030204" pitchFamily="18" charset="0"/>
                      </a:rPr>
                      <m:t>)</m:t>
                    </m:r>
                  </m:oMath>
                </a14:m>
                <a:r>
                  <a:rPr lang="en-US" b="1" dirty="0">
                    <a:solidFill>
                      <a:srgbClr val="0000CC"/>
                    </a:solidFill>
                  </a:rPr>
                  <a:t> = </a:t>
                </a:r>
                <a14:m>
                  <m:oMath xmlns:m="http://schemas.openxmlformats.org/officeDocument/2006/math">
                    <m:sSub>
                      <m:sSubPr>
                        <m:ctrlPr>
                          <a:rPr lang="en-US" b="1" i="1" smtClean="0">
                            <a:solidFill>
                              <a:srgbClr val="0000CC"/>
                            </a:solidFill>
                            <a:latin typeface="Cambria Math" panose="02040503050406030204" pitchFamily="18" charset="0"/>
                          </a:rPr>
                        </m:ctrlPr>
                      </m:sSubPr>
                      <m:e>
                        <m:r>
                          <a:rPr lang="en-US" b="1" i="1" smtClean="0">
                            <a:solidFill>
                              <a:srgbClr val="0000CC"/>
                            </a:solidFill>
                            <a:latin typeface="Cambria Math" panose="02040503050406030204" pitchFamily="18" charset="0"/>
                          </a:rPr>
                          <m:t>𝑽</m:t>
                        </m:r>
                      </m:e>
                      <m:sub>
                        <m:r>
                          <a:rPr lang="en-US" b="1" i="1" smtClean="0">
                            <a:solidFill>
                              <a:srgbClr val="0000CC"/>
                            </a:solidFill>
                            <a:latin typeface="Cambria Math" panose="02040503050406030204" pitchFamily="18" charset="0"/>
                          </a:rPr>
                          <m:t>𝟏</m:t>
                        </m:r>
                      </m:sub>
                    </m:sSub>
                    <m:func>
                      <m:funcPr>
                        <m:ctrlPr>
                          <a:rPr lang="en-US" b="1" i="1" smtClean="0">
                            <a:solidFill>
                              <a:srgbClr val="0000CC"/>
                            </a:solidFill>
                            <a:latin typeface="Cambria Math" panose="02040503050406030204" pitchFamily="18" charset="0"/>
                          </a:rPr>
                        </m:ctrlPr>
                      </m:funcPr>
                      <m:fName>
                        <m:r>
                          <a:rPr lang="en-US" b="1" i="0" smtClean="0">
                            <a:solidFill>
                              <a:srgbClr val="0000CC"/>
                            </a:solidFill>
                            <a:latin typeface="Cambria Math" panose="02040503050406030204" pitchFamily="18" charset="0"/>
                          </a:rPr>
                          <m:t>𝐬𝐢𝐧</m:t>
                        </m:r>
                      </m:fName>
                      <m:e>
                        <m:d>
                          <m:dPr>
                            <m:ctrlPr>
                              <a:rPr lang="en-US" b="1" i="1" smtClean="0">
                                <a:solidFill>
                                  <a:srgbClr val="0000CC"/>
                                </a:solidFill>
                                <a:latin typeface="Cambria Math" panose="02040503050406030204" pitchFamily="18" charset="0"/>
                              </a:rPr>
                            </m:ctrlPr>
                          </m:dPr>
                          <m:e>
                            <m:sSub>
                              <m:sSubPr>
                                <m:ctrlPr>
                                  <a:rPr lang="en-US" b="1" i="1" smtClean="0">
                                    <a:solidFill>
                                      <a:srgbClr val="0000CC"/>
                                    </a:solidFill>
                                    <a:latin typeface="Cambria Math" panose="02040503050406030204" pitchFamily="18" charset="0"/>
                                  </a:rPr>
                                </m:ctrlPr>
                              </m:sSubPr>
                              <m:e>
                                <m:r>
                                  <a:rPr lang="en-US" b="1" i="1" smtClean="0">
                                    <a:solidFill>
                                      <a:srgbClr val="0000CC"/>
                                    </a:solidFill>
                                    <a:latin typeface="Cambria Math" panose="02040503050406030204" pitchFamily="18" charset="0"/>
                                    <a:ea typeface="Cambria Math" panose="02040503050406030204" pitchFamily="18" charset="0"/>
                                  </a:rPr>
                                  <m:t>𝝎</m:t>
                                </m:r>
                              </m:e>
                              <m:sub>
                                <m:r>
                                  <a:rPr lang="en-US" b="1" i="1" smtClean="0">
                                    <a:solidFill>
                                      <a:srgbClr val="0000CC"/>
                                    </a:solidFill>
                                    <a:latin typeface="Cambria Math" panose="02040503050406030204" pitchFamily="18" charset="0"/>
                                  </a:rPr>
                                  <m:t>𝟎</m:t>
                                </m:r>
                              </m:sub>
                            </m:sSub>
                            <m:r>
                              <a:rPr lang="en-US" b="1" i="1" smtClean="0">
                                <a:solidFill>
                                  <a:srgbClr val="0000CC"/>
                                </a:solidFill>
                                <a:latin typeface="Cambria Math" panose="02040503050406030204" pitchFamily="18" charset="0"/>
                              </a:rPr>
                              <m:t>𝒕</m:t>
                            </m:r>
                            <m:r>
                              <a:rPr lang="en-US" b="1" i="1" smtClean="0">
                                <a:solidFill>
                                  <a:srgbClr val="0000CC"/>
                                </a:solidFill>
                                <a:latin typeface="Cambria Math" panose="02040503050406030204" pitchFamily="18" charset="0"/>
                                <a:ea typeface="Cambria Math" panose="02040503050406030204" pitchFamily="18" charset="0"/>
                              </a:rPr>
                              <m:t>+</m:t>
                            </m:r>
                            <m:sSub>
                              <m:sSubPr>
                                <m:ctrlPr>
                                  <a:rPr lang="en-US" b="1" i="1" smtClean="0">
                                    <a:solidFill>
                                      <a:srgbClr val="0000CC"/>
                                    </a:solidFill>
                                    <a:latin typeface="Cambria Math" panose="02040503050406030204" pitchFamily="18" charset="0"/>
                                    <a:ea typeface="Cambria Math" panose="02040503050406030204" pitchFamily="18" charset="0"/>
                                  </a:rPr>
                                </m:ctrlPr>
                              </m:sSubPr>
                              <m:e>
                                <m:r>
                                  <a:rPr lang="en-US" b="1" i="1" smtClean="0">
                                    <a:solidFill>
                                      <a:srgbClr val="0000CC"/>
                                    </a:solidFill>
                                    <a:latin typeface="Cambria Math" panose="02040503050406030204" pitchFamily="18" charset="0"/>
                                    <a:ea typeface="Cambria Math" panose="02040503050406030204" pitchFamily="18" charset="0"/>
                                  </a:rPr>
                                  <m:t>𝜽</m:t>
                                </m:r>
                              </m:e>
                              <m:sub>
                                <m:r>
                                  <a:rPr lang="en-US" b="1" i="1" smtClean="0">
                                    <a:solidFill>
                                      <a:srgbClr val="0000CC"/>
                                    </a:solidFill>
                                    <a:latin typeface="Cambria Math" panose="02040503050406030204" pitchFamily="18" charset="0"/>
                                    <a:ea typeface="Cambria Math" panose="02040503050406030204" pitchFamily="18" charset="0"/>
                                  </a:rPr>
                                  <m:t>𝟏</m:t>
                                </m:r>
                              </m:sub>
                            </m:sSub>
                          </m:e>
                        </m:d>
                      </m:e>
                    </m:func>
                  </m:oMath>
                </a14:m>
                <a:endParaRPr lang="en-US" b="1" dirty="0"/>
              </a:p>
            </p:txBody>
          </p:sp>
        </mc:Choice>
        <mc:Fallback>
          <p:sp>
            <p:nvSpPr>
              <p:cNvPr id="2" name="TextBox 1">
                <a:extLst>
                  <a:ext uri="{FF2B5EF4-FFF2-40B4-BE49-F238E27FC236}">
                    <a16:creationId xmlns:a16="http://schemas.microsoft.com/office/drawing/2014/main" id="{79F1ED2B-C372-4314-A8E4-73391187A294}"/>
                  </a:ext>
                </a:extLst>
              </p:cNvPr>
              <p:cNvSpPr txBox="1">
                <a:spLocks noRot="1" noChangeAspect="1" noMove="1" noResize="1" noEditPoints="1" noAdjustHandles="1" noChangeArrowheads="1" noChangeShapeType="1" noTextEdit="1"/>
              </p:cNvSpPr>
              <p:nvPr/>
            </p:nvSpPr>
            <p:spPr>
              <a:xfrm>
                <a:off x="1734751" y="1733182"/>
                <a:ext cx="2543784" cy="369332"/>
              </a:xfrm>
              <a:prstGeom prst="rect">
                <a:avLst/>
              </a:prstGeom>
              <a:blipFill>
                <a:blip r:embed="rId4"/>
                <a:stretch>
                  <a:fillRect t="-8197" b="-2459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B71D279A-A3C5-4C48-A929-E21530F8AC76}"/>
                  </a:ext>
                </a:extLst>
              </p:cNvPr>
              <p:cNvSpPr txBox="1"/>
              <p:nvPr/>
            </p:nvSpPr>
            <p:spPr>
              <a:xfrm>
                <a:off x="1016539" y="2815447"/>
                <a:ext cx="3759742" cy="369332"/>
              </a:xfrm>
              <a:prstGeom prst="rect">
                <a:avLst/>
              </a:prstGeom>
              <a:solidFill>
                <a:srgbClr val="00FFFF"/>
              </a:solidFill>
            </p:spPr>
            <p:txBody>
              <a:bodyPr wrap="square" rtlCol="0">
                <a:spAutoFit/>
              </a:bodyPr>
              <a:lstStyle/>
              <a:p>
                <a14:m>
                  <m:oMath xmlns:m="http://schemas.openxmlformats.org/officeDocument/2006/math">
                    <m:r>
                      <a:rPr lang="en-US" b="1" i="1" smtClean="0">
                        <a:solidFill>
                          <a:srgbClr val="0000CC"/>
                        </a:solidFill>
                        <a:latin typeface="Cambria Math" panose="02040503050406030204" pitchFamily="18" charset="0"/>
                      </a:rPr>
                      <m:t>𝒊</m:t>
                    </m:r>
                    <m:r>
                      <a:rPr lang="en-US" b="1" i="1" smtClean="0">
                        <a:solidFill>
                          <a:srgbClr val="0000CC"/>
                        </a:solidFill>
                        <a:latin typeface="Cambria Math" panose="02040503050406030204" pitchFamily="18" charset="0"/>
                      </a:rPr>
                      <m:t>(</m:t>
                    </m:r>
                    <m:r>
                      <a:rPr lang="en-US" b="1" i="1" smtClean="0">
                        <a:solidFill>
                          <a:srgbClr val="0000CC"/>
                        </a:solidFill>
                        <a:latin typeface="Cambria Math" panose="02040503050406030204" pitchFamily="18" charset="0"/>
                      </a:rPr>
                      <m:t>𝒕</m:t>
                    </m:r>
                    <m:r>
                      <a:rPr lang="en-US" b="1" i="1" smtClean="0">
                        <a:solidFill>
                          <a:srgbClr val="0000CC"/>
                        </a:solidFill>
                        <a:latin typeface="Cambria Math" panose="02040503050406030204" pitchFamily="18" charset="0"/>
                      </a:rPr>
                      <m:t>)</m:t>
                    </m:r>
                  </m:oMath>
                </a14:m>
                <a:r>
                  <a:rPr lang="en-US" b="1" dirty="0">
                    <a:solidFill>
                      <a:srgbClr val="0000CC"/>
                    </a:solidFill>
                  </a:rPr>
                  <a:t> = </a:t>
                </a:r>
                <a14:m>
                  <m:oMath xmlns:m="http://schemas.openxmlformats.org/officeDocument/2006/math">
                    <m:sSub>
                      <m:sSubPr>
                        <m:ctrlPr>
                          <a:rPr lang="en-US" b="1" i="1" smtClean="0">
                            <a:solidFill>
                              <a:srgbClr val="0000CC"/>
                            </a:solidFill>
                            <a:latin typeface="Cambria Math" panose="02040503050406030204" pitchFamily="18" charset="0"/>
                          </a:rPr>
                        </m:ctrlPr>
                      </m:sSubPr>
                      <m:e>
                        <m:r>
                          <a:rPr lang="en-US" b="1" i="1" smtClean="0">
                            <a:solidFill>
                              <a:srgbClr val="0000CC"/>
                            </a:solidFill>
                            <a:latin typeface="Cambria Math" panose="02040503050406030204" pitchFamily="18" charset="0"/>
                          </a:rPr>
                          <m:t>𝑰</m:t>
                        </m:r>
                      </m:e>
                      <m:sub>
                        <m:r>
                          <a:rPr lang="en-US" b="1" i="1" smtClean="0">
                            <a:solidFill>
                              <a:srgbClr val="0000CC"/>
                            </a:solidFill>
                            <a:latin typeface="Cambria Math" panose="02040503050406030204" pitchFamily="18" charset="0"/>
                          </a:rPr>
                          <m:t>𝟎</m:t>
                        </m:r>
                      </m:sub>
                    </m:sSub>
                    <m:r>
                      <a:rPr lang="en-US" b="1" i="1" smtClean="0">
                        <a:solidFill>
                          <a:srgbClr val="0000CC"/>
                        </a:solidFill>
                        <a:latin typeface="Cambria Math" panose="02040503050406030204" pitchFamily="18" charset="0"/>
                        <a:ea typeface="Cambria Math" panose="02040503050406030204" pitchFamily="18" charset="0"/>
                      </a:rPr>
                      <m:t>+</m:t>
                    </m:r>
                    <m:nary>
                      <m:naryPr>
                        <m:chr m:val="∑"/>
                        <m:ctrlPr>
                          <a:rPr lang="en-US" b="1" i="1" smtClean="0">
                            <a:solidFill>
                              <a:srgbClr val="0000CC"/>
                            </a:solidFill>
                            <a:latin typeface="Cambria Math" panose="02040503050406030204" pitchFamily="18" charset="0"/>
                            <a:ea typeface="Cambria Math" panose="02040503050406030204" pitchFamily="18" charset="0"/>
                          </a:rPr>
                        </m:ctrlPr>
                      </m:naryPr>
                      <m:sub>
                        <m:r>
                          <m:rPr>
                            <m:brk m:alnAt="23"/>
                          </m:rPr>
                          <a:rPr lang="en-US" b="1" i="1" smtClean="0">
                            <a:solidFill>
                              <a:srgbClr val="0000CC"/>
                            </a:solidFill>
                            <a:latin typeface="Cambria Math" panose="02040503050406030204" pitchFamily="18" charset="0"/>
                            <a:ea typeface="Cambria Math" panose="02040503050406030204" pitchFamily="18" charset="0"/>
                          </a:rPr>
                          <m:t>𝒏</m:t>
                        </m:r>
                        <m:r>
                          <a:rPr lang="en-US" b="1" i="1" smtClean="0">
                            <a:solidFill>
                              <a:srgbClr val="0000CC"/>
                            </a:solidFill>
                            <a:latin typeface="Cambria Math" panose="02040503050406030204" pitchFamily="18" charset="0"/>
                            <a:ea typeface="Cambria Math" panose="02040503050406030204" pitchFamily="18" charset="0"/>
                          </a:rPr>
                          <m:t>=</m:t>
                        </m:r>
                        <m:r>
                          <a:rPr lang="en-US" b="1" i="1" smtClean="0">
                            <a:solidFill>
                              <a:srgbClr val="0000CC"/>
                            </a:solidFill>
                            <a:latin typeface="Cambria Math" panose="02040503050406030204" pitchFamily="18" charset="0"/>
                            <a:ea typeface="Cambria Math" panose="02040503050406030204" pitchFamily="18" charset="0"/>
                          </a:rPr>
                          <m:t>𝟏</m:t>
                        </m:r>
                      </m:sub>
                      <m:sup>
                        <m:r>
                          <a:rPr lang="en-US" b="1" i="1" smtClean="0">
                            <a:solidFill>
                              <a:srgbClr val="0000CC"/>
                            </a:solidFill>
                            <a:latin typeface="Cambria Math" panose="02040503050406030204" pitchFamily="18" charset="0"/>
                            <a:ea typeface="Cambria Math" panose="02040503050406030204" pitchFamily="18" charset="0"/>
                          </a:rPr>
                          <m:t>∞</m:t>
                        </m:r>
                      </m:sup>
                      <m:e>
                        <m:sSub>
                          <m:sSubPr>
                            <m:ctrlPr>
                              <a:rPr lang="en-US" b="1" i="1" smtClean="0">
                                <a:solidFill>
                                  <a:srgbClr val="0000CC"/>
                                </a:solidFill>
                                <a:latin typeface="Cambria Math" panose="02040503050406030204" pitchFamily="18" charset="0"/>
                                <a:ea typeface="Cambria Math" panose="02040503050406030204" pitchFamily="18" charset="0"/>
                              </a:rPr>
                            </m:ctrlPr>
                          </m:sSubPr>
                          <m:e>
                            <m:r>
                              <a:rPr lang="en-US" b="1" i="1" smtClean="0">
                                <a:solidFill>
                                  <a:srgbClr val="0000CC"/>
                                </a:solidFill>
                                <a:latin typeface="Cambria Math" panose="02040503050406030204" pitchFamily="18" charset="0"/>
                                <a:ea typeface="Cambria Math" panose="02040503050406030204" pitchFamily="18" charset="0"/>
                              </a:rPr>
                              <m:t>𝑰</m:t>
                            </m:r>
                          </m:e>
                          <m:sub>
                            <m:r>
                              <a:rPr lang="en-US" b="1" i="1" smtClean="0">
                                <a:solidFill>
                                  <a:srgbClr val="0000CC"/>
                                </a:solidFill>
                                <a:latin typeface="Cambria Math" panose="02040503050406030204" pitchFamily="18" charset="0"/>
                                <a:ea typeface="Cambria Math" panose="02040503050406030204" pitchFamily="18" charset="0"/>
                              </a:rPr>
                              <m:t>𝒏</m:t>
                            </m:r>
                          </m:sub>
                        </m:sSub>
                        <m:func>
                          <m:funcPr>
                            <m:ctrlPr>
                              <a:rPr lang="en-US" b="1" i="1" smtClean="0">
                                <a:solidFill>
                                  <a:srgbClr val="0000CC"/>
                                </a:solidFill>
                                <a:latin typeface="Cambria Math" panose="02040503050406030204" pitchFamily="18" charset="0"/>
                                <a:ea typeface="Cambria Math" panose="02040503050406030204" pitchFamily="18" charset="0"/>
                              </a:rPr>
                            </m:ctrlPr>
                          </m:funcPr>
                          <m:fName>
                            <m:r>
                              <a:rPr lang="en-US" b="1" i="0" smtClean="0">
                                <a:solidFill>
                                  <a:srgbClr val="0000CC"/>
                                </a:solidFill>
                                <a:latin typeface="Cambria Math" panose="02040503050406030204" pitchFamily="18" charset="0"/>
                                <a:ea typeface="Cambria Math" panose="02040503050406030204" pitchFamily="18" charset="0"/>
                              </a:rPr>
                              <m:t>𝐬𝐢𝐧</m:t>
                            </m:r>
                          </m:fName>
                          <m:e>
                            <m:d>
                              <m:dPr>
                                <m:ctrlPr>
                                  <a:rPr lang="en-US" b="1" i="1" smtClean="0">
                                    <a:solidFill>
                                      <a:srgbClr val="0000CC"/>
                                    </a:solidFill>
                                    <a:latin typeface="Cambria Math" panose="02040503050406030204" pitchFamily="18" charset="0"/>
                                    <a:ea typeface="Cambria Math" panose="02040503050406030204" pitchFamily="18" charset="0"/>
                                  </a:rPr>
                                </m:ctrlPr>
                              </m:dPr>
                              <m:e>
                                <m:r>
                                  <a:rPr lang="en-US" b="1" i="1" smtClean="0">
                                    <a:solidFill>
                                      <a:srgbClr val="0000CC"/>
                                    </a:solidFill>
                                    <a:latin typeface="Cambria Math" panose="02040503050406030204" pitchFamily="18" charset="0"/>
                                    <a:ea typeface="Cambria Math" panose="02040503050406030204" pitchFamily="18" charset="0"/>
                                  </a:rPr>
                                  <m:t>𝒏</m:t>
                                </m:r>
                                <m:sSub>
                                  <m:sSubPr>
                                    <m:ctrlPr>
                                      <a:rPr lang="en-US" b="1" i="1" smtClean="0">
                                        <a:solidFill>
                                          <a:srgbClr val="0000CC"/>
                                        </a:solidFill>
                                        <a:latin typeface="Cambria Math" panose="02040503050406030204" pitchFamily="18" charset="0"/>
                                        <a:ea typeface="Cambria Math" panose="02040503050406030204" pitchFamily="18" charset="0"/>
                                      </a:rPr>
                                    </m:ctrlPr>
                                  </m:sSubPr>
                                  <m:e>
                                    <m:r>
                                      <a:rPr lang="en-US" b="1" i="1" smtClean="0">
                                        <a:solidFill>
                                          <a:srgbClr val="0000CC"/>
                                        </a:solidFill>
                                        <a:latin typeface="Cambria Math" panose="02040503050406030204" pitchFamily="18" charset="0"/>
                                        <a:ea typeface="Cambria Math" panose="02040503050406030204" pitchFamily="18" charset="0"/>
                                      </a:rPr>
                                      <m:t>𝝎</m:t>
                                    </m:r>
                                  </m:e>
                                  <m:sub>
                                    <m:r>
                                      <a:rPr lang="en-US" b="1" i="1" smtClean="0">
                                        <a:solidFill>
                                          <a:srgbClr val="0000CC"/>
                                        </a:solidFill>
                                        <a:latin typeface="Cambria Math" panose="02040503050406030204" pitchFamily="18" charset="0"/>
                                        <a:ea typeface="Cambria Math" panose="02040503050406030204" pitchFamily="18" charset="0"/>
                                      </a:rPr>
                                      <m:t>𝟎</m:t>
                                    </m:r>
                                  </m:sub>
                                </m:sSub>
                                <m:r>
                                  <a:rPr lang="en-US" b="1" i="1" smtClean="0">
                                    <a:solidFill>
                                      <a:srgbClr val="0000CC"/>
                                    </a:solidFill>
                                    <a:latin typeface="Cambria Math" panose="02040503050406030204" pitchFamily="18" charset="0"/>
                                    <a:ea typeface="Cambria Math" panose="02040503050406030204" pitchFamily="18" charset="0"/>
                                  </a:rPr>
                                  <m:t>𝒕</m:t>
                                </m:r>
                                <m:r>
                                  <a:rPr lang="en-US" b="1" i="1" smtClean="0">
                                    <a:solidFill>
                                      <a:srgbClr val="0000CC"/>
                                    </a:solidFill>
                                    <a:latin typeface="Cambria Math" panose="02040503050406030204" pitchFamily="18" charset="0"/>
                                    <a:ea typeface="Cambria Math" panose="02040503050406030204" pitchFamily="18" charset="0"/>
                                  </a:rPr>
                                  <m:t>+</m:t>
                                </m:r>
                                <m:sSub>
                                  <m:sSubPr>
                                    <m:ctrlPr>
                                      <a:rPr lang="en-US" b="1" i="1" smtClean="0">
                                        <a:solidFill>
                                          <a:srgbClr val="0000CC"/>
                                        </a:solidFill>
                                        <a:latin typeface="Cambria Math" panose="02040503050406030204" pitchFamily="18" charset="0"/>
                                        <a:ea typeface="Cambria Math" panose="02040503050406030204" pitchFamily="18" charset="0"/>
                                      </a:rPr>
                                    </m:ctrlPr>
                                  </m:sSubPr>
                                  <m:e>
                                    <m:r>
                                      <a:rPr lang="en-US" b="1" i="1" dirty="0">
                                        <a:solidFill>
                                          <a:srgbClr val="0000CC"/>
                                        </a:solidFill>
                                        <a:latin typeface="Cambria Math" panose="02040503050406030204" pitchFamily="18" charset="0"/>
                                        <a:ea typeface="Cambria Math" panose="02040503050406030204" pitchFamily="18" charset="0"/>
                                      </a:rPr>
                                      <m:t>𝝓</m:t>
                                    </m:r>
                                  </m:e>
                                  <m:sub>
                                    <m:r>
                                      <a:rPr lang="en-US" b="1" i="1" dirty="0" smtClean="0">
                                        <a:solidFill>
                                          <a:srgbClr val="0000CC"/>
                                        </a:solidFill>
                                        <a:latin typeface="Cambria Math" panose="02040503050406030204" pitchFamily="18" charset="0"/>
                                        <a:ea typeface="Cambria Math" panose="02040503050406030204" pitchFamily="18" charset="0"/>
                                      </a:rPr>
                                      <m:t>𝒏</m:t>
                                    </m:r>
                                  </m:sub>
                                </m:sSub>
                              </m:e>
                            </m:d>
                          </m:e>
                        </m:func>
                      </m:e>
                    </m:nary>
                  </m:oMath>
                </a14:m>
                <a:endParaRPr lang="en-US" b="1" dirty="0"/>
              </a:p>
            </p:txBody>
          </p:sp>
        </mc:Choice>
        <mc:Fallback xmlns="">
          <p:sp>
            <p:nvSpPr>
              <p:cNvPr id="3" name="TextBox 2">
                <a:extLst>
                  <a:ext uri="{FF2B5EF4-FFF2-40B4-BE49-F238E27FC236}">
                    <a16:creationId xmlns:a16="http://schemas.microsoft.com/office/drawing/2014/main" id="{B71D279A-A3C5-4C48-A929-E21530F8AC76}"/>
                  </a:ext>
                </a:extLst>
              </p:cNvPr>
              <p:cNvSpPr txBox="1">
                <a:spLocks noRot="1" noChangeAspect="1" noMove="1" noResize="1" noEditPoints="1" noAdjustHandles="1" noChangeArrowheads="1" noChangeShapeType="1" noTextEdit="1"/>
              </p:cNvSpPr>
              <p:nvPr/>
            </p:nvSpPr>
            <p:spPr>
              <a:xfrm>
                <a:off x="1016539" y="2815447"/>
                <a:ext cx="3759742" cy="369332"/>
              </a:xfrm>
              <a:prstGeom prst="rect">
                <a:avLst/>
              </a:prstGeom>
              <a:blipFill>
                <a:blip r:embed="rId5"/>
                <a:stretch>
                  <a:fillRect t="-121667" b="-18833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BCAD86AF-30F3-4693-9561-8FD855B5DCE3}"/>
                  </a:ext>
                </a:extLst>
              </p:cNvPr>
              <p:cNvSpPr txBox="1"/>
              <p:nvPr/>
            </p:nvSpPr>
            <p:spPr>
              <a:xfrm>
                <a:off x="744164" y="4109095"/>
                <a:ext cx="4524957" cy="523028"/>
              </a:xfrm>
              <a:prstGeom prst="rect">
                <a:avLst/>
              </a:prstGeom>
              <a:solidFill>
                <a:srgbClr val="00FFFF"/>
              </a:solidFill>
            </p:spPr>
            <p:txBody>
              <a:bodyPr wrap="square" rtlCol="0">
                <a:spAutoFit/>
              </a:bodyPr>
              <a:lstStyle/>
              <a:p>
                <a14:m>
                  <m:oMath xmlns:m="http://schemas.openxmlformats.org/officeDocument/2006/math">
                    <m:r>
                      <a:rPr lang="en-US" b="1" i="1" smtClean="0">
                        <a:solidFill>
                          <a:srgbClr val="0000CC"/>
                        </a:solidFill>
                        <a:latin typeface="Cambria Math" panose="02040503050406030204" pitchFamily="18" charset="0"/>
                      </a:rPr>
                      <m:t>𝑷</m:t>
                    </m:r>
                  </m:oMath>
                </a14:m>
                <a:r>
                  <a:rPr lang="en-US" b="1" dirty="0">
                    <a:solidFill>
                      <a:srgbClr val="0000CC"/>
                    </a:solidFill>
                  </a:rPr>
                  <a:t> = </a:t>
                </a:r>
                <a14:m>
                  <m:oMath xmlns:m="http://schemas.openxmlformats.org/officeDocument/2006/math">
                    <m:sSub>
                      <m:sSubPr>
                        <m:ctrlPr>
                          <a:rPr lang="en-US" b="1" i="1" smtClean="0">
                            <a:solidFill>
                              <a:srgbClr val="0000CC"/>
                            </a:solidFill>
                            <a:latin typeface="Cambria Math" panose="02040503050406030204" pitchFamily="18" charset="0"/>
                          </a:rPr>
                        </m:ctrlPr>
                      </m:sSubPr>
                      <m:e>
                        <m:r>
                          <a:rPr lang="en-US" b="1" i="1" smtClean="0">
                            <a:solidFill>
                              <a:srgbClr val="0000CC"/>
                            </a:solidFill>
                            <a:latin typeface="Cambria Math" panose="02040503050406030204" pitchFamily="18" charset="0"/>
                          </a:rPr>
                          <m:t>𝑽</m:t>
                        </m:r>
                      </m:e>
                      <m:sub>
                        <m:r>
                          <a:rPr lang="en-US" b="1" i="1" smtClean="0">
                            <a:solidFill>
                              <a:srgbClr val="0000CC"/>
                            </a:solidFill>
                            <a:latin typeface="Cambria Math" panose="02040503050406030204" pitchFamily="18" charset="0"/>
                          </a:rPr>
                          <m:t>𝟎</m:t>
                        </m:r>
                      </m:sub>
                    </m:sSub>
                    <m:sSub>
                      <m:sSubPr>
                        <m:ctrlPr>
                          <a:rPr lang="en-US" b="1" i="1" smtClean="0">
                            <a:solidFill>
                              <a:srgbClr val="0000CC"/>
                            </a:solidFill>
                            <a:latin typeface="Cambria Math" panose="02040503050406030204" pitchFamily="18" charset="0"/>
                          </a:rPr>
                        </m:ctrlPr>
                      </m:sSubPr>
                      <m:e>
                        <m:r>
                          <a:rPr lang="en-US" b="1" i="1" smtClean="0">
                            <a:solidFill>
                              <a:srgbClr val="0000CC"/>
                            </a:solidFill>
                            <a:latin typeface="Cambria Math" panose="02040503050406030204" pitchFamily="18" charset="0"/>
                          </a:rPr>
                          <m:t>𝑰</m:t>
                        </m:r>
                      </m:e>
                      <m:sub>
                        <m:r>
                          <a:rPr lang="en-US" b="1" i="1" smtClean="0">
                            <a:solidFill>
                              <a:srgbClr val="0000CC"/>
                            </a:solidFill>
                            <a:latin typeface="Cambria Math" panose="02040503050406030204" pitchFamily="18" charset="0"/>
                          </a:rPr>
                          <m:t>𝟎</m:t>
                        </m:r>
                      </m:sub>
                    </m:sSub>
                    <m:r>
                      <a:rPr lang="en-US" b="1" i="1" smtClean="0">
                        <a:solidFill>
                          <a:srgbClr val="0000CC"/>
                        </a:solidFill>
                        <a:latin typeface="Cambria Math" panose="02040503050406030204" pitchFamily="18" charset="0"/>
                        <a:ea typeface="Cambria Math" panose="02040503050406030204" pitchFamily="18" charset="0"/>
                      </a:rPr>
                      <m:t>+</m:t>
                    </m:r>
                    <m:nary>
                      <m:naryPr>
                        <m:chr m:val="∑"/>
                        <m:limLoc m:val="subSup"/>
                        <m:ctrlPr>
                          <a:rPr lang="en-US" b="1" i="1" smtClean="0">
                            <a:solidFill>
                              <a:srgbClr val="0000CC"/>
                            </a:solidFill>
                            <a:latin typeface="Cambria Math" panose="02040503050406030204" pitchFamily="18" charset="0"/>
                            <a:ea typeface="Cambria Math" panose="02040503050406030204" pitchFamily="18" charset="0"/>
                          </a:rPr>
                        </m:ctrlPr>
                      </m:naryPr>
                      <m:sub>
                        <m:r>
                          <m:rPr>
                            <m:brk m:alnAt="25"/>
                          </m:rPr>
                          <a:rPr lang="en-US" b="1" i="1" smtClean="0">
                            <a:solidFill>
                              <a:srgbClr val="0000CC"/>
                            </a:solidFill>
                            <a:latin typeface="Cambria Math" panose="02040503050406030204" pitchFamily="18" charset="0"/>
                            <a:ea typeface="Cambria Math" panose="02040503050406030204" pitchFamily="18" charset="0"/>
                          </a:rPr>
                          <m:t>𝒏</m:t>
                        </m:r>
                        <m:r>
                          <a:rPr lang="en-US" b="1" i="1" smtClean="0">
                            <a:solidFill>
                              <a:srgbClr val="0000CC"/>
                            </a:solidFill>
                            <a:latin typeface="Cambria Math" panose="02040503050406030204" pitchFamily="18" charset="0"/>
                            <a:ea typeface="Cambria Math" panose="02040503050406030204" pitchFamily="18" charset="0"/>
                          </a:rPr>
                          <m:t>=</m:t>
                        </m:r>
                        <m:r>
                          <a:rPr lang="en-US" b="1" i="1" smtClean="0">
                            <a:solidFill>
                              <a:srgbClr val="0000CC"/>
                            </a:solidFill>
                            <a:latin typeface="Cambria Math" panose="02040503050406030204" pitchFamily="18" charset="0"/>
                            <a:ea typeface="Cambria Math" panose="02040503050406030204" pitchFamily="18" charset="0"/>
                          </a:rPr>
                          <m:t>𝟏</m:t>
                        </m:r>
                      </m:sub>
                      <m:sup>
                        <m:r>
                          <a:rPr lang="en-US" b="1" i="1" smtClean="0">
                            <a:solidFill>
                              <a:srgbClr val="0000CC"/>
                            </a:solidFill>
                            <a:latin typeface="Cambria Math" panose="02040503050406030204" pitchFamily="18" charset="0"/>
                            <a:ea typeface="Cambria Math" panose="02040503050406030204" pitchFamily="18" charset="0"/>
                          </a:rPr>
                          <m:t>∞</m:t>
                        </m:r>
                      </m:sup>
                      <m:e>
                        <m:d>
                          <m:dPr>
                            <m:ctrlPr>
                              <a:rPr lang="en-US" b="1" i="1" smtClean="0">
                                <a:solidFill>
                                  <a:srgbClr val="0000CC"/>
                                </a:solidFill>
                                <a:latin typeface="Cambria Math" panose="02040503050406030204" pitchFamily="18" charset="0"/>
                                <a:ea typeface="Cambria Math" panose="02040503050406030204" pitchFamily="18" charset="0"/>
                              </a:rPr>
                            </m:ctrlPr>
                          </m:dPr>
                          <m:e>
                            <m:f>
                              <m:fPr>
                                <m:ctrlPr>
                                  <a:rPr lang="en-US" b="1" i="1" smtClean="0">
                                    <a:solidFill>
                                      <a:srgbClr val="0000CC"/>
                                    </a:solidFill>
                                    <a:latin typeface="Cambria Math" panose="02040503050406030204" pitchFamily="18" charset="0"/>
                                    <a:ea typeface="Cambria Math" panose="02040503050406030204" pitchFamily="18" charset="0"/>
                                  </a:rPr>
                                </m:ctrlPr>
                              </m:fPr>
                              <m:num>
                                <m:sSub>
                                  <m:sSubPr>
                                    <m:ctrlPr>
                                      <a:rPr lang="en-US" b="1" i="1" smtClean="0">
                                        <a:solidFill>
                                          <a:srgbClr val="0000CC"/>
                                        </a:solidFill>
                                        <a:latin typeface="Cambria Math" panose="02040503050406030204" pitchFamily="18" charset="0"/>
                                        <a:ea typeface="Cambria Math" panose="02040503050406030204" pitchFamily="18" charset="0"/>
                                      </a:rPr>
                                    </m:ctrlPr>
                                  </m:sSubPr>
                                  <m:e>
                                    <m:r>
                                      <a:rPr lang="en-US" b="1" i="1" smtClean="0">
                                        <a:solidFill>
                                          <a:srgbClr val="0000CC"/>
                                        </a:solidFill>
                                        <a:latin typeface="Cambria Math" panose="02040503050406030204" pitchFamily="18" charset="0"/>
                                        <a:ea typeface="Cambria Math" panose="02040503050406030204" pitchFamily="18" charset="0"/>
                                      </a:rPr>
                                      <m:t>𝑽</m:t>
                                    </m:r>
                                  </m:e>
                                  <m:sub>
                                    <m:r>
                                      <a:rPr lang="en-US" b="1" i="1" smtClean="0">
                                        <a:solidFill>
                                          <a:srgbClr val="0000CC"/>
                                        </a:solidFill>
                                        <a:latin typeface="Cambria Math" panose="02040503050406030204" pitchFamily="18" charset="0"/>
                                        <a:ea typeface="Cambria Math" panose="02040503050406030204" pitchFamily="18" charset="0"/>
                                      </a:rPr>
                                      <m:t>𝒏</m:t>
                                    </m:r>
                                    <m:r>
                                      <a:rPr lang="en-US" b="1" i="1" smtClean="0">
                                        <a:solidFill>
                                          <a:srgbClr val="0000CC"/>
                                        </a:solidFill>
                                        <a:latin typeface="Cambria Math" panose="02040503050406030204" pitchFamily="18" charset="0"/>
                                        <a:ea typeface="Cambria Math" panose="02040503050406030204" pitchFamily="18" charset="0"/>
                                      </a:rPr>
                                      <m:t>,</m:t>
                                    </m:r>
                                    <m:r>
                                      <a:rPr lang="en-US" b="1" i="1" smtClean="0">
                                        <a:solidFill>
                                          <a:srgbClr val="0000CC"/>
                                        </a:solidFill>
                                        <a:latin typeface="Cambria Math" panose="02040503050406030204" pitchFamily="18" charset="0"/>
                                        <a:ea typeface="Cambria Math" panose="02040503050406030204" pitchFamily="18" charset="0"/>
                                      </a:rPr>
                                      <m:t>𝒎𝒂</m:t>
                                    </m:r>
                                    <m:r>
                                      <a:rPr lang="en-US" b="1" i="1" smtClean="0">
                                        <a:solidFill>
                                          <a:srgbClr val="0000CC"/>
                                        </a:solidFill>
                                        <a:latin typeface="Cambria Math" panose="02040503050406030204" pitchFamily="18" charset="0"/>
                                        <a:ea typeface="Cambria Math" panose="02040503050406030204" pitchFamily="18" charset="0"/>
                                      </a:rPr>
                                      <m:t>×</m:t>
                                    </m:r>
                                  </m:sub>
                                </m:sSub>
                                <m:sSub>
                                  <m:sSubPr>
                                    <m:ctrlPr>
                                      <a:rPr lang="en-US" b="1" i="1" smtClean="0">
                                        <a:solidFill>
                                          <a:srgbClr val="0000CC"/>
                                        </a:solidFill>
                                        <a:latin typeface="Cambria Math" panose="02040503050406030204" pitchFamily="18" charset="0"/>
                                        <a:ea typeface="Cambria Math" panose="02040503050406030204" pitchFamily="18" charset="0"/>
                                      </a:rPr>
                                    </m:ctrlPr>
                                  </m:sSubPr>
                                  <m:e>
                                    <m:r>
                                      <a:rPr lang="en-US" b="1" i="1" smtClean="0">
                                        <a:solidFill>
                                          <a:srgbClr val="0000CC"/>
                                        </a:solidFill>
                                        <a:latin typeface="Cambria Math" panose="02040503050406030204" pitchFamily="18" charset="0"/>
                                        <a:ea typeface="Cambria Math" panose="02040503050406030204" pitchFamily="18" charset="0"/>
                                      </a:rPr>
                                      <m:t>𝑰</m:t>
                                    </m:r>
                                  </m:e>
                                  <m:sub>
                                    <m:r>
                                      <a:rPr lang="en-US" b="1" i="1" smtClean="0">
                                        <a:solidFill>
                                          <a:srgbClr val="0000CC"/>
                                        </a:solidFill>
                                        <a:latin typeface="Cambria Math" panose="02040503050406030204" pitchFamily="18" charset="0"/>
                                        <a:ea typeface="Cambria Math" panose="02040503050406030204" pitchFamily="18" charset="0"/>
                                      </a:rPr>
                                      <m:t>𝒏</m:t>
                                    </m:r>
                                    <m:r>
                                      <a:rPr lang="en-US" b="1" i="1" smtClean="0">
                                        <a:solidFill>
                                          <a:srgbClr val="0000CC"/>
                                        </a:solidFill>
                                        <a:latin typeface="Cambria Math" panose="02040503050406030204" pitchFamily="18" charset="0"/>
                                        <a:ea typeface="Cambria Math" panose="02040503050406030204" pitchFamily="18" charset="0"/>
                                      </a:rPr>
                                      <m:t>,</m:t>
                                    </m:r>
                                    <m:r>
                                      <a:rPr lang="en-US" b="1" i="1" smtClean="0">
                                        <a:solidFill>
                                          <a:srgbClr val="0000CC"/>
                                        </a:solidFill>
                                        <a:latin typeface="Cambria Math" panose="02040503050406030204" pitchFamily="18" charset="0"/>
                                        <a:ea typeface="Cambria Math" panose="02040503050406030204" pitchFamily="18" charset="0"/>
                                      </a:rPr>
                                      <m:t>𝒎𝒂</m:t>
                                    </m:r>
                                    <m:r>
                                      <a:rPr lang="en-US" b="1" i="1" smtClean="0">
                                        <a:solidFill>
                                          <a:srgbClr val="0000CC"/>
                                        </a:solidFill>
                                        <a:latin typeface="Cambria Math" panose="02040503050406030204" pitchFamily="18" charset="0"/>
                                        <a:ea typeface="Cambria Math" panose="02040503050406030204" pitchFamily="18" charset="0"/>
                                      </a:rPr>
                                      <m:t>×</m:t>
                                    </m:r>
                                  </m:sub>
                                </m:sSub>
                              </m:num>
                              <m:den>
                                <m:r>
                                  <a:rPr lang="en-US" b="1" i="1" smtClean="0">
                                    <a:solidFill>
                                      <a:srgbClr val="0000CC"/>
                                    </a:solidFill>
                                    <a:latin typeface="Cambria Math" panose="02040503050406030204" pitchFamily="18" charset="0"/>
                                    <a:ea typeface="Cambria Math" panose="02040503050406030204" pitchFamily="18" charset="0"/>
                                  </a:rPr>
                                  <m:t>𝟐</m:t>
                                </m:r>
                              </m:den>
                            </m:f>
                          </m:e>
                        </m:d>
                        <m:func>
                          <m:funcPr>
                            <m:ctrlPr>
                              <a:rPr lang="en-US" b="1" i="1" smtClean="0">
                                <a:solidFill>
                                  <a:srgbClr val="0000CC"/>
                                </a:solidFill>
                                <a:latin typeface="Cambria Math" panose="02040503050406030204" pitchFamily="18" charset="0"/>
                                <a:ea typeface="Cambria Math" panose="02040503050406030204" pitchFamily="18" charset="0"/>
                              </a:rPr>
                            </m:ctrlPr>
                          </m:funcPr>
                          <m:fName>
                            <m:r>
                              <a:rPr lang="en-US" b="1" i="0" smtClean="0">
                                <a:solidFill>
                                  <a:srgbClr val="0000CC"/>
                                </a:solidFill>
                                <a:latin typeface="Cambria Math" panose="02040503050406030204" pitchFamily="18" charset="0"/>
                                <a:ea typeface="Cambria Math" panose="02040503050406030204" pitchFamily="18" charset="0"/>
                              </a:rPr>
                              <m:t>𝐜𝐨𝐬</m:t>
                            </m:r>
                          </m:fName>
                          <m:e>
                            <m:d>
                              <m:dPr>
                                <m:ctrlPr>
                                  <a:rPr lang="en-US" b="1" i="1" smtClean="0">
                                    <a:solidFill>
                                      <a:srgbClr val="0000CC"/>
                                    </a:solidFill>
                                    <a:latin typeface="Cambria Math" panose="02040503050406030204" pitchFamily="18" charset="0"/>
                                    <a:ea typeface="Cambria Math" panose="02040503050406030204" pitchFamily="18" charset="0"/>
                                  </a:rPr>
                                </m:ctrlPr>
                              </m:dPr>
                              <m:e>
                                <m:sSub>
                                  <m:sSubPr>
                                    <m:ctrlPr>
                                      <a:rPr lang="en-US" b="1" i="1" smtClean="0">
                                        <a:solidFill>
                                          <a:srgbClr val="0000CC"/>
                                        </a:solidFill>
                                        <a:latin typeface="Cambria Math" panose="02040503050406030204" pitchFamily="18" charset="0"/>
                                        <a:ea typeface="Cambria Math" panose="02040503050406030204" pitchFamily="18" charset="0"/>
                                      </a:rPr>
                                    </m:ctrlPr>
                                  </m:sSubPr>
                                  <m:e>
                                    <m:r>
                                      <a:rPr lang="en-US" b="1" i="1" smtClean="0">
                                        <a:solidFill>
                                          <a:srgbClr val="0000CC"/>
                                        </a:solidFill>
                                        <a:latin typeface="Cambria Math" panose="02040503050406030204" pitchFamily="18" charset="0"/>
                                        <a:ea typeface="Cambria Math" panose="02040503050406030204" pitchFamily="18" charset="0"/>
                                      </a:rPr>
                                      <m:t>𝜽</m:t>
                                    </m:r>
                                  </m:e>
                                  <m:sub>
                                    <m:r>
                                      <a:rPr lang="en-US" b="1" i="1" smtClean="0">
                                        <a:solidFill>
                                          <a:srgbClr val="0000CC"/>
                                        </a:solidFill>
                                        <a:latin typeface="Cambria Math" panose="02040503050406030204" pitchFamily="18" charset="0"/>
                                        <a:ea typeface="Cambria Math" panose="02040503050406030204" pitchFamily="18" charset="0"/>
                                      </a:rPr>
                                      <m:t>𝒏</m:t>
                                    </m:r>
                                  </m:sub>
                                </m:sSub>
                                <m:r>
                                  <a:rPr lang="en-US" b="1" i="1" smtClean="0">
                                    <a:solidFill>
                                      <a:srgbClr val="0000CC"/>
                                    </a:solidFill>
                                    <a:latin typeface="Cambria Math" panose="02040503050406030204" pitchFamily="18" charset="0"/>
                                    <a:ea typeface="Cambria Math" panose="02040503050406030204" pitchFamily="18" charset="0"/>
                                  </a:rPr>
                                  <m:t>−</m:t>
                                </m:r>
                                <m:sSub>
                                  <m:sSubPr>
                                    <m:ctrlPr>
                                      <a:rPr lang="en-US" b="1" i="1" smtClean="0">
                                        <a:solidFill>
                                          <a:srgbClr val="0000CC"/>
                                        </a:solidFill>
                                        <a:latin typeface="Cambria Math" panose="02040503050406030204" pitchFamily="18" charset="0"/>
                                        <a:ea typeface="Cambria Math" panose="02040503050406030204" pitchFamily="18" charset="0"/>
                                      </a:rPr>
                                    </m:ctrlPr>
                                  </m:sSubPr>
                                  <m:e>
                                    <m:r>
                                      <a:rPr lang="en-US" b="1" i="1" dirty="0">
                                        <a:solidFill>
                                          <a:srgbClr val="0000CC"/>
                                        </a:solidFill>
                                        <a:latin typeface="Cambria Math" panose="02040503050406030204" pitchFamily="18" charset="0"/>
                                        <a:ea typeface="Cambria Math" panose="02040503050406030204" pitchFamily="18" charset="0"/>
                                      </a:rPr>
                                      <m:t>𝝓</m:t>
                                    </m:r>
                                  </m:e>
                                  <m:sub>
                                    <m:r>
                                      <a:rPr lang="en-US" b="1" i="1" dirty="0">
                                        <a:solidFill>
                                          <a:srgbClr val="0000CC"/>
                                        </a:solidFill>
                                        <a:latin typeface="Cambria Math" panose="02040503050406030204" pitchFamily="18" charset="0"/>
                                        <a:ea typeface="Cambria Math" panose="02040503050406030204" pitchFamily="18" charset="0"/>
                                      </a:rPr>
                                      <m:t>𝒏</m:t>
                                    </m:r>
                                  </m:sub>
                                </m:sSub>
                              </m:e>
                            </m:d>
                          </m:e>
                        </m:func>
                      </m:e>
                    </m:nary>
                  </m:oMath>
                </a14:m>
                <a:endParaRPr lang="en-US" b="1" dirty="0"/>
              </a:p>
            </p:txBody>
          </p:sp>
        </mc:Choice>
        <mc:Fallback xmlns="">
          <p:sp>
            <p:nvSpPr>
              <p:cNvPr id="8" name="TextBox 7">
                <a:extLst>
                  <a:ext uri="{FF2B5EF4-FFF2-40B4-BE49-F238E27FC236}">
                    <a16:creationId xmlns:a16="http://schemas.microsoft.com/office/drawing/2014/main" id="{BCAD86AF-30F3-4693-9561-8FD855B5DCE3}"/>
                  </a:ext>
                </a:extLst>
              </p:cNvPr>
              <p:cNvSpPr txBox="1">
                <a:spLocks noRot="1" noChangeAspect="1" noMove="1" noResize="1" noEditPoints="1" noAdjustHandles="1" noChangeArrowheads="1" noChangeShapeType="1" noTextEdit="1"/>
              </p:cNvSpPr>
              <p:nvPr/>
            </p:nvSpPr>
            <p:spPr>
              <a:xfrm>
                <a:off x="744164" y="4109095"/>
                <a:ext cx="4524957" cy="523028"/>
              </a:xfrm>
              <a:prstGeom prst="rect">
                <a:avLst/>
              </a:prstGeom>
              <a:blipFill>
                <a:blip r:embed="rId6"/>
                <a:stretch>
                  <a:fillRect t="-70930" b="-11511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AD41026F-1B57-4327-BEA0-CF4DF572C980}"/>
                  </a:ext>
                </a:extLst>
              </p:cNvPr>
              <p:cNvSpPr txBox="1"/>
              <p:nvPr/>
            </p:nvSpPr>
            <p:spPr>
              <a:xfrm>
                <a:off x="660536" y="5446290"/>
                <a:ext cx="5117694" cy="489814"/>
              </a:xfrm>
              <a:prstGeom prst="rect">
                <a:avLst/>
              </a:prstGeom>
              <a:solidFill>
                <a:srgbClr val="00FFFF"/>
              </a:solidFill>
            </p:spPr>
            <p:txBody>
              <a:bodyPr wrap="square" rtlCol="0">
                <a:spAutoFit/>
              </a:bodyPr>
              <a:lstStyle/>
              <a:p>
                <a:r>
                  <a:rPr lang="en-US" b="1" dirty="0">
                    <a:solidFill>
                      <a:srgbClr val="0000CC"/>
                    </a:solidFill>
                  </a:rPr>
                  <a:t>P = </a:t>
                </a:r>
                <a14:m>
                  <m:oMath xmlns:m="http://schemas.openxmlformats.org/officeDocument/2006/math">
                    <m:f>
                      <m:fPr>
                        <m:ctrlPr>
                          <a:rPr lang="en-US" b="1" i="1" smtClean="0">
                            <a:solidFill>
                              <a:srgbClr val="0000CC"/>
                            </a:solidFill>
                            <a:latin typeface="Cambria Math" panose="02040503050406030204" pitchFamily="18" charset="0"/>
                          </a:rPr>
                        </m:ctrlPr>
                      </m:fPr>
                      <m:num>
                        <m:sSub>
                          <m:sSubPr>
                            <m:ctrlPr>
                              <a:rPr lang="en-US" b="1" i="1" smtClean="0">
                                <a:solidFill>
                                  <a:srgbClr val="0000CC"/>
                                </a:solidFill>
                                <a:latin typeface="Cambria Math" panose="02040503050406030204" pitchFamily="18" charset="0"/>
                              </a:rPr>
                            </m:ctrlPr>
                          </m:sSubPr>
                          <m:e>
                            <m:r>
                              <a:rPr lang="en-US" b="1" i="1" smtClean="0">
                                <a:solidFill>
                                  <a:srgbClr val="0000CC"/>
                                </a:solidFill>
                                <a:latin typeface="Cambria Math" panose="02040503050406030204" pitchFamily="18" charset="0"/>
                              </a:rPr>
                              <m:t>𝑽</m:t>
                            </m:r>
                          </m:e>
                          <m:sub>
                            <m:r>
                              <a:rPr lang="en-US" b="1" i="1" smtClean="0">
                                <a:solidFill>
                                  <a:srgbClr val="0000CC"/>
                                </a:solidFill>
                                <a:latin typeface="Cambria Math" panose="02040503050406030204" pitchFamily="18" charset="0"/>
                              </a:rPr>
                              <m:t>𝟏</m:t>
                            </m:r>
                          </m:sub>
                        </m:sSub>
                        <m:sSub>
                          <m:sSubPr>
                            <m:ctrlPr>
                              <a:rPr lang="en-US" b="1" i="1" smtClean="0">
                                <a:solidFill>
                                  <a:srgbClr val="0000CC"/>
                                </a:solidFill>
                                <a:latin typeface="Cambria Math" panose="02040503050406030204" pitchFamily="18" charset="0"/>
                              </a:rPr>
                            </m:ctrlPr>
                          </m:sSubPr>
                          <m:e>
                            <m:r>
                              <a:rPr lang="en-US" b="1" i="1" smtClean="0">
                                <a:solidFill>
                                  <a:srgbClr val="0000CC"/>
                                </a:solidFill>
                                <a:latin typeface="Cambria Math" panose="02040503050406030204" pitchFamily="18" charset="0"/>
                              </a:rPr>
                              <m:t>𝑰</m:t>
                            </m:r>
                          </m:e>
                          <m:sub>
                            <m:r>
                              <a:rPr lang="en-US" b="1" i="1" smtClean="0">
                                <a:solidFill>
                                  <a:srgbClr val="0000CC"/>
                                </a:solidFill>
                                <a:latin typeface="Cambria Math" panose="02040503050406030204" pitchFamily="18" charset="0"/>
                              </a:rPr>
                              <m:t>𝟏</m:t>
                            </m:r>
                          </m:sub>
                        </m:sSub>
                      </m:num>
                      <m:den>
                        <m:r>
                          <a:rPr lang="en-US" b="1" i="1" smtClean="0">
                            <a:solidFill>
                              <a:srgbClr val="0000CC"/>
                            </a:solidFill>
                            <a:latin typeface="Cambria Math" panose="02040503050406030204" pitchFamily="18" charset="0"/>
                          </a:rPr>
                          <m:t>𝟐</m:t>
                        </m:r>
                      </m:den>
                    </m:f>
                    <m:func>
                      <m:funcPr>
                        <m:ctrlPr>
                          <a:rPr lang="en-US" b="1" i="1" smtClean="0">
                            <a:solidFill>
                              <a:srgbClr val="0000CC"/>
                            </a:solidFill>
                            <a:latin typeface="Cambria Math" panose="02040503050406030204" pitchFamily="18" charset="0"/>
                          </a:rPr>
                        </m:ctrlPr>
                      </m:funcPr>
                      <m:fName>
                        <m:r>
                          <a:rPr lang="en-US" b="1" i="0" smtClean="0">
                            <a:solidFill>
                              <a:srgbClr val="0000CC"/>
                            </a:solidFill>
                            <a:latin typeface="Cambria Math" panose="02040503050406030204" pitchFamily="18" charset="0"/>
                          </a:rPr>
                          <m:t>𝐜𝐨𝐬</m:t>
                        </m:r>
                      </m:fName>
                      <m:e>
                        <m:d>
                          <m:dPr>
                            <m:ctrlPr>
                              <a:rPr lang="en-US" b="1" i="1" smtClean="0">
                                <a:solidFill>
                                  <a:srgbClr val="0000CC"/>
                                </a:solidFill>
                                <a:latin typeface="Cambria Math" panose="02040503050406030204" pitchFamily="18" charset="0"/>
                              </a:rPr>
                            </m:ctrlPr>
                          </m:dPr>
                          <m:e>
                            <m:sSub>
                              <m:sSubPr>
                                <m:ctrlPr>
                                  <a:rPr lang="en-US" b="1" i="1" smtClean="0">
                                    <a:solidFill>
                                      <a:srgbClr val="0000CC"/>
                                    </a:solidFill>
                                    <a:latin typeface="Cambria Math" panose="02040503050406030204" pitchFamily="18" charset="0"/>
                                  </a:rPr>
                                </m:ctrlPr>
                              </m:sSubPr>
                              <m:e>
                                <m:r>
                                  <a:rPr lang="en-US" b="1" i="1" smtClean="0">
                                    <a:solidFill>
                                      <a:srgbClr val="0000CC"/>
                                    </a:solidFill>
                                    <a:latin typeface="Cambria Math" panose="02040503050406030204" pitchFamily="18" charset="0"/>
                                    <a:ea typeface="Cambria Math" panose="02040503050406030204" pitchFamily="18" charset="0"/>
                                  </a:rPr>
                                  <m:t>𝜽</m:t>
                                </m:r>
                              </m:e>
                              <m:sub>
                                <m:r>
                                  <a:rPr lang="en-US" b="1" i="1" smtClean="0">
                                    <a:solidFill>
                                      <a:srgbClr val="0000CC"/>
                                    </a:solidFill>
                                    <a:latin typeface="Cambria Math" panose="02040503050406030204" pitchFamily="18" charset="0"/>
                                  </a:rPr>
                                  <m:t>𝟏</m:t>
                                </m:r>
                              </m:sub>
                            </m:sSub>
                            <m:r>
                              <a:rPr lang="en-US" b="1" i="1" smtClean="0">
                                <a:solidFill>
                                  <a:srgbClr val="0000CC"/>
                                </a:solidFill>
                                <a:latin typeface="Cambria Math" panose="02040503050406030204" pitchFamily="18" charset="0"/>
                                <a:ea typeface="Cambria Math" panose="02040503050406030204" pitchFamily="18" charset="0"/>
                              </a:rPr>
                              <m:t>−</m:t>
                            </m:r>
                            <m:sSub>
                              <m:sSubPr>
                                <m:ctrlPr>
                                  <a:rPr lang="en-US" b="1" i="1">
                                    <a:solidFill>
                                      <a:srgbClr val="0000CC"/>
                                    </a:solidFill>
                                    <a:latin typeface="Cambria Math" panose="02040503050406030204" pitchFamily="18" charset="0"/>
                                    <a:ea typeface="Cambria Math" panose="02040503050406030204" pitchFamily="18" charset="0"/>
                                  </a:rPr>
                                </m:ctrlPr>
                              </m:sSubPr>
                              <m:e>
                                <m:r>
                                  <a:rPr lang="en-US" b="1" i="1" dirty="0">
                                    <a:solidFill>
                                      <a:srgbClr val="0000CC"/>
                                    </a:solidFill>
                                    <a:latin typeface="Cambria Math" panose="02040503050406030204" pitchFamily="18" charset="0"/>
                                    <a:ea typeface="Cambria Math" panose="02040503050406030204" pitchFamily="18" charset="0"/>
                                  </a:rPr>
                                  <m:t>𝝓</m:t>
                                </m:r>
                              </m:e>
                              <m:sub>
                                <m:r>
                                  <a:rPr lang="en-US" b="1" i="1" dirty="0">
                                    <a:solidFill>
                                      <a:srgbClr val="0000CC"/>
                                    </a:solidFill>
                                    <a:latin typeface="Cambria Math" panose="02040503050406030204" pitchFamily="18" charset="0"/>
                                    <a:ea typeface="Cambria Math" panose="02040503050406030204" pitchFamily="18" charset="0"/>
                                  </a:rPr>
                                  <m:t>𝟏</m:t>
                                </m:r>
                              </m:sub>
                            </m:sSub>
                          </m:e>
                        </m:d>
                      </m:e>
                    </m:func>
                  </m:oMath>
                </a14:m>
                <a:r>
                  <a:rPr lang="en-US" b="1" dirty="0">
                    <a:solidFill>
                      <a:srgbClr val="0000CC"/>
                    </a:solidFill>
                  </a:rPr>
                  <a:t> = </a:t>
                </a:r>
                <a14:m>
                  <m:oMath xmlns:m="http://schemas.openxmlformats.org/officeDocument/2006/math">
                    <m:sSub>
                      <m:sSubPr>
                        <m:ctrlPr>
                          <a:rPr lang="en-US" b="1" i="1" smtClean="0">
                            <a:solidFill>
                              <a:srgbClr val="0000CC"/>
                            </a:solidFill>
                            <a:latin typeface="Cambria Math" panose="02040503050406030204" pitchFamily="18" charset="0"/>
                          </a:rPr>
                        </m:ctrlPr>
                      </m:sSubPr>
                      <m:e>
                        <m:r>
                          <a:rPr lang="en-US" b="1" i="1" smtClean="0">
                            <a:solidFill>
                              <a:srgbClr val="0000CC"/>
                            </a:solidFill>
                            <a:latin typeface="Cambria Math" panose="02040503050406030204" pitchFamily="18" charset="0"/>
                          </a:rPr>
                          <m:t>𝑽</m:t>
                        </m:r>
                      </m:e>
                      <m:sub>
                        <m:r>
                          <a:rPr lang="en-US" b="1" i="1" smtClean="0">
                            <a:solidFill>
                              <a:srgbClr val="0000CC"/>
                            </a:solidFill>
                            <a:latin typeface="Cambria Math" panose="02040503050406030204" pitchFamily="18" charset="0"/>
                          </a:rPr>
                          <m:t>𝟏</m:t>
                        </m:r>
                        <m:r>
                          <a:rPr lang="en-US" b="1" i="1" smtClean="0">
                            <a:solidFill>
                              <a:srgbClr val="0000CC"/>
                            </a:solidFill>
                            <a:latin typeface="Cambria Math" panose="02040503050406030204" pitchFamily="18" charset="0"/>
                          </a:rPr>
                          <m:t>,</m:t>
                        </m:r>
                        <m:r>
                          <a:rPr lang="en-US" b="1" i="1" smtClean="0">
                            <a:solidFill>
                              <a:srgbClr val="0000CC"/>
                            </a:solidFill>
                            <a:latin typeface="Cambria Math" panose="02040503050406030204" pitchFamily="18" charset="0"/>
                          </a:rPr>
                          <m:t>𝒓𝒎𝒔</m:t>
                        </m:r>
                      </m:sub>
                    </m:sSub>
                    <m:sSub>
                      <m:sSubPr>
                        <m:ctrlPr>
                          <a:rPr lang="en-US" b="1" i="1" smtClean="0">
                            <a:solidFill>
                              <a:srgbClr val="0000CC"/>
                            </a:solidFill>
                            <a:latin typeface="Cambria Math" panose="02040503050406030204" pitchFamily="18" charset="0"/>
                          </a:rPr>
                        </m:ctrlPr>
                      </m:sSubPr>
                      <m:e>
                        <m:r>
                          <a:rPr lang="en-US" b="1" i="1" smtClean="0">
                            <a:solidFill>
                              <a:srgbClr val="0000CC"/>
                            </a:solidFill>
                            <a:latin typeface="Cambria Math" panose="02040503050406030204" pitchFamily="18" charset="0"/>
                          </a:rPr>
                          <m:t>𝑰</m:t>
                        </m:r>
                      </m:e>
                      <m:sub>
                        <m:r>
                          <a:rPr lang="en-US" b="1" i="1" smtClean="0">
                            <a:solidFill>
                              <a:srgbClr val="0000CC"/>
                            </a:solidFill>
                            <a:latin typeface="Cambria Math" panose="02040503050406030204" pitchFamily="18" charset="0"/>
                          </a:rPr>
                          <m:t>𝟏</m:t>
                        </m:r>
                        <m:r>
                          <a:rPr lang="en-US" b="1" i="1" smtClean="0">
                            <a:solidFill>
                              <a:srgbClr val="0000CC"/>
                            </a:solidFill>
                            <a:latin typeface="Cambria Math" panose="02040503050406030204" pitchFamily="18" charset="0"/>
                          </a:rPr>
                          <m:t>,</m:t>
                        </m:r>
                        <m:r>
                          <a:rPr lang="en-US" b="1" i="1" smtClean="0">
                            <a:solidFill>
                              <a:srgbClr val="0000CC"/>
                            </a:solidFill>
                            <a:latin typeface="Cambria Math" panose="02040503050406030204" pitchFamily="18" charset="0"/>
                          </a:rPr>
                          <m:t>𝒓𝒎𝒔</m:t>
                        </m:r>
                      </m:sub>
                    </m:sSub>
                    <m:func>
                      <m:funcPr>
                        <m:ctrlPr>
                          <a:rPr lang="en-US" b="1" i="1" smtClean="0">
                            <a:solidFill>
                              <a:srgbClr val="0000CC"/>
                            </a:solidFill>
                            <a:latin typeface="Cambria Math" panose="02040503050406030204" pitchFamily="18" charset="0"/>
                          </a:rPr>
                        </m:ctrlPr>
                      </m:funcPr>
                      <m:fName>
                        <m:r>
                          <a:rPr lang="en-US" b="1" i="0" smtClean="0">
                            <a:solidFill>
                              <a:srgbClr val="0000CC"/>
                            </a:solidFill>
                            <a:latin typeface="Cambria Math" panose="02040503050406030204" pitchFamily="18" charset="0"/>
                          </a:rPr>
                          <m:t>𝐜𝐨𝐬</m:t>
                        </m:r>
                      </m:fName>
                      <m:e>
                        <m:d>
                          <m:dPr>
                            <m:ctrlPr>
                              <a:rPr lang="en-US" b="1" i="1" smtClean="0">
                                <a:solidFill>
                                  <a:srgbClr val="0000CC"/>
                                </a:solidFill>
                                <a:latin typeface="Cambria Math" panose="02040503050406030204" pitchFamily="18" charset="0"/>
                              </a:rPr>
                            </m:ctrlPr>
                          </m:dPr>
                          <m:e>
                            <m:sSub>
                              <m:sSubPr>
                                <m:ctrlPr>
                                  <a:rPr lang="en-US" b="1" i="1" smtClean="0">
                                    <a:solidFill>
                                      <a:srgbClr val="0000CC"/>
                                    </a:solidFill>
                                    <a:latin typeface="Cambria Math" panose="02040503050406030204" pitchFamily="18" charset="0"/>
                                  </a:rPr>
                                </m:ctrlPr>
                              </m:sSubPr>
                              <m:e>
                                <m:r>
                                  <a:rPr lang="en-US" b="1" i="1" smtClean="0">
                                    <a:solidFill>
                                      <a:srgbClr val="0000CC"/>
                                    </a:solidFill>
                                    <a:latin typeface="Cambria Math" panose="02040503050406030204" pitchFamily="18" charset="0"/>
                                    <a:ea typeface="Cambria Math" panose="02040503050406030204" pitchFamily="18" charset="0"/>
                                  </a:rPr>
                                  <m:t>𝜽</m:t>
                                </m:r>
                              </m:e>
                              <m:sub>
                                <m:r>
                                  <a:rPr lang="en-US" b="1" i="1" smtClean="0">
                                    <a:solidFill>
                                      <a:srgbClr val="0000CC"/>
                                    </a:solidFill>
                                    <a:latin typeface="Cambria Math" panose="02040503050406030204" pitchFamily="18" charset="0"/>
                                  </a:rPr>
                                  <m:t>𝟏</m:t>
                                </m:r>
                              </m:sub>
                            </m:sSub>
                            <m:r>
                              <a:rPr lang="en-US" b="1" i="1" smtClean="0">
                                <a:solidFill>
                                  <a:srgbClr val="0000CC"/>
                                </a:solidFill>
                                <a:latin typeface="Cambria Math" panose="02040503050406030204" pitchFamily="18" charset="0"/>
                                <a:ea typeface="Cambria Math" panose="02040503050406030204" pitchFamily="18" charset="0"/>
                              </a:rPr>
                              <m:t>−</m:t>
                            </m:r>
                            <m:sSub>
                              <m:sSubPr>
                                <m:ctrlPr>
                                  <a:rPr lang="en-US" b="1" i="1">
                                    <a:solidFill>
                                      <a:srgbClr val="0000CC"/>
                                    </a:solidFill>
                                    <a:latin typeface="Cambria Math" panose="02040503050406030204" pitchFamily="18" charset="0"/>
                                    <a:ea typeface="Cambria Math" panose="02040503050406030204" pitchFamily="18" charset="0"/>
                                  </a:rPr>
                                </m:ctrlPr>
                              </m:sSubPr>
                              <m:e>
                                <m:r>
                                  <a:rPr lang="en-US" b="1" i="1" dirty="0">
                                    <a:solidFill>
                                      <a:srgbClr val="0000CC"/>
                                    </a:solidFill>
                                    <a:latin typeface="Cambria Math" panose="02040503050406030204" pitchFamily="18" charset="0"/>
                                    <a:ea typeface="Cambria Math" panose="02040503050406030204" pitchFamily="18" charset="0"/>
                                  </a:rPr>
                                  <m:t>𝝓</m:t>
                                </m:r>
                              </m:e>
                              <m:sub>
                                <m:r>
                                  <a:rPr lang="en-US" b="1" i="1" dirty="0">
                                    <a:solidFill>
                                      <a:srgbClr val="0000CC"/>
                                    </a:solidFill>
                                    <a:latin typeface="Cambria Math" panose="02040503050406030204" pitchFamily="18" charset="0"/>
                                    <a:ea typeface="Cambria Math" panose="02040503050406030204" pitchFamily="18" charset="0"/>
                                  </a:rPr>
                                  <m:t>𝟏</m:t>
                                </m:r>
                              </m:sub>
                            </m:sSub>
                          </m:e>
                        </m:d>
                      </m:e>
                    </m:func>
                  </m:oMath>
                </a14:m>
                <a:endParaRPr lang="en-US" b="1" dirty="0"/>
              </a:p>
            </p:txBody>
          </p:sp>
        </mc:Choice>
        <mc:Fallback xmlns="">
          <p:sp>
            <p:nvSpPr>
              <p:cNvPr id="9" name="TextBox 8">
                <a:extLst>
                  <a:ext uri="{FF2B5EF4-FFF2-40B4-BE49-F238E27FC236}">
                    <a16:creationId xmlns:a16="http://schemas.microsoft.com/office/drawing/2014/main" id="{AD41026F-1B57-4327-BEA0-CF4DF572C980}"/>
                  </a:ext>
                </a:extLst>
              </p:cNvPr>
              <p:cNvSpPr txBox="1">
                <a:spLocks noRot="1" noChangeAspect="1" noMove="1" noResize="1" noEditPoints="1" noAdjustHandles="1" noChangeArrowheads="1" noChangeShapeType="1" noTextEdit="1"/>
              </p:cNvSpPr>
              <p:nvPr/>
            </p:nvSpPr>
            <p:spPr>
              <a:xfrm>
                <a:off x="660536" y="5446290"/>
                <a:ext cx="5117694" cy="489814"/>
              </a:xfrm>
              <a:prstGeom prst="rect">
                <a:avLst/>
              </a:prstGeom>
              <a:blipFill>
                <a:blip r:embed="rId7"/>
                <a:stretch>
                  <a:fillRect l="-952" b="-7407"/>
                </a:stretch>
              </a:blipFill>
            </p:spPr>
            <p:txBody>
              <a:bodyPr/>
              <a:lstStyle/>
              <a:p>
                <a:r>
                  <a:rPr lang="en-US">
                    <a:noFill/>
                  </a:rPr>
                  <a:t> </a:t>
                </a:r>
              </a:p>
            </p:txBody>
          </p:sp>
        </mc:Fallback>
      </mc:AlternateContent>
    </p:spTree>
    <p:extLst>
      <p:ext uri="{BB962C8B-B14F-4D97-AF65-F5344CB8AC3E}">
        <p14:creationId xmlns:p14="http://schemas.microsoft.com/office/powerpoint/2010/main" val="197876658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6">
            <a:extLst>
              <a:ext uri="{FF2B5EF4-FFF2-40B4-BE49-F238E27FC236}">
                <a16:creationId xmlns:a16="http://schemas.microsoft.com/office/drawing/2014/main" id="{56080804-F19F-41A7-8595-943961648C5E}"/>
              </a:ext>
            </a:extLst>
          </p:cNvPr>
          <p:cNvSpPr>
            <a:spLocks noGrp="1"/>
          </p:cNvSpPr>
          <p:nvPr>
            <p:ph type="sldNum" sz="quarter" idx="12"/>
          </p:nvPr>
        </p:nvSpPr>
        <p:spPr>
          <a:xfrm>
            <a:off x="8610600" y="6441692"/>
            <a:ext cx="2743200" cy="370027"/>
          </a:xfrm>
        </p:spPr>
        <p:txBody>
          <a:bodyPr/>
          <a:lstStyle/>
          <a:p>
            <a:fld id="{F4801FD5-11B4-DE43-ACA2-E85EEB9A6F9C}" type="slidenum">
              <a:rPr lang="en-US" smtClean="0">
                <a:latin typeface="Garamond" panose="02020404030301010803" pitchFamily="18" charset="0"/>
              </a:rPr>
              <a:t>36</a:t>
            </a:fld>
            <a:endParaRPr lang="en-US">
              <a:latin typeface="Garamond" panose="02020404030301010803" pitchFamily="18" charset="0"/>
            </a:endParaRPr>
          </a:p>
        </p:txBody>
      </p:sp>
      <p:sp>
        <p:nvSpPr>
          <p:cNvPr id="5" name="Title 1">
            <a:extLst>
              <a:ext uri="{FF2B5EF4-FFF2-40B4-BE49-F238E27FC236}">
                <a16:creationId xmlns:a16="http://schemas.microsoft.com/office/drawing/2014/main" id="{4710AE4B-0DB8-4451-B9E4-10BAE11B4D3A}"/>
              </a:ext>
            </a:extLst>
          </p:cNvPr>
          <p:cNvSpPr>
            <a:spLocks noGrp="1"/>
          </p:cNvSpPr>
          <p:nvPr>
            <p:ph type="title"/>
          </p:nvPr>
        </p:nvSpPr>
        <p:spPr>
          <a:xfrm>
            <a:off x="475035" y="138356"/>
            <a:ext cx="10972800" cy="1115558"/>
          </a:xfrm>
        </p:spPr>
        <p:txBody>
          <a:bodyPr>
            <a:noAutofit/>
          </a:bodyPr>
          <a:lstStyle/>
          <a:p>
            <a:pPr algn="ctr"/>
            <a:r>
              <a:rPr lang="en-US" sz="3200" b="1" u="sng" dirty="0">
                <a:solidFill>
                  <a:srgbClr val="FF3386"/>
                </a:solidFill>
                <a:latin typeface="Century Gothic" panose="020B0502020202020204" pitchFamily="34" charset="0"/>
                <a:cs typeface="Helvetica"/>
              </a:rPr>
              <a:t>POWER COMPUTATION FOR SINUSOIDAL SOURCE AND LINEAR LOAD</a:t>
            </a:r>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6BAA1F11-5BEF-4D80-964F-A7332E36BFA0}"/>
                  </a:ext>
                </a:extLst>
              </p:cNvPr>
              <p:cNvSpPr txBox="1"/>
              <p:nvPr/>
            </p:nvSpPr>
            <p:spPr>
              <a:xfrm>
                <a:off x="338524" y="1245985"/>
                <a:ext cx="11507823" cy="5262979"/>
              </a:xfrm>
              <a:prstGeom prst="rect">
                <a:avLst/>
              </a:prstGeom>
              <a:noFill/>
              <a:ln>
                <a:solidFill>
                  <a:srgbClr val="FF0066"/>
                </a:solidFill>
              </a:ln>
            </p:spPr>
            <p:txBody>
              <a:bodyPr wrap="square" rtlCol="0">
                <a:spAutoFit/>
              </a:bodyPr>
              <a:lstStyle/>
              <a:p>
                <a:pPr marL="342900" indent="-342900">
                  <a:buClr>
                    <a:schemeClr val="accent2"/>
                  </a:buClr>
                  <a:buFont typeface="Arial" panose="020B0604020202020204" pitchFamily="34" charset="0"/>
                  <a:buChar char="•"/>
                </a:pPr>
                <a:r>
                  <a:rPr lang="en-GB" sz="2400" b="1" kern="100" dirty="0">
                    <a:solidFill>
                      <a:srgbClr val="0000CC"/>
                    </a:solidFill>
                    <a:latin typeface="Century Gothic" panose="020B0502020202020204" pitchFamily="34" charset="0"/>
                    <a:ea typeface="Calibri" panose="020F0502020204030204" pitchFamily="34" charset="0"/>
                    <a:cs typeface="Times New Roman" panose="02020603050405020304" pitchFamily="18" charset="0"/>
                  </a:rPr>
                  <a:t>The power factor of the load is computed </a:t>
                </a:r>
                <a:br>
                  <a:rPr lang="en-GB" sz="2400" b="1" kern="100" dirty="0">
                    <a:solidFill>
                      <a:srgbClr val="0000CC"/>
                    </a:solidFill>
                    <a:latin typeface="Century Gothic" panose="020B0502020202020204" pitchFamily="34" charset="0"/>
                    <a:ea typeface="Calibri" panose="020F0502020204030204" pitchFamily="34" charset="0"/>
                    <a:cs typeface="Times New Roman" panose="02020603050405020304" pitchFamily="18" charset="0"/>
                  </a:rPr>
                </a:br>
                <a:br>
                  <a:rPr lang="en-GB" sz="2400" b="1" kern="100" dirty="0">
                    <a:solidFill>
                      <a:srgbClr val="0000CC"/>
                    </a:solidFill>
                    <a:latin typeface="Century Gothic" panose="020B0502020202020204" pitchFamily="34" charset="0"/>
                    <a:ea typeface="Calibri" panose="020F0502020204030204" pitchFamily="34" charset="0"/>
                    <a:cs typeface="Times New Roman" panose="02020603050405020304" pitchFamily="18" charset="0"/>
                  </a:rPr>
                </a:br>
                <a:endParaRPr lang="en-GB" sz="2400" b="1" kern="100" dirty="0">
                  <a:solidFill>
                    <a:srgbClr val="0000CC"/>
                  </a:solidFill>
                  <a:latin typeface="Century Gothic" panose="020B0502020202020204" pitchFamily="34" charset="0"/>
                  <a:ea typeface="Calibri" panose="020F0502020204030204" pitchFamily="34" charset="0"/>
                  <a:cs typeface="Times New Roman" panose="02020603050405020304" pitchFamily="18" charset="0"/>
                </a:endParaRPr>
              </a:p>
              <a:p>
                <a:pPr>
                  <a:buClr>
                    <a:schemeClr val="accent2"/>
                  </a:buClr>
                </a:pPr>
                <a:endParaRPr lang="en-GB" sz="2400" b="1" kern="100" dirty="0">
                  <a:solidFill>
                    <a:srgbClr val="0000CC"/>
                  </a:solidFill>
                  <a:latin typeface="Century Gothic" panose="020B0502020202020204" pitchFamily="34" charset="0"/>
                  <a:ea typeface="Calibri" panose="020F0502020204030204" pitchFamily="34" charset="0"/>
                  <a:cs typeface="Times New Roman" panose="02020603050405020304" pitchFamily="18" charset="0"/>
                </a:endParaRPr>
              </a:p>
              <a:p>
                <a:pPr marL="342900" indent="-342900">
                  <a:buClr>
                    <a:schemeClr val="accent2"/>
                  </a:buClr>
                  <a:buFont typeface="Arial" panose="020B0604020202020204" pitchFamily="34" charset="0"/>
                  <a:buChar char="•"/>
                </a:pPr>
                <a:endParaRPr lang="en-GB" sz="2400" b="1" kern="100" dirty="0">
                  <a:solidFill>
                    <a:srgbClr val="0000CC"/>
                  </a:solidFill>
                  <a:latin typeface="Century Gothic" panose="020B0502020202020204" pitchFamily="34" charset="0"/>
                  <a:ea typeface="Calibri" panose="020F0502020204030204" pitchFamily="34" charset="0"/>
                  <a:cs typeface="Times New Roman" panose="02020603050405020304" pitchFamily="18" charset="0"/>
                </a:endParaRPr>
              </a:p>
              <a:p>
                <a:pPr>
                  <a:buClr>
                    <a:schemeClr val="accent2"/>
                  </a:buClr>
                </a:pPr>
                <a:endParaRPr lang="en-GB" sz="2400" b="1" kern="100" dirty="0">
                  <a:solidFill>
                    <a:srgbClr val="0000CC"/>
                  </a:solidFill>
                  <a:latin typeface="Century Gothic" panose="020B0502020202020204" pitchFamily="34" charset="0"/>
                  <a:ea typeface="Calibri" panose="020F0502020204030204" pitchFamily="34" charset="0"/>
                  <a:cs typeface="Times New Roman" panose="02020603050405020304" pitchFamily="18" charset="0"/>
                </a:endParaRPr>
              </a:p>
              <a:p>
                <a:pPr>
                  <a:buClr>
                    <a:schemeClr val="accent2"/>
                  </a:buClr>
                </a:pPr>
                <a:endParaRPr lang="en-GB" sz="2400" b="1" kern="100" dirty="0">
                  <a:solidFill>
                    <a:srgbClr val="0000CC"/>
                  </a:solidFill>
                  <a:latin typeface="Century Gothic" panose="020B0502020202020204" pitchFamily="34" charset="0"/>
                  <a:ea typeface="Calibri" panose="020F0502020204030204" pitchFamily="34" charset="0"/>
                  <a:cs typeface="Times New Roman" panose="02020603050405020304" pitchFamily="18" charset="0"/>
                </a:endParaRPr>
              </a:p>
              <a:p>
                <a:pPr>
                  <a:buClr>
                    <a:schemeClr val="accent2"/>
                  </a:buClr>
                </a:pPr>
                <a:endParaRPr lang="en-GB" sz="2400" b="1" kern="100" dirty="0">
                  <a:solidFill>
                    <a:srgbClr val="0000CC"/>
                  </a:solidFill>
                  <a:latin typeface="Century Gothic" panose="020B0502020202020204" pitchFamily="34" charset="0"/>
                  <a:ea typeface="Calibri" panose="020F0502020204030204" pitchFamily="34" charset="0"/>
                  <a:cs typeface="Times New Roman" panose="02020603050405020304" pitchFamily="18" charset="0"/>
                </a:endParaRPr>
              </a:p>
              <a:p>
                <a:pPr marL="342900" indent="-342900">
                  <a:buClr>
                    <a:schemeClr val="accent2"/>
                  </a:buClr>
                  <a:buFont typeface="Arial" panose="020B0604020202020204" pitchFamily="34" charset="0"/>
                  <a:buChar char="•"/>
                </a:pPr>
                <a:r>
                  <a:rPr lang="en-GB" sz="2400" b="1" kern="100" dirty="0">
                    <a:solidFill>
                      <a:srgbClr val="0000CC"/>
                    </a:solidFill>
                    <a:latin typeface="Century Gothic" panose="020B0502020202020204" pitchFamily="34" charset="0"/>
                    <a:ea typeface="Calibri" panose="020F0502020204030204" pitchFamily="34" charset="0"/>
                    <a:cs typeface="Times New Roman" panose="02020603050405020304" pitchFamily="18" charset="0"/>
                  </a:rPr>
                  <a:t>RMS Current is expressed as </a:t>
                </a:r>
                <a:br>
                  <a:rPr lang="en-GB" sz="2400" b="1" kern="100" dirty="0">
                    <a:solidFill>
                      <a:srgbClr val="0000CC"/>
                    </a:solidFill>
                    <a:latin typeface="Century Gothic" panose="020B0502020202020204" pitchFamily="34" charset="0"/>
                    <a:ea typeface="Calibri" panose="020F0502020204030204" pitchFamily="34" charset="0"/>
                    <a:cs typeface="Times New Roman" panose="02020603050405020304" pitchFamily="18" charset="0"/>
                  </a:rPr>
                </a:br>
                <a:br>
                  <a:rPr lang="en-GB" sz="2400" b="1" kern="100" dirty="0">
                    <a:solidFill>
                      <a:srgbClr val="0000CC"/>
                    </a:solidFill>
                    <a:latin typeface="Century Gothic" panose="020B0502020202020204" pitchFamily="34" charset="0"/>
                    <a:ea typeface="Calibri" panose="020F0502020204030204" pitchFamily="34" charset="0"/>
                    <a:cs typeface="Times New Roman" panose="02020603050405020304" pitchFamily="18" charset="0"/>
                  </a:rPr>
                </a:br>
                <a:br>
                  <a:rPr lang="en-GB" sz="2400" b="1" kern="100" dirty="0">
                    <a:solidFill>
                      <a:srgbClr val="0000CC"/>
                    </a:solidFill>
                    <a:latin typeface="Century Gothic" panose="020B0502020202020204" pitchFamily="34" charset="0"/>
                    <a:ea typeface="Calibri" panose="020F0502020204030204" pitchFamily="34" charset="0"/>
                    <a:cs typeface="Times New Roman" panose="02020603050405020304" pitchFamily="18" charset="0"/>
                  </a:rPr>
                </a:br>
                <a:endParaRPr lang="en-GB" sz="2400" b="1" kern="100" dirty="0">
                  <a:solidFill>
                    <a:srgbClr val="0000CC"/>
                  </a:solidFill>
                  <a:latin typeface="Century Gothic" panose="020B0502020202020204" pitchFamily="34" charset="0"/>
                  <a:ea typeface="Calibri" panose="020F0502020204030204" pitchFamily="34" charset="0"/>
                  <a:cs typeface="Times New Roman" panose="02020603050405020304" pitchFamily="18" charset="0"/>
                </a:endParaRPr>
              </a:p>
              <a:p>
                <a:pPr>
                  <a:buClr>
                    <a:schemeClr val="accent2"/>
                  </a:buClr>
                </a:pPr>
                <a:r>
                  <a:rPr lang="en-GB" sz="2400" b="1" kern="100" dirty="0">
                    <a:solidFill>
                      <a:srgbClr val="0000CC"/>
                    </a:solidFill>
                    <a:latin typeface="Century Gothic" panose="020B0502020202020204" pitchFamily="34" charset="0"/>
                    <a:ea typeface="Calibri" panose="020F0502020204030204" pitchFamily="34" charset="0"/>
                    <a:cs typeface="Times New Roman" panose="02020603050405020304" pitchFamily="18" charset="0"/>
                  </a:rPr>
                  <a:t>   Note: For a sinusoidal voltage and a sinusoidal current, pf = </a:t>
                </a:r>
                <a14:m>
                  <m:oMath xmlns:m="http://schemas.openxmlformats.org/officeDocument/2006/math">
                    <m:func>
                      <m:funcPr>
                        <m:ctrlPr>
                          <a:rPr lang="en-US" sz="2400" b="1" i="1" smtClean="0">
                            <a:solidFill>
                              <a:srgbClr val="0000CC"/>
                            </a:solidFill>
                            <a:latin typeface="Cambria Math" panose="02040503050406030204" pitchFamily="18" charset="0"/>
                          </a:rPr>
                        </m:ctrlPr>
                      </m:funcPr>
                      <m:fName>
                        <m:r>
                          <a:rPr lang="en-US" sz="2400" b="1" i="0" smtClean="0">
                            <a:solidFill>
                              <a:srgbClr val="0000CC"/>
                            </a:solidFill>
                            <a:latin typeface="Cambria Math" panose="02040503050406030204" pitchFamily="18" charset="0"/>
                          </a:rPr>
                          <m:t>𝐜𝐨𝐬</m:t>
                        </m:r>
                      </m:fName>
                      <m:e>
                        <m:d>
                          <m:dPr>
                            <m:ctrlPr>
                              <a:rPr lang="en-US" sz="2400" b="1" i="1" smtClean="0">
                                <a:solidFill>
                                  <a:srgbClr val="0000CC"/>
                                </a:solidFill>
                                <a:latin typeface="Cambria Math" panose="02040503050406030204" pitchFamily="18" charset="0"/>
                              </a:rPr>
                            </m:ctrlPr>
                          </m:dPr>
                          <m:e>
                            <m:sSub>
                              <m:sSubPr>
                                <m:ctrlPr>
                                  <a:rPr lang="en-US" sz="2400" b="1" i="1" smtClean="0">
                                    <a:solidFill>
                                      <a:srgbClr val="0000CC"/>
                                    </a:solidFill>
                                    <a:latin typeface="Cambria Math" panose="02040503050406030204" pitchFamily="18" charset="0"/>
                                  </a:rPr>
                                </m:ctrlPr>
                              </m:sSubPr>
                              <m:e>
                                <m:r>
                                  <a:rPr lang="en-US" sz="2400" b="1" i="1" smtClean="0">
                                    <a:solidFill>
                                      <a:srgbClr val="0000CC"/>
                                    </a:solidFill>
                                    <a:latin typeface="Cambria Math" panose="02040503050406030204" pitchFamily="18" charset="0"/>
                                    <a:ea typeface="Cambria Math" panose="02040503050406030204" pitchFamily="18" charset="0"/>
                                  </a:rPr>
                                  <m:t>𝜽</m:t>
                                </m:r>
                              </m:e>
                              <m:sub>
                                <m:r>
                                  <a:rPr lang="en-US" sz="2400" b="1" i="1" smtClean="0">
                                    <a:solidFill>
                                      <a:srgbClr val="0000CC"/>
                                    </a:solidFill>
                                    <a:latin typeface="Cambria Math" panose="02040503050406030204" pitchFamily="18" charset="0"/>
                                  </a:rPr>
                                  <m:t>𝟏</m:t>
                                </m:r>
                              </m:sub>
                            </m:sSub>
                            <m:r>
                              <a:rPr lang="en-US" sz="2400" b="1" i="1" smtClean="0">
                                <a:solidFill>
                                  <a:srgbClr val="0000CC"/>
                                </a:solidFill>
                                <a:latin typeface="Cambria Math" panose="02040503050406030204" pitchFamily="18" charset="0"/>
                                <a:ea typeface="Cambria Math" panose="02040503050406030204" pitchFamily="18" charset="0"/>
                              </a:rPr>
                              <m:t>−</m:t>
                            </m:r>
                            <m:sSub>
                              <m:sSubPr>
                                <m:ctrlPr>
                                  <a:rPr lang="en-US" sz="2400" b="1" i="1" smtClean="0">
                                    <a:solidFill>
                                      <a:srgbClr val="0000CC"/>
                                    </a:solidFill>
                                    <a:latin typeface="Cambria Math" panose="02040503050406030204" pitchFamily="18" charset="0"/>
                                    <a:ea typeface="Cambria Math" panose="02040503050406030204" pitchFamily="18" charset="0"/>
                                  </a:rPr>
                                </m:ctrlPr>
                              </m:sSubPr>
                              <m:e>
                                <m:r>
                                  <a:rPr lang="en-US" sz="2400" b="1" i="1" dirty="0">
                                    <a:solidFill>
                                      <a:srgbClr val="0000CC"/>
                                    </a:solidFill>
                                    <a:latin typeface="Cambria Math" panose="02040503050406030204" pitchFamily="18" charset="0"/>
                                    <a:ea typeface="Cambria Math" panose="02040503050406030204" pitchFamily="18" charset="0"/>
                                  </a:rPr>
                                  <m:t>𝝓</m:t>
                                </m:r>
                              </m:e>
                              <m:sub>
                                <m:r>
                                  <a:rPr lang="en-US" sz="2400" b="1" i="1" dirty="0">
                                    <a:solidFill>
                                      <a:srgbClr val="0000CC"/>
                                    </a:solidFill>
                                    <a:latin typeface="Cambria Math" panose="02040503050406030204" pitchFamily="18" charset="0"/>
                                    <a:ea typeface="Cambria Math" panose="02040503050406030204" pitchFamily="18" charset="0"/>
                                  </a:rPr>
                                  <m:t>𝟏</m:t>
                                </m:r>
                              </m:sub>
                            </m:sSub>
                          </m:e>
                        </m:d>
                      </m:e>
                    </m:func>
                  </m:oMath>
                </a14:m>
                <a:endParaRPr lang="en-GB" sz="2400" b="1" kern="100" dirty="0">
                  <a:solidFill>
                    <a:srgbClr val="0000CC"/>
                  </a:solidFill>
                  <a:latin typeface="Century Gothic" panose="020B0502020202020204" pitchFamily="34" charset="0"/>
                  <a:ea typeface="Calibri" panose="020F0502020204030204" pitchFamily="34" charset="0"/>
                  <a:cs typeface="Times New Roman" panose="02020603050405020304" pitchFamily="18" charset="0"/>
                </a:endParaRPr>
              </a:p>
              <a:p>
                <a:pPr>
                  <a:buClr>
                    <a:schemeClr val="accent2"/>
                  </a:buClr>
                </a:pPr>
                <a:endParaRPr lang="en-GB" sz="2400" b="1" kern="100" dirty="0">
                  <a:solidFill>
                    <a:srgbClr val="0000CC"/>
                  </a:solidFill>
                  <a:latin typeface="Century Gothic" panose="020B0502020202020204" pitchFamily="34" charset="0"/>
                  <a:ea typeface="Calibri" panose="020F0502020204030204" pitchFamily="34" charset="0"/>
                  <a:cs typeface="Times New Roman" panose="02020603050405020304" pitchFamily="18" charset="0"/>
                </a:endParaRPr>
              </a:p>
            </p:txBody>
          </p:sp>
        </mc:Choice>
        <mc:Fallback xmlns="">
          <p:sp>
            <p:nvSpPr>
              <p:cNvPr id="6" name="TextBox 5">
                <a:extLst>
                  <a:ext uri="{FF2B5EF4-FFF2-40B4-BE49-F238E27FC236}">
                    <a16:creationId xmlns:a16="http://schemas.microsoft.com/office/drawing/2014/main" id="{6BAA1F11-5BEF-4D80-964F-A7332E36BFA0}"/>
                  </a:ext>
                </a:extLst>
              </p:cNvPr>
              <p:cNvSpPr txBox="1">
                <a:spLocks noRot="1" noChangeAspect="1" noMove="1" noResize="1" noEditPoints="1" noAdjustHandles="1" noChangeArrowheads="1" noChangeShapeType="1" noTextEdit="1"/>
              </p:cNvSpPr>
              <p:nvPr/>
            </p:nvSpPr>
            <p:spPr>
              <a:xfrm>
                <a:off x="338524" y="1245985"/>
                <a:ext cx="11507823" cy="5262979"/>
              </a:xfrm>
              <a:prstGeom prst="rect">
                <a:avLst/>
              </a:prstGeom>
              <a:blipFill>
                <a:blip r:embed="rId3"/>
                <a:stretch>
                  <a:fillRect l="-688" t="-808"/>
                </a:stretch>
              </a:blipFill>
              <a:ln>
                <a:solidFill>
                  <a:srgbClr val="FF0066"/>
                </a:solidFill>
              </a:ln>
            </p:spPr>
            <p:txBody>
              <a:bodyPr/>
              <a:lstStyle/>
              <a:p>
                <a:r>
                  <a:rPr lang="en-US">
                    <a:noFill/>
                  </a:rPr>
                  <a:t> </a:t>
                </a:r>
              </a:p>
            </p:txBody>
          </p:sp>
        </mc:Fallback>
      </mc:AlternateContent>
      <p:sp>
        <p:nvSpPr>
          <p:cNvPr id="7" name="TextBox 6">
            <a:extLst>
              <a:ext uri="{FF2B5EF4-FFF2-40B4-BE49-F238E27FC236}">
                <a16:creationId xmlns:a16="http://schemas.microsoft.com/office/drawing/2014/main" id="{C36AA635-C21F-49F3-BF21-4CBE4C20709B}"/>
              </a:ext>
            </a:extLst>
          </p:cNvPr>
          <p:cNvSpPr txBox="1"/>
          <p:nvPr/>
        </p:nvSpPr>
        <p:spPr>
          <a:xfrm>
            <a:off x="5269122" y="6037275"/>
            <a:ext cx="823314" cy="373051"/>
          </a:xfrm>
          <a:prstGeom prst="rect">
            <a:avLst/>
          </a:prstGeom>
          <a:noFill/>
        </p:spPr>
        <p:txBody>
          <a:bodyPr wrap="square" rtlCol="0">
            <a:spAutoFit/>
          </a:bodyPr>
          <a:lstStyle/>
          <a:p>
            <a:pPr algn="ctr"/>
            <a:endParaRPr lang="en-GB" sz="1824" dirty="0">
              <a:latin typeface="Garamond" panose="02020404030301010803" pitchFamily="18" charset="0"/>
            </a:endParaRPr>
          </a:p>
        </p:txBody>
      </p: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2084B2F3-AE8B-4694-89E5-3E3F392F2F01}"/>
                  </a:ext>
                </a:extLst>
              </p:cNvPr>
              <p:cNvSpPr txBox="1"/>
              <p:nvPr/>
            </p:nvSpPr>
            <p:spPr>
              <a:xfrm>
                <a:off x="899808" y="1910727"/>
                <a:ext cx="1707205" cy="529569"/>
              </a:xfrm>
              <a:prstGeom prst="rect">
                <a:avLst/>
              </a:prstGeom>
              <a:solidFill>
                <a:srgbClr val="00FFFF"/>
              </a:solidFill>
            </p:spPr>
            <p:txBody>
              <a:bodyPr wrap="square" rtlCol="0">
                <a:spAutoFit/>
              </a:bodyPr>
              <a:lstStyle/>
              <a:p>
                <a:r>
                  <a:rPr lang="en-US" b="1" dirty="0">
                    <a:solidFill>
                      <a:srgbClr val="0000CC"/>
                    </a:solidFill>
                  </a:rPr>
                  <a:t>Pf = </a:t>
                </a:r>
                <a14:m>
                  <m:oMath xmlns:m="http://schemas.openxmlformats.org/officeDocument/2006/math">
                    <m:f>
                      <m:fPr>
                        <m:ctrlPr>
                          <a:rPr lang="en-US" b="1" i="1" smtClean="0">
                            <a:solidFill>
                              <a:srgbClr val="0000CC"/>
                            </a:solidFill>
                            <a:latin typeface="Cambria Math" panose="02040503050406030204" pitchFamily="18" charset="0"/>
                          </a:rPr>
                        </m:ctrlPr>
                      </m:fPr>
                      <m:num>
                        <m:r>
                          <a:rPr lang="en-US" b="1" i="1" smtClean="0">
                            <a:solidFill>
                              <a:srgbClr val="0000CC"/>
                            </a:solidFill>
                            <a:latin typeface="Cambria Math" panose="02040503050406030204" pitchFamily="18" charset="0"/>
                          </a:rPr>
                          <m:t>𝑷</m:t>
                        </m:r>
                      </m:num>
                      <m:den>
                        <m:r>
                          <a:rPr lang="en-US" b="1" i="1" smtClean="0">
                            <a:solidFill>
                              <a:srgbClr val="0000CC"/>
                            </a:solidFill>
                            <a:latin typeface="Cambria Math" panose="02040503050406030204" pitchFamily="18" charset="0"/>
                          </a:rPr>
                          <m:t>𝑺</m:t>
                        </m:r>
                      </m:den>
                    </m:f>
                  </m:oMath>
                </a14:m>
                <a:r>
                  <a:rPr lang="en-US" b="1" dirty="0">
                    <a:solidFill>
                      <a:srgbClr val="0000CC"/>
                    </a:solidFill>
                  </a:rPr>
                  <a:t> = </a:t>
                </a:r>
                <a14:m>
                  <m:oMath xmlns:m="http://schemas.openxmlformats.org/officeDocument/2006/math">
                    <m:f>
                      <m:fPr>
                        <m:ctrlPr>
                          <a:rPr lang="en-US" b="1" i="1" smtClean="0">
                            <a:solidFill>
                              <a:srgbClr val="0000CC"/>
                            </a:solidFill>
                            <a:latin typeface="Cambria Math" panose="02040503050406030204" pitchFamily="18" charset="0"/>
                          </a:rPr>
                        </m:ctrlPr>
                      </m:fPr>
                      <m:num>
                        <m:r>
                          <a:rPr lang="en-US" b="1" i="1" smtClean="0">
                            <a:solidFill>
                              <a:srgbClr val="0000CC"/>
                            </a:solidFill>
                            <a:latin typeface="Cambria Math" panose="02040503050406030204" pitchFamily="18" charset="0"/>
                          </a:rPr>
                          <m:t>𝑷</m:t>
                        </m:r>
                      </m:num>
                      <m:den>
                        <m:sSub>
                          <m:sSubPr>
                            <m:ctrlPr>
                              <a:rPr lang="en-US" b="1" i="1" smtClean="0">
                                <a:solidFill>
                                  <a:srgbClr val="0000CC"/>
                                </a:solidFill>
                                <a:latin typeface="Cambria Math" panose="02040503050406030204" pitchFamily="18" charset="0"/>
                              </a:rPr>
                            </m:ctrlPr>
                          </m:sSubPr>
                          <m:e>
                            <m:r>
                              <a:rPr lang="en-US" b="1" i="1" smtClean="0">
                                <a:solidFill>
                                  <a:srgbClr val="0000CC"/>
                                </a:solidFill>
                                <a:latin typeface="Cambria Math" panose="02040503050406030204" pitchFamily="18" charset="0"/>
                              </a:rPr>
                              <m:t>𝑽</m:t>
                            </m:r>
                          </m:e>
                          <m:sub>
                            <m:r>
                              <a:rPr lang="en-US" b="1" i="1" smtClean="0">
                                <a:solidFill>
                                  <a:srgbClr val="0000CC"/>
                                </a:solidFill>
                                <a:latin typeface="Cambria Math" panose="02040503050406030204" pitchFamily="18" charset="0"/>
                              </a:rPr>
                              <m:t>𝒓𝒎𝒔</m:t>
                            </m:r>
                          </m:sub>
                        </m:sSub>
                        <m:sSub>
                          <m:sSubPr>
                            <m:ctrlPr>
                              <a:rPr lang="en-US" b="1" i="1" smtClean="0">
                                <a:solidFill>
                                  <a:srgbClr val="0000CC"/>
                                </a:solidFill>
                                <a:latin typeface="Cambria Math" panose="02040503050406030204" pitchFamily="18" charset="0"/>
                              </a:rPr>
                            </m:ctrlPr>
                          </m:sSubPr>
                          <m:e>
                            <m:r>
                              <a:rPr lang="en-US" b="1" i="1" smtClean="0">
                                <a:solidFill>
                                  <a:srgbClr val="0000CC"/>
                                </a:solidFill>
                                <a:latin typeface="Cambria Math" panose="02040503050406030204" pitchFamily="18" charset="0"/>
                              </a:rPr>
                              <m:t>𝑰</m:t>
                            </m:r>
                          </m:e>
                          <m:sub>
                            <m:r>
                              <a:rPr lang="en-US" b="1" i="1" smtClean="0">
                                <a:solidFill>
                                  <a:srgbClr val="0000CC"/>
                                </a:solidFill>
                                <a:latin typeface="Cambria Math" panose="02040503050406030204" pitchFamily="18" charset="0"/>
                              </a:rPr>
                              <m:t>𝒓𝒎𝒔</m:t>
                            </m:r>
                          </m:sub>
                        </m:sSub>
                      </m:den>
                    </m:f>
                  </m:oMath>
                </a14:m>
                <a:endParaRPr lang="en-US" b="1" dirty="0"/>
              </a:p>
            </p:txBody>
          </p:sp>
        </mc:Choice>
        <mc:Fallback xmlns="">
          <p:sp>
            <p:nvSpPr>
              <p:cNvPr id="11" name="TextBox 10">
                <a:extLst>
                  <a:ext uri="{FF2B5EF4-FFF2-40B4-BE49-F238E27FC236}">
                    <a16:creationId xmlns:a16="http://schemas.microsoft.com/office/drawing/2014/main" id="{2084B2F3-AE8B-4694-89E5-3E3F392F2F01}"/>
                  </a:ext>
                </a:extLst>
              </p:cNvPr>
              <p:cNvSpPr txBox="1">
                <a:spLocks noRot="1" noChangeAspect="1" noMove="1" noResize="1" noEditPoints="1" noAdjustHandles="1" noChangeArrowheads="1" noChangeShapeType="1" noTextEdit="1"/>
              </p:cNvSpPr>
              <p:nvPr/>
            </p:nvSpPr>
            <p:spPr>
              <a:xfrm>
                <a:off x="899808" y="1910727"/>
                <a:ext cx="1707205" cy="529569"/>
              </a:xfrm>
              <a:prstGeom prst="rect">
                <a:avLst/>
              </a:prstGeom>
              <a:blipFill>
                <a:blip r:embed="rId4"/>
                <a:stretch>
                  <a:fillRect l="-321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C7868F43-7AFC-418D-8605-A992ADF46808}"/>
                  </a:ext>
                </a:extLst>
              </p:cNvPr>
              <p:cNvSpPr txBox="1"/>
              <p:nvPr/>
            </p:nvSpPr>
            <p:spPr>
              <a:xfrm>
                <a:off x="839009" y="2908570"/>
                <a:ext cx="4880855" cy="562590"/>
              </a:xfrm>
              <a:prstGeom prst="rect">
                <a:avLst/>
              </a:prstGeom>
              <a:solidFill>
                <a:srgbClr val="00FFFF"/>
              </a:solidFill>
            </p:spPr>
            <p:txBody>
              <a:bodyPr wrap="square" rtlCol="0">
                <a:spAutoFit/>
              </a:bodyPr>
              <a:lstStyle/>
              <a:p>
                <a:r>
                  <a:rPr lang="en-US" b="1" dirty="0">
                    <a:solidFill>
                      <a:srgbClr val="0000CC"/>
                    </a:solidFill>
                  </a:rPr>
                  <a:t>Pf = </a:t>
                </a:r>
                <a14:m>
                  <m:oMath xmlns:m="http://schemas.openxmlformats.org/officeDocument/2006/math">
                    <m:f>
                      <m:fPr>
                        <m:ctrlPr>
                          <a:rPr lang="en-US" b="1" i="1" smtClean="0">
                            <a:solidFill>
                              <a:srgbClr val="0000CC"/>
                            </a:solidFill>
                            <a:latin typeface="Cambria Math" panose="02040503050406030204" pitchFamily="18" charset="0"/>
                          </a:rPr>
                        </m:ctrlPr>
                      </m:fPr>
                      <m:num>
                        <m:sSub>
                          <m:sSubPr>
                            <m:ctrlPr>
                              <a:rPr lang="en-US" b="1" i="1" smtClean="0">
                                <a:solidFill>
                                  <a:srgbClr val="0000CC"/>
                                </a:solidFill>
                                <a:latin typeface="Cambria Math" panose="02040503050406030204" pitchFamily="18" charset="0"/>
                              </a:rPr>
                            </m:ctrlPr>
                          </m:sSubPr>
                          <m:e>
                            <m:r>
                              <a:rPr lang="en-US" b="1" i="1" smtClean="0">
                                <a:solidFill>
                                  <a:srgbClr val="0000CC"/>
                                </a:solidFill>
                                <a:latin typeface="Cambria Math" panose="02040503050406030204" pitchFamily="18" charset="0"/>
                              </a:rPr>
                              <m:t>𝑽</m:t>
                            </m:r>
                          </m:e>
                          <m:sub>
                            <m:r>
                              <a:rPr lang="en-US" b="1" i="1" smtClean="0">
                                <a:solidFill>
                                  <a:srgbClr val="0000CC"/>
                                </a:solidFill>
                                <a:latin typeface="Cambria Math" panose="02040503050406030204" pitchFamily="18" charset="0"/>
                              </a:rPr>
                              <m:t>𝟏</m:t>
                            </m:r>
                            <m:r>
                              <a:rPr lang="en-US" b="1" i="1" smtClean="0">
                                <a:solidFill>
                                  <a:srgbClr val="0000CC"/>
                                </a:solidFill>
                                <a:latin typeface="Cambria Math" panose="02040503050406030204" pitchFamily="18" charset="0"/>
                              </a:rPr>
                              <m:t>,</m:t>
                            </m:r>
                            <m:r>
                              <a:rPr lang="en-US" b="1" i="1" smtClean="0">
                                <a:solidFill>
                                  <a:srgbClr val="0000CC"/>
                                </a:solidFill>
                                <a:latin typeface="Cambria Math" panose="02040503050406030204" pitchFamily="18" charset="0"/>
                              </a:rPr>
                              <m:t>𝒓𝒎𝒔</m:t>
                            </m:r>
                          </m:sub>
                        </m:sSub>
                        <m:sSub>
                          <m:sSubPr>
                            <m:ctrlPr>
                              <a:rPr lang="en-US" b="1" i="1" smtClean="0">
                                <a:solidFill>
                                  <a:srgbClr val="0000CC"/>
                                </a:solidFill>
                                <a:latin typeface="Cambria Math" panose="02040503050406030204" pitchFamily="18" charset="0"/>
                              </a:rPr>
                            </m:ctrlPr>
                          </m:sSubPr>
                          <m:e>
                            <m:r>
                              <a:rPr lang="en-US" b="1" i="1" smtClean="0">
                                <a:solidFill>
                                  <a:srgbClr val="0000CC"/>
                                </a:solidFill>
                                <a:latin typeface="Cambria Math" panose="02040503050406030204" pitchFamily="18" charset="0"/>
                              </a:rPr>
                              <m:t>𝑰</m:t>
                            </m:r>
                          </m:e>
                          <m:sub>
                            <m:r>
                              <a:rPr lang="en-US" b="1" i="1" smtClean="0">
                                <a:solidFill>
                                  <a:srgbClr val="0000CC"/>
                                </a:solidFill>
                                <a:latin typeface="Cambria Math" panose="02040503050406030204" pitchFamily="18" charset="0"/>
                              </a:rPr>
                              <m:t>𝟏</m:t>
                            </m:r>
                            <m:r>
                              <a:rPr lang="en-US" b="1" i="1" smtClean="0">
                                <a:solidFill>
                                  <a:srgbClr val="0000CC"/>
                                </a:solidFill>
                                <a:latin typeface="Cambria Math" panose="02040503050406030204" pitchFamily="18" charset="0"/>
                              </a:rPr>
                              <m:t>,</m:t>
                            </m:r>
                            <m:r>
                              <a:rPr lang="en-US" b="1" i="1" smtClean="0">
                                <a:solidFill>
                                  <a:srgbClr val="0000CC"/>
                                </a:solidFill>
                                <a:latin typeface="Cambria Math" panose="02040503050406030204" pitchFamily="18" charset="0"/>
                              </a:rPr>
                              <m:t>𝒓𝒎𝒔</m:t>
                            </m:r>
                          </m:sub>
                        </m:sSub>
                        <m:func>
                          <m:funcPr>
                            <m:ctrlPr>
                              <a:rPr lang="en-US" b="1" i="1" smtClean="0">
                                <a:solidFill>
                                  <a:srgbClr val="0000CC"/>
                                </a:solidFill>
                                <a:latin typeface="Cambria Math" panose="02040503050406030204" pitchFamily="18" charset="0"/>
                              </a:rPr>
                            </m:ctrlPr>
                          </m:funcPr>
                          <m:fName>
                            <m:r>
                              <a:rPr lang="en-US" b="1" i="0" smtClean="0">
                                <a:solidFill>
                                  <a:srgbClr val="0000CC"/>
                                </a:solidFill>
                                <a:latin typeface="Cambria Math" panose="02040503050406030204" pitchFamily="18" charset="0"/>
                              </a:rPr>
                              <m:t>𝐜𝐨𝐬</m:t>
                            </m:r>
                          </m:fName>
                          <m:e>
                            <m:d>
                              <m:dPr>
                                <m:ctrlPr>
                                  <a:rPr lang="en-US" b="1" i="1" smtClean="0">
                                    <a:solidFill>
                                      <a:srgbClr val="0000CC"/>
                                    </a:solidFill>
                                    <a:latin typeface="Cambria Math" panose="02040503050406030204" pitchFamily="18" charset="0"/>
                                  </a:rPr>
                                </m:ctrlPr>
                              </m:dPr>
                              <m:e>
                                <m:sSub>
                                  <m:sSubPr>
                                    <m:ctrlPr>
                                      <a:rPr lang="en-US" b="1" i="1" smtClean="0">
                                        <a:solidFill>
                                          <a:srgbClr val="0000CC"/>
                                        </a:solidFill>
                                        <a:latin typeface="Cambria Math" panose="02040503050406030204" pitchFamily="18" charset="0"/>
                                      </a:rPr>
                                    </m:ctrlPr>
                                  </m:sSubPr>
                                  <m:e>
                                    <m:r>
                                      <a:rPr lang="en-US" b="1" i="1" smtClean="0">
                                        <a:solidFill>
                                          <a:srgbClr val="0000CC"/>
                                        </a:solidFill>
                                        <a:latin typeface="Cambria Math" panose="02040503050406030204" pitchFamily="18" charset="0"/>
                                        <a:ea typeface="Cambria Math" panose="02040503050406030204" pitchFamily="18" charset="0"/>
                                      </a:rPr>
                                      <m:t>𝜽</m:t>
                                    </m:r>
                                  </m:e>
                                  <m:sub>
                                    <m:r>
                                      <a:rPr lang="en-US" b="1" i="1" smtClean="0">
                                        <a:solidFill>
                                          <a:srgbClr val="0000CC"/>
                                        </a:solidFill>
                                        <a:latin typeface="Cambria Math" panose="02040503050406030204" pitchFamily="18" charset="0"/>
                                      </a:rPr>
                                      <m:t>𝟏</m:t>
                                    </m:r>
                                  </m:sub>
                                </m:sSub>
                                <m:r>
                                  <a:rPr lang="en-US" b="1" i="1" smtClean="0">
                                    <a:solidFill>
                                      <a:srgbClr val="0000CC"/>
                                    </a:solidFill>
                                    <a:latin typeface="Cambria Math" panose="02040503050406030204" pitchFamily="18" charset="0"/>
                                    <a:ea typeface="Cambria Math" panose="02040503050406030204" pitchFamily="18" charset="0"/>
                                  </a:rPr>
                                  <m:t>−</m:t>
                                </m:r>
                                <m:sSub>
                                  <m:sSubPr>
                                    <m:ctrlPr>
                                      <a:rPr lang="en-US" b="1" i="1" smtClean="0">
                                        <a:solidFill>
                                          <a:srgbClr val="0000CC"/>
                                        </a:solidFill>
                                        <a:latin typeface="Cambria Math" panose="02040503050406030204" pitchFamily="18" charset="0"/>
                                        <a:ea typeface="Cambria Math" panose="02040503050406030204" pitchFamily="18" charset="0"/>
                                      </a:rPr>
                                    </m:ctrlPr>
                                  </m:sSubPr>
                                  <m:e>
                                    <m:r>
                                      <a:rPr lang="en-US" b="1" i="1" dirty="0">
                                        <a:solidFill>
                                          <a:srgbClr val="0000CC"/>
                                        </a:solidFill>
                                        <a:latin typeface="Cambria Math" panose="02040503050406030204" pitchFamily="18" charset="0"/>
                                        <a:ea typeface="Cambria Math" panose="02040503050406030204" pitchFamily="18" charset="0"/>
                                      </a:rPr>
                                      <m:t>𝝓</m:t>
                                    </m:r>
                                  </m:e>
                                  <m:sub>
                                    <m:r>
                                      <a:rPr lang="en-US" b="1" i="1" dirty="0">
                                        <a:solidFill>
                                          <a:srgbClr val="0000CC"/>
                                        </a:solidFill>
                                        <a:latin typeface="Cambria Math" panose="02040503050406030204" pitchFamily="18" charset="0"/>
                                        <a:ea typeface="Cambria Math" panose="02040503050406030204" pitchFamily="18" charset="0"/>
                                      </a:rPr>
                                      <m:t>𝟏</m:t>
                                    </m:r>
                                  </m:sub>
                                </m:sSub>
                              </m:e>
                            </m:d>
                          </m:e>
                        </m:func>
                      </m:num>
                      <m:den>
                        <m:sSub>
                          <m:sSubPr>
                            <m:ctrlPr>
                              <a:rPr lang="en-US" b="1" i="1" smtClean="0">
                                <a:solidFill>
                                  <a:srgbClr val="0000CC"/>
                                </a:solidFill>
                                <a:latin typeface="Cambria Math" panose="02040503050406030204" pitchFamily="18" charset="0"/>
                              </a:rPr>
                            </m:ctrlPr>
                          </m:sSubPr>
                          <m:e>
                            <m:r>
                              <a:rPr lang="en-US" b="1" i="1" smtClean="0">
                                <a:solidFill>
                                  <a:srgbClr val="0000CC"/>
                                </a:solidFill>
                                <a:latin typeface="Cambria Math" panose="02040503050406030204" pitchFamily="18" charset="0"/>
                              </a:rPr>
                              <m:t>𝑽</m:t>
                            </m:r>
                          </m:e>
                          <m:sub>
                            <m:r>
                              <a:rPr lang="en-US" b="1" i="1" smtClean="0">
                                <a:solidFill>
                                  <a:srgbClr val="0000CC"/>
                                </a:solidFill>
                                <a:latin typeface="Cambria Math" panose="02040503050406030204" pitchFamily="18" charset="0"/>
                              </a:rPr>
                              <m:t>𝟏</m:t>
                            </m:r>
                            <m:r>
                              <a:rPr lang="en-US" b="1" i="1" smtClean="0">
                                <a:solidFill>
                                  <a:srgbClr val="0000CC"/>
                                </a:solidFill>
                                <a:latin typeface="Cambria Math" panose="02040503050406030204" pitchFamily="18" charset="0"/>
                              </a:rPr>
                              <m:t>,</m:t>
                            </m:r>
                            <m:r>
                              <a:rPr lang="en-US" b="1" i="1" smtClean="0">
                                <a:solidFill>
                                  <a:srgbClr val="0000CC"/>
                                </a:solidFill>
                                <a:latin typeface="Cambria Math" panose="02040503050406030204" pitchFamily="18" charset="0"/>
                              </a:rPr>
                              <m:t>𝒓𝒎𝒔</m:t>
                            </m:r>
                          </m:sub>
                        </m:sSub>
                        <m:sSub>
                          <m:sSubPr>
                            <m:ctrlPr>
                              <a:rPr lang="en-US" b="1" i="1" smtClean="0">
                                <a:solidFill>
                                  <a:srgbClr val="0000CC"/>
                                </a:solidFill>
                                <a:latin typeface="Cambria Math" panose="02040503050406030204" pitchFamily="18" charset="0"/>
                              </a:rPr>
                            </m:ctrlPr>
                          </m:sSubPr>
                          <m:e>
                            <m:r>
                              <a:rPr lang="en-US" b="1" i="1" smtClean="0">
                                <a:solidFill>
                                  <a:srgbClr val="0000CC"/>
                                </a:solidFill>
                                <a:latin typeface="Cambria Math" panose="02040503050406030204" pitchFamily="18" charset="0"/>
                              </a:rPr>
                              <m:t>𝑰</m:t>
                            </m:r>
                          </m:e>
                          <m:sub>
                            <m:r>
                              <a:rPr lang="en-US" b="1" i="1" smtClean="0">
                                <a:solidFill>
                                  <a:srgbClr val="0000CC"/>
                                </a:solidFill>
                                <a:latin typeface="Cambria Math" panose="02040503050406030204" pitchFamily="18" charset="0"/>
                              </a:rPr>
                              <m:t>𝒓𝒎𝒔</m:t>
                            </m:r>
                          </m:sub>
                        </m:sSub>
                      </m:den>
                    </m:f>
                  </m:oMath>
                </a14:m>
                <a:r>
                  <a:rPr lang="en-US" b="1" dirty="0">
                    <a:solidFill>
                      <a:srgbClr val="0000CC"/>
                    </a:solidFill>
                  </a:rPr>
                  <a:t> = </a:t>
                </a:r>
                <a14:m>
                  <m:oMath xmlns:m="http://schemas.openxmlformats.org/officeDocument/2006/math">
                    <m:d>
                      <m:dPr>
                        <m:ctrlPr>
                          <a:rPr lang="en-US" b="1" i="1" smtClean="0">
                            <a:solidFill>
                              <a:srgbClr val="0000CC"/>
                            </a:solidFill>
                            <a:latin typeface="Cambria Math" panose="02040503050406030204" pitchFamily="18" charset="0"/>
                          </a:rPr>
                        </m:ctrlPr>
                      </m:dPr>
                      <m:e>
                        <m:f>
                          <m:fPr>
                            <m:ctrlPr>
                              <a:rPr lang="en-US" b="1" i="1" smtClean="0">
                                <a:solidFill>
                                  <a:srgbClr val="0000CC"/>
                                </a:solidFill>
                                <a:latin typeface="Cambria Math" panose="02040503050406030204" pitchFamily="18" charset="0"/>
                              </a:rPr>
                            </m:ctrlPr>
                          </m:fPr>
                          <m:num>
                            <m:sSub>
                              <m:sSubPr>
                                <m:ctrlPr>
                                  <a:rPr lang="en-US" b="1" i="1" smtClean="0">
                                    <a:solidFill>
                                      <a:srgbClr val="0000CC"/>
                                    </a:solidFill>
                                    <a:latin typeface="Cambria Math" panose="02040503050406030204" pitchFamily="18" charset="0"/>
                                  </a:rPr>
                                </m:ctrlPr>
                              </m:sSubPr>
                              <m:e>
                                <m:r>
                                  <a:rPr lang="en-US" b="1" i="1" smtClean="0">
                                    <a:solidFill>
                                      <a:srgbClr val="0000CC"/>
                                    </a:solidFill>
                                    <a:latin typeface="Cambria Math" panose="02040503050406030204" pitchFamily="18" charset="0"/>
                                  </a:rPr>
                                  <m:t>𝑰</m:t>
                                </m:r>
                              </m:e>
                              <m:sub>
                                <m:r>
                                  <a:rPr lang="en-US" b="1" i="1" smtClean="0">
                                    <a:solidFill>
                                      <a:srgbClr val="0000CC"/>
                                    </a:solidFill>
                                    <a:latin typeface="Cambria Math" panose="02040503050406030204" pitchFamily="18" charset="0"/>
                                  </a:rPr>
                                  <m:t>𝟏</m:t>
                                </m:r>
                                <m:r>
                                  <a:rPr lang="en-US" b="1" i="1" smtClean="0">
                                    <a:solidFill>
                                      <a:srgbClr val="0000CC"/>
                                    </a:solidFill>
                                    <a:latin typeface="Cambria Math" panose="02040503050406030204" pitchFamily="18" charset="0"/>
                                  </a:rPr>
                                  <m:t>,</m:t>
                                </m:r>
                                <m:r>
                                  <a:rPr lang="en-US" b="1" i="1" smtClean="0">
                                    <a:solidFill>
                                      <a:srgbClr val="0000CC"/>
                                    </a:solidFill>
                                    <a:latin typeface="Cambria Math" panose="02040503050406030204" pitchFamily="18" charset="0"/>
                                  </a:rPr>
                                  <m:t>𝒓𝒎𝒔</m:t>
                                </m:r>
                              </m:sub>
                            </m:sSub>
                          </m:num>
                          <m:den>
                            <m:sSub>
                              <m:sSubPr>
                                <m:ctrlPr>
                                  <a:rPr lang="en-US" b="1" i="1" smtClean="0">
                                    <a:solidFill>
                                      <a:srgbClr val="0000CC"/>
                                    </a:solidFill>
                                    <a:latin typeface="Cambria Math" panose="02040503050406030204" pitchFamily="18" charset="0"/>
                                  </a:rPr>
                                </m:ctrlPr>
                              </m:sSubPr>
                              <m:e>
                                <m:r>
                                  <a:rPr lang="en-US" b="1" i="1" smtClean="0">
                                    <a:solidFill>
                                      <a:srgbClr val="0000CC"/>
                                    </a:solidFill>
                                    <a:latin typeface="Cambria Math" panose="02040503050406030204" pitchFamily="18" charset="0"/>
                                  </a:rPr>
                                  <m:t>𝑰</m:t>
                                </m:r>
                              </m:e>
                              <m:sub>
                                <m:r>
                                  <a:rPr lang="en-US" b="1" i="1" smtClean="0">
                                    <a:solidFill>
                                      <a:srgbClr val="0000CC"/>
                                    </a:solidFill>
                                    <a:latin typeface="Cambria Math" panose="02040503050406030204" pitchFamily="18" charset="0"/>
                                  </a:rPr>
                                  <m:t>𝒓𝒎𝒔</m:t>
                                </m:r>
                              </m:sub>
                            </m:sSub>
                          </m:den>
                        </m:f>
                      </m:e>
                    </m:d>
                    <m:func>
                      <m:funcPr>
                        <m:ctrlPr>
                          <a:rPr lang="en-US" b="1" i="1" smtClean="0">
                            <a:solidFill>
                              <a:srgbClr val="0000CC"/>
                            </a:solidFill>
                            <a:latin typeface="Cambria Math" panose="02040503050406030204" pitchFamily="18" charset="0"/>
                          </a:rPr>
                        </m:ctrlPr>
                      </m:funcPr>
                      <m:fName>
                        <m:r>
                          <a:rPr lang="en-US" b="1" i="0" smtClean="0">
                            <a:solidFill>
                              <a:srgbClr val="0000CC"/>
                            </a:solidFill>
                            <a:latin typeface="Cambria Math" panose="02040503050406030204" pitchFamily="18" charset="0"/>
                          </a:rPr>
                          <m:t>𝐜𝐨𝐬</m:t>
                        </m:r>
                      </m:fName>
                      <m:e>
                        <m:d>
                          <m:dPr>
                            <m:ctrlPr>
                              <a:rPr lang="en-US" b="1" i="1" smtClean="0">
                                <a:solidFill>
                                  <a:srgbClr val="0000CC"/>
                                </a:solidFill>
                                <a:latin typeface="Cambria Math" panose="02040503050406030204" pitchFamily="18" charset="0"/>
                              </a:rPr>
                            </m:ctrlPr>
                          </m:dPr>
                          <m:e>
                            <m:sSub>
                              <m:sSubPr>
                                <m:ctrlPr>
                                  <a:rPr lang="en-US" b="1" i="1" smtClean="0">
                                    <a:solidFill>
                                      <a:srgbClr val="0000CC"/>
                                    </a:solidFill>
                                    <a:latin typeface="Cambria Math" panose="02040503050406030204" pitchFamily="18" charset="0"/>
                                  </a:rPr>
                                </m:ctrlPr>
                              </m:sSubPr>
                              <m:e>
                                <m:r>
                                  <a:rPr lang="en-US" b="1" i="1" smtClean="0">
                                    <a:solidFill>
                                      <a:srgbClr val="0000CC"/>
                                    </a:solidFill>
                                    <a:latin typeface="Cambria Math" panose="02040503050406030204" pitchFamily="18" charset="0"/>
                                    <a:ea typeface="Cambria Math" panose="02040503050406030204" pitchFamily="18" charset="0"/>
                                  </a:rPr>
                                  <m:t>𝜽</m:t>
                                </m:r>
                              </m:e>
                              <m:sub>
                                <m:r>
                                  <a:rPr lang="en-US" b="1" i="1" smtClean="0">
                                    <a:solidFill>
                                      <a:srgbClr val="0000CC"/>
                                    </a:solidFill>
                                    <a:latin typeface="Cambria Math" panose="02040503050406030204" pitchFamily="18" charset="0"/>
                                  </a:rPr>
                                  <m:t>𝟏</m:t>
                                </m:r>
                              </m:sub>
                            </m:sSub>
                            <m:r>
                              <a:rPr lang="en-US" b="1" i="1" smtClean="0">
                                <a:solidFill>
                                  <a:srgbClr val="0000CC"/>
                                </a:solidFill>
                                <a:latin typeface="Cambria Math" panose="02040503050406030204" pitchFamily="18" charset="0"/>
                                <a:ea typeface="Cambria Math" panose="02040503050406030204" pitchFamily="18" charset="0"/>
                              </a:rPr>
                              <m:t>−</m:t>
                            </m:r>
                            <m:sSub>
                              <m:sSubPr>
                                <m:ctrlPr>
                                  <a:rPr lang="en-US" b="1" i="1" smtClean="0">
                                    <a:solidFill>
                                      <a:srgbClr val="0000CC"/>
                                    </a:solidFill>
                                    <a:latin typeface="Cambria Math" panose="02040503050406030204" pitchFamily="18" charset="0"/>
                                    <a:ea typeface="Cambria Math" panose="02040503050406030204" pitchFamily="18" charset="0"/>
                                  </a:rPr>
                                </m:ctrlPr>
                              </m:sSubPr>
                              <m:e>
                                <m:r>
                                  <a:rPr lang="en-US" b="1" i="1" dirty="0">
                                    <a:solidFill>
                                      <a:srgbClr val="0000CC"/>
                                    </a:solidFill>
                                    <a:latin typeface="Cambria Math" panose="02040503050406030204" pitchFamily="18" charset="0"/>
                                    <a:ea typeface="Cambria Math" panose="02040503050406030204" pitchFamily="18" charset="0"/>
                                  </a:rPr>
                                  <m:t>𝝓</m:t>
                                </m:r>
                              </m:e>
                              <m:sub>
                                <m:r>
                                  <a:rPr lang="en-US" b="1" i="1" dirty="0">
                                    <a:solidFill>
                                      <a:srgbClr val="0000CC"/>
                                    </a:solidFill>
                                    <a:latin typeface="Cambria Math" panose="02040503050406030204" pitchFamily="18" charset="0"/>
                                    <a:ea typeface="Cambria Math" panose="02040503050406030204" pitchFamily="18" charset="0"/>
                                  </a:rPr>
                                  <m:t>𝟏</m:t>
                                </m:r>
                              </m:sub>
                            </m:sSub>
                          </m:e>
                        </m:d>
                      </m:e>
                    </m:func>
                  </m:oMath>
                </a14:m>
                <a:endParaRPr lang="en-US" b="1" dirty="0"/>
              </a:p>
            </p:txBody>
          </p:sp>
        </mc:Choice>
        <mc:Fallback xmlns="">
          <p:sp>
            <p:nvSpPr>
              <p:cNvPr id="14" name="TextBox 13">
                <a:extLst>
                  <a:ext uri="{FF2B5EF4-FFF2-40B4-BE49-F238E27FC236}">
                    <a16:creationId xmlns:a16="http://schemas.microsoft.com/office/drawing/2014/main" id="{C7868F43-7AFC-418D-8605-A992ADF46808}"/>
                  </a:ext>
                </a:extLst>
              </p:cNvPr>
              <p:cNvSpPr txBox="1">
                <a:spLocks noRot="1" noChangeAspect="1" noMove="1" noResize="1" noEditPoints="1" noAdjustHandles="1" noChangeArrowheads="1" noChangeShapeType="1" noTextEdit="1"/>
              </p:cNvSpPr>
              <p:nvPr/>
            </p:nvSpPr>
            <p:spPr>
              <a:xfrm>
                <a:off x="839009" y="2908570"/>
                <a:ext cx="4880855" cy="562590"/>
              </a:xfrm>
              <a:prstGeom prst="rect">
                <a:avLst/>
              </a:prstGeom>
              <a:blipFill>
                <a:blip r:embed="rId5"/>
                <a:stretch>
                  <a:fillRect l="-112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1EE95A70-5EAD-4E4B-B428-533A28A42A82}"/>
                  </a:ext>
                </a:extLst>
              </p:cNvPr>
              <p:cNvSpPr txBox="1"/>
              <p:nvPr/>
            </p:nvSpPr>
            <p:spPr>
              <a:xfrm>
                <a:off x="734438" y="4789690"/>
                <a:ext cx="4534684" cy="656013"/>
              </a:xfrm>
              <a:prstGeom prst="rect">
                <a:avLst/>
              </a:prstGeom>
              <a:solidFill>
                <a:srgbClr val="00FFFF"/>
              </a:solidFill>
            </p:spPr>
            <p:txBody>
              <a:bodyPr wrap="square" rtlCol="0">
                <a:spAutoFit/>
              </a:bodyPr>
              <a:lstStyle/>
              <a:p>
                <a14:m>
                  <m:oMath xmlns:m="http://schemas.openxmlformats.org/officeDocument/2006/math">
                    <m:sSub>
                      <m:sSubPr>
                        <m:ctrlPr>
                          <a:rPr lang="en-US" b="1" i="1" smtClean="0">
                            <a:solidFill>
                              <a:srgbClr val="0000CC"/>
                            </a:solidFill>
                            <a:latin typeface="Cambria Math" panose="02040503050406030204" pitchFamily="18" charset="0"/>
                          </a:rPr>
                        </m:ctrlPr>
                      </m:sSubPr>
                      <m:e>
                        <m:r>
                          <a:rPr lang="en-US" b="1" i="1" smtClean="0">
                            <a:solidFill>
                              <a:srgbClr val="0000CC"/>
                            </a:solidFill>
                            <a:latin typeface="Cambria Math" panose="02040503050406030204" pitchFamily="18" charset="0"/>
                          </a:rPr>
                          <m:t>𝑰</m:t>
                        </m:r>
                      </m:e>
                      <m:sub>
                        <m:r>
                          <a:rPr lang="en-US" b="1" i="1" smtClean="0">
                            <a:solidFill>
                              <a:srgbClr val="0000CC"/>
                            </a:solidFill>
                            <a:latin typeface="Cambria Math" panose="02040503050406030204" pitchFamily="18" charset="0"/>
                          </a:rPr>
                          <m:t>𝒓𝒎𝒔</m:t>
                        </m:r>
                      </m:sub>
                    </m:sSub>
                  </m:oMath>
                </a14:m>
                <a:r>
                  <a:rPr lang="en-US" b="1" dirty="0">
                    <a:solidFill>
                      <a:srgbClr val="0000CC"/>
                    </a:solidFill>
                  </a:rPr>
                  <a:t> = </a:t>
                </a:r>
                <a14:m>
                  <m:oMath xmlns:m="http://schemas.openxmlformats.org/officeDocument/2006/math">
                    <m:rad>
                      <m:radPr>
                        <m:degHide m:val="on"/>
                        <m:ctrlPr>
                          <a:rPr lang="en-US" b="1" i="1" smtClean="0">
                            <a:solidFill>
                              <a:srgbClr val="0000CC"/>
                            </a:solidFill>
                            <a:latin typeface="Cambria Math" panose="02040503050406030204" pitchFamily="18" charset="0"/>
                          </a:rPr>
                        </m:ctrlPr>
                      </m:radPr>
                      <m:deg/>
                      <m:e>
                        <m:nary>
                          <m:naryPr>
                            <m:chr m:val="∑"/>
                            <m:ctrlPr>
                              <a:rPr lang="en-US" b="1" i="1" smtClean="0">
                                <a:solidFill>
                                  <a:srgbClr val="0000CC"/>
                                </a:solidFill>
                                <a:latin typeface="Cambria Math" panose="02040503050406030204" pitchFamily="18" charset="0"/>
                              </a:rPr>
                            </m:ctrlPr>
                          </m:naryPr>
                          <m:sub>
                            <m:r>
                              <m:rPr>
                                <m:brk m:alnAt="23"/>
                              </m:rPr>
                              <a:rPr lang="en-US" b="1" i="1" smtClean="0">
                                <a:solidFill>
                                  <a:srgbClr val="0000CC"/>
                                </a:solidFill>
                                <a:latin typeface="Cambria Math" panose="02040503050406030204" pitchFamily="18" charset="0"/>
                              </a:rPr>
                              <m:t>𝒏</m:t>
                            </m:r>
                            <m:r>
                              <a:rPr lang="en-US" b="1" i="1" smtClean="0">
                                <a:solidFill>
                                  <a:srgbClr val="0000CC"/>
                                </a:solidFill>
                                <a:latin typeface="Cambria Math" panose="02040503050406030204" pitchFamily="18" charset="0"/>
                              </a:rPr>
                              <m:t>=</m:t>
                            </m:r>
                            <m:r>
                              <a:rPr lang="en-US" b="1" i="1" smtClean="0">
                                <a:solidFill>
                                  <a:srgbClr val="0000CC"/>
                                </a:solidFill>
                                <a:latin typeface="Cambria Math" panose="02040503050406030204" pitchFamily="18" charset="0"/>
                              </a:rPr>
                              <m:t>𝟎</m:t>
                            </m:r>
                          </m:sub>
                          <m:sup>
                            <m:r>
                              <a:rPr lang="en-US" b="1" i="1" smtClean="0">
                                <a:solidFill>
                                  <a:srgbClr val="0000CC"/>
                                </a:solidFill>
                                <a:latin typeface="Cambria Math" panose="02040503050406030204" pitchFamily="18" charset="0"/>
                                <a:ea typeface="Cambria Math" panose="02040503050406030204" pitchFamily="18" charset="0"/>
                              </a:rPr>
                              <m:t>∞</m:t>
                            </m:r>
                          </m:sup>
                          <m:e>
                            <m:sSubSup>
                              <m:sSubSupPr>
                                <m:ctrlPr>
                                  <a:rPr lang="en-US" b="1" i="1" smtClean="0">
                                    <a:solidFill>
                                      <a:srgbClr val="0000CC"/>
                                    </a:solidFill>
                                    <a:latin typeface="Cambria Math" panose="02040503050406030204" pitchFamily="18" charset="0"/>
                                  </a:rPr>
                                </m:ctrlPr>
                              </m:sSubSupPr>
                              <m:e>
                                <m:r>
                                  <a:rPr lang="en-US" b="1" i="1" smtClean="0">
                                    <a:solidFill>
                                      <a:srgbClr val="0000CC"/>
                                    </a:solidFill>
                                    <a:latin typeface="Cambria Math" panose="02040503050406030204" pitchFamily="18" charset="0"/>
                                  </a:rPr>
                                  <m:t>𝑰</m:t>
                                </m:r>
                              </m:e>
                              <m:sub>
                                <m:r>
                                  <a:rPr lang="en-US" b="1" i="1" smtClean="0">
                                    <a:solidFill>
                                      <a:srgbClr val="0000CC"/>
                                    </a:solidFill>
                                    <a:latin typeface="Cambria Math" panose="02040503050406030204" pitchFamily="18" charset="0"/>
                                  </a:rPr>
                                  <m:t>𝒏</m:t>
                                </m:r>
                                <m:r>
                                  <a:rPr lang="en-US" b="1" i="1" smtClean="0">
                                    <a:solidFill>
                                      <a:srgbClr val="0000CC"/>
                                    </a:solidFill>
                                    <a:latin typeface="Cambria Math" panose="02040503050406030204" pitchFamily="18" charset="0"/>
                                  </a:rPr>
                                  <m:t>,</m:t>
                                </m:r>
                                <m:r>
                                  <a:rPr lang="en-US" b="1" i="1" smtClean="0">
                                    <a:solidFill>
                                      <a:srgbClr val="0000CC"/>
                                    </a:solidFill>
                                    <a:latin typeface="Cambria Math" panose="02040503050406030204" pitchFamily="18" charset="0"/>
                                  </a:rPr>
                                  <m:t>𝒓𝒎𝒔</m:t>
                                </m:r>
                              </m:sub>
                              <m:sup>
                                <m:r>
                                  <a:rPr lang="en-US" b="1" i="1" smtClean="0">
                                    <a:solidFill>
                                      <a:srgbClr val="0000CC"/>
                                    </a:solidFill>
                                    <a:latin typeface="Cambria Math" panose="02040503050406030204" pitchFamily="18" charset="0"/>
                                  </a:rPr>
                                  <m:t>𝟐</m:t>
                                </m:r>
                              </m:sup>
                            </m:sSubSup>
                          </m:e>
                        </m:nary>
                      </m:e>
                    </m:rad>
                  </m:oMath>
                </a14:m>
                <a:r>
                  <a:rPr lang="en-US" b="1" dirty="0">
                    <a:solidFill>
                      <a:srgbClr val="0000CC"/>
                    </a:solidFill>
                  </a:rPr>
                  <a:t>  = </a:t>
                </a:r>
                <a14:m>
                  <m:oMath xmlns:m="http://schemas.openxmlformats.org/officeDocument/2006/math">
                    <m:rad>
                      <m:radPr>
                        <m:degHide m:val="on"/>
                        <m:ctrlPr>
                          <a:rPr lang="en-US" b="1" i="1" smtClean="0">
                            <a:solidFill>
                              <a:srgbClr val="0000CC"/>
                            </a:solidFill>
                            <a:latin typeface="Cambria Math" panose="02040503050406030204" pitchFamily="18" charset="0"/>
                          </a:rPr>
                        </m:ctrlPr>
                      </m:radPr>
                      <m:deg/>
                      <m:e>
                        <m:sSubSup>
                          <m:sSubSupPr>
                            <m:ctrlPr>
                              <a:rPr lang="en-US" b="1" i="1" smtClean="0">
                                <a:solidFill>
                                  <a:srgbClr val="0000CC"/>
                                </a:solidFill>
                                <a:latin typeface="Cambria Math" panose="02040503050406030204" pitchFamily="18" charset="0"/>
                              </a:rPr>
                            </m:ctrlPr>
                          </m:sSubSupPr>
                          <m:e>
                            <m:r>
                              <a:rPr lang="en-US" b="1" i="1" smtClean="0">
                                <a:solidFill>
                                  <a:srgbClr val="0000CC"/>
                                </a:solidFill>
                                <a:latin typeface="Cambria Math" panose="02040503050406030204" pitchFamily="18" charset="0"/>
                              </a:rPr>
                              <m:t>𝑰</m:t>
                            </m:r>
                          </m:e>
                          <m:sub>
                            <m:r>
                              <a:rPr lang="en-US" b="1" i="1" smtClean="0">
                                <a:solidFill>
                                  <a:srgbClr val="0000CC"/>
                                </a:solidFill>
                                <a:latin typeface="Cambria Math" panose="02040503050406030204" pitchFamily="18" charset="0"/>
                              </a:rPr>
                              <m:t>𝟎</m:t>
                            </m:r>
                          </m:sub>
                          <m:sup>
                            <m:r>
                              <a:rPr lang="en-US" b="1" i="1" smtClean="0">
                                <a:solidFill>
                                  <a:srgbClr val="0000CC"/>
                                </a:solidFill>
                                <a:latin typeface="Cambria Math" panose="02040503050406030204" pitchFamily="18" charset="0"/>
                              </a:rPr>
                              <m:t>𝟐</m:t>
                            </m:r>
                          </m:sup>
                        </m:sSubSup>
                        <m:r>
                          <a:rPr lang="en-US" b="1" i="1" smtClean="0">
                            <a:solidFill>
                              <a:srgbClr val="0000CC"/>
                            </a:solidFill>
                            <a:latin typeface="Cambria Math" panose="02040503050406030204" pitchFamily="18" charset="0"/>
                            <a:ea typeface="Cambria Math" panose="02040503050406030204" pitchFamily="18" charset="0"/>
                          </a:rPr>
                          <m:t>+</m:t>
                        </m:r>
                        <m:nary>
                          <m:naryPr>
                            <m:chr m:val="∑"/>
                            <m:ctrlPr>
                              <a:rPr lang="en-US" b="1" i="1" smtClean="0">
                                <a:solidFill>
                                  <a:srgbClr val="0000CC"/>
                                </a:solidFill>
                                <a:latin typeface="Cambria Math" panose="02040503050406030204" pitchFamily="18" charset="0"/>
                                <a:ea typeface="Cambria Math" panose="02040503050406030204" pitchFamily="18" charset="0"/>
                              </a:rPr>
                            </m:ctrlPr>
                          </m:naryPr>
                          <m:sub>
                            <m:r>
                              <m:rPr>
                                <m:brk m:alnAt="23"/>
                              </m:rPr>
                              <a:rPr lang="en-US" b="1" i="1" smtClean="0">
                                <a:solidFill>
                                  <a:srgbClr val="0000CC"/>
                                </a:solidFill>
                                <a:latin typeface="Cambria Math" panose="02040503050406030204" pitchFamily="18" charset="0"/>
                                <a:ea typeface="Cambria Math" panose="02040503050406030204" pitchFamily="18" charset="0"/>
                              </a:rPr>
                              <m:t>𝒏</m:t>
                            </m:r>
                            <m:r>
                              <a:rPr lang="en-US" b="1" i="1" smtClean="0">
                                <a:solidFill>
                                  <a:srgbClr val="0000CC"/>
                                </a:solidFill>
                                <a:latin typeface="Cambria Math" panose="02040503050406030204" pitchFamily="18" charset="0"/>
                                <a:ea typeface="Cambria Math" panose="02040503050406030204" pitchFamily="18" charset="0"/>
                              </a:rPr>
                              <m:t>=</m:t>
                            </m:r>
                            <m:r>
                              <a:rPr lang="en-US" b="1" i="1" smtClean="0">
                                <a:solidFill>
                                  <a:srgbClr val="0000CC"/>
                                </a:solidFill>
                                <a:latin typeface="Cambria Math" panose="02040503050406030204" pitchFamily="18" charset="0"/>
                                <a:ea typeface="Cambria Math" panose="02040503050406030204" pitchFamily="18" charset="0"/>
                              </a:rPr>
                              <m:t>𝟏</m:t>
                            </m:r>
                          </m:sub>
                          <m:sup>
                            <m:r>
                              <a:rPr lang="en-US" b="1" i="1" smtClean="0">
                                <a:solidFill>
                                  <a:srgbClr val="0000CC"/>
                                </a:solidFill>
                                <a:latin typeface="Cambria Math" panose="02040503050406030204" pitchFamily="18" charset="0"/>
                                <a:ea typeface="Cambria Math" panose="02040503050406030204" pitchFamily="18" charset="0"/>
                              </a:rPr>
                              <m:t>∞</m:t>
                            </m:r>
                          </m:sup>
                          <m:e>
                            <m:sSup>
                              <m:sSupPr>
                                <m:ctrlPr>
                                  <a:rPr lang="en-US" b="1" i="1" smtClean="0">
                                    <a:solidFill>
                                      <a:srgbClr val="0000CC"/>
                                    </a:solidFill>
                                    <a:latin typeface="Cambria Math" panose="02040503050406030204" pitchFamily="18" charset="0"/>
                                    <a:ea typeface="Cambria Math" panose="02040503050406030204" pitchFamily="18" charset="0"/>
                                  </a:rPr>
                                </m:ctrlPr>
                              </m:sSupPr>
                              <m:e>
                                <m:d>
                                  <m:dPr>
                                    <m:ctrlPr>
                                      <a:rPr lang="en-US" b="1" i="1" smtClean="0">
                                        <a:solidFill>
                                          <a:srgbClr val="0000CC"/>
                                        </a:solidFill>
                                        <a:latin typeface="Cambria Math" panose="02040503050406030204" pitchFamily="18" charset="0"/>
                                        <a:ea typeface="Cambria Math" panose="02040503050406030204" pitchFamily="18" charset="0"/>
                                      </a:rPr>
                                    </m:ctrlPr>
                                  </m:dPr>
                                  <m:e>
                                    <m:f>
                                      <m:fPr>
                                        <m:ctrlPr>
                                          <a:rPr lang="en-US" b="1" i="1" smtClean="0">
                                            <a:solidFill>
                                              <a:srgbClr val="0000CC"/>
                                            </a:solidFill>
                                            <a:latin typeface="Cambria Math" panose="02040503050406030204" pitchFamily="18" charset="0"/>
                                            <a:ea typeface="Cambria Math" panose="02040503050406030204" pitchFamily="18" charset="0"/>
                                          </a:rPr>
                                        </m:ctrlPr>
                                      </m:fPr>
                                      <m:num>
                                        <m:sSub>
                                          <m:sSubPr>
                                            <m:ctrlPr>
                                              <a:rPr lang="en-US" b="1" i="1" smtClean="0">
                                                <a:solidFill>
                                                  <a:srgbClr val="0000CC"/>
                                                </a:solidFill>
                                                <a:latin typeface="Cambria Math" panose="02040503050406030204" pitchFamily="18" charset="0"/>
                                                <a:ea typeface="Cambria Math" panose="02040503050406030204" pitchFamily="18" charset="0"/>
                                              </a:rPr>
                                            </m:ctrlPr>
                                          </m:sSubPr>
                                          <m:e>
                                            <m:r>
                                              <a:rPr lang="en-US" b="1" i="1" smtClean="0">
                                                <a:solidFill>
                                                  <a:srgbClr val="0000CC"/>
                                                </a:solidFill>
                                                <a:latin typeface="Cambria Math" panose="02040503050406030204" pitchFamily="18" charset="0"/>
                                                <a:ea typeface="Cambria Math" panose="02040503050406030204" pitchFamily="18" charset="0"/>
                                              </a:rPr>
                                              <m:t>𝑰</m:t>
                                            </m:r>
                                          </m:e>
                                          <m:sub>
                                            <m:r>
                                              <a:rPr lang="en-US" b="1" i="1" smtClean="0">
                                                <a:solidFill>
                                                  <a:srgbClr val="0000CC"/>
                                                </a:solidFill>
                                                <a:latin typeface="Cambria Math" panose="02040503050406030204" pitchFamily="18" charset="0"/>
                                                <a:ea typeface="Cambria Math" panose="02040503050406030204" pitchFamily="18" charset="0"/>
                                              </a:rPr>
                                              <m:t>𝒏</m:t>
                                            </m:r>
                                          </m:sub>
                                        </m:sSub>
                                      </m:num>
                                      <m:den>
                                        <m:rad>
                                          <m:radPr>
                                            <m:degHide m:val="on"/>
                                            <m:ctrlPr>
                                              <a:rPr lang="en-US" b="1" i="1" smtClean="0">
                                                <a:solidFill>
                                                  <a:srgbClr val="0000CC"/>
                                                </a:solidFill>
                                                <a:latin typeface="Cambria Math" panose="02040503050406030204" pitchFamily="18" charset="0"/>
                                                <a:ea typeface="Cambria Math" panose="02040503050406030204" pitchFamily="18" charset="0"/>
                                              </a:rPr>
                                            </m:ctrlPr>
                                          </m:radPr>
                                          <m:deg/>
                                          <m:e>
                                            <m:r>
                                              <a:rPr lang="en-US" b="1" i="1" smtClean="0">
                                                <a:solidFill>
                                                  <a:srgbClr val="0000CC"/>
                                                </a:solidFill>
                                                <a:latin typeface="Cambria Math" panose="02040503050406030204" pitchFamily="18" charset="0"/>
                                                <a:ea typeface="Cambria Math" panose="02040503050406030204" pitchFamily="18" charset="0"/>
                                              </a:rPr>
                                              <m:t>𝟐</m:t>
                                            </m:r>
                                          </m:e>
                                        </m:rad>
                                      </m:den>
                                    </m:f>
                                  </m:e>
                                </m:d>
                              </m:e>
                              <m:sup>
                                <m:r>
                                  <a:rPr lang="en-US" b="1" i="1" smtClean="0">
                                    <a:solidFill>
                                      <a:srgbClr val="0000CC"/>
                                    </a:solidFill>
                                    <a:latin typeface="Cambria Math" panose="02040503050406030204" pitchFamily="18" charset="0"/>
                                    <a:ea typeface="Cambria Math" panose="02040503050406030204" pitchFamily="18" charset="0"/>
                                  </a:rPr>
                                  <m:t>𝟐</m:t>
                                </m:r>
                              </m:sup>
                            </m:sSup>
                          </m:e>
                        </m:nary>
                      </m:e>
                    </m:rad>
                  </m:oMath>
                </a14:m>
                <a:endParaRPr lang="en-US" b="1" dirty="0"/>
              </a:p>
            </p:txBody>
          </p:sp>
        </mc:Choice>
        <mc:Fallback xmlns="">
          <p:sp>
            <p:nvSpPr>
              <p:cNvPr id="15" name="TextBox 14">
                <a:extLst>
                  <a:ext uri="{FF2B5EF4-FFF2-40B4-BE49-F238E27FC236}">
                    <a16:creationId xmlns:a16="http://schemas.microsoft.com/office/drawing/2014/main" id="{1EE95A70-5EAD-4E4B-B428-533A28A42A82}"/>
                  </a:ext>
                </a:extLst>
              </p:cNvPr>
              <p:cNvSpPr txBox="1">
                <a:spLocks noRot="1" noChangeAspect="1" noMove="1" noResize="1" noEditPoints="1" noAdjustHandles="1" noChangeArrowheads="1" noChangeShapeType="1" noTextEdit="1"/>
              </p:cNvSpPr>
              <p:nvPr/>
            </p:nvSpPr>
            <p:spPr>
              <a:xfrm>
                <a:off x="734438" y="4789690"/>
                <a:ext cx="4534684" cy="656013"/>
              </a:xfrm>
              <a:prstGeom prst="rect">
                <a:avLst/>
              </a:prstGeom>
              <a:blipFill>
                <a:blip r:embed="rId6"/>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76793999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6">
            <a:extLst>
              <a:ext uri="{FF2B5EF4-FFF2-40B4-BE49-F238E27FC236}">
                <a16:creationId xmlns:a16="http://schemas.microsoft.com/office/drawing/2014/main" id="{56080804-F19F-41A7-8595-943961648C5E}"/>
              </a:ext>
            </a:extLst>
          </p:cNvPr>
          <p:cNvSpPr>
            <a:spLocks noGrp="1"/>
          </p:cNvSpPr>
          <p:nvPr>
            <p:ph type="sldNum" sz="quarter" idx="12"/>
          </p:nvPr>
        </p:nvSpPr>
        <p:spPr>
          <a:xfrm>
            <a:off x="8610600" y="6441692"/>
            <a:ext cx="2743200" cy="370027"/>
          </a:xfrm>
        </p:spPr>
        <p:txBody>
          <a:bodyPr/>
          <a:lstStyle/>
          <a:p>
            <a:fld id="{F4801FD5-11B4-DE43-ACA2-E85EEB9A6F9C}" type="slidenum">
              <a:rPr lang="en-US" smtClean="0">
                <a:latin typeface="Garamond" panose="02020404030301010803" pitchFamily="18" charset="0"/>
              </a:rPr>
              <a:t>37</a:t>
            </a:fld>
            <a:endParaRPr lang="en-US">
              <a:latin typeface="Garamond" panose="02020404030301010803" pitchFamily="18" charset="0"/>
            </a:endParaRPr>
          </a:p>
        </p:txBody>
      </p:sp>
      <p:sp>
        <p:nvSpPr>
          <p:cNvPr id="5" name="Title 1">
            <a:extLst>
              <a:ext uri="{FF2B5EF4-FFF2-40B4-BE49-F238E27FC236}">
                <a16:creationId xmlns:a16="http://schemas.microsoft.com/office/drawing/2014/main" id="{4710AE4B-0DB8-4451-B9E4-10BAE11B4D3A}"/>
              </a:ext>
            </a:extLst>
          </p:cNvPr>
          <p:cNvSpPr>
            <a:spLocks noGrp="1"/>
          </p:cNvSpPr>
          <p:nvPr>
            <p:ph type="title"/>
          </p:nvPr>
        </p:nvSpPr>
        <p:spPr>
          <a:xfrm>
            <a:off x="475035" y="138356"/>
            <a:ext cx="10972800" cy="1115558"/>
          </a:xfrm>
        </p:spPr>
        <p:txBody>
          <a:bodyPr>
            <a:noAutofit/>
          </a:bodyPr>
          <a:lstStyle/>
          <a:p>
            <a:pPr algn="ctr"/>
            <a:r>
              <a:rPr lang="en-US" sz="3200" b="1" u="sng" dirty="0">
                <a:solidFill>
                  <a:srgbClr val="FF3386"/>
                </a:solidFill>
                <a:latin typeface="Century Gothic" panose="020B0502020202020204" pitchFamily="34" charset="0"/>
                <a:cs typeface="Helvetica"/>
              </a:rPr>
              <a:t>POWER COMPUTATION FOR SINUSOIDAL SOURCE AND LINEAR LOAD</a:t>
            </a:r>
          </a:p>
        </p:txBody>
      </p:sp>
      <p:sp>
        <p:nvSpPr>
          <p:cNvPr id="6" name="TextBox 5">
            <a:extLst>
              <a:ext uri="{FF2B5EF4-FFF2-40B4-BE49-F238E27FC236}">
                <a16:creationId xmlns:a16="http://schemas.microsoft.com/office/drawing/2014/main" id="{6BAA1F11-5BEF-4D80-964F-A7332E36BFA0}"/>
              </a:ext>
            </a:extLst>
          </p:cNvPr>
          <p:cNvSpPr txBox="1"/>
          <p:nvPr/>
        </p:nvSpPr>
        <p:spPr>
          <a:xfrm>
            <a:off x="207523" y="1383437"/>
            <a:ext cx="11507823" cy="5632311"/>
          </a:xfrm>
          <a:prstGeom prst="rect">
            <a:avLst/>
          </a:prstGeom>
          <a:noFill/>
          <a:ln>
            <a:solidFill>
              <a:srgbClr val="FF0066"/>
            </a:solidFill>
          </a:ln>
        </p:spPr>
        <p:txBody>
          <a:bodyPr wrap="square" rtlCol="0">
            <a:spAutoFit/>
          </a:bodyPr>
          <a:lstStyle/>
          <a:p>
            <a:pPr marL="342900" indent="-342900">
              <a:buClr>
                <a:schemeClr val="accent2"/>
              </a:buClr>
              <a:buFont typeface="Arial" panose="020B0604020202020204" pitchFamily="34" charset="0"/>
              <a:buChar char="•"/>
            </a:pPr>
            <a:r>
              <a:rPr lang="en-GB" sz="2400" b="1" kern="100" dirty="0">
                <a:solidFill>
                  <a:srgbClr val="0000CC"/>
                </a:solidFill>
                <a:latin typeface="Century Gothic" panose="020B0502020202020204" pitchFamily="34" charset="0"/>
                <a:ea typeface="Calibri" panose="020F0502020204030204" pitchFamily="34" charset="0"/>
                <a:cs typeface="Times New Roman" panose="02020603050405020304" pitchFamily="18" charset="0"/>
              </a:rPr>
              <a:t>Distortion Factor is determined by </a:t>
            </a:r>
          </a:p>
          <a:p>
            <a:pPr>
              <a:buClr>
                <a:schemeClr val="accent2"/>
              </a:buClr>
            </a:pPr>
            <a:r>
              <a:rPr lang="en-GB" sz="2400" b="1" kern="100" dirty="0">
                <a:solidFill>
                  <a:srgbClr val="0000CC"/>
                </a:solidFill>
                <a:latin typeface="Century Gothic" panose="020B0502020202020204" pitchFamily="34" charset="0"/>
                <a:ea typeface="Calibri" panose="020F0502020204030204" pitchFamily="34" charset="0"/>
                <a:cs typeface="Times New Roman" panose="02020603050405020304" pitchFamily="18" charset="0"/>
              </a:rPr>
              <a:t> 					 </a:t>
            </a:r>
            <a:br>
              <a:rPr lang="en-GB" sz="2400" b="1" kern="100" dirty="0">
                <a:solidFill>
                  <a:srgbClr val="0000CC"/>
                </a:solidFill>
                <a:latin typeface="Century Gothic" panose="020B0502020202020204" pitchFamily="34" charset="0"/>
                <a:ea typeface="Calibri" panose="020F0502020204030204" pitchFamily="34" charset="0"/>
                <a:cs typeface="Times New Roman" panose="02020603050405020304" pitchFamily="18" charset="0"/>
              </a:rPr>
            </a:br>
            <a:br>
              <a:rPr lang="en-GB" sz="2400" b="1" kern="100" dirty="0">
                <a:solidFill>
                  <a:srgbClr val="0000CC"/>
                </a:solidFill>
                <a:latin typeface="Century Gothic" panose="020B0502020202020204" pitchFamily="34" charset="0"/>
                <a:ea typeface="Calibri" panose="020F0502020204030204" pitchFamily="34" charset="0"/>
                <a:cs typeface="Times New Roman" panose="02020603050405020304" pitchFamily="18" charset="0"/>
              </a:rPr>
            </a:br>
            <a:endParaRPr lang="en-GB" sz="2400" b="1" kern="100" dirty="0">
              <a:solidFill>
                <a:srgbClr val="0000CC"/>
              </a:solidFill>
              <a:latin typeface="Century Gothic" panose="020B0502020202020204" pitchFamily="34" charset="0"/>
              <a:ea typeface="Calibri" panose="020F0502020204030204" pitchFamily="34" charset="0"/>
              <a:cs typeface="Times New Roman" panose="02020603050405020304" pitchFamily="18" charset="0"/>
            </a:endParaRPr>
          </a:p>
          <a:p>
            <a:pPr marL="342900" indent="-342900">
              <a:buClr>
                <a:schemeClr val="accent2"/>
              </a:buClr>
              <a:buFont typeface="Arial" panose="020B0604020202020204" pitchFamily="34" charset="0"/>
              <a:buChar char="•"/>
            </a:pPr>
            <a:r>
              <a:rPr lang="en-GB" sz="2400" b="1" kern="100" dirty="0">
                <a:solidFill>
                  <a:srgbClr val="0000CC"/>
                </a:solidFill>
                <a:latin typeface="Century Gothic" panose="020B0502020202020204" pitchFamily="34" charset="0"/>
                <a:ea typeface="Calibri" panose="020F0502020204030204" pitchFamily="34" charset="0"/>
                <a:cs typeface="Times New Roman" panose="02020603050405020304" pitchFamily="18" charset="0"/>
              </a:rPr>
              <a:t>Power factor can also be expressed as </a:t>
            </a:r>
          </a:p>
          <a:p>
            <a:pPr>
              <a:buClr>
                <a:schemeClr val="accent2"/>
              </a:buClr>
            </a:pPr>
            <a:endParaRPr lang="en-GB" sz="2400" b="1" kern="100" dirty="0">
              <a:solidFill>
                <a:srgbClr val="0000CC"/>
              </a:solidFill>
              <a:latin typeface="Century Gothic" panose="020B0502020202020204" pitchFamily="34" charset="0"/>
              <a:ea typeface="Calibri" panose="020F0502020204030204" pitchFamily="34" charset="0"/>
              <a:cs typeface="Times New Roman" panose="02020603050405020304" pitchFamily="18" charset="0"/>
            </a:endParaRPr>
          </a:p>
          <a:p>
            <a:pPr>
              <a:buClr>
                <a:schemeClr val="accent2"/>
              </a:buClr>
            </a:pPr>
            <a:r>
              <a:rPr lang="en-GB" sz="2400" b="1" kern="100" dirty="0">
                <a:solidFill>
                  <a:srgbClr val="0000CC"/>
                </a:solidFill>
                <a:latin typeface="Century Gothic" panose="020B0502020202020204" pitchFamily="34" charset="0"/>
                <a:ea typeface="Calibri" panose="020F0502020204030204" pitchFamily="34" charset="0"/>
                <a:cs typeface="Times New Roman" panose="02020603050405020304" pitchFamily="18" charset="0"/>
              </a:rPr>
              <a:t>	</a:t>
            </a:r>
          </a:p>
          <a:p>
            <a:pPr>
              <a:buClr>
                <a:schemeClr val="accent2"/>
              </a:buClr>
            </a:pPr>
            <a:endParaRPr lang="en-GB" sz="2400" b="1" kern="100" dirty="0">
              <a:solidFill>
                <a:srgbClr val="0000CC"/>
              </a:solidFill>
              <a:latin typeface="Century Gothic" panose="020B0502020202020204" pitchFamily="34" charset="0"/>
              <a:ea typeface="Calibri" panose="020F0502020204030204" pitchFamily="34" charset="0"/>
              <a:cs typeface="Times New Roman" panose="02020603050405020304" pitchFamily="18" charset="0"/>
            </a:endParaRPr>
          </a:p>
          <a:p>
            <a:pPr marL="342900" indent="-342900">
              <a:buClr>
                <a:schemeClr val="accent2"/>
              </a:buClr>
              <a:buFont typeface="Arial" panose="020B0604020202020204" pitchFamily="34" charset="0"/>
              <a:buChar char="•"/>
            </a:pPr>
            <a:r>
              <a:rPr lang="en-GB" sz="2400" b="1" kern="100" dirty="0">
                <a:solidFill>
                  <a:srgbClr val="0000CC"/>
                </a:solidFill>
                <a:latin typeface="Century Gothic" panose="020B0502020202020204" pitchFamily="34" charset="0"/>
                <a:ea typeface="Calibri" panose="020F0502020204030204" pitchFamily="34" charset="0"/>
                <a:cs typeface="Times New Roman" panose="02020603050405020304" pitchFamily="18" charset="0"/>
              </a:rPr>
              <a:t>Total harmonic distortion (THD) </a:t>
            </a:r>
            <a:r>
              <a:rPr lang="en-GB" sz="2400" i="1" kern="100" dirty="0">
                <a:solidFill>
                  <a:srgbClr val="0000CC"/>
                </a:solidFill>
                <a:latin typeface="Century Gothic" panose="020B0502020202020204" pitchFamily="34" charset="0"/>
                <a:ea typeface="Calibri" panose="020F0502020204030204" pitchFamily="34" charset="0"/>
                <a:cs typeface="Times New Roman" panose="02020603050405020304" pitchFamily="18" charset="0"/>
              </a:rPr>
              <a:t>is used to quantify the </a:t>
            </a:r>
            <a:r>
              <a:rPr lang="en-GB" sz="2400" i="1" kern="100" dirty="0" err="1">
                <a:solidFill>
                  <a:srgbClr val="0000CC"/>
                </a:solidFill>
                <a:latin typeface="Century Gothic" panose="020B0502020202020204" pitchFamily="34" charset="0"/>
                <a:ea typeface="Calibri" panose="020F0502020204030204" pitchFamily="34" charset="0"/>
                <a:cs typeface="Times New Roman" panose="02020603050405020304" pitchFamily="18" charset="0"/>
              </a:rPr>
              <a:t>nonsinusoidal</a:t>
            </a:r>
            <a:r>
              <a:rPr lang="en-GB" sz="2400" i="1" kern="100" dirty="0">
                <a:solidFill>
                  <a:srgbClr val="0000CC"/>
                </a:solidFill>
                <a:latin typeface="Century Gothic" panose="020B0502020202020204" pitchFamily="34" charset="0"/>
                <a:ea typeface="Calibri" panose="020F0502020204030204" pitchFamily="34" charset="0"/>
                <a:cs typeface="Times New Roman" panose="02020603050405020304" pitchFamily="18" charset="0"/>
              </a:rPr>
              <a:t> property of waveform</a:t>
            </a:r>
            <a:r>
              <a:rPr lang="en-GB" sz="2400" b="1" kern="100" dirty="0">
                <a:solidFill>
                  <a:srgbClr val="0000CC"/>
                </a:solidFill>
                <a:latin typeface="Century Gothic" panose="020B0502020202020204" pitchFamily="34" charset="0"/>
                <a:ea typeface="Calibri" panose="020F0502020204030204" pitchFamily="34" charset="0"/>
                <a:cs typeface="Times New Roman" panose="02020603050405020304" pitchFamily="18" charset="0"/>
              </a:rPr>
              <a:t>. THD </a:t>
            </a:r>
            <a:r>
              <a:rPr lang="en-GB" sz="2400" i="1" kern="100" dirty="0">
                <a:solidFill>
                  <a:srgbClr val="0000CC"/>
                </a:solidFill>
                <a:latin typeface="Century Gothic" panose="020B0502020202020204" pitchFamily="34" charset="0"/>
                <a:ea typeface="Calibri" panose="020F0502020204030204" pitchFamily="34" charset="0"/>
                <a:cs typeface="Times New Roman" panose="02020603050405020304" pitchFamily="18" charset="0"/>
              </a:rPr>
              <a:t>is the ratio of the rms value of all the nonfundamental frequency terms of the rms value of the fundamental frequency term.</a:t>
            </a:r>
            <a:br>
              <a:rPr lang="en-GB" sz="2400" i="1" kern="100" dirty="0">
                <a:solidFill>
                  <a:srgbClr val="0000CC"/>
                </a:solidFill>
                <a:latin typeface="Century Gothic" panose="020B0502020202020204" pitchFamily="34" charset="0"/>
                <a:ea typeface="Calibri" panose="020F0502020204030204" pitchFamily="34" charset="0"/>
                <a:cs typeface="Times New Roman" panose="02020603050405020304" pitchFamily="18" charset="0"/>
              </a:rPr>
            </a:br>
            <a:r>
              <a:rPr lang="en-GB" sz="2400" i="1" kern="100" dirty="0">
                <a:solidFill>
                  <a:srgbClr val="0000CC"/>
                </a:solidFill>
                <a:latin typeface="Century Gothic" panose="020B0502020202020204" pitchFamily="34" charset="0"/>
                <a:ea typeface="Calibri" panose="020F0502020204030204" pitchFamily="34" charset="0"/>
                <a:cs typeface="Times New Roman" panose="02020603050405020304" pitchFamily="18" charset="0"/>
              </a:rPr>
              <a:t>					</a:t>
            </a:r>
          </a:p>
          <a:p>
            <a:pPr>
              <a:buClr>
                <a:schemeClr val="accent2"/>
              </a:buClr>
            </a:pPr>
            <a:endParaRPr lang="en-GB" sz="2400" b="1" kern="100" dirty="0">
              <a:solidFill>
                <a:srgbClr val="0000CC"/>
              </a:solidFill>
              <a:latin typeface="Century Gothic" panose="020B0502020202020204" pitchFamily="34" charset="0"/>
              <a:ea typeface="Calibri" panose="020F0502020204030204" pitchFamily="34" charset="0"/>
              <a:cs typeface="Times New Roman" panose="02020603050405020304" pitchFamily="18" charset="0"/>
            </a:endParaRPr>
          </a:p>
          <a:p>
            <a:pPr>
              <a:buClr>
                <a:schemeClr val="accent2"/>
              </a:buClr>
            </a:pPr>
            <a:r>
              <a:rPr lang="en-GB" sz="2400" b="1" kern="100" dirty="0">
                <a:solidFill>
                  <a:srgbClr val="0000CC"/>
                </a:solidFill>
                <a:latin typeface="Century Gothic" panose="020B0502020202020204" pitchFamily="34" charset="0"/>
                <a:ea typeface="Calibri" panose="020F0502020204030204" pitchFamily="34" charset="0"/>
                <a:cs typeface="Times New Roman" panose="02020603050405020304" pitchFamily="18" charset="0"/>
              </a:rPr>
              <a:t>  </a:t>
            </a:r>
          </a:p>
        </p:txBody>
      </p:sp>
      <p:sp>
        <p:nvSpPr>
          <p:cNvPr id="7" name="TextBox 6">
            <a:extLst>
              <a:ext uri="{FF2B5EF4-FFF2-40B4-BE49-F238E27FC236}">
                <a16:creationId xmlns:a16="http://schemas.microsoft.com/office/drawing/2014/main" id="{C36AA635-C21F-49F3-BF21-4CBE4C20709B}"/>
              </a:ext>
            </a:extLst>
          </p:cNvPr>
          <p:cNvSpPr txBox="1"/>
          <p:nvPr/>
        </p:nvSpPr>
        <p:spPr>
          <a:xfrm>
            <a:off x="5269122" y="6037275"/>
            <a:ext cx="823314" cy="373051"/>
          </a:xfrm>
          <a:prstGeom prst="rect">
            <a:avLst/>
          </a:prstGeom>
          <a:noFill/>
        </p:spPr>
        <p:txBody>
          <a:bodyPr wrap="square" rtlCol="0">
            <a:spAutoFit/>
          </a:bodyPr>
          <a:lstStyle/>
          <a:p>
            <a:pPr algn="ctr"/>
            <a:endParaRPr lang="en-GB" sz="1824" dirty="0">
              <a:latin typeface="Garamond" panose="02020404030301010803" pitchFamily="18" charset="0"/>
            </a:endParaRPr>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C3332C2A-CF4C-4CB0-A32F-AF867C40E707}"/>
                  </a:ext>
                </a:extLst>
              </p:cNvPr>
              <p:cNvSpPr txBox="1"/>
              <p:nvPr/>
            </p:nvSpPr>
            <p:spPr>
              <a:xfrm>
                <a:off x="1717040" y="1991360"/>
                <a:ext cx="1794646" cy="677686"/>
              </a:xfrm>
              <a:prstGeom prst="rect">
                <a:avLst/>
              </a:prstGeom>
              <a:solidFill>
                <a:srgbClr val="00FFFF"/>
              </a:solidFill>
            </p:spPr>
            <p:txBody>
              <a:bodyPr wrap="square" rtlCol="0">
                <a:spAutoFit/>
              </a:bodyPr>
              <a:lstStyle/>
              <a:p>
                <a:r>
                  <a:rPr lang="en-US" sz="2400" b="1" dirty="0">
                    <a:solidFill>
                      <a:srgbClr val="0000CC"/>
                    </a:solidFill>
                  </a:rPr>
                  <a:t>DF = </a:t>
                </a:r>
                <a14:m>
                  <m:oMath xmlns:m="http://schemas.openxmlformats.org/officeDocument/2006/math">
                    <m:f>
                      <m:fPr>
                        <m:ctrlPr>
                          <a:rPr lang="en-US" sz="2400" b="1" i="1" smtClean="0">
                            <a:solidFill>
                              <a:srgbClr val="0000CC"/>
                            </a:solidFill>
                            <a:latin typeface="Cambria Math" panose="02040503050406030204" pitchFamily="18" charset="0"/>
                          </a:rPr>
                        </m:ctrlPr>
                      </m:fPr>
                      <m:num>
                        <m:sSub>
                          <m:sSubPr>
                            <m:ctrlPr>
                              <a:rPr lang="en-US" sz="2400" b="1" i="1" smtClean="0">
                                <a:solidFill>
                                  <a:srgbClr val="0000CC"/>
                                </a:solidFill>
                                <a:latin typeface="Cambria Math" panose="02040503050406030204" pitchFamily="18" charset="0"/>
                              </a:rPr>
                            </m:ctrlPr>
                          </m:sSubPr>
                          <m:e>
                            <m:r>
                              <a:rPr lang="en-US" sz="2400" b="1" i="1" smtClean="0">
                                <a:solidFill>
                                  <a:srgbClr val="0000CC"/>
                                </a:solidFill>
                                <a:latin typeface="Cambria Math" panose="02040503050406030204" pitchFamily="18" charset="0"/>
                              </a:rPr>
                              <m:t>𝑰</m:t>
                            </m:r>
                          </m:e>
                          <m:sub>
                            <m:r>
                              <a:rPr lang="en-US" sz="2400" b="1" i="1" smtClean="0">
                                <a:solidFill>
                                  <a:srgbClr val="0000CC"/>
                                </a:solidFill>
                                <a:latin typeface="Cambria Math" panose="02040503050406030204" pitchFamily="18" charset="0"/>
                              </a:rPr>
                              <m:t>𝟏</m:t>
                            </m:r>
                            <m:r>
                              <a:rPr lang="en-US" sz="2400" b="1" i="1" smtClean="0">
                                <a:solidFill>
                                  <a:srgbClr val="0000CC"/>
                                </a:solidFill>
                                <a:latin typeface="Cambria Math" panose="02040503050406030204" pitchFamily="18" charset="0"/>
                              </a:rPr>
                              <m:t>,</m:t>
                            </m:r>
                            <m:r>
                              <a:rPr lang="en-US" sz="2400" b="1" i="1" smtClean="0">
                                <a:solidFill>
                                  <a:srgbClr val="0000CC"/>
                                </a:solidFill>
                                <a:latin typeface="Cambria Math" panose="02040503050406030204" pitchFamily="18" charset="0"/>
                              </a:rPr>
                              <m:t>𝒓𝒎𝒔</m:t>
                            </m:r>
                          </m:sub>
                        </m:sSub>
                      </m:num>
                      <m:den>
                        <m:sSub>
                          <m:sSubPr>
                            <m:ctrlPr>
                              <a:rPr lang="en-US" sz="2400" b="1" i="1" smtClean="0">
                                <a:solidFill>
                                  <a:srgbClr val="0000CC"/>
                                </a:solidFill>
                                <a:latin typeface="Cambria Math" panose="02040503050406030204" pitchFamily="18" charset="0"/>
                              </a:rPr>
                            </m:ctrlPr>
                          </m:sSubPr>
                          <m:e>
                            <m:r>
                              <a:rPr lang="en-US" sz="2400" b="1" i="1" smtClean="0">
                                <a:solidFill>
                                  <a:srgbClr val="0000CC"/>
                                </a:solidFill>
                                <a:latin typeface="Cambria Math" panose="02040503050406030204" pitchFamily="18" charset="0"/>
                              </a:rPr>
                              <m:t>𝑰</m:t>
                            </m:r>
                          </m:e>
                          <m:sub>
                            <m:r>
                              <a:rPr lang="en-US" sz="2400" b="1" i="1" smtClean="0">
                                <a:solidFill>
                                  <a:srgbClr val="0000CC"/>
                                </a:solidFill>
                                <a:latin typeface="Cambria Math" panose="02040503050406030204" pitchFamily="18" charset="0"/>
                              </a:rPr>
                              <m:t>𝒓𝒎𝒔</m:t>
                            </m:r>
                          </m:sub>
                        </m:sSub>
                      </m:den>
                    </m:f>
                  </m:oMath>
                </a14:m>
                <a:endParaRPr lang="en-US" sz="2400" b="1" dirty="0"/>
              </a:p>
            </p:txBody>
          </p:sp>
        </mc:Choice>
        <mc:Fallback xmlns="">
          <p:sp>
            <p:nvSpPr>
              <p:cNvPr id="2" name="TextBox 1">
                <a:extLst>
                  <a:ext uri="{FF2B5EF4-FFF2-40B4-BE49-F238E27FC236}">
                    <a16:creationId xmlns:a16="http://schemas.microsoft.com/office/drawing/2014/main" id="{C3332C2A-CF4C-4CB0-A32F-AF867C40E707}"/>
                  </a:ext>
                </a:extLst>
              </p:cNvPr>
              <p:cNvSpPr txBox="1">
                <a:spLocks noRot="1" noChangeAspect="1" noMove="1" noResize="1" noEditPoints="1" noAdjustHandles="1" noChangeArrowheads="1" noChangeShapeType="1" noTextEdit="1"/>
              </p:cNvSpPr>
              <p:nvPr/>
            </p:nvSpPr>
            <p:spPr>
              <a:xfrm>
                <a:off x="1717040" y="1991360"/>
                <a:ext cx="1794646" cy="677686"/>
              </a:xfrm>
              <a:prstGeom prst="rect">
                <a:avLst/>
              </a:prstGeom>
              <a:blipFill>
                <a:blip r:embed="rId3"/>
                <a:stretch>
                  <a:fillRect l="-5442" b="-180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5AD429DE-D679-48EF-8FEE-BE117AFAEAB2}"/>
                  </a:ext>
                </a:extLst>
              </p:cNvPr>
              <p:cNvSpPr txBox="1"/>
              <p:nvPr/>
            </p:nvSpPr>
            <p:spPr>
              <a:xfrm>
                <a:off x="948122" y="3666140"/>
                <a:ext cx="3633606" cy="461665"/>
              </a:xfrm>
              <a:prstGeom prst="rect">
                <a:avLst/>
              </a:prstGeom>
              <a:solidFill>
                <a:srgbClr val="00FFFF"/>
              </a:solidFill>
            </p:spPr>
            <p:txBody>
              <a:bodyPr wrap="square" rtlCol="0">
                <a:spAutoFit/>
              </a:bodyPr>
              <a:lstStyle/>
              <a:p>
                <a:r>
                  <a:rPr lang="en-US" sz="2400" b="1" dirty="0">
                    <a:solidFill>
                      <a:srgbClr val="0000CC"/>
                    </a:solidFill>
                  </a:rPr>
                  <a:t>Pf = </a:t>
                </a:r>
                <a14:m>
                  <m:oMath xmlns:m="http://schemas.openxmlformats.org/officeDocument/2006/math">
                    <m:d>
                      <m:dPr>
                        <m:begChr m:val="["/>
                        <m:endChr m:val="]"/>
                        <m:ctrlPr>
                          <a:rPr lang="en-US" sz="2400" b="1" i="1" smtClean="0">
                            <a:solidFill>
                              <a:srgbClr val="0000CC"/>
                            </a:solidFill>
                            <a:latin typeface="Cambria Math" panose="02040503050406030204" pitchFamily="18" charset="0"/>
                          </a:rPr>
                        </m:ctrlPr>
                      </m:dPr>
                      <m:e>
                        <m:func>
                          <m:funcPr>
                            <m:ctrlPr>
                              <a:rPr lang="en-US" sz="2400" b="1" i="1" smtClean="0">
                                <a:solidFill>
                                  <a:srgbClr val="0000CC"/>
                                </a:solidFill>
                                <a:latin typeface="Cambria Math" panose="02040503050406030204" pitchFamily="18" charset="0"/>
                              </a:rPr>
                            </m:ctrlPr>
                          </m:funcPr>
                          <m:fName>
                            <m:r>
                              <a:rPr lang="en-US" sz="2400" b="1" i="0" smtClean="0">
                                <a:solidFill>
                                  <a:srgbClr val="0000CC"/>
                                </a:solidFill>
                                <a:latin typeface="Cambria Math" panose="02040503050406030204" pitchFamily="18" charset="0"/>
                              </a:rPr>
                              <m:t>𝐜𝐨𝐬</m:t>
                            </m:r>
                          </m:fName>
                          <m:e>
                            <m:d>
                              <m:dPr>
                                <m:ctrlPr>
                                  <a:rPr lang="en-US" sz="2400" b="1" i="1" smtClean="0">
                                    <a:solidFill>
                                      <a:srgbClr val="0000CC"/>
                                    </a:solidFill>
                                    <a:latin typeface="Cambria Math" panose="02040503050406030204" pitchFamily="18" charset="0"/>
                                  </a:rPr>
                                </m:ctrlPr>
                              </m:dPr>
                              <m:e>
                                <m:sSub>
                                  <m:sSubPr>
                                    <m:ctrlPr>
                                      <a:rPr lang="en-US" sz="2400" b="1" i="1" smtClean="0">
                                        <a:solidFill>
                                          <a:srgbClr val="0000CC"/>
                                        </a:solidFill>
                                        <a:latin typeface="Cambria Math" panose="02040503050406030204" pitchFamily="18" charset="0"/>
                                      </a:rPr>
                                    </m:ctrlPr>
                                  </m:sSubPr>
                                  <m:e>
                                    <m:r>
                                      <a:rPr lang="en-US" sz="2400" b="1" i="1" smtClean="0">
                                        <a:solidFill>
                                          <a:srgbClr val="0000CC"/>
                                        </a:solidFill>
                                        <a:latin typeface="Cambria Math" panose="02040503050406030204" pitchFamily="18" charset="0"/>
                                        <a:ea typeface="Cambria Math" panose="02040503050406030204" pitchFamily="18" charset="0"/>
                                      </a:rPr>
                                      <m:t>𝜽</m:t>
                                    </m:r>
                                  </m:e>
                                  <m:sub>
                                    <m:r>
                                      <a:rPr lang="en-US" sz="2400" b="1" i="1" smtClean="0">
                                        <a:solidFill>
                                          <a:srgbClr val="0000CC"/>
                                        </a:solidFill>
                                        <a:latin typeface="Cambria Math" panose="02040503050406030204" pitchFamily="18" charset="0"/>
                                      </a:rPr>
                                      <m:t>𝟏</m:t>
                                    </m:r>
                                  </m:sub>
                                </m:sSub>
                                <m:r>
                                  <a:rPr lang="en-US" sz="2400" b="1" i="1" smtClean="0">
                                    <a:solidFill>
                                      <a:srgbClr val="0000CC"/>
                                    </a:solidFill>
                                    <a:latin typeface="Cambria Math" panose="02040503050406030204" pitchFamily="18" charset="0"/>
                                    <a:ea typeface="Cambria Math" panose="02040503050406030204" pitchFamily="18" charset="0"/>
                                  </a:rPr>
                                  <m:t>−</m:t>
                                </m:r>
                                <m:sSub>
                                  <m:sSubPr>
                                    <m:ctrlPr>
                                      <a:rPr lang="en-US" sz="2400" b="1" i="1" smtClean="0">
                                        <a:solidFill>
                                          <a:srgbClr val="0000CC"/>
                                        </a:solidFill>
                                        <a:latin typeface="Cambria Math" panose="02040503050406030204" pitchFamily="18" charset="0"/>
                                        <a:ea typeface="Cambria Math" panose="02040503050406030204" pitchFamily="18" charset="0"/>
                                      </a:rPr>
                                    </m:ctrlPr>
                                  </m:sSubPr>
                                  <m:e>
                                    <m:r>
                                      <a:rPr lang="en-US" sz="2400" b="1" i="1" dirty="0">
                                        <a:solidFill>
                                          <a:srgbClr val="0000CC"/>
                                        </a:solidFill>
                                        <a:latin typeface="Cambria Math" panose="02040503050406030204" pitchFamily="18" charset="0"/>
                                        <a:ea typeface="Cambria Math" panose="02040503050406030204" pitchFamily="18" charset="0"/>
                                      </a:rPr>
                                      <m:t>𝝓</m:t>
                                    </m:r>
                                  </m:e>
                                  <m:sub>
                                    <m:r>
                                      <a:rPr lang="en-US" sz="2400" b="1" i="1" dirty="0">
                                        <a:solidFill>
                                          <a:srgbClr val="0000CC"/>
                                        </a:solidFill>
                                        <a:latin typeface="Cambria Math" panose="02040503050406030204" pitchFamily="18" charset="0"/>
                                        <a:ea typeface="Cambria Math" panose="02040503050406030204" pitchFamily="18" charset="0"/>
                                      </a:rPr>
                                      <m:t>𝟏</m:t>
                                    </m:r>
                                  </m:sub>
                                </m:sSub>
                              </m:e>
                            </m:d>
                          </m:e>
                        </m:func>
                      </m:e>
                    </m:d>
                  </m:oMath>
                </a14:m>
                <a:r>
                  <a:rPr lang="en-US" sz="2400" b="1" dirty="0">
                    <a:solidFill>
                      <a:srgbClr val="0000CC"/>
                    </a:solidFill>
                  </a:rPr>
                  <a:t>DF</a:t>
                </a:r>
                <a:endParaRPr lang="en-US" sz="2400" b="1" dirty="0"/>
              </a:p>
            </p:txBody>
          </p:sp>
        </mc:Choice>
        <mc:Fallback xmlns="">
          <p:sp>
            <p:nvSpPr>
              <p:cNvPr id="8" name="TextBox 7">
                <a:extLst>
                  <a:ext uri="{FF2B5EF4-FFF2-40B4-BE49-F238E27FC236}">
                    <a16:creationId xmlns:a16="http://schemas.microsoft.com/office/drawing/2014/main" id="{5AD429DE-D679-48EF-8FEE-BE117AFAEAB2}"/>
                  </a:ext>
                </a:extLst>
              </p:cNvPr>
              <p:cNvSpPr txBox="1">
                <a:spLocks noRot="1" noChangeAspect="1" noMove="1" noResize="1" noEditPoints="1" noAdjustHandles="1" noChangeArrowheads="1" noChangeShapeType="1" noTextEdit="1"/>
              </p:cNvSpPr>
              <p:nvPr/>
            </p:nvSpPr>
            <p:spPr>
              <a:xfrm>
                <a:off x="948122" y="3666140"/>
                <a:ext cx="3633606" cy="461665"/>
              </a:xfrm>
              <a:prstGeom prst="rect">
                <a:avLst/>
              </a:prstGeom>
              <a:blipFill>
                <a:blip r:embed="rId4"/>
                <a:stretch>
                  <a:fillRect l="-2685" t="-10526" b="-2894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FEBE8310-E85F-49E2-93C8-56A0B8F7F110}"/>
                  </a:ext>
                </a:extLst>
              </p:cNvPr>
              <p:cNvSpPr txBox="1"/>
              <p:nvPr/>
            </p:nvSpPr>
            <p:spPr>
              <a:xfrm>
                <a:off x="3094570" y="5786161"/>
                <a:ext cx="5516030" cy="1001684"/>
              </a:xfrm>
              <a:prstGeom prst="rect">
                <a:avLst/>
              </a:prstGeom>
              <a:solidFill>
                <a:srgbClr val="00FFFF"/>
              </a:solidFill>
            </p:spPr>
            <p:txBody>
              <a:bodyPr wrap="square" rtlCol="0">
                <a:spAutoFit/>
              </a:bodyPr>
              <a:lstStyle/>
              <a:p>
                <a:r>
                  <a:rPr lang="en-US" sz="2000" b="1" dirty="0">
                    <a:solidFill>
                      <a:srgbClr val="0000CC"/>
                    </a:solidFill>
                  </a:rPr>
                  <a:t>THD = </a:t>
                </a:r>
                <a14:m>
                  <m:oMath xmlns:m="http://schemas.openxmlformats.org/officeDocument/2006/math">
                    <m:rad>
                      <m:radPr>
                        <m:degHide m:val="on"/>
                        <m:ctrlPr>
                          <a:rPr lang="en-US" sz="2000" b="1" i="1" smtClean="0">
                            <a:solidFill>
                              <a:srgbClr val="0000CC"/>
                            </a:solidFill>
                            <a:latin typeface="Cambria Math" panose="02040503050406030204" pitchFamily="18" charset="0"/>
                          </a:rPr>
                        </m:ctrlPr>
                      </m:radPr>
                      <m:deg/>
                      <m:e>
                        <m:f>
                          <m:fPr>
                            <m:ctrlPr>
                              <a:rPr lang="en-US" sz="2000" b="1" i="1" smtClean="0">
                                <a:solidFill>
                                  <a:srgbClr val="0000CC"/>
                                </a:solidFill>
                                <a:latin typeface="Cambria Math" panose="02040503050406030204" pitchFamily="18" charset="0"/>
                              </a:rPr>
                            </m:ctrlPr>
                          </m:fPr>
                          <m:num>
                            <m:nary>
                              <m:naryPr>
                                <m:chr m:val="∑"/>
                                <m:supHide m:val="on"/>
                                <m:ctrlPr>
                                  <a:rPr lang="en-US" sz="2000" b="1" i="1" smtClean="0">
                                    <a:solidFill>
                                      <a:srgbClr val="0000CC"/>
                                    </a:solidFill>
                                    <a:latin typeface="Cambria Math" panose="02040503050406030204" pitchFamily="18" charset="0"/>
                                  </a:rPr>
                                </m:ctrlPr>
                              </m:naryPr>
                              <m:sub>
                                <m:r>
                                  <m:rPr>
                                    <m:brk m:alnAt="7"/>
                                  </m:rPr>
                                  <a:rPr lang="en-US" sz="2000" b="1" i="1" smtClean="0">
                                    <a:solidFill>
                                      <a:srgbClr val="0000CC"/>
                                    </a:solidFill>
                                    <a:latin typeface="Cambria Math" panose="02040503050406030204" pitchFamily="18" charset="0"/>
                                  </a:rPr>
                                  <m:t>𝒏</m:t>
                                </m:r>
                                <m:r>
                                  <a:rPr lang="en-US" sz="2000" b="1" i="1" smtClean="0">
                                    <a:solidFill>
                                      <a:srgbClr val="0000CC"/>
                                    </a:solidFill>
                                    <a:latin typeface="Cambria Math" panose="02040503050406030204" pitchFamily="18" charset="0"/>
                                    <a:ea typeface="Cambria Math" panose="02040503050406030204" pitchFamily="18" charset="0"/>
                                  </a:rPr>
                                  <m:t>≠</m:t>
                                </m:r>
                                <m:r>
                                  <a:rPr lang="en-US" sz="2000" b="1" i="1" smtClean="0">
                                    <a:solidFill>
                                      <a:srgbClr val="0000CC"/>
                                    </a:solidFill>
                                    <a:latin typeface="Cambria Math" panose="02040503050406030204" pitchFamily="18" charset="0"/>
                                    <a:ea typeface="Cambria Math" panose="02040503050406030204" pitchFamily="18" charset="0"/>
                                  </a:rPr>
                                  <m:t>𝟏</m:t>
                                </m:r>
                              </m:sub>
                              <m:sup/>
                              <m:e>
                                <m:sSubSup>
                                  <m:sSubSupPr>
                                    <m:ctrlPr>
                                      <a:rPr lang="en-US" sz="2000" b="1" i="1" smtClean="0">
                                        <a:solidFill>
                                          <a:srgbClr val="0000CC"/>
                                        </a:solidFill>
                                        <a:latin typeface="Cambria Math" panose="02040503050406030204" pitchFamily="18" charset="0"/>
                                      </a:rPr>
                                    </m:ctrlPr>
                                  </m:sSubSupPr>
                                  <m:e>
                                    <m:r>
                                      <a:rPr lang="en-US" sz="2000" b="1" i="1" smtClean="0">
                                        <a:solidFill>
                                          <a:srgbClr val="0000CC"/>
                                        </a:solidFill>
                                        <a:latin typeface="Cambria Math" panose="02040503050406030204" pitchFamily="18" charset="0"/>
                                      </a:rPr>
                                      <m:t>𝑰</m:t>
                                    </m:r>
                                  </m:e>
                                  <m:sub>
                                    <m:r>
                                      <a:rPr lang="en-US" sz="2000" b="1" i="1" smtClean="0">
                                        <a:solidFill>
                                          <a:srgbClr val="0000CC"/>
                                        </a:solidFill>
                                        <a:latin typeface="Cambria Math" panose="02040503050406030204" pitchFamily="18" charset="0"/>
                                      </a:rPr>
                                      <m:t>𝒏</m:t>
                                    </m:r>
                                    <m:r>
                                      <a:rPr lang="en-US" sz="2000" b="1" i="1" smtClean="0">
                                        <a:solidFill>
                                          <a:srgbClr val="0000CC"/>
                                        </a:solidFill>
                                        <a:latin typeface="Cambria Math" panose="02040503050406030204" pitchFamily="18" charset="0"/>
                                      </a:rPr>
                                      <m:t>,</m:t>
                                    </m:r>
                                    <m:r>
                                      <a:rPr lang="en-US" sz="2000" b="1" i="1" smtClean="0">
                                        <a:solidFill>
                                          <a:srgbClr val="0000CC"/>
                                        </a:solidFill>
                                        <a:latin typeface="Cambria Math" panose="02040503050406030204" pitchFamily="18" charset="0"/>
                                      </a:rPr>
                                      <m:t>𝒓𝒎𝒔</m:t>
                                    </m:r>
                                  </m:sub>
                                  <m:sup>
                                    <m:r>
                                      <a:rPr lang="en-US" sz="2000" b="1" i="1" smtClean="0">
                                        <a:solidFill>
                                          <a:srgbClr val="0000CC"/>
                                        </a:solidFill>
                                        <a:latin typeface="Cambria Math" panose="02040503050406030204" pitchFamily="18" charset="0"/>
                                      </a:rPr>
                                      <m:t>𝟐</m:t>
                                    </m:r>
                                  </m:sup>
                                </m:sSubSup>
                              </m:e>
                            </m:nary>
                          </m:num>
                          <m:den>
                            <m:sSubSup>
                              <m:sSubSupPr>
                                <m:ctrlPr>
                                  <a:rPr lang="en-US" sz="2000" b="1" i="1" smtClean="0">
                                    <a:solidFill>
                                      <a:srgbClr val="0000CC"/>
                                    </a:solidFill>
                                    <a:latin typeface="Cambria Math" panose="02040503050406030204" pitchFamily="18" charset="0"/>
                                  </a:rPr>
                                </m:ctrlPr>
                              </m:sSubSupPr>
                              <m:e>
                                <m:r>
                                  <a:rPr lang="en-US" sz="2000" b="1" i="1" smtClean="0">
                                    <a:solidFill>
                                      <a:srgbClr val="0000CC"/>
                                    </a:solidFill>
                                    <a:latin typeface="Cambria Math" panose="02040503050406030204" pitchFamily="18" charset="0"/>
                                  </a:rPr>
                                  <m:t>𝑰</m:t>
                                </m:r>
                              </m:e>
                              <m:sub>
                                <m:r>
                                  <a:rPr lang="en-US" sz="2000" b="1" i="1" smtClean="0">
                                    <a:solidFill>
                                      <a:srgbClr val="0000CC"/>
                                    </a:solidFill>
                                    <a:latin typeface="Cambria Math" panose="02040503050406030204" pitchFamily="18" charset="0"/>
                                  </a:rPr>
                                  <m:t>𝟏</m:t>
                                </m:r>
                                <m:r>
                                  <a:rPr lang="en-US" sz="2000" b="1" i="1" smtClean="0">
                                    <a:solidFill>
                                      <a:srgbClr val="0000CC"/>
                                    </a:solidFill>
                                    <a:latin typeface="Cambria Math" panose="02040503050406030204" pitchFamily="18" charset="0"/>
                                  </a:rPr>
                                  <m:t>,</m:t>
                                </m:r>
                                <m:r>
                                  <a:rPr lang="en-US" sz="2000" b="1" i="1" smtClean="0">
                                    <a:solidFill>
                                      <a:srgbClr val="0000CC"/>
                                    </a:solidFill>
                                    <a:latin typeface="Cambria Math" panose="02040503050406030204" pitchFamily="18" charset="0"/>
                                  </a:rPr>
                                  <m:t>𝒓𝒎𝒔</m:t>
                                </m:r>
                              </m:sub>
                              <m:sup>
                                <m:r>
                                  <a:rPr lang="en-US" sz="2000" b="1" i="1" smtClean="0">
                                    <a:solidFill>
                                      <a:srgbClr val="0000CC"/>
                                    </a:solidFill>
                                    <a:latin typeface="Cambria Math" panose="02040503050406030204" pitchFamily="18" charset="0"/>
                                  </a:rPr>
                                  <m:t>𝟐</m:t>
                                </m:r>
                              </m:sup>
                            </m:sSubSup>
                          </m:den>
                        </m:f>
                      </m:e>
                    </m:rad>
                  </m:oMath>
                </a14:m>
                <a:r>
                  <a:rPr lang="en-US" sz="2000" b="1" dirty="0">
                    <a:solidFill>
                      <a:srgbClr val="0000CC"/>
                    </a:solidFill>
                  </a:rPr>
                  <a:t> = </a:t>
                </a:r>
                <a14:m>
                  <m:oMath xmlns:m="http://schemas.openxmlformats.org/officeDocument/2006/math">
                    <m:rad>
                      <m:radPr>
                        <m:degHide m:val="on"/>
                        <m:ctrlPr>
                          <a:rPr lang="en-US" sz="2000" b="1" i="1" smtClean="0">
                            <a:solidFill>
                              <a:srgbClr val="0000CC"/>
                            </a:solidFill>
                            <a:latin typeface="Cambria Math" panose="02040503050406030204" pitchFamily="18" charset="0"/>
                          </a:rPr>
                        </m:ctrlPr>
                      </m:radPr>
                      <m:deg/>
                      <m:e>
                        <m:f>
                          <m:fPr>
                            <m:ctrlPr>
                              <a:rPr lang="en-US" sz="2000" b="1" i="1" smtClean="0">
                                <a:solidFill>
                                  <a:srgbClr val="0000CC"/>
                                </a:solidFill>
                                <a:latin typeface="Cambria Math" panose="02040503050406030204" pitchFamily="18" charset="0"/>
                              </a:rPr>
                            </m:ctrlPr>
                          </m:fPr>
                          <m:num>
                            <m:sSubSup>
                              <m:sSubSupPr>
                                <m:ctrlPr>
                                  <a:rPr lang="en-US" sz="2000" b="1" i="1" smtClean="0">
                                    <a:solidFill>
                                      <a:srgbClr val="0000CC"/>
                                    </a:solidFill>
                                    <a:latin typeface="Cambria Math" panose="02040503050406030204" pitchFamily="18" charset="0"/>
                                  </a:rPr>
                                </m:ctrlPr>
                              </m:sSubSupPr>
                              <m:e>
                                <m:r>
                                  <a:rPr lang="en-US" sz="2000" b="1" i="1" smtClean="0">
                                    <a:solidFill>
                                      <a:srgbClr val="0000CC"/>
                                    </a:solidFill>
                                    <a:latin typeface="Cambria Math" panose="02040503050406030204" pitchFamily="18" charset="0"/>
                                  </a:rPr>
                                  <m:t>𝑰</m:t>
                                </m:r>
                              </m:e>
                              <m:sub>
                                <m:r>
                                  <a:rPr lang="en-US" sz="2000" b="1" i="1" smtClean="0">
                                    <a:solidFill>
                                      <a:srgbClr val="0000CC"/>
                                    </a:solidFill>
                                    <a:latin typeface="Cambria Math" panose="02040503050406030204" pitchFamily="18" charset="0"/>
                                  </a:rPr>
                                  <m:t>𝒓𝒎𝒔</m:t>
                                </m:r>
                              </m:sub>
                              <m:sup>
                                <m:r>
                                  <a:rPr lang="en-US" sz="2000" b="1" i="1" smtClean="0">
                                    <a:solidFill>
                                      <a:srgbClr val="0000CC"/>
                                    </a:solidFill>
                                    <a:latin typeface="Cambria Math" panose="02040503050406030204" pitchFamily="18" charset="0"/>
                                  </a:rPr>
                                  <m:t>𝟐</m:t>
                                </m:r>
                              </m:sup>
                            </m:sSubSup>
                            <m:r>
                              <a:rPr lang="en-US" sz="2000" b="1" i="1" smtClean="0">
                                <a:solidFill>
                                  <a:srgbClr val="0000CC"/>
                                </a:solidFill>
                                <a:latin typeface="Cambria Math" panose="02040503050406030204" pitchFamily="18" charset="0"/>
                                <a:ea typeface="Cambria Math" panose="02040503050406030204" pitchFamily="18" charset="0"/>
                              </a:rPr>
                              <m:t>−</m:t>
                            </m:r>
                            <m:sSubSup>
                              <m:sSubSupPr>
                                <m:ctrlPr>
                                  <a:rPr lang="en-US" sz="2000" b="1" i="1" smtClean="0">
                                    <a:solidFill>
                                      <a:srgbClr val="0000CC"/>
                                    </a:solidFill>
                                    <a:latin typeface="Cambria Math" panose="02040503050406030204" pitchFamily="18" charset="0"/>
                                    <a:ea typeface="Cambria Math" panose="02040503050406030204" pitchFamily="18" charset="0"/>
                                  </a:rPr>
                                </m:ctrlPr>
                              </m:sSubSupPr>
                              <m:e>
                                <m:r>
                                  <a:rPr lang="en-US" sz="2000" b="1" i="1" smtClean="0">
                                    <a:solidFill>
                                      <a:srgbClr val="0000CC"/>
                                    </a:solidFill>
                                    <a:latin typeface="Cambria Math" panose="02040503050406030204" pitchFamily="18" charset="0"/>
                                    <a:ea typeface="Cambria Math" panose="02040503050406030204" pitchFamily="18" charset="0"/>
                                  </a:rPr>
                                  <m:t>𝑰</m:t>
                                </m:r>
                              </m:e>
                              <m:sub>
                                <m:r>
                                  <a:rPr lang="en-US" sz="2000" b="1" i="1" smtClean="0">
                                    <a:solidFill>
                                      <a:srgbClr val="0000CC"/>
                                    </a:solidFill>
                                    <a:latin typeface="Cambria Math" panose="02040503050406030204" pitchFamily="18" charset="0"/>
                                    <a:ea typeface="Cambria Math" panose="02040503050406030204" pitchFamily="18" charset="0"/>
                                  </a:rPr>
                                  <m:t>𝟏</m:t>
                                </m:r>
                                <m:r>
                                  <a:rPr lang="en-US" sz="2000" b="1" i="1" smtClean="0">
                                    <a:solidFill>
                                      <a:srgbClr val="0000CC"/>
                                    </a:solidFill>
                                    <a:latin typeface="Cambria Math" panose="02040503050406030204" pitchFamily="18" charset="0"/>
                                    <a:ea typeface="Cambria Math" panose="02040503050406030204" pitchFamily="18" charset="0"/>
                                  </a:rPr>
                                  <m:t>,</m:t>
                                </m:r>
                                <m:r>
                                  <a:rPr lang="en-US" sz="2000" b="1" i="1" smtClean="0">
                                    <a:solidFill>
                                      <a:srgbClr val="0000CC"/>
                                    </a:solidFill>
                                    <a:latin typeface="Cambria Math" panose="02040503050406030204" pitchFamily="18" charset="0"/>
                                    <a:ea typeface="Cambria Math" panose="02040503050406030204" pitchFamily="18" charset="0"/>
                                  </a:rPr>
                                  <m:t>𝒓𝒎𝒔</m:t>
                                </m:r>
                              </m:sub>
                              <m:sup>
                                <m:r>
                                  <a:rPr lang="en-US" sz="2000" b="1" i="1" smtClean="0">
                                    <a:solidFill>
                                      <a:srgbClr val="0000CC"/>
                                    </a:solidFill>
                                    <a:latin typeface="Cambria Math" panose="02040503050406030204" pitchFamily="18" charset="0"/>
                                    <a:ea typeface="Cambria Math" panose="02040503050406030204" pitchFamily="18" charset="0"/>
                                  </a:rPr>
                                  <m:t>𝟐</m:t>
                                </m:r>
                              </m:sup>
                            </m:sSubSup>
                          </m:num>
                          <m:den>
                            <m:sSubSup>
                              <m:sSubSupPr>
                                <m:ctrlPr>
                                  <a:rPr lang="en-US" sz="2000" b="1" i="1" smtClean="0">
                                    <a:solidFill>
                                      <a:srgbClr val="0000CC"/>
                                    </a:solidFill>
                                    <a:latin typeface="Cambria Math" panose="02040503050406030204" pitchFamily="18" charset="0"/>
                                  </a:rPr>
                                </m:ctrlPr>
                              </m:sSubSupPr>
                              <m:e>
                                <m:r>
                                  <a:rPr lang="en-US" sz="2000" b="1" i="1" smtClean="0">
                                    <a:solidFill>
                                      <a:srgbClr val="0000CC"/>
                                    </a:solidFill>
                                    <a:latin typeface="Cambria Math" panose="02040503050406030204" pitchFamily="18" charset="0"/>
                                  </a:rPr>
                                  <m:t>𝑰</m:t>
                                </m:r>
                              </m:e>
                              <m:sub>
                                <m:r>
                                  <a:rPr lang="en-US" sz="2000" b="1" i="1" smtClean="0">
                                    <a:solidFill>
                                      <a:srgbClr val="0000CC"/>
                                    </a:solidFill>
                                    <a:latin typeface="Cambria Math" panose="02040503050406030204" pitchFamily="18" charset="0"/>
                                  </a:rPr>
                                  <m:t>𝟏</m:t>
                                </m:r>
                                <m:r>
                                  <a:rPr lang="en-US" sz="2000" b="1" i="1" smtClean="0">
                                    <a:solidFill>
                                      <a:srgbClr val="0000CC"/>
                                    </a:solidFill>
                                    <a:latin typeface="Cambria Math" panose="02040503050406030204" pitchFamily="18" charset="0"/>
                                  </a:rPr>
                                  <m:t>,</m:t>
                                </m:r>
                                <m:r>
                                  <a:rPr lang="en-US" sz="2000" b="1" i="1" smtClean="0">
                                    <a:solidFill>
                                      <a:srgbClr val="0000CC"/>
                                    </a:solidFill>
                                    <a:latin typeface="Cambria Math" panose="02040503050406030204" pitchFamily="18" charset="0"/>
                                  </a:rPr>
                                  <m:t>𝒓𝒎𝒔</m:t>
                                </m:r>
                              </m:sub>
                              <m:sup>
                                <m:r>
                                  <a:rPr lang="en-US" sz="2000" b="1" i="1" smtClean="0">
                                    <a:solidFill>
                                      <a:srgbClr val="0000CC"/>
                                    </a:solidFill>
                                    <a:latin typeface="Cambria Math" panose="02040503050406030204" pitchFamily="18" charset="0"/>
                                  </a:rPr>
                                  <m:t>𝟐</m:t>
                                </m:r>
                              </m:sup>
                            </m:sSubSup>
                          </m:den>
                        </m:f>
                      </m:e>
                    </m:rad>
                  </m:oMath>
                </a14:m>
                <a:r>
                  <a:rPr lang="en-US" b="1" dirty="0">
                    <a:solidFill>
                      <a:srgbClr val="0000CC"/>
                    </a:solidFill>
                  </a:rPr>
                  <a:t> </a:t>
                </a:r>
                <a:endParaRPr lang="en-US" b="1" dirty="0"/>
              </a:p>
            </p:txBody>
          </p:sp>
        </mc:Choice>
        <mc:Fallback xmlns="">
          <p:sp>
            <p:nvSpPr>
              <p:cNvPr id="9" name="TextBox 8">
                <a:extLst>
                  <a:ext uri="{FF2B5EF4-FFF2-40B4-BE49-F238E27FC236}">
                    <a16:creationId xmlns:a16="http://schemas.microsoft.com/office/drawing/2014/main" id="{FEBE8310-E85F-49E2-93C8-56A0B8F7F110}"/>
                  </a:ext>
                </a:extLst>
              </p:cNvPr>
              <p:cNvSpPr txBox="1">
                <a:spLocks noRot="1" noChangeAspect="1" noMove="1" noResize="1" noEditPoints="1" noAdjustHandles="1" noChangeArrowheads="1" noChangeShapeType="1" noTextEdit="1"/>
              </p:cNvSpPr>
              <p:nvPr/>
            </p:nvSpPr>
            <p:spPr>
              <a:xfrm>
                <a:off x="3094570" y="5786161"/>
                <a:ext cx="5516030" cy="1001684"/>
              </a:xfrm>
              <a:prstGeom prst="rect">
                <a:avLst/>
              </a:prstGeom>
              <a:blipFill>
                <a:blip r:embed="rId5"/>
                <a:stretch>
                  <a:fillRect l="-1215"/>
                </a:stretch>
              </a:blipFill>
            </p:spPr>
            <p:txBody>
              <a:bodyPr/>
              <a:lstStyle/>
              <a:p>
                <a:r>
                  <a:rPr lang="en-US">
                    <a:noFill/>
                  </a:rPr>
                  <a:t> </a:t>
                </a:r>
              </a:p>
            </p:txBody>
          </p:sp>
        </mc:Fallback>
      </mc:AlternateContent>
    </p:spTree>
    <p:extLst>
      <p:ext uri="{BB962C8B-B14F-4D97-AF65-F5344CB8AC3E}">
        <p14:creationId xmlns:p14="http://schemas.microsoft.com/office/powerpoint/2010/main" val="294674587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6">
            <a:extLst>
              <a:ext uri="{FF2B5EF4-FFF2-40B4-BE49-F238E27FC236}">
                <a16:creationId xmlns:a16="http://schemas.microsoft.com/office/drawing/2014/main" id="{56080804-F19F-41A7-8595-943961648C5E}"/>
              </a:ext>
            </a:extLst>
          </p:cNvPr>
          <p:cNvSpPr>
            <a:spLocks noGrp="1"/>
          </p:cNvSpPr>
          <p:nvPr>
            <p:ph type="sldNum" sz="quarter" idx="12"/>
          </p:nvPr>
        </p:nvSpPr>
        <p:spPr>
          <a:xfrm>
            <a:off x="8610600" y="6441692"/>
            <a:ext cx="2743200" cy="370027"/>
          </a:xfrm>
        </p:spPr>
        <p:txBody>
          <a:bodyPr/>
          <a:lstStyle/>
          <a:p>
            <a:fld id="{F4801FD5-11B4-DE43-ACA2-E85EEB9A6F9C}" type="slidenum">
              <a:rPr lang="en-US" smtClean="0">
                <a:latin typeface="Garamond" panose="02020404030301010803" pitchFamily="18" charset="0"/>
              </a:rPr>
              <a:t>38</a:t>
            </a:fld>
            <a:endParaRPr lang="en-US">
              <a:latin typeface="Garamond" panose="02020404030301010803" pitchFamily="18" charset="0"/>
            </a:endParaRPr>
          </a:p>
        </p:txBody>
      </p:sp>
      <p:sp>
        <p:nvSpPr>
          <p:cNvPr id="5" name="Title 1">
            <a:extLst>
              <a:ext uri="{FF2B5EF4-FFF2-40B4-BE49-F238E27FC236}">
                <a16:creationId xmlns:a16="http://schemas.microsoft.com/office/drawing/2014/main" id="{4710AE4B-0DB8-4451-B9E4-10BAE11B4D3A}"/>
              </a:ext>
            </a:extLst>
          </p:cNvPr>
          <p:cNvSpPr>
            <a:spLocks noGrp="1"/>
          </p:cNvSpPr>
          <p:nvPr>
            <p:ph type="title"/>
          </p:nvPr>
        </p:nvSpPr>
        <p:spPr>
          <a:xfrm>
            <a:off x="475035" y="138356"/>
            <a:ext cx="10972800" cy="1115558"/>
          </a:xfrm>
        </p:spPr>
        <p:txBody>
          <a:bodyPr>
            <a:noAutofit/>
          </a:bodyPr>
          <a:lstStyle/>
          <a:p>
            <a:pPr algn="ctr"/>
            <a:r>
              <a:rPr lang="en-US" sz="3200" b="1" u="sng" dirty="0">
                <a:solidFill>
                  <a:srgbClr val="FF3386"/>
                </a:solidFill>
                <a:latin typeface="Century Gothic" panose="020B0502020202020204" pitchFamily="34" charset="0"/>
                <a:cs typeface="Helvetica"/>
              </a:rPr>
              <a:t>POWER COMPUTATION FOR SINUSOIDAL SOURCE AND LINEAR LOAD</a:t>
            </a:r>
          </a:p>
        </p:txBody>
      </p:sp>
      <p:sp>
        <p:nvSpPr>
          <p:cNvPr id="6" name="TextBox 5">
            <a:extLst>
              <a:ext uri="{FF2B5EF4-FFF2-40B4-BE49-F238E27FC236}">
                <a16:creationId xmlns:a16="http://schemas.microsoft.com/office/drawing/2014/main" id="{6BAA1F11-5BEF-4D80-964F-A7332E36BFA0}"/>
              </a:ext>
            </a:extLst>
          </p:cNvPr>
          <p:cNvSpPr txBox="1"/>
          <p:nvPr/>
        </p:nvSpPr>
        <p:spPr>
          <a:xfrm>
            <a:off x="207523" y="1383437"/>
            <a:ext cx="11507823" cy="5262979"/>
          </a:xfrm>
          <a:prstGeom prst="rect">
            <a:avLst/>
          </a:prstGeom>
          <a:noFill/>
          <a:ln>
            <a:solidFill>
              <a:srgbClr val="FF0066"/>
            </a:solidFill>
          </a:ln>
        </p:spPr>
        <p:txBody>
          <a:bodyPr wrap="square" rtlCol="0">
            <a:spAutoFit/>
          </a:bodyPr>
          <a:lstStyle/>
          <a:p>
            <a:pPr marL="342900" indent="-342900">
              <a:buClr>
                <a:schemeClr val="accent2"/>
              </a:buClr>
              <a:buFont typeface="Arial" panose="020B0604020202020204" pitchFamily="34" charset="0"/>
              <a:buChar char="•"/>
            </a:pPr>
            <a:r>
              <a:rPr lang="en-GB" sz="2400" b="1" kern="100" dirty="0">
                <a:solidFill>
                  <a:srgbClr val="0000CC"/>
                </a:solidFill>
                <a:latin typeface="Century Gothic" panose="020B0502020202020204" pitchFamily="34" charset="0"/>
                <a:ea typeface="Calibri" panose="020F0502020204030204" pitchFamily="34" charset="0"/>
                <a:cs typeface="Times New Roman" panose="02020603050405020304" pitchFamily="18" charset="0"/>
              </a:rPr>
              <a:t>THD is often applied in situations where dc term is zero in which case,</a:t>
            </a:r>
            <a:br>
              <a:rPr lang="en-GB" sz="2400" b="1" kern="100" dirty="0">
                <a:solidFill>
                  <a:srgbClr val="0000CC"/>
                </a:solidFill>
                <a:latin typeface="Century Gothic" panose="020B0502020202020204" pitchFamily="34" charset="0"/>
                <a:ea typeface="Calibri" panose="020F0502020204030204" pitchFamily="34" charset="0"/>
                <a:cs typeface="Times New Roman" panose="02020603050405020304" pitchFamily="18" charset="0"/>
              </a:rPr>
            </a:br>
            <a:br>
              <a:rPr lang="en-GB" sz="2400" b="1" kern="100" dirty="0">
                <a:solidFill>
                  <a:srgbClr val="0000CC"/>
                </a:solidFill>
                <a:latin typeface="Century Gothic" panose="020B0502020202020204" pitchFamily="34" charset="0"/>
                <a:ea typeface="Calibri" panose="020F0502020204030204" pitchFamily="34" charset="0"/>
                <a:cs typeface="Times New Roman" panose="02020603050405020304" pitchFamily="18" charset="0"/>
              </a:rPr>
            </a:br>
            <a:r>
              <a:rPr lang="en-GB" sz="2400" b="1" kern="100" dirty="0">
                <a:solidFill>
                  <a:srgbClr val="0000CC"/>
                </a:solidFill>
                <a:latin typeface="Century Gothic" panose="020B0502020202020204" pitchFamily="34" charset="0"/>
                <a:ea typeface="Calibri" panose="020F0502020204030204" pitchFamily="34" charset="0"/>
                <a:cs typeface="Times New Roman" panose="02020603050405020304" pitchFamily="18" charset="0"/>
              </a:rPr>
              <a:t>Total Harmonic Distortion (THD) can be expressed as</a:t>
            </a:r>
          </a:p>
          <a:p>
            <a:pPr marL="342900" indent="-342900">
              <a:buClr>
                <a:schemeClr val="accent2"/>
              </a:buClr>
              <a:buFont typeface="Arial" panose="020B0604020202020204" pitchFamily="34" charset="0"/>
              <a:buChar char="•"/>
            </a:pPr>
            <a:endParaRPr lang="en-GB" sz="2400" b="1" kern="100" dirty="0">
              <a:solidFill>
                <a:srgbClr val="0000CC"/>
              </a:solidFill>
              <a:latin typeface="Century Gothic" panose="020B0502020202020204" pitchFamily="34" charset="0"/>
              <a:ea typeface="Calibri" panose="020F0502020204030204" pitchFamily="34" charset="0"/>
              <a:cs typeface="Times New Roman" panose="02020603050405020304" pitchFamily="18" charset="0"/>
            </a:endParaRPr>
          </a:p>
          <a:p>
            <a:pPr marL="342900" indent="-342900">
              <a:buClr>
                <a:schemeClr val="accent2"/>
              </a:buClr>
              <a:buFont typeface="Arial" panose="020B0604020202020204" pitchFamily="34" charset="0"/>
              <a:buChar char="•"/>
            </a:pPr>
            <a:endParaRPr lang="en-GB" sz="2400" b="1" kern="100" dirty="0">
              <a:solidFill>
                <a:srgbClr val="0000CC"/>
              </a:solidFill>
              <a:latin typeface="Century Gothic" panose="020B0502020202020204" pitchFamily="34" charset="0"/>
              <a:ea typeface="Calibri" panose="020F0502020204030204" pitchFamily="34" charset="0"/>
              <a:cs typeface="Times New Roman" panose="02020603050405020304" pitchFamily="18" charset="0"/>
            </a:endParaRPr>
          </a:p>
          <a:p>
            <a:pPr marL="342900" indent="-342900">
              <a:buClr>
                <a:schemeClr val="accent2"/>
              </a:buClr>
              <a:buFont typeface="Arial" panose="020B0604020202020204" pitchFamily="34" charset="0"/>
              <a:buChar char="•"/>
            </a:pPr>
            <a:endParaRPr lang="en-GB" sz="2400" b="1" kern="100" dirty="0">
              <a:solidFill>
                <a:srgbClr val="0000CC"/>
              </a:solidFill>
              <a:latin typeface="Century Gothic" panose="020B0502020202020204" pitchFamily="34" charset="0"/>
              <a:ea typeface="Calibri" panose="020F0502020204030204" pitchFamily="34" charset="0"/>
              <a:cs typeface="Times New Roman" panose="02020603050405020304" pitchFamily="18" charset="0"/>
            </a:endParaRPr>
          </a:p>
          <a:p>
            <a:pPr>
              <a:buClr>
                <a:schemeClr val="accent2"/>
              </a:buClr>
            </a:pPr>
            <a:endParaRPr lang="en-GB" sz="2400" b="1" kern="100" dirty="0">
              <a:solidFill>
                <a:srgbClr val="0000CC"/>
              </a:solidFill>
              <a:latin typeface="Century Gothic" panose="020B0502020202020204" pitchFamily="34" charset="0"/>
              <a:ea typeface="Calibri" panose="020F0502020204030204" pitchFamily="34" charset="0"/>
              <a:cs typeface="Times New Roman" panose="02020603050405020304" pitchFamily="18" charset="0"/>
            </a:endParaRPr>
          </a:p>
          <a:p>
            <a:pPr>
              <a:buClr>
                <a:schemeClr val="accent2"/>
              </a:buClr>
            </a:pPr>
            <a:r>
              <a:rPr lang="en-GB" sz="2400" b="1" kern="100" dirty="0">
                <a:solidFill>
                  <a:srgbClr val="0000CC"/>
                </a:solidFill>
                <a:latin typeface="Century Gothic" panose="020B0502020202020204" pitchFamily="34" charset="0"/>
                <a:ea typeface="Calibri" panose="020F0502020204030204" pitchFamily="34" charset="0"/>
                <a:cs typeface="Times New Roman" panose="02020603050405020304" pitchFamily="18" charset="0"/>
              </a:rPr>
              <a:t>		</a:t>
            </a:r>
          </a:p>
          <a:p>
            <a:pPr marL="342900" indent="-342900">
              <a:buClr>
                <a:schemeClr val="accent2"/>
              </a:buClr>
              <a:buFont typeface="Arial" panose="020B0604020202020204" pitchFamily="34" charset="0"/>
              <a:buChar char="•"/>
            </a:pPr>
            <a:r>
              <a:rPr lang="en-GB" sz="2400" b="1" kern="100" dirty="0">
                <a:solidFill>
                  <a:srgbClr val="0000CC"/>
                </a:solidFill>
                <a:latin typeface="Century Gothic" panose="020B0502020202020204" pitchFamily="34" charset="0"/>
                <a:ea typeface="Calibri" panose="020F0502020204030204" pitchFamily="34" charset="0"/>
                <a:cs typeface="Times New Roman" panose="02020603050405020304" pitchFamily="18" charset="0"/>
              </a:rPr>
              <a:t> 	Distortion Factor is expressed as</a:t>
            </a:r>
            <a:br>
              <a:rPr lang="en-GB" sz="2400" b="1" kern="100" dirty="0">
                <a:solidFill>
                  <a:srgbClr val="0000CC"/>
                </a:solidFill>
                <a:latin typeface="Century Gothic" panose="020B0502020202020204" pitchFamily="34" charset="0"/>
                <a:ea typeface="Calibri" panose="020F0502020204030204" pitchFamily="34" charset="0"/>
                <a:cs typeface="Times New Roman" panose="02020603050405020304" pitchFamily="18" charset="0"/>
              </a:rPr>
            </a:br>
            <a:br>
              <a:rPr lang="en-GB" sz="2400" b="1" kern="100" dirty="0">
                <a:solidFill>
                  <a:srgbClr val="0000CC"/>
                </a:solidFill>
                <a:latin typeface="Century Gothic" panose="020B0502020202020204" pitchFamily="34" charset="0"/>
                <a:ea typeface="Calibri" panose="020F0502020204030204" pitchFamily="34" charset="0"/>
                <a:cs typeface="Times New Roman" panose="02020603050405020304" pitchFamily="18" charset="0"/>
              </a:rPr>
            </a:br>
            <a:r>
              <a:rPr lang="en-GB" sz="2400" b="1" kern="100" dirty="0">
                <a:solidFill>
                  <a:srgbClr val="0000CC"/>
                </a:solidFill>
                <a:latin typeface="Century Gothic" panose="020B0502020202020204" pitchFamily="34" charset="0"/>
                <a:ea typeface="Calibri" panose="020F0502020204030204" pitchFamily="34" charset="0"/>
                <a:cs typeface="Times New Roman" panose="02020603050405020304" pitchFamily="18" charset="0"/>
              </a:rPr>
              <a:t>				 </a:t>
            </a:r>
            <a:br>
              <a:rPr lang="en-GB" sz="2400" b="1" kern="100" dirty="0">
                <a:solidFill>
                  <a:srgbClr val="0000CC"/>
                </a:solidFill>
                <a:latin typeface="Century Gothic" panose="020B0502020202020204" pitchFamily="34" charset="0"/>
                <a:ea typeface="Calibri" panose="020F0502020204030204" pitchFamily="34" charset="0"/>
                <a:cs typeface="Times New Roman" panose="02020603050405020304" pitchFamily="18" charset="0"/>
              </a:rPr>
            </a:br>
            <a:endParaRPr lang="en-GB" sz="2400" b="1" kern="100" dirty="0">
              <a:solidFill>
                <a:srgbClr val="0000CC"/>
              </a:solidFill>
              <a:latin typeface="Century Gothic" panose="020B0502020202020204" pitchFamily="34" charset="0"/>
              <a:ea typeface="Calibri" panose="020F0502020204030204" pitchFamily="34" charset="0"/>
              <a:cs typeface="Times New Roman" panose="02020603050405020304" pitchFamily="18" charset="0"/>
            </a:endParaRPr>
          </a:p>
          <a:p>
            <a:pPr>
              <a:buClr>
                <a:schemeClr val="accent2"/>
              </a:buClr>
            </a:pPr>
            <a:endParaRPr lang="en-GB" sz="2400" b="1" kern="100" dirty="0">
              <a:solidFill>
                <a:srgbClr val="0000CC"/>
              </a:solidFill>
              <a:latin typeface="Century Gothic" panose="020B0502020202020204" pitchFamily="34" charset="0"/>
              <a:ea typeface="Calibri" panose="020F0502020204030204" pitchFamily="34" charset="0"/>
              <a:cs typeface="Times New Roman" panose="02020603050405020304" pitchFamily="18" charset="0"/>
            </a:endParaRPr>
          </a:p>
          <a:p>
            <a:pPr>
              <a:buClr>
                <a:schemeClr val="accent2"/>
              </a:buClr>
            </a:pPr>
            <a:r>
              <a:rPr lang="en-GB" sz="2400" b="1" kern="100" dirty="0">
                <a:solidFill>
                  <a:srgbClr val="0000CC"/>
                </a:solidFill>
                <a:latin typeface="Century Gothic" panose="020B0502020202020204" pitchFamily="34" charset="0"/>
                <a:ea typeface="Calibri" panose="020F0502020204030204" pitchFamily="34" charset="0"/>
                <a:cs typeface="Times New Roman" panose="02020603050405020304" pitchFamily="18" charset="0"/>
              </a:rPr>
              <a:t>  </a:t>
            </a:r>
          </a:p>
        </p:txBody>
      </p:sp>
      <mc:AlternateContent xmlns:mc="http://schemas.openxmlformats.org/markup-compatibility/2006">
        <mc:Choice xmlns:a14="http://schemas.microsoft.com/office/drawing/2010/main" Requires="a14">
          <p:sp>
            <p:nvSpPr>
              <p:cNvPr id="3" name="TextBox 2">
                <a:extLst>
                  <a:ext uri="{FF2B5EF4-FFF2-40B4-BE49-F238E27FC236}">
                    <a16:creationId xmlns:a16="http://schemas.microsoft.com/office/drawing/2014/main" id="{840D5332-3478-4892-AF7B-58969DB84A03}"/>
                  </a:ext>
                </a:extLst>
              </p:cNvPr>
              <p:cNvSpPr txBox="1"/>
              <p:nvPr/>
            </p:nvSpPr>
            <p:spPr>
              <a:xfrm>
                <a:off x="873760" y="2731194"/>
                <a:ext cx="1706880" cy="762838"/>
              </a:xfrm>
              <a:prstGeom prst="rect">
                <a:avLst/>
              </a:prstGeom>
              <a:solidFill>
                <a:srgbClr val="00FFFF"/>
              </a:solidFill>
            </p:spPr>
            <p:txBody>
              <a:bodyPr wrap="square" rtlCol="0">
                <a:spAutoFit/>
              </a:bodyPr>
              <a:lstStyle/>
              <a:p>
                <a:r>
                  <a:rPr lang="en-US" b="1" dirty="0">
                    <a:solidFill>
                      <a:srgbClr val="0000CC"/>
                    </a:solidFill>
                  </a:rPr>
                  <a:t>THD = </a:t>
                </a:r>
                <a14:m>
                  <m:oMath xmlns:m="http://schemas.openxmlformats.org/officeDocument/2006/math">
                    <m:f>
                      <m:fPr>
                        <m:ctrlPr>
                          <a:rPr lang="en-US" b="1" i="1" smtClean="0">
                            <a:solidFill>
                              <a:srgbClr val="0000CC"/>
                            </a:solidFill>
                            <a:latin typeface="Cambria Math" panose="02040503050406030204" pitchFamily="18" charset="0"/>
                          </a:rPr>
                        </m:ctrlPr>
                      </m:fPr>
                      <m:num>
                        <m:rad>
                          <m:radPr>
                            <m:degHide m:val="on"/>
                            <m:ctrlPr>
                              <a:rPr lang="en-US" b="1" i="1" smtClean="0">
                                <a:solidFill>
                                  <a:srgbClr val="0000CC"/>
                                </a:solidFill>
                                <a:latin typeface="Cambria Math" panose="02040503050406030204" pitchFamily="18" charset="0"/>
                              </a:rPr>
                            </m:ctrlPr>
                          </m:radPr>
                          <m:deg/>
                          <m:e>
                            <m:nary>
                              <m:naryPr>
                                <m:chr m:val="∑"/>
                                <m:ctrlPr>
                                  <a:rPr lang="en-US" b="1" i="1" smtClean="0">
                                    <a:solidFill>
                                      <a:srgbClr val="0000CC"/>
                                    </a:solidFill>
                                    <a:latin typeface="Cambria Math" panose="02040503050406030204" pitchFamily="18" charset="0"/>
                                  </a:rPr>
                                </m:ctrlPr>
                              </m:naryPr>
                              <m:sub>
                                <m:r>
                                  <m:rPr>
                                    <m:brk m:alnAt="23"/>
                                  </m:rPr>
                                  <a:rPr lang="en-US" b="1" i="1" smtClean="0">
                                    <a:solidFill>
                                      <a:srgbClr val="0000CC"/>
                                    </a:solidFill>
                                    <a:latin typeface="Cambria Math" panose="02040503050406030204" pitchFamily="18" charset="0"/>
                                  </a:rPr>
                                  <m:t>𝒏</m:t>
                                </m:r>
                                <m:r>
                                  <a:rPr lang="en-US" b="1" i="1" smtClean="0">
                                    <a:solidFill>
                                      <a:srgbClr val="0000CC"/>
                                    </a:solidFill>
                                    <a:latin typeface="Cambria Math" panose="02040503050406030204" pitchFamily="18" charset="0"/>
                                  </a:rPr>
                                  <m:t>=</m:t>
                                </m:r>
                                <m:r>
                                  <a:rPr lang="en-US" b="1" i="1" smtClean="0">
                                    <a:solidFill>
                                      <a:srgbClr val="0000CC"/>
                                    </a:solidFill>
                                    <a:latin typeface="Cambria Math" panose="02040503050406030204" pitchFamily="18" charset="0"/>
                                  </a:rPr>
                                  <m:t>𝟐</m:t>
                                </m:r>
                              </m:sub>
                              <m:sup>
                                <m:r>
                                  <a:rPr lang="en-US" b="1" i="1" smtClean="0">
                                    <a:solidFill>
                                      <a:srgbClr val="0000CC"/>
                                    </a:solidFill>
                                    <a:latin typeface="Cambria Math" panose="02040503050406030204" pitchFamily="18" charset="0"/>
                                    <a:ea typeface="Cambria Math" panose="02040503050406030204" pitchFamily="18" charset="0"/>
                                  </a:rPr>
                                  <m:t>∞</m:t>
                                </m:r>
                              </m:sup>
                              <m:e>
                                <m:sSubSup>
                                  <m:sSubSupPr>
                                    <m:ctrlPr>
                                      <a:rPr lang="en-US" b="1" i="1" smtClean="0">
                                        <a:solidFill>
                                          <a:srgbClr val="0000CC"/>
                                        </a:solidFill>
                                        <a:latin typeface="Cambria Math" panose="02040503050406030204" pitchFamily="18" charset="0"/>
                                      </a:rPr>
                                    </m:ctrlPr>
                                  </m:sSubSupPr>
                                  <m:e>
                                    <m:r>
                                      <a:rPr lang="en-US" b="1" i="1" smtClean="0">
                                        <a:solidFill>
                                          <a:srgbClr val="0000CC"/>
                                        </a:solidFill>
                                        <a:latin typeface="Cambria Math" panose="02040503050406030204" pitchFamily="18" charset="0"/>
                                      </a:rPr>
                                      <m:t>𝑰</m:t>
                                    </m:r>
                                  </m:e>
                                  <m:sub>
                                    <m:r>
                                      <a:rPr lang="en-US" b="1" i="1" smtClean="0">
                                        <a:solidFill>
                                          <a:srgbClr val="0000CC"/>
                                        </a:solidFill>
                                        <a:latin typeface="Cambria Math" panose="02040503050406030204" pitchFamily="18" charset="0"/>
                                      </a:rPr>
                                      <m:t>𝒏</m:t>
                                    </m:r>
                                  </m:sub>
                                  <m:sup>
                                    <m:r>
                                      <a:rPr lang="en-US" b="1" i="1" smtClean="0">
                                        <a:solidFill>
                                          <a:srgbClr val="0000CC"/>
                                        </a:solidFill>
                                        <a:latin typeface="Cambria Math" panose="02040503050406030204" pitchFamily="18" charset="0"/>
                                      </a:rPr>
                                      <m:t>𝟐</m:t>
                                    </m:r>
                                  </m:sup>
                                </m:sSubSup>
                              </m:e>
                            </m:nary>
                          </m:e>
                        </m:rad>
                      </m:num>
                      <m:den>
                        <m:sSub>
                          <m:sSubPr>
                            <m:ctrlPr>
                              <a:rPr lang="en-US" b="1" i="1" smtClean="0">
                                <a:solidFill>
                                  <a:srgbClr val="0000CC"/>
                                </a:solidFill>
                                <a:latin typeface="Cambria Math" panose="02040503050406030204" pitchFamily="18" charset="0"/>
                              </a:rPr>
                            </m:ctrlPr>
                          </m:sSubPr>
                          <m:e>
                            <m:r>
                              <a:rPr lang="en-US" b="1" i="1" smtClean="0">
                                <a:solidFill>
                                  <a:srgbClr val="0000CC"/>
                                </a:solidFill>
                                <a:latin typeface="Cambria Math" panose="02040503050406030204" pitchFamily="18" charset="0"/>
                              </a:rPr>
                              <m:t>𝑰</m:t>
                            </m:r>
                          </m:e>
                          <m:sub>
                            <m:r>
                              <a:rPr lang="en-US" b="1" i="1" smtClean="0">
                                <a:solidFill>
                                  <a:srgbClr val="0000CC"/>
                                </a:solidFill>
                                <a:latin typeface="Cambria Math" panose="02040503050406030204" pitchFamily="18" charset="0"/>
                              </a:rPr>
                              <m:t>𝟏</m:t>
                            </m:r>
                          </m:sub>
                        </m:sSub>
                      </m:den>
                    </m:f>
                  </m:oMath>
                </a14:m>
                <a:r>
                  <a:rPr lang="en-US" b="1" dirty="0">
                    <a:solidFill>
                      <a:srgbClr val="0000CC"/>
                    </a:solidFill>
                  </a:rPr>
                  <a:t> </a:t>
                </a:r>
                <a:endParaRPr lang="en-US" b="1" dirty="0"/>
              </a:p>
            </p:txBody>
          </p:sp>
        </mc:Choice>
        <mc:Fallback>
          <p:sp>
            <p:nvSpPr>
              <p:cNvPr id="3" name="TextBox 2">
                <a:extLst>
                  <a:ext uri="{FF2B5EF4-FFF2-40B4-BE49-F238E27FC236}">
                    <a16:creationId xmlns:a16="http://schemas.microsoft.com/office/drawing/2014/main" id="{840D5332-3478-4892-AF7B-58969DB84A03}"/>
                  </a:ext>
                </a:extLst>
              </p:cNvPr>
              <p:cNvSpPr txBox="1">
                <a:spLocks noRot="1" noChangeAspect="1" noMove="1" noResize="1" noEditPoints="1" noAdjustHandles="1" noChangeArrowheads="1" noChangeShapeType="1" noTextEdit="1"/>
              </p:cNvSpPr>
              <p:nvPr/>
            </p:nvSpPr>
            <p:spPr>
              <a:xfrm>
                <a:off x="873760" y="2731194"/>
                <a:ext cx="1706880" cy="762838"/>
              </a:xfrm>
              <a:prstGeom prst="rect">
                <a:avLst/>
              </a:prstGeom>
              <a:blipFill>
                <a:blip r:embed="rId3"/>
                <a:stretch>
                  <a:fillRect l="-2857"/>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0" name="TextBox 9">
                <a:extLst>
                  <a:ext uri="{FF2B5EF4-FFF2-40B4-BE49-F238E27FC236}">
                    <a16:creationId xmlns:a16="http://schemas.microsoft.com/office/drawing/2014/main" id="{A9308CEF-CC35-4338-AE10-3D578E397231}"/>
                  </a:ext>
                </a:extLst>
              </p:cNvPr>
              <p:cNvSpPr txBox="1"/>
              <p:nvPr/>
            </p:nvSpPr>
            <p:spPr>
              <a:xfrm>
                <a:off x="1422400" y="5003800"/>
                <a:ext cx="1899920" cy="656013"/>
              </a:xfrm>
              <a:prstGeom prst="rect">
                <a:avLst/>
              </a:prstGeom>
              <a:solidFill>
                <a:srgbClr val="00FFFF"/>
              </a:solidFill>
            </p:spPr>
            <p:txBody>
              <a:bodyPr wrap="square" rtlCol="0">
                <a:spAutoFit/>
              </a:bodyPr>
              <a:lstStyle/>
              <a:p>
                <a:r>
                  <a:rPr lang="en-US" b="1" dirty="0">
                    <a:solidFill>
                      <a:srgbClr val="0000CC"/>
                    </a:solidFill>
                  </a:rPr>
                  <a:t>DF = </a:t>
                </a:r>
                <a14:m>
                  <m:oMath xmlns:m="http://schemas.openxmlformats.org/officeDocument/2006/math">
                    <m:rad>
                      <m:radPr>
                        <m:degHide m:val="on"/>
                        <m:ctrlPr>
                          <a:rPr lang="en-US" b="1" i="1" smtClean="0">
                            <a:solidFill>
                              <a:srgbClr val="0000CC"/>
                            </a:solidFill>
                            <a:latin typeface="Cambria Math" panose="02040503050406030204" pitchFamily="18" charset="0"/>
                          </a:rPr>
                        </m:ctrlPr>
                      </m:radPr>
                      <m:deg/>
                      <m:e>
                        <m:f>
                          <m:fPr>
                            <m:ctrlPr>
                              <a:rPr lang="en-US" b="1" i="1" smtClean="0">
                                <a:solidFill>
                                  <a:srgbClr val="0000CC"/>
                                </a:solidFill>
                                <a:latin typeface="Cambria Math" panose="02040503050406030204" pitchFamily="18" charset="0"/>
                              </a:rPr>
                            </m:ctrlPr>
                          </m:fPr>
                          <m:num>
                            <m:r>
                              <a:rPr lang="en-US" b="1" i="1" smtClean="0">
                                <a:solidFill>
                                  <a:srgbClr val="0000CC"/>
                                </a:solidFill>
                                <a:latin typeface="Cambria Math" panose="02040503050406030204" pitchFamily="18" charset="0"/>
                              </a:rPr>
                              <m:t>𝟏</m:t>
                            </m:r>
                          </m:num>
                          <m:den>
                            <m:r>
                              <a:rPr lang="en-US" b="1" i="1" smtClean="0">
                                <a:solidFill>
                                  <a:srgbClr val="0000CC"/>
                                </a:solidFill>
                                <a:latin typeface="Cambria Math" panose="02040503050406030204" pitchFamily="18" charset="0"/>
                              </a:rPr>
                              <m:t>𝟏</m:t>
                            </m:r>
                            <m:r>
                              <a:rPr lang="en-US" b="1" i="1" smtClean="0">
                                <a:solidFill>
                                  <a:srgbClr val="0000CC"/>
                                </a:solidFill>
                                <a:latin typeface="Cambria Math" panose="02040503050406030204" pitchFamily="18" charset="0"/>
                                <a:ea typeface="Cambria Math" panose="02040503050406030204" pitchFamily="18" charset="0"/>
                              </a:rPr>
                              <m:t>+</m:t>
                            </m:r>
                            <m:sSup>
                              <m:sSupPr>
                                <m:ctrlPr>
                                  <a:rPr lang="en-US" b="1" i="1" smtClean="0">
                                    <a:solidFill>
                                      <a:srgbClr val="0000CC"/>
                                    </a:solidFill>
                                    <a:latin typeface="Cambria Math" panose="02040503050406030204" pitchFamily="18" charset="0"/>
                                    <a:ea typeface="Cambria Math" panose="02040503050406030204" pitchFamily="18" charset="0"/>
                                  </a:rPr>
                                </m:ctrlPr>
                              </m:sSupPr>
                              <m:e>
                                <m:d>
                                  <m:dPr>
                                    <m:ctrlPr>
                                      <a:rPr lang="en-US" b="1" i="1" smtClean="0">
                                        <a:solidFill>
                                          <a:srgbClr val="0000CC"/>
                                        </a:solidFill>
                                        <a:latin typeface="Cambria Math" panose="02040503050406030204" pitchFamily="18" charset="0"/>
                                        <a:ea typeface="Cambria Math" panose="02040503050406030204" pitchFamily="18" charset="0"/>
                                      </a:rPr>
                                    </m:ctrlPr>
                                  </m:dPr>
                                  <m:e>
                                    <m:r>
                                      <a:rPr lang="en-US" b="1" i="1" smtClean="0">
                                        <a:solidFill>
                                          <a:srgbClr val="0000CC"/>
                                        </a:solidFill>
                                        <a:latin typeface="Cambria Math" panose="02040503050406030204" pitchFamily="18" charset="0"/>
                                        <a:ea typeface="Cambria Math" panose="02040503050406030204" pitchFamily="18" charset="0"/>
                                      </a:rPr>
                                      <m:t>𝑻𝑯𝑫</m:t>
                                    </m:r>
                                  </m:e>
                                </m:d>
                              </m:e>
                              <m:sup>
                                <m:r>
                                  <a:rPr lang="en-US" b="1" i="1" smtClean="0">
                                    <a:solidFill>
                                      <a:srgbClr val="0000CC"/>
                                    </a:solidFill>
                                    <a:latin typeface="Cambria Math" panose="02040503050406030204" pitchFamily="18" charset="0"/>
                                    <a:ea typeface="Cambria Math" panose="02040503050406030204" pitchFamily="18" charset="0"/>
                                  </a:rPr>
                                  <m:t>𝟐</m:t>
                                </m:r>
                              </m:sup>
                            </m:sSup>
                          </m:den>
                        </m:f>
                      </m:e>
                    </m:rad>
                  </m:oMath>
                </a14:m>
                <a:endParaRPr lang="en-US" b="1" dirty="0"/>
              </a:p>
            </p:txBody>
          </p:sp>
        </mc:Choice>
        <mc:Fallback>
          <p:sp>
            <p:nvSpPr>
              <p:cNvPr id="10" name="TextBox 9">
                <a:extLst>
                  <a:ext uri="{FF2B5EF4-FFF2-40B4-BE49-F238E27FC236}">
                    <a16:creationId xmlns:a16="http://schemas.microsoft.com/office/drawing/2014/main" id="{A9308CEF-CC35-4338-AE10-3D578E397231}"/>
                  </a:ext>
                </a:extLst>
              </p:cNvPr>
              <p:cNvSpPr txBox="1">
                <a:spLocks noRot="1" noChangeAspect="1" noMove="1" noResize="1" noEditPoints="1" noAdjustHandles="1" noChangeArrowheads="1" noChangeShapeType="1" noTextEdit="1"/>
              </p:cNvSpPr>
              <p:nvPr/>
            </p:nvSpPr>
            <p:spPr>
              <a:xfrm>
                <a:off x="1422400" y="5003800"/>
                <a:ext cx="1899920" cy="656013"/>
              </a:xfrm>
              <a:prstGeom prst="rect">
                <a:avLst/>
              </a:prstGeom>
              <a:blipFill>
                <a:blip r:embed="rId4"/>
                <a:stretch>
                  <a:fillRect l="-2564"/>
                </a:stretch>
              </a:blipFill>
            </p:spPr>
            <p:txBody>
              <a:bodyPr/>
              <a:lstStyle/>
              <a:p>
                <a:r>
                  <a:rPr lang="en-US">
                    <a:noFill/>
                  </a:rPr>
                  <a:t> </a:t>
                </a:r>
              </a:p>
            </p:txBody>
          </p:sp>
        </mc:Fallback>
      </mc:AlternateContent>
    </p:spTree>
    <p:extLst>
      <p:ext uri="{BB962C8B-B14F-4D97-AF65-F5344CB8AC3E}">
        <p14:creationId xmlns:p14="http://schemas.microsoft.com/office/powerpoint/2010/main" val="172806733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6">
            <a:extLst>
              <a:ext uri="{FF2B5EF4-FFF2-40B4-BE49-F238E27FC236}">
                <a16:creationId xmlns:a16="http://schemas.microsoft.com/office/drawing/2014/main" id="{56080804-F19F-41A7-8595-943961648C5E}"/>
              </a:ext>
            </a:extLst>
          </p:cNvPr>
          <p:cNvSpPr>
            <a:spLocks noGrp="1"/>
          </p:cNvSpPr>
          <p:nvPr>
            <p:ph type="sldNum" sz="quarter" idx="12"/>
          </p:nvPr>
        </p:nvSpPr>
        <p:spPr>
          <a:xfrm>
            <a:off x="8610600" y="6441692"/>
            <a:ext cx="2743200" cy="370027"/>
          </a:xfrm>
        </p:spPr>
        <p:txBody>
          <a:bodyPr/>
          <a:lstStyle/>
          <a:p>
            <a:fld id="{F4801FD5-11B4-DE43-ACA2-E85EEB9A6F9C}" type="slidenum">
              <a:rPr lang="en-US" smtClean="0">
                <a:latin typeface="Garamond" panose="02020404030301010803" pitchFamily="18" charset="0"/>
              </a:rPr>
              <a:t>39</a:t>
            </a:fld>
            <a:endParaRPr lang="en-US">
              <a:latin typeface="Garamond" panose="02020404030301010803" pitchFamily="18" charset="0"/>
            </a:endParaRPr>
          </a:p>
        </p:txBody>
      </p:sp>
      <p:sp>
        <p:nvSpPr>
          <p:cNvPr id="5" name="Title 1">
            <a:extLst>
              <a:ext uri="{FF2B5EF4-FFF2-40B4-BE49-F238E27FC236}">
                <a16:creationId xmlns:a16="http://schemas.microsoft.com/office/drawing/2014/main" id="{4710AE4B-0DB8-4451-B9E4-10BAE11B4D3A}"/>
              </a:ext>
            </a:extLst>
          </p:cNvPr>
          <p:cNvSpPr>
            <a:spLocks noGrp="1"/>
          </p:cNvSpPr>
          <p:nvPr>
            <p:ph type="title"/>
          </p:nvPr>
        </p:nvSpPr>
        <p:spPr>
          <a:xfrm>
            <a:off x="475035" y="138356"/>
            <a:ext cx="10972800" cy="1115558"/>
          </a:xfrm>
        </p:spPr>
        <p:txBody>
          <a:bodyPr>
            <a:noAutofit/>
          </a:bodyPr>
          <a:lstStyle/>
          <a:p>
            <a:pPr algn="ctr"/>
            <a:r>
              <a:rPr lang="en-US" sz="3200" b="1" u="sng" dirty="0">
                <a:solidFill>
                  <a:srgbClr val="FF3386"/>
                </a:solidFill>
                <a:latin typeface="Century Gothic" panose="020B0502020202020204" pitchFamily="34" charset="0"/>
                <a:cs typeface="Helvetica"/>
              </a:rPr>
              <a:t>POWER COMPUTATION FOR SINUSOIDAL SOURCE AND LINEAR LOAD</a:t>
            </a:r>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6BAA1F11-5BEF-4D80-964F-A7332E36BFA0}"/>
                  </a:ext>
                </a:extLst>
              </p:cNvPr>
              <p:cNvSpPr txBox="1"/>
              <p:nvPr/>
            </p:nvSpPr>
            <p:spPr>
              <a:xfrm>
                <a:off x="207523" y="1383437"/>
                <a:ext cx="11507823" cy="5500801"/>
              </a:xfrm>
              <a:prstGeom prst="rect">
                <a:avLst/>
              </a:prstGeom>
              <a:noFill/>
              <a:ln>
                <a:solidFill>
                  <a:srgbClr val="FF0066"/>
                </a:solidFill>
              </a:ln>
            </p:spPr>
            <p:txBody>
              <a:bodyPr wrap="square" rtlCol="0">
                <a:spAutoFit/>
              </a:bodyPr>
              <a:lstStyle/>
              <a:p>
                <a:pPr marL="342900" indent="-342900">
                  <a:buClr>
                    <a:schemeClr val="accent2"/>
                  </a:buClr>
                  <a:buFont typeface="Arial" panose="020B0604020202020204" pitchFamily="34" charset="0"/>
                  <a:buChar char="•"/>
                </a:pPr>
                <a:r>
                  <a:rPr lang="en-GB" sz="2400" b="1" kern="100" dirty="0">
                    <a:solidFill>
                      <a:srgbClr val="0000CC"/>
                    </a:solidFill>
                    <a:latin typeface="Century Gothic" panose="020B0502020202020204" pitchFamily="34" charset="0"/>
                    <a:ea typeface="Calibri" panose="020F0502020204030204" pitchFamily="34" charset="0"/>
                    <a:cs typeface="Times New Roman" panose="02020603050405020304" pitchFamily="18" charset="0"/>
                  </a:rPr>
                  <a:t>Example 2-10</a:t>
                </a:r>
                <a:br>
                  <a:rPr lang="en-GB" sz="2400" b="1" kern="100" dirty="0">
                    <a:solidFill>
                      <a:srgbClr val="0000CC"/>
                    </a:solidFill>
                    <a:latin typeface="Century Gothic" panose="020B0502020202020204" pitchFamily="34" charset="0"/>
                    <a:ea typeface="Calibri" panose="020F0502020204030204" pitchFamily="34" charset="0"/>
                    <a:cs typeface="Times New Roman" panose="02020603050405020304" pitchFamily="18" charset="0"/>
                  </a:rPr>
                </a:br>
                <a:br>
                  <a:rPr lang="en-GB" sz="2400" b="1" kern="100" dirty="0">
                    <a:solidFill>
                      <a:srgbClr val="0000CC"/>
                    </a:solidFill>
                    <a:latin typeface="Century Gothic" panose="020B0502020202020204" pitchFamily="34" charset="0"/>
                    <a:ea typeface="Calibri" panose="020F0502020204030204" pitchFamily="34" charset="0"/>
                    <a:cs typeface="Times New Roman" panose="02020603050405020304" pitchFamily="18" charset="0"/>
                  </a:rPr>
                </a:br>
                <a:r>
                  <a:rPr lang="en-GB" sz="2400" b="1" kern="100" dirty="0">
                    <a:solidFill>
                      <a:srgbClr val="0000CC"/>
                    </a:solidFill>
                    <a:latin typeface="Century Gothic" panose="020B0502020202020204" pitchFamily="34" charset="0"/>
                    <a:ea typeface="Calibri" panose="020F0502020204030204" pitchFamily="34" charset="0"/>
                    <a:cs typeface="Times New Roman" panose="02020603050405020304" pitchFamily="18" charset="0"/>
                  </a:rPr>
                  <a:t>A sinusoidal voltage source of </a:t>
                </a:r>
                <a14:m>
                  <m:oMath xmlns:m="http://schemas.openxmlformats.org/officeDocument/2006/math">
                    <m:r>
                      <a:rPr lang="en-US" sz="2400" b="1" i="1" kern="100" smtClean="0">
                        <a:solidFill>
                          <a:srgbClr val="0000CC"/>
                        </a:solidFill>
                        <a:latin typeface="Cambria Math" panose="02040503050406030204" pitchFamily="18" charset="0"/>
                        <a:ea typeface="Calibri" panose="020F0502020204030204" pitchFamily="34" charset="0"/>
                        <a:cs typeface="Times New Roman" panose="02020603050405020304" pitchFamily="18" charset="0"/>
                      </a:rPr>
                      <m:t>𝒗</m:t>
                    </m:r>
                    <m:r>
                      <a:rPr lang="en-US" sz="2400" b="1" i="1" kern="100" smtClean="0">
                        <a:solidFill>
                          <a:srgbClr val="0000CC"/>
                        </a:solidFill>
                        <a:latin typeface="Cambria Math" panose="02040503050406030204" pitchFamily="18" charset="0"/>
                        <a:ea typeface="Calibri" panose="020F0502020204030204" pitchFamily="34" charset="0"/>
                        <a:cs typeface="Times New Roman" panose="02020603050405020304" pitchFamily="18" charset="0"/>
                      </a:rPr>
                      <m:t>(</m:t>
                    </m:r>
                    <m:r>
                      <a:rPr lang="en-US" sz="2400" b="1" i="1" kern="100" smtClean="0">
                        <a:solidFill>
                          <a:srgbClr val="0000CC"/>
                        </a:solidFill>
                        <a:latin typeface="Cambria Math" panose="02040503050406030204" pitchFamily="18" charset="0"/>
                        <a:ea typeface="Calibri" panose="020F0502020204030204" pitchFamily="34" charset="0"/>
                        <a:cs typeface="Times New Roman" panose="02020603050405020304" pitchFamily="18" charset="0"/>
                      </a:rPr>
                      <m:t>𝒕</m:t>
                    </m:r>
                    <m:r>
                      <a:rPr lang="en-US" sz="2400" b="1" i="1" kern="100" smtClean="0">
                        <a:solidFill>
                          <a:srgbClr val="0000CC"/>
                        </a:solidFill>
                        <a:latin typeface="Cambria Math" panose="02040503050406030204" pitchFamily="18" charset="0"/>
                        <a:ea typeface="Calibri" panose="020F0502020204030204" pitchFamily="34" charset="0"/>
                        <a:cs typeface="Times New Roman" panose="02020603050405020304" pitchFamily="18" charset="0"/>
                      </a:rPr>
                      <m:t>)</m:t>
                    </m:r>
                  </m:oMath>
                </a14:m>
                <a:r>
                  <a:rPr lang="en-GB" sz="2400" b="1" kern="100" dirty="0">
                    <a:solidFill>
                      <a:srgbClr val="0000CC"/>
                    </a:solidFill>
                    <a:latin typeface="Century Gothic" panose="020B0502020202020204" pitchFamily="34" charset="0"/>
                    <a:ea typeface="Calibri" panose="020F0502020204030204" pitchFamily="34" charset="0"/>
                    <a:cs typeface="Times New Roman" panose="02020603050405020304" pitchFamily="18" charset="0"/>
                  </a:rPr>
                  <a:t> = 100</a:t>
                </a:r>
                <a14:m>
                  <m:oMath xmlns:m="http://schemas.openxmlformats.org/officeDocument/2006/math">
                    <m:func>
                      <m:funcPr>
                        <m:ctrlPr>
                          <a:rPr lang="en-GB" sz="2400" b="1" i="1" kern="100" smtClean="0">
                            <a:solidFill>
                              <a:srgbClr val="0000CC"/>
                            </a:solidFill>
                            <a:latin typeface="Cambria Math" panose="02040503050406030204" pitchFamily="18" charset="0"/>
                            <a:ea typeface="Calibri" panose="020F0502020204030204" pitchFamily="34" charset="0"/>
                            <a:cs typeface="Times New Roman" panose="02020603050405020304" pitchFamily="18" charset="0"/>
                          </a:rPr>
                        </m:ctrlPr>
                      </m:funcPr>
                      <m:fName>
                        <m:r>
                          <a:rPr lang="en-US" sz="2400" b="0" i="0" kern="100" smtClean="0">
                            <a:solidFill>
                              <a:srgbClr val="0000CC"/>
                            </a:solidFill>
                            <a:latin typeface="Cambria Math" panose="02040503050406030204" pitchFamily="18" charset="0"/>
                            <a:ea typeface="Calibri" panose="020F0502020204030204" pitchFamily="34" charset="0"/>
                            <a:cs typeface="Times New Roman" panose="02020603050405020304" pitchFamily="18" charset="0"/>
                          </a:rPr>
                          <m:t> </m:t>
                        </m:r>
                        <m:r>
                          <m:rPr>
                            <m:sty m:val="p"/>
                          </m:rPr>
                          <a:rPr lang="en-GB" sz="2400" b="0" i="0" kern="100" smtClean="0">
                            <a:solidFill>
                              <a:srgbClr val="0000CC"/>
                            </a:solidFill>
                            <a:latin typeface="Cambria Math" panose="02040503050406030204" pitchFamily="18" charset="0"/>
                            <a:ea typeface="Calibri" panose="020F0502020204030204" pitchFamily="34" charset="0"/>
                            <a:cs typeface="Times New Roman" panose="02020603050405020304" pitchFamily="18" charset="0"/>
                          </a:rPr>
                          <m:t>cos</m:t>
                        </m:r>
                      </m:fName>
                      <m:e>
                        <m:d>
                          <m:dPr>
                            <m:ctrlPr>
                              <a:rPr lang="en-GB" sz="2400" b="0" i="1" kern="100" smtClean="0">
                                <a:solidFill>
                                  <a:srgbClr val="0000CC"/>
                                </a:solidFill>
                                <a:latin typeface="Cambria Math" panose="02040503050406030204" pitchFamily="18" charset="0"/>
                                <a:ea typeface="Calibri" panose="020F0502020204030204" pitchFamily="34" charset="0"/>
                                <a:cs typeface="Times New Roman" panose="02020603050405020304" pitchFamily="18" charset="0"/>
                              </a:rPr>
                            </m:ctrlPr>
                          </m:dPr>
                          <m:e>
                            <m:r>
                              <a:rPr lang="en-US" sz="2400" b="0" i="1" kern="100" smtClean="0">
                                <a:solidFill>
                                  <a:srgbClr val="0000CC"/>
                                </a:solidFill>
                                <a:latin typeface="Cambria Math" panose="02040503050406030204" pitchFamily="18" charset="0"/>
                                <a:ea typeface="Calibri" panose="020F0502020204030204" pitchFamily="34" charset="0"/>
                                <a:cs typeface="Times New Roman" panose="02020603050405020304" pitchFamily="18" charset="0"/>
                              </a:rPr>
                              <m:t>377</m:t>
                            </m:r>
                            <m:r>
                              <a:rPr lang="en-US" sz="2400" b="0" i="1" kern="100" smtClean="0">
                                <a:solidFill>
                                  <a:srgbClr val="0000CC"/>
                                </a:solidFill>
                                <a:latin typeface="Cambria Math" panose="02040503050406030204" pitchFamily="18" charset="0"/>
                                <a:ea typeface="Calibri" panose="020F0502020204030204" pitchFamily="34" charset="0"/>
                                <a:cs typeface="Times New Roman" panose="02020603050405020304" pitchFamily="18" charset="0"/>
                              </a:rPr>
                              <m:t>𝑡</m:t>
                            </m:r>
                          </m:e>
                        </m:d>
                      </m:e>
                    </m:func>
                    <m:r>
                      <a:rPr lang="en-US" sz="2400" b="1" i="1" kern="100" smtClean="0">
                        <a:solidFill>
                          <a:srgbClr val="0000CC"/>
                        </a:solidFill>
                        <a:latin typeface="Cambria Math" panose="02040503050406030204" pitchFamily="18" charset="0"/>
                        <a:ea typeface="Calibri" panose="020F0502020204030204" pitchFamily="34" charset="0"/>
                        <a:cs typeface="Times New Roman" panose="02020603050405020304" pitchFamily="18" charset="0"/>
                      </a:rPr>
                      <m:t>𝑽</m:t>
                    </m:r>
                  </m:oMath>
                </a14:m>
                <a:r>
                  <a:rPr lang="en-GB" sz="2400" b="1" kern="100" dirty="0">
                    <a:solidFill>
                      <a:srgbClr val="0000CC"/>
                    </a:solidFill>
                    <a:latin typeface="Century Gothic" panose="020B0502020202020204" pitchFamily="34" charset="0"/>
                    <a:ea typeface="Calibri" panose="020F0502020204030204" pitchFamily="34" charset="0"/>
                    <a:cs typeface="Times New Roman" panose="02020603050405020304" pitchFamily="18" charset="0"/>
                  </a:rPr>
                  <a:t> is applied to a nonlinear load, resulting in a </a:t>
                </a:r>
                <a:r>
                  <a:rPr lang="en-GB" sz="2400" b="1" kern="100" dirty="0" err="1">
                    <a:solidFill>
                      <a:srgbClr val="0000CC"/>
                    </a:solidFill>
                    <a:latin typeface="Century Gothic" panose="020B0502020202020204" pitchFamily="34" charset="0"/>
                    <a:ea typeface="Calibri" panose="020F0502020204030204" pitchFamily="34" charset="0"/>
                    <a:cs typeface="Times New Roman" panose="02020603050405020304" pitchFamily="18" charset="0"/>
                  </a:rPr>
                  <a:t>nonsinusoidal</a:t>
                </a:r>
                <a:r>
                  <a:rPr lang="en-GB" sz="2400" b="1" kern="100" dirty="0">
                    <a:solidFill>
                      <a:srgbClr val="0000CC"/>
                    </a:solidFill>
                    <a:latin typeface="Century Gothic" panose="020B0502020202020204" pitchFamily="34" charset="0"/>
                    <a:ea typeface="Calibri" panose="020F0502020204030204" pitchFamily="34" charset="0"/>
                    <a:cs typeface="Times New Roman" panose="02020603050405020304" pitchFamily="18" charset="0"/>
                  </a:rPr>
                  <a:t> current which is expressed in Fourier series form as</a:t>
                </a:r>
                <a:br>
                  <a:rPr lang="en-GB" sz="2400" b="1" kern="100" dirty="0">
                    <a:solidFill>
                      <a:srgbClr val="0000CC"/>
                    </a:solidFill>
                    <a:latin typeface="Century Gothic" panose="020B0502020202020204" pitchFamily="34" charset="0"/>
                    <a:ea typeface="Calibri" panose="020F0502020204030204" pitchFamily="34" charset="0"/>
                    <a:cs typeface="Times New Roman" panose="02020603050405020304" pitchFamily="18" charset="0"/>
                  </a:rPr>
                </a:br>
                <a:br>
                  <a:rPr lang="en-GB" sz="2400" b="1" kern="100" dirty="0">
                    <a:solidFill>
                      <a:srgbClr val="0000CC"/>
                    </a:solidFill>
                    <a:latin typeface="Century Gothic" panose="020B0502020202020204" pitchFamily="34" charset="0"/>
                    <a:ea typeface="Calibri" panose="020F0502020204030204" pitchFamily="34" charset="0"/>
                    <a:cs typeface="Times New Roman" panose="02020603050405020304" pitchFamily="18" charset="0"/>
                  </a:rPr>
                </a:br>
                <a14:m>
                  <m:oMath xmlns:m="http://schemas.openxmlformats.org/officeDocument/2006/math">
                    <m:r>
                      <a:rPr lang="en-US" sz="2400" b="1" i="1" kern="100" smtClean="0">
                        <a:solidFill>
                          <a:srgbClr val="0000CC"/>
                        </a:solidFill>
                        <a:latin typeface="Cambria Math" panose="02040503050406030204" pitchFamily="18" charset="0"/>
                        <a:ea typeface="Calibri" panose="020F0502020204030204" pitchFamily="34" charset="0"/>
                        <a:cs typeface="Times New Roman" panose="02020603050405020304" pitchFamily="18" charset="0"/>
                      </a:rPr>
                      <m:t>𝒊</m:t>
                    </m:r>
                    <m:d>
                      <m:dPr>
                        <m:ctrlPr>
                          <a:rPr lang="en-US" sz="2400" b="1" i="1" kern="100" smtClean="0">
                            <a:solidFill>
                              <a:srgbClr val="0000CC"/>
                            </a:solidFill>
                            <a:latin typeface="Cambria Math" panose="02040503050406030204" pitchFamily="18" charset="0"/>
                            <a:ea typeface="Calibri" panose="020F0502020204030204" pitchFamily="34" charset="0"/>
                            <a:cs typeface="Times New Roman" panose="02020603050405020304" pitchFamily="18" charset="0"/>
                          </a:rPr>
                        </m:ctrlPr>
                      </m:dPr>
                      <m:e>
                        <m:r>
                          <a:rPr lang="en-US" sz="2400" b="1" i="1" kern="100" smtClean="0">
                            <a:solidFill>
                              <a:srgbClr val="0000CC"/>
                            </a:solidFill>
                            <a:latin typeface="Cambria Math" panose="02040503050406030204" pitchFamily="18" charset="0"/>
                            <a:ea typeface="Calibri" panose="020F0502020204030204" pitchFamily="34" charset="0"/>
                            <a:cs typeface="Times New Roman" panose="02020603050405020304" pitchFamily="18" charset="0"/>
                          </a:rPr>
                          <m:t>𝒕</m:t>
                        </m:r>
                      </m:e>
                    </m:d>
                  </m:oMath>
                </a14:m>
                <a:r>
                  <a:rPr lang="en-GB" sz="2400" b="1" kern="100" dirty="0">
                    <a:solidFill>
                      <a:srgbClr val="0000CC"/>
                    </a:solidFill>
                    <a:latin typeface="Century Gothic" panose="020B0502020202020204" pitchFamily="34" charset="0"/>
                    <a:ea typeface="Calibri" panose="020F0502020204030204" pitchFamily="34" charset="0"/>
                    <a:cs typeface="Times New Roman" panose="02020603050405020304" pitchFamily="18" charset="0"/>
                  </a:rPr>
                  <a:t> = 8</a:t>
                </a:r>
                <a14:m>
                  <m:oMath xmlns:m="http://schemas.openxmlformats.org/officeDocument/2006/math">
                    <m:r>
                      <a:rPr lang="en-GB" sz="2400" b="1" i="1" kern="100" smtClean="0">
                        <a:solidFill>
                          <a:srgbClr val="0000CC"/>
                        </a:solidFill>
                        <a:latin typeface="Cambria Math" panose="02040503050406030204" pitchFamily="18" charset="0"/>
                        <a:ea typeface="Cambria Math" panose="02040503050406030204" pitchFamily="18" charset="0"/>
                        <a:cs typeface="Times New Roman" panose="02020603050405020304" pitchFamily="18" charset="0"/>
                      </a:rPr>
                      <m:t>+</m:t>
                    </m:r>
                  </m:oMath>
                </a14:m>
                <a:r>
                  <a:rPr lang="en-GB" sz="2400" b="1" kern="100" dirty="0">
                    <a:solidFill>
                      <a:srgbClr val="0000CC"/>
                    </a:solidFill>
                    <a:latin typeface="Century Gothic" panose="020B0502020202020204" pitchFamily="34" charset="0"/>
                    <a:ea typeface="Calibri" panose="020F0502020204030204" pitchFamily="34" charset="0"/>
                    <a:cs typeface="Times New Roman" panose="02020603050405020304" pitchFamily="18" charset="0"/>
                  </a:rPr>
                  <a:t>15</a:t>
                </a:r>
                <a14:m>
                  <m:oMath xmlns:m="http://schemas.openxmlformats.org/officeDocument/2006/math">
                    <m:func>
                      <m:funcPr>
                        <m:ctrlPr>
                          <a:rPr lang="en-GB" sz="2400" b="1" i="1" kern="100" dirty="0" smtClean="0">
                            <a:solidFill>
                              <a:srgbClr val="0000CC"/>
                            </a:solidFill>
                            <a:latin typeface="Cambria Math" panose="02040503050406030204" pitchFamily="18" charset="0"/>
                            <a:ea typeface="Calibri" panose="020F0502020204030204" pitchFamily="34" charset="0"/>
                            <a:cs typeface="Times New Roman" panose="02020603050405020304" pitchFamily="18" charset="0"/>
                          </a:rPr>
                        </m:ctrlPr>
                      </m:funcPr>
                      <m:fName>
                        <m:r>
                          <m:rPr>
                            <m:sty m:val="p"/>
                          </m:rPr>
                          <a:rPr lang="en-GB" sz="2400" b="0" i="0" kern="100" dirty="0" smtClean="0">
                            <a:solidFill>
                              <a:srgbClr val="0000CC"/>
                            </a:solidFill>
                            <a:latin typeface="Cambria Math" panose="02040503050406030204" pitchFamily="18" charset="0"/>
                            <a:ea typeface="Calibri" panose="020F0502020204030204" pitchFamily="34" charset="0"/>
                            <a:cs typeface="Times New Roman" panose="02020603050405020304" pitchFamily="18" charset="0"/>
                          </a:rPr>
                          <m:t>cos</m:t>
                        </m:r>
                      </m:fName>
                      <m:e>
                        <m:d>
                          <m:dPr>
                            <m:ctrlPr>
                              <a:rPr lang="en-GB" sz="2400" b="0" i="1" kern="100" dirty="0" smtClean="0">
                                <a:solidFill>
                                  <a:srgbClr val="0000CC"/>
                                </a:solidFill>
                                <a:latin typeface="Cambria Math" panose="02040503050406030204" pitchFamily="18" charset="0"/>
                                <a:ea typeface="Calibri" panose="020F0502020204030204" pitchFamily="34" charset="0"/>
                                <a:cs typeface="Times New Roman" panose="02020603050405020304" pitchFamily="18" charset="0"/>
                              </a:rPr>
                            </m:ctrlPr>
                          </m:dPr>
                          <m:e>
                            <m:r>
                              <a:rPr lang="en-US" sz="2400" b="0" i="1" kern="100" dirty="0" smtClean="0">
                                <a:solidFill>
                                  <a:srgbClr val="0000CC"/>
                                </a:solidFill>
                                <a:latin typeface="Cambria Math" panose="02040503050406030204" pitchFamily="18" charset="0"/>
                                <a:ea typeface="Calibri" panose="020F0502020204030204" pitchFamily="34" charset="0"/>
                                <a:cs typeface="Times New Roman" panose="02020603050405020304" pitchFamily="18" charset="0"/>
                              </a:rPr>
                              <m:t>377</m:t>
                            </m:r>
                            <m:r>
                              <a:rPr lang="en-US" sz="2400" b="0" i="1" kern="100" dirty="0" smtClean="0">
                                <a:solidFill>
                                  <a:srgbClr val="0000CC"/>
                                </a:solidFill>
                                <a:latin typeface="Cambria Math" panose="02040503050406030204" pitchFamily="18" charset="0"/>
                                <a:ea typeface="Calibri" panose="020F0502020204030204" pitchFamily="34" charset="0"/>
                                <a:cs typeface="Times New Roman" panose="02020603050405020304" pitchFamily="18" charset="0"/>
                              </a:rPr>
                              <m:t>𝑡</m:t>
                            </m:r>
                            <m:r>
                              <a:rPr lang="en-US" sz="2400" b="0" i="1" kern="100" dirty="0" smtClean="0">
                                <a:solidFill>
                                  <a:srgbClr val="0000CC"/>
                                </a:solidFill>
                                <a:latin typeface="Cambria Math" panose="02040503050406030204" pitchFamily="18" charset="0"/>
                                <a:ea typeface="Cambria Math" panose="02040503050406030204" pitchFamily="18" charset="0"/>
                                <a:cs typeface="Times New Roman" panose="02020603050405020304" pitchFamily="18" charset="0"/>
                              </a:rPr>
                              <m:t>+</m:t>
                            </m:r>
                            <m:sSup>
                              <m:sSupPr>
                                <m:ctrlPr>
                                  <a:rPr lang="en-US" sz="2400" b="0" i="1" kern="100" dirty="0" smtClean="0">
                                    <a:solidFill>
                                      <a:srgbClr val="0000CC"/>
                                    </a:solidFill>
                                    <a:latin typeface="Cambria Math" panose="02040503050406030204" pitchFamily="18" charset="0"/>
                                    <a:ea typeface="Cambria Math" panose="02040503050406030204" pitchFamily="18" charset="0"/>
                                    <a:cs typeface="Times New Roman" panose="02020603050405020304" pitchFamily="18" charset="0"/>
                                  </a:rPr>
                                </m:ctrlPr>
                              </m:sSupPr>
                              <m:e>
                                <m:r>
                                  <a:rPr lang="en-US" sz="2400" b="0" i="1" kern="100" dirty="0" smtClean="0">
                                    <a:solidFill>
                                      <a:srgbClr val="0000CC"/>
                                    </a:solidFill>
                                    <a:latin typeface="Cambria Math" panose="02040503050406030204" pitchFamily="18" charset="0"/>
                                    <a:ea typeface="Cambria Math" panose="02040503050406030204" pitchFamily="18" charset="0"/>
                                    <a:cs typeface="Times New Roman" panose="02020603050405020304" pitchFamily="18" charset="0"/>
                                  </a:rPr>
                                  <m:t>30</m:t>
                                </m:r>
                              </m:e>
                              <m:sup>
                                <m:r>
                                  <a:rPr lang="en-US" sz="2400" b="0" i="1" kern="100" dirty="0" smtClean="0">
                                    <a:solidFill>
                                      <a:srgbClr val="0000CC"/>
                                    </a:solidFill>
                                    <a:latin typeface="Cambria Math" panose="02040503050406030204" pitchFamily="18" charset="0"/>
                                    <a:ea typeface="Cambria Math" panose="02040503050406030204" pitchFamily="18" charset="0"/>
                                    <a:cs typeface="Times New Roman" panose="02020603050405020304" pitchFamily="18" charset="0"/>
                                  </a:rPr>
                                  <m:t>°</m:t>
                                </m:r>
                              </m:sup>
                            </m:sSup>
                          </m:e>
                        </m:d>
                      </m:e>
                    </m:func>
                    <m:r>
                      <a:rPr lang="en-GB" sz="2400" b="1" i="1" kern="100" dirty="0" smtClean="0">
                        <a:solidFill>
                          <a:srgbClr val="0000CC"/>
                        </a:solidFill>
                        <a:latin typeface="Cambria Math" panose="02040503050406030204" pitchFamily="18" charset="0"/>
                        <a:ea typeface="Cambria Math" panose="02040503050406030204" pitchFamily="18" charset="0"/>
                        <a:cs typeface="Times New Roman" panose="02020603050405020304" pitchFamily="18" charset="0"/>
                      </a:rPr>
                      <m:t>+</m:t>
                    </m:r>
                    <m:r>
                      <a:rPr lang="en-US" sz="2400" b="1" i="1" kern="100" dirty="0" smtClean="0">
                        <a:solidFill>
                          <a:srgbClr val="0000CC"/>
                        </a:solidFill>
                        <a:latin typeface="Cambria Math" panose="02040503050406030204" pitchFamily="18" charset="0"/>
                        <a:ea typeface="Cambria Math" panose="02040503050406030204" pitchFamily="18" charset="0"/>
                        <a:cs typeface="Times New Roman" panose="02020603050405020304" pitchFamily="18" charset="0"/>
                      </a:rPr>
                      <m:t>𝟔</m:t>
                    </m:r>
                    <m:func>
                      <m:funcPr>
                        <m:ctrlPr>
                          <a:rPr lang="en-US" sz="2400" b="1" i="1" kern="100" dirty="0" smtClean="0">
                            <a:solidFill>
                              <a:srgbClr val="0000CC"/>
                            </a:solidFill>
                            <a:latin typeface="Cambria Math" panose="02040503050406030204" pitchFamily="18" charset="0"/>
                            <a:ea typeface="Cambria Math" panose="02040503050406030204" pitchFamily="18" charset="0"/>
                            <a:cs typeface="Times New Roman" panose="02020603050405020304" pitchFamily="18" charset="0"/>
                          </a:rPr>
                        </m:ctrlPr>
                      </m:funcPr>
                      <m:fName>
                        <m:r>
                          <m:rPr>
                            <m:sty m:val="p"/>
                          </m:rPr>
                          <a:rPr lang="en-US" sz="2400" b="0" i="0" kern="100" dirty="0" smtClean="0">
                            <a:solidFill>
                              <a:srgbClr val="0000CC"/>
                            </a:solidFill>
                            <a:latin typeface="Cambria Math" panose="02040503050406030204" pitchFamily="18" charset="0"/>
                            <a:ea typeface="Cambria Math" panose="02040503050406030204" pitchFamily="18" charset="0"/>
                            <a:cs typeface="Times New Roman" panose="02020603050405020304" pitchFamily="18" charset="0"/>
                          </a:rPr>
                          <m:t>cos</m:t>
                        </m:r>
                      </m:fName>
                      <m:e>
                        <m:d>
                          <m:dPr>
                            <m:begChr m:val="["/>
                            <m:endChr m:val="]"/>
                            <m:ctrlPr>
                              <a:rPr lang="en-US" sz="2400" b="0" i="1" kern="100" dirty="0" smtClean="0">
                                <a:solidFill>
                                  <a:srgbClr val="0000CC"/>
                                </a:solidFill>
                                <a:latin typeface="Cambria Math" panose="02040503050406030204" pitchFamily="18" charset="0"/>
                                <a:ea typeface="Cambria Math" panose="02040503050406030204" pitchFamily="18" charset="0"/>
                                <a:cs typeface="Times New Roman" panose="02020603050405020304" pitchFamily="18" charset="0"/>
                              </a:rPr>
                            </m:ctrlPr>
                          </m:dPr>
                          <m:e>
                            <m:r>
                              <a:rPr lang="en-US" sz="2400" b="0" i="1" kern="100" dirty="0" smtClean="0">
                                <a:solidFill>
                                  <a:srgbClr val="0000CC"/>
                                </a:solidFill>
                                <a:latin typeface="Cambria Math" panose="02040503050406030204" pitchFamily="18" charset="0"/>
                                <a:ea typeface="Cambria Math" panose="02040503050406030204" pitchFamily="18" charset="0"/>
                                <a:cs typeface="Times New Roman" panose="02020603050405020304" pitchFamily="18" charset="0"/>
                              </a:rPr>
                              <m:t>2</m:t>
                            </m:r>
                            <m:d>
                              <m:dPr>
                                <m:ctrlPr>
                                  <a:rPr lang="en-US" sz="2400" b="0" i="1" kern="100" dirty="0" smtClean="0">
                                    <a:solidFill>
                                      <a:srgbClr val="0000CC"/>
                                    </a:solidFill>
                                    <a:latin typeface="Cambria Math" panose="02040503050406030204" pitchFamily="18" charset="0"/>
                                    <a:ea typeface="Cambria Math" panose="02040503050406030204" pitchFamily="18" charset="0"/>
                                    <a:cs typeface="Times New Roman" panose="02020603050405020304" pitchFamily="18" charset="0"/>
                                  </a:rPr>
                                </m:ctrlPr>
                              </m:dPr>
                              <m:e>
                                <m:r>
                                  <a:rPr lang="en-US" sz="2400" b="0" i="1" kern="100" dirty="0" smtClean="0">
                                    <a:solidFill>
                                      <a:srgbClr val="0000CC"/>
                                    </a:solidFill>
                                    <a:latin typeface="Cambria Math" panose="02040503050406030204" pitchFamily="18" charset="0"/>
                                    <a:ea typeface="Cambria Math" panose="02040503050406030204" pitchFamily="18" charset="0"/>
                                    <a:cs typeface="Times New Roman" panose="02020603050405020304" pitchFamily="18" charset="0"/>
                                  </a:rPr>
                                  <m:t>377</m:t>
                                </m:r>
                              </m:e>
                            </m:d>
                            <m:r>
                              <a:rPr lang="en-US" sz="2400" b="0" i="1" kern="100" dirty="0" smtClean="0">
                                <a:solidFill>
                                  <a:srgbClr val="0000CC"/>
                                </a:solidFill>
                                <a:latin typeface="Cambria Math" panose="02040503050406030204" pitchFamily="18" charset="0"/>
                                <a:ea typeface="Cambria Math" panose="02040503050406030204" pitchFamily="18" charset="0"/>
                                <a:cs typeface="Times New Roman" panose="02020603050405020304" pitchFamily="18" charset="0"/>
                              </a:rPr>
                              <m:t>𝑡</m:t>
                            </m:r>
                            <m:r>
                              <a:rPr lang="en-US" sz="2400" b="0" i="1" kern="100" dirty="0" smtClean="0">
                                <a:solidFill>
                                  <a:srgbClr val="0000CC"/>
                                </a:solidFill>
                                <a:latin typeface="Cambria Math" panose="02040503050406030204" pitchFamily="18" charset="0"/>
                                <a:ea typeface="Cambria Math" panose="02040503050406030204" pitchFamily="18" charset="0"/>
                                <a:cs typeface="Times New Roman" panose="02020603050405020304" pitchFamily="18" charset="0"/>
                              </a:rPr>
                              <m:t>+</m:t>
                            </m:r>
                            <m:sSup>
                              <m:sSupPr>
                                <m:ctrlPr>
                                  <a:rPr lang="en-US" sz="2400" b="0" i="1" kern="100" dirty="0" smtClean="0">
                                    <a:solidFill>
                                      <a:srgbClr val="0000CC"/>
                                    </a:solidFill>
                                    <a:latin typeface="Cambria Math" panose="02040503050406030204" pitchFamily="18" charset="0"/>
                                    <a:ea typeface="Cambria Math" panose="02040503050406030204" pitchFamily="18" charset="0"/>
                                    <a:cs typeface="Times New Roman" panose="02020603050405020304" pitchFamily="18" charset="0"/>
                                  </a:rPr>
                                </m:ctrlPr>
                              </m:sSupPr>
                              <m:e>
                                <m:r>
                                  <a:rPr lang="en-US" sz="2400" b="0" i="1" kern="100" dirty="0" smtClean="0">
                                    <a:solidFill>
                                      <a:srgbClr val="0000CC"/>
                                    </a:solidFill>
                                    <a:latin typeface="Cambria Math" panose="02040503050406030204" pitchFamily="18" charset="0"/>
                                    <a:ea typeface="Cambria Math" panose="02040503050406030204" pitchFamily="18" charset="0"/>
                                    <a:cs typeface="Times New Roman" panose="02020603050405020304" pitchFamily="18" charset="0"/>
                                  </a:rPr>
                                  <m:t>45</m:t>
                                </m:r>
                              </m:e>
                              <m:sup>
                                <m:r>
                                  <a:rPr lang="en-US" sz="2400" b="0" i="1" kern="100" dirty="0" smtClean="0">
                                    <a:solidFill>
                                      <a:srgbClr val="0000CC"/>
                                    </a:solidFill>
                                    <a:latin typeface="Cambria Math" panose="02040503050406030204" pitchFamily="18" charset="0"/>
                                    <a:ea typeface="Cambria Math" panose="02040503050406030204" pitchFamily="18" charset="0"/>
                                    <a:cs typeface="Times New Roman" panose="02020603050405020304" pitchFamily="18" charset="0"/>
                                  </a:rPr>
                                  <m:t>°</m:t>
                                </m:r>
                              </m:sup>
                            </m:sSup>
                          </m:e>
                        </m:d>
                      </m:e>
                    </m:func>
                    <m:r>
                      <a:rPr lang="en-US" sz="2400" b="1" i="1" kern="100" dirty="0" smtClean="0">
                        <a:solidFill>
                          <a:srgbClr val="0000CC"/>
                        </a:solidFill>
                        <a:latin typeface="Cambria Math" panose="02040503050406030204" pitchFamily="18" charset="0"/>
                        <a:ea typeface="Cambria Math" panose="02040503050406030204" pitchFamily="18" charset="0"/>
                        <a:cs typeface="Times New Roman" panose="02020603050405020304" pitchFamily="18" charset="0"/>
                      </a:rPr>
                      <m:t>+</m:t>
                    </m:r>
                    <m:r>
                      <a:rPr lang="en-US" sz="2400" b="1" i="1" kern="100" dirty="0" smtClean="0">
                        <a:solidFill>
                          <a:srgbClr val="0000CC"/>
                        </a:solidFill>
                        <a:latin typeface="Cambria Math" panose="02040503050406030204" pitchFamily="18" charset="0"/>
                        <a:ea typeface="Cambria Math" panose="02040503050406030204" pitchFamily="18" charset="0"/>
                        <a:cs typeface="Times New Roman" panose="02020603050405020304" pitchFamily="18" charset="0"/>
                      </a:rPr>
                      <m:t>𝟐</m:t>
                    </m:r>
                    <m:func>
                      <m:funcPr>
                        <m:ctrlPr>
                          <a:rPr lang="en-US" sz="2400" b="1" i="1" kern="100" dirty="0" smtClean="0">
                            <a:solidFill>
                              <a:srgbClr val="0000CC"/>
                            </a:solidFill>
                            <a:latin typeface="Cambria Math" panose="02040503050406030204" pitchFamily="18" charset="0"/>
                            <a:ea typeface="Cambria Math" panose="02040503050406030204" pitchFamily="18" charset="0"/>
                            <a:cs typeface="Times New Roman" panose="02020603050405020304" pitchFamily="18" charset="0"/>
                          </a:rPr>
                        </m:ctrlPr>
                      </m:funcPr>
                      <m:fName>
                        <m:r>
                          <m:rPr>
                            <m:sty m:val="p"/>
                          </m:rPr>
                          <a:rPr lang="en-US" sz="2400" b="0" i="0" kern="100" dirty="0" smtClean="0">
                            <a:solidFill>
                              <a:srgbClr val="0000CC"/>
                            </a:solidFill>
                            <a:latin typeface="Cambria Math" panose="02040503050406030204" pitchFamily="18" charset="0"/>
                            <a:ea typeface="Cambria Math" panose="02040503050406030204" pitchFamily="18" charset="0"/>
                            <a:cs typeface="Times New Roman" panose="02020603050405020304" pitchFamily="18" charset="0"/>
                          </a:rPr>
                          <m:t>cos</m:t>
                        </m:r>
                      </m:fName>
                      <m:e>
                        <m:d>
                          <m:dPr>
                            <m:begChr m:val="["/>
                            <m:endChr m:val="]"/>
                            <m:ctrlPr>
                              <a:rPr lang="en-US" sz="2400" b="0" i="1" kern="100" dirty="0" smtClean="0">
                                <a:solidFill>
                                  <a:srgbClr val="0000CC"/>
                                </a:solidFill>
                                <a:latin typeface="Cambria Math" panose="02040503050406030204" pitchFamily="18" charset="0"/>
                                <a:ea typeface="Cambria Math" panose="02040503050406030204" pitchFamily="18" charset="0"/>
                                <a:cs typeface="Times New Roman" panose="02020603050405020304" pitchFamily="18" charset="0"/>
                              </a:rPr>
                            </m:ctrlPr>
                          </m:dPr>
                          <m:e>
                            <m:r>
                              <a:rPr lang="en-US" sz="2400" b="0" i="1" kern="100" dirty="0" smtClean="0">
                                <a:solidFill>
                                  <a:srgbClr val="0000CC"/>
                                </a:solidFill>
                                <a:latin typeface="Cambria Math" panose="02040503050406030204" pitchFamily="18" charset="0"/>
                                <a:ea typeface="Cambria Math" panose="02040503050406030204" pitchFamily="18" charset="0"/>
                                <a:cs typeface="Times New Roman" panose="02020603050405020304" pitchFamily="18" charset="0"/>
                              </a:rPr>
                              <m:t>3</m:t>
                            </m:r>
                            <m:d>
                              <m:dPr>
                                <m:ctrlPr>
                                  <a:rPr lang="en-US" sz="2400" b="0" i="1" kern="100" dirty="0" smtClean="0">
                                    <a:solidFill>
                                      <a:srgbClr val="0000CC"/>
                                    </a:solidFill>
                                    <a:latin typeface="Cambria Math" panose="02040503050406030204" pitchFamily="18" charset="0"/>
                                    <a:ea typeface="Cambria Math" panose="02040503050406030204" pitchFamily="18" charset="0"/>
                                    <a:cs typeface="Times New Roman" panose="02020603050405020304" pitchFamily="18" charset="0"/>
                                  </a:rPr>
                                </m:ctrlPr>
                              </m:dPr>
                              <m:e>
                                <m:r>
                                  <a:rPr lang="en-US" sz="2400" b="0" i="1" kern="100" dirty="0" smtClean="0">
                                    <a:solidFill>
                                      <a:srgbClr val="0000CC"/>
                                    </a:solidFill>
                                    <a:latin typeface="Cambria Math" panose="02040503050406030204" pitchFamily="18" charset="0"/>
                                    <a:ea typeface="Cambria Math" panose="02040503050406030204" pitchFamily="18" charset="0"/>
                                    <a:cs typeface="Times New Roman" panose="02020603050405020304" pitchFamily="18" charset="0"/>
                                  </a:rPr>
                                  <m:t>377</m:t>
                                </m:r>
                              </m:e>
                            </m:d>
                            <m:r>
                              <a:rPr lang="en-US" sz="2400" b="0" i="1" kern="100" dirty="0" smtClean="0">
                                <a:solidFill>
                                  <a:srgbClr val="0000CC"/>
                                </a:solidFill>
                                <a:latin typeface="Cambria Math" panose="02040503050406030204" pitchFamily="18" charset="0"/>
                                <a:ea typeface="Cambria Math" panose="02040503050406030204" pitchFamily="18" charset="0"/>
                                <a:cs typeface="Times New Roman" panose="02020603050405020304" pitchFamily="18" charset="0"/>
                              </a:rPr>
                              <m:t>𝑡</m:t>
                            </m:r>
                            <m:r>
                              <a:rPr lang="en-US" sz="2400" b="0" i="1" kern="100" dirty="0" smtClean="0">
                                <a:solidFill>
                                  <a:srgbClr val="0000CC"/>
                                </a:solidFill>
                                <a:latin typeface="Cambria Math" panose="02040503050406030204" pitchFamily="18" charset="0"/>
                                <a:ea typeface="Cambria Math" panose="02040503050406030204" pitchFamily="18" charset="0"/>
                                <a:cs typeface="Times New Roman" panose="02020603050405020304" pitchFamily="18" charset="0"/>
                              </a:rPr>
                              <m:t>+</m:t>
                            </m:r>
                            <m:sSup>
                              <m:sSupPr>
                                <m:ctrlPr>
                                  <a:rPr lang="en-US" sz="2400" b="0" i="1" kern="100" dirty="0" smtClean="0">
                                    <a:solidFill>
                                      <a:srgbClr val="0000CC"/>
                                    </a:solidFill>
                                    <a:latin typeface="Cambria Math" panose="02040503050406030204" pitchFamily="18" charset="0"/>
                                    <a:ea typeface="Cambria Math" panose="02040503050406030204" pitchFamily="18" charset="0"/>
                                    <a:cs typeface="Times New Roman" panose="02020603050405020304" pitchFamily="18" charset="0"/>
                                  </a:rPr>
                                </m:ctrlPr>
                              </m:sSupPr>
                              <m:e>
                                <m:r>
                                  <a:rPr lang="en-US" sz="2400" b="0" i="1" kern="100" dirty="0" smtClean="0">
                                    <a:solidFill>
                                      <a:srgbClr val="0000CC"/>
                                    </a:solidFill>
                                    <a:latin typeface="Cambria Math" panose="02040503050406030204" pitchFamily="18" charset="0"/>
                                    <a:ea typeface="Cambria Math" panose="02040503050406030204" pitchFamily="18" charset="0"/>
                                    <a:cs typeface="Times New Roman" panose="02020603050405020304" pitchFamily="18" charset="0"/>
                                  </a:rPr>
                                  <m:t>60</m:t>
                                </m:r>
                              </m:e>
                              <m:sup>
                                <m:r>
                                  <a:rPr lang="en-US" sz="2400" b="0" i="1" kern="100" dirty="0" smtClean="0">
                                    <a:solidFill>
                                      <a:srgbClr val="0000CC"/>
                                    </a:solidFill>
                                    <a:latin typeface="Cambria Math" panose="02040503050406030204" pitchFamily="18" charset="0"/>
                                    <a:ea typeface="Cambria Math" panose="02040503050406030204" pitchFamily="18" charset="0"/>
                                    <a:cs typeface="Times New Roman" panose="02020603050405020304" pitchFamily="18" charset="0"/>
                                  </a:rPr>
                                  <m:t>°</m:t>
                                </m:r>
                              </m:sup>
                            </m:sSup>
                          </m:e>
                        </m:d>
                      </m:e>
                    </m:func>
                  </m:oMath>
                </a14:m>
                <a:br>
                  <a:rPr lang="en-US" sz="2400" b="1" kern="100" dirty="0">
                    <a:solidFill>
                      <a:srgbClr val="0000CC"/>
                    </a:solidFill>
                    <a:latin typeface="Century Gothic" panose="020B0502020202020204" pitchFamily="34" charset="0"/>
                    <a:ea typeface="Calibri" panose="020F0502020204030204" pitchFamily="34" charset="0"/>
                    <a:cs typeface="Times New Roman" panose="02020603050405020304" pitchFamily="18" charset="0"/>
                  </a:rPr>
                </a:br>
                <a:r>
                  <a:rPr lang="en-US" sz="2400" b="1" kern="100" dirty="0">
                    <a:solidFill>
                      <a:srgbClr val="0000CC"/>
                    </a:solidFill>
                    <a:latin typeface="Century Gothic" panose="020B0502020202020204" pitchFamily="34" charset="0"/>
                    <a:ea typeface="Calibri" panose="020F0502020204030204" pitchFamily="34" charset="0"/>
                    <a:cs typeface="Times New Roman" panose="02020603050405020304" pitchFamily="18" charset="0"/>
                  </a:rPr>
                  <a:t>Determine (a) the power absorbed by the load, (b) the power factor of the load (c) the distortion factor of the load current, (d) the total harmonic distortion of the load current.</a:t>
                </a:r>
                <a:endParaRPr lang="en-GB" sz="2400" b="1" kern="100" dirty="0">
                  <a:solidFill>
                    <a:srgbClr val="0000CC"/>
                  </a:solidFill>
                  <a:latin typeface="Century Gothic" panose="020B0502020202020204" pitchFamily="34" charset="0"/>
                  <a:ea typeface="Calibri" panose="020F0502020204030204" pitchFamily="34" charset="0"/>
                  <a:cs typeface="Times New Roman" panose="02020603050405020304" pitchFamily="18" charset="0"/>
                </a:endParaRPr>
              </a:p>
              <a:p>
                <a:pPr marL="342900" indent="-342900">
                  <a:buClr>
                    <a:schemeClr val="accent2"/>
                  </a:buClr>
                  <a:buFont typeface="Arial" panose="020B0604020202020204" pitchFamily="34" charset="0"/>
                  <a:buChar char="•"/>
                </a:pPr>
                <a:r>
                  <a:rPr lang="en-GB" sz="2400" b="1" kern="100" dirty="0">
                    <a:solidFill>
                      <a:srgbClr val="FF0000"/>
                    </a:solidFill>
                    <a:latin typeface="Century Gothic" panose="020B0502020202020204" pitchFamily="34" charset="0"/>
                    <a:ea typeface="Calibri" panose="020F0502020204030204" pitchFamily="34" charset="0"/>
                    <a:cs typeface="Times New Roman" panose="02020603050405020304" pitchFamily="18" charset="0"/>
                  </a:rPr>
                  <a:t>Solution</a:t>
                </a:r>
                <a:br>
                  <a:rPr lang="en-GB" sz="2400" b="1" kern="100" dirty="0">
                    <a:solidFill>
                      <a:srgbClr val="FF0000"/>
                    </a:solidFill>
                    <a:latin typeface="Century Gothic" panose="020B0502020202020204" pitchFamily="34" charset="0"/>
                    <a:ea typeface="Calibri" panose="020F0502020204030204" pitchFamily="34" charset="0"/>
                    <a:cs typeface="Times New Roman" panose="02020603050405020304" pitchFamily="18" charset="0"/>
                  </a:rPr>
                </a:br>
                <a:r>
                  <a:rPr lang="en-GB" sz="2400" b="1" kern="100" dirty="0">
                    <a:solidFill>
                      <a:srgbClr val="0000CC"/>
                    </a:solidFill>
                    <a:latin typeface="Century Gothic" panose="020B0502020202020204" pitchFamily="34" charset="0"/>
                    <a:ea typeface="Calibri" panose="020F0502020204030204" pitchFamily="34" charset="0"/>
                    <a:cs typeface="Times New Roman" panose="02020603050405020304" pitchFamily="18" charset="0"/>
                  </a:rPr>
                  <a:t>(a) Power absorbed by the load is determined by</a:t>
                </a:r>
                <a:br>
                  <a:rPr lang="en-GB" sz="2400" b="1" kern="100" dirty="0">
                    <a:solidFill>
                      <a:srgbClr val="0000CC"/>
                    </a:solidFill>
                    <a:latin typeface="Century Gothic" panose="020B0502020202020204" pitchFamily="34" charset="0"/>
                    <a:ea typeface="Calibri" panose="020F0502020204030204" pitchFamily="34" charset="0"/>
                    <a:cs typeface="Times New Roman" panose="02020603050405020304" pitchFamily="18" charset="0"/>
                  </a:rPr>
                </a:br>
                <a:br>
                  <a:rPr lang="en-GB" sz="2400" b="1" kern="100" dirty="0">
                    <a:solidFill>
                      <a:srgbClr val="0000CC"/>
                    </a:solidFill>
                    <a:latin typeface="Century Gothic" panose="020B0502020202020204" pitchFamily="34" charset="0"/>
                    <a:ea typeface="Calibri" panose="020F0502020204030204" pitchFamily="34" charset="0"/>
                    <a:cs typeface="Times New Roman" panose="02020603050405020304" pitchFamily="18" charset="0"/>
                  </a:rPr>
                </a:br>
                <a:r>
                  <a:rPr lang="en-GB" sz="2400" b="1" kern="100" dirty="0">
                    <a:solidFill>
                      <a:srgbClr val="0000CC"/>
                    </a:solidFill>
                    <a:latin typeface="Century Gothic" panose="020B0502020202020204" pitchFamily="34" charset="0"/>
                    <a:ea typeface="Calibri" panose="020F0502020204030204" pitchFamily="34" charset="0"/>
                    <a:cs typeface="Times New Roman" panose="02020603050405020304" pitchFamily="18" charset="0"/>
                  </a:rPr>
                  <a:t>		P = </a:t>
                </a:r>
                <a14:m>
                  <m:oMath xmlns:m="http://schemas.openxmlformats.org/officeDocument/2006/math">
                    <m:d>
                      <m:dPr>
                        <m:ctrlPr>
                          <a:rPr lang="en-GB" sz="2400" b="1" i="1" kern="100" smtClean="0">
                            <a:solidFill>
                              <a:srgbClr val="0000CC"/>
                            </a:solidFill>
                            <a:latin typeface="Cambria Math" panose="02040503050406030204" pitchFamily="18" charset="0"/>
                            <a:ea typeface="Calibri" panose="020F0502020204030204" pitchFamily="34" charset="0"/>
                            <a:cs typeface="Times New Roman" panose="02020603050405020304" pitchFamily="18" charset="0"/>
                          </a:rPr>
                        </m:ctrlPr>
                      </m:dPr>
                      <m:e>
                        <m:r>
                          <a:rPr lang="en-US" sz="2400" b="1" i="1" kern="100" smtClean="0">
                            <a:solidFill>
                              <a:srgbClr val="0000CC"/>
                            </a:solidFill>
                            <a:latin typeface="Cambria Math" panose="02040503050406030204" pitchFamily="18" charset="0"/>
                            <a:ea typeface="Calibri" panose="020F0502020204030204" pitchFamily="34" charset="0"/>
                            <a:cs typeface="Times New Roman" panose="02020603050405020304" pitchFamily="18" charset="0"/>
                          </a:rPr>
                          <m:t>𝟎</m:t>
                        </m:r>
                      </m:e>
                    </m:d>
                    <m:d>
                      <m:dPr>
                        <m:ctrlPr>
                          <a:rPr lang="en-GB" sz="2400" b="1" i="1" kern="100" smtClean="0">
                            <a:solidFill>
                              <a:srgbClr val="0000CC"/>
                            </a:solidFill>
                            <a:latin typeface="Cambria Math" panose="02040503050406030204" pitchFamily="18" charset="0"/>
                            <a:ea typeface="Calibri" panose="020F0502020204030204" pitchFamily="34" charset="0"/>
                            <a:cs typeface="Times New Roman" panose="02020603050405020304" pitchFamily="18" charset="0"/>
                          </a:rPr>
                        </m:ctrlPr>
                      </m:dPr>
                      <m:e>
                        <m:r>
                          <a:rPr lang="en-US" sz="2400" b="1" i="1" kern="100" smtClean="0">
                            <a:solidFill>
                              <a:srgbClr val="0000CC"/>
                            </a:solidFill>
                            <a:latin typeface="Cambria Math" panose="02040503050406030204" pitchFamily="18" charset="0"/>
                            <a:ea typeface="Calibri" panose="020F0502020204030204" pitchFamily="34" charset="0"/>
                            <a:cs typeface="Times New Roman" panose="02020603050405020304" pitchFamily="18" charset="0"/>
                          </a:rPr>
                          <m:t>𝟖</m:t>
                        </m:r>
                      </m:e>
                    </m:d>
                    <m:r>
                      <a:rPr lang="en-GB" sz="2400" b="1" i="1" kern="100" smtClean="0">
                        <a:solidFill>
                          <a:srgbClr val="0000CC"/>
                        </a:solidFill>
                        <a:latin typeface="Cambria Math" panose="02040503050406030204" pitchFamily="18" charset="0"/>
                        <a:ea typeface="Cambria Math" panose="02040503050406030204" pitchFamily="18" charset="0"/>
                        <a:cs typeface="Times New Roman" panose="02020603050405020304" pitchFamily="18" charset="0"/>
                      </a:rPr>
                      <m:t>+</m:t>
                    </m:r>
                    <m:d>
                      <m:dPr>
                        <m:ctrlPr>
                          <a:rPr lang="en-GB" sz="2400" b="1" i="1" kern="100" smtClean="0">
                            <a:solidFill>
                              <a:srgbClr val="0000CC"/>
                            </a:solidFill>
                            <a:latin typeface="Cambria Math" panose="02040503050406030204" pitchFamily="18" charset="0"/>
                            <a:ea typeface="Cambria Math" panose="02040503050406030204" pitchFamily="18" charset="0"/>
                            <a:cs typeface="Times New Roman" panose="02020603050405020304" pitchFamily="18" charset="0"/>
                          </a:rPr>
                        </m:ctrlPr>
                      </m:dPr>
                      <m:e>
                        <m:f>
                          <m:fPr>
                            <m:ctrlPr>
                              <a:rPr lang="en-GB" sz="2400" b="1" i="1" kern="100" smtClean="0">
                                <a:solidFill>
                                  <a:srgbClr val="0000CC"/>
                                </a:solidFill>
                                <a:latin typeface="Cambria Math" panose="02040503050406030204" pitchFamily="18" charset="0"/>
                                <a:ea typeface="Cambria Math" panose="02040503050406030204" pitchFamily="18" charset="0"/>
                                <a:cs typeface="Times New Roman" panose="02020603050405020304" pitchFamily="18" charset="0"/>
                              </a:rPr>
                            </m:ctrlPr>
                          </m:fPr>
                          <m:num>
                            <m:r>
                              <a:rPr lang="en-US" sz="2400" b="1" i="1" kern="100" smtClean="0">
                                <a:solidFill>
                                  <a:srgbClr val="0000CC"/>
                                </a:solidFill>
                                <a:latin typeface="Cambria Math" panose="02040503050406030204" pitchFamily="18" charset="0"/>
                                <a:ea typeface="Cambria Math" panose="02040503050406030204" pitchFamily="18" charset="0"/>
                                <a:cs typeface="Times New Roman" panose="02020603050405020304" pitchFamily="18" charset="0"/>
                              </a:rPr>
                              <m:t>𝟏𝟎𝟎</m:t>
                            </m:r>
                          </m:num>
                          <m:den>
                            <m:rad>
                              <m:radPr>
                                <m:degHide m:val="on"/>
                                <m:ctrlPr>
                                  <a:rPr lang="en-GB" sz="2400" b="1" i="1" kern="100" smtClean="0">
                                    <a:solidFill>
                                      <a:srgbClr val="0000CC"/>
                                    </a:solidFill>
                                    <a:latin typeface="Cambria Math" panose="02040503050406030204" pitchFamily="18" charset="0"/>
                                    <a:ea typeface="Cambria Math" panose="02040503050406030204" pitchFamily="18" charset="0"/>
                                    <a:cs typeface="Times New Roman" panose="02020603050405020304" pitchFamily="18" charset="0"/>
                                  </a:rPr>
                                </m:ctrlPr>
                              </m:radPr>
                              <m:deg/>
                              <m:e>
                                <m:r>
                                  <a:rPr lang="en-US" sz="2400" b="1" i="1" kern="100" smtClean="0">
                                    <a:solidFill>
                                      <a:srgbClr val="0000CC"/>
                                    </a:solidFill>
                                    <a:latin typeface="Cambria Math" panose="02040503050406030204" pitchFamily="18" charset="0"/>
                                    <a:ea typeface="Cambria Math" panose="02040503050406030204" pitchFamily="18" charset="0"/>
                                    <a:cs typeface="Times New Roman" panose="02020603050405020304" pitchFamily="18" charset="0"/>
                                  </a:rPr>
                                  <m:t>𝟐</m:t>
                                </m:r>
                              </m:e>
                            </m:rad>
                          </m:den>
                        </m:f>
                      </m:e>
                    </m:d>
                    <m:d>
                      <m:dPr>
                        <m:ctrlPr>
                          <a:rPr lang="en-GB" sz="2400" b="1" i="1" kern="100" smtClean="0">
                            <a:solidFill>
                              <a:srgbClr val="0000CC"/>
                            </a:solidFill>
                            <a:latin typeface="Cambria Math" panose="02040503050406030204" pitchFamily="18" charset="0"/>
                            <a:ea typeface="Cambria Math" panose="02040503050406030204" pitchFamily="18" charset="0"/>
                            <a:cs typeface="Times New Roman" panose="02020603050405020304" pitchFamily="18" charset="0"/>
                          </a:rPr>
                        </m:ctrlPr>
                      </m:dPr>
                      <m:e>
                        <m:f>
                          <m:fPr>
                            <m:ctrlPr>
                              <a:rPr lang="en-GB" sz="2400" b="1" i="1" kern="100" smtClean="0">
                                <a:solidFill>
                                  <a:srgbClr val="0000CC"/>
                                </a:solidFill>
                                <a:latin typeface="Cambria Math" panose="02040503050406030204" pitchFamily="18" charset="0"/>
                                <a:ea typeface="Cambria Math" panose="02040503050406030204" pitchFamily="18" charset="0"/>
                                <a:cs typeface="Times New Roman" panose="02020603050405020304" pitchFamily="18" charset="0"/>
                              </a:rPr>
                            </m:ctrlPr>
                          </m:fPr>
                          <m:num>
                            <m:r>
                              <a:rPr lang="en-US" sz="2400" b="1" i="1" kern="100" smtClean="0">
                                <a:solidFill>
                                  <a:srgbClr val="0000CC"/>
                                </a:solidFill>
                                <a:latin typeface="Cambria Math" panose="02040503050406030204" pitchFamily="18" charset="0"/>
                                <a:ea typeface="Cambria Math" panose="02040503050406030204" pitchFamily="18" charset="0"/>
                                <a:cs typeface="Times New Roman" panose="02020603050405020304" pitchFamily="18" charset="0"/>
                              </a:rPr>
                              <m:t>𝟏𝟓</m:t>
                            </m:r>
                          </m:num>
                          <m:den>
                            <m:rad>
                              <m:radPr>
                                <m:degHide m:val="on"/>
                                <m:ctrlPr>
                                  <a:rPr lang="en-GB" sz="2400" b="1" i="1" kern="100" smtClean="0">
                                    <a:solidFill>
                                      <a:srgbClr val="0000CC"/>
                                    </a:solidFill>
                                    <a:latin typeface="Cambria Math" panose="02040503050406030204" pitchFamily="18" charset="0"/>
                                    <a:ea typeface="Cambria Math" panose="02040503050406030204" pitchFamily="18" charset="0"/>
                                    <a:cs typeface="Times New Roman" panose="02020603050405020304" pitchFamily="18" charset="0"/>
                                  </a:rPr>
                                </m:ctrlPr>
                              </m:radPr>
                              <m:deg/>
                              <m:e>
                                <m:r>
                                  <a:rPr lang="en-US" sz="2400" b="1" i="1" kern="100" smtClean="0">
                                    <a:solidFill>
                                      <a:srgbClr val="0000CC"/>
                                    </a:solidFill>
                                    <a:latin typeface="Cambria Math" panose="02040503050406030204" pitchFamily="18" charset="0"/>
                                    <a:ea typeface="Cambria Math" panose="02040503050406030204" pitchFamily="18" charset="0"/>
                                    <a:cs typeface="Times New Roman" panose="02020603050405020304" pitchFamily="18" charset="0"/>
                                  </a:rPr>
                                  <m:t>𝟐</m:t>
                                </m:r>
                              </m:e>
                            </m:rad>
                          </m:den>
                        </m:f>
                      </m:e>
                    </m:d>
                    <m:func>
                      <m:funcPr>
                        <m:ctrlPr>
                          <a:rPr lang="en-GB" sz="2400" b="1" i="1" kern="100" smtClean="0">
                            <a:solidFill>
                              <a:srgbClr val="0000CC"/>
                            </a:solidFill>
                            <a:latin typeface="Cambria Math" panose="02040503050406030204" pitchFamily="18" charset="0"/>
                            <a:ea typeface="Cambria Math" panose="02040503050406030204" pitchFamily="18" charset="0"/>
                            <a:cs typeface="Times New Roman" panose="02020603050405020304" pitchFamily="18" charset="0"/>
                          </a:rPr>
                        </m:ctrlPr>
                      </m:funcPr>
                      <m:fName>
                        <m:r>
                          <m:rPr>
                            <m:sty m:val="p"/>
                          </m:rPr>
                          <a:rPr lang="en-GB" sz="2400" b="0" i="0" kern="100" smtClean="0">
                            <a:solidFill>
                              <a:srgbClr val="0000CC"/>
                            </a:solidFill>
                            <a:latin typeface="Cambria Math" panose="02040503050406030204" pitchFamily="18" charset="0"/>
                            <a:ea typeface="Cambria Math" panose="02040503050406030204" pitchFamily="18" charset="0"/>
                            <a:cs typeface="Times New Roman" panose="02020603050405020304" pitchFamily="18" charset="0"/>
                          </a:rPr>
                          <m:t>cos</m:t>
                        </m:r>
                      </m:fName>
                      <m:e>
                        <m:d>
                          <m:dPr>
                            <m:ctrlPr>
                              <a:rPr lang="en-GB" sz="2400" b="0" i="1" kern="100" smtClean="0">
                                <a:solidFill>
                                  <a:srgbClr val="0000CC"/>
                                </a:solidFill>
                                <a:latin typeface="Cambria Math" panose="02040503050406030204" pitchFamily="18" charset="0"/>
                                <a:ea typeface="Cambria Math" panose="02040503050406030204" pitchFamily="18" charset="0"/>
                                <a:cs typeface="Times New Roman" panose="02020603050405020304" pitchFamily="18" charset="0"/>
                              </a:rPr>
                            </m:ctrlPr>
                          </m:dPr>
                          <m:e>
                            <m:sSup>
                              <m:sSupPr>
                                <m:ctrlPr>
                                  <a:rPr lang="en-GB" sz="2400" b="0" i="1" kern="100" smtClean="0">
                                    <a:solidFill>
                                      <a:srgbClr val="0000CC"/>
                                    </a:solidFill>
                                    <a:latin typeface="Cambria Math" panose="02040503050406030204" pitchFamily="18" charset="0"/>
                                    <a:ea typeface="Cambria Math" panose="02040503050406030204" pitchFamily="18" charset="0"/>
                                    <a:cs typeface="Times New Roman" panose="02020603050405020304" pitchFamily="18" charset="0"/>
                                  </a:rPr>
                                </m:ctrlPr>
                              </m:sSupPr>
                              <m:e>
                                <m:r>
                                  <a:rPr lang="en-US" sz="2400" b="0" i="1" kern="100" smtClean="0">
                                    <a:solidFill>
                                      <a:srgbClr val="0000CC"/>
                                    </a:solidFill>
                                    <a:latin typeface="Cambria Math" panose="02040503050406030204" pitchFamily="18" charset="0"/>
                                    <a:ea typeface="Cambria Math" panose="02040503050406030204" pitchFamily="18" charset="0"/>
                                    <a:cs typeface="Times New Roman" panose="02020603050405020304" pitchFamily="18" charset="0"/>
                                  </a:rPr>
                                  <m:t>30</m:t>
                                </m:r>
                              </m:e>
                              <m:sup>
                                <m:r>
                                  <a:rPr lang="en-GB" sz="2400" b="0" i="1" kern="100" smtClean="0">
                                    <a:solidFill>
                                      <a:srgbClr val="0000CC"/>
                                    </a:solidFill>
                                    <a:latin typeface="Cambria Math" panose="02040503050406030204" pitchFamily="18" charset="0"/>
                                    <a:ea typeface="Cambria Math" panose="02040503050406030204" pitchFamily="18" charset="0"/>
                                    <a:cs typeface="Times New Roman" panose="02020603050405020304" pitchFamily="18" charset="0"/>
                                  </a:rPr>
                                  <m:t>°</m:t>
                                </m:r>
                              </m:sup>
                            </m:sSup>
                          </m:e>
                        </m:d>
                      </m:e>
                    </m:func>
                    <m:r>
                      <a:rPr lang="en-GB" sz="2400" b="1" i="1" kern="100" smtClean="0">
                        <a:solidFill>
                          <a:srgbClr val="0000CC"/>
                        </a:solidFill>
                        <a:latin typeface="Cambria Math" panose="02040503050406030204" pitchFamily="18" charset="0"/>
                        <a:ea typeface="Cambria Math" panose="02040503050406030204" pitchFamily="18" charset="0"/>
                        <a:cs typeface="Times New Roman" panose="02020603050405020304" pitchFamily="18" charset="0"/>
                      </a:rPr>
                      <m:t>+</m:t>
                    </m:r>
                    <m:d>
                      <m:dPr>
                        <m:ctrlPr>
                          <a:rPr lang="en-GB" sz="2400" b="1" i="1" kern="100" smtClean="0">
                            <a:solidFill>
                              <a:srgbClr val="0000CC"/>
                            </a:solidFill>
                            <a:latin typeface="Cambria Math" panose="02040503050406030204" pitchFamily="18" charset="0"/>
                            <a:ea typeface="Cambria Math" panose="02040503050406030204" pitchFamily="18" charset="0"/>
                            <a:cs typeface="Times New Roman" panose="02020603050405020304" pitchFamily="18" charset="0"/>
                          </a:rPr>
                        </m:ctrlPr>
                      </m:dPr>
                      <m:e>
                        <m:r>
                          <a:rPr lang="en-US" sz="2400" b="1" i="1" kern="100" smtClean="0">
                            <a:solidFill>
                              <a:srgbClr val="0000CC"/>
                            </a:solidFill>
                            <a:latin typeface="Cambria Math" panose="02040503050406030204" pitchFamily="18" charset="0"/>
                            <a:ea typeface="Cambria Math" panose="02040503050406030204" pitchFamily="18" charset="0"/>
                            <a:cs typeface="Times New Roman" panose="02020603050405020304" pitchFamily="18" charset="0"/>
                          </a:rPr>
                          <m:t>𝟎</m:t>
                        </m:r>
                      </m:e>
                    </m:d>
                    <m:d>
                      <m:dPr>
                        <m:ctrlPr>
                          <a:rPr lang="en-GB" sz="2400" b="1" i="1" kern="100" smtClean="0">
                            <a:solidFill>
                              <a:srgbClr val="0000CC"/>
                            </a:solidFill>
                            <a:latin typeface="Cambria Math" panose="02040503050406030204" pitchFamily="18" charset="0"/>
                            <a:ea typeface="Cambria Math" panose="02040503050406030204" pitchFamily="18" charset="0"/>
                            <a:cs typeface="Times New Roman" panose="02020603050405020304" pitchFamily="18" charset="0"/>
                          </a:rPr>
                        </m:ctrlPr>
                      </m:dPr>
                      <m:e>
                        <m:f>
                          <m:fPr>
                            <m:ctrlPr>
                              <a:rPr lang="en-GB" sz="2400" b="1" i="1" kern="100" smtClean="0">
                                <a:solidFill>
                                  <a:srgbClr val="0000CC"/>
                                </a:solidFill>
                                <a:latin typeface="Cambria Math" panose="02040503050406030204" pitchFamily="18" charset="0"/>
                                <a:ea typeface="Cambria Math" panose="02040503050406030204" pitchFamily="18" charset="0"/>
                                <a:cs typeface="Times New Roman" panose="02020603050405020304" pitchFamily="18" charset="0"/>
                              </a:rPr>
                            </m:ctrlPr>
                          </m:fPr>
                          <m:num>
                            <m:r>
                              <a:rPr lang="en-US" sz="2400" b="1" i="1" kern="100" smtClean="0">
                                <a:solidFill>
                                  <a:srgbClr val="0000CC"/>
                                </a:solidFill>
                                <a:latin typeface="Cambria Math" panose="02040503050406030204" pitchFamily="18" charset="0"/>
                                <a:ea typeface="Cambria Math" panose="02040503050406030204" pitchFamily="18" charset="0"/>
                                <a:cs typeface="Times New Roman" panose="02020603050405020304" pitchFamily="18" charset="0"/>
                              </a:rPr>
                              <m:t>𝟔</m:t>
                            </m:r>
                          </m:num>
                          <m:den>
                            <m:rad>
                              <m:radPr>
                                <m:degHide m:val="on"/>
                                <m:ctrlPr>
                                  <a:rPr lang="en-GB" sz="2400" b="1" i="1" kern="100" smtClean="0">
                                    <a:solidFill>
                                      <a:srgbClr val="0000CC"/>
                                    </a:solidFill>
                                    <a:latin typeface="Cambria Math" panose="02040503050406030204" pitchFamily="18" charset="0"/>
                                    <a:ea typeface="Cambria Math" panose="02040503050406030204" pitchFamily="18" charset="0"/>
                                    <a:cs typeface="Times New Roman" panose="02020603050405020304" pitchFamily="18" charset="0"/>
                                  </a:rPr>
                                </m:ctrlPr>
                              </m:radPr>
                              <m:deg/>
                              <m:e>
                                <m:r>
                                  <a:rPr lang="en-US" sz="2400" b="1" i="1" kern="100" smtClean="0">
                                    <a:solidFill>
                                      <a:srgbClr val="0000CC"/>
                                    </a:solidFill>
                                    <a:latin typeface="Cambria Math" panose="02040503050406030204" pitchFamily="18" charset="0"/>
                                    <a:ea typeface="Cambria Math" panose="02040503050406030204" pitchFamily="18" charset="0"/>
                                    <a:cs typeface="Times New Roman" panose="02020603050405020304" pitchFamily="18" charset="0"/>
                                  </a:rPr>
                                  <m:t>𝟐</m:t>
                                </m:r>
                              </m:e>
                            </m:rad>
                          </m:den>
                        </m:f>
                      </m:e>
                    </m:d>
                    <m:func>
                      <m:funcPr>
                        <m:ctrlPr>
                          <a:rPr lang="en-GB" sz="2400" b="1" i="1" kern="100" smtClean="0">
                            <a:solidFill>
                              <a:srgbClr val="0000CC"/>
                            </a:solidFill>
                            <a:latin typeface="Cambria Math" panose="02040503050406030204" pitchFamily="18" charset="0"/>
                            <a:ea typeface="Cambria Math" panose="02040503050406030204" pitchFamily="18" charset="0"/>
                            <a:cs typeface="Times New Roman" panose="02020603050405020304" pitchFamily="18" charset="0"/>
                          </a:rPr>
                        </m:ctrlPr>
                      </m:funcPr>
                      <m:fName>
                        <m:r>
                          <m:rPr>
                            <m:sty m:val="p"/>
                          </m:rPr>
                          <a:rPr lang="en-GB" sz="2400" b="0" i="0" kern="100" smtClean="0">
                            <a:solidFill>
                              <a:srgbClr val="0000CC"/>
                            </a:solidFill>
                            <a:latin typeface="Cambria Math" panose="02040503050406030204" pitchFamily="18" charset="0"/>
                            <a:ea typeface="Cambria Math" panose="02040503050406030204" pitchFamily="18" charset="0"/>
                            <a:cs typeface="Times New Roman" panose="02020603050405020304" pitchFamily="18" charset="0"/>
                          </a:rPr>
                          <m:t>cos</m:t>
                        </m:r>
                      </m:fName>
                      <m:e>
                        <m:sSup>
                          <m:sSupPr>
                            <m:ctrlPr>
                              <a:rPr lang="en-GB" sz="2400" b="0" i="1" kern="100" smtClean="0">
                                <a:solidFill>
                                  <a:srgbClr val="0000CC"/>
                                </a:solidFill>
                                <a:latin typeface="Cambria Math" panose="02040503050406030204" pitchFamily="18" charset="0"/>
                                <a:ea typeface="Cambria Math" panose="02040503050406030204" pitchFamily="18" charset="0"/>
                                <a:cs typeface="Times New Roman" panose="02020603050405020304" pitchFamily="18" charset="0"/>
                              </a:rPr>
                            </m:ctrlPr>
                          </m:sSupPr>
                          <m:e>
                            <m:r>
                              <a:rPr lang="en-US" sz="2400" b="0" i="1" kern="100" smtClean="0">
                                <a:solidFill>
                                  <a:srgbClr val="0000CC"/>
                                </a:solidFill>
                                <a:latin typeface="Cambria Math" panose="02040503050406030204" pitchFamily="18" charset="0"/>
                                <a:ea typeface="Cambria Math" panose="02040503050406030204" pitchFamily="18" charset="0"/>
                                <a:cs typeface="Times New Roman" panose="02020603050405020304" pitchFamily="18" charset="0"/>
                              </a:rPr>
                              <m:t>45</m:t>
                            </m:r>
                          </m:e>
                          <m:sup>
                            <m:r>
                              <a:rPr lang="en-GB" sz="2400" b="0" i="1" kern="100" smtClean="0">
                                <a:solidFill>
                                  <a:srgbClr val="0000CC"/>
                                </a:solidFill>
                                <a:latin typeface="Cambria Math" panose="02040503050406030204" pitchFamily="18" charset="0"/>
                                <a:ea typeface="Cambria Math" panose="02040503050406030204" pitchFamily="18" charset="0"/>
                                <a:cs typeface="Times New Roman" panose="02020603050405020304" pitchFamily="18" charset="0"/>
                              </a:rPr>
                              <m:t>°</m:t>
                            </m:r>
                          </m:sup>
                        </m:sSup>
                      </m:e>
                    </m:func>
                    <m:r>
                      <a:rPr lang="en-GB" sz="2400" b="1" i="1" kern="100" smtClean="0">
                        <a:solidFill>
                          <a:srgbClr val="0000CC"/>
                        </a:solidFill>
                        <a:latin typeface="Cambria Math" panose="02040503050406030204" pitchFamily="18" charset="0"/>
                        <a:ea typeface="Cambria Math" panose="02040503050406030204" pitchFamily="18" charset="0"/>
                        <a:cs typeface="Times New Roman" panose="02020603050405020304" pitchFamily="18" charset="0"/>
                      </a:rPr>
                      <m:t>+</m:t>
                    </m:r>
                    <m:d>
                      <m:dPr>
                        <m:ctrlPr>
                          <a:rPr lang="en-GB" sz="2400" b="1" i="1" kern="100" smtClean="0">
                            <a:solidFill>
                              <a:srgbClr val="0000CC"/>
                            </a:solidFill>
                            <a:latin typeface="Cambria Math" panose="02040503050406030204" pitchFamily="18" charset="0"/>
                            <a:ea typeface="Cambria Math" panose="02040503050406030204" pitchFamily="18" charset="0"/>
                            <a:cs typeface="Times New Roman" panose="02020603050405020304" pitchFamily="18" charset="0"/>
                          </a:rPr>
                        </m:ctrlPr>
                      </m:dPr>
                      <m:e>
                        <m:r>
                          <a:rPr lang="en-US" sz="2400" b="1" i="1" kern="100" smtClean="0">
                            <a:solidFill>
                              <a:srgbClr val="0000CC"/>
                            </a:solidFill>
                            <a:latin typeface="Cambria Math" panose="02040503050406030204" pitchFamily="18" charset="0"/>
                            <a:ea typeface="Cambria Math" panose="02040503050406030204" pitchFamily="18" charset="0"/>
                            <a:cs typeface="Times New Roman" panose="02020603050405020304" pitchFamily="18" charset="0"/>
                          </a:rPr>
                          <m:t>𝟎</m:t>
                        </m:r>
                      </m:e>
                    </m:d>
                    <m:d>
                      <m:dPr>
                        <m:ctrlPr>
                          <a:rPr lang="en-GB" sz="2400" b="1" i="1" kern="100" smtClean="0">
                            <a:solidFill>
                              <a:srgbClr val="0000CC"/>
                            </a:solidFill>
                            <a:latin typeface="Cambria Math" panose="02040503050406030204" pitchFamily="18" charset="0"/>
                            <a:ea typeface="Cambria Math" panose="02040503050406030204" pitchFamily="18" charset="0"/>
                            <a:cs typeface="Times New Roman" panose="02020603050405020304" pitchFamily="18" charset="0"/>
                          </a:rPr>
                        </m:ctrlPr>
                      </m:dPr>
                      <m:e>
                        <m:f>
                          <m:fPr>
                            <m:ctrlPr>
                              <a:rPr lang="en-GB" sz="2400" b="1" i="1" kern="100" smtClean="0">
                                <a:solidFill>
                                  <a:srgbClr val="0000CC"/>
                                </a:solidFill>
                                <a:latin typeface="Cambria Math" panose="02040503050406030204" pitchFamily="18" charset="0"/>
                                <a:ea typeface="Cambria Math" panose="02040503050406030204" pitchFamily="18" charset="0"/>
                                <a:cs typeface="Times New Roman" panose="02020603050405020304" pitchFamily="18" charset="0"/>
                              </a:rPr>
                            </m:ctrlPr>
                          </m:fPr>
                          <m:num>
                            <m:r>
                              <a:rPr lang="en-US" sz="2400" b="1" i="1" kern="100" smtClean="0">
                                <a:solidFill>
                                  <a:srgbClr val="0000CC"/>
                                </a:solidFill>
                                <a:latin typeface="Cambria Math" panose="02040503050406030204" pitchFamily="18" charset="0"/>
                                <a:ea typeface="Cambria Math" panose="02040503050406030204" pitchFamily="18" charset="0"/>
                                <a:cs typeface="Times New Roman" panose="02020603050405020304" pitchFamily="18" charset="0"/>
                              </a:rPr>
                              <m:t>𝟐</m:t>
                            </m:r>
                          </m:num>
                          <m:den>
                            <m:rad>
                              <m:radPr>
                                <m:degHide m:val="on"/>
                                <m:ctrlPr>
                                  <a:rPr lang="en-GB" sz="2400" b="1" i="1" kern="100" smtClean="0">
                                    <a:solidFill>
                                      <a:srgbClr val="0000CC"/>
                                    </a:solidFill>
                                    <a:latin typeface="Cambria Math" panose="02040503050406030204" pitchFamily="18" charset="0"/>
                                    <a:ea typeface="Cambria Math" panose="02040503050406030204" pitchFamily="18" charset="0"/>
                                    <a:cs typeface="Times New Roman" panose="02020603050405020304" pitchFamily="18" charset="0"/>
                                  </a:rPr>
                                </m:ctrlPr>
                              </m:radPr>
                              <m:deg/>
                              <m:e>
                                <m:r>
                                  <a:rPr lang="en-US" sz="2400" b="1" i="1" kern="100" smtClean="0">
                                    <a:solidFill>
                                      <a:srgbClr val="0000CC"/>
                                    </a:solidFill>
                                    <a:latin typeface="Cambria Math" panose="02040503050406030204" pitchFamily="18" charset="0"/>
                                    <a:ea typeface="Cambria Math" panose="02040503050406030204" pitchFamily="18" charset="0"/>
                                    <a:cs typeface="Times New Roman" panose="02020603050405020304" pitchFamily="18" charset="0"/>
                                  </a:rPr>
                                  <m:t>𝟐</m:t>
                                </m:r>
                              </m:e>
                            </m:rad>
                          </m:den>
                        </m:f>
                      </m:e>
                    </m:d>
                    <m:func>
                      <m:funcPr>
                        <m:ctrlPr>
                          <a:rPr lang="en-GB" sz="2400" b="1" i="1" kern="100" smtClean="0">
                            <a:solidFill>
                              <a:srgbClr val="0000CC"/>
                            </a:solidFill>
                            <a:latin typeface="Cambria Math" panose="02040503050406030204" pitchFamily="18" charset="0"/>
                            <a:ea typeface="Cambria Math" panose="02040503050406030204" pitchFamily="18" charset="0"/>
                            <a:cs typeface="Times New Roman" panose="02020603050405020304" pitchFamily="18" charset="0"/>
                          </a:rPr>
                        </m:ctrlPr>
                      </m:funcPr>
                      <m:fName>
                        <m:r>
                          <m:rPr>
                            <m:sty m:val="p"/>
                          </m:rPr>
                          <a:rPr lang="en-GB" sz="2400" b="0" i="0" kern="100" smtClean="0">
                            <a:solidFill>
                              <a:srgbClr val="0000CC"/>
                            </a:solidFill>
                            <a:latin typeface="Cambria Math" panose="02040503050406030204" pitchFamily="18" charset="0"/>
                            <a:ea typeface="Cambria Math" panose="02040503050406030204" pitchFamily="18" charset="0"/>
                            <a:cs typeface="Times New Roman" panose="02020603050405020304" pitchFamily="18" charset="0"/>
                          </a:rPr>
                          <m:t>cos</m:t>
                        </m:r>
                      </m:fName>
                      <m:e>
                        <m:sSup>
                          <m:sSupPr>
                            <m:ctrlPr>
                              <a:rPr lang="en-GB" sz="2400" b="0" i="1" kern="100" smtClean="0">
                                <a:solidFill>
                                  <a:srgbClr val="0000CC"/>
                                </a:solidFill>
                                <a:latin typeface="Cambria Math" panose="02040503050406030204" pitchFamily="18" charset="0"/>
                                <a:ea typeface="Cambria Math" panose="02040503050406030204" pitchFamily="18" charset="0"/>
                                <a:cs typeface="Times New Roman" panose="02020603050405020304" pitchFamily="18" charset="0"/>
                              </a:rPr>
                            </m:ctrlPr>
                          </m:sSupPr>
                          <m:e>
                            <m:r>
                              <a:rPr lang="en-US" sz="2400" b="0" i="1" kern="100" smtClean="0">
                                <a:solidFill>
                                  <a:srgbClr val="0000CC"/>
                                </a:solidFill>
                                <a:latin typeface="Cambria Math" panose="02040503050406030204" pitchFamily="18" charset="0"/>
                                <a:ea typeface="Cambria Math" panose="02040503050406030204" pitchFamily="18" charset="0"/>
                                <a:cs typeface="Times New Roman" panose="02020603050405020304" pitchFamily="18" charset="0"/>
                              </a:rPr>
                              <m:t>60</m:t>
                            </m:r>
                          </m:e>
                          <m:sup>
                            <m:r>
                              <a:rPr lang="en-GB" sz="2400" b="0" i="1" kern="100" smtClean="0">
                                <a:solidFill>
                                  <a:srgbClr val="0000CC"/>
                                </a:solidFill>
                                <a:latin typeface="Cambria Math" panose="02040503050406030204" pitchFamily="18" charset="0"/>
                                <a:ea typeface="Cambria Math" panose="02040503050406030204" pitchFamily="18" charset="0"/>
                                <a:cs typeface="Times New Roman" panose="02020603050405020304" pitchFamily="18" charset="0"/>
                              </a:rPr>
                              <m:t>°</m:t>
                            </m:r>
                          </m:sup>
                        </m:sSup>
                      </m:e>
                    </m:func>
                  </m:oMath>
                </a14:m>
                <a:endParaRPr lang="en-GB" sz="2400" b="1" kern="100" dirty="0">
                  <a:solidFill>
                    <a:srgbClr val="FF0000"/>
                  </a:solidFill>
                  <a:latin typeface="Century Gothic" panose="020B0502020202020204" pitchFamily="34" charset="0"/>
                  <a:ea typeface="Calibri" panose="020F0502020204030204" pitchFamily="34" charset="0"/>
                  <a:cs typeface="Times New Roman" panose="02020603050405020304" pitchFamily="18" charset="0"/>
                </a:endParaRPr>
              </a:p>
            </p:txBody>
          </p:sp>
        </mc:Choice>
        <mc:Fallback xmlns="">
          <p:sp>
            <p:nvSpPr>
              <p:cNvPr id="6" name="TextBox 5">
                <a:extLst>
                  <a:ext uri="{FF2B5EF4-FFF2-40B4-BE49-F238E27FC236}">
                    <a16:creationId xmlns:a16="http://schemas.microsoft.com/office/drawing/2014/main" id="{6BAA1F11-5BEF-4D80-964F-A7332E36BFA0}"/>
                  </a:ext>
                </a:extLst>
              </p:cNvPr>
              <p:cNvSpPr txBox="1">
                <a:spLocks noRot="1" noChangeAspect="1" noMove="1" noResize="1" noEditPoints="1" noAdjustHandles="1" noChangeArrowheads="1" noChangeShapeType="1" noTextEdit="1"/>
              </p:cNvSpPr>
              <p:nvPr/>
            </p:nvSpPr>
            <p:spPr>
              <a:xfrm>
                <a:off x="207523" y="1383437"/>
                <a:ext cx="11507823" cy="5500801"/>
              </a:xfrm>
              <a:prstGeom prst="rect">
                <a:avLst/>
              </a:prstGeom>
              <a:blipFill>
                <a:blip r:embed="rId3"/>
                <a:stretch>
                  <a:fillRect l="-635" t="-774" r="-1376"/>
                </a:stretch>
              </a:blipFill>
              <a:ln>
                <a:solidFill>
                  <a:srgbClr val="FF0066"/>
                </a:solidFill>
              </a:ln>
            </p:spPr>
            <p:txBody>
              <a:bodyPr/>
              <a:lstStyle/>
              <a:p>
                <a:r>
                  <a:rPr lang="en-US">
                    <a:noFill/>
                  </a:rPr>
                  <a:t> </a:t>
                </a:r>
              </a:p>
            </p:txBody>
          </p:sp>
        </mc:Fallback>
      </mc:AlternateContent>
    </p:spTree>
    <p:extLst>
      <p:ext uri="{BB962C8B-B14F-4D97-AF65-F5344CB8AC3E}">
        <p14:creationId xmlns:p14="http://schemas.microsoft.com/office/powerpoint/2010/main" val="360544360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6">
            <a:extLst>
              <a:ext uri="{FF2B5EF4-FFF2-40B4-BE49-F238E27FC236}">
                <a16:creationId xmlns:a16="http://schemas.microsoft.com/office/drawing/2014/main" id="{56080804-F19F-41A7-8595-943961648C5E}"/>
              </a:ext>
            </a:extLst>
          </p:cNvPr>
          <p:cNvSpPr>
            <a:spLocks noGrp="1"/>
          </p:cNvSpPr>
          <p:nvPr>
            <p:ph type="sldNum" sz="quarter" idx="12"/>
          </p:nvPr>
        </p:nvSpPr>
        <p:spPr>
          <a:xfrm>
            <a:off x="8610600" y="6441692"/>
            <a:ext cx="2743200" cy="370027"/>
          </a:xfrm>
        </p:spPr>
        <p:txBody>
          <a:bodyPr/>
          <a:lstStyle/>
          <a:p>
            <a:fld id="{F4801FD5-11B4-DE43-ACA2-E85EEB9A6F9C}" type="slidenum">
              <a:rPr lang="en-US" smtClean="0">
                <a:latin typeface="Garamond" panose="02020404030301010803" pitchFamily="18" charset="0"/>
              </a:rPr>
              <a:t>40</a:t>
            </a:fld>
            <a:endParaRPr lang="en-US">
              <a:latin typeface="Garamond" panose="02020404030301010803" pitchFamily="18" charset="0"/>
            </a:endParaRPr>
          </a:p>
        </p:txBody>
      </p:sp>
      <p:sp>
        <p:nvSpPr>
          <p:cNvPr id="5" name="Title 1">
            <a:extLst>
              <a:ext uri="{FF2B5EF4-FFF2-40B4-BE49-F238E27FC236}">
                <a16:creationId xmlns:a16="http://schemas.microsoft.com/office/drawing/2014/main" id="{4710AE4B-0DB8-4451-B9E4-10BAE11B4D3A}"/>
              </a:ext>
            </a:extLst>
          </p:cNvPr>
          <p:cNvSpPr>
            <a:spLocks noGrp="1"/>
          </p:cNvSpPr>
          <p:nvPr>
            <p:ph type="title"/>
          </p:nvPr>
        </p:nvSpPr>
        <p:spPr>
          <a:xfrm>
            <a:off x="475035" y="138356"/>
            <a:ext cx="10972800" cy="1115558"/>
          </a:xfrm>
        </p:spPr>
        <p:txBody>
          <a:bodyPr>
            <a:noAutofit/>
          </a:bodyPr>
          <a:lstStyle/>
          <a:p>
            <a:pPr algn="ctr"/>
            <a:r>
              <a:rPr lang="en-US" sz="3200" b="1" u="sng" dirty="0">
                <a:solidFill>
                  <a:srgbClr val="FF3386"/>
                </a:solidFill>
                <a:latin typeface="Century Gothic" panose="020B0502020202020204" pitchFamily="34" charset="0"/>
                <a:cs typeface="Helvetica"/>
              </a:rPr>
              <a:t>POWER COMPUTATION FOR SINUSOIDAL SOURCE AND LINEAR LOAD</a:t>
            </a:r>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6BAA1F11-5BEF-4D80-964F-A7332E36BFA0}"/>
                  </a:ext>
                </a:extLst>
              </p:cNvPr>
              <p:cNvSpPr txBox="1"/>
              <p:nvPr/>
            </p:nvSpPr>
            <p:spPr>
              <a:xfrm>
                <a:off x="207523" y="1383437"/>
                <a:ext cx="11507823" cy="5093702"/>
              </a:xfrm>
              <a:prstGeom prst="rect">
                <a:avLst/>
              </a:prstGeom>
              <a:noFill/>
              <a:ln>
                <a:solidFill>
                  <a:srgbClr val="FF0066"/>
                </a:solidFill>
              </a:ln>
            </p:spPr>
            <p:txBody>
              <a:bodyPr wrap="square" rtlCol="0">
                <a:spAutoFit/>
              </a:bodyPr>
              <a:lstStyle/>
              <a:p>
                <a:pPr marL="342900" indent="-342900">
                  <a:buClr>
                    <a:schemeClr val="accent2"/>
                  </a:buClr>
                  <a:buFont typeface="Arial" panose="020B0604020202020204" pitchFamily="34" charset="0"/>
                  <a:buChar char="•"/>
                </a:pPr>
                <a:r>
                  <a:rPr lang="en-GB" sz="2400" b="1" kern="100" dirty="0">
                    <a:solidFill>
                      <a:srgbClr val="0000CC"/>
                    </a:solidFill>
                    <a:latin typeface="Century Gothic" panose="020B0502020202020204" pitchFamily="34" charset="0"/>
                    <a:ea typeface="Calibri" panose="020F0502020204030204" pitchFamily="34" charset="0"/>
                    <a:cs typeface="Times New Roman" panose="02020603050405020304" pitchFamily="18" charset="0"/>
                  </a:rPr>
                  <a:t>P =</a:t>
                </a:r>
                <a14:m>
                  <m:oMath xmlns:m="http://schemas.openxmlformats.org/officeDocument/2006/math">
                    <m:d>
                      <m:dPr>
                        <m:ctrlPr>
                          <a:rPr lang="en-GB" sz="2400" b="1" i="1" kern="100" smtClean="0">
                            <a:solidFill>
                              <a:srgbClr val="0000CC"/>
                            </a:solidFill>
                            <a:latin typeface="Cambria Math" panose="02040503050406030204" pitchFamily="18" charset="0"/>
                            <a:ea typeface="Calibri" panose="020F0502020204030204" pitchFamily="34" charset="0"/>
                            <a:cs typeface="Times New Roman" panose="02020603050405020304" pitchFamily="18" charset="0"/>
                          </a:rPr>
                        </m:ctrlPr>
                      </m:dPr>
                      <m:e>
                        <m:f>
                          <m:fPr>
                            <m:ctrlPr>
                              <a:rPr lang="en-GB" sz="2400" b="1" i="1" kern="100" smtClean="0">
                                <a:solidFill>
                                  <a:srgbClr val="0000CC"/>
                                </a:solidFill>
                                <a:latin typeface="Cambria Math" panose="02040503050406030204" pitchFamily="18" charset="0"/>
                                <a:ea typeface="Calibri" panose="020F0502020204030204" pitchFamily="34" charset="0"/>
                                <a:cs typeface="Times New Roman" panose="02020603050405020304" pitchFamily="18" charset="0"/>
                              </a:rPr>
                            </m:ctrlPr>
                          </m:fPr>
                          <m:num>
                            <m:r>
                              <a:rPr lang="en-US" sz="2400" b="1" i="1" kern="100" smtClean="0">
                                <a:solidFill>
                                  <a:srgbClr val="0000CC"/>
                                </a:solidFill>
                                <a:latin typeface="Cambria Math" panose="02040503050406030204" pitchFamily="18" charset="0"/>
                                <a:ea typeface="Calibri" panose="020F0502020204030204" pitchFamily="34" charset="0"/>
                                <a:cs typeface="Times New Roman" panose="02020603050405020304" pitchFamily="18" charset="0"/>
                              </a:rPr>
                              <m:t>𝟏𝟎𝟎</m:t>
                            </m:r>
                          </m:num>
                          <m:den>
                            <m:rad>
                              <m:radPr>
                                <m:degHide m:val="on"/>
                                <m:ctrlPr>
                                  <a:rPr lang="en-GB" sz="2400" b="1" i="1" kern="100" smtClean="0">
                                    <a:solidFill>
                                      <a:srgbClr val="0000CC"/>
                                    </a:solidFill>
                                    <a:latin typeface="Cambria Math" panose="02040503050406030204" pitchFamily="18" charset="0"/>
                                    <a:ea typeface="Calibri" panose="020F0502020204030204" pitchFamily="34" charset="0"/>
                                    <a:cs typeface="Times New Roman" panose="02020603050405020304" pitchFamily="18" charset="0"/>
                                  </a:rPr>
                                </m:ctrlPr>
                              </m:radPr>
                              <m:deg/>
                              <m:e>
                                <m:r>
                                  <a:rPr lang="en-US" sz="2400" b="1" i="1" kern="100" smtClean="0">
                                    <a:solidFill>
                                      <a:srgbClr val="0000CC"/>
                                    </a:solidFill>
                                    <a:latin typeface="Cambria Math" panose="02040503050406030204" pitchFamily="18" charset="0"/>
                                    <a:ea typeface="Calibri" panose="020F0502020204030204" pitchFamily="34" charset="0"/>
                                    <a:cs typeface="Times New Roman" panose="02020603050405020304" pitchFamily="18" charset="0"/>
                                  </a:rPr>
                                  <m:t>𝟐</m:t>
                                </m:r>
                              </m:e>
                            </m:rad>
                          </m:den>
                        </m:f>
                      </m:e>
                    </m:d>
                    <m:d>
                      <m:dPr>
                        <m:ctrlPr>
                          <a:rPr lang="en-GB" sz="2400" b="1" i="1" kern="100" smtClean="0">
                            <a:solidFill>
                              <a:srgbClr val="0000CC"/>
                            </a:solidFill>
                            <a:latin typeface="Cambria Math" panose="02040503050406030204" pitchFamily="18" charset="0"/>
                            <a:ea typeface="Calibri" panose="020F0502020204030204" pitchFamily="34" charset="0"/>
                            <a:cs typeface="Times New Roman" panose="02020603050405020304" pitchFamily="18" charset="0"/>
                          </a:rPr>
                        </m:ctrlPr>
                      </m:dPr>
                      <m:e>
                        <m:f>
                          <m:fPr>
                            <m:ctrlPr>
                              <a:rPr lang="en-GB" sz="2400" b="1" i="1" kern="100" smtClean="0">
                                <a:solidFill>
                                  <a:srgbClr val="0000CC"/>
                                </a:solidFill>
                                <a:latin typeface="Cambria Math" panose="02040503050406030204" pitchFamily="18" charset="0"/>
                                <a:ea typeface="Calibri" panose="020F0502020204030204" pitchFamily="34" charset="0"/>
                                <a:cs typeface="Times New Roman" panose="02020603050405020304" pitchFamily="18" charset="0"/>
                              </a:rPr>
                            </m:ctrlPr>
                          </m:fPr>
                          <m:num>
                            <m:r>
                              <a:rPr lang="en-US" sz="2400" b="1" i="1" kern="100" smtClean="0">
                                <a:solidFill>
                                  <a:srgbClr val="0000CC"/>
                                </a:solidFill>
                                <a:latin typeface="Cambria Math" panose="02040503050406030204" pitchFamily="18" charset="0"/>
                                <a:ea typeface="Calibri" panose="020F0502020204030204" pitchFamily="34" charset="0"/>
                                <a:cs typeface="Times New Roman" panose="02020603050405020304" pitchFamily="18" charset="0"/>
                              </a:rPr>
                              <m:t>𝟏𝟓</m:t>
                            </m:r>
                          </m:num>
                          <m:den>
                            <m:rad>
                              <m:radPr>
                                <m:degHide m:val="on"/>
                                <m:ctrlPr>
                                  <a:rPr lang="en-GB" sz="2400" b="1" i="1" kern="100" smtClean="0">
                                    <a:solidFill>
                                      <a:srgbClr val="0000CC"/>
                                    </a:solidFill>
                                    <a:latin typeface="Cambria Math" panose="02040503050406030204" pitchFamily="18" charset="0"/>
                                    <a:ea typeface="Calibri" panose="020F0502020204030204" pitchFamily="34" charset="0"/>
                                    <a:cs typeface="Times New Roman" panose="02020603050405020304" pitchFamily="18" charset="0"/>
                                  </a:rPr>
                                </m:ctrlPr>
                              </m:radPr>
                              <m:deg/>
                              <m:e>
                                <m:r>
                                  <a:rPr lang="en-US" sz="2400" b="1" i="1" kern="100" smtClean="0">
                                    <a:solidFill>
                                      <a:srgbClr val="0000CC"/>
                                    </a:solidFill>
                                    <a:latin typeface="Cambria Math" panose="02040503050406030204" pitchFamily="18" charset="0"/>
                                    <a:ea typeface="Calibri" panose="020F0502020204030204" pitchFamily="34" charset="0"/>
                                    <a:cs typeface="Times New Roman" panose="02020603050405020304" pitchFamily="18" charset="0"/>
                                  </a:rPr>
                                  <m:t>𝟐</m:t>
                                </m:r>
                              </m:e>
                            </m:rad>
                          </m:den>
                        </m:f>
                      </m:e>
                    </m:d>
                    <m:func>
                      <m:funcPr>
                        <m:ctrlPr>
                          <a:rPr lang="en-GB" sz="2400" b="1" i="1" kern="100" smtClean="0">
                            <a:solidFill>
                              <a:srgbClr val="0000CC"/>
                            </a:solidFill>
                            <a:latin typeface="Cambria Math" panose="02040503050406030204" pitchFamily="18" charset="0"/>
                            <a:ea typeface="Calibri" panose="020F0502020204030204" pitchFamily="34" charset="0"/>
                            <a:cs typeface="Times New Roman" panose="02020603050405020304" pitchFamily="18" charset="0"/>
                          </a:rPr>
                        </m:ctrlPr>
                      </m:funcPr>
                      <m:fName>
                        <m:r>
                          <m:rPr>
                            <m:sty m:val="p"/>
                          </m:rPr>
                          <a:rPr lang="en-GB" sz="2400" b="0" i="0" kern="100" smtClean="0">
                            <a:solidFill>
                              <a:srgbClr val="0000CC"/>
                            </a:solidFill>
                            <a:latin typeface="Cambria Math" panose="02040503050406030204" pitchFamily="18" charset="0"/>
                            <a:ea typeface="Calibri" panose="020F0502020204030204" pitchFamily="34" charset="0"/>
                            <a:cs typeface="Times New Roman" panose="02020603050405020304" pitchFamily="18" charset="0"/>
                          </a:rPr>
                          <m:t>cos</m:t>
                        </m:r>
                      </m:fName>
                      <m:e>
                        <m:sSup>
                          <m:sSupPr>
                            <m:ctrlPr>
                              <a:rPr lang="en-GB" sz="2400" b="0" i="1" kern="100" smtClean="0">
                                <a:solidFill>
                                  <a:srgbClr val="0000CC"/>
                                </a:solidFill>
                                <a:latin typeface="Cambria Math" panose="02040503050406030204" pitchFamily="18" charset="0"/>
                                <a:ea typeface="Calibri" panose="020F0502020204030204" pitchFamily="34" charset="0"/>
                                <a:cs typeface="Times New Roman" panose="02020603050405020304" pitchFamily="18" charset="0"/>
                              </a:rPr>
                            </m:ctrlPr>
                          </m:sSupPr>
                          <m:e>
                            <m:r>
                              <a:rPr lang="en-US" sz="2400" b="0" i="1" kern="100" smtClean="0">
                                <a:solidFill>
                                  <a:srgbClr val="0000CC"/>
                                </a:solidFill>
                                <a:latin typeface="Cambria Math" panose="02040503050406030204" pitchFamily="18" charset="0"/>
                                <a:ea typeface="Calibri" panose="020F0502020204030204" pitchFamily="34" charset="0"/>
                                <a:cs typeface="Times New Roman" panose="02020603050405020304" pitchFamily="18" charset="0"/>
                              </a:rPr>
                              <m:t>30</m:t>
                            </m:r>
                          </m:e>
                          <m:sup>
                            <m:r>
                              <a:rPr lang="en-GB" sz="2400" b="0" i="1" kern="100" smtClean="0">
                                <a:solidFill>
                                  <a:srgbClr val="0000CC"/>
                                </a:solidFill>
                                <a:latin typeface="Cambria Math" panose="02040503050406030204" pitchFamily="18" charset="0"/>
                                <a:ea typeface="Cambria Math" panose="02040503050406030204" pitchFamily="18" charset="0"/>
                                <a:cs typeface="Times New Roman" panose="02020603050405020304" pitchFamily="18" charset="0"/>
                              </a:rPr>
                              <m:t>°</m:t>
                            </m:r>
                          </m:sup>
                        </m:sSup>
                      </m:e>
                    </m:func>
                  </m:oMath>
                </a14:m>
                <a:r>
                  <a:rPr lang="en-GB" sz="2400" b="1" kern="100" dirty="0">
                    <a:solidFill>
                      <a:srgbClr val="0000CC"/>
                    </a:solidFill>
                    <a:latin typeface="Century Gothic" panose="020B0502020202020204" pitchFamily="34" charset="0"/>
                    <a:ea typeface="Calibri" panose="020F0502020204030204" pitchFamily="34" charset="0"/>
                    <a:cs typeface="Times New Roman" panose="02020603050405020304" pitchFamily="18" charset="0"/>
                  </a:rPr>
                  <a:t> = 650 W</a:t>
                </a:r>
              </a:p>
              <a:p>
                <a:pPr marL="342900" indent="-342900">
                  <a:buClr>
                    <a:schemeClr val="accent2"/>
                  </a:buClr>
                  <a:buFont typeface="Arial" panose="020B0604020202020204" pitchFamily="34" charset="0"/>
                  <a:buChar char="•"/>
                </a:pPr>
                <a:endParaRPr lang="en-GB" sz="2400" b="1" kern="100" dirty="0">
                  <a:solidFill>
                    <a:srgbClr val="0000CC"/>
                  </a:solidFill>
                  <a:latin typeface="Century Gothic" panose="020B0502020202020204" pitchFamily="34" charset="0"/>
                  <a:ea typeface="Calibri" panose="020F0502020204030204" pitchFamily="34" charset="0"/>
                  <a:cs typeface="Times New Roman" panose="02020603050405020304" pitchFamily="18" charset="0"/>
                </a:endParaRPr>
              </a:p>
              <a:p>
                <a:pPr>
                  <a:buClr>
                    <a:schemeClr val="accent2"/>
                  </a:buClr>
                </a:pPr>
                <a:r>
                  <a:rPr lang="en-GB" sz="2400" b="1" kern="100" dirty="0">
                    <a:solidFill>
                      <a:srgbClr val="0000CC"/>
                    </a:solidFill>
                    <a:latin typeface="Century Gothic" panose="020B0502020202020204" pitchFamily="34" charset="0"/>
                    <a:ea typeface="Calibri" panose="020F0502020204030204" pitchFamily="34" charset="0"/>
                    <a:cs typeface="Times New Roman" panose="02020603050405020304" pitchFamily="18" charset="0"/>
                  </a:rPr>
                  <a:t>	(b)  The rms voltage is  </a:t>
                </a:r>
              </a:p>
              <a:p>
                <a:pPr>
                  <a:buClr>
                    <a:schemeClr val="accent2"/>
                  </a:buClr>
                </a:pPr>
                <a:r>
                  <a:rPr lang="en-GB" sz="2400" b="1" kern="100" dirty="0">
                    <a:solidFill>
                      <a:srgbClr val="0000CC"/>
                    </a:solidFill>
                    <a:latin typeface="Century Gothic" panose="020B0502020202020204" pitchFamily="34" charset="0"/>
                    <a:ea typeface="Calibri" panose="020F0502020204030204" pitchFamily="34" charset="0"/>
                    <a:cs typeface="Times New Roman" panose="02020603050405020304" pitchFamily="18" charset="0"/>
                  </a:rPr>
                  <a:t>									</a:t>
                </a:r>
                <a14:m>
                  <m:oMath xmlns:m="http://schemas.openxmlformats.org/officeDocument/2006/math">
                    <m:sSub>
                      <m:sSubPr>
                        <m:ctrlPr>
                          <a:rPr lang="en-GB" sz="2400" b="1" i="1" kern="100" smtClean="0">
                            <a:solidFill>
                              <a:srgbClr val="0000CC"/>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2400" b="1" i="1" kern="100" smtClean="0">
                            <a:solidFill>
                              <a:srgbClr val="0000CC"/>
                            </a:solidFill>
                            <a:latin typeface="Cambria Math" panose="02040503050406030204" pitchFamily="18" charset="0"/>
                            <a:ea typeface="Calibri" panose="020F0502020204030204" pitchFamily="34" charset="0"/>
                            <a:cs typeface="Times New Roman" panose="02020603050405020304" pitchFamily="18" charset="0"/>
                          </a:rPr>
                          <m:t>𝑽</m:t>
                        </m:r>
                      </m:e>
                      <m:sub>
                        <m:r>
                          <a:rPr lang="en-US" sz="2400" b="1" i="1" kern="100" smtClean="0">
                            <a:solidFill>
                              <a:srgbClr val="0000CC"/>
                            </a:solidFill>
                            <a:latin typeface="Cambria Math" panose="02040503050406030204" pitchFamily="18" charset="0"/>
                            <a:ea typeface="Calibri" panose="020F0502020204030204" pitchFamily="34" charset="0"/>
                            <a:cs typeface="Times New Roman" panose="02020603050405020304" pitchFamily="18" charset="0"/>
                          </a:rPr>
                          <m:t>𝒓𝒎𝒔</m:t>
                        </m:r>
                      </m:sub>
                    </m:sSub>
                  </m:oMath>
                </a14:m>
                <a:r>
                  <a:rPr lang="en-GB" sz="2400" b="1" kern="100" dirty="0">
                    <a:solidFill>
                      <a:srgbClr val="0000CC"/>
                    </a:solidFill>
                    <a:latin typeface="Century Gothic" panose="020B0502020202020204" pitchFamily="34" charset="0"/>
                    <a:ea typeface="Calibri" panose="020F0502020204030204" pitchFamily="34" charset="0"/>
                    <a:cs typeface="Times New Roman" panose="02020603050405020304" pitchFamily="18" charset="0"/>
                  </a:rPr>
                  <a:t> = </a:t>
                </a:r>
                <a14:m>
                  <m:oMath xmlns:m="http://schemas.openxmlformats.org/officeDocument/2006/math">
                    <m:f>
                      <m:fPr>
                        <m:ctrlPr>
                          <a:rPr lang="en-GB" sz="2400" b="1" i="1" kern="100" smtClean="0">
                            <a:solidFill>
                              <a:srgbClr val="0000CC"/>
                            </a:solidFill>
                            <a:latin typeface="Cambria Math" panose="02040503050406030204" pitchFamily="18" charset="0"/>
                            <a:ea typeface="Calibri" panose="020F0502020204030204" pitchFamily="34" charset="0"/>
                            <a:cs typeface="Times New Roman" panose="02020603050405020304" pitchFamily="18" charset="0"/>
                          </a:rPr>
                        </m:ctrlPr>
                      </m:fPr>
                      <m:num>
                        <m:r>
                          <a:rPr lang="en-US" sz="2400" b="1" i="1" kern="100" smtClean="0">
                            <a:solidFill>
                              <a:srgbClr val="0000CC"/>
                            </a:solidFill>
                            <a:latin typeface="Cambria Math" panose="02040503050406030204" pitchFamily="18" charset="0"/>
                            <a:ea typeface="Calibri" panose="020F0502020204030204" pitchFamily="34" charset="0"/>
                            <a:cs typeface="Times New Roman" panose="02020603050405020304" pitchFamily="18" charset="0"/>
                          </a:rPr>
                          <m:t>𝟏𝟎𝟎</m:t>
                        </m:r>
                      </m:num>
                      <m:den>
                        <m:rad>
                          <m:radPr>
                            <m:degHide m:val="on"/>
                            <m:ctrlPr>
                              <a:rPr lang="en-GB" sz="2400" b="1" i="1" kern="100" smtClean="0">
                                <a:solidFill>
                                  <a:srgbClr val="0000CC"/>
                                </a:solidFill>
                                <a:latin typeface="Cambria Math" panose="02040503050406030204" pitchFamily="18" charset="0"/>
                                <a:ea typeface="Calibri" panose="020F0502020204030204" pitchFamily="34" charset="0"/>
                                <a:cs typeface="Times New Roman" panose="02020603050405020304" pitchFamily="18" charset="0"/>
                              </a:rPr>
                            </m:ctrlPr>
                          </m:radPr>
                          <m:deg/>
                          <m:e>
                            <m:r>
                              <a:rPr lang="en-US" sz="2400" b="1" i="1" kern="100" smtClean="0">
                                <a:solidFill>
                                  <a:srgbClr val="0000CC"/>
                                </a:solidFill>
                                <a:latin typeface="Cambria Math" panose="02040503050406030204" pitchFamily="18" charset="0"/>
                                <a:ea typeface="Calibri" panose="020F0502020204030204" pitchFamily="34" charset="0"/>
                                <a:cs typeface="Times New Roman" panose="02020603050405020304" pitchFamily="18" charset="0"/>
                              </a:rPr>
                              <m:t>𝟐</m:t>
                            </m:r>
                          </m:e>
                        </m:rad>
                      </m:den>
                    </m:f>
                  </m:oMath>
                </a14:m>
                <a:r>
                  <a:rPr lang="en-GB" sz="2400" b="1" kern="100" dirty="0">
                    <a:solidFill>
                      <a:srgbClr val="0000CC"/>
                    </a:solidFill>
                    <a:latin typeface="Century Gothic" panose="020B0502020202020204" pitchFamily="34" charset="0"/>
                    <a:ea typeface="Calibri" panose="020F0502020204030204" pitchFamily="34" charset="0"/>
                    <a:cs typeface="Times New Roman" panose="02020603050405020304" pitchFamily="18" charset="0"/>
                  </a:rPr>
                  <a:t> = 70.7 V</a:t>
                </a:r>
              </a:p>
              <a:p>
                <a:pPr>
                  <a:buClr>
                    <a:schemeClr val="accent2"/>
                  </a:buClr>
                </a:pPr>
                <a:endParaRPr lang="en-GB" sz="2400" b="1" kern="100" dirty="0">
                  <a:solidFill>
                    <a:srgbClr val="0000CC"/>
                  </a:solidFill>
                  <a:latin typeface="Century Gothic" panose="020B0502020202020204" pitchFamily="34" charset="0"/>
                  <a:ea typeface="Calibri" panose="020F0502020204030204" pitchFamily="34" charset="0"/>
                  <a:cs typeface="Times New Roman" panose="02020603050405020304" pitchFamily="18" charset="0"/>
                </a:endParaRPr>
              </a:p>
              <a:p>
                <a:pPr>
                  <a:buClr>
                    <a:schemeClr val="accent2"/>
                  </a:buClr>
                </a:pPr>
                <a:r>
                  <a:rPr lang="en-GB" sz="2400" b="1" kern="100" dirty="0">
                    <a:solidFill>
                      <a:srgbClr val="0000CC"/>
                    </a:solidFill>
                    <a:latin typeface="Century Gothic" panose="020B0502020202020204" pitchFamily="34" charset="0"/>
                    <a:ea typeface="Calibri" panose="020F0502020204030204" pitchFamily="34" charset="0"/>
                    <a:cs typeface="Times New Roman" panose="02020603050405020304" pitchFamily="18" charset="0"/>
                  </a:rPr>
                  <a:t>	The rms current is computed  as</a:t>
                </a:r>
                <a:br>
                  <a:rPr lang="en-GB" sz="2400" b="1" kern="100" dirty="0">
                    <a:solidFill>
                      <a:srgbClr val="0000CC"/>
                    </a:solidFill>
                    <a:latin typeface="Century Gothic" panose="020B0502020202020204" pitchFamily="34" charset="0"/>
                    <a:ea typeface="Calibri" panose="020F0502020204030204" pitchFamily="34" charset="0"/>
                    <a:cs typeface="Times New Roman" panose="02020603050405020304" pitchFamily="18" charset="0"/>
                  </a:rPr>
                </a:br>
                <a:r>
                  <a:rPr lang="en-GB" sz="2400" b="1" kern="100" dirty="0">
                    <a:solidFill>
                      <a:srgbClr val="0000CC"/>
                    </a:solidFill>
                    <a:latin typeface="Century Gothic" panose="020B0502020202020204" pitchFamily="34" charset="0"/>
                    <a:ea typeface="Calibri" panose="020F0502020204030204" pitchFamily="34" charset="0"/>
                    <a:cs typeface="Times New Roman" panose="02020603050405020304" pitchFamily="18" charset="0"/>
                  </a:rPr>
                  <a:t> </a:t>
                </a:r>
              </a:p>
              <a:p>
                <a:pPr>
                  <a:buClr>
                    <a:schemeClr val="accent2"/>
                  </a:buClr>
                </a:pPr>
                <a:r>
                  <a:rPr lang="en-GB" sz="2400" b="1" kern="100" dirty="0">
                    <a:solidFill>
                      <a:srgbClr val="0000CC"/>
                    </a:solidFill>
                    <a:latin typeface="Century Gothic" panose="020B0502020202020204" pitchFamily="34" charset="0"/>
                    <a:ea typeface="Calibri" panose="020F0502020204030204" pitchFamily="34" charset="0"/>
                    <a:cs typeface="Times New Roman" panose="02020603050405020304" pitchFamily="18" charset="0"/>
                  </a:rPr>
                  <a:t>			</a:t>
                </a:r>
                <a14:m>
                  <m:oMath xmlns:m="http://schemas.openxmlformats.org/officeDocument/2006/math">
                    <m:sSub>
                      <m:sSubPr>
                        <m:ctrlPr>
                          <a:rPr lang="en-GB" sz="2400" b="1" i="1" kern="100" smtClean="0">
                            <a:solidFill>
                              <a:srgbClr val="0000CC"/>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2400" b="1" i="1" kern="100" smtClean="0">
                            <a:solidFill>
                              <a:srgbClr val="0000CC"/>
                            </a:solidFill>
                            <a:latin typeface="Cambria Math" panose="02040503050406030204" pitchFamily="18" charset="0"/>
                            <a:ea typeface="Calibri" panose="020F0502020204030204" pitchFamily="34" charset="0"/>
                            <a:cs typeface="Times New Roman" panose="02020603050405020304" pitchFamily="18" charset="0"/>
                          </a:rPr>
                          <m:t>𝑰</m:t>
                        </m:r>
                      </m:e>
                      <m:sub>
                        <m:r>
                          <a:rPr lang="en-US" sz="2400" b="1" i="1" kern="100" smtClean="0">
                            <a:solidFill>
                              <a:srgbClr val="0000CC"/>
                            </a:solidFill>
                            <a:latin typeface="Cambria Math" panose="02040503050406030204" pitchFamily="18" charset="0"/>
                            <a:ea typeface="Calibri" panose="020F0502020204030204" pitchFamily="34" charset="0"/>
                            <a:cs typeface="Times New Roman" panose="02020603050405020304" pitchFamily="18" charset="0"/>
                          </a:rPr>
                          <m:t>𝒓𝒎𝒔</m:t>
                        </m:r>
                      </m:sub>
                    </m:sSub>
                  </m:oMath>
                </a14:m>
                <a:r>
                  <a:rPr lang="en-GB" sz="2400" b="1" kern="100" dirty="0">
                    <a:solidFill>
                      <a:srgbClr val="0000CC"/>
                    </a:solidFill>
                    <a:latin typeface="Century Gothic" panose="020B0502020202020204" pitchFamily="34" charset="0"/>
                    <a:ea typeface="Calibri" panose="020F0502020204030204" pitchFamily="34" charset="0"/>
                    <a:cs typeface="Times New Roman" panose="02020603050405020304" pitchFamily="18" charset="0"/>
                  </a:rPr>
                  <a:t> = </a:t>
                </a:r>
                <a14:m>
                  <m:oMath xmlns:m="http://schemas.openxmlformats.org/officeDocument/2006/math">
                    <m:rad>
                      <m:radPr>
                        <m:degHide m:val="on"/>
                        <m:ctrlPr>
                          <a:rPr lang="en-GB" sz="2400" b="1" i="1" kern="100" smtClean="0">
                            <a:solidFill>
                              <a:srgbClr val="0000CC"/>
                            </a:solidFill>
                            <a:latin typeface="Cambria Math" panose="02040503050406030204" pitchFamily="18" charset="0"/>
                            <a:ea typeface="Calibri" panose="020F0502020204030204" pitchFamily="34" charset="0"/>
                            <a:cs typeface="Times New Roman" panose="02020603050405020304" pitchFamily="18" charset="0"/>
                          </a:rPr>
                        </m:ctrlPr>
                      </m:radPr>
                      <m:deg/>
                      <m:e>
                        <m:sSup>
                          <m:sSupPr>
                            <m:ctrlPr>
                              <a:rPr lang="en-GB" sz="2400" b="1" i="1" kern="100" smtClean="0">
                                <a:solidFill>
                                  <a:srgbClr val="0000CC"/>
                                </a:solidFill>
                                <a:latin typeface="Cambria Math" panose="02040503050406030204" pitchFamily="18" charset="0"/>
                                <a:ea typeface="Calibri" panose="020F0502020204030204" pitchFamily="34" charset="0"/>
                                <a:cs typeface="Times New Roman" panose="02020603050405020304" pitchFamily="18" charset="0"/>
                              </a:rPr>
                            </m:ctrlPr>
                          </m:sSupPr>
                          <m:e>
                            <m:r>
                              <a:rPr lang="en-US" sz="2400" b="1" i="1" kern="100" smtClean="0">
                                <a:solidFill>
                                  <a:srgbClr val="0000CC"/>
                                </a:solidFill>
                                <a:latin typeface="Cambria Math" panose="02040503050406030204" pitchFamily="18" charset="0"/>
                                <a:ea typeface="Calibri" panose="020F0502020204030204" pitchFamily="34" charset="0"/>
                                <a:cs typeface="Times New Roman" panose="02020603050405020304" pitchFamily="18" charset="0"/>
                              </a:rPr>
                              <m:t>𝟖</m:t>
                            </m:r>
                          </m:e>
                          <m:sup>
                            <m:r>
                              <a:rPr lang="en-US" sz="2400" b="1" i="1" kern="100" smtClean="0">
                                <a:solidFill>
                                  <a:srgbClr val="0000CC"/>
                                </a:solidFill>
                                <a:latin typeface="Cambria Math" panose="02040503050406030204" pitchFamily="18" charset="0"/>
                                <a:ea typeface="Calibri" panose="020F0502020204030204" pitchFamily="34" charset="0"/>
                                <a:cs typeface="Times New Roman" panose="02020603050405020304" pitchFamily="18" charset="0"/>
                              </a:rPr>
                              <m:t>𝟐</m:t>
                            </m:r>
                          </m:sup>
                        </m:sSup>
                        <m:r>
                          <a:rPr lang="en-GB" sz="2400" b="1" i="1" kern="100" smtClean="0">
                            <a:solidFill>
                              <a:srgbClr val="0000CC"/>
                            </a:solidFill>
                            <a:latin typeface="Cambria Math" panose="02040503050406030204" pitchFamily="18" charset="0"/>
                            <a:ea typeface="Cambria Math" panose="02040503050406030204" pitchFamily="18" charset="0"/>
                            <a:cs typeface="Times New Roman" panose="02020603050405020304" pitchFamily="18" charset="0"/>
                          </a:rPr>
                          <m:t>+</m:t>
                        </m:r>
                        <m:sSup>
                          <m:sSupPr>
                            <m:ctrlPr>
                              <a:rPr lang="en-GB" sz="2400" b="1" i="1" kern="100" smtClean="0">
                                <a:solidFill>
                                  <a:srgbClr val="0000CC"/>
                                </a:solidFill>
                                <a:latin typeface="Cambria Math" panose="02040503050406030204" pitchFamily="18" charset="0"/>
                                <a:ea typeface="Cambria Math" panose="02040503050406030204" pitchFamily="18" charset="0"/>
                                <a:cs typeface="Times New Roman" panose="02020603050405020304" pitchFamily="18" charset="0"/>
                              </a:rPr>
                            </m:ctrlPr>
                          </m:sSupPr>
                          <m:e>
                            <m:d>
                              <m:dPr>
                                <m:ctrlPr>
                                  <a:rPr lang="en-GB" sz="2400" b="1" i="1" kern="100" smtClean="0">
                                    <a:solidFill>
                                      <a:srgbClr val="0000CC"/>
                                    </a:solidFill>
                                    <a:latin typeface="Cambria Math" panose="02040503050406030204" pitchFamily="18" charset="0"/>
                                    <a:ea typeface="Cambria Math" panose="02040503050406030204" pitchFamily="18" charset="0"/>
                                    <a:cs typeface="Times New Roman" panose="02020603050405020304" pitchFamily="18" charset="0"/>
                                  </a:rPr>
                                </m:ctrlPr>
                              </m:dPr>
                              <m:e>
                                <m:f>
                                  <m:fPr>
                                    <m:ctrlPr>
                                      <a:rPr lang="en-GB" sz="2400" b="1" i="1" kern="100" smtClean="0">
                                        <a:solidFill>
                                          <a:srgbClr val="0000CC"/>
                                        </a:solidFill>
                                        <a:latin typeface="Cambria Math" panose="02040503050406030204" pitchFamily="18" charset="0"/>
                                        <a:ea typeface="Cambria Math" panose="02040503050406030204" pitchFamily="18" charset="0"/>
                                        <a:cs typeface="Times New Roman" panose="02020603050405020304" pitchFamily="18" charset="0"/>
                                      </a:rPr>
                                    </m:ctrlPr>
                                  </m:fPr>
                                  <m:num>
                                    <m:r>
                                      <a:rPr lang="en-US" sz="2400" b="1" i="1" kern="100" smtClean="0">
                                        <a:solidFill>
                                          <a:srgbClr val="0000CC"/>
                                        </a:solidFill>
                                        <a:latin typeface="Cambria Math" panose="02040503050406030204" pitchFamily="18" charset="0"/>
                                        <a:ea typeface="Cambria Math" panose="02040503050406030204" pitchFamily="18" charset="0"/>
                                        <a:cs typeface="Times New Roman" panose="02020603050405020304" pitchFamily="18" charset="0"/>
                                      </a:rPr>
                                      <m:t>𝟏𝟓</m:t>
                                    </m:r>
                                  </m:num>
                                  <m:den>
                                    <m:rad>
                                      <m:radPr>
                                        <m:degHide m:val="on"/>
                                        <m:ctrlPr>
                                          <a:rPr lang="en-GB" sz="2400" b="1" i="1" kern="100" smtClean="0">
                                            <a:solidFill>
                                              <a:srgbClr val="0000CC"/>
                                            </a:solidFill>
                                            <a:latin typeface="Cambria Math" panose="02040503050406030204" pitchFamily="18" charset="0"/>
                                            <a:ea typeface="Cambria Math" panose="02040503050406030204" pitchFamily="18" charset="0"/>
                                            <a:cs typeface="Times New Roman" panose="02020603050405020304" pitchFamily="18" charset="0"/>
                                          </a:rPr>
                                        </m:ctrlPr>
                                      </m:radPr>
                                      <m:deg/>
                                      <m:e>
                                        <m:r>
                                          <a:rPr lang="en-US" sz="2400" b="1" i="1" kern="100" smtClean="0">
                                            <a:solidFill>
                                              <a:srgbClr val="0000CC"/>
                                            </a:solidFill>
                                            <a:latin typeface="Cambria Math" panose="02040503050406030204" pitchFamily="18" charset="0"/>
                                            <a:ea typeface="Cambria Math" panose="02040503050406030204" pitchFamily="18" charset="0"/>
                                            <a:cs typeface="Times New Roman" panose="02020603050405020304" pitchFamily="18" charset="0"/>
                                          </a:rPr>
                                          <m:t>𝟐</m:t>
                                        </m:r>
                                      </m:e>
                                    </m:rad>
                                  </m:den>
                                </m:f>
                              </m:e>
                            </m:d>
                          </m:e>
                          <m:sup>
                            <m:r>
                              <a:rPr lang="en-US" sz="2400" b="1" i="1" kern="100" smtClean="0">
                                <a:solidFill>
                                  <a:srgbClr val="0000CC"/>
                                </a:solidFill>
                                <a:latin typeface="Cambria Math" panose="02040503050406030204" pitchFamily="18" charset="0"/>
                                <a:ea typeface="Cambria Math" panose="02040503050406030204" pitchFamily="18" charset="0"/>
                                <a:cs typeface="Times New Roman" panose="02020603050405020304" pitchFamily="18" charset="0"/>
                              </a:rPr>
                              <m:t>𝟐</m:t>
                            </m:r>
                          </m:sup>
                        </m:sSup>
                        <m:r>
                          <a:rPr lang="en-GB" sz="2400" b="1" i="1" kern="100">
                            <a:solidFill>
                              <a:srgbClr val="0000CC"/>
                            </a:solidFill>
                            <a:latin typeface="Cambria Math" panose="02040503050406030204" pitchFamily="18" charset="0"/>
                            <a:ea typeface="Cambria Math" panose="02040503050406030204" pitchFamily="18" charset="0"/>
                            <a:cs typeface="Times New Roman" panose="02020603050405020304" pitchFamily="18" charset="0"/>
                          </a:rPr>
                          <m:t>+</m:t>
                        </m:r>
                        <m:sSup>
                          <m:sSupPr>
                            <m:ctrlPr>
                              <a:rPr lang="en-GB" sz="2400" b="1" i="1" kern="100" smtClean="0">
                                <a:solidFill>
                                  <a:srgbClr val="0000CC"/>
                                </a:solidFill>
                                <a:latin typeface="Cambria Math" panose="02040503050406030204" pitchFamily="18" charset="0"/>
                                <a:ea typeface="Cambria Math" panose="02040503050406030204" pitchFamily="18" charset="0"/>
                                <a:cs typeface="Times New Roman" panose="02020603050405020304" pitchFamily="18" charset="0"/>
                              </a:rPr>
                            </m:ctrlPr>
                          </m:sSupPr>
                          <m:e>
                            <m:d>
                              <m:dPr>
                                <m:ctrlPr>
                                  <a:rPr lang="en-GB" sz="2400" b="1" i="1" kern="100" smtClean="0">
                                    <a:solidFill>
                                      <a:srgbClr val="0000CC"/>
                                    </a:solidFill>
                                    <a:latin typeface="Cambria Math" panose="02040503050406030204" pitchFamily="18" charset="0"/>
                                    <a:ea typeface="Cambria Math" panose="02040503050406030204" pitchFamily="18" charset="0"/>
                                    <a:cs typeface="Times New Roman" panose="02020603050405020304" pitchFamily="18" charset="0"/>
                                  </a:rPr>
                                </m:ctrlPr>
                              </m:dPr>
                              <m:e>
                                <m:f>
                                  <m:fPr>
                                    <m:ctrlPr>
                                      <a:rPr lang="en-GB" sz="2400" b="1" i="1" kern="100" smtClean="0">
                                        <a:solidFill>
                                          <a:srgbClr val="0000CC"/>
                                        </a:solidFill>
                                        <a:latin typeface="Cambria Math" panose="02040503050406030204" pitchFamily="18" charset="0"/>
                                        <a:ea typeface="Cambria Math" panose="02040503050406030204" pitchFamily="18" charset="0"/>
                                        <a:cs typeface="Times New Roman" panose="02020603050405020304" pitchFamily="18" charset="0"/>
                                      </a:rPr>
                                    </m:ctrlPr>
                                  </m:fPr>
                                  <m:num>
                                    <m:r>
                                      <a:rPr lang="en-US" sz="2400" b="1" i="1" kern="100" smtClean="0">
                                        <a:solidFill>
                                          <a:srgbClr val="0000CC"/>
                                        </a:solidFill>
                                        <a:latin typeface="Cambria Math" panose="02040503050406030204" pitchFamily="18" charset="0"/>
                                        <a:ea typeface="Cambria Math" panose="02040503050406030204" pitchFamily="18" charset="0"/>
                                        <a:cs typeface="Times New Roman" panose="02020603050405020304" pitchFamily="18" charset="0"/>
                                      </a:rPr>
                                      <m:t>𝟔</m:t>
                                    </m:r>
                                  </m:num>
                                  <m:den>
                                    <m:rad>
                                      <m:radPr>
                                        <m:degHide m:val="on"/>
                                        <m:ctrlPr>
                                          <a:rPr lang="en-GB" sz="2400" b="1" i="1" kern="100" smtClean="0">
                                            <a:solidFill>
                                              <a:srgbClr val="0000CC"/>
                                            </a:solidFill>
                                            <a:latin typeface="Cambria Math" panose="02040503050406030204" pitchFamily="18" charset="0"/>
                                            <a:ea typeface="Cambria Math" panose="02040503050406030204" pitchFamily="18" charset="0"/>
                                            <a:cs typeface="Times New Roman" panose="02020603050405020304" pitchFamily="18" charset="0"/>
                                          </a:rPr>
                                        </m:ctrlPr>
                                      </m:radPr>
                                      <m:deg/>
                                      <m:e>
                                        <m:r>
                                          <a:rPr lang="en-US" sz="2400" b="1" i="1" kern="100" smtClean="0">
                                            <a:solidFill>
                                              <a:srgbClr val="0000CC"/>
                                            </a:solidFill>
                                            <a:latin typeface="Cambria Math" panose="02040503050406030204" pitchFamily="18" charset="0"/>
                                            <a:ea typeface="Cambria Math" panose="02040503050406030204" pitchFamily="18" charset="0"/>
                                            <a:cs typeface="Times New Roman" panose="02020603050405020304" pitchFamily="18" charset="0"/>
                                          </a:rPr>
                                          <m:t>𝟐</m:t>
                                        </m:r>
                                      </m:e>
                                    </m:rad>
                                  </m:den>
                                </m:f>
                              </m:e>
                            </m:d>
                          </m:e>
                          <m:sup>
                            <m:r>
                              <a:rPr lang="en-US" sz="2400" b="1" i="1" kern="100" smtClean="0">
                                <a:solidFill>
                                  <a:srgbClr val="0000CC"/>
                                </a:solidFill>
                                <a:latin typeface="Cambria Math" panose="02040503050406030204" pitchFamily="18" charset="0"/>
                                <a:ea typeface="Cambria Math" panose="02040503050406030204" pitchFamily="18" charset="0"/>
                                <a:cs typeface="Times New Roman" panose="02020603050405020304" pitchFamily="18" charset="0"/>
                              </a:rPr>
                              <m:t>𝟐</m:t>
                            </m:r>
                          </m:sup>
                        </m:sSup>
                        <m:r>
                          <a:rPr lang="en-GB" sz="2400" b="1" i="1" kern="100" smtClean="0">
                            <a:solidFill>
                              <a:srgbClr val="0000CC"/>
                            </a:solidFill>
                            <a:latin typeface="Cambria Math" panose="02040503050406030204" pitchFamily="18" charset="0"/>
                            <a:ea typeface="Cambria Math" panose="02040503050406030204" pitchFamily="18" charset="0"/>
                            <a:cs typeface="Times New Roman" panose="02020603050405020304" pitchFamily="18" charset="0"/>
                          </a:rPr>
                          <m:t>+</m:t>
                        </m:r>
                        <m:sSup>
                          <m:sSupPr>
                            <m:ctrlPr>
                              <a:rPr lang="en-GB" sz="2400" b="1" i="1" kern="100" smtClean="0">
                                <a:solidFill>
                                  <a:srgbClr val="0000CC"/>
                                </a:solidFill>
                                <a:latin typeface="Cambria Math" panose="02040503050406030204" pitchFamily="18" charset="0"/>
                                <a:ea typeface="Cambria Math" panose="02040503050406030204" pitchFamily="18" charset="0"/>
                                <a:cs typeface="Times New Roman" panose="02020603050405020304" pitchFamily="18" charset="0"/>
                              </a:rPr>
                            </m:ctrlPr>
                          </m:sSupPr>
                          <m:e>
                            <m:d>
                              <m:dPr>
                                <m:ctrlPr>
                                  <a:rPr lang="en-GB" sz="2400" b="1" i="1" kern="100" smtClean="0">
                                    <a:solidFill>
                                      <a:srgbClr val="0000CC"/>
                                    </a:solidFill>
                                    <a:latin typeface="Cambria Math" panose="02040503050406030204" pitchFamily="18" charset="0"/>
                                    <a:ea typeface="Cambria Math" panose="02040503050406030204" pitchFamily="18" charset="0"/>
                                    <a:cs typeface="Times New Roman" panose="02020603050405020304" pitchFamily="18" charset="0"/>
                                  </a:rPr>
                                </m:ctrlPr>
                              </m:dPr>
                              <m:e>
                                <m:f>
                                  <m:fPr>
                                    <m:ctrlPr>
                                      <a:rPr lang="en-GB" sz="2400" b="1" i="1" kern="100" smtClean="0">
                                        <a:solidFill>
                                          <a:srgbClr val="0000CC"/>
                                        </a:solidFill>
                                        <a:latin typeface="Cambria Math" panose="02040503050406030204" pitchFamily="18" charset="0"/>
                                        <a:ea typeface="Cambria Math" panose="02040503050406030204" pitchFamily="18" charset="0"/>
                                        <a:cs typeface="Times New Roman" panose="02020603050405020304" pitchFamily="18" charset="0"/>
                                      </a:rPr>
                                    </m:ctrlPr>
                                  </m:fPr>
                                  <m:num>
                                    <m:r>
                                      <a:rPr lang="en-US" sz="2400" b="1" i="1" kern="100" smtClean="0">
                                        <a:solidFill>
                                          <a:srgbClr val="0000CC"/>
                                        </a:solidFill>
                                        <a:latin typeface="Cambria Math" panose="02040503050406030204" pitchFamily="18" charset="0"/>
                                        <a:ea typeface="Cambria Math" panose="02040503050406030204" pitchFamily="18" charset="0"/>
                                        <a:cs typeface="Times New Roman" panose="02020603050405020304" pitchFamily="18" charset="0"/>
                                      </a:rPr>
                                      <m:t>𝟐</m:t>
                                    </m:r>
                                  </m:num>
                                  <m:den>
                                    <m:rad>
                                      <m:radPr>
                                        <m:degHide m:val="on"/>
                                        <m:ctrlPr>
                                          <a:rPr lang="en-GB" sz="2400" b="1" i="1" kern="100" smtClean="0">
                                            <a:solidFill>
                                              <a:srgbClr val="0000CC"/>
                                            </a:solidFill>
                                            <a:latin typeface="Cambria Math" panose="02040503050406030204" pitchFamily="18" charset="0"/>
                                            <a:ea typeface="Cambria Math" panose="02040503050406030204" pitchFamily="18" charset="0"/>
                                            <a:cs typeface="Times New Roman" panose="02020603050405020304" pitchFamily="18" charset="0"/>
                                          </a:rPr>
                                        </m:ctrlPr>
                                      </m:radPr>
                                      <m:deg/>
                                      <m:e>
                                        <m:r>
                                          <a:rPr lang="en-US" sz="2400" b="1" i="1" kern="100" smtClean="0">
                                            <a:solidFill>
                                              <a:srgbClr val="0000CC"/>
                                            </a:solidFill>
                                            <a:latin typeface="Cambria Math" panose="02040503050406030204" pitchFamily="18" charset="0"/>
                                            <a:ea typeface="Cambria Math" panose="02040503050406030204" pitchFamily="18" charset="0"/>
                                            <a:cs typeface="Times New Roman" panose="02020603050405020304" pitchFamily="18" charset="0"/>
                                          </a:rPr>
                                          <m:t>𝟐</m:t>
                                        </m:r>
                                      </m:e>
                                    </m:rad>
                                  </m:den>
                                </m:f>
                              </m:e>
                            </m:d>
                          </m:e>
                          <m:sup>
                            <m:r>
                              <a:rPr lang="en-US" sz="2400" b="1" i="1" kern="100" smtClean="0">
                                <a:solidFill>
                                  <a:srgbClr val="0000CC"/>
                                </a:solidFill>
                                <a:latin typeface="Cambria Math" panose="02040503050406030204" pitchFamily="18" charset="0"/>
                                <a:ea typeface="Cambria Math" panose="02040503050406030204" pitchFamily="18" charset="0"/>
                                <a:cs typeface="Times New Roman" panose="02020603050405020304" pitchFamily="18" charset="0"/>
                              </a:rPr>
                              <m:t>𝟐</m:t>
                            </m:r>
                          </m:sup>
                        </m:sSup>
                      </m:e>
                    </m:rad>
                  </m:oMath>
                </a14:m>
                <a:r>
                  <a:rPr lang="en-GB" sz="2400" b="1" kern="100" dirty="0">
                    <a:solidFill>
                      <a:srgbClr val="0000CC"/>
                    </a:solidFill>
                    <a:latin typeface="Century Gothic" panose="020B0502020202020204" pitchFamily="34" charset="0"/>
                    <a:ea typeface="Calibri" panose="020F0502020204030204" pitchFamily="34" charset="0"/>
                    <a:cs typeface="Times New Roman" panose="02020603050405020304" pitchFamily="18" charset="0"/>
                  </a:rPr>
                  <a:t> = 14.0 A</a:t>
                </a:r>
              </a:p>
              <a:p>
                <a:pPr>
                  <a:buClr>
                    <a:schemeClr val="accent2"/>
                  </a:buClr>
                </a:pPr>
                <a:endParaRPr lang="en-GB" sz="2400" b="1" kern="100" dirty="0">
                  <a:solidFill>
                    <a:srgbClr val="0000CC"/>
                  </a:solidFill>
                  <a:latin typeface="Century Gothic" panose="020B0502020202020204" pitchFamily="34" charset="0"/>
                  <a:ea typeface="Calibri" panose="020F0502020204030204" pitchFamily="34" charset="0"/>
                  <a:cs typeface="Times New Roman" panose="02020603050405020304" pitchFamily="18" charset="0"/>
                </a:endParaRPr>
              </a:p>
              <a:p>
                <a:pPr>
                  <a:buClr>
                    <a:schemeClr val="accent2"/>
                  </a:buClr>
                </a:pPr>
                <a:r>
                  <a:rPr lang="en-GB" sz="2400" b="1" kern="100" dirty="0">
                    <a:solidFill>
                      <a:srgbClr val="0000CC"/>
                    </a:solidFill>
                    <a:latin typeface="Century Gothic" panose="020B0502020202020204" pitchFamily="34" charset="0"/>
                    <a:ea typeface="Calibri" panose="020F0502020204030204" pitchFamily="34" charset="0"/>
                    <a:cs typeface="Times New Roman" panose="02020603050405020304" pitchFamily="18" charset="0"/>
                  </a:rPr>
                  <a:t>	The Power factor is expressed as</a:t>
                </a:r>
              </a:p>
              <a:p>
                <a:pPr>
                  <a:buClr>
                    <a:schemeClr val="accent2"/>
                  </a:buClr>
                </a:pPr>
                <a:r>
                  <a:rPr lang="en-GB" sz="2400" b="1" kern="100" dirty="0">
                    <a:solidFill>
                      <a:srgbClr val="0000CC"/>
                    </a:solidFill>
                    <a:latin typeface="Century Gothic" panose="020B0502020202020204" pitchFamily="34" charset="0"/>
                    <a:ea typeface="Calibri" panose="020F0502020204030204" pitchFamily="34" charset="0"/>
                    <a:cs typeface="Times New Roman" panose="02020603050405020304" pitchFamily="18" charset="0"/>
                  </a:rPr>
                  <a:t>			pf = </a:t>
                </a:r>
                <a14:m>
                  <m:oMath xmlns:m="http://schemas.openxmlformats.org/officeDocument/2006/math">
                    <m:f>
                      <m:fPr>
                        <m:ctrlPr>
                          <a:rPr lang="en-GB" sz="2400" b="1" i="1" kern="100" smtClean="0">
                            <a:solidFill>
                              <a:srgbClr val="0000CC"/>
                            </a:solidFill>
                            <a:latin typeface="Cambria Math" panose="02040503050406030204" pitchFamily="18" charset="0"/>
                            <a:ea typeface="Calibri" panose="020F0502020204030204" pitchFamily="34" charset="0"/>
                            <a:cs typeface="Times New Roman" panose="02020603050405020304" pitchFamily="18" charset="0"/>
                          </a:rPr>
                        </m:ctrlPr>
                      </m:fPr>
                      <m:num>
                        <m:r>
                          <a:rPr lang="en-US" sz="2400" b="1" i="1" kern="100" smtClean="0">
                            <a:solidFill>
                              <a:srgbClr val="0000CC"/>
                            </a:solidFill>
                            <a:latin typeface="Cambria Math" panose="02040503050406030204" pitchFamily="18" charset="0"/>
                            <a:ea typeface="Calibri" panose="020F0502020204030204" pitchFamily="34" charset="0"/>
                            <a:cs typeface="Times New Roman" panose="02020603050405020304" pitchFamily="18" charset="0"/>
                          </a:rPr>
                          <m:t>𝑷</m:t>
                        </m:r>
                      </m:num>
                      <m:den>
                        <m:r>
                          <a:rPr lang="en-US" sz="2400" b="1" i="1" kern="100" smtClean="0">
                            <a:solidFill>
                              <a:srgbClr val="0000CC"/>
                            </a:solidFill>
                            <a:latin typeface="Cambria Math" panose="02040503050406030204" pitchFamily="18" charset="0"/>
                            <a:ea typeface="Calibri" panose="020F0502020204030204" pitchFamily="34" charset="0"/>
                            <a:cs typeface="Times New Roman" panose="02020603050405020304" pitchFamily="18" charset="0"/>
                          </a:rPr>
                          <m:t>𝑺</m:t>
                        </m:r>
                      </m:den>
                    </m:f>
                  </m:oMath>
                </a14:m>
                <a:r>
                  <a:rPr lang="en-GB" sz="2400" b="1" kern="100" dirty="0">
                    <a:solidFill>
                      <a:srgbClr val="0000CC"/>
                    </a:solidFill>
                    <a:latin typeface="Century Gothic" panose="020B0502020202020204" pitchFamily="34" charset="0"/>
                    <a:ea typeface="Calibri" panose="020F0502020204030204" pitchFamily="34" charset="0"/>
                    <a:cs typeface="Times New Roman" panose="02020603050405020304" pitchFamily="18" charset="0"/>
                  </a:rPr>
                  <a:t> = </a:t>
                </a:r>
                <a14:m>
                  <m:oMath xmlns:m="http://schemas.openxmlformats.org/officeDocument/2006/math">
                    <m:f>
                      <m:fPr>
                        <m:ctrlPr>
                          <a:rPr lang="en-GB" sz="2400" b="1" i="1" kern="100" smtClean="0">
                            <a:solidFill>
                              <a:srgbClr val="0000CC"/>
                            </a:solidFill>
                            <a:latin typeface="Cambria Math" panose="02040503050406030204" pitchFamily="18" charset="0"/>
                            <a:ea typeface="Calibri" panose="020F0502020204030204" pitchFamily="34" charset="0"/>
                            <a:cs typeface="Times New Roman" panose="02020603050405020304" pitchFamily="18" charset="0"/>
                          </a:rPr>
                        </m:ctrlPr>
                      </m:fPr>
                      <m:num>
                        <m:r>
                          <a:rPr lang="en-US" sz="2400" b="1" i="1" kern="100" smtClean="0">
                            <a:solidFill>
                              <a:srgbClr val="0000CC"/>
                            </a:solidFill>
                            <a:latin typeface="Cambria Math" panose="02040503050406030204" pitchFamily="18" charset="0"/>
                            <a:ea typeface="Calibri" panose="020F0502020204030204" pitchFamily="34" charset="0"/>
                            <a:cs typeface="Times New Roman" panose="02020603050405020304" pitchFamily="18" charset="0"/>
                          </a:rPr>
                          <m:t>𝑷</m:t>
                        </m:r>
                      </m:num>
                      <m:den>
                        <m:sSub>
                          <m:sSubPr>
                            <m:ctrlPr>
                              <a:rPr lang="en-GB" sz="2400" b="1" i="1" kern="100" smtClean="0">
                                <a:solidFill>
                                  <a:srgbClr val="0000CC"/>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2400" b="1" i="1" kern="100" smtClean="0">
                                <a:solidFill>
                                  <a:srgbClr val="0000CC"/>
                                </a:solidFill>
                                <a:latin typeface="Cambria Math" panose="02040503050406030204" pitchFamily="18" charset="0"/>
                                <a:ea typeface="Calibri" panose="020F0502020204030204" pitchFamily="34" charset="0"/>
                                <a:cs typeface="Times New Roman" panose="02020603050405020304" pitchFamily="18" charset="0"/>
                              </a:rPr>
                              <m:t>𝑽</m:t>
                            </m:r>
                          </m:e>
                          <m:sub>
                            <m:r>
                              <a:rPr lang="en-US" sz="2400" b="1" i="1" kern="100" smtClean="0">
                                <a:solidFill>
                                  <a:srgbClr val="0000CC"/>
                                </a:solidFill>
                                <a:latin typeface="Cambria Math" panose="02040503050406030204" pitchFamily="18" charset="0"/>
                                <a:ea typeface="Calibri" panose="020F0502020204030204" pitchFamily="34" charset="0"/>
                                <a:cs typeface="Times New Roman" panose="02020603050405020304" pitchFamily="18" charset="0"/>
                              </a:rPr>
                              <m:t>𝒓𝒎𝒔</m:t>
                            </m:r>
                          </m:sub>
                        </m:sSub>
                        <m:sSub>
                          <m:sSubPr>
                            <m:ctrlPr>
                              <a:rPr lang="en-GB" sz="2400" b="1" i="1" kern="100" smtClean="0">
                                <a:solidFill>
                                  <a:srgbClr val="0000CC"/>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2400" b="1" i="1" kern="100" smtClean="0">
                                <a:solidFill>
                                  <a:srgbClr val="0000CC"/>
                                </a:solidFill>
                                <a:latin typeface="Cambria Math" panose="02040503050406030204" pitchFamily="18" charset="0"/>
                                <a:ea typeface="Calibri" panose="020F0502020204030204" pitchFamily="34" charset="0"/>
                                <a:cs typeface="Times New Roman" panose="02020603050405020304" pitchFamily="18" charset="0"/>
                              </a:rPr>
                              <m:t>𝑰</m:t>
                            </m:r>
                          </m:e>
                          <m:sub>
                            <m:r>
                              <a:rPr lang="en-US" sz="2400" b="1" i="1" kern="100" smtClean="0">
                                <a:solidFill>
                                  <a:srgbClr val="0000CC"/>
                                </a:solidFill>
                                <a:latin typeface="Cambria Math" panose="02040503050406030204" pitchFamily="18" charset="0"/>
                                <a:ea typeface="Calibri" panose="020F0502020204030204" pitchFamily="34" charset="0"/>
                                <a:cs typeface="Times New Roman" panose="02020603050405020304" pitchFamily="18" charset="0"/>
                              </a:rPr>
                              <m:t>𝒓𝒎𝒔</m:t>
                            </m:r>
                          </m:sub>
                        </m:sSub>
                      </m:den>
                    </m:f>
                  </m:oMath>
                </a14:m>
                <a:r>
                  <a:rPr lang="en-GB" sz="2400" b="1" kern="100" dirty="0">
                    <a:solidFill>
                      <a:srgbClr val="0000CC"/>
                    </a:solidFill>
                    <a:latin typeface="Century Gothic" panose="020B0502020202020204" pitchFamily="34" charset="0"/>
                    <a:ea typeface="Calibri" panose="020F0502020204030204" pitchFamily="34" charset="0"/>
                    <a:cs typeface="Times New Roman" panose="02020603050405020304" pitchFamily="18" charset="0"/>
                  </a:rPr>
                  <a:t> = </a:t>
                </a:r>
                <a14:m>
                  <m:oMath xmlns:m="http://schemas.openxmlformats.org/officeDocument/2006/math">
                    <m:f>
                      <m:fPr>
                        <m:ctrlPr>
                          <a:rPr lang="en-GB" sz="2400" b="1" i="1" kern="100" smtClean="0">
                            <a:solidFill>
                              <a:srgbClr val="0000CC"/>
                            </a:solidFill>
                            <a:latin typeface="Cambria Math" panose="02040503050406030204" pitchFamily="18" charset="0"/>
                            <a:ea typeface="Calibri" panose="020F0502020204030204" pitchFamily="34" charset="0"/>
                            <a:cs typeface="Times New Roman" panose="02020603050405020304" pitchFamily="18" charset="0"/>
                          </a:rPr>
                        </m:ctrlPr>
                      </m:fPr>
                      <m:num>
                        <m:r>
                          <a:rPr lang="en-US" sz="2400" b="1" i="1" kern="100" smtClean="0">
                            <a:solidFill>
                              <a:srgbClr val="0000CC"/>
                            </a:solidFill>
                            <a:latin typeface="Cambria Math" panose="02040503050406030204" pitchFamily="18" charset="0"/>
                            <a:ea typeface="Calibri" panose="020F0502020204030204" pitchFamily="34" charset="0"/>
                            <a:cs typeface="Times New Roman" panose="02020603050405020304" pitchFamily="18" charset="0"/>
                          </a:rPr>
                          <m:t>𝟔𝟓𝟎</m:t>
                        </m:r>
                      </m:num>
                      <m:den>
                        <m:d>
                          <m:dPr>
                            <m:ctrlPr>
                              <a:rPr lang="en-GB" sz="2400" b="1" i="1" kern="100" smtClean="0">
                                <a:solidFill>
                                  <a:srgbClr val="0000CC"/>
                                </a:solidFill>
                                <a:latin typeface="Cambria Math" panose="02040503050406030204" pitchFamily="18" charset="0"/>
                                <a:ea typeface="Calibri" panose="020F0502020204030204" pitchFamily="34" charset="0"/>
                                <a:cs typeface="Times New Roman" panose="02020603050405020304" pitchFamily="18" charset="0"/>
                              </a:rPr>
                            </m:ctrlPr>
                          </m:dPr>
                          <m:e>
                            <m:r>
                              <a:rPr lang="en-US" sz="2400" b="1" i="1" kern="100" smtClean="0">
                                <a:solidFill>
                                  <a:srgbClr val="0000CC"/>
                                </a:solidFill>
                                <a:latin typeface="Cambria Math" panose="02040503050406030204" pitchFamily="18" charset="0"/>
                                <a:ea typeface="Calibri" panose="020F0502020204030204" pitchFamily="34" charset="0"/>
                                <a:cs typeface="Times New Roman" panose="02020603050405020304" pitchFamily="18" charset="0"/>
                              </a:rPr>
                              <m:t>𝟕𝟎</m:t>
                            </m:r>
                            <m:r>
                              <a:rPr lang="en-US" sz="2400" b="1" i="1" kern="100" smtClean="0">
                                <a:solidFill>
                                  <a:srgbClr val="0000CC"/>
                                </a:solidFill>
                                <a:latin typeface="Cambria Math" panose="02040503050406030204" pitchFamily="18" charset="0"/>
                                <a:ea typeface="Calibri" panose="020F0502020204030204" pitchFamily="34" charset="0"/>
                                <a:cs typeface="Times New Roman" panose="02020603050405020304" pitchFamily="18" charset="0"/>
                              </a:rPr>
                              <m:t>.</m:t>
                            </m:r>
                            <m:r>
                              <a:rPr lang="en-US" sz="2400" b="1" i="1" kern="100" smtClean="0">
                                <a:solidFill>
                                  <a:srgbClr val="0000CC"/>
                                </a:solidFill>
                                <a:latin typeface="Cambria Math" panose="02040503050406030204" pitchFamily="18" charset="0"/>
                                <a:ea typeface="Calibri" panose="020F0502020204030204" pitchFamily="34" charset="0"/>
                                <a:cs typeface="Times New Roman" panose="02020603050405020304" pitchFamily="18" charset="0"/>
                              </a:rPr>
                              <m:t>𝟕</m:t>
                            </m:r>
                          </m:e>
                        </m:d>
                        <m:d>
                          <m:dPr>
                            <m:ctrlPr>
                              <a:rPr lang="en-GB" sz="2400" b="1" i="1" kern="100" smtClean="0">
                                <a:solidFill>
                                  <a:srgbClr val="0000CC"/>
                                </a:solidFill>
                                <a:latin typeface="Cambria Math" panose="02040503050406030204" pitchFamily="18" charset="0"/>
                                <a:ea typeface="Calibri" panose="020F0502020204030204" pitchFamily="34" charset="0"/>
                                <a:cs typeface="Times New Roman" panose="02020603050405020304" pitchFamily="18" charset="0"/>
                              </a:rPr>
                            </m:ctrlPr>
                          </m:dPr>
                          <m:e>
                            <m:r>
                              <a:rPr lang="en-US" sz="2400" b="1" i="1" kern="100" smtClean="0">
                                <a:solidFill>
                                  <a:srgbClr val="0000CC"/>
                                </a:solidFill>
                                <a:latin typeface="Cambria Math" panose="02040503050406030204" pitchFamily="18" charset="0"/>
                                <a:ea typeface="Calibri" panose="020F0502020204030204" pitchFamily="34" charset="0"/>
                                <a:cs typeface="Times New Roman" panose="02020603050405020304" pitchFamily="18" charset="0"/>
                              </a:rPr>
                              <m:t>𝟏𝟒</m:t>
                            </m:r>
                            <m:r>
                              <a:rPr lang="en-US" sz="2400" b="1" i="1" kern="100" smtClean="0">
                                <a:solidFill>
                                  <a:srgbClr val="0000CC"/>
                                </a:solidFill>
                                <a:latin typeface="Cambria Math" panose="02040503050406030204" pitchFamily="18" charset="0"/>
                                <a:ea typeface="Calibri" panose="020F0502020204030204" pitchFamily="34" charset="0"/>
                                <a:cs typeface="Times New Roman" panose="02020603050405020304" pitchFamily="18" charset="0"/>
                              </a:rPr>
                              <m:t>.</m:t>
                            </m:r>
                            <m:r>
                              <a:rPr lang="en-US" sz="2400" b="1" i="1" kern="100" smtClean="0">
                                <a:solidFill>
                                  <a:srgbClr val="0000CC"/>
                                </a:solidFill>
                                <a:latin typeface="Cambria Math" panose="02040503050406030204" pitchFamily="18" charset="0"/>
                                <a:ea typeface="Calibri" panose="020F0502020204030204" pitchFamily="34" charset="0"/>
                                <a:cs typeface="Times New Roman" panose="02020603050405020304" pitchFamily="18" charset="0"/>
                              </a:rPr>
                              <m:t>𝟎</m:t>
                            </m:r>
                          </m:e>
                        </m:d>
                      </m:den>
                    </m:f>
                  </m:oMath>
                </a14:m>
                <a:r>
                  <a:rPr lang="en-GB" sz="2400" b="1" kern="100" dirty="0">
                    <a:solidFill>
                      <a:srgbClr val="0000CC"/>
                    </a:solidFill>
                    <a:latin typeface="Century Gothic" panose="020B0502020202020204" pitchFamily="34" charset="0"/>
                    <a:ea typeface="Calibri" panose="020F0502020204030204" pitchFamily="34" charset="0"/>
                    <a:cs typeface="Times New Roman" panose="02020603050405020304" pitchFamily="18" charset="0"/>
                  </a:rPr>
                  <a:t> = 0.66</a:t>
                </a:r>
              </a:p>
            </p:txBody>
          </p:sp>
        </mc:Choice>
        <mc:Fallback xmlns="">
          <p:sp>
            <p:nvSpPr>
              <p:cNvPr id="6" name="TextBox 5">
                <a:extLst>
                  <a:ext uri="{FF2B5EF4-FFF2-40B4-BE49-F238E27FC236}">
                    <a16:creationId xmlns:a16="http://schemas.microsoft.com/office/drawing/2014/main" id="{6BAA1F11-5BEF-4D80-964F-A7332E36BFA0}"/>
                  </a:ext>
                </a:extLst>
              </p:cNvPr>
              <p:cNvSpPr txBox="1">
                <a:spLocks noRot="1" noChangeAspect="1" noMove="1" noResize="1" noEditPoints="1" noAdjustHandles="1" noChangeArrowheads="1" noChangeShapeType="1" noTextEdit="1"/>
              </p:cNvSpPr>
              <p:nvPr/>
            </p:nvSpPr>
            <p:spPr>
              <a:xfrm>
                <a:off x="207523" y="1383437"/>
                <a:ext cx="11507823" cy="5093702"/>
              </a:xfrm>
              <a:prstGeom prst="rect">
                <a:avLst/>
              </a:prstGeom>
              <a:blipFill>
                <a:blip r:embed="rId3"/>
                <a:stretch>
                  <a:fillRect l="-635"/>
                </a:stretch>
              </a:blipFill>
              <a:ln>
                <a:solidFill>
                  <a:srgbClr val="FF0066"/>
                </a:solidFill>
              </a:ln>
            </p:spPr>
            <p:txBody>
              <a:bodyPr/>
              <a:lstStyle/>
              <a:p>
                <a:r>
                  <a:rPr lang="en-US">
                    <a:noFill/>
                  </a:rPr>
                  <a:t> </a:t>
                </a:r>
              </a:p>
            </p:txBody>
          </p:sp>
        </mc:Fallback>
      </mc:AlternateContent>
    </p:spTree>
    <p:extLst>
      <p:ext uri="{BB962C8B-B14F-4D97-AF65-F5344CB8AC3E}">
        <p14:creationId xmlns:p14="http://schemas.microsoft.com/office/powerpoint/2010/main" val="329869810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6">
            <a:extLst>
              <a:ext uri="{FF2B5EF4-FFF2-40B4-BE49-F238E27FC236}">
                <a16:creationId xmlns:a16="http://schemas.microsoft.com/office/drawing/2014/main" id="{56080804-F19F-41A7-8595-943961648C5E}"/>
              </a:ext>
            </a:extLst>
          </p:cNvPr>
          <p:cNvSpPr>
            <a:spLocks noGrp="1"/>
          </p:cNvSpPr>
          <p:nvPr>
            <p:ph type="sldNum" sz="quarter" idx="12"/>
          </p:nvPr>
        </p:nvSpPr>
        <p:spPr>
          <a:xfrm>
            <a:off x="8610600" y="6441692"/>
            <a:ext cx="2743200" cy="370027"/>
          </a:xfrm>
        </p:spPr>
        <p:txBody>
          <a:bodyPr/>
          <a:lstStyle/>
          <a:p>
            <a:fld id="{F4801FD5-11B4-DE43-ACA2-E85EEB9A6F9C}" type="slidenum">
              <a:rPr lang="en-US" smtClean="0">
                <a:latin typeface="Garamond" panose="02020404030301010803" pitchFamily="18" charset="0"/>
              </a:rPr>
              <a:t>41</a:t>
            </a:fld>
            <a:endParaRPr lang="en-US">
              <a:latin typeface="Garamond" panose="02020404030301010803" pitchFamily="18" charset="0"/>
            </a:endParaRPr>
          </a:p>
        </p:txBody>
      </p:sp>
      <p:sp>
        <p:nvSpPr>
          <p:cNvPr id="5" name="Title 1">
            <a:extLst>
              <a:ext uri="{FF2B5EF4-FFF2-40B4-BE49-F238E27FC236}">
                <a16:creationId xmlns:a16="http://schemas.microsoft.com/office/drawing/2014/main" id="{4710AE4B-0DB8-4451-B9E4-10BAE11B4D3A}"/>
              </a:ext>
            </a:extLst>
          </p:cNvPr>
          <p:cNvSpPr>
            <a:spLocks noGrp="1"/>
          </p:cNvSpPr>
          <p:nvPr>
            <p:ph type="title"/>
          </p:nvPr>
        </p:nvSpPr>
        <p:spPr>
          <a:xfrm>
            <a:off x="475035" y="138356"/>
            <a:ext cx="10972800" cy="1115558"/>
          </a:xfrm>
        </p:spPr>
        <p:txBody>
          <a:bodyPr>
            <a:noAutofit/>
          </a:bodyPr>
          <a:lstStyle/>
          <a:p>
            <a:pPr algn="ctr"/>
            <a:r>
              <a:rPr lang="en-US" sz="3200" b="1" u="sng" dirty="0">
                <a:solidFill>
                  <a:srgbClr val="FF3386"/>
                </a:solidFill>
                <a:latin typeface="Century Gothic" panose="020B0502020202020204" pitchFamily="34" charset="0"/>
                <a:cs typeface="Helvetica"/>
              </a:rPr>
              <a:t>POWER COMPUTATION FOR SINUSOIDAL SOURCE AND LINEAR LOAD</a:t>
            </a:r>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6BAA1F11-5BEF-4D80-964F-A7332E36BFA0}"/>
                  </a:ext>
                </a:extLst>
              </p:cNvPr>
              <p:cNvSpPr txBox="1"/>
              <p:nvPr/>
            </p:nvSpPr>
            <p:spPr>
              <a:xfrm>
                <a:off x="207523" y="1383437"/>
                <a:ext cx="11507823" cy="4830874"/>
              </a:xfrm>
              <a:prstGeom prst="rect">
                <a:avLst/>
              </a:prstGeom>
              <a:noFill/>
              <a:ln>
                <a:solidFill>
                  <a:srgbClr val="FF0066"/>
                </a:solidFill>
              </a:ln>
            </p:spPr>
            <p:txBody>
              <a:bodyPr wrap="square" rtlCol="0">
                <a:spAutoFit/>
              </a:bodyPr>
              <a:lstStyle/>
              <a:p>
                <a:pPr marL="342900" indent="-342900">
                  <a:buClr>
                    <a:schemeClr val="accent2"/>
                  </a:buClr>
                  <a:buFont typeface="Arial" panose="020B0604020202020204" pitchFamily="34" charset="0"/>
                  <a:buChar char="•"/>
                </a:pPr>
                <a:r>
                  <a:rPr lang="en-GB" sz="2400" kern="100" dirty="0">
                    <a:solidFill>
                      <a:srgbClr val="0000CC"/>
                    </a:solidFill>
                    <a:latin typeface="Century Gothic" panose="020B0502020202020204" pitchFamily="34" charset="0"/>
                    <a:ea typeface="Calibri" panose="020F0502020204030204" pitchFamily="34" charset="0"/>
                    <a:cs typeface="Times New Roman" panose="02020603050405020304" pitchFamily="18" charset="0"/>
                  </a:rPr>
                  <a:t>Alternatively, power factor can be computed as</a:t>
                </a:r>
              </a:p>
              <a:p>
                <a:pPr>
                  <a:buClr>
                    <a:schemeClr val="accent2"/>
                  </a:buClr>
                </a:pPr>
                <a:r>
                  <a:rPr lang="en-GB" sz="2400" b="1" kern="100" dirty="0">
                    <a:solidFill>
                      <a:srgbClr val="0000CC"/>
                    </a:solidFill>
                    <a:latin typeface="Century Gothic" panose="020B0502020202020204" pitchFamily="34" charset="0"/>
                    <a:ea typeface="Calibri" panose="020F0502020204030204" pitchFamily="34" charset="0"/>
                    <a:cs typeface="Times New Roman" panose="02020603050405020304" pitchFamily="18" charset="0"/>
                  </a:rPr>
                  <a:t> 	pf = </a:t>
                </a:r>
                <a14:m>
                  <m:oMath xmlns:m="http://schemas.openxmlformats.org/officeDocument/2006/math">
                    <m:f>
                      <m:fPr>
                        <m:ctrlPr>
                          <a:rPr lang="en-GB" sz="2400" b="1" i="1" kern="100" smtClean="0">
                            <a:solidFill>
                              <a:srgbClr val="0000CC"/>
                            </a:solidFill>
                            <a:latin typeface="Cambria Math" panose="02040503050406030204" pitchFamily="18" charset="0"/>
                            <a:ea typeface="Calibri" panose="020F0502020204030204" pitchFamily="34" charset="0"/>
                            <a:cs typeface="Times New Roman" panose="02020603050405020304" pitchFamily="18" charset="0"/>
                          </a:rPr>
                        </m:ctrlPr>
                      </m:fPr>
                      <m:num>
                        <m:sSub>
                          <m:sSubPr>
                            <m:ctrlPr>
                              <a:rPr lang="en-GB" sz="2400" b="1" i="1" kern="100" smtClean="0">
                                <a:solidFill>
                                  <a:srgbClr val="0000CC"/>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2400" b="1" i="1" kern="100" smtClean="0">
                                <a:solidFill>
                                  <a:srgbClr val="0000CC"/>
                                </a:solidFill>
                                <a:latin typeface="Cambria Math" panose="02040503050406030204" pitchFamily="18" charset="0"/>
                                <a:ea typeface="Calibri" panose="020F0502020204030204" pitchFamily="34" charset="0"/>
                                <a:cs typeface="Times New Roman" panose="02020603050405020304" pitchFamily="18" charset="0"/>
                              </a:rPr>
                              <m:t>𝑰</m:t>
                            </m:r>
                          </m:e>
                          <m:sub>
                            <m:r>
                              <a:rPr lang="en-US" sz="2400" b="1" i="1" kern="100" smtClean="0">
                                <a:solidFill>
                                  <a:srgbClr val="0000CC"/>
                                </a:solidFill>
                                <a:latin typeface="Cambria Math" panose="02040503050406030204" pitchFamily="18" charset="0"/>
                                <a:ea typeface="Calibri" panose="020F0502020204030204" pitchFamily="34" charset="0"/>
                                <a:cs typeface="Times New Roman" panose="02020603050405020304" pitchFamily="18" charset="0"/>
                              </a:rPr>
                              <m:t>𝟏</m:t>
                            </m:r>
                            <m:r>
                              <a:rPr lang="en-US" sz="2400" b="1" i="1" kern="100" smtClean="0">
                                <a:solidFill>
                                  <a:srgbClr val="0000CC"/>
                                </a:solidFill>
                                <a:latin typeface="Cambria Math" panose="02040503050406030204" pitchFamily="18" charset="0"/>
                                <a:ea typeface="Calibri" panose="020F0502020204030204" pitchFamily="34" charset="0"/>
                                <a:cs typeface="Times New Roman" panose="02020603050405020304" pitchFamily="18" charset="0"/>
                              </a:rPr>
                              <m:t>,</m:t>
                            </m:r>
                            <m:r>
                              <a:rPr lang="en-US" sz="2400" b="1" i="1" kern="100" smtClean="0">
                                <a:solidFill>
                                  <a:srgbClr val="0000CC"/>
                                </a:solidFill>
                                <a:latin typeface="Cambria Math" panose="02040503050406030204" pitchFamily="18" charset="0"/>
                                <a:ea typeface="Calibri" panose="020F0502020204030204" pitchFamily="34" charset="0"/>
                                <a:cs typeface="Times New Roman" panose="02020603050405020304" pitchFamily="18" charset="0"/>
                              </a:rPr>
                              <m:t>𝒓𝒎𝒔</m:t>
                            </m:r>
                          </m:sub>
                        </m:sSub>
                        <m:func>
                          <m:funcPr>
                            <m:ctrlPr>
                              <a:rPr lang="en-GB" sz="2400" b="1" i="1" kern="100" smtClean="0">
                                <a:solidFill>
                                  <a:srgbClr val="0000CC"/>
                                </a:solidFill>
                                <a:latin typeface="Cambria Math" panose="02040503050406030204" pitchFamily="18" charset="0"/>
                                <a:ea typeface="Calibri" panose="020F0502020204030204" pitchFamily="34" charset="0"/>
                                <a:cs typeface="Times New Roman" panose="02020603050405020304" pitchFamily="18" charset="0"/>
                              </a:rPr>
                            </m:ctrlPr>
                          </m:funcPr>
                          <m:fName>
                            <m:r>
                              <m:rPr>
                                <m:sty m:val="p"/>
                              </m:rPr>
                              <a:rPr lang="en-GB" sz="2400" b="0" i="0" kern="100" smtClean="0">
                                <a:solidFill>
                                  <a:srgbClr val="0000CC"/>
                                </a:solidFill>
                                <a:latin typeface="Cambria Math" panose="02040503050406030204" pitchFamily="18" charset="0"/>
                                <a:ea typeface="Calibri" panose="020F0502020204030204" pitchFamily="34" charset="0"/>
                                <a:cs typeface="Times New Roman" panose="02020603050405020304" pitchFamily="18" charset="0"/>
                              </a:rPr>
                              <m:t>cos</m:t>
                            </m:r>
                          </m:fName>
                          <m:e>
                            <m:d>
                              <m:dPr>
                                <m:ctrlPr>
                                  <a:rPr lang="en-GB" sz="2400" b="0" i="1" kern="100" smtClean="0">
                                    <a:solidFill>
                                      <a:srgbClr val="0000CC"/>
                                    </a:solidFill>
                                    <a:latin typeface="Cambria Math" panose="02040503050406030204" pitchFamily="18" charset="0"/>
                                    <a:ea typeface="Calibri" panose="020F0502020204030204" pitchFamily="34" charset="0"/>
                                    <a:cs typeface="Times New Roman" panose="02020603050405020304" pitchFamily="18" charset="0"/>
                                  </a:rPr>
                                </m:ctrlPr>
                              </m:dPr>
                              <m:e>
                                <m:sSub>
                                  <m:sSubPr>
                                    <m:ctrlPr>
                                      <a:rPr lang="en-GB" sz="2400" b="0" i="1" kern="100" smtClean="0">
                                        <a:solidFill>
                                          <a:srgbClr val="0000CC"/>
                                        </a:solidFill>
                                        <a:latin typeface="Cambria Math" panose="02040503050406030204" pitchFamily="18" charset="0"/>
                                        <a:ea typeface="Calibri" panose="020F0502020204030204" pitchFamily="34" charset="0"/>
                                        <a:cs typeface="Times New Roman" panose="02020603050405020304" pitchFamily="18" charset="0"/>
                                      </a:rPr>
                                    </m:ctrlPr>
                                  </m:sSubPr>
                                  <m:e>
                                    <m:r>
                                      <a:rPr lang="en-GB" sz="2400" b="0" i="1" kern="100" smtClean="0">
                                        <a:solidFill>
                                          <a:srgbClr val="0000CC"/>
                                        </a:solidFill>
                                        <a:latin typeface="Cambria Math" panose="02040503050406030204" pitchFamily="18" charset="0"/>
                                        <a:ea typeface="Cambria Math" panose="02040503050406030204" pitchFamily="18" charset="0"/>
                                        <a:cs typeface="Times New Roman" panose="02020603050405020304" pitchFamily="18" charset="0"/>
                                      </a:rPr>
                                      <m:t>𝜃</m:t>
                                    </m:r>
                                  </m:e>
                                  <m:sub>
                                    <m:r>
                                      <a:rPr lang="en-US" sz="2400" b="0" i="1" kern="100" smtClean="0">
                                        <a:solidFill>
                                          <a:srgbClr val="0000CC"/>
                                        </a:solidFill>
                                        <a:latin typeface="Cambria Math" panose="02040503050406030204" pitchFamily="18" charset="0"/>
                                        <a:ea typeface="Calibri" panose="020F0502020204030204" pitchFamily="34" charset="0"/>
                                        <a:cs typeface="Times New Roman" panose="02020603050405020304" pitchFamily="18" charset="0"/>
                                      </a:rPr>
                                      <m:t>1</m:t>
                                    </m:r>
                                  </m:sub>
                                </m:sSub>
                                <m:r>
                                  <a:rPr lang="en-GB" sz="2400" b="0" i="1" kern="100" smtClean="0">
                                    <a:solidFill>
                                      <a:srgbClr val="0000CC"/>
                                    </a:solidFill>
                                    <a:latin typeface="Cambria Math" panose="02040503050406030204" pitchFamily="18" charset="0"/>
                                    <a:ea typeface="Cambria Math" panose="02040503050406030204" pitchFamily="18" charset="0"/>
                                    <a:cs typeface="Times New Roman" panose="02020603050405020304" pitchFamily="18" charset="0"/>
                                  </a:rPr>
                                  <m:t>−</m:t>
                                </m:r>
                                <m:sSub>
                                  <m:sSubPr>
                                    <m:ctrlPr>
                                      <a:rPr lang="en-US" sz="2400" i="1">
                                        <a:solidFill>
                                          <a:srgbClr val="0000CC"/>
                                        </a:solidFill>
                                        <a:latin typeface="Cambria Math" panose="02040503050406030204" pitchFamily="18" charset="0"/>
                                        <a:ea typeface="Cambria Math" panose="02040503050406030204" pitchFamily="18" charset="0"/>
                                      </a:rPr>
                                    </m:ctrlPr>
                                  </m:sSubPr>
                                  <m:e>
                                    <m:r>
                                      <a:rPr lang="en-US" sz="2400" b="0" i="1" dirty="0">
                                        <a:solidFill>
                                          <a:srgbClr val="0000CC"/>
                                        </a:solidFill>
                                        <a:latin typeface="Cambria Math" panose="02040503050406030204" pitchFamily="18" charset="0"/>
                                        <a:ea typeface="Cambria Math" panose="02040503050406030204" pitchFamily="18" charset="0"/>
                                      </a:rPr>
                                      <m:t>𝜙</m:t>
                                    </m:r>
                                  </m:e>
                                  <m:sub>
                                    <m:r>
                                      <a:rPr lang="en-US" sz="2400" b="0" i="1" dirty="0">
                                        <a:solidFill>
                                          <a:srgbClr val="0000CC"/>
                                        </a:solidFill>
                                        <a:latin typeface="Cambria Math" panose="02040503050406030204" pitchFamily="18" charset="0"/>
                                        <a:ea typeface="Cambria Math" panose="02040503050406030204" pitchFamily="18" charset="0"/>
                                      </a:rPr>
                                      <m:t>1</m:t>
                                    </m:r>
                                  </m:sub>
                                </m:sSub>
                              </m:e>
                            </m:d>
                          </m:e>
                        </m:func>
                      </m:num>
                      <m:den>
                        <m:sSub>
                          <m:sSubPr>
                            <m:ctrlPr>
                              <a:rPr lang="en-GB" sz="2400" b="1" i="1" kern="100" smtClean="0">
                                <a:solidFill>
                                  <a:srgbClr val="0000CC"/>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2400" b="1" i="1" kern="100" smtClean="0">
                                <a:solidFill>
                                  <a:srgbClr val="0000CC"/>
                                </a:solidFill>
                                <a:latin typeface="Cambria Math" panose="02040503050406030204" pitchFamily="18" charset="0"/>
                                <a:ea typeface="Calibri" panose="020F0502020204030204" pitchFamily="34" charset="0"/>
                                <a:cs typeface="Times New Roman" panose="02020603050405020304" pitchFamily="18" charset="0"/>
                              </a:rPr>
                              <m:t>𝑰</m:t>
                            </m:r>
                          </m:e>
                          <m:sub>
                            <m:r>
                              <a:rPr lang="en-US" sz="2400" b="1" i="1" kern="100" smtClean="0">
                                <a:solidFill>
                                  <a:srgbClr val="0000CC"/>
                                </a:solidFill>
                                <a:latin typeface="Cambria Math" panose="02040503050406030204" pitchFamily="18" charset="0"/>
                                <a:ea typeface="Calibri" panose="020F0502020204030204" pitchFamily="34" charset="0"/>
                                <a:cs typeface="Times New Roman" panose="02020603050405020304" pitchFamily="18" charset="0"/>
                              </a:rPr>
                              <m:t>𝒓𝒎𝒔</m:t>
                            </m:r>
                          </m:sub>
                        </m:sSub>
                      </m:den>
                    </m:f>
                  </m:oMath>
                </a14:m>
                <a:r>
                  <a:rPr lang="en-GB" sz="2400" b="1" kern="100" dirty="0">
                    <a:solidFill>
                      <a:srgbClr val="0000CC"/>
                    </a:solidFill>
                    <a:latin typeface="Century Gothic" panose="020B0502020202020204" pitchFamily="34" charset="0"/>
                    <a:ea typeface="Calibri" panose="020F0502020204030204" pitchFamily="34" charset="0"/>
                    <a:cs typeface="Times New Roman" panose="02020603050405020304" pitchFamily="18" charset="0"/>
                  </a:rPr>
                  <a:t> = </a:t>
                </a:r>
                <a14:m>
                  <m:oMath xmlns:m="http://schemas.openxmlformats.org/officeDocument/2006/math">
                    <m:f>
                      <m:fPr>
                        <m:ctrlPr>
                          <a:rPr lang="en-GB" sz="2400" b="1" i="1" kern="100" smtClean="0">
                            <a:solidFill>
                              <a:srgbClr val="0000CC"/>
                            </a:solidFill>
                            <a:latin typeface="Cambria Math" panose="02040503050406030204" pitchFamily="18" charset="0"/>
                            <a:ea typeface="Calibri" panose="020F0502020204030204" pitchFamily="34" charset="0"/>
                            <a:cs typeface="Times New Roman" panose="02020603050405020304" pitchFamily="18" charset="0"/>
                          </a:rPr>
                        </m:ctrlPr>
                      </m:fPr>
                      <m:num>
                        <m:d>
                          <m:dPr>
                            <m:ctrlPr>
                              <a:rPr lang="en-GB" sz="2400" b="1" i="1" kern="100" smtClean="0">
                                <a:solidFill>
                                  <a:srgbClr val="0000CC"/>
                                </a:solidFill>
                                <a:latin typeface="Cambria Math" panose="02040503050406030204" pitchFamily="18" charset="0"/>
                                <a:ea typeface="Calibri" panose="020F0502020204030204" pitchFamily="34" charset="0"/>
                                <a:cs typeface="Times New Roman" panose="02020603050405020304" pitchFamily="18" charset="0"/>
                              </a:rPr>
                            </m:ctrlPr>
                          </m:dPr>
                          <m:e>
                            <m:f>
                              <m:fPr>
                                <m:ctrlPr>
                                  <a:rPr lang="en-GB" sz="2400" b="1" i="1" kern="100" smtClean="0">
                                    <a:solidFill>
                                      <a:srgbClr val="0000CC"/>
                                    </a:solidFill>
                                    <a:latin typeface="Cambria Math" panose="02040503050406030204" pitchFamily="18" charset="0"/>
                                    <a:ea typeface="Calibri" panose="020F0502020204030204" pitchFamily="34" charset="0"/>
                                    <a:cs typeface="Times New Roman" panose="02020603050405020304" pitchFamily="18" charset="0"/>
                                  </a:rPr>
                                </m:ctrlPr>
                              </m:fPr>
                              <m:num>
                                <m:r>
                                  <a:rPr lang="en-US" sz="2400" b="1" i="1" kern="100" smtClean="0">
                                    <a:solidFill>
                                      <a:srgbClr val="0000CC"/>
                                    </a:solidFill>
                                    <a:latin typeface="Cambria Math" panose="02040503050406030204" pitchFamily="18" charset="0"/>
                                    <a:ea typeface="Calibri" panose="020F0502020204030204" pitchFamily="34" charset="0"/>
                                    <a:cs typeface="Times New Roman" panose="02020603050405020304" pitchFamily="18" charset="0"/>
                                  </a:rPr>
                                  <m:t>𝟓</m:t>
                                </m:r>
                              </m:num>
                              <m:den>
                                <m:rad>
                                  <m:radPr>
                                    <m:degHide m:val="on"/>
                                    <m:ctrlPr>
                                      <a:rPr lang="en-GB" sz="2400" b="1" i="1" kern="100" smtClean="0">
                                        <a:solidFill>
                                          <a:srgbClr val="0000CC"/>
                                        </a:solidFill>
                                        <a:latin typeface="Cambria Math" panose="02040503050406030204" pitchFamily="18" charset="0"/>
                                        <a:ea typeface="Calibri" panose="020F0502020204030204" pitchFamily="34" charset="0"/>
                                        <a:cs typeface="Times New Roman" panose="02020603050405020304" pitchFamily="18" charset="0"/>
                                      </a:rPr>
                                    </m:ctrlPr>
                                  </m:radPr>
                                  <m:deg/>
                                  <m:e>
                                    <m:r>
                                      <a:rPr lang="en-US" sz="2400" b="1" i="1" kern="100" smtClean="0">
                                        <a:solidFill>
                                          <a:srgbClr val="0000CC"/>
                                        </a:solidFill>
                                        <a:latin typeface="Cambria Math" panose="02040503050406030204" pitchFamily="18" charset="0"/>
                                        <a:ea typeface="Calibri" panose="020F0502020204030204" pitchFamily="34" charset="0"/>
                                        <a:cs typeface="Times New Roman" panose="02020603050405020304" pitchFamily="18" charset="0"/>
                                      </a:rPr>
                                      <m:t>𝟐</m:t>
                                    </m:r>
                                  </m:e>
                                </m:rad>
                              </m:den>
                            </m:f>
                          </m:e>
                        </m:d>
                        <m:func>
                          <m:funcPr>
                            <m:ctrlPr>
                              <a:rPr lang="en-GB" sz="2400" b="1" i="1" kern="100" smtClean="0">
                                <a:solidFill>
                                  <a:srgbClr val="0000CC"/>
                                </a:solidFill>
                                <a:latin typeface="Cambria Math" panose="02040503050406030204" pitchFamily="18" charset="0"/>
                                <a:ea typeface="Calibri" panose="020F0502020204030204" pitchFamily="34" charset="0"/>
                                <a:cs typeface="Times New Roman" panose="02020603050405020304" pitchFamily="18" charset="0"/>
                              </a:rPr>
                            </m:ctrlPr>
                          </m:funcPr>
                          <m:fName>
                            <m:r>
                              <m:rPr>
                                <m:sty m:val="p"/>
                              </m:rPr>
                              <a:rPr lang="en-GB" sz="2400" b="0" i="0" kern="100" smtClean="0">
                                <a:solidFill>
                                  <a:srgbClr val="0000CC"/>
                                </a:solidFill>
                                <a:latin typeface="Cambria Math" panose="02040503050406030204" pitchFamily="18" charset="0"/>
                                <a:ea typeface="Calibri" panose="020F0502020204030204" pitchFamily="34" charset="0"/>
                                <a:cs typeface="Times New Roman" panose="02020603050405020304" pitchFamily="18" charset="0"/>
                              </a:rPr>
                              <m:t>cos</m:t>
                            </m:r>
                          </m:fName>
                          <m:e>
                            <m:d>
                              <m:dPr>
                                <m:ctrlPr>
                                  <a:rPr lang="en-GB" sz="2400" b="0" i="1" kern="100" smtClean="0">
                                    <a:solidFill>
                                      <a:srgbClr val="0000CC"/>
                                    </a:solidFill>
                                    <a:latin typeface="Cambria Math" panose="02040503050406030204" pitchFamily="18" charset="0"/>
                                    <a:ea typeface="Calibri" panose="020F0502020204030204" pitchFamily="34" charset="0"/>
                                    <a:cs typeface="Times New Roman" panose="02020603050405020304" pitchFamily="18" charset="0"/>
                                  </a:rPr>
                                </m:ctrlPr>
                              </m:dPr>
                              <m:e>
                                <m:r>
                                  <a:rPr lang="en-US" sz="2400" b="0" i="1" kern="100" smtClean="0">
                                    <a:solidFill>
                                      <a:srgbClr val="0000CC"/>
                                    </a:solidFill>
                                    <a:latin typeface="Cambria Math" panose="02040503050406030204" pitchFamily="18" charset="0"/>
                                    <a:ea typeface="Calibri" panose="020F0502020204030204" pitchFamily="34" charset="0"/>
                                    <a:cs typeface="Times New Roman" panose="02020603050405020304" pitchFamily="18" charset="0"/>
                                  </a:rPr>
                                  <m:t>0</m:t>
                                </m:r>
                                <m:r>
                                  <a:rPr lang="en-US" sz="2400" b="0" i="1" kern="100" smtClean="0">
                                    <a:solidFill>
                                      <a:srgbClr val="0000CC"/>
                                    </a:solidFill>
                                    <a:latin typeface="Cambria Math" panose="02040503050406030204" pitchFamily="18" charset="0"/>
                                    <a:ea typeface="Cambria Math" panose="02040503050406030204" pitchFamily="18" charset="0"/>
                                    <a:cs typeface="Times New Roman" panose="02020603050405020304" pitchFamily="18" charset="0"/>
                                  </a:rPr>
                                  <m:t>−</m:t>
                                </m:r>
                                <m:sSup>
                                  <m:sSupPr>
                                    <m:ctrlPr>
                                      <a:rPr lang="en-US" sz="2400" b="0" i="1" kern="100" smtClean="0">
                                        <a:solidFill>
                                          <a:srgbClr val="0000CC"/>
                                        </a:solidFill>
                                        <a:latin typeface="Cambria Math" panose="02040503050406030204" pitchFamily="18" charset="0"/>
                                        <a:ea typeface="Cambria Math" panose="02040503050406030204" pitchFamily="18" charset="0"/>
                                        <a:cs typeface="Times New Roman" panose="02020603050405020304" pitchFamily="18" charset="0"/>
                                      </a:rPr>
                                    </m:ctrlPr>
                                  </m:sSupPr>
                                  <m:e>
                                    <m:r>
                                      <a:rPr lang="en-US" sz="2400" b="0" i="1" kern="100" smtClean="0">
                                        <a:solidFill>
                                          <a:srgbClr val="0000CC"/>
                                        </a:solidFill>
                                        <a:latin typeface="Cambria Math" panose="02040503050406030204" pitchFamily="18" charset="0"/>
                                        <a:ea typeface="Cambria Math" panose="02040503050406030204" pitchFamily="18" charset="0"/>
                                        <a:cs typeface="Times New Roman" panose="02020603050405020304" pitchFamily="18" charset="0"/>
                                      </a:rPr>
                                      <m:t>30</m:t>
                                    </m:r>
                                  </m:e>
                                  <m:sup>
                                    <m:r>
                                      <a:rPr lang="en-US" sz="2400" b="0" i="1" kern="100" smtClean="0">
                                        <a:solidFill>
                                          <a:srgbClr val="0000CC"/>
                                        </a:solidFill>
                                        <a:latin typeface="Cambria Math" panose="02040503050406030204" pitchFamily="18" charset="0"/>
                                        <a:ea typeface="Cambria Math" panose="02040503050406030204" pitchFamily="18" charset="0"/>
                                        <a:cs typeface="Times New Roman" panose="02020603050405020304" pitchFamily="18" charset="0"/>
                                      </a:rPr>
                                      <m:t>°</m:t>
                                    </m:r>
                                  </m:sup>
                                </m:sSup>
                              </m:e>
                            </m:d>
                          </m:e>
                        </m:func>
                      </m:num>
                      <m:den>
                        <m:r>
                          <a:rPr lang="en-US" sz="2400" b="1" i="1" kern="100" smtClean="0">
                            <a:solidFill>
                              <a:srgbClr val="0000CC"/>
                            </a:solidFill>
                            <a:latin typeface="Cambria Math" panose="02040503050406030204" pitchFamily="18" charset="0"/>
                            <a:ea typeface="Calibri" panose="020F0502020204030204" pitchFamily="34" charset="0"/>
                            <a:cs typeface="Times New Roman" panose="02020603050405020304" pitchFamily="18" charset="0"/>
                          </a:rPr>
                          <m:t>𝟏𝟒</m:t>
                        </m:r>
                        <m:r>
                          <a:rPr lang="en-US" sz="2400" b="1" i="1" kern="100" smtClean="0">
                            <a:solidFill>
                              <a:srgbClr val="0000CC"/>
                            </a:solidFill>
                            <a:latin typeface="Cambria Math" panose="02040503050406030204" pitchFamily="18" charset="0"/>
                            <a:ea typeface="Calibri" panose="020F0502020204030204" pitchFamily="34" charset="0"/>
                            <a:cs typeface="Times New Roman" panose="02020603050405020304" pitchFamily="18" charset="0"/>
                          </a:rPr>
                          <m:t>.</m:t>
                        </m:r>
                        <m:r>
                          <a:rPr lang="en-US" sz="2400" b="1" i="1" kern="100" smtClean="0">
                            <a:solidFill>
                              <a:srgbClr val="0000CC"/>
                            </a:solidFill>
                            <a:latin typeface="Cambria Math" panose="02040503050406030204" pitchFamily="18" charset="0"/>
                            <a:ea typeface="Calibri" panose="020F0502020204030204" pitchFamily="34" charset="0"/>
                            <a:cs typeface="Times New Roman" panose="02020603050405020304" pitchFamily="18" charset="0"/>
                          </a:rPr>
                          <m:t>𝟎</m:t>
                        </m:r>
                      </m:den>
                    </m:f>
                  </m:oMath>
                </a14:m>
                <a:r>
                  <a:rPr lang="en-GB" sz="2400" b="1" kern="100" dirty="0">
                    <a:solidFill>
                      <a:srgbClr val="0000CC"/>
                    </a:solidFill>
                    <a:latin typeface="Century Gothic" panose="020B0502020202020204" pitchFamily="34" charset="0"/>
                    <a:ea typeface="Calibri" panose="020F0502020204030204" pitchFamily="34" charset="0"/>
                    <a:cs typeface="Times New Roman" panose="02020603050405020304" pitchFamily="18" charset="0"/>
                  </a:rPr>
                  <a:t> = 0.66</a:t>
                </a:r>
              </a:p>
              <a:p>
                <a:pPr>
                  <a:buClr>
                    <a:schemeClr val="accent2"/>
                  </a:buClr>
                </a:pPr>
                <a:endParaRPr lang="en-GB" sz="2400" b="1" kern="100" dirty="0">
                  <a:solidFill>
                    <a:srgbClr val="0000CC"/>
                  </a:solidFill>
                  <a:latin typeface="Century Gothic" panose="020B0502020202020204" pitchFamily="34" charset="0"/>
                  <a:ea typeface="Calibri" panose="020F0502020204030204" pitchFamily="34" charset="0"/>
                  <a:cs typeface="Times New Roman" panose="02020603050405020304" pitchFamily="18" charset="0"/>
                </a:endParaRPr>
              </a:p>
              <a:p>
                <a:pPr>
                  <a:buClr>
                    <a:schemeClr val="accent2"/>
                  </a:buClr>
                </a:pPr>
                <a:r>
                  <a:rPr lang="en-GB" sz="2400" b="1" kern="100" dirty="0">
                    <a:solidFill>
                      <a:srgbClr val="0000CC"/>
                    </a:solidFill>
                    <a:latin typeface="Century Gothic" panose="020B0502020202020204" pitchFamily="34" charset="0"/>
                    <a:ea typeface="Calibri" panose="020F0502020204030204" pitchFamily="34" charset="0"/>
                    <a:cs typeface="Times New Roman" panose="02020603050405020304" pitchFamily="18" charset="0"/>
                  </a:rPr>
                  <a:t> (c) </a:t>
                </a:r>
                <a:r>
                  <a:rPr lang="en-GB" sz="2400" kern="100" dirty="0">
                    <a:solidFill>
                      <a:srgbClr val="0000CC"/>
                    </a:solidFill>
                    <a:latin typeface="Century Gothic" panose="020B0502020202020204" pitchFamily="34" charset="0"/>
                    <a:ea typeface="Calibri" panose="020F0502020204030204" pitchFamily="34" charset="0"/>
                    <a:cs typeface="Times New Roman" panose="02020603050405020304" pitchFamily="18" charset="0"/>
                  </a:rPr>
                  <a:t>Distortion Factor is determined by</a:t>
                </a:r>
                <a:br>
                  <a:rPr lang="en-GB" sz="2400" b="1" kern="100" dirty="0">
                    <a:solidFill>
                      <a:srgbClr val="0000CC"/>
                    </a:solidFill>
                    <a:latin typeface="Century Gothic" panose="020B0502020202020204" pitchFamily="34" charset="0"/>
                    <a:ea typeface="Calibri" panose="020F0502020204030204" pitchFamily="34" charset="0"/>
                    <a:cs typeface="Times New Roman" panose="02020603050405020304" pitchFamily="18" charset="0"/>
                  </a:rPr>
                </a:br>
                <a:r>
                  <a:rPr lang="en-GB" sz="2400" b="1" kern="100" dirty="0">
                    <a:solidFill>
                      <a:srgbClr val="0000CC"/>
                    </a:solidFill>
                    <a:latin typeface="Century Gothic" panose="020B0502020202020204" pitchFamily="34" charset="0"/>
                    <a:ea typeface="Calibri" panose="020F0502020204030204" pitchFamily="34" charset="0"/>
                    <a:cs typeface="Times New Roman" panose="02020603050405020304" pitchFamily="18" charset="0"/>
                  </a:rPr>
                  <a:t>		DF = </a:t>
                </a:r>
                <a14:m>
                  <m:oMath xmlns:m="http://schemas.openxmlformats.org/officeDocument/2006/math">
                    <m:f>
                      <m:fPr>
                        <m:ctrlPr>
                          <a:rPr lang="en-GB" sz="2400" b="1" i="1" kern="100" smtClean="0">
                            <a:solidFill>
                              <a:srgbClr val="0000CC"/>
                            </a:solidFill>
                            <a:latin typeface="Cambria Math" panose="02040503050406030204" pitchFamily="18" charset="0"/>
                            <a:ea typeface="Calibri" panose="020F0502020204030204" pitchFamily="34" charset="0"/>
                            <a:cs typeface="Times New Roman" panose="02020603050405020304" pitchFamily="18" charset="0"/>
                          </a:rPr>
                        </m:ctrlPr>
                      </m:fPr>
                      <m:num>
                        <m:sSub>
                          <m:sSubPr>
                            <m:ctrlPr>
                              <a:rPr lang="en-GB" sz="2400" b="1" i="1" kern="100" smtClean="0">
                                <a:solidFill>
                                  <a:srgbClr val="0000CC"/>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2400" b="1" i="1" kern="100" smtClean="0">
                                <a:solidFill>
                                  <a:srgbClr val="0000CC"/>
                                </a:solidFill>
                                <a:latin typeface="Cambria Math" panose="02040503050406030204" pitchFamily="18" charset="0"/>
                                <a:ea typeface="Calibri" panose="020F0502020204030204" pitchFamily="34" charset="0"/>
                                <a:cs typeface="Times New Roman" panose="02020603050405020304" pitchFamily="18" charset="0"/>
                              </a:rPr>
                              <m:t>𝑰</m:t>
                            </m:r>
                          </m:e>
                          <m:sub>
                            <m:r>
                              <a:rPr lang="en-US" sz="2400" b="1" i="1" kern="100" smtClean="0">
                                <a:solidFill>
                                  <a:srgbClr val="0000CC"/>
                                </a:solidFill>
                                <a:latin typeface="Cambria Math" panose="02040503050406030204" pitchFamily="18" charset="0"/>
                                <a:ea typeface="Calibri" panose="020F0502020204030204" pitchFamily="34" charset="0"/>
                                <a:cs typeface="Times New Roman" panose="02020603050405020304" pitchFamily="18" charset="0"/>
                              </a:rPr>
                              <m:t>𝟏</m:t>
                            </m:r>
                            <m:r>
                              <a:rPr lang="en-US" sz="2400" b="1" i="1" kern="100" smtClean="0">
                                <a:solidFill>
                                  <a:srgbClr val="0000CC"/>
                                </a:solidFill>
                                <a:latin typeface="Cambria Math" panose="02040503050406030204" pitchFamily="18" charset="0"/>
                                <a:ea typeface="Calibri" panose="020F0502020204030204" pitchFamily="34" charset="0"/>
                                <a:cs typeface="Times New Roman" panose="02020603050405020304" pitchFamily="18" charset="0"/>
                              </a:rPr>
                              <m:t>,</m:t>
                            </m:r>
                            <m:r>
                              <a:rPr lang="en-US" sz="2400" b="1" i="1" kern="100" smtClean="0">
                                <a:solidFill>
                                  <a:srgbClr val="0000CC"/>
                                </a:solidFill>
                                <a:latin typeface="Cambria Math" panose="02040503050406030204" pitchFamily="18" charset="0"/>
                                <a:ea typeface="Calibri" panose="020F0502020204030204" pitchFamily="34" charset="0"/>
                                <a:cs typeface="Times New Roman" panose="02020603050405020304" pitchFamily="18" charset="0"/>
                              </a:rPr>
                              <m:t>𝒓𝒎𝒔</m:t>
                            </m:r>
                          </m:sub>
                        </m:sSub>
                      </m:num>
                      <m:den>
                        <m:sSub>
                          <m:sSubPr>
                            <m:ctrlPr>
                              <a:rPr lang="en-GB" sz="2400" b="1" i="1" kern="100" smtClean="0">
                                <a:solidFill>
                                  <a:srgbClr val="0000CC"/>
                                </a:solidFill>
                                <a:latin typeface="Cambria Math" panose="02040503050406030204" pitchFamily="18" charset="0"/>
                                <a:ea typeface="Calibri" panose="020F0502020204030204" pitchFamily="34" charset="0"/>
                                <a:cs typeface="Times New Roman" panose="02020603050405020304" pitchFamily="18" charset="0"/>
                              </a:rPr>
                            </m:ctrlPr>
                          </m:sSubPr>
                          <m:e>
                            <m:r>
                              <a:rPr lang="en-US" sz="2400" b="1" i="1" kern="100" smtClean="0">
                                <a:solidFill>
                                  <a:srgbClr val="0000CC"/>
                                </a:solidFill>
                                <a:latin typeface="Cambria Math" panose="02040503050406030204" pitchFamily="18" charset="0"/>
                                <a:ea typeface="Calibri" panose="020F0502020204030204" pitchFamily="34" charset="0"/>
                                <a:cs typeface="Times New Roman" panose="02020603050405020304" pitchFamily="18" charset="0"/>
                              </a:rPr>
                              <m:t>𝑰</m:t>
                            </m:r>
                          </m:e>
                          <m:sub>
                            <m:r>
                              <a:rPr lang="en-US" sz="2400" b="1" i="1" kern="100" smtClean="0">
                                <a:solidFill>
                                  <a:srgbClr val="0000CC"/>
                                </a:solidFill>
                                <a:latin typeface="Cambria Math" panose="02040503050406030204" pitchFamily="18" charset="0"/>
                                <a:ea typeface="Calibri" panose="020F0502020204030204" pitchFamily="34" charset="0"/>
                                <a:cs typeface="Times New Roman" panose="02020603050405020304" pitchFamily="18" charset="0"/>
                              </a:rPr>
                              <m:t>𝒓𝒎𝒔</m:t>
                            </m:r>
                          </m:sub>
                        </m:sSub>
                      </m:den>
                    </m:f>
                  </m:oMath>
                </a14:m>
                <a:r>
                  <a:rPr lang="en-GB" sz="2400" b="1" kern="100" dirty="0">
                    <a:solidFill>
                      <a:srgbClr val="0000CC"/>
                    </a:solidFill>
                    <a:latin typeface="Century Gothic" panose="020B0502020202020204" pitchFamily="34" charset="0"/>
                    <a:ea typeface="Calibri" panose="020F0502020204030204" pitchFamily="34" charset="0"/>
                    <a:cs typeface="Times New Roman" panose="02020603050405020304" pitchFamily="18" charset="0"/>
                  </a:rPr>
                  <a:t> = </a:t>
                </a:r>
                <a14:m>
                  <m:oMath xmlns:m="http://schemas.openxmlformats.org/officeDocument/2006/math">
                    <m:f>
                      <m:fPr>
                        <m:ctrlPr>
                          <a:rPr lang="en-GB" sz="2400" b="1" i="1" kern="100" smtClean="0">
                            <a:solidFill>
                              <a:srgbClr val="0000CC"/>
                            </a:solidFill>
                            <a:latin typeface="Cambria Math" panose="02040503050406030204" pitchFamily="18" charset="0"/>
                            <a:ea typeface="Calibri" panose="020F0502020204030204" pitchFamily="34" charset="0"/>
                            <a:cs typeface="Times New Roman" panose="02020603050405020304" pitchFamily="18" charset="0"/>
                          </a:rPr>
                        </m:ctrlPr>
                      </m:fPr>
                      <m:num>
                        <m:f>
                          <m:fPr>
                            <m:ctrlPr>
                              <a:rPr lang="en-GB" sz="2400" b="1" i="1" kern="100" smtClean="0">
                                <a:solidFill>
                                  <a:srgbClr val="0000CC"/>
                                </a:solidFill>
                                <a:latin typeface="Cambria Math" panose="02040503050406030204" pitchFamily="18" charset="0"/>
                                <a:ea typeface="Calibri" panose="020F0502020204030204" pitchFamily="34" charset="0"/>
                                <a:cs typeface="Times New Roman" panose="02020603050405020304" pitchFamily="18" charset="0"/>
                              </a:rPr>
                            </m:ctrlPr>
                          </m:fPr>
                          <m:num>
                            <m:r>
                              <a:rPr lang="en-US" sz="2400" b="1" i="1" kern="100" smtClean="0">
                                <a:solidFill>
                                  <a:srgbClr val="0000CC"/>
                                </a:solidFill>
                                <a:latin typeface="Cambria Math" panose="02040503050406030204" pitchFamily="18" charset="0"/>
                                <a:ea typeface="Calibri" panose="020F0502020204030204" pitchFamily="34" charset="0"/>
                                <a:cs typeface="Times New Roman" panose="02020603050405020304" pitchFamily="18" charset="0"/>
                              </a:rPr>
                              <m:t>𝟏𝟓</m:t>
                            </m:r>
                          </m:num>
                          <m:den>
                            <m:rad>
                              <m:radPr>
                                <m:degHide m:val="on"/>
                                <m:ctrlPr>
                                  <a:rPr lang="en-GB" sz="2400" b="1" i="1" kern="100" smtClean="0">
                                    <a:solidFill>
                                      <a:srgbClr val="0000CC"/>
                                    </a:solidFill>
                                    <a:latin typeface="Cambria Math" panose="02040503050406030204" pitchFamily="18" charset="0"/>
                                    <a:ea typeface="Calibri" panose="020F0502020204030204" pitchFamily="34" charset="0"/>
                                    <a:cs typeface="Times New Roman" panose="02020603050405020304" pitchFamily="18" charset="0"/>
                                  </a:rPr>
                                </m:ctrlPr>
                              </m:radPr>
                              <m:deg/>
                              <m:e>
                                <m:r>
                                  <a:rPr lang="en-US" sz="2400" b="1" i="1" kern="100" smtClean="0">
                                    <a:solidFill>
                                      <a:srgbClr val="0000CC"/>
                                    </a:solidFill>
                                    <a:latin typeface="Cambria Math" panose="02040503050406030204" pitchFamily="18" charset="0"/>
                                    <a:ea typeface="Calibri" panose="020F0502020204030204" pitchFamily="34" charset="0"/>
                                    <a:cs typeface="Times New Roman" panose="02020603050405020304" pitchFamily="18" charset="0"/>
                                  </a:rPr>
                                  <m:t>𝟐</m:t>
                                </m:r>
                              </m:e>
                            </m:rad>
                          </m:den>
                        </m:f>
                      </m:num>
                      <m:den>
                        <m:r>
                          <a:rPr lang="en-US" sz="2400" b="1" i="1" kern="100" smtClean="0">
                            <a:solidFill>
                              <a:srgbClr val="0000CC"/>
                            </a:solidFill>
                            <a:latin typeface="Cambria Math" panose="02040503050406030204" pitchFamily="18" charset="0"/>
                            <a:ea typeface="Calibri" panose="020F0502020204030204" pitchFamily="34" charset="0"/>
                            <a:cs typeface="Times New Roman" panose="02020603050405020304" pitchFamily="18" charset="0"/>
                          </a:rPr>
                          <m:t>𝟏𝟒</m:t>
                        </m:r>
                        <m:r>
                          <a:rPr lang="en-US" sz="2400" b="1" i="1" kern="100" smtClean="0">
                            <a:solidFill>
                              <a:srgbClr val="0000CC"/>
                            </a:solidFill>
                            <a:latin typeface="Cambria Math" panose="02040503050406030204" pitchFamily="18" charset="0"/>
                            <a:ea typeface="Calibri" panose="020F0502020204030204" pitchFamily="34" charset="0"/>
                            <a:cs typeface="Times New Roman" panose="02020603050405020304" pitchFamily="18" charset="0"/>
                          </a:rPr>
                          <m:t>.</m:t>
                        </m:r>
                        <m:r>
                          <a:rPr lang="en-US" sz="2400" b="1" i="1" kern="100" smtClean="0">
                            <a:solidFill>
                              <a:srgbClr val="0000CC"/>
                            </a:solidFill>
                            <a:latin typeface="Cambria Math" panose="02040503050406030204" pitchFamily="18" charset="0"/>
                            <a:ea typeface="Calibri" panose="020F0502020204030204" pitchFamily="34" charset="0"/>
                            <a:cs typeface="Times New Roman" panose="02020603050405020304" pitchFamily="18" charset="0"/>
                          </a:rPr>
                          <m:t>𝟎</m:t>
                        </m:r>
                      </m:den>
                    </m:f>
                  </m:oMath>
                </a14:m>
                <a:r>
                  <a:rPr lang="en-GB" sz="2400" b="1" kern="100" dirty="0">
                    <a:solidFill>
                      <a:srgbClr val="0000CC"/>
                    </a:solidFill>
                    <a:latin typeface="Century Gothic" panose="020B0502020202020204" pitchFamily="34" charset="0"/>
                    <a:ea typeface="Calibri" panose="020F0502020204030204" pitchFamily="34" charset="0"/>
                    <a:cs typeface="Times New Roman" panose="02020603050405020304" pitchFamily="18" charset="0"/>
                  </a:rPr>
                  <a:t> = 0.76</a:t>
                </a:r>
              </a:p>
              <a:p>
                <a:pPr>
                  <a:buClr>
                    <a:schemeClr val="accent2"/>
                  </a:buClr>
                </a:pPr>
                <a:endParaRPr lang="en-GB" sz="2400" b="1" kern="100" dirty="0">
                  <a:solidFill>
                    <a:srgbClr val="0000CC"/>
                  </a:solidFill>
                  <a:latin typeface="Century Gothic" panose="020B0502020202020204" pitchFamily="34" charset="0"/>
                  <a:ea typeface="Calibri" panose="020F0502020204030204" pitchFamily="34" charset="0"/>
                  <a:cs typeface="Times New Roman" panose="02020603050405020304" pitchFamily="18" charset="0"/>
                </a:endParaRPr>
              </a:p>
              <a:p>
                <a:pPr>
                  <a:buClr>
                    <a:schemeClr val="accent2"/>
                  </a:buClr>
                </a:pPr>
                <a:r>
                  <a:rPr lang="en-GB" sz="2400" b="1" kern="100" dirty="0">
                    <a:solidFill>
                      <a:srgbClr val="0000CC"/>
                    </a:solidFill>
                    <a:latin typeface="Century Gothic" panose="020B0502020202020204" pitchFamily="34" charset="0"/>
                    <a:ea typeface="Calibri" panose="020F0502020204030204" pitchFamily="34" charset="0"/>
                    <a:cs typeface="Times New Roman" panose="02020603050405020304" pitchFamily="18" charset="0"/>
                  </a:rPr>
                  <a:t> (d</a:t>
                </a:r>
                <a:r>
                  <a:rPr lang="en-GB" sz="2400" kern="100" dirty="0">
                    <a:solidFill>
                      <a:srgbClr val="0000CC"/>
                    </a:solidFill>
                    <a:latin typeface="Century Gothic" panose="020B0502020202020204" pitchFamily="34" charset="0"/>
                    <a:ea typeface="Calibri" panose="020F0502020204030204" pitchFamily="34" charset="0"/>
                    <a:cs typeface="Times New Roman" panose="02020603050405020304" pitchFamily="18" charset="0"/>
                  </a:rPr>
                  <a:t>) Total harmonic distortion of the load current is determined by</a:t>
                </a:r>
              </a:p>
              <a:p>
                <a:pPr>
                  <a:buClr>
                    <a:schemeClr val="accent2"/>
                  </a:buClr>
                </a:pPr>
                <a:r>
                  <a:rPr lang="en-GB" sz="2400" b="1" kern="100" dirty="0">
                    <a:solidFill>
                      <a:srgbClr val="0000CC"/>
                    </a:solidFill>
                    <a:latin typeface="Century Gothic" panose="020B0502020202020204" pitchFamily="34" charset="0"/>
                    <a:ea typeface="Calibri" panose="020F0502020204030204" pitchFamily="34" charset="0"/>
                    <a:cs typeface="Times New Roman" panose="02020603050405020304" pitchFamily="18" charset="0"/>
                  </a:rPr>
                  <a:t>		THD = </a:t>
                </a:r>
                <a14:m>
                  <m:oMath xmlns:m="http://schemas.openxmlformats.org/officeDocument/2006/math">
                    <m:rad>
                      <m:radPr>
                        <m:degHide m:val="on"/>
                        <m:ctrlPr>
                          <a:rPr lang="en-GB" sz="2400" b="1" i="1" kern="100" smtClean="0">
                            <a:solidFill>
                              <a:srgbClr val="0000CC"/>
                            </a:solidFill>
                            <a:latin typeface="Cambria Math" panose="02040503050406030204" pitchFamily="18" charset="0"/>
                            <a:ea typeface="Calibri" panose="020F0502020204030204" pitchFamily="34" charset="0"/>
                            <a:cs typeface="Times New Roman" panose="02020603050405020304" pitchFamily="18" charset="0"/>
                          </a:rPr>
                        </m:ctrlPr>
                      </m:radPr>
                      <m:deg/>
                      <m:e>
                        <m:f>
                          <m:fPr>
                            <m:ctrlPr>
                              <a:rPr lang="en-GB" sz="2400" b="1" i="1" kern="100" smtClean="0">
                                <a:solidFill>
                                  <a:srgbClr val="0000CC"/>
                                </a:solidFill>
                                <a:latin typeface="Cambria Math" panose="02040503050406030204" pitchFamily="18" charset="0"/>
                                <a:ea typeface="Calibri" panose="020F0502020204030204" pitchFamily="34" charset="0"/>
                                <a:cs typeface="Times New Roman" panose="02020603050405020304" pitchFamily="18" charset="0"/>
                              </a:rPr>
                            </m:ctrlPr>
                          </m:fPr>
                          <m:num>
                            <m:sSubSup>
                              <m:sSubSupPr>
                                <m:ctrlPr>
                                  <a:rPr lang="en-GB" sz="2400" b="1" i="1" kern="100" smtClean="0">
                                    <a:solidFill>
                                      <a:srgbClr val="0000CC"/>
                                    </a:solidFill>
                                    <a:latin typeface="Cambria Math" panose="02040503050406030204" pitchFamily="18" charset="0"/>
                                    <a:ea typeface="Calibri" panose="020F0502020204030204" pitchFamily="34" charset="0"/>
                                    <a:cs typeface="Times New Roman" panose="02020603050405020304" pitchFamily="18" charset="0"/>
                                  </a:rPr>
                                </m:ctrlPr>
                              </m:sSubSupPr>
                              <m:e>
                                <m:r>
                                  <a:rPr lang="en-US" sz="2400" b="1" i="1" kern="100" smtClean="0">
                                    <a:solidFill>
                                      <a:srgbClr val="0000CC"/>
                                    </a:solidFill>
                                    <a:latin typeface="Cambria Math" panose="02040503050406030204" pitchFamily="18" charset="0"/>
                                    <a:ea typeface="Calibri" panose="020F0502020204030204" pitchFamily="34" charset="0"/>
                                    <a:cs typeface="Times New Roman" panose="02020603050405020304" pitchFamily="18" charset="0"/>
                                  </a:rPr>
                                  <m:t>𝑰</m:t>
                                </m:r>
                              </m:e>
                              <m:sub>
                                <m:r>
                                  <a:rPr lang="en-US" sz="2400" b="1" i="1" kern="100" smtClean="0">
                                    <a:solidFill>
                                      <a:srgbClr val="0000CC"/>
                                    </a:solidFill>
                                    <a:latin typeface="Cambria Math" panose="02040503050406030204" pitchFamily="18" charset="0"/>
                                    <a:ea typeface="Calibri" panose="020F0502020204030204" pitchFamily="34" charset="0"/>
                                    <a:cs typeface="Times New Roman" panose="02020603050405020304" pitchFamily="18" charset="0"/>
                                  </a:rPr>
                                  <m:t>𝒓𝒎𝒔</m:t>
                                </m:r>
                              </m:sub>
                              <m:sup>
                                <m:r>
                                  <a:rPr lang="en-US" sz="2400" b="1" i="1" kern="100" smtClean="0">
                                    <a:solidFill>
                                      <a:srgbClr val="0000CC"/>
                                    </a:solidFill>
                                    <a:latin typeface="Cambria Math" panose="02040503050406030204" pitchFamily="18" charset="0"/>
                                    <a:ea typeface="Calibri" panose="020F0502020204030204" pitchFamily="34" charset="0"/>
                                    <a:cs typeface="Times New Roman" panose="02020603050405020304" pitchFamily="18" charset="0"/>
                                  </a:rPr>
                                  <m:t>𝟐</m:t>
                                </m:r>
                              </m:sup>
                            </m:sSubSup>
                            <m:r>
                              <a:rPr lang="en-GB" sz="2400" b="1" i="1" kern="100" smtClean="0">
                                <a:solidFill>
                                  <a:srgbClr val="0000CC"/>
                                </a:solidFill>
                                <a:latin typeface="Cambria Math" panose="02040503050406030204" pitchFamily="18" charset="0"/>
                                <a:ea typeface="Cambria Math" panose="02040503050406030204" pitchFamily="18" charset="0"/>
                                <a:cs typeface="Times New Roman" panose="02020603050405020304" pitchFamily="18" charset="0"/>
                              </a:rPr>
                              <m:t>−</m:t>
                            </m:r>
                            <m:sSubSup>
                              <m:sSubSupPr>
                                <m:ctrlPr>
                                  <a:rPr lang="en-GB" sz="2400" b="1" i="1" kern="100" smtClean="0">
                                    <a:solidFill>
                                      <a:srgbClr val="0000CC"/>
                                    </a:solidFill>
                                    <a:latin typeface="Cambria Math" panose="02040503050406030204" pitchFamily="18" charset="0"/>
                                    <a:ea typeface="Cambria Math" panose="02040503050406030204" pitchFamily="18" charset="0"/>
                                    <a:cs typeface="Times New Roman" panose="02020603050405020304" pitchFamily="18" charset="0"/>
                                  </a:rPr>
                                </m:ctrlPr>
                              </m:sSubSupPr>
                              <m:e>
                                <m:r>
                                  <a:rPr lang="en-US" sz="2400" b="1" i="1" kern="100" smtClean="0">
                                    <a:solidFill>
                                      <a:srgbClr val="0000CC"/>
                                    </a:solidFill>
                                    <a:latin typeface="Cambria Math" panose="02040503050406030204" pitchFamily="18" charset="0"/>
                                    <a:ea typeface="Cambria Math" panose="02040503050406030204" pitchFamily="18" charset="0"/>
                                    <a:cs typeface="Times New Roman" panose="02020603050405020304" pitchFamily="18" charset="0"/>
                                  </a:rPr>
                                  <m:t>𝑰</m:t>
                                </m:r>
                              </m:e>
                              <m:sub>
                                <m:r>
                                  <a:rPr lang="en-US" sz="2400" b="1" i="1" kern="100" smtClean="0">
                                    <a:solidFill>
                                      <a:srgbClr val="0000CC"/>
                                    </a:solidFill>
                                    <a:latin typeface="Cambria Math" panose="02040503050406030204" pitchFamily="18" charset="0"/>
                                    <a:ea typeface="Cambria Math" panose="02040503050406030204" pitchFamily="18" charset="0"/>
                                    <a:cs typeface="Times New Roman" panose="02020603050405020304" pitchFamily="18" charset="0"/>
                                  </a:rPr>
                                  <m:t>𝟏</m:t>
                                </m:r>
                                <m:r>
                                  <a:rPr lang="en-US" sz="2400" b="1" i="1" kern="100" smtClean="0">
                                    <a:solidFill>
                                      <a:srgbClr val="0000CC"/>
                                    </a:solidFill>
                                    <a:latin typeface="Cambria Math" panose="02040503050406030204" pitchFamily="18" charset="0"/>
                                    <a:ea typeface="Cambria Math" panose="02040503050406030204" pitchFamily="18" charset="0"/>
                                    <a:cs typeface="Times New Roman" panose="02020603050405020304" pitchFamily="18" charset="0"/>
                                  </a:rPr>
                                  <m:t>,</m:t>
                                </m:r>
                                <m:r>
                                  <a:rPr lang="en-US" sz="2400" b="1" i="1" kern="100" smtClean="0">
                                    <a:solidFill>
                                      <a:srgbClr val="0000CC"/>
                                    </a:solidFill>
                                    <a:latin typeface="Cambria Math" panose="02040503050406030204" pitchFamily="18" charset="0"/>
                                    <a:ea typeface="Cambria Math" panose="02040503050406030204" pitchFamily="18" charset="0"/>
                                    <a:cs typeface="Times New Roman" panose="02020603050405020304" pitchFamily="18" charset="0"/>
                                  </a:rPr>
                                  <m:t>𝒓𝒎𝒔</m:t>
                                </m:r>
                              </m:sub>
                              <m:sup>
                                <m:r>
                                  <a:rPr lang="en-US" sz="2400" b="1" i="1" kern="100" smtClean="0">
                                    <a:solidFill>
                                      <a:srgbClr val="0000CC"/>
                                    </a:solidFill>
                                    <a:latin typeface="Cambria Math" panose="02040503050406030204" pitchFamily="18" charset="0"/>
                                    <a:ea typeface="Cambria Math" panose="02040503050406030204" pitchFamily="18" charset="0"/>
                                    <a:cs typeface="Times New Roman" panose="02020603050405020304" pitchFamily="18" charset="0"/>
                                  </a:rPr>
                                  <m:t>𝟐</m:t>
                                </m:r>
                              </m:sup>
                            </m:sSubSup>
                          </m:num>
                          <m:den>
                            <m:sSubSup>
                              <m:sSubSupPr>
                                <m:ctrlPr>
                                  <a:rPr lang="en-GB" sz="2400" b="1" i="1" kern="100" smtClean="0">
                                    <a:solidFill>
                                      <a:srgbClr val="0000CC"/>
                                    </a:solidFill>
                                    <a:latin typeface="Cambria Math" panose="02040503050406030204" pitchFamily="18" charset="0"/>
                                    <a:ea typeface="Calibri" panose="020F0502020204030204" pitchFamily="34" charset="0"/>
                                    <a:cs typeface="Times New Roman" panose="02020603050405020304" pitchFamily="18" charset="0"/>
                                  </a:rPr>
                                </m:ctrlPr>
                              </m:sSubSupPr>
                              <m:e>
                                <m:r>
                                  <a:rPr lang="en-US" sz="2400" b="1" i="1" kern="100" smtClean="0">
                                    <a:solidFill>
                                      <a:srgbClr val="0000CC"/>
                                    </a:solidFill>
                                    <a:latin typeface="Cambria Math" panose="02040503050406030204" pitchFamily="18" charset="0"/>
                                    <a:ea typeface="Calibri" panose="020F0502020204030204" pitchFamily="34" charset="0"/>
                                    <a:cs typeface="Times New Roman" panose="02020603050405020304" pitchFamily="18" charset="0"/>
                                  </a:rPr>
                                  <m:t>𝑰</m:t>
                                </m:r>
                              </m:e>
                              <m:sub>
                                <m:r>
                                  <a:rPr lang="en-US" sz="2400" b="1" i="1" kern="100" smtClean="0">
                                    <a:solidFill>
                                      <a:srgbClr val="0000CC"/>
                                    </a:solidFill>
                                    <a:latin typeface="Cambria Math" panose="02040503050406030204" pitchFamily="18" charset="0"/>
                                    <a:ea typeface="Calibri" panose="020F0502020204030204" pitchFamily="34" charset="0"/>
                                    <a:cs typeface="Times New Roman" panose="02020603050405020304" pitchFamily="18" charset="0"/>
                                  </a:rPr>
                                  <m:t>𝟏</m:t>
                                </m:r>
                                <m:r>
                                  <a:rPr lang="en-US" sz="2400" b="1" i="1" kern="100" smtClean="0">
                                    <a:solidFill>
                                      <a:srgbClr val="0000CC"/>
                                    </a:solidFill>
                                    <a:latin typeface="Cambria Math" panose="02040503050406030204" pitchFamily="18" charset="0"/>
                                    <a:ea typeface="Calibri" panose="020F0502020204030204" pitchFamily="34" charset="0"/>
                                    <a:cs typeface="Times New Roman" panose="02020603050405020304" pitchFamily="18" charset="0"/>
                                  </a:rPr>
                                  <m:t>,</m:t>
                                </m:r>
                                <m:r>
                                  <a:rPr lang="en-US" sz="2400" b="1" i="1" kern="100" smtClean="0">
                                    <a:solidFill>
                                      <a:srgbClr val="0000CC"/>
                                    </a:solidFill>
                                    <a:latin typeface="Cambria Math" panose="02040503050406030204" pitchFamily="18" charset="0"/>
                                    <a:ea typeface="Calibri" panose="020F0502020204030204" pitchFamily="34" charset="0"/>
                                    <a:cs typeface="Times New Roman" panose="02020603050405020304" pitchFamily="18" charset="0"/>
                                  </a:rPr>
                                  <m:t>𝒓𝒎𝒔</m:t>
                                </m:r>
                              </m:sub>
                              <m:sup>
                                <m:r>
                                  <a:rPr lang="en-US" sz="2400" b="1" i="1" kern="100" smtClean="0">
                                    <a:solidFill>
                                      <a:srgbClr val="0000CC"/>
                                    </a:solidFill>
                                    <a:latin typeface="Cambria Math" panose="02040503050406030204" pitchFamily="18" charset="0"/>
                                    <a:ea typeface="Calibri" panose="020F0502020204030204" pitchFamily="34" charset="0"/>
                                    <a:cs typeface="Times New Roman" panose="02020603050405020304" pitchFamily="18" charset="0"/>
                                  </a:rPr>
                                  <m:t>𝟐</m:t>
                                </m:r>
                              </m:sup>
                            </m:sSubSup>
                          </m:den>
                        </m:f>
                      </m:e>
                    </m:rad>
                  </m:oMath>
                </a14:m>
                <a:r>
                  <a:rPr lang="en-GB" sz="2400" b="1" kern="100" dirty="0">
                    <a:solidFill>
                      <a:srgbClr val="0000CC"/>
                    </a:solidFill>
                    <a:latin typeface="Century Gothic" panose="020B0502020202020204" pitchFamily="34" charset="0"/>
                    <a:ea typeface="Calibri" panose="020F0502020204030204" pitchFamily="34" charset="0"/>
                    <a:cs typeface="Times New Roman" panose="02020603050405020304" pitchFamily="18" charset="0"/>
                  </a:rPr>
                  <a:t> = </a:t>
                </a:r>
                <a14:m>
                  <m:oMath xmlns:m="http://schemas.openxmlformats.org/officeDocument/2006/math">
                    <m:rad>
                      <m:radPr>
                        <m:degHide m:val="on"/>
                        <m:ctrlPr>
                          <a:rPr lang="en-GB" sz="2400" b="1" i="1" kern="100" smtClean="0">
                            <a:solidFill>
                              <a:srgbClr val="0000CC"/>
                            </a:solidFill>
                            <a:latin typeface="Cambria Math" panose="02040503050406030204" pitchFamily="18" charset="0"/>
                            <a:ea typeface="Calibri" panose="020F0502020204030204" pitchFamily="34" charset="0"/>
                            <a:cs typeface="Times New Roman" panose="02020603050405020304" pitchFamily="18" charset="0"/>
                          </a:rPr>
                        </m:ctrlPr>
                      </m:radPr>
                      <m:deg/>
                      <m:e>
                        <m:f>
                          <m:fPr>
                            <m:ctrlPr>
                              <a:rPr lang="en-GB" sz="2400" b="1" i="1" kern="100" smtClean="0">
                                <a:solidFill>
                                  <a:srgbClr val="0000CC"/>
                                </a:solidFill>
                                <a:latin typeface="Cambria Math" panose="02040503050406030204" pitchFamily="18" charset="0"/>
                                <a:ea typeface="Calibri" panose="020F0502020204030204" pitchFamily="34" charset="0"/>
                                <a:cs typeface="Times New Roman" panose="02020603050405020304" pitchFamily="18" charset="0"/>
                              </a:rPr>
                            </m:ctrlPr>
                          </m:fPr>
                          <m:num>
                            <m:sSup>
                              <m:sSupPr>
                                <m:ctrlPr>
                                  <a:rPr lang="en-GB" sz="2400" b="1" i="1" kern="100" smtClean="0">
                                    <a:solidFill>
                                      <a:srgbClr val="0000CC"/>
                                    </a:solidFill>
                                    <a:latin typeface="Cambria Math" panose="02040503050406030204" pitchFamily="18" charset="0"/>
                                    <a:ea typeface="Calibri" panose="020F0502020204030204" pitchFamily="34" charset="0"/>
                                    <a:cs typeface="Times New Roman" panose="02020603050405020304" pitchFamily="18" charset="0"/>
                                  </a:rPr>
                                </m:ctrlPr>
                              </m:sSupPr>
                              <m:e>
                                <m:r>
                                  <a:rPr lang="en-US" sz="2400" b="1" i="1" kern="100" smtClean="0">
                                    <a:solidFill>
                                      <a:srgbClr val="0000CC"/>
                                    </a:solidFill>
                                    <a:latin typeface="Cambria Math" panose="02040503050406030204" pitchFamily="18" charset="0"/>
                                    <a:ea typeface="Calibri" panose="020F0502020204030204" pitchFamily="34" charset="0"/>
                                    <a:cs typeface="Times New Roman" panose="02020603050405020304" pitchFamily="18" charset="0"/>
                                  </a:rPr>
                                  <m:t>𝟏𝟒</m:t>
                                </m:r>
                              </m:e>
                              <m:sup>
                                <m:r>
                                  <a:rPr lang="en-US" sz="2400" b="1" i="1" kern="100" smtClean="0">
                                    <a:solidFill>
                                      <a:srgbClr val="0000CC"/>
                                    </a:solidFill>
                                    <a:latin typeface="Cambria Math" panose="02040503050406030204" pitchFamily="18" charset="0"/>
                                    <a:ea typeface="Calibri" panose="020F0502020204030204" pitchFamily="34" charset="0"/>
                                    <a:cs typeface="Times New Roman" panose="02020603050405020304" pitchFamily="18" charset="0"/>
                                  </a:rPr>
                                  <m:t>𝟐</m:t>
                                </m:r>
                              </m:sup>
                            </m:sSup>
                            <m:r>
                              <a:rPr lang="en-GB" sz="2400" b="1" i="1" kern="100" smtClean="0">
                                <a:solidFill>
                                  <a:srgbClr val="0000CC"/>
                                </a:solidFill>
                                <a:latin typeface="Cambria Math" panose="02040503050406030204" pitchFamily="18" charset="0"/>
                                <a:ea typeface="Cambria Math" panose="02040503050406030204" pitchFamily="18" charset="0"/>
                                <a:cs typeface="Times New Roman" panose="02020603050405020304" pitchFamily="18" charset="0"/>
                              </a:rPr>
                              <m:t>−</m:t>
                            </m:r>
                            <m:sSup>
                              <m:sSupPr>
                                <m:ctrlPr>
                                  <a:rPr lang="en-GB" sz="2400" b="1" i="1" kern="100" smtClean="0">
                                    <a:solidFill>
                                      <a:srgbClr val="0000CC"/>
                                    </a:solidFill>
                                    <a:latin typeface="Cambria Math" panose="02040503050406030204" pitchFamily="18" charset="0"/>
                                    <a:ea typeface="Cambria Math" panose="02040503050406030204" pitchFamily="18" charset="0"/>
                                    <a:cs typeface="Times New Roman" panose="02020603050405020304" pitchFamily="18" charset="0"/>
                                  </a:rPr>
                                </m:ctrlPr>
                              </m:sSupPr>
                              <m:e>
                                <m:d>
                                  <m:dPr>
                                    <m:ctrlPr>
                                      <a:rPr lang="en-GB" sz="2400" b="1" i="1" kern="100" smtClean="0">
                                        <a:solidFill>
                                          <a:srgbClr val="0000CC"/>
                                        </a:solidFill>
                                        <a:latin typeface="Cambria Math" panose="02040503050406030204" pitchFamily="18" charset="0"/>
                                        <a:ea typeface="Cambria Math" panose="02040503050406030204" pitchFamily="18" charset="0"/>
                                        <a:cs typeface="Times New Roman" panose="02020603050405020304" pitchFamily="18" charset="0"/>
                                      </a:rPr>
                                    </m:ctrlPr>
                                  </m:dPr>
                                  <m:e>
                                    <m:f>
                                      <m:fPr>
                                        <m:ctrlPr>
                                          <a:rPr lang="en-GB" sz="2400" b="1" i="1" kern="100" smtClean="0">
                                            <a:solidFill>
                                              <a:srgbClr val="0000CC"/>
                                            </a:solidFill>
                                            <a:latin typeface="Cambria Math" panose="02040503050406030204" pitchFamily="18" charset="0"/>
                                            <a:ea typeface="Cambria Math" panose="02040503050406030204" pitchFamily="18" charset="0"/>
                                            <a:cs typeface="Times New Roman" panose="02020603050405020304" pitchFamily="18" charset="0"/>
                                          </a:rPr>
                                        </m:ctrlPr>
                                      </m:fPr>
                                      <m:num>
                                        <m:r>
                                          <a:rPr lang="en-US" sz="2400" b="1" i="1" kern="100" smtClean="0">
                                            <a:solidFill>
                                              <a:srgbClr val="0000CC"/>
                                            </a:solidFill>
                                            <a:latin typeface="Cambria Math" panose="02040503050406030204" pitchFamily="18" charset="0"/>
                                            <a:ea typeface="Cambria Math" panose="02040503050406030204" pitchFamily="18" charset="0"/>
                                            <a:cs typeface="Times New Roman" panose="02020603050405020304" pitchFamily="18" charset="0"/>
                                          </a:rPr>
                                          <m:t>𝟏𝟓</m:t>
                                        </m:r>
                                      </m:num>
                                      <m:den>
                                        <m:rad>
                                          <m:radPr>
                                            <m:degHide m:val="on"/>
                                            <m:ctrlPr>
                                              <a:rPr lang="en-GB" sz="2400" b="1" i="1" kern="100" smtClean="0">
                                                <a:solidFill>
                                                  <a:srgbClr val="0000CC"/>
                                                </a:solidFill>
                                                <a:latin typeface="Cambria Math" panose="02040503050406030204" pitchFamily="18" charset="0"/>
                                                <a:ea typeface="Cambria Math" panose="02040503050406030204" pitchFamily="18" charset="0"/>
                                                <a:cs typeface="Times New Roman" panose="02020603050405020304" pitchFamily="18" charset="0"/>
                                              </a:rPr>
                                            </m:ctrlPr>
                                          </m:radPr>
                                          <m:deg/>
                                          <m:e>
                                            <m:r>
                                              <a:rPr lang="en-US" sz="2400" b="1" i="1" kern="100" smtClean="0">
                                                <a:solidFill>
                                                  <a:srgbClr val="0000CC"/>
                                                </a:solidFill>
                                                <a:latin typeface="Cambria Math" panose="02040503050406030204" pitchFamily="18" charset="0"/>
                                                <a:ea typeface="Cambria Math" panose="02040503050406030204" pitchFamily="18" charset="0"/>
                                                <a:cs typeface="Times New Roman" panose="02020603050405020304" pitchFamily="18" charset="0"/>
                                              </a:rPr>
                                              <m:t>𝟐</m:t>
                                            </m:r>
                                          </m:e>
                                        </m:rad>
                                      </m:den>
                                    </m:f>
                                  </m:e>
                                </m:d>
                              </m:e>
                              <m:sup>
                                <m:r>
                                  <a:rPr lang="en-US" sz="2400" b="1" i="1" kern="100" smtClean="0">
                                    <a:solidFill>
                                      <a:srgbClr val="0000CC"/>
                                    </a:solidFill>
                                    <a:latin typeface="Cambria Math" panose="02040503050406030204" pitchFamily="18" charset="0"/>
                                    <a:ea typeface="Cambria Math" panose="02040503050406030204" pitchFamily="18" charset="0"/>
                                    <a:cs typeface="Times New Roman" panose="02020603050405020304" pitchFamily="18" charset="0"/>
                                  </a:rPr>
                                  <m:t>𝟐</m:t>
                                </m:r>
                              </m:sup>
                            </m:sSup>
                          </m:num>
                          <m:den>
                            <m:sSup>
                              <m:sSupPr>
                                <m:ctrlPr>
                                  <a:rPr lang="en-GB" sz="2400" b="1" i="1" kern="100" smtClean="0">
                                    <a:solidFill>
                                      <a:srgbClr val="0000CC"/>
                                    </a:solidFill>
                                    <a:latin typeface="Cambria Math" panose="02040503050406030204" pitchFamily="18" charset="0"/>
                                    <a:ea typeface="Calibri" panose="020F0502020204030204" pitchFamily="34" charset="0"/>
                                    <a:cs typeface="Times New Roman" panose="02020603050405020304" pitchFamily="18" charset="0"/>
                                  </a:rPr>
                                </m:ctrlPr>
                              </m:sSupPr>
                              <m:e>
                                <m:d>
                                  <m:dPr>
                                    <m:ctrlPr>
                                      <a:rPr lang="en-GB" sz="2400" b="1" i="1" kern="100" smtClean="0">
                                        <a:solidFill>
                                          <a:srgbClr val="0000CC"/>
                                        </a:solidFill>
                                        <a:latin typeface="Cambria Math" panose="02040503050406030204" pitchFamily="18" charset="0"/>
                                        <a:ea typeface="Calibri" panose="020F0502020204030204" pitchFamily="34" charset="0"/>
                                        <a:cs typeface="Times New Roman" panose="02020603050405020304" pitchFamily="18" charset="0"/>
                                      </a:rPr>
                                    </m:ctrlPr>
                                  </m:dPr>
                                  <m:e>
                                    <m:f>
                                      <m:fPr>
                                        <m:ctrlPr>
                                          <a:rPr lang="en-GB" sz="2400" b="1" i="1" kern="100" smtClean="0">
                                            <a:solidFill>
                                              <a:srgbClr val="0000CC"/>
                                            </a:solidFill>
                                            <a:latin typeface="Cambria Math" panose="02040503050406030204" pitchFamily="18" charset="0"/>
                                            <a:ea typeface="Calibri" panose="020F0502020204030204" pitchFamily="34" charset="0"/>
                                            <a:cs typeface="Times New Roman" panose="02020603050405020304" pitchFamily="18" charset="0"/>
                                          </a:rPr>
                                        </m:ctrlPr>
                                      </m:fPr>
                                      <m:num>
                                        <m:r>
                                          <a:rPr lang="en-US" sz="2400" b="1" i="1" kern="100" smtClean="0">
                                            <a:solidFill>
                                              <a:srgbClr val="0000CC"/>
                                            </a:solidFill>
                                            <a:latin typeface="Cambria Math" panose="02040503050406030204" pitchFamily="18" charset="0"/>
                                            <a:ea typeface="Calibri" panose="020F0502020204030204" pitchFamily="34" charset="0"/>
                                            <a:cs typeface="Times New Roman" panose="02020603050405020304" pitchFamily="18" charset="0"/>
                                          </a:rPr>
                                          <m:t>𝟏𝟓</m:t>
                                        </m:r>
                                      </m:num>
                                      <m:den>
                                        <m:rad>
                                          <m:radPr>
                                            <m:degHide m:val="on"/>
                                            <m:ctrlPr>
                                              <a:rPr lang="en-GB" sz="2400" b="1" i="1" kern="100" smtClean="0">
                                                <a:solidFill>
                                                  <a:srgbClr val="0000CC"/>
                                                </a:solidFill>
                                                <a:latin typeface="Cambria Math" panose="02040503050406030204" pitchFamily="18" charset="0"/>
                                                <a:ea typeface="Calibri" panose="020F0502020204030204" pitchFamily="34" charset="0"/>
                                                <a:cs typeface="Times New Roman" panose="02020603050405020304" pitchFamily="18" charset="0"/>
                                              </a:rPr>
                                            </m:ctrlPr>
                                          </m:radPr>
                                          <m:deg/>
                                          <m:e>
                                            <m:r>
                                              <a:rPr lang="en-US" sz="2400" b="1" i="1" kern="100" smtClean="0">
                                                <a:solidFill>
                                                  <a:srgbClr val="0000CC"/>
                                                </a:solidFill>
                                                <a:latin typeface="Cambria Math" panose="02040503050406030204" pitchFamily="18" charset="0"/>
                                                <a:ea typeface="Calibri" panose="020F0502020204030204" pitchFamily="34" charset="0"/>
                                                <a:cs typeface="Times New Roman" panose="02020603050405020304" pitchFamily="18" charset="0"/>
                                              </a:rPr>
                                              <m:t>𝟐</m:t>
                                            </m:r>
                                          </m:e>
                                        </m:rad>
                                      </m:den>
                                    </m:f>
                                  </m:e>
                                </m:d>
                              </m:e>
                              <m:sup>
                                <m:r>
                                  <a:rPr lang="en-US" sz="2400" b="1" i="1" kern="100" smtClean="0">
                                    <a:solidFill>
                                      <a:srgbClr val="0000CC"/>
                                    </a:solidFill>
                                    <a:latin typeface="Cambria Math" panose="02040503050406030204" pitchFamily="18" charset="0"/>
                                    <a:ea typeface="Calibri" panose="020F0502020204030204" pitchFamily="34" charset="0"/>
                                    <a:cs typeface="Times New Roman" panose="02020603050405020304" pitchFamily="18" charset="0"/>
                                  </a:rPr>
                                  <m:t>𝟐</m:t>
                                </m:r>
                              </m:sup>
                            </m:sSup>
                          </m:den>
                        </m:f>
                      </m:e>
                    </m:rad>
                  </m:oMath>
                </a14:m>
                <a:r>
                  <a:rPr lang="en-GB" sz="2400" b="1" kern="100" dirty="0">
                    <a:solidFill>
                      <a:srgbClr val="0000CC"/>
                    </a:solidFill>
                    <a:latin typeface="Century Gothic" panose="020B0502020202020204" pitchFamily="34" charset="0"/>
                    <a:ea typeface="Calibri" panose="020F0502020204030204" pitchFamily="34" charset="0"/>
                    <a:cs typeface="Times New Roman" panose="02020603050405020304" pitchFamily="18" charset="0"/>
                  </a:rPr>
                  <a:t> = 0.86 = 86%</a:t>
                </a:r>
              </a:p>
            </p:txBody>
          </p:sp>
        </mc:Choice>
        <mc:Fallback xmlns="">
          <p:sp>
            <p:nvSpPr>
              <p:cNvPr id="6" name="TextBox 5">
                <a:extLst>
                  <a:ext uri="{FF2B5EF4-FFF2-40B4-BE49-F238E27FC236}">
                    <a16:creationId xmlns:a16="http://schemas.microsoft.com/office/drawing/2014/main" id="{6BAA1F11-5BEF-4D80-964F-A7332E36BFA0}"/>
                  </a:ext>
                </a:extLst>
              </p:cNvPr>
              <p:cNvSpPr txBox="1">
                <a:spLocks noRot="1" noChangeAspect="1" noMove="1" noResize="1" noEditPoints="1" noAdjustHandles="1" noChangeArrowheads="1" noChangeShapeType="1" noTextEdit="1"/>
              </p:cNvSpPr>
              <p:nvPr/>
            </p:nvSpPr>
            <p:spPr>
              <a:xfrm>
                <a:off x="207523" y="1383437"/>
                <a:ext cx="11507823" cy="4830874"/>
              </a:xfrm>
              <a:prstGeom prst="rect">
                <a:avLst/>
              </a:prstGeom>
              <a:blipFill>
                <a:blip r:embed="rId3"/>
                <a:stretch>
                  <a:fillRect l="-635" t="-882"/>
                </a:stretch>
              </a:blipFill>
              <a:ln>
                <a:solidFill>
                  <a:srgbClr val="FF0066"/>
                </a:solidFill>
              </a:ln>
            </p:spPr>
            <p:txBody>
              <a:bodyPr/>
              <a:lstStyle/>
              <a:p>
                <a:r>
                  <a:rPr lang="en-US">
                    <a:noFill/>
                  </a:rPr>
                  <a:t> </a:t>
                </a:r>
              </a:p>
            </p:txBody>
          </p:sp>
        </mc:Fallback>
      </mc:AlternateContent>
    </p:spTree>
    <p:extLst>
      <p:ext uri="{BB962C8B-B14F-4D97-AF65-F5344CB8AC3E}">
        <p14:creationId xmlns:p14="http://schemas.microsoft.com/office/powerpoint/2010/main" val="2099510059"/>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9442</TotalTime>
  <Words>3277</Words>
  <Application>Microsoft Office PowerPoint</Application>
  <PresentationFormat>Custom</PresentationFormat>
  <Paragraphs>526</Paragraphs>
  <Slides>41</Slides>
  <Notes>28</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41</vt:i4>
      </vt:variant>
    </vt:vector>
  </HeadingPairs>
  <TitlesOfParts>
    <vt:vector size="51" baseType="lpstr">
      <vt:lpstr>Arial</vt:lpstr>
      <vt:lpstr>Calibri</vt:lpstr>
      <vt:lpstr>Calibri Light</vt:lpstr>
      <vt:lpstr>Cambria Math</vt:lpstr>
      <vt:lpstr>Century Gothic</vt:lpstr>
      <vt:lpstr>Courier New</vt:lpstr>
      <vt:lpstr>Garamond</vt:lpstr>
      <vt:lpstr>Helvetica</vt:lpstr>
      <vt:lpstr>Wingdings</vt:lpstr>
      <vt:lpstr>Office Theme</vt:lpstr>
      <vt:lpstr>PowerPoint Presentation</vt:lpstr>
      <vt:lpstr>THE BOOST/STEP-UP CONVERTER</vt:lpstr>
      <vt:lpstr>BOOST CONVERTER ANALYSIS</vt:lpstr>
      <vt:lpstr>BOOST CONVERTER</vt:lpstr>
      <vt:lpstr>BOOST CONVERTER</vt:lpstr>
      <vt:lpstr>BOOST CONVERTER</vt:lpstr>
      <vt:lpstr>BOOST CONVERTER</vt:lpstr>
      <vt:lpstr>BOOST CONVERTER</vt:lpstr>
      <vt:lpstr>BOOST CONVERTER</vt:lpstr>
      <vt:lpstr>BOOST CONVERTER</vt:lpstr>
      <vt:lpstr>BUCK-BOOST CONVERTER</vt:lpstr>
      <vt:lpstr>BUCK-BOOST CONVERTER</vt:lpstr>
      <vt:lpstr>ASSIGNMENT</vt:lpstr>
      <vt:lpstr>POWER COMPUTATION</vt:lpstr>
      <vt:lpstr>POWER COMPUTATION</vt:lpstr>
      <vt:lpstr>POWER COMPUTATION</vt:lpstr>
      <vt:lpstr>POWER COMPUTATION</vt:lpstr>
      <vt:lpstr>POWER COMPUTATION</vt:lpstr>
      <vt:lpstr>POWER COMPUTATION</vt:lpstr>
      <vt:lpstr>POWER COMPUTATION</vt:lpstr>
      <vt:lpstr>APPARENT POWER AND POWER FACTOR</vt:lpstr>
      <vt:lpstr>POWER COMPUTATION FOR SINUSOIDAL AC  CIRCUIT</vt:lpstr>
      <vt:lpstr>POWER COMPUTATION FOR SINUSOIDAL AC  CIRCUIT</vt:lpstr>
      <vt:lpstr>POWER COMPUTATION FOR SINUSOIDAL AC  CIRCUIT</vt:lpstr>
      <vt:lpstr>POWER COMPUTATION FOR SINUSOIDAL AC  CIRCUIT</vt:lpstr>
      <vt:lpstr>POWER COMPUTATION FOR NONSINUSOIDAL PERIODIC WAVEFORMS</vt:lpstr>
      <vt:lpstr>POWER COMPUTATION FOR NONSINUSOIDAL PERIODIC WAVEFORMS</vt:lpstr>
      <vt:lpstr>POWER COMPUTATION FOR NONSINUSOIDAL PERIODIC WAVEFORMS</vt:lpstr>
      <vt:lpstr>POWER COMPUTATION FOR NONSINUSOIDAL PERIODIC WAVEFORMS</vt:lpstr>
      <vt:lpstr>POWER COMPUTATION FOR NONSINUSOIDAL PERIODIC WAVEFORMS</vt:lpstr>
      <vt:lpstr>POWER COMPUTATION FOR NONSINUSOIDAL SOURCE AND LINEAR LOAD</vt:lpstr>
      <vt:lpstr>POWER COMPUTATION FOR NONSINUSOIDAL SOURCE AND LINEAR LOAD</vt:lpstr>
      <vt:lpstr>POWER COMPUTATION FOR NONSINUSOIDAL SOURCE AND LINEAR LOAD</vt:lpstr>
      <vt:lpstr>POWER COMPUTATION FOR NONSINUSOIDAL SOURCE AND LINEAR LOAD</vt:lpstr>
      <vt:lpstr>POWER COMPUTATION FOR SINUSOIDAL SOURCE AND LINEAR LOAD</vt:lpstr>
      <vt:lpstr>POWER COMPUTATION FOR SINUSOIDAL SOURCE AND LINEAR LOAD</vt:lpstr>
      <vt:lpstr>POWER COMPUTATION FOR SINUSOIDAL SOURCE AND LINEAR LOAD</vt:lpstr>
      <vt:lpstr>POWER COMPUTATION FOR SINUSOIDAL SOURCE AND LINEAR LOAD</vt:lpstr>
      <vt:lpstr>POWER COMPUTATION FOR SINUSOIDAL SOURCE AND LINEAR LOAD</vt:lpstr>
      <vt:lpstr>POWER COMPUTATION FOR SINUSOIDAL SOURCE AND LINEAR LOAD</vt:lpstr>
      <vt:lpstr>POWER COMPUTATION FOR SINUSOIDAL SOURCE AND LINEAR LOAD</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emmanuel frimpong</dc:creator>
  <cp:lastModifiedBy>Emmanuel Nyantakyi</cp:lastModifiedBy>
  <cp:revision>473</cp:revision>
  <dcterms:created xsi:type="dcterms:W3CDTF">2019-09-21T00:58:14Z</dcterms:created>
  <dcterms:modified xsi:type="dcterms:W3CDTF">2024-08-22T15:07:49Z</dcterms:modified>
</cp:coreProperties>
</file>