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8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86376" y="-33705"/>
            <a:ext cx="3619246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2765" y="2007006"/>
            <a:ext cx="5046980" cy="1751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244" y="6466738"/>
            <a:ext cx="752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7354" y="6466738"/>
            <a:ext cx="2044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962" y="1466799"/>
            <a:ext cx="104781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000000"/>
                </a:solidFill>
              </a:rPr>
              <a:t>HIGH </a:t>
            </a:r>
            <a:r>
              <a:rPr sz="5400" spc="-155" dirty="0"/>
              <a:t>VOLTAGE</a:t>
            </a:r>
            <a:r>
              <a:rPr sz="5400" spc="-95" dirty="0"/>
              <a:t> </a:t>
            </a:r>
            <a:r>
              <a:rPr sz="5400" spc="-5" dirty="0">
                <a:solidFill>
                  <a:srgbClr val="000000"/>
                </a:solidFill>
              </a:rPr>
              <a:t>ENGINEERING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7156195" y="3168571"/>
            <a:ext cx="4458970" cy="23044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740535" indent="5715">
              <a:lnSpc>
                <a:spcPct val="124800"/>
              </a:lnSpc>
              <a:spcBef>
                <a:spcPts val="85"/>
              </a:spcBef>
            </a:pPr>
            <a:r>
              <a:rPr sz="2400" spc="-30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sem : 30 </a:t>
            </a:r>
            <a:r>
              <a:rPr sz="2400" spc="-5" dirty="0">
                <a:latin typeface="Times New Roman"/>
                <a:cs typeface="Times New Roman"/>
              </a:rPr>
              <a:t>Marks  </a:t>
            </a:r>
            <a:r>
              <a:rPr sz="2400" dirty="0">
                <a:latin typeface="Times New Roman"/>
                <a:cs typeface="Times New Roman"/>
              </a:rPr>
              <a:t>End </a:t>
            </a:r>
            <a:r>
              <a:rPr sz="2400" spc="-5" dirty="0">
                <a:latin typeface="Times New Roman"/>
                <a:cs typeface="Times New Roman"/>
              </a:rPr>
              <a:t>sem:70 Marks  </a:t>
            </a:r>
            <a:r>
              <a:rPr sz="2400" dirty="0">
                <a:latin typeface="Times New Roman"/>
                <a:cs typeface="Times New Roman"/>
              </a:rPr>
              <a:t>PR/OR: </a:t>
            </a:r>
            <a:r>
              <a:rPr sz="2400" spc="-5" dirty="0">
                <a:latin typeface="Times New Roman"/>
                <a:cs typeface="Times New Roman"/>
              </a:rPr>
              <a:t>25Marks  </a:t>
            </a:r>
            <a:r>
              <a:rPr sz="2400" spc="-50" dirty="0">
                <a:latin typeface="Times New Roman"/>
                <a:cs typeface="Times New Roman"/>
              </a:rPr>
              <a:t>Term </a:t>
            </a:r>
            <a:r>
              <a:rPr sz="2400" spc="-40" dirty="0">
                <a:latin typeface="Times New Roman"/>
                <a:cs typeface="Times New Roman"/>
              </a:rPr>
              <a:t>Work: </a:t>
            </a:r>
            <a:r>
              <a:rPr sz="2400" dirty="0">
                <a:latin typeface="Times New Roman"/>
                <a:cs typeface="Times New Roman"/>
              </a:rPr>
              <a:t>25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Marks</a:t>
            </a:r>
            <a:endParaRPr sz="24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700"/>
              </a:spcBef>
            </a:pPr>
            <a:r>
              <a:rPr sz="2400" b="1" spc="-5" dirty="0">
                <a:latin typeface="Times New Roman"/>
                <a:cs typeface="Times New Roman"/>
              </a:rPr>
              <a:t>Examination </a:t>
            </a:r>
            <a:r>
              <a:rPr sz="2400" b="1" spc="-10" dirty="0">
                <a:latin typeface="Times New Roman"/>
                <a:cs typeface="Times New Roman"/>
              </a:rPr>
              <a:t>Scheme 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150</a:t>
            </a:r>
            <a:r>
              <a:rPr sz="2400" b="1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Marks]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6431686"/>
            <a:ext cx="720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16/01/2020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08740" y="6398158"/>
            <a:ext cx="1276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693" y="11561"/>
            <a:ext cx="4339590" cy="132524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4800" spc="-5" dirty="0">
                <a:solidFill>
                  <a:srgbClr val="000000"/>
                </a:solidFill>
              </a:rPr>
              <a:t>Course</a:t>
            </a:r>
            <a:r>
              <a:rPr sz="4800" spc="-60" dirty="0">
                <a:solidFill>
                  <a:srgbClr val="000000"/>
                </a:solidFill>
              </a:rPr>
              <a:t> </a:t>
            </a:r>
            <a:r>
              <a:rPr sz="4800" spc="-5" dirty="0">
                <a:solidFill>
                  <a:srgbClr val="000000"/>
                </a:solidFill>
              </a:rPr>
              <a:t>Content:</a:t>
            </a:r>
            <a:endParaRPr sz="4800"/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dirty="0">
                <a:solidFill>
                  <a:srgbClr val="000000"/>
                </a:solidFill>
              </a:rPr>
              <a:t>Unit </a:t>
            </a:r>
            <a:r>
              <a:rPr sz="2400" spc="-5" dirty="0">
                <a:solidFill>
                  <a:srgbClr val="000000"/>
                </a:solidFill>
              </a:rPr>
              <a:t>01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: Breakdown </a:t>
            </a:r>
            <a:r>
              <a:rPr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in 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Gases: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693" y="1765300"/>
            <a:ext cx="7343140" cy="36791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400" b="1" dirty="0">
                <a:latin typeface="Times New Roman"/>
                <a:cs typeface="Times New Roman"/>
              </a:rPr>
              <a:t>Unit </a:t>
            </a:r>
            <a:r>
              <a:rPr sz="2400" b="1" spc="-5" dirty="0">
                <a:latin typeface="Times New Roman"/>
                <a:cs typeface="Times New Roman"/>
              </a:rPr>
              <a:t>02</a:t>
            </a:r>
            <a:r>
              <a:rPr sz="2400" spc="-5" dirty="0">
                <a:latin typeface="Times New Roman"/>
                <a:cs typeface="Times New Roman"/>
              </a:rPr>
              <a:t>: A) </a:t>
            </a:r>
            <a:r>
              <a:rPr sz="2400" spc="-10" dirty="0">
                <a:latin typeface="Times New Roman"/>
                <a:cs typeface="Times New Roman"/>
              </a:rPr>
              <a:t>Breakdown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Liquid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Dielectrics:</a:t>
            </a:r>
            <a:endParaRPr sz="2400">
              <a:latin typeface="Times New Roman"/>
              <a:cs typeface="Times New Roman"/>
            </a:endParaRPr>
          </a:p>
          <a:p>
            <a:pPr marL="1079500">
              <a:lnSpc>
                <a:spcPct val="100000"/>
              </a:lnSpc>
              <a:spcBef>
                <a:spcPts val="720"/>
              </a:spcBef>
            </a:pPr>
            <a:r>
              <a:rPr sz="2400" spc="-10" dirty="0">
                <a:latin typeface="Times New Roman"/>
                <a:cs typeface="Times New Roman"/>
              </a:rPr>
              <a:t>B) Breakdown </a:t>
            </a:r>
            <a:r>
              <a:rPr sz="2400" dirty="0">
                <a:latin typeface="Times New Roman"/>
                <a:cs typeface="Times New Roman"/>
              </a:rPr>
              <a:t>in Solid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Dielectrics: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Unit </a:t>
            </a:r>
            <a:r>
              <a:rPr sz="2400" b="1" spc="-5" dirty="0">
                <a:latin typeface="Times New Roman"/>
                <a:cs typeface="Times New Roman"/>
              </a:rPr>
              <a:t>03</a:t>
            </a:r>
            <a:r>
              <a:rPr sz="2400" spc="-5" dirty="0">
                <a:latin typeface="Times New Roman"/>
                <a:cs typeface="Times New Roman"/>
              </a:rPr>
              <a:t>: Generation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High </a:t>
            </a:r>
            <a:r>
              <a:rPr sz="2400" spc="-50" dirty="0">
                <a:latin typeface="Times New Roman"/>
                <a:cs typeface="Times New Roman"/>
              </a:rPr>
              <a:t>Voltages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Current: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Unit </a:t>
            </a:r>
            <a:r>
              <a:rPr sz="2400" b="1" spc="-5" dirty="0">
                <a:latin typeface="Times New Roman"/>
                <a:cs typeface="Times New Roman"/>
              </a:rPr>
              <a:t>04</a:t>
            </a:r>
            <a:r>
              <a:rPr sz="2400" spc="-5" dirty="0">
                <a:latin typeface="Times New Roman"/>
                <a:cs typeface="Times New Roman"/>
              </a:rPr>
              <a:t>: Measurement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High </a:t>
            </a:r>
            <a:r>
              <a:rPr sz="2400" spc="-45" dirty="0">
                <a:latin typeface="Times New Roman"/>
                <a:cs typeface="Times New Roman"/>
              </a:rPr>
              <a:t>Voltages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High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Currents: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Unit </a:t>
            </a:r>
            <a:r>
              <a:rPr sz="2400" b="1" spc="-5" dirty="0">
                <a:latin typeface="Times New Roman"/>
                <a:cs typeface="Times New Roman"/>
              </a:rPr>
              <a:t>05</a:t>
            </a:r>
            <a:r>
              <a:rPr sz="2400" spc="-5" dirty="0">
                <a:latin typeface="Times New Roman"/>
                <a:cs typeface="Times New Roman"/>
              </a:rPr>
              <a:t>: </a:t>
            </a:r>
            <a:r>
              <a:rPr sz="2400" spc="-10" dirty="0">
                <a:latin typeface="Times New Roman"/>
                <a:cs typeface="Times New Roman"/>
              </a:rPr>
              <a:t>Lightning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Switching </a:t>
            </a:r>
            <a:r>
              <a:rPr sz="2400" spc="-5" dirty="0">
                <a:latin typeface="Times New Roman"/>
                <a:cs typeface="Times New Roman"/>
              </a:rPr>
              <a:t>Over </a:t>
            </a:r>
            <a:r>
              <a:rPr sz="2400" spc="-45" dirty="0">
                <a:latin typeface="Times New Roman"/>
                <a:cs typeface="Times New Roman"/>
              </a:rPr>
              <a:t>Voltages: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693" y="5767147"/>
            <a:ext cx="9311640" cy="86995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400" b="1" dirty="0">
                <a:latin typeface="Times New Roman"/>
                <a:cs typeface="Times New Roman"/>
              </a:rPr>
              <a:t>Unit </a:t>
            </a:r>
            <a:r>
              <a:rPr sz="2400" b="1" spc="-5" dirty="0">
                <a:latin typeface="Times New Roman"/>
                <a:cs typeface="Times New Roman"/>
              </a:rPr>
              <a:t>06</a:t>
            </a:r>
            <a:r>
              <a:rPr sz="2400" spc="-5" dirty="0">
                <a:latin typeface="Times New Roman"/>
                <a:cs typeface="Times New Roman"/>
              </a:rPr>
              <a:t>: </a:t>
            </a:r>
            <a:r>
              <a:rPr sz="2400" spc="-10" dirty="0">
                <a:latin typeface="Times New Roman"/>
                <a:cs typeface="Times New Roman"/>
              </a:rPr>
              <a:t>High </a:t>
            </a:r>
            <a:r>
              <a:rPr sz="2400" spc="-50" dirty="0">
                <a:latin typeface="Times New Roman"/>
                <a:cs typeface="Times New Roman"/>
              </a:rPr>
              <a:t>Voltage </a:t>
            </a:r>
            <a:r>
              <a:rPr sz="2400" spc="-25" dirty="0">
                <a:latin typeface="Times New Roman"/>
                <a:cs typeface="Times New Roman"/>
              </a:rPr>
              <a:t>Testing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Electrical Apparatus and </a:t>
            </a:r>
            <a:r>
              <a:rPr sz="2400" dirty="0">
                <a:latin typeface="Times New Roman"/>
                <a:cs typeface="Times New Roman"/>
              </a:rPr>
              <a:t>HV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Laboratories:</a:t>
            </a:r>
            <a:endParaRPr sz="2400">
              <a:latin typeface="Times New Roman"/>
              <a:cs typeface="Times New Roman"/>
            </a:endParaRPr>
          </a:p>
          <a:p>
            <a:pPr marL="384175">
              <a:lnSpc>
                <a:spcPct val="100000"/>
              </a:lnSpc>
              <a:spcBef>
                <a:spcPts val="775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16/01/2020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6254" y="64286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2464" y="183591"/>
            <a:ext cx="669099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solidFill>
                  <a:srgbClr val="000000"/>
                </a:solidFill>
              </a:rPr>
              <a:t>Unit 1 </a:t>
            </a:r>
            <a:r>
              <a:rPr sz="44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4400" spc="-15" dirty="0">
                <a:solidFill>
                  <a:srgbClr val="EC7C30"/>
                </a:solidFill>
              </a:rPr>
              <a:t>Breakdown </a:t>
            </a:r>
            <a:r>
              <a:rPr sz="4400" spc="-5" dirty="0">
                <a:solidFill>
                  <a:srgbClr val="EC7C30"/>
                </a:solidFill>
              </a:rPr>
              <a:t>in</a:t>
            </a:r>
            <a:r>
              <a:rPr sz="4400" spc="30" dirty="0">
                <a:solidFill>
                  <a:srgbClr val="EC7C30"/>
                </a:solidFill>
              </a:rPr>
              <a:t> </a:t>
            </a:r>
            <a:r>
              <a:rPr sz="4400" spc="-5" dirty="0">
                <a:solidFill>
                  <a:srgbClr val="EC7C30"/>
                </a:solidFill>
              </a:rPr>
              <a:t>Gases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844" y="1055878"/>
            <a:ext cx="10143490" cy="514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Ionization Process </a:t>
            </a:r>
            <a:r>
              <a:rPr sz="1800" b="1" spc="-5" dirty="0">
                <a:latin typeface="Times New Roman"/>
                <a:cs typeface="Times New Roman"/>
              </a:rPr>
              <a:t>in</a:t>
            </a:r>
            <a:r>
              <a:rPr sz="1800" b="1" spc="7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Gas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spc="-30" dirty="0">
                <a:latin typeface="Times New Roman"/>
                <a:cs typeface="Times New Roman"/>
              </a:rPr>
              <a:t>Townsend’s</a:t>
            </a:r>
            <a:r>
              <a:rPr sz="1800" b="1" spc="-10" dirty="0">
                <a:latin typeface="Times New Roman"/>
                <a:cs typeface="Times New Roman"/>
              </a:rPr>
              <a:t> Theory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"/>
            </a:pP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b="1" spc="-15" dirty="0">
                <a:latin typeface="Times New Roman"/>
                <a:cs typeface="Times New Roman"/>
              </a:rPr>
              <a:t>Current </a:t>
            </a:r>
            <a:r>
              <a:rPr sz="1800" b="1" dirty="0">
                <a:latin typeface="Times New Roman"/>
                <a:cs typeface="Times New Roman"/>
              </a:rPr>
              <a:t>growth </a:t>
            </a:r>
            <a:r>
              <a:rPr sz="1800" b="1" spc="-10" dirty="0">
                <a:latin typeface="Times New Roman"/>
                <a:cs typeface="Times New Roman"/>
              </a:rPr>
              <a:t>equation </a:t>
            </a:r>
            <a:r>
              <a:rPr sz="1800" b="1" dirty="0">
                <a:latin typeface="Times New Roman"/>
                <a:cs typeface="Times New Roman"/>
              </a:rPr>
              <a:t>in </a:t>
            </a:r>
            <a:r>
              <a:rPr sz="1800" b="1" spc="-15" dirty="0">
                <a:latin typeface="Times New Roman"/>
                <a:cs typeface="Times New Roman"/>
              </a:rPr>
              <a:t>presence </a:t>
            </a:r>
            <a:r>
              <a:rPr sz="1800" b="1" spc="-10" dirty="0">
                <a:latin typeface="Times New Roman"/>
                <a:cs typeface="Times New Roman"/>
              </a:rPr>
              <a:t>of </a:t>
            </a:r>
            <a:r>
              <a:rPr sz="1800" b="1" spc="-15" dirty="0">
                <a:latin typeface="Times New Roman"/>
                <a:cs typeface="Times New Roman"/>
              </a:rPr>
              <a:t>primary and secondary </a:t>
            </a:r>
            <a:r>
              <a:rPr sz="1800" b="1" spc="-10" dirty="0">
                <a:latin typeface="Times New Roman"/>
                <a:cs typeface="Times New Roman"/>
              </a:rPr>
              <a:t>ionization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processes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"/>
            </a:pPr>
            <a:endParaRPr sz="175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spc="-30" dirty="0">
                <a:latin typeface="Times New Roman"/>
                <a:cs typeface="Times New Roman"/>
              </a:rPr>
              <a:t>Townsend’s </a:t>
            </a:r>
            <a:r>
              <a:rPr sz="1800" b="1" spc="-15" dirty="0">
                <a:latin typeface="Times New Roman"/>
                <a:cs typeface="Times New Roman"/>
              </a:rPr>
              <a:t>breakdown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criterion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b="1" spc="-15" dirty="0">
                <a:latin typeface="Times New Roman"/>
                <a:cs typeface="Times New Roman"/>
              </a:rPr>
              <a:t>Primary and Secondary </a:t>
            </a:r>
            <a:r>
              <a:rPr sz="1800" b="1" spc="-10" dirty="0">
                <a:latin typeface="Times New Roman"/>
                <a:cs typeface="Times New Roman"/>
              </a:rPr>
              <a:t>ionization</a:t>
            </a:r>
            <a:r>
              <a:rPr sz="1800" b="1" spc="254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coefficients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"/>
            </a:pP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Limitations of </a:t>
            </a:r>
            <a:r>
              <a:rPr sz="1800" b="1" spc="-30" dirty="0">
                <a:latin typeface="Times New Roman"/>
                <a:cs typeface="Times New Roman"/>
              </a:rPr>
              <a:t>Townsend’s</a:t>
            </a:r>
            <a:r>
              <a:rPr sz="1800" b="1" spc="8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Theory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"/>
            </a:pPr>
            <a:endParaRPr sz="175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spc="-20" dirty="0">
                <a:latin typeface="Times New Roman"/>
                <a:cs typeface="Times New Roman"/>
              </a:rPr>
              <a:t>Streamer </a:t>
            </a:r>
            <a:r>
              <a:rPr sz="1800" b="1" spc="-10" dirty="0">
                <a:latin typeface="Times New Roman"/>
                <a:cs typeface="Times New Roman"/>
              </a:rPr>
              <a:t>Mechanism of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breakdown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spc="-20" dirty="0">
                <a:latin typeface="Times New Roman"/>
                <a:cs typeface="Times New Roman"/>
              </a:rPr>
              <a:t>Paschen’s </a:t>
            </a:r>
            <a:r>
              <a:rPr sz="1800" b="1" spc="-5" dirty="0">
                <a:latin typeface="Times New Roman"/>
                <a:cs typeface="Times New Roman"/>
              </a:rPr>
              <a:t>law </a:t>
            </a:r>
            <a:r>
              <a:rPr sz="1800" b="1" spc="-15" dirty="0">
                <a:latin typeface="Times New Roman"/>
                <a:cs typeface="Times New Roman"/>
              </a:rPr>
              <a:t>and </a:t>
            </a:r>
            <a:r>
              <a:rPr sz="1800" b="1" dirty="0">
                <a:latin typeface="Times New Roman"/>
                <a:cs typeface="Times New Roman"/>
              </a:rPr>
              <a:t>its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limitations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spc="-15" dirty="0">
                <a:latin typeface="Times New Roman"/>
                <a:cs typeface="Times New Roman"/>
              </a:rPr>
              <a:t>Corona </a:t>
            </a:r>
            <a:r>
              <a:rPr sz="1800" b="1" spc="-10" dirty="0">
                <a:latin typeface="Times New Roman"/>
                <a:cs typeface="Times New Roman"/>
              </a:rPr>
              <a:t>discharges </a:t>
            </a:r>
            <a:r>
              <a:rPr sz="1800" b="1" spc="-5" dirty="0">
                <a:latin typeface="Times New Roman"/>
                <a:cs typeface="Times New Roman"/>
              </a:rPr>
              <a:t>for </a:t>
            </a:r>
            <a:r>
              <a:rPr sz="1800" b="1" spc="-10" dirty="0">
                <a:latin typeface="Times New Roman"/>
                <a:cs typeface="Times New Roman"/>
              </a:rPr>
              <a:t>point plane electrode </a:t>
            </a:r>
            <a:r>
              <a:rPr sz="1800" b="1" spc="-15" dirty="0">
                <a:latin typeface="Times New Roman"/>
                <a:cs typeface="Times New Roman"/>
              </a:rPr>
              <a:t>combination </a:t>
            </a:r>
            <a:r>
              <a:rPr sz="1800" b="1" spc="10" dirty="0">
                <a:latin typeface="Times New Roman"/>
                <a:cs typeface="Times New Roman"/>
              </a:rPr>
              <a:t>with </a:t>
            </a:r>
            <a:r>
              <a:rPr sz="1800" b="1" spc="-10" dirty="0">
                <a:latin typeface="Times New Roman"/>
                <a:cs typeface="Times New Roman"/>
              </a:rPr>
              <a:t>positive </a:t>
            </a:r>
            <a:r>
              <a:rPr sz="1800" b="1" spc="-15" dirty="0">
                <a:latin typeface="Times New Roman"/>
                <a:cs typeface="Times New Roman"/>
              </a:rPr>
              <a:t>and </a:t>
            </a:r>
            <a:r>
              <a:rPr sz="1800" b="1" spc="-10" dirty="0">
                <a:latin typeface="Times New Roman"/>
                <a:cs typeface="Times New Roman"/>
              </a:rPr>
              <a:t>negative pulse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application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"/>
            </a:pPr>
            <a:endParaRPr sz="175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spc="-25" dirty="0">
                <a:latin typeface="Times New Roman"/>
                <a:cs typeface="Times New Roman"/>
              </a:rPr>
              <a:t>Time </a:t>
            </a:r>
            <a:r>
              <a:rPr sz="1800" b="1" spc="-5" dirty="0">
                <a:latin typeface="Times New Roman"/>
                <a:cs typeface="Times New Roman"/>
              </a:rPr>
              <a:t>lag </a:t>
            </a:r>
            <a:r>
              <a:rPr sz="1800" b="1" spc="-15" dirty="0">
                <a:latin typeface="Times New Roman"/>
                <a:cs typeface="Times New Roman"/>
              </a:rPr>
              <a:t>and </a:t>
            </a:r>
            <a:r>
              <a:rPr sz="1800" b="1" spc="-10" dirty="0">
                <a:latin typeface="Times New Roman"/>
                <a:cs typeface="Times New Roman"/>
              </a:rPr>
              <a:t>factors on </a:t>
            </a:r>
            <a:r>
              <a:rPr sz="1800" b="1" dirty="0">
                <a:latin typeface="Times New Roman"/>
                <a:cs typeface="Times New Roman"/>
              </a:rPr>
              <a:t>which </a:t>
            </a:r>
            <a:r>
              <a:rPr sz="1800" b="1" spc="-15" dirty="0">
                <a:latin typeface="Times New Roman"/>
                <a:cs typeface="Times New Roman"/>
              </a:rPr>
              <a:t>time </a:t>
            </a:r>
            <a:r>
              <a:rPr sz="1800" b="1" spc="-5" dirty="0">
                <a:latin typeface="Times New Roman"/>
                <a:cs typeface="Times New Roman"/>
              </a:rPr>
              <a:t>lag</a:t>
            </a:r>
            <a:r>
              <a:rPr sz="1800" b="1" spc="21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depends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444" y="6444183"/>
            <a:ext cx="5570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4" dirty="0">
                <a:latin typeface="Wingdings"/>
                <a:cs typeface="Wingdings"/>
              </a:rPr>
              <a:t></a:t>
            </a:r>
            <a:r>
              <a:rPr sz="1800" spc="-382" baseline="32407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r>
              <a:rPr sz="1800" b="1" spc="-254" dirty="0">
                <a:latin typeface="Times New Roman"/>
                <a:cs typeface="Times New Roman"/>
              </a:rPr>
              <a:t>(</a:t>
            </a:r>
            <a:r>
              <a:rPr sz="1800" spc="-382" baseline="32407" dirty="0">
                <a:solidFill>
                  <a:srgbClr val="888888"/>
                </a:solidFill>
                <a:latin typeface="Calibri"/>
                <a:cs typeface="Calibri"/>
              </a:rPr>
              <a:t>/</a:t>
            </a:r>
            <a:r>
              <a:rPr sz="1800" b="1" spc="-254" dirty="0">
                <a:latin typeface="Times New Roman"/>
                <a:cs typeface="Times New Roman"/>
              </a:rPr>
              <a:t>N</a:t>
            </a:r>
            <a:r>
              <a:rPr sz="1800" spc="-382" baseline="32407" dirty="0">
                <a:solidFill>
                  <a:srgbClr val="888888"/>
                </a:solidFill>
                <a:latin typeface="Calibri"/>
                <a:cs typeface="Calibri"/>
              </a:rPr>
              <a:t>01/</a:t>
            </a:r>
            <a:r>
              <a:rPr sz="1800" b="1" spc="-254" dirty="0">
                <a:latin typeface="Times New Roman"/>
                <a:cs typeface="Times New Roman"/>
              </a:rPr>
              <a:t>u</a:t>
            </a:r>
            <a:r>
              <a:rPr sz="1800" spc="-382" baseline="32407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r>
              <a:rPr sz="1800" b="1" spc="-254" dirty="0">
                <a:latin typeface="Times New Roman"/>
                <a:cs typeface="Times New Roman"/>
              </a:rPr>
              <a:t>m</a:t>
            </a:r>
            <a:r>
              <a:rPr sz="1800" spc="-382" baseline="32407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r>
              <a:rPr sz="1800" b="1" spc="-254" dirty="0">
                <a:latin typeface="Times New Roman"/>
                <a:cs typeface="Times New Roman"/>
              </a:rPr>
              <a:t>erical </a:t>
            </a:r>
            <a:r>
              <a:rPr sz="1800" b="1" spc="-10" dirty="0">
                <a:latin typeface="Times New Roman"/>
                <a:cs typeface="Times New Roman"/>
              </a:rPr>
              <a:t>on </a:t>
            </a:r>
            <a:r>
              <a:rPr sz="1800" b="1" spc="-30" dirty="0">
                <a:latin typeface="Times New Roman"/>
                <a:cs typeface="Times New Roman"/>
              </a:rPr>
              <a:t>Townsend’s </a:t>
            </a:r>
            <a:r>
              <a:rPr sz="1800" b="1" spc="-10" dirty="0">
                <a:latin typeface="Times New Roman"/>
                <a:cs typeface="Times New Roman"/>
              </a:rPr>
              <a:t>theory </a:t>
            </a:r>
            <a:r>
              <a:rPr sz="1800" b="1" spc="-15" dirty="0">
                <a:latin typeface="Times New Roman"/>
                <a:cs typeface="Times New Roman"/>
              </a:rPr>
              <a:t>and </a:t>
            </a:r>
            <a:r>
              <a:rPr sz="1800" b="1" spc="-20" dirty="0">
                <a:latin typeface="Times New Roman"/>
                <a:cs typeface="Times New Roman"/>
              </a:rPr>
              <a:t>Paschen’s</a:t>
            </a:r>
            <a:r>
              <a:rPr sz="1800" b="1" spc="20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Times New Roman"/>
                <a:cs typeface="Times New Roman"/>
              </a:rPr>
              <a:t>law)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6254" y="64286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5739" y="33604"/>
            <a:ext cx="241617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Ionisation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00584" y="1411224"/>
            <a:ext cx="2786380" cy="628015"/>
          </a:xfrm>
          <a:custGeom>
            <a:avLst/>
            <a:gdLst/>
            <a:ahLst/>
            <a:cxnLst/>
            <a:rect l="l" t="t" r="r" b="b"/>
            <a:pathLst>
              <a:path w="2786380" h="628014">
                <a:moveTo>
                  <a:pt x="0" y="627888"/>
                </a:moveTo>
                <a:lnTo>
                  <a:pt x="2785872" y="627888"/>
                </a:lnTo>
                <a:lnTo>
                  <a:pt x="2785872" y="0"/>
                </a:lnTo>
                <a:lnTo>
                  <a:pt x="0" y="0"/>
                </a:lnTo>
                <a:lnTo>
                  <a:pt x="0" y="627888"/>
                </a:lnTo>
                <a:close/>
              </a:path>
            </a:pathLst>
          </a:custGeom>
          <a:ln w="12192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767" y="1307591"/>
            <a:ext cx="1581912" cy="682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22247" y="1307591"/>
            <a:ext cx="1716024" cy="682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584" y="1411224"/>
            <a:ext cx="2786380" cy="628015"/>
          </a:xfrm>
          <a:prstGeom prst="rect">
            <a:avLst/>
          </a:prstGeom>
          <a:ln w="12191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765">
              <a:lnSpc>
                <a:spcPts val="2760"/>
              </a:lnSpc>
            </a:pPr>
            <a:r>
              <a:rPr sz="2400" b="1" spc="-15" dirty="0">
                <a:solidFill>
                  <a:srgbClr val="5B9BD4"/>
                </a:solidFill>
                <a:latin typeface="Times New Roman"/>
                <a:cs typeface="Times New Roman"/>
              </a:rPr>
              <a:t>Primary</a:t>
            </a:r>
            <a:r>
              <a:rPr sz="2400" b="1" spc="25" dirty="0">
                <a:solidFill>
                  <a:srgbClr val="5B9BD4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B9BD4"/>
                </a:solidFill>
                <a:latin typeface="Times New Roman"/>
                <a:cs typeface="Times New Roman"/>
              </a:rPr>
              <a:t>Ionisation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56303" y="1380744"/>
            <a:ext cx="3221990" cy="628015"/>
          </a:xfrm>
          <a:custGeom>
            <a:avLst/>
            <a:gdLst/>
            <a:ahLst/>
            <a:cxnLst/>
            <a:rect l="l" t="t" r="r" b="b"/>
            <a:pathLst>
              <a:path w="3221990" h="628014">
                <a:moveTo>
                  <a:pt x="0" y="627888"/>
                </a:moveTo>
                <a:lnTo>
                  <a:pt x="3221736" y="627888"/>
                </a:lnTo>
                <a:lnTo>
                  <a:pt x="3221736" y="0"/>
                </a:lnTo>
                <a:lnTo>
                  <a:pt x="0" y="0"/>
                </a:lnTo>
                <a:lnTo>
                  <a:pt x="0" y="627888"/>
                </a:lnTo>
                <a:close/>
              </a:path>
            </a:pathLst>
          </a:custGeom>
          <a:ln w="12192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75176" y="1277111"/>
            <a:ext cx="1770888" cy="6827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37632" y="1277111"/>
            <a:ext cx="1621536" cy="6827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56303" y="1380744"/>
            <a:ext cx="3221990" cy="628015"/>
          </a:xfrm>
          <a:prstGeom prst="rect">
            <a:avLst/>
          </a:prstGeom>
          <a:ln w="12192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2580">
              <a:lnSpc>
                <a:spcPts val="2775"/>
              </a:lnSpc>
            </a:pPr>
            <a:r>
              <a:rPr sz="2400" spc="-5" dirty="0">
                <a:solidFill>
                  <a:srgbClr val="5B9BD4"/>
                </a:solidFill>
                <a:latin typeface="Times New Roman"/>
                <a:cs typeface="Times New Roman"/>
              </a:rPr>
              <a:t>Secondary</a:t>
            </a:r>
            <a:r>
              <a:rPr sz="2400" spc="10" dirty="0">
                <a:solidFill>
                  <a:srgbClr val="5B9BD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5B9BD4"/>
                </a:solidFill>
                <a:latin typeface="Times New Roman"/>
                <a:cs typeface="Times New Roman"/>
              </a:rPr>
              <a:t>Ionisation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48600" y="1380744"/>
            <a:ext cx="3880485" cy="628015"/>
          </a:xfrm>
          <a:custGeom>
            <a:avLst/>
            <a:gdLst/>
            <a:ahLst/>
            <a:cxnLst/>
            <a:rect l="l" t="t" r="r" b="b"/>
            <a:pathLst>
              <a:path w="3880484" h="628014">
                <a:moveTo>
                  <a:pt x="0" y="627888"/>
                </a:moveTo>
                <a:lnTo>
                  <a:pt x="3880104" y="627888"/>
                </a:lnTo>
                <a:lnTo>
                  <a:pt x="3880104" y="0"/>
                </a:lnTo>
                <a:lnTo>
                  <a:pt x="0" y="0"/>
                </a:lnTo>
                <a:lnTo>
                  <a:pt x="0" y="627888"/>
                </a:lnTo>
                <a:close/>
              </a:path>
            </a:pathLst>
          </a:custGeom>
          <a:ln w="12192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27264" y="1277111"/>
            <a:ext cx="1499616" cy="6827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18447" y="1277111"/>
            <a:ext cx="627888" cy="6827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37904" y="1277111"/>
            <a:ext cx="2612136" cy="6827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20304" y="1354582"/>
            <a:ext cx="35388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B9BD4"/>
                </a:solidFill>
                <a:latin typeface="Times New Roman"/>
                <a:cs typeface="Times New Roman"/>
              </a:rPr>
              <a:t>Electron Attachment</a:t>
            </a:r>
            <a:r>
              <a:rPr sz="2400" spc="-185" dirty="0">
                <a:solidFill>
                  <a:srgbClr val="5B9BD4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5B9BD4"/>
                </a:solidFill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7877" y="2937510"/>
            <a:ext cx="1420533" cy="2524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96897" y="2937510"/>
            <a:ext cx="1756410" cy="3244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4817" y="3933316"/>
            <a:ext cx="818438" cy="2524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18285" y="3933316"/>
            <a:ext cx="1417573" cy="2524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0584" y="2039111"/>
            <a:ext cx="0" cy="2065020"/>
          </a:xfrm>
          <a:custGeom>
            <a:avLst/>
            <a:gdLst/>
            <a:ahLst/>
            <a:cxnLst/>
            <a:rect l="l" t="t" r="r" b="b"/>
            <a:pathLst>
              <a:path h="2065020">
                <a:moveTo>
                  <a:pt x="0" y="0"/>
                </a:moveTo>
                <a:lnTo>
                  <a:pt x="1" y="2064639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0584" y="2941320"/>
            <a:ext cx="384175" cy="259079"/>
          </a:xfrm>
          <a:custGeom>
            <a:avLst/>
            <a:gdLst/>
            <a:ahLst/>
            <a:cxnLst/>
            <a:rect l="l" t="t" r="r" b="b"/>
            <a:pathLst>
              <a:path w="384175" h="259080">
                <a:moveTo>
                  <a:pt x="254508" y="0"/>
                </a:moveTo>
                <a:lnTo>
                  <a:pt x="254508" y="64769"/>
                </a:lnTo>
                <a:lnTo>
                  <a:pt x="0" y="64769"/>
                </a:lnTo>
                <a:lnTo>
                  <a:pt x="0" y="194309"/>
                </a:lnTo>
                <a:lnTo>
                  <a:pt x="254508" y="194309"/>
                </a:lnTo>
                <a:lnTo>
                  <a:pt x="254508" y="259079"/>
                </a:lnTo>
                <a:lnTo>
                  <a:pt x="384047" y="129539"/>
                </a:lnTo>
                <a:lnTo>
                  <a:pt x="25450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0584" y="2941320"/>
            <a:ext cx="384175" cy="259079"/>
          </a:xfrm>
          <a:custGeom>
            <a:avLst/>
            <a:gdLst/>
            <a:ahLst/>
            <a:cxnLst/>
            <a:rect l="l" t="t" r="r" b="b"/>
            <a:pathLst>
              <a:path w="384175" h="259080">
                <a:moveTo>
                  <a:pt x="0" y="64769"/>
                </a:moveTo>
                <a:lnTo>
                  <a:pt x="254508" y="64769"/>
                </a:lnTo>
                <a:lnTo>
                  <a:pt x="254508" y="0"/>
                </a:lnTo>
                <a:lnTo>
                  <a:pt x="384047" y="129539"/>
                </a:lnTo>
                <a:lnTo>
                  <a:pt x="254508" y="259079"/>
                </a:lnTo>
                <a:lnTo>
                  <a:pt x="254508" y="194309"/>
                </a:lnTo>
                <a:lnTo>
                  <a:pt x="0" y="194309"/>
                </a:lnTo>
                <a:lnTo>
                  <a:pt x="0" y="6476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0584" y="3974591"/>
            <a:ext cx="384175" cy="259079"/>
          </a:xfrm>
          <a:custGeom>
            <a:avLst/>
            <a:gdLst/>
            <a:ahLst/>
            <a:cxnLst/>
            <a:rect l="l" t="t" r="r" b="b"/>
            <a:pathLst>
              <a:path w="384175" h="259079">
                <a:moveTo>
                  <a:pt x="254508" y="0"/>
                </a:moveTo>
                <a:lnTo>
                  <a:pt x="254508" y="64769"/>
                </a:lnTo>
                <a:lnTo>
                  <a:pt x="0" y="64769"/>
                </a:lnTo>
                <a:lnTo>
                  <a:pt x="0" y="194309"/>
                </a:lnTo>
                <a:lnTo>
                  <a:pt x="254508" y="194309"/>
                </a:lnTo>
                <a:lnTo>
                  <a:pt x="254508" y="259079"/>
                </a:lnTo>
                <a:lnTo>
                  <a:pt x="384047" y="129539"/>
                </a:lnTo>
                <a:lnTo>
                  <a:pt x="25450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0584" y="3974591"/>
            <a:ext cx="384175" cy="259079"/>
          </a:xfrm>
          <a:custGeom>
            <a:avLst/>
            <a:gdLst/>
            <a:ahLst/>
            <a:cxnLst/>
            <a:rect l="l" t="t" r="r" b="b"/>
            <a:pathLst>
              <a:path w="384175" h="259079">
                <a:moveTo>
                  <a:pt x="0" y="64769"/>
                </a:moveTo>
                <a:lnTo>
                  <a:pt x="254508" y="64769"/>
                </a:lnTo>
                <a:lnTo>
                  <a:pt x="254508" y="0"/>
                </a:lnTo>
                <a:lnTo>
                  <a:pt x="384047" y="129539"/>
                </a:lnTo>
                <a:lnTo>
                  <a:pt x="254508" y="259079"/>
                </a:lnTo>
                <a:lnTo>
                  <a:pt x="254508" y="194309"/>
                </a:lnTo>
                <a:lnTo>
                  <a:pt x="0" y="194309"/>
                </a:lnTo>
                <a:lnTo>
                  <a:pt x="0" y="6476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37684" y="2937510"/>
            <a:ext cx="4405248" cy="32385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43017" y="3802507"/>
            <a:ext cx="2804109" cy="25247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46828" y="4809490"/>
            <a:ext cx="5739459" cy="25298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42815" y="2008632"/>
            <a:ext cx="14604" cy="3034030"/>
          </a:xfrm>
          <a:custGeom>
            <a:avLst/>
            <a:gdLst/>
            <a:ahLst/>
            <a:cxnLst/>
            <a:rect l="l" t="t" r="r" b="b"/>
            <a:pathLst>
              <a:path w="14604" h="3034029">
                <a:moveTo>
                  <a:pt x="14224" y="0"/>
                </a:moveTo>
                <a:lnTo>
                  <a:pt x="0" y="3033903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58055" y="2941320"/>
            <a:ext cx="463550" cy="259079"/>
          </a:xfrm>
          <a:custGeom>
            <a:avLst/>
            <a:gdLst/>
            <a:ahLst/>
            <a:cxnLst/>
            <a:rect l="l" t="t" r="r" b="b"/>
            <a:pathLst>
              <a:path w="463550" h="259080">
                <a:moveTo>
                  <a:pt x="333756" y="0"/>
                </a:moveTo>
                <a:lnTo>
                  <a:pt x="333756" y="64769"/>
                </a:lnTo>
                <a:lnTo>
                  <a:pt x="0" y="64769"/>
                </a:lnTo>
                <a:lnTo>
                  <a:pt x="0" y="194309"/>
                </a:lnTo>
                <a:lnTo>
                  <a:pt x="333756" y="194309"/>
                </a:lnTo>
                <a:lnTo>
                  <a:pt x="333756" y="259079"/>
                </a:lnTo>
                <a:lnTo>
                  <a:pt x="463296" y="129539"/>
                </a:lnTo>
                <a:lnTo>
                  <a:pt x="33375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58055" y="2941320"/>
            <a:ext cx="463550" cy="259079"/>
          </a:xfrm>
          <a:custGeom>
            <a:avLst/>
            <a:gdLst/>
            <a:ahLst/>
            <a:cxnLst/>
            <a:rect l="l" t="t" r="r" b="b"/>
            <a:pathLst>
              <a:path w="463550" h="259080">
                <a:moveTo>
                  <a:pt x="0" y="64769"/>
                </a:moveTo>
                <a:lnTo>
                  <a:pt x="333756" y="64769"/>
                </a:lnTo>
                <a:lnTo>
                  <a:pt x="333756" y="0"/>
                </a:lnTo>
                <a:lnTo>
                  <a:pt x="463296" y="129539"/>
                </a:lnTo>
                <a:lnTo>
                  <a:pt x="333756" y="259079"/>
                </a:lnTo>
                <a:lnTo>
                  <a:pt x="333756" y="194309"/>
                </a:lnTo>
                <a:lnTo>
                  <a:pt x="0" y="194309"/>
                </a:lnTo>
                <a:lnTo>
                  <a:pt x="0" y="6476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58055" y="3791711"/>
            <a:ext cx="463550" cy="262255"/>
          </a:xfrm>
          <a:custGeom>
            <a:avLst/>
            <a:gdLst/>
            <a:ahLst/>
            <a:cxnLst/>
            <a:rect l="l" t="t" r="r" b="b"/>
            <a:pathLst>
              <a:path w="463550" h="262254">
                <a:moveTo>
                  <a:pt x="332232" y="0"/>
                </a:moveTo>
                <a:lnTo>
                  <a:pt x="332232" y="65531"/>
                </a:lnTo>
                <a:lnTo>
                  <a:pt x="0" y="65531"/>
                </a:lnTo>
                <a:lnTo>
                  <a:pt x="0" y="196595"/>
                </a:lnTo>
                <a:lnTo>
                  <a:pt x="332232" y="196595"/>
                </a:lnTo>
                <a:lnTo>
                  <a:pt x="332232" y="262127"/>
                </a:lnTo>
                <a:lnTo>
                  <a:pt x="463296" y="131063"/>
                </a:lnTo>
                <a:lnTo>
                  <a:pt x="33223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58055" y="3791711"/>
            <a:ext cx="463550" cy="262255"/>
          </a:xfrm>
          <a:custGeom>
            <a:avLst/>
            <a:gdLst/>
            <a:ahLst/>
            <a:cxnLst/>
            <a:rect l="l" t="t" r="r" b="b"/>
            <a:pathLst>
              <a:path w="463550" h="262254">
                <a:moveTo>
                  <a:pt x="0" y="65531"/>
                </a:moveTo>
                <a:lnTo>
                  <a:pt x="332232" y="65531"/>
                </a:lnTo>
                <a:lnTo>
                  <a:pt x="332232" y="0"/>
                </a:lnTo>
                <a:lnTo>
                  <a:pt x="463296" y="131063"/>
                </a:lnTo>
                <a:lnTo>
                  <a:pt x="332232" y="262127"/>
                </a:lnTo>
                <a:lnTo>
                  <a:pt x="332232" y="196595"/>
                </a:lnTo>
                <a:lnTo>
                  <a:pt x="0" y="196595"/>
                </a:lnTo>
                <a:lnTo>
                  <a:pt x="0" y="6553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58055" y="4797552"/>
            <a:ext cx="463550" cy="262255"/>
          </a:xfrm>
          <a:custGeom>
            <a:avLst/>
            <a:gdLst/>
            <a:ahLst/>
            <a:cxnLst/>
            <a:rect l="l" t="t" r="r" b="b"/>
            <a:pathLst>
              <a:path w="463550" h="262254">
                <a:moveTo>
                  <a:pt x="332232" y="0"/>
                </a:moveTo>
                <a:lnTo>
                  <a:pt x="332232" y="65531"/>
                </a:lnTo>
                <a:lnTo>
                  <a:pt x="0" y="65531"/>
                </a:lnTo>
                <a:lnTo>
                  <a:pt x="0" y="196596"/>
                </a:lnTo>
                <a:lnTo>
                  <a:pt x="332232" y="196596"/>
                </a:lnTo>
                <a:lnTo>
                  <a:pt x="332232" y="262128"/>
                </a:lnTo>
                <a:lnTo>
                  <a:pt x="463296" y="131064"/>
                </a:lnTo>
                <a:lnTo>
                  <a:pt x="33223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58055" y="4797552"/>
            <a:ext cx="463550" cy="262255"/>
          </a:xfrm>
          <a:custGeom>
            <a:avLst/>
            <a:gdLst/>
            <a:ahLst/>
            <a:cxnLst/>
            <a:rect l="l" t="t" r="r" b="b"/>
            <a:pathLst>
              <a:path w="463550" h="262254">
                <a:moveTo>
                  <a:pt x="0" y="65531"/>
                </a:moveTo>
                <a:lnTo>
                  <a:pt x="332232" y="65531"/>
                </a:lnTo>
                <a:lnTo>
                  <a:pt x="332232" y="0"/>
                </a:lnTo>
                <a:lnTo>
                  <a:pt x="463296" y="131064"/>
                </a:lnTo>
                <a:lnTo>
                  <a:pt x="332232" y="262128"/>
                </a:lnTo>
                <a:lnTo>
                  <a:pt x="332232" y="196596"/>
                </a:lnTo>
                <a:lnTo>
                  <a:pt x="0" y="196596"/>
                </a:lnTo>
                <a:lnTo>
                  <a:pt x="0" y="6553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68696" y="615695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86839" y="880872"/>
            <a:ext cx="8910955" cy="0"/>
          </a:xfrm>
          <a:custGeom>
            <a:avLst/>
            <a:gdLst/>
            <a:ahLst/>
            <a:cxnLst/>
            <a:rect l="l" t="t" r="r" b="b"/>
            <a:pathLst>
              <a:path w="8910955">
                <a:moveTo>
                  <a:pt x="0" y="0"/>
                </a:moveTo>
                <a:lnTo>
                  <a:pt x="8910574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40536" y="899160"/>
            <a:ext cx="417830" cy="481965"/>
          </a:xfrm>
          <a:custGeom>
            <a:avLst/>
            <a:gdLst/>
            <a:ahLst/>
            <a:cxnLst/>
            <a:rect l="l" t="t" r="r" b="b"/>
            <a:pathLst>
              <a:path w="417830" h="481965">
                <a:moveTo>
                  <a:pt x="417575" y="272795"/>
                </a:moveTo>
                <a:lnTo>
                  <a:pt x="0" y="272795"/>
                </a:lnTo>
                <a:lnTo>
                  <a:pt x="208787" y="481584"/>
                </a:lnTo>
                <a:lnTo>
                  <a:pt x="417575" y="272795"/>
                </a:lnTo>
                <a:close/>
              </a:path>
              <a:path w="417830" h="481965">
                <a:moveTo>
                  <a:pt x="313181" y="0"/>
                </a:moveTo>
                <a:lnTo>
                  <a:pt x="104393" y="0"/>
                </a:lnTo>
                <a:lnTo>
                  <a:pt x="104393" y="272795"/>
                </a:lnTo>
                <a:lnTo>
                  <a:pt x="313181" y="272795"/>
                </a:lnTo>
                <a:lnTo>
                  <a:pt x="31318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40536" y="899160"/>
            <a:ext cx="417830" cy="481965"/>
          </a:xfrm>
          <a:custGeom>
            <a:avLst/>
            <a:gdLst/>
            <a:ahLst/>
            <a:cxnLst/>
            <a:rect l="l" t="t" r="r" b="b"/>
            <a:pathLst>
              <a:path w="417830" h="481965">
                <a:moveTo>
                  <a:pt x="0" y="272795"/>
                </a:moveTo>
                <a:lnTo>
                  <a:pt x="104393" y="272795"/>
                </a:lnTo>
                <a:lnTo>
                  <a:pt x="104393" y="0"/>
                </a:lnTo>
                <a:lnTo>
                  <a:pt x="313181" y="0"/>
                </a:lnTo>
                <a:lnTo>
                  <a:pt x="313181" y="272795"/>
                </a:lnTo>
                <a:lnTo>
                  <a:pt x="417575" y="272795"/>
                </a:lnTo>
                <a:lnTo>
                  <a:pt x="208787" y="481584"/>
                </a:lnTo>
                <a:lnTo>
                  <a:pt x="0" y="272795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58384" y="880872"/>
            <a:ext cx="417830" cy="481965"/>
          </a:xfrm>
          <a:custGeom>
            <a:avLst/>
            <a:gdLst/>
            <a:ahLst/>
            <a:cxnLst/>
            <a:rect l="l" t="t" r="r" b="b"/>
            <a:pathLst>
              <a:path w="417829" h="481965">
                <a:moveTo>
                  <a:pt x="417575" y="272795"/>
                </a:moveTo>
                <a:lnTo>
                  <a:pt x="0" y="272795"/>
                </a:lnTo>
                <a:lnTo>
                  <a:pt x="208787" y="481583"/>
                </a:lnTo>
                <a:lnTo>
                  <a:pt x="417575" y="272795"/>
                </a:lnTo>
                <a:close/>
              </a:path>
              <a:path w="417829" h="481965">
                <a:moveTo>
                  <a:pt x="313181" y="0"/>
                </a:moveTo>
                <a:lnTo>
                  <a:pt x="104393" y="0"/>
                </a:lnTo>
                <a:lnTo>
                  <a:pt x="104393" y="272795"/>
                </a:lnTo>
                <a:lnTo>
                  <a:pt x="313181" y="272795"/>
                </a:lnTo>
                <a:lnTo>
                  <a:pt x="31318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358384" y="880872"/>
            <a:ext cx="417830" cy="481965"/>
          </a:xfrm>
          <a:custGeom>
            <a:avLst/>
            <a:gdLst/>
            <a:ahLst/>
            <a:cxnLst/>
            <a:rect l="l" t="t" r="r" b="b"/>
            <a:pathLst>
              <a:path w="417829" h="481965">
                <a:moveTo>
                  <a:pt x="0" y="272795"/>
                </a:moveTo>
                <a:lnTo>
                  <a:pt x="104393" y="272795"/>
                </a:lnTo>
                <a:lnTo>
                  <a:pt x="104393" y="0"/>
                </a:lnTo>
                <a:lnTo>
                  <a:pt x="313181" y="0"/>
                </a:lnTo>
                <a:lnTo>
                  <a:pt x="313181" y="272795"/>
                </a:lnTo>
                <a:lnTo>
                  <a:pt x="417575" y="272795"/>
                </a:lnTo>
                <a:lnTo>
                  <a:pt x="208787" y="481583"/>
                </a:lnTo>
                <a:lnTo>
                  <a:pt x="0" y="27279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088880" y="880872"/>
            <a:ext cx="417830" cy="481965"/>
          </a:xfrm>
          <a:custGeom>
            <a:avLst/>
            <a:gdLst/>
            <a:ahLst/>
            <a:cxnLst/>
            <a:rect l="l" t="t" r="r" b="b"/>
            <a:pathLst>
              <a:path w="417829" h="481965">
                <a:moveTo>
                  <a:pt x="417575" y="272795"/>
                </a:moveTo>
                <a:lnTo>
                  <a:pt x="0" y="272795"/>
                </a:lnTo>
                <a:lnTo>
                  <a:pt x="208788" y="481583"/>
                </a:lnTo>
                <a:lnTo>
                  <a:pt x="417575" y="272795"/>
                </a:lnTo>
                <a:close/>
              </a:path>
              <a:path w="417829" h="481965">
                <a:moveTo>
                  <a:pt x="313181" y="0"/>
                </a:moveTo>
                <a:lnTo>
                  <a:pt x="104394" y="0"/>
                </a:lnTo>
                <a:lnTo>
                  <a:pt x="104394" y="272795"/>
                </a:lnTo>
                <a:lnTo>
                  <a:pt x="313181" y="272795"/>
                </a:lnTo>
                <a:lnTo>
                  <a:pt x="31318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088880" y="880872"/>
            <a:ext cx="417830" cy="481965"/>
          </a:xfrm>
          <a:custGeom>
            <a:avLst/>
            <a:gdLst/>
            <a:ahLst/>
            <a:cxnLst/>
            <a:rect l="l" t="t" r="r" b="b"/>
            <a:pathLst>
              <a:path w="417829" h="481965">
                <a:moveTo>
                  <a:pt x="0" y="272795"/>
                </a:moveTo>
                <a:lnTo>
                  <a:pt x="104394" y="272795"/>
                </a:lnTo>
                <a:lnTo>
                  <a:pt x="104394" y="0"/>
                </a:lnTo>
                <a:lnTo>
                  <a:pt x="313181" y="0"/>
                </a:lnTo>
                <a:lnTo>
                  <a:pt x="313181" y="272795"/>
                </a:lnTo>
                <a:lnTo>
                  <a:pt x="417575" y="272795"/>
                </a:lnTo>
                <a:lnTo>
                  <a:pt x="208788" y="481583"/>
                </a:lnTo>
                <a:lnTo>
                  <a:pt x="0" y="27279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265" y="373507"/>
            <a:ext cx="2571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3CC"/>
                </a:solidFill>
              </a:rPr>
              <a:t>What </a:t>
            </a:r>
            <a:r>
              <a:rPr sz="2400" spc="-5" dirty="0">
                <a:solidFill>
                  <a:srgbClr val="FF33CC"/>
                </a:solidFill>
              </a:rPr>
              <a:t>is</a:t>
            </a:r>
            <a:r>
              <a:rPr sz="2400" spc="-65" dirty="0">
                <a:solidFill>
                  <a:srgbClr val="FF33CC"/>
                </a:solidFill>
              </a:rPr>
              <a:t> </a:t>
            </a:r>
            <a:r>
              <a:rPr sz="2400" dirty="0">
                <a:solidFill>
                  <a:srgbClr val="FF33CC"/>
                </a:solidFill>
              </a:rPr>
              <a:t>Ionisation?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50265" y="965073"/>
            <a:ext cx="11018520" cy="3396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process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liberating an electron </a:t>
            </a:r>
            <a:r>
              <a:rPr sz="2000" spc="-10" dirty="0">
                <a:latin typeface="Times New Roman"/>
                <a:cs typeface="Times New Roman"/>
              </a:rPr>
              <a:t>from </a:t>
            </a:r>
            <a:r>
              <a:rPr sz="2000" spc="-5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gas molecule </a:t>
            </a:r>
            <a:r>
              <a:rPr sz="2000" spc="-20" dirty="0">
                <a:latin typeface="Times New Roman"/>
                <a:cs typeface="Times New Roman"/>
              </a:rPr>
              <a:t>with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15" dirty="0">
                <a:latin typeface="Times New Roman"/>
                <a:cs typeface="Times New Roman"/>
              </a:rPr>
              <a:t>simultaneous </a:t>
            </a:r>
            <a:r>
              <a:rPr sz="2000" spc="-5" dirty="0">
                <a:latin typeface="Times New Roman"/>
                <a:cs typeface="Times New Roman"/>
              </a:rPr>
              <a:t>production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positive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Ionisation by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Collision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2325"/>
              </a:spcBef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sz="2000" spc="-10" dirty="0">
                <a:latin typeface="Times New Roman"/>
                <a:cs typeface="Times New Roman"/>
              </a:rPr>
              <a:t>Whenever </a:t>
            </a:r>
            <a:r>
              <a:rPr sz="2000" spc="-15" dirty="0">
                <a:latin typeface="Times New Roman"/>
                <a:cs typeface="Times New Roman"/>
              </a:rPr>
              <a:t>you </a:t>
            </a:r>
            <a:r>
              <a:rPr sz="2000" spc="-5" dirty="0">
                <a:latin typeface="Times New Roman"/>
                <a:cs typeface="Times New Roman"/>
              </a:rPr>
              <a:t>are </a:t>
            </a:r>
            <a:r>
              <a:rPr sz="2000" spc="-10" dirty="0">
                <a:latin typeface="Times New Roman"/>
                <a:cs typeface="Times New Roman"/>
              </a:rPr>
              <a:t>applying </a:t>
            </a:r>
            <a:r>
              <a:rPr sz="2000" spc="-15" dirty="0">
                <a:latin typeface="Times New Roman"/>
                <a:cs typeface="Times New Roman"/>
              </a:rPr>
              <a:t>high </a:t>
            </a:r>
            <a:r>
              <a:rPr sz="2000" spc="-10" dirty="0">
                <a:latin typeface="Times New Roman"/>
                <a:cs typeface="Times New Roman"/>
              </a:rPr>
              <a:t>voltage </a:t>
            </a:r>
            <a:r>
              <a:rPr sz="2000" spc="-5" dirty="0">
                <a:latin typeface="Times New Roman"/>
                <a:cs typeface="Times New Roman"/>
              </a:rPr>
              <a:t>over </a:t>
            </a:r>
            <a:r>
              <a:rPr sz="2000" spc="-10" dirty="0">
                <a:latin typeface="Times New Roman"/>
                <a:cs typeface="Times New Roman"/>
              </a:rPr>
              <a:t>gaseous </a:t>
            </a:r>
            <a:r>
              <a:rPr sz="2000" spc="-15" dirty="0">
                <a:latin typeface="Times New Roman"/>
                <a:cs typeface="Times New Roman"/>
              </a:rPr>
              <a:t>medium </a:t>
            </a:r>
            <a:r>
              <a:rPr sz="2000" spc="-5" dirty="0">
                <a:latin typeface="Times New Roman"/>
                <a:cs typeface="Times New Roman"/>
              </a:rPr>
              <a:t>electrons </a:t>
            </a:r>
            <a:r>
              <a:rPr sz="2000" spc="-15" dirty="0">
                <a:latin typeface="Times New Roman"/>
                <a:cs typeface="Times New Roman"/>
              </a:rPr>
              <a:t>will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generated.</a:t>
            </a:r>
            <a:endParaRPr sz="20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These </a:t>
            </a:r>
            <a:r>
              <a:rPr sz="2000" spc="-10" dirty="0">
                <a:latin typeface="Times New Roman"/>
                <a:cs typeface="Times New Roman"/>
              </a:rPr>
              <a:t>free </a:t>
            </a:r>
            <a:r>
              <a:rPr sz="2000" spc="-5" dirty="0">
                <a:latin typeface="Times New Roman"/>
                <a:cs typeface="Times New Roman"/>
              </a:rPr>
              <a:t>electron collides </a:t>
            </a:r>
            <a:r>
              <a:rPr sz="2000" spc="-15" dirty="0">
                <a:latin typeface="Times New Roman"/>
                <a:cs typeface="Times New Roman"/>
              </a:rPr>
              <a:t>with </a:t>
            </a:r>
            <a:r>
              <a:rPr sz="2000" spc="-10" dirty="0">
                <a:latin typeface="Times New Roman"/>
                <a:cs typeface="Times New Roman"/>
              </a:rPr>
              <a:t>neutral gas molecule and </a:t>
            </a:r>
            <a:r>
              <a:rPr sz="2000" spc="-15" dirty="0">
                <a:latin typeface="Times New Roman"/>
                <a:cs typeface="Times New Roman"/>
              </a:rPr>
              <a:t>give </a:t>
            </a:r>
            <a:r>
              <a:rPr sz="2000" spc="-5" dirty="0">
                <a:latin typeface="Times New Roman"/>
                <a:cs typeface="Times New Roman"/>
              </a:rPr>
              <a:t>rise to </a:t>
            </a:r>
            <a:r>
              <a:rPr sz="2000" spc="-10" dirty="0">
                <a:latin typeface="Times New Roman"/>
                <a:cs typeface="Times New Roman"/>
              </a:rPr>
              <a:t>new </a:t>
            </a:r>
            <a:r>
              <a:rPr sz="2000" spc="-5" dirty="0">
                <a:latin typeface="Times New Roman"/>
                <a:cs typeface="Times New Roman"/>
              </a:rPr>
              <a:t>electron </a:t>
            </a:r>
            <a:r>
              <a:rPr sz="2000" spc="-10" dirty="0">
                <a:latin typeface="Times New Roman"/>
                <a:cs typeface="Times New Roman"/>
              </a:rPr>
              <a:t>and </a:t>
            </a:r>
            <a:r>
              <a:rPr sz="2000" spc="-5" dirty="0">
                <a:latin typeface="Times New Roman"/>
                <a:cs typeface="Times New Roman"/>
              </a:rPr>
              <a:t>a positive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ion.</a:t>
            </a:r>
            <a:endParaRPr sz="2000">
              <a:latin typeface="Times New Roman"/>
              <a:cs typeface="Times New Roman"/>
            </a:endParaRPr>
          </a:p>
          <a:p>
            <a:pPr marL="356870" marR="5080" indent="-344805">
              <a:lnSpc>
                <a:spcPts val="2160"/>
              </a:lnSpc>
              <a:spcBef>
                <a:spcPts val="104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spc="-15" dirty="0">
                <a:latin typeface="Times New Roman"/>
                <a:cs typeface="Times New Roman"/>
              </a:rPr>
              <a:t>fig. </a:t>
            </a:r>
            <a:r>
              <a:rPr sz="2000" spc="-5" dirty="0">
                <a:latin typeface="Times New Roman"/>
                <a:cs typeface="Times New Roman"/>
              </a:rPr>
              <a:t>electron travels from cathode to anode. </a:t>
            </a:r>
            <a:r>
              <a:rPr sz="2000" spc="-10" dirty="0">
                <a:latin typeface="Times New Roman"/>
                <a:cs typeface="Times New Roman"/>
              </a:rPr>
              <a:t>During this, </a:t>
            </a:r>
            <a:r>
              <a:rPr sz="2000" spc="-5" dirty="0">
                <a:latin typeface="Times New Roman"/>
                <a:cs typeface="Times New Roman"/>
              </a:rPr>
              <a:t>it accelerates </a:t>
            </a:r>
            <a:r>
              <a:rPr sz="2000" spc="-10" dirty="0">
                <a:latin typeface="Times New Roman"/>
                <a:cs typeface="Times New Roman"/>
              </a:rPr>
              <a:t>due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successive </a:t>
            </a:r>
            <a:r>
              <a:rPr sz="2000" spc="-5" dirty="0">
                <a:latin typeface="Times New Roman"/>
                <a:cs typeface="Times New Roman"/>
              </a:rPr>
              <a:t>collisions </a:t>
            </a:r>
            <a:r>
              <a:rPr sz="2000" spc="-20" dirty="0">
                <a:latin typeface="Times New Roman"/>
                <a:cs typeface="Times New Roman"/>
              </a:rPr>
              <a:t>with  </a:t>
            </a:r>
            <a:r>
              <a:rPr sz="2000" spc="-5" dirty="0">
                <a:latin typeface="Times New Roman"/>
                <a:cs typeface="Times New Roman"/>
              </a:rPr>
              <a:t>other </a:t>
            </a:r>
            <a:r>
              <a:rPr sz="2000" spc="-10" dirty="0">
                <a:latin typeface="Times New Roman"/>
                <a:cs typeface="Times New Roman"/>
              </a:rPr>
              <a:t>gas molecules </a:t>
            </a:r>
            <a:r>
              <a:rPr sz="2000" spc="-5" dirty="0">
                <a:latin typeface="Times New Roman"/>
                <a:cs typeface="Times New Roman"/>
              </a:rPr>
              <a:t>till it reaches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anode.</a:t>
            </a:r>
            <a:endParaRPr sz="2000">
              <a:latin typeface="Times New Roman"/>
              <a:cs typeface="Times New Roman"/>
            </a:endParaRPr>
          </a:p>
          <a:p>
            <a:pPr marL="356870" indent="-344805">
              <a:lnSpc>
                <a:spcPts val="2280"/>
              </a:lnSpc>
              <a:spcBef>
                <a:spcPts val="715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spc="-10" dirty="0">
                <a:latin typeface="Times New Roman"/>
                <a:cs typeface="Times New Roman"/>
              </a:rPr>
              <a:t>Accelerating </a:t>
            </a:r>
            <a:r>
              <a:rPr sz="2000" spc="-15" dirty="0">
                <a:latin typeface="Times New Roman"/>
                <a:cs typeface="Times New Roman"/>
              </a:rPr>
              <a:t>means </a:t>
            </a:r>
            <a:r>
              <a:rPr sz="2000" spc="-5" dirty="0">
                <a:latin typeface="Times New Roman"/>
                <a:cs typeface="Times New Roman"/>
              </a:rPr>
              <a:t>it </a:t>
            </a:r>
            <a:r>
              <a:rPr sz="2000" spc="-10" dirty="0">
                <a:latin typeface="Times New Roman"/>
                <a:cs typeface="Times New Roman"/>
              </a:rPr>
              <a:t>gains the </a:t>
            </a:r>
            <a:r>
              <a:rPr sz="2000" spc="-40" dirty="0">
                <a:latin typeface="Times New Roman"/>
                <a:cs typeface="Times New Roman"/>
              </a:rPr>
              <a:t>Energy. </a:t>
            </a:r>
            <a:r>
              <a:rPr sz="2000" spc="-5" dirty="0">
                <a:latin typeface="Times New Roman"/>
                <a:cs typeface="Times New Roman"/>
              </a:rPr>
              <a:t>If </a:t>
            </a:r>
            <a:r>
              <a:rPr sz="2000" spc="-10" dirty="0">
                <a:latin typeface="Times New Roman"/>
                <a:cs typeface="Times New Roman"/>
              </a:rPr>
              <a:t>this </a:t>
            </a:r>
            <a:r>
              <a:rPr sz="2000" spc="-20" dirty="0">
                <a:latin typeface="Times New Roman"/>
                <a:cs typeface="Times New Roman"/>
              </a:rPr>
              <a:t>Energy </a:t>
            </a:r>
            <a:r>
              <a:rPr sz="2000" spc="-5" dirty="0">
                <a:latin typeface="Times New Roman"/>
                <a:cs typeface="Times New Roman"/>
              </a:rPr>
              <a:t>exceeds ionization potential, </a:t>
            </a:r>
            <a:r>
              <a:rPr sz="2000" spc="-20" dirty="0">
                <a:latin typeface="Times New Roman"/>
                <a:cs typeface="Times New Roman"/>
              </a:rPr>
              <a:t>which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required to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dislodge an electron from </a:t>
            </a:r>
            <a:r>
              <a:rPr sz="2000" spc="-10" dirty="0">
                <a:latin typeface="Times New Roman"/>
                <a:cs typeface="Times New Roman"/>
              </a:rPr>
              <a:t>atomic shell then </a:t>
            </a:r>
            <a:r>
              <a:rPr sz="2000" spc="-5" dirty="0">
                <a:latin typeface="Times New Roman"/>
                <a:cs typeface="Times New Roman"/>
              </a:rPr>
              <a:t>ionization </a:t>
            </a:r>
            <a:r>
              <a:rPr sz="2000" spc="-10" dirty="0">
                <a:latin typeface="Times New Roman"/>
                <a:cs typeface="Times New Roman"/>
              </a:rPr>
              <a:t>take </a:t>
            </a:r>
            <a:r>
              <a:rPr sz="2000" spc="-5" dirty="0">
                <a:latin typeface="Times New Roman"/>
                <a:cs typeface="Times New Roman"/>
              </a:rPr>
              <a:t>place. This process 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0" dirty="0">
                <a:latin typeface="Times New Roman"/>
                <a:cs typeface="Times New Roman"/>
              </a:rPr>
              <a:t>given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406" y="4336888"/>
            <a:ext cx="5313045" cy="82994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865"/>
              </a:spcBef>
              <a:tabLst>
                <a:tab pos="3583940" algn="l"/>
                <a:tab pos="4714875" algn="l"/>
                <a:tab pos="4986655" algn="l"/>
              </a:tabLst>
            </a:pPr>
            <a:r>
              <a:rPr sz="2000" spc="45" dirty="0">
                <a:latin typeface="Cambria Math"/>
                <a:cs typeface="Cambria Math"/>
              </a:rPr>
              <a:t>𝑒</a:t>
            </a:r>
            <a:r>
              <a:rPr sz="2175" spc="67" baseline="26819" dirty="0">
                <a:latin typeface="Cambria Math"/>
                <a:cs typeface="Cambria Math"/>
              </a:rPr>
              <a:t>−</a:t>
            </a:r>
            <a:r>
              <a:rPr sz="2175" spc="262" baseline="26819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+ 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𝐴	</a:t>
            </a:r>
            <a:r>
              <a:rPr sz="2000" spc="45" dirty="0">
                <a:latin typeface="Cambria Math"/>
                <a:cs typeface="Cambria Math"/>
              </a:rPr>
              <a:t>𝑒</a:t>
            </a:r>
            <a:r>
              <a:rPr sz="2175" spc="67" baseline="26819" dirty="0">
                <a:latin typeface="Cambria Math"/>
                <a:cs typeface="Cambria Math"/>
              </a:rPr>
              <a:t>− </a:t>
            </a:r>
            <a:r>
              <a:rPr sz="2175" spc="397" baseline="26819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+ 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𝐴</a:t>
            </a:r>
            <a:r>
              <a:rPr sz="2175" spc="-30" baseline="26819" dirty="0">
                <a:latin typeface="Cambria Math"/>
                <a:cs typeface="Cambria Math"/>
              </a:rPr>
              <a:t>+	</a:t>
            </a:r>
            <a:r>
              <a:rPr sz="2000" spc="-5" dirty="0">
                <a:latin typeface="Times New Roman"/>
                <a:cs typeface="Times New Roman"/>
              </a:rPr>
              <a:t>+	</a:t>
            </a:r>
            <a:r>
              <a:rPr sz="2000" spc="45" dirty="0">
                <a:latin typeface="Cambria Math"/>
                <a:cs typeface="Cambria Math"/>
              </a:rPr>
              <a:t>𝑒</a:t>
            </a:r>
            <a:r>
              <a:rPr sz="2175" spc="67" baseline="26819" dirty="0">
                <a:latin typeface="Cambria Math"/>
                <a:cs typeface="Cambria Math"/>
              </a:rPr>
              <a:t>−</a:t>
            </a:r>
            <a:endParaRPr sz="2175" baseline="26819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sz="2000" spc="-5" dirty="0">
                <a:latin typeface="Times New Roman"/>
                <a:cs typeface="Times New Roman"/>
              </a:rPr>
              <a:t>Where, A is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atom.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128" y="5047081"/>
            <a:ext cx="370205" cy="8305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70"/>
              </a:spcBef>
            </a:pPr>
            <a:r>
              <a:rPr sz="3000" spc="-30" baseline="-19444" dirty="0">
                <a:latin typeface="Cambria Math"/>
                <a:cs typeface="Cambria Math"/>
              </a:rPr>
              <a:t>𝐴</a:t>
            </a:r>
            <a:r>
              <a:rPr sz="1450" spc="-20" dirty="0">
                <a:latin typeface="Cambria Math"/>
                <a:cs typeface="Cambria Math"/>
              </a:rPr>
              <a:t>+</a:t>
            </a:r>
            <a:endParaRPr sz="14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sz="3000" spc="67" baseline="-19444" dirty="0">
                <a:latin typeface="Cambria Math"/>
                <a:cs typeface="Cambria Math"/>
              </a:rPr>
              <a:t>𝑒</a:t>
            </a:r>
            <a:r>
              <a:rPr sz="1450" spc="45" dirty="0">
                <a:latin typeface="Cambria Math"/>
                <a:cs typeface="Cambria Math"/>
              </a:rPr>
              <a:t>−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9582" y="5138216"/>
            <a:ext cx="151701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321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is positive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ion. 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9800" y="4604511"/>
            <a:ext cx="1986280" cy="76200"/>
          </a:xfrm>
          <a:custGeom>
            <a:avLst/>
            <a:gdLst/>
            <a:ahLst/>
            <a:cxnLst/>
            <a:rect l="l" t="t" r="r" b="b"/>
            <a:pathLst>
              <a:path w="1986279" h="76200">
                <a:moveTo>
                  <a:pt x="1974017" y="31750"/>
                </a:moveTo>
                <a:lnTo>
                  <a:pt x="1922399" y="31750"/>
                </a:lnTo>
                <a:lnTo>
                  <a:pt x="1922526" y="44450"/>
                </a:lnTo>
                <a:lnTo>
                  <a:pt x="1909816" y="44541"/>
                </a:lnTo>
                <a:lnTo>
                  <a:pt x="1910079" y="76200"/>
                </a:lnTo>
                <a:lnTo>
                  <a:pt x="1985899" y="37592"/>
                </a:lnTo>
                <a:lnTo>
                  <a:pt x="1974017" y="31750"/>
                </a:lnTo>
                <a:close/>
              </a:path>
              <a:path w="1986279" h="76200">
                <a:moveTo>
                  <a:pt x="1909710" y="31841"/>
                </a:moveTo>
                <a:lnTo>
                  <a:pt x="0" y="45593"/>
                </a:lnTo>
                <a:lnTo>
                  <a:pt x="0" y="58293"/>
                </a:lnTo>
                <a:lnTo>
                  <a:pt x="1909816" y="44541"/>
                </a:lnTo>
                <a:lnTo>
                  <a:pt x="1909710" y="31841"/>
                </a:lnTo>
                <a:close/>
              </a:path>
              <a:path w="1986279" h="76200">
                <a:moveTo>
                  <a:pt x="1922399" y="31750"/>
                </a:moveTo>
                <a:lnTo>
                  <a:pt x="1909710" y="31841"/>
                </a:lnTo>
                <a:lnTo>
                  <a:pt x="1909816" y="44541"/>
                </a:lnTo>
                <a:lnTo>
                  <a:pt x="1922526" y="44450"/>
                </a:lnTo>
                <a:lnTo>
                  <a:pt x="1922399" y="31750"/>
                </a:lnTo>
                <a:close/>
              </a:path>
              <a:path w="1986279" h="76200">
                <a:moveTo>
                  <a:pt x="1909445" y="0"/>
                </a:moveTo>
                <a:lnTo>
                  <a:pt x="1909710" y="31841"/>
                </a:lnTo>
                <a:lnTo>
                  <a:pt x="1974017" y="31750"/>
                </a:lnTo>
                <a:lnTo>
                  <a:pt x="190944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5451" y="3311652"/>
            <a:ext cx="158750" cy="1475740"/>
          </a:xfrm>
          <a:custGeom>
            <a:avLst/>
            <a:gdLst/>
            <a:ahLst/>
            <a:cxnLst/>
            <a:rect l="l" t="t" r="r" b="b"/>
            <a:pathLst>
              <a:path w="158750" h="1475739">
                <a:moveTo>
                  <a:pt x="0" y="1475232"/>
                </a:moveTo>
                <a:lnTo>
                  <a:pt x="158496" y="1475232"/>
                </a:lnTo>
                <a:lnTo>
                  <a:pt x="158496" y="0"/>
                </a:lnTo>
                <a:lnTo>
                  <a:pt x="0" y="0"/>
                </a:lnTo>
                <a:lnTo>
                  <a:pt x="0" y="147523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34355" y="3311652"/>
            <a:ext cx="155575" cy="1475740"/>
          </a:xfrm>
          <a:custGeom>
            <a:avLst/>
            <a:gdLst/>
            <a:ahLst/>
            <a:cxnLst/>
            <a:rect l="l" t="t" r="r" b="b"/>
            <a:pathLst>
              <a:path w="155575" h="1475739">
                <a:moveTo>
                  <a:pt x="0" y="1475232"/>
                </a:moveTo>
                <a:lnTo>
                  <a:pt x="155448" y="1475232"/>
                </a:lnTo>
                <a:lnTo>
                  <a:pt x="155448" y="0"/>
                </a:lnTo>
                <a:lnTo>
                  <a:pt x="0" y="0"/>
                </a:lnTo>
                <a:lnTo>
                  <a:pt x="0" y="147523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68547" y="3694176"/>
            <a:ext cx="973455" cy="76200"/>
          </a:xfrm>
          <a:custGeom>
            <a:avLst/>
            <a:gdLst/>
            <a:ahLst/>
            <a:cxnLst/>
            <a:rect l="l" t="t" r="r" b="b"/>
            <a:pathLst>
              <a:path w="973454" h="76200">
                <a:moveTo>
                  <a:pt x="897127" y="0"/>
                </a:moveTo>
                <a:lnTo>
                  <a:pt x="897127" y="76200"/>
                </a:lnTo>
                <a:lnTo>
                  <a:pt x="960627" y="44450"/>
                </a:lnTo>
                <a:lnTo>
                  <a:pt x="909827" y="44450"/>
                </a:lnTo>
                <a:lnTo>
                  <a:pt x="909827" y="31750"/>
                </a:lnTo>
                <a:lnTo>
                  <a:pt x="960627" y="31750"/>
                </a:lnTo>
                <a:lnTo>
                  <a:pt x="897127" y="0"/>
                </a:lnTo>
                <a:close/>
              </a:path>
              <a:path w="973454" h="76200">
                <a:moveTo>
                  <a:pt x="25400" y="12700"/>
                </a:moveTo>
                <a:lnTo>
                  <a:pt x="15537" y="14704"/>
                </a:lnTo>
                <a:lnTo>
                  <a:pt x="7461" y="20161"/>
                </a:lnTo>
                <a:lnTo>
                  <a:pt x="2004" y="28237"/>
                </a:lnTo>
                <a:lnTo>
                  <a:pt x="0" y="38100"/>
                </a:lnTo>
                <a:lnTo>
                  <a:pt x="2004" y="47962"/>
                </a:lnTo>
                <a:lnTo>
                  <a:pt x="7461" y="56038"/>
                </a:lnTo>
                <a:lnTo>
                  <a:pt x="15537" y="61495"/>
                </a:lnTo>
                <a:lnTo>
                  <a:pt x="25400" y="63500"/>
                </a:lnTo>
                <a:lnTo>
                  <a:pt x="35262" y="61495"/>
                </a:lnTo>
                <a:lnTo>
                  <a:pt x="43338" y="56038"/>
                </a:lnTo>
                <a:lnTo>
                  <a:pt x="48795" y="47962"/>
                </a:lnTo>
                <a:lnTo>
                  <a:pt x="49509" y="44450"/>
                </a:lnTo>
                <a:lnTo>
                  <a:pt x="25400" y="44450"/>
                </a:lnTo>
                <a:lnTo>
                  <a:pt x="25400" y="31750"/>
                </a:lnTo>
                <a:lnTo>
                  <a:pt x="49509" y="31750"/>
                </a:lnTo>
                <a:lnTo>
                  <a:pt x="48795" y="28237"/>
                </a:lnTo>
                <a:lnTo>
                  <a:pt x="43338" y="20161"/>
                </a:lnTo>
                <a:lnTo>
                  <a:pt x="35262" y="14704"/>
                </a:lnTo>
                <a:lnTo>
                  <a:pt x="25400" y="12700"/>
                </a:lnTo>
                <a:close/>
              </a:path>
              <a:path w="973454" h="76200">
                <a:moveTo>
                  <a:pt x="49509" y="31750"/>
                </a:moveTo>
                <a:lnTo>
                  <a:pt x="25400" y="31750"/>
                </a:lnTo>
                <a:lnTo>
                  <a:pt x="25400" y="44450"/>
                </a:lnTo>
                <a:lnTo>
                  <a:pt x="49509" y="44450"/>
                </a:lnTo>
                <a:lnTo>
                  <a:pt x="50800" y="38100"/>
                </a:lnTo>
                <a:lnTo>
                  <a:pt x="49509" y="31750"/>
                </a:lnTo>
                <a:close/>
              </a:path>
              <a:path w="973454" h="76200">
                <a:moveTo>
                  <a:pt x="897127" y="31750"/>
                </a:moveTo>
                <a:lnTo>
                  <a:pt x="49509" y="31750"/>
                </a:lnTo>
                <a:lnTo>
                  <a:pt x="50800" y="38100"/>
                </a:lnTo>
                <a:lnTo>
                  <a:pt x="49509" y="44450"/>
                </a:lnTo>
                <a:lnTo>
                  <a:pt x="897127" y="44450"/>
                </a:lnTo>
                <a:lnTo>
                  <a:pt x="897127" y="31750"/>
                </a:lnTo>
                <a:close/>
              </a:path>
              <a:path w="973454" h="76200">
                <a:moveTo>
                  <a:pt x="960627" y="31750"/>
                </a:moveTo>
                <a:lnTo>
                  <a:pt x="909827" y="31750"/>
                </a:lnTo>
                <a:lnTo>
                  <a:pt x="909827" y="44450"/>
                </a:lnTo>
                <a:lnTo>
                  <a:pt x="960627" y="44450"/>
                </a:lnTo>
                <a:lnTo>
                  <a:pt x="973327" y="38100"/>
                </a:lnTo>
                <a:lnTo>
                  <a:pt x="960627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68547" y="3907535"/>
            <a:ext cx="973455" cy="76200"/>
          </a:xfrm>
          <a:custGeom>
            <a:avLst/>
            <a:gdLst/>
            <a:ahLst/>
            <a:cxnLst/>
            <a:rect l="l" t="t" r="r" b="b"/>
            <a:pathLst>
              <a:path w="973454" h="76200">
                <a:moveTo>
                  <a:pt x="897127" y="0"/>
                </a:moveTo>
                <a:lnTo>
                  <a:pt x="897127" y="76200"/>
                </a:lnTo>
                <a:lnTo>
                  <a:pt x="960627" y="44450"/>
                </a:lnTo>
                <a:lnTo>
                  <a:pt x="909827" y="44450"/>
                </a:lnTo>
                <a:lnTo>
                  <a:pt x="909827" y="31750"/>
                </a:lnTo>
                <a:lnTo>
                  <a:pt x="960627" y="31750"/>
                </a:lnTo>
                <a:lnTo>
                  <a:pt x="897127" y="0"/>
                </a:lnTo>
                <a:close/>
              </a:path>
              <a:path w="973454" h="76200">
                <a:moveTo>
                  <a:pt x="25400" y="12700"/>
                </a:moveTo>
                <a:lnTo>
                  <a:pt x="15537" y="14704"/>
                </a:lnTo>
                <a:lnTo>
                  <a:pt x="7461" y="20161"/>
                </a:lnTo>
                <a:lnTo>
                  <a:pt x="2004" y="28237"/>
                </a:lnTo>
                <a:lnTo>
                  <a:pt x="0" y="38100"/>
                </a:lnTo>
                <a:lnTo>
                  <a:pt x="2004" y="47962"/>
                </a:lnTo>
                <a:lnTo>
                  <a:pt x="7461" y="56038"/>
                </a:lnTo>
                <a:lnTo>
                  <a:pt x="15537" y="61495"/>
                </a:lnTo>
                <a:lnTo>
                  <a:pt x="25400" y="63500"/>
                </a:lnTo>
                <a:lnTo>
                  <a:pt x="35262" y="61495"/>
                </a:lnTo>
                <a:lnTo>
                  <a:pt x="43338" y="56038"/>
                </a:lnTo>
                <a:lnTo>
                  <a:pt x="48795" y="47962"/>
                </a:lnTo>
                <a:lnTo>
                  <a:pt x="49509" y="44450"/>
                </a:lnTo>
                <a:lnTo>
                  <a:pt x="25400" y="44450"/>
                </a:lnTo>
                <a:lnTo>
                  <a:pt x="25400" y="31750"/>
                </a:lnTo>
                <a:lnTo>
                  <a:pt x="49509" y="31750"/>
                </a:lnTo>
                <a:lnTo>
                  <a:pt x="48795" y="28237"/>
                </a:lnTo>
                <a:lnTo>
                  <a:pt x="43338" y="20161"/>
                </a:lnTo>
                <a:lnTo>
                  <a:pt x="35262" y="14704"/>
                </a:lnTo>
                <a:lnTo>
                  <a:pt x="25400" y="12700"/>
                </a:lnTo>
                <a:close/>
              </a:path>
              <a:path w="973454" h="76200">
                <a:moveTo>
                  <a:pt x="49509" y="31750"/>
                </a:moveTo>
                <a:lnTo>
                  <a:pt x="25400" y="31750"/>
                </a:lnTo>
                <a:lnTo>
                  <a:pt x="25400" y="44450"/>
                </a:lnTo>
                <a:lnTo>
                  <a:pt x="49509" y="44450"/>
                </a:lnTo>
                <a:lnTo>
                  <a:pt x="50800" y="38100"/>
                </a:lnTo>
                <a:lnTo>
                  <a:pt x="49509" y="31750"/>
                </a:lnTo>
                <a:close/>
              </a:path>
              <a:path w="973454" h="76200">
                <a:moveTo>
                  <a:pt x="897127" y="31750"/>
                </a:moveTo>
                <a:lnTo>
                  <a:pt x="49509" y="31750"/>
                </a:lnTo>
                <a:lnTo>
                  <a:pt x="50800" y="38100"/>
                </a:lnTo>
                <a:lnTo>
                  <a:pt x="49509" y="44450"/>
                </a:lnTo>
                <a:lnTo>
                  <a:pt x="897127" y="44450"/>
                </a:lnTo>
                <a:lnTo>
                  <a:pt x="897127" y="31750"/>
                </a:lnTo>
                <a:close/>
              </a:path>
              <a:path w="973454" h="76200">
                <a:moveTo>
                  <a:pt x="960627" y="31750"/>
                </a:moveTo>
                <a:lnTo>
                  <a:pt x="909827" y="31750"/>
                </a:lnTo>
                <a:lnTo>
                  <a:pt x="909827" y="44450"/>
                </a:lnTo>
                <a:lnTo>
                  <a:pt x="960627" y="44450"/>
                </a:lnTo>
                <a:lnTo>
                  <a:pt x="973327" y="38100"/>
                </a:lnTo>
                <a:lnTo>
                  <a:pt x="960627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68547" y="4328159"/>
            <a:ext cx="973455" cy="76200"/>
          </a:xfrm>
          <a:custGeom>
            <a:avLst/>
            <a:gdLst/>
            <a:ahLst/>
            <a:cxnLst/>
            <a:rect l="l" t="t" r="r" b="b"/>
            <a:pathLst>
              <a:path w="973454" h="76200">
                <a:moveTo>
                  <a:pt x="897127" y="0"/>
                </a:moveTo>
                <a:lnTo>
                  <a:pt x="897127" y="76200"/>
                </a:lnTo>
                <a:lnTo>
                  <a:pt x="960627" y="44450"/>
                </a:lnTo>
                <a:lnTo>
                  <a:pt x="909827" y="44450"/>
                </a:lnTo>
                <a:lnTo>
                  <a:pt x="909827" y="31750"/>
                </a:lnTo>
                <a:lnTo>
                  <a:pt x="960627" y="31750"/>
                </a:lnTo>
                <a:lnTo>
                  <a:pt x="897127" y="0"/>
                </a:lnTo>
                <a:close/>
              </a:path>
              <a:path w="973454" h="76200">
                <a:moveTo>
                  <a:pt x="25400" y="12700"/>
                </a:moveTo>
                <a:lnTo>
                  <a:pt x="15537" y="14704"/>
                </a:lnTo>
                <a:lnTo>
                  <a:pt x="7461" y="20161"/>
                </a:lnTo>
                <a:lnTo>
                  <a:pt x="2004" y="28237"/>
                </a:lnTo>
                <a:lnTo>
                  <a:pt x="0" y="38100"/>
                </a:lnTo>
                <a:lnTo>
                  <a:pt x="2004" y="47962"/>
                </a:lnTo>
                <a:lnTo>
                  <a:pt x="7461" y="56038"/>
                </a:lnTo>
                <a:lnTo>
                  <a:pt x="15537" y="61495"/>
                </a:lnTo>
                <a:lnTo>
                  <a:pt x="25400" y="63500"/>
                </a:lnTo>
                <a:lnTo>
                  <a:pt x="35262" y="61495"/>
                </a:lnTo>
                <a:lnTo>
                  <a:pt x="43338" y="56038"/>
                </a:lnTo>
                <a:lnTo>
                  <a:pt x="48795" y="47962"/>
                </a:lnTo>
                <a:lnTo>
                  <a:pt x="49509" y="44450"/>
                </a:lnTo>
                <a:lnTo>
                  <a:pt x="25400" y="44450"/>
                </a:lnTo>
                <a:lnTo>
                  <a:pt x="25400" y="31750"/>
                </a:lnTo>
                <a:lnTo>
                  <a:pt x="49509" y="31750"/>
                </a:lnTo>
                <a:lnTo>
                  <a:pt x="48795" y="28237"/>
                </a:lnTo>
                <a:lnTo>
                  <a:pt x="43338" y="20161"/>
                </a:lnTo>
                <a:lnTo>
                  <a:pt x="35262" y="14704"/>
                </a:lnTo>
                <a:lnTo>
                  <a:pt x="25400" y="12700"/>
                </a:lnTo>
                <a:close/>
              </a:path>
              <a:path w="973454" h="76200">
                <a:moveTo>
                  <a:pt x="49509" y="31750"/>
                </a:moveTo>
                <a:lnTo>
                  <a:pt x="25400" y="31750"/>
                </a:lnTo>
                <a:lnTo>
                  <a:pt x="25400" y="44450"/>
                </a:lnTo>
                <a:lnTo>
                  <a:pt x="49509" y="44450"/>
                </a:lnTo>
                <a:lnTo>
                  <a:pt x="50800" y="38100"/>
                </a:lnTo>
                <a:lnTo>
                  <a:pt x="49509" y="31750"/>
                </a:lnTo>
                <a:close/>
              </a:path>
              <a:path w="973454" h="76200">
                <a:moveTo>
                  <a:pt x="897127" y="31750"/>
                </a:moveTo>
                <a:lnTo>
                  <a:pt x="49509" y="31750"/>
                </a:lnTo>
                <a:lnTo>
                  <a:pt x="50800" y="38100"/>
                </a:lnTo>
                <a:lnTo>
                  <a:pt x="49509" y="44450"/>
                </a:lnTo>
                <a:lnTo>
                  <a:pt x="897127" y="44450"/>
                </a:lnTo>
                <a:lnTo>
                  <a:pt x="897127" y="31750"/>
                </a:lnTo>
                <a:close/>
              </a:path>
              <a:path w="973454" h="76200">
                <a:moveTo>
                  <a:pt x="960627" y="31750"/>
                </a:moveTo>
                <a:lnTo>
                  <a:pt x="909827" y="31750"/>
                </a:lnTo>
                <a:lnTo>
                  <a:pt x="909827" y="44450"/>
                </a:lnTo>
                <a:lnTo>
                  <a:pt x="960627" y="44450"/>
                </a:lnTo>
                <a:lnTo>
                  <a:pt x="973327" y="38100"/>
                </a:lnTo>
                <a:lnTo>
                  <a:pt x="960627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93947" y="2854960"/>
            <a:ext cx="1283335" cy="895985"/>
          </a:xfrm>
          <a:custGeom>
            <a:avLst/>
            <a:gdLst/>
            <a:ahLst/>
            <a:cxnLst/>
            <a:rect l="l" t="t" r="r" b="b"/>
            <a:pathLst>
              <a:path w="1283335" h="895985">
                <a:moveTo>
                  <a:pt x="1283207" y="0"/>
                </a:moveTo>
                <a:lnTo>
                  <a:pt x="1235512" y="7824"/>
                </a:lnTo>
                <a:lnTo>
                  <a:pt x="1204323" y="12779"/>
                </a:lnTo>
                <a:lnTo>
                  <a:pt x="1184322" y="17377"/>
                </a:lnTo>
                <a:lnTo>
                  <a:pt x="1170193" y="24129"/>
                </a:lnTo>
                <a:lnTo>
                  <a:pt x="1156618" y="35550"/>
                </a:lnTo>
                <a:lnTo>
                  <a:pt x="1138279" y="54149"/>
                </a:lnTo>
                <a:lnTo>
                  <a:pt x="1109858" y="82440"/>
                </a:lnTo>
                <a:lnTo>
                  <a:pt x="1066038" y="122936"/>
                </a:lnTo>
                <a:lnTo>
                  <a:pt x="1050700" y="135598"/>
                </a:lnTo>
                <a:lnTo>
                  <a:pt x="1034970" y="147939"/>
                </a:lnTo>
                <a:lnTo>
                  <a:pt x="1019978" y="160922"/>
                </a:lnTo>
                <a:lnTo>
                  <a:pt x="1006855" y="175513"/>
                </a:lnTo>
                <a:lnTo>
                  <a:pt x="996594" y="188571"/>
                </a:lnTo>
                <a:lnTo>
                  <a:pt x="986107" y="201485"/>
                </a:lnTo>
                <a:lnTo>
                  <a:pt x="976120" y="214590"/>
                </a:lnTo>
                <a:lnTo>
                  <a:pt x="967359" y="228218"/>
                </a:lnTo>
                <a:lnTo>
                  <a:pt x="962763" y="241883"/>
                </a:lnTo>
                <a:lnTo>
                  <a:pt x="960405" y="256762"/>
                </a:lnTo>
                <a:lnTo>
                  <a:pt x="956571" y="270545"/>
                </a:lnTo>
                <a:lnTo>
                  <a:pt x="947547" y="280924"/>
                </a:lnTo>
                <a:lnTo>
                  <a:pt x="920194" y="293671"/>
                </a:lnTo>
                <a:lnTo>
                  <a:pt x="890365" y="302037"/>
                </a:lnTo>
                <a:lnTo>
                  <a:pt x="859536" y="308641"/>
                </a:lnTo>
                <a:lnTo>
                  <a:pt x="829182" y="316102"/>
                </a:lnTo>
                <a:lnTo>
                  <a:pt x="808857" y="323365"/>
                </a:lnTo>
                <a:lnTo>
                  <a:pt x="789162" y="332295"/>
                </a:lnTo>
                <a:lnTo>
                  <a:pt x="769729" y="341891"/>
                </a:lnTo>
                <a:lnTo>
                  <a:pt x="750188" y="351154"/>
                </a:lnTo>
                <a:lnTo>
                  <a:pt x="727358" y="389522"/>
                </a:lnTo>
                <a:lnTo>
                  <a:pt x="705754" y="434165"/>
                </a:lnTo>
                <a:lnTo>
                  <a:pt x="681698" y="476831"/>
                </a:lnTo>
                <a:lnTo>
                  <a:pt x="651510" y="509269"/>
                </a:lnTo>
                <a:lnTo>
                  <a:pt x="613372" y="522622"/>
                </a:lnTo>
                <a:lnTo>
                  <a:pt x="553767" y="533796"/>
                </a:lnTo>
                <a:lnTo>
                  <a:pt x="498615" y="541470"/>
                </a:lnTo>
                <a:lnTo>
                  <a:pt x="473837" y="544322"/>
                </a:lnTo>
                <a:lnTo>
                  <a:pt x="453040" y="579582"/>
                </a:lnTo>
                <a:lnTo>
                  <a:pt x="426910" y="628665"/>
                </a:lnTo>
                <a:lnTo>
                  <a:pt x="399541" y="675106"/>
                </a:lnTo>
                <a:lnTo>
                  <a:pt x="347142" y="714682"/>
                </a:lnTo>
                <a:lnTo>
                  <a:pt x="286841" y="729886"/>
                </a:lnTo>
                <a:lnTo>
                  <a:pt x="256666" y="737488"/>
                </a:lnTo>
                <a:lnTo>
                  <a:pt x="239041" y="742765"/>
                </a:lnTo>
                <a:lnTo>
                  <a:pt x="219582" y="748553"/>
                </a:lnTo>
                <a:lnTo>
                  <a:pt x="203838" y="753223"/>
                </a:lnTo>
                <a:lnTo>
                  <a:pt x="197357" y="755141"/>
                </a:lnTo>
                <a:lnTo>
                  <a:pt x="188277" y="768949"/>
                </a:lnTo>
                <a:lnTo>
                  <a:pt x="157987" y="807846"/>
                </a:lnTo>
                <a:lnTo>
                  <a:pt x="113482" y="820795"/>
                </a:lnTo>
                <a:lnTo>
                  <a:pt x="98678" y="825372"/>
                </a:lnTo>
                <a:lnTo>
                  <a:pt x="67329" y="841115"/>
                </a:lnTo>
                <a:lnTo>
                  <a:pt x="44386" y="856535"/>
                </a:lnTo>
                <a:lnTo>
                  <a:pt x="23919" y="873932"/>
                </a:lnTo>
                <a:lnTo>
                  <a:pt x="0" y="89560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3947" y="3046983"/>
            <a:ext cx="1283335" cy="899160"/>
          </a:xfrm>
          <a:custGeom>
            <a:avLst/>
            <a:gdLst/>
            <a:ahLst/>
            <a:cxnLst/>
            <a:rect l="l" t="t" r="r" b="b"/>
            <a:pathLst>
              <a:path w="1283335" h="899160">
                <a:moveTo>
                  <a:pt x="1283207" y="0"/>
                </a:moveTo>
                <a:lnTo>
                  <a:pt x="1235512" y="7825"/>
                </a:lnTo>
                <a:lnTo>
                  <a:pt x="1204323" y="12785"/>
                </a:lnTo>
                <a:lnTo>
                  <a:pt x="1184322" y="17397"/>
                </a:lnTo>
                <a:lnTo>
                  <a:pt x="1170193" y="24177"/>
                </a:lnTo>
                <a:lnTo>
                  <a:pt x="1156618" y="35643"/>
                </a:lnTo>
                <a:lnTo>
                  <a:pt x="1138279" y="54310"/>
                </a:lnTo>
                <a:lnTo>
                  <a:pt x="1109858" y="82696"/>
                </a:lnTo>
                <a:lnTo>
                  <a:pt x="1066038" y="123316"/>
                </a:lnTo>
                <a:lnTo>
                  <a:pt x="1050700" y="136054"/>
                </a:lnTo>
                <a:lnTo>
                  <a:pt x="1034970" y="148447"/>
                </a:lnTo>
                <a:lnTo>
                  <a:pt x="1019978" y="161482"/>
                </a:lnTo>
                <a:lnTo>
                  <a:pt x="1006855" y="176149"/>
                </a:lnTo>
                <a:lnTo>
                  <a:pt x="996594" y="189208"/>
                </a:lnTo>
                <a:lnTo>
                  <a:pt x="986107" y="202136"/>
                </a:lnTo>
                <a:lnTo>
                  <a:pt x="976120" y="215278"/>
                </a:lnTo>
                <a:lnTo>
                  <a:pt x="967359" y="228980"/>
                </a:lnTo>
                <a:lnTo>
                  <a:pt x="962763" y="242720"/>
                </a:lnTo>
                <a:lnTo>
                  <a:pt x="960405" y="257651"/>
                </a:lnTo>
                <a:lnTo>
                  <a:pt x="956571" y="271486"/>
                </a:lnTo>
                <a:lnTo>
                  <a:pt x="947547" y="281939"/>
                </a:lnTo>
                <a:lnTo>
                  <a:pt x="920194" y="294687"/>
                </a:lnTo>
                <a:lnTo>
                  <a:pt x="890365" y="303053"/>
                </a:lnTo>
                <a:lnTo>
                  <a:pt x="859536" y="309657"/>
                </a:lnTo>
                <a:lnTo>
                  <a:pt x="829182" y="317118"/>
                </a:lnTo>
                <a:lnTo>
                  <a:pt x="808857" y="324457"/>
                </a:lnTo>
                <a:lnTo>
                  <a:pt x="789162" y="333438"/>
                </a:lnTo>
                <a:lnTo>
                  <a:pt x="769729" y="343086"/>
                </a:lnTo>
                <a:lnTo>
                  <a:pt x="750188" y="352425"/>
                </a:lnTo>
                <a:lnTo>
                  <a:pt x="727358" y="390888"/>
                </a:lnTo>
                <a:lnTo>
                  <a:pt x="705754" y="435625"/>
                </a:lnTo>
                <a:lnTo>
                  <a:pt x="681698" y="478387"/>
                </a:lnTo>
                <a:lnTo>
                  <a:pt x="651510" y="510920"/>
                </a:lnTo>
                <a:lnTo>
                  <a:pt x="613372" y="524367"/>
                </a:lnTo>
                <a:lnTo>
                  <a:pt x="553767" y="535622"/>
                </a:lnTo>
                <a:lnTo>
                  <a:pt x="498615" y="543353"/>
                </a:lnTo>
                <a:lnTo>
                  <a:pt x="473837" y="546226"/>
                </a:lnTo>
                <a:lnTo>
                  <a:pt x="453040" y="581548"/>
                </a:lnTo>
                <a:lnTo>
                  <a:pt x="426910" y="630777"/>
                </a:lnTo>
                <a:lnTo>
                  <a:pt x="399541" y="677386"/>
                </a:lnTo>
                <a:lnTo>
                  <a:pt x="347142" y="717115"/>
                </a:lnTo>
                <a:lnTo>
                  <a:pt x="286841" y="732407"/>
                </a:lnTo>
                <a:lnTo>
                  <a:pt x="256666" y="740028"/>
                </a:lnTo>
                <a:lnTo>
                  <a:pt x="219582" y="751046"/>
                </a:lnTo>
                <a:lnTo>
                  <a:pt x="179673" y="785860"/>
                </a:lnTo>
                <a:lnTo>
                  <a:pt x="170068" y="799276"/>
                </a:lnTo>
                <a:lnTo>
                  <a:pt x="157987" y="810513"/>
                </a:lnTo>
                <a:lnTo>
                  <a:pt x="144613" y="817094"/>
                </a:lnTo>
                <a:lnTo>
                  <a:pt x="129285" y="820673"/>
                </a:lnTo>
                <a:lnTo>
                  <a:pt x="113482" y="823587"/>
                </a:lnTo>
                <a:lnTo>
                  <a:pt x="98678" y="828166"/>
                </a:lnTo>
                <a:lnTo>
                  <a:pt x="67329" y="843984"/>
                </a:lnTo>
                <a:lnTo>
                  <a:pt x="44386" y="859456"/>
                </a:lnTo>
                <a:lnTo>
                  <a:pt x="23919" y="876905"/>
                </a:lnTo>
                <a:lnTo>
                  <a:pt x="0" y="89865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93947" y="3470655"/>
            <a:ext cx="1283335" cy="895985"/>
          </a:xfrm>
          <a:custGeom>
            <a:avLst/>
            <a:gdLst/>
            <a:ahLst/>
            <a:cxnLst/>
            <a:rect l="l" t="t" r="r" b="b"/>
            <a:pathLst>
              <a:path w="1283335" h="895985">
                <a:moveTo>
                  <a:pt x="1283207" y="0"/>
                </a:moveTo>
                <a:lnTo>
                  <a:pt x="1235512" y="7824"/>
                </a:lnTo>
                <a:lnTo>
                  <a:pt x="1204323" y="12779"/>
                </a:lnTo>
                <a:lnTo>
                  <a:pt x="1184322" y="17377"/>
                </a:lnTo>
                <a:lnTo>
                  <a:pt x="1170193" y="24130"/>
                </a:lnTo>
                <a:lnTo>
                  <a:pt x="1156618" y="35550"/>
                </a:lnTo>
                <a:lnTo>
                  <a:pt x="1138279" y="54149"/>
                </a:lnTo>
                <a:lnTo>
                  <a:pt x="1109858" y="82440"/>
                </a:lnTo>
                <a:lnTo>
                  <a:pt x="1066038" y="122936"/>
                </a:lnTo>
                <a:lnTo>
                  <a:pt x="1050700" y="135598"/>
                </a:lnTo>
                <a:lnTo>
                  <a:pt x="1034970" y="147939"/>
                </a:lnTo>
                <a:lnTo>
                  <a:pt x="1019978" y="160922"/>
                </a:lnTo>
                <a:lnTo>
                  <a:pt x="1006855" y="175514"/>
                </a:lnTo>
                <a:lnTo>
                  <a:pt x="996594" y="188571"/>
                </a:lnTo>
                <a:lnTo>
                  <a:pt x="986107" y="201485"/>
                </a:lnTo>
                <a:lnTo>
                  <a:pt x="976120" y="214590"/>
                </a:lnTo>
                <a:lnTo>
                  <a:pt x="967359" y="228219"/>
                </a:lnTo>
                <a:lnTo>
                  <a:pt x="962763" y="241883"/>
                </a:lnTo>
                <a:lnTo>
                  <a:pt x="960405" y="256762"/>
                </a:lnTo>
                <a:lnTo>
                  <a:pt x="956571" y="270545"/>
                </a:lnTo>
                <a:lnTo>
                  <a:pt x="947547" y="280924"/>
                </a:lnTo>
                <a:lnTo>
                  <a:pt x="920194" y="293671"/>
                </a:lnTo>
                <a:lnTo>
                  <a:pt x="890365" y="302037"/>
                </a:lnTo>
                <a:lnTo>
                  <a:pt x="859536" y="308641"/>
                </a:lnTo>
                <a:lnTo>
                  <a:pt x="829182" y="316103"/>
                </a:lnTo>
                <a:lnTo>
                  <a:pt x="808857" y="323365"/>
                </a:lnTo>
                <a:lnTo>
                  <a:pt x="789162" y="332295"/>
                </a:lnTo>
                <a:lnTo>
                  <a:pt x="769729" y="341891"/>
                </a:lnTo>
                <a:lnTo>
                  <a:pt x="750188" y="351155"/>
                </a:lnTo>
                <a:lnTo>
                  <a:pt x="727358" y="389522"/>
                </a:lnTo>
                <a:lnTo>
                  <a:pt x="705754" y="434165"/>
                </a:lnTo>
                <a:lnTo>
                  <a:pt x="681698" y="476831"/>
                </a:lnTo>
                <a:lnTo>
                  <a:pt x="651510" y="509270"/>
                </a:lnTo>
                <a:lnTo>
                  <a:pt x="613372" y="522622"/>
                </a:lnTo>
                <a:lnTo>
                  <a:pt x="553767" y="533796"/>
                </a:lnTo>
                <a:lnTo>
                  <a:pt x="498615" y="541470"/>
                </a:lnTo>
                <a:lnTo>
                  <a:pt x="473837" y="544322"/>
                </a:lnTo>
                <a:lnTo>
                  <a:pt x="453040" y="579582"/>
                </a:lnTo>
                <a:lnTo>
                  <a:pt x="426910" y="628665"/>
                </a:lnTo>
                <a:lnTo>
                  <a:pt x="399541" y="675106"/>
                </a:lnTo>
                <a:lnTo>
                  <a:pt x="347142" y="714682"/>
                </a:lnTo>
                <a:lnTo>
                  <a:pt x="286841" y="729886"/>
                </a:lnTo>
                <a:lnTo>
                  <a:pt x="256666" y="737489"/>
                </a:lnTo>
                <a:lnTo>
                  <a:pt x="239041" y="742765"/>
                </a:lnTo>
                <a:lnTo>
                  <a:pt x="219582" y="748553"/>
                </a:lnTo>
                <a:lnTo>
                  <a:pt x="203838" y="753223"/>
                </a:lnTo>
                <a:lnTo>
                  <a:pt x="197357" y="755142"/>
                </a:lnTo>
                <a:lnTo>
                  <a:pt x="188277" y="768949"/>
                </a:lnTo>
                <a:lnTo>
                  <a:pt x="157987" y="807847"/>
                </a:lnTo>
                <a:lnTo>
                  <a:pt x="113482" y="820795"/>
                </a:lnTo>
                <a:lnTo>
                  <a:pt x="98678" y="825373"/>
                </a:lnTo>
                <a:lnTo>
                  <a:pt x="67329" y="841115"/>
                </a:lnTo>
                <a:lnTo>
                  <a:pt x="44386" y="856535"/>
                </a:lnTo>
                <a:lnTo>
                  <a:pt x="23919" y="873932"/>
                </a:lnTo>
                <a:lnTo>
                  <a:pt x="0" y="89560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59964" y="3945635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4">
                <a:moveTo>
                  <a:pt x="475488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89803" y="3945635"/>
            <a:ext cx="1423670" cy="0"/>
          </a:xfrm>
          <a:custGeom>
            <a:avLst/>
            <a:gdLst/>
            <a:ahLst/>
            <a:cxnLst/>
            <a:rect l="l" t="t" r="r" b="b"/>
            <a:pathLst>
              <a:path w="1423670">
                <a:moveTo>
                  <a:pt x="0" y="0"/>
                </a:moveTo>
                <a:lnTo>
                  <a:pt x="142341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59964" y="3945635"/>
            <a:ext cx="3175" cy="1475740"/>
          </a:xfrm>
          <a:custGeom>
            <a:avLst/>
            <a:gdLst/>
            <a:ahLst/>
            <a:cxnLst/>
            <a:rect l="l" t="t" r="r" b="b"/>
            <a:pathLst>
              <a:path w="3175" h="1475739">
                <a:moveTo>
                  <a:pt x="0" y="0"/>
                </a:moveTo>
                <a:lnTo>
                  <a:pt x="3048" y="14752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54723" y="4366259"/>
            <a:ext cx="317500" cy="634365"/>
          </a:xfrm>
          <a:custGeom>
            <a:avLst/>
            <a:gdLst/>
            <a:ahLst/>
            <a:cxnLst/>
            <a:rect l="l" t="t" r="r" b="b"/>
            <a:pathLst>
              <a:path w="317500" h="634364">
                <a:moveTo>
                  <a:pt x="0" y="633983"/>
                </a:moveTo>
                <a:lnTo>
                  <a:pt x="316992" y="633983"/>
                </a:lnTo>
                <a:lnTo>
                  <a:pt x="316992" y="0"/>
                </a:lnTo>
                <a:lnTo>
                  <a:pt x="0" y="0"/>
                </a:lnTo>
                <a:lnTo>
                  <a:pt x="0" y="63398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13219" y="3945635"/>
            <a:ext cx="0" cy="421005"/>
          </a:xfrm>
          <a:custGeom>
            <a:avLst/>
            <a:gdLst/>
            <a:ahLst/>
            <a:cxnLst/>
            <a:rect l="l" t="t" r="r" b="b"/>
            <a:pathLst>
              <a:path h="421004">
                <a:moveTo>
                  <a:pt x="0" y="0"/>
                </a:moveTo>
                <a:lnTo>
                  <a:pt x="0" y="4206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13219" y="5000244"/>
            <a:ext cx="3175" cy="421005"/>
          </a:xfrm>
          <a:custGeom>
            <a:avLst/>
            <a:gdLst/>
            <a:ahLst/>
            <a:cxnLst/>
            <a:rect l="l" t="t" r="r" b="b"/>
            <a:pathLst>
              <a:path w="3175" h="421004">
                <a:moveTo>
                  <a:pt x="0" y="0"/>
                </a:moveTo>
                <a:lnTo>
                  <a:pt x="3048" y="42062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48300" y="5122164"/>
            <a:ext cx="792480" cy="631190"/>
          </a:xfrm>
          <a:custGeom>
            <a:avLst/>
            <a:gdLst/>
            <a:ahLst/>
            <a:cxnLst/>
            <a:rect l="l" t="t" r="r" b="b"/>
            <a:pathLst>
              <a:path w="792479" h="631189">
                <a:moveTo>
                  <a:pt x="0" y="315468"/>
                </a:moveTo>
                <a:lnTo>
                  <a:pt x="3617" y="272657"/>
                </a:lnTo>
                <a:lnTo>
                  <a:pt x="14155" y="231598"/>
                </a:lnTo>
                <a:lnTo>
                  <a:pt x="31140" y="192666"/>
                </a:lnTo>
                <a:lnTo>
                  <a:pt x="54101" y="156238"/>
                </a:lnTo>
                <a:lnTo>
                  <a:pt x="82566" y="122688"/>
                </a:lnTo>
                <a:lnTo>
                  <a:pt x="116062" y="92392"/>
                </a:lnTo>
                <a:lnTo>
                  <a:pt x="154116" y="65726"/>
                </a:lnTo>
                <a:lnTo>
                  <a:pt x="196257" y="43067"/>
                </a:lnTo>
                <a:lnTo>
                  <a:pt x="242012" y="24788"/>
                </a:lnTo>
                <a:lnTo>
                  <a:pt x="290909" y="11267"/>
                </a:lnTo>
                <a:lnTo>
                  <a:pt x="342476" y="2879"/>
                </a:lnTo>
                <a:lnTo>
                  <a:pt x="396239" y="0"/>
                </a:lnTo>
                <a:lnTo>
                  <a:pt x="450003" y="2879"/>
                </a:lnTo>
                <a:lnTo>
                  <a:pt x="501570" y="11267"/>
                </a:lnTo>
                <a:lnTo>
                  <a:pt x="550467" y="24788"/>
                </a:lnTo>
                <a:lnTo>
                  <a:pt x="596222" y="43067"/>
                </a:lnTo>
                <a:lnTo>
                  <a:pt x="638363" y="65726"/>
                </a:lnTo>
                <a:lnTo>
                  <a:pt x="676417" y="92392"/>
                </a:lnTo>
                <a:lnTo>
                  <a:pt x="709913" y="122688"/>
                </a:lnTo>
                <a:lnTo>
                  <a:pt x="738378" y="156238"/>
                </a:lnTo>
                <a:lnTo>
                  <a:pt x="761339" y="192666"/>
                </a:lnTo>
                <a:lnTo>
                  <a:pt x="778324" y="231598"/>
                </a:lnTo>
                <a:lnTo>
                  <a:pt x="788862" y="272657"/>
                </a:lnTo>
                <a:lnTo>
                  <a:pt x="792479" y="315468"/>
                </a:lnTo>
                <a:lnTo>
                  <a:pt x="788862" y="358275"/>
                </a:lnTo>
                <a:lnTo>
                  <a:pt x="778324" y="399332"/>
                </a:lnTo>
                <a:lnTo>
                  <a:pt x="761339" y="438263"/>
                </a:lnTo>
                <a:lnTo>
                  <a:pt x="738377" y="474692"/>
                </a:lnTo>
                <a:lnTo>
                  <a:pt x="709913" y="508242"/>
                </a:lnTo>
                <a:lnTo>
                  <a:pt x="676417" y="538538"/>
                </a:lnTo>
                <a:lnTo>
                  <a:pt x="638363" y="565205"/>
                </a:lnTo>
                <a:lnTo>
                  <a:pt x="596222" y="587866"/>
                </a:lnTo>
                <a:lnTo>
                  <a:pt x="550467" y="606145"/>
                </a:lnTo>
                <a:lnTo>
                  <a:pt x="501570" y="619667"/>
                </a:lnTo>
                <a:lnTo>
                  <a:pt x="450003" y="628056"/>
                </a:lnTo>
                <a:lnTo>
                  <a:pt x="396239" y="630936"/>
                </a:lnTo>
                <a:lnTo>
                  <a:pt x="342476" y="628056"/>
                </a:lnTo>
                <a:lnTo>
                  <a:pt x="290909" y="619667"/>
                </a:lnTo>
                <a:lnTo>
                  <a:pt x="242012" y="606145"/>
                </a:lnTo>
                <a:lnTo>
                  <a:pt x="196257" y="587866"/>
                </a:lnTo>
                <a:lnTo>
                  <a:pt x="154116" y="565205"/>
                </a:lnTo>
                <a:lnTo>
                  <a:pt x="116062" y="538538"/>
                </a:lnTo>
                <a:lnTo>
                  <a:pt x="82566" y="508242"/>
                </a:lnTo>
                <a:lnTo>
                  <a:pt x="54101" y="474692"/>
                </a:lnTo>
                <a:lnTo>
                  <a:pt x="31140" y="438263"/>
                </a:lnTo>
                <a:lnTo>
                  <a:pt x="14155" y="399332"/>
                </a:lnTo>
                <a:lnTo>
                  <a:pt x="3617" y="358275"/>
                </a:lnTo>
                <a:lnTo>
                  <a:pt x="0" y="31546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93947" y="5314188"/>
            <a:ext cx="0" cy="213360"/>
          </a:xfrm>
          <a:custGeom>
            <a:avLst/>
            <a:gdLst/>
            <a:ahLst/>
            <a:cxnLst/>
            <a:rect l="l" t="t" r="r" b="b"/>
            <a:pathLst>
              <a:path h="213360">
                <a:moveTo>
                  <a:pt x="0" y="0"/>
                </a:moveTo>
                <a:lnTo>
                  <a:pt x="0" y="2133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52444" y="5103876"/>
            <a:ext cx="0" cy="634365"/>
          </a:xfrm>
          <a:custGeom>
            <a:avLst/>
            <a:gdLst/>
            <a:ahLst/>
            <a:cxnLst/>
            <a:rect l="l" t="t" r="r" b="b"/>
            <a:pathLst>
              <a:path h="634364">
                <a:moveTo>
                  <a:pt x="0" y="0"/>
                </a:moveTo>
                <a:lnTo>
                  <a:pt x="0" y="6339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41876" y="5298947"/>
            <a:ext cx="0" cy="210820"/>
          </a:xfrm>
          <a:custGeom>
            <a:avLst/>
            <a:gdLst/>
            <a:ahLst/>
            <a:cxnLst/>
            <a:rect l="l" t="t" r="r" b="b"/>
            <a:pathLst>
              <a:path h="210820">
                <a:moveTo>
                  <a:pt x="0" y="0"/>
                </a:moveTo>
                <a:lnTo>
                  <a:pt x="0" y="21031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00371" y="5085588"/>
            <a:ext cx="0" cy="634365"/>
          </a:xfrm>
          <a:custGeom>
            <a:avLst/>
            <a:gdLst/>
            <a:ahLst/>
            <a:cxnLst/>
            <a:rect l="l" t="t" r="r" b="b"/>
            <a:pathLst>
              <a:path h="634364">
                <a:moveTo>
                  <a:pt x="0" y="0"/>
                </a:moveTo>
                <a:lnTo>
                  <a:pt x="0" y="6339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00371" y="5420867"/>
            <a:ext cx="948055" cy="0"/>
          </a:xfrm>
          <a:custGeom>
            <a:avLst/>
            <a:gdLst/>
            <a:ahLst/>
            <a:cxnLst/>
            <a:rect l="l" t="t" r="r" b="b"/>
            <a:pathLst>
              <a:path w="948054">
                <a:moveTo>
                  <a:pt x="0" y="0"/>
                </a:moveTo>
                <a:lnTo>
                  <a:pt x="94792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40779" y="5420867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>
                <a:moveTo>
                  <a:pt x="0" y="0"/>
                </a:moveTo>
                <a:lnTo>
                  <a:pt x="47244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59964" y="5420867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8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52444" y="5420867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>
                <a:moveTo>
                  <a:pt x="0" y="0"/>
                </a:moveTo>
                <a:lnTo>
                  <a:pt x="789431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152135" y="5058536"/>
            <a:ext cx="895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+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00013" y="4970779"/>
            <a:ext cx="895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_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04185" y="4953127"/>
            <a:ext cx="895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_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68541" y="4089857"/>
            <a:ext cx="114300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0515" algn="l"/>
              </a:tabLst>
            </a:pPr>
            <a:r>
              <a:rPr sz="1000" spc="5" dirty="0">
                <a:latin typeface="Calibri"/>
                <a:cs typeface="Calibri"/>
              </a:rPr>
              <a:t>R	</a:t>
            </a:r>
            <a:r>
              <a:rPr sz="1000" dirty="0">
                <a:latin typeface="Calibri"/>
                <a:cs typeface="Calibri"/>
              </a:rPr>
              <a:t>Current</a:t>
            </a:r>
            <a:r>
              <a:rPr sz="1000" spc="-85" dirty="0">
                <a:latin typeface="Calibri"/>
                <a:cs typeface="Calibri"/>
              </a:rPr>
              <a:t> </a:t>
            </a:r>
            <a:r>
              <a:rPr sz="1000" spc="5" dirty="0">
                <a:latin typeface="Calibri"/>
                <a:cs typeface="Calibri"/>
              </a:rPr>
              <a:t>limiting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77868" y="4089857"/>
            <a:ext cx="41783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5" dirty="0">
                <a:latin typeface="Calibri"/>
                <a:cs typeface="Calibri"/>
              </a:rPr>
              <a:t>re</a:t>
            </a:r>
            <a:r>
              <a:rPr sz="1000" spc="-10" dirty="0">
                <a:latin typeface="Calibri"/>
                <a:cs typeface="Calibri"/>
              </a:rPr>
              <a:t>s</a:t>
            </a:r>
            <a:r>
              <a:rPr sz="1000" spc="5" dirty="0">
                <a:latin typeface="Calibri"/>
                <a:cs typeface="Calibri"/>
              </a:rPr>
              <a:t>i</a:t>
            </a:r>
            <a:r>
              <a:rPr sz="1000" spc="-15" dirty="0">
                <a:latin typeface="Calibri"/>
                <a:cs typeface="Calibri"/>
              </a:rPr>
              <a:t>s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5" dirty="0">
                <a:latin typeface="Calibri"/>
                <a:cs typeface="Calibri"/>
              </a:rPr>
              <a:t>o</a:t>
            </a:r>
            <a:r>
              <a:rPr sz="1000" dirty="0">
                <a:latin typeface="Calibri"/>
                <a:cs typeface="Calibri"/>
              </a:rPr>
              <a:t>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55107" y="5159451"/>
            <a:ext cx="572135" cy="4826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dirty="0">
                <a:latin typeface="Calibri"/>
                <a:cs typeface="Calibri"/>
              </a:rPr>
              <a:t>A</a:t>
            </a:r>
            <a:endParaRPr sz="1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Calibri"/>
                <a:cs typeface="Calibri"/>
              </a:rPr>
              <a:t>I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34794" y="5704128"/>
            <a:ext cx="2651125" cy="764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25270">
              <a:lnSpc>
                <a:spcPct val="100000"/>
              </a:lnSpc>
              <a:spcBef>
                <a:spcPts val="110"/>
              </a:spcBef>
            </a:pPr>
            <a:r>
              <a:rPr sz="1000" spc="5" dirty="0">
                <a:latin typeface="Calibri"/>
                <a:cs typeface="Calibri"/>
              </a:rPr>
              <a:t>V</a:t>
            </a:r>
            <a:r>
              <a:rPr sz="975" spc="7" baseline="-25641" dirty="0">
                <a:latin typeface="Calibri"/>
                <a:cs typeface="Calibri"/>
              </a:rPr>
              <a:t>B</a:t>
            </a:r>
            <a:endParaRPr sz="975" baseline="-25641">
              <a:latin typeface="Calibri"/>
              <a:cs typeface="Calibri"/>
            </a:endParaRPr>
          </a:p>
          <a:p>
            <a:pPr marL="1497330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Adjustable </a:t>
            </a:r>
            <a:r>
              <a:rPr sz="1000" dirty="0">
                <a:latin typeface="Calibri"/>
                <a:cs typeface="Calibri"/>
              </a:rPr>
              <a:t>HV</a:t>
            </a:r>
            <a:r>
              <a:rPr sz="1000" spc="-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source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Arrangement for </a:t>
            </a:r>
            <a:r>
              <a:rPr sz="1000" spc="-5" dirty="0">
                <a:latin typeface="Calibri"/>
                <a:cs typeface="Calibri"/>
              </a:rPr>
              <a:t>study </a:t>
            </a:r>
            <a:r>
              <a:rPr sz="1000" dirty="0">
                <a:latin typeface="Calibri"/>
                <a:cs typeface="Calibri"/>
              </a:rPr>
              <a:t>of a </a:t>
            </a:r>
            <a:r>
              <a:rPr sz="1000" spc="-5" dirty="0">
                <a:latin typeface="Calibri"/>
                <a:cs typeface="Calibri"/>
              </a:rPr>
              <a:t>Townsend</a:t>
            </a:r>
            <a:r>
              <a:rPr sz="1000" spc="-11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discharge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4544" y="293319"/>
            <a:ext cx="11228070" cy="37134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0" indent="-228600" algn="just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254000" algn="l"/>
              </a:tabLst>
            </a:pPr>
            <a:r>
              <a:rPr sz="2000" spc="-5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few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the electrons produced at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cathode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10" dirty="0">
                <a:latin typeface="Times New Roman"/>
                <a:cs typeface="Times New Roman"/>
              </a:rPr>
              <a:t>some </a:t>
            </a:r>
            <a:r>
              <a:rPr sz="2000" spc="-5" dirty="0">
                <a:latin typeface="Times New Roman"/>
                <a:cs typeface="Times New Roman"/>
              </a:rPr>
              <a:t>external </a:t>
            </a:r>
            <a:r>
              <a:rPr sz="2000" spc="-30" dirty="0">
                <a:latin typeface="Times New Roman"/>
                <a:cs typeface="Times New Roman"/>
              </a:rPr>
              <a:t>energy, </a:t>
            </a:r>
            <a:r>
              <a:rPr sz="2000" dirty="0">
                <a:latin typeface="Times New Roman"/>
                <a:cs typeface="Times New Roman"/>
              </a:rPr>
              <a:t>e.g. </a:t>
            </a:r>
            <a:r>
              <a:rPr sz="2000" spc="-5" dirty="0">
                <a:latin typeface="Times New Roman"/>
                <a:cs typeface="Times New Roman"/>
              </a:rPr>
              <a:t>ultraviolet </a:t>
            </a:r>
            <a:r>
              <a:rPr sz="2000" spc="-10" dirty="0">
                <a:latin typeface="Times New Roman"/>
                <a:cs typeface="Times New Roman"/>
              </a:rPr>
              <a:t>light </a:t>
            </a:r>
            <a:r>
              <a:rPr sz="2000" spc="-5" dirty="0">
                <a:latin typeface="Times New Roman"/>
                <a:cs typeface="Times New Roman"/>
              </a:rPr>
              <a:t>falling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L="254000" algn="just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cathode </a:t>
            </a:r>
            <a:r>
              <a:rPr sz="2000" spc="-10" dirty="0">
                <a:latin typeface="Times New Roman"/>
                <a:cs typeface="Times New Roman"/>
              </a:rPr>
              <a:t>causes </a:t>
            </a:r>
            <a:r>
              <a:rPr sz="2000" spc="-5" dirty="0">
                <a:latin typeface="Times New Roman"/>
                <a:cs typeface="Times New Roman"/>
              </a:rPr>
              <a:t>ionisation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neutral gas </a:t>
            </a:r>
            <a:r>
              <a:rPr sz="2000" spc="-5" dirty="0">
                <a:latin typeface="Times New Roman"/>
                <a:cs typeface="Times New Roman"/>
              </a:rPr>
              <a:t>particles producing positive </a:t>
            </a:r>
            <a:r>
              <a:rPr sz="2000" spc="-10" dirty="0">
                <a:latin typeface="Times New Roman"/>
                <a:cs typeface="Times New Roman"/>
              </a:rPr>
              <a:t>ions and </a:t>
            </a:r>
            <a:r>
              <a:rPr sz="2000" spc="-5" dirty="0">
                <a:latin typeface="Times New Roman"/>
                <a:cs typeface="Times New Roman"/>
              </a:rPr>
              <a:t>additional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electrons.</a:t>
            </a:r>
            <a:endParaRPr sz="2000">
              <a:latin typeface="Times New Roman"/>
              <a:cs typeface="Times New Roman"/>
            </a:endParaRPr>
          </a:p>
          <a:p>
            <a:pPr marL="254000" indent="-228600" algn="just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2540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These additional electrons </a:t>
            </a:r>
            <a:r>
              <a:rPr sz="2000" spc="-15" dirty="0">
                <a:latin typeface="Times New Roman"/>
                <a:cs typeface="Times New Roman"/>
              </a:rPr>
              <a:t>makes themselves </a:t>
            </a:r>
            <a:r>
              <a:rPr sz="2000" spc="-5" dirty="0">
                <a:latin typeface="Times New Roman"/>
                <a:cs typeface="Times New Roman"/>
              </a:rPr>
              <a:t>collision </a:t>
            </a:r>
            <a:r>
              <a:rPr sz="2000" spc="-10" dirty="0">
                <a:latin typeface="Times New Roman"/>
                <a:cs typeface="Times New Roman"/>
              </a:rPr>
              <a:t>causing </a:t>
            </a:r>
            <a:r>
              <a:rPr sz="2000" spc="-5" dirty="0">
                <a:latin typeface="Times New Roman"/>
                <a:cs typeface="Times New Roman"/>
              </a:rPr>
              <a:t>ionization </a:t>
            </a:r>
            <a:r>
              <a:rPr sz="2000" spc="-10" dirty="0">
                <a:latin typeface="Times New Roman"/>
                <a:cs typeface="Times New Roman"/>
              </a:rPr>
              <a:t>and </a:t>
            </a:r>
            <a:r>
              <a:rPr sz="2000" spc="-15" dirty="0">
                <a:latin typeface="Times New Roman"/>
                <a:cs typeface="Times New Roman"/>
              </a:rPr>
              <a:t>thus </a:t>
            </a:r>
            <a:r>
              <a:rPr sz="2000" spc="-5" dirty="0">
                <a:latin typeface="Times New Roman"/>
                <a:cs typeface="Times New Roman"/>
              </a:rPr>
              <a:t>process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continues.</a:t>
            </a:r>
            <a:endParaRPr sz="2000">
              <a:latin typeface="Times New Roman"/>
              <a:cs typeface="Times New Roman"/>
            </a:endParaRPr>
          </a:p>
          <a:p>
            <a:pPr marL="254000" marR="17780" indent="-228600" algn="just">
              <a:lnSpc>
                <a:spcPts val="2160"/>
              </a:lnSpc>
              <a:spcBef>
                <a:spcPts val="1045"/>
              </a:spcBef>
              <a:buFont typeface="Arial"/>
              <a:buChar char="•"/>
              <a:tabLst>
                <a:tab pos="254000" algn="l"/>
              </a:tabLst>
            </a:pPr>
            <a:r>
              <a:rPr sz="2000" spc="-10" dirty="0">
                <a:latin typeface="Times New Roman"/>
                <a:cs typeface="Times New Roman"/>
              </a:rPr>
              <a:t>Hence </a:t>
            </a:r>
            <a:r>
              <a:rPr sz="2000" spc="-5" dirty="0">
                <a:latin typeface="Times New Roman"/>
                <a:cs typeface="Times New Roman"/>
              </a:rPr>
              <a:t>there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increase </a:t>
            </a:r>
            <a:r>
              <a:rPr sz="2000" spc="-10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electron </a:t>
            </a:r>
            <a:r>
              <a:rPr sz="2000" spc="-5" dirty="0">
                <a:latin typeface="Times New Roman"/>
                <a:cs typeface="Times New Roman"/>
              </a:rPr>
              <a:t>current.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number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electrons </a:t>
            </a:r>
            <a:r>
              <a:rPr sz="2000" spc="-10" dirty="0">
                <a:latin typeface="Times New Roman"/>
                <a:cs typeface="Times New Roman"/>
              </a:rPr>
              <a:t>reaching </a:t>
            </a:r>
            <a:r>
              <a:rPr sz="2000" dirty="0">
                <a:latin typeface="Times New Roman"/>
                <a:cs typeface="Times New Roman"/>
              </a:rPr>
              <a:t>anode </a:t>
            </a:r>
            <a:r>
              <a:rPr sz="2000" spc="-5" dirty="0">
                <a:latin typeface="Times New Roman"/>
                <a:cs typeface="Times New Roman"/>
              </a:rPr>
              <a:t>per </a:t>
            </a:r>
            <a:r>
              <a:rPr sz="2000" spc="-15" dirty="0">
                <a:latin typeface="Times New Roman"/>
                <a:cs typeface="Times New Roman"/>
              </a:rPr>
              <a:t>unit time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greater  </a:t>
            </a:r>
            <a:r>
              <a:rPr sz="2000" spc="-10" dirty="0">
                <a:latin typeface="Times New Roman"/>
                <a:cs typeface="Times New Roman"/>
              </a:rPr>
              <a:t>than </a:t>
            </a:r>
            <a:r>
              <a:rPr sz="2000" spc="-5" dirty="0">
                <a:latin typeface="Times New Roman"/>
                <a:cs typeface="Times New Roman"/>
              </a:rPr>
              <a:t>those liberated at cathode.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10" dirty="0">
                <a:latin typeface="Times New Roman"/>
                <a:cs typeface="Times New Roman"/>
              </a:rPr>
              <a:t>addition, positive </a:t>
            </a:r>
            <a:r>
              <a:rPr sz="2000" spc="-5" dirty="0">
                <a:latin typeface="Times New Roman"/>
                <a:cs typeface="Times New Roman"/>
              </a:rPr>
              <a:t>ions also reach cathode causing </a:t>
            </a:r>
            <a:r>
              <a:rPr sz="2000" spc="-10" dirty="0">
                <a:latin typeface="Times New Roman"/>
                <a:cs typeface="Times New Roman"/>
              </a:rPr>
              <a:t>bombardment </a:t>
            </a:r>
            <a:r>
              <a:rPr sz="2000" spc="25" dirty="0">
                <a:latin typeface="Times New Roman"/>
                <a:cs typeface="Times New Roman"/>
              </a:rPr>
              <a:t>on  </a:t>
            </a:r>
            <a:r>
              <a:rPr sz="2000" spc="-5" dirty="0">
                <a:latin typeface="Times New Roman"/>
                <a:cs typeface="Times New Roman"/>
              </a:rPr>
              <a:t>cathode.</a:t>
            </a:r>
            <a:endParaRPr sz="2000">
              <a:latin typeface="Times New Roman"/>
              <a:cs typeface="Times New Roman"/>
            </a:endParaRPr>
          </a:p>
          <a:p>
            <a:pPr marL="254000" indent="-228600" algn="just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2540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This </a:t>
            </a:r>
            <a:r>
              <a:rPr sz="2000" spc="-10" dirty="0">
                <a:latin typeface="Times New Roman"/>
                <a:cs typeface="Times New Roman"/>
              </a:rPr>
              <a:t>gives </a:t>
            </a:r>
            <a:r>
              <a:rPr sz="2000" spc="-5" dirty="0">
                <a:latin typeface="Times New Roman"/>
                <a:cs typeface="Times New Roman"/>
              </a:rPr>
              <a:t>rise to secondary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electron.</a:t>
            </a:r>
            <a:endParaRPr sz="2000">
              <a:latin typeface="Times New Roman"/>
              <a:cs typeface="Times New Roman"/>
            </a:endParaRPr>
          </a:p>
          <a:p>
            <a:pPr marR="1990725" algn="ctr">
              <a:lnSpc>
                <a:spcPct val="100000"/>
              </a:lnSpc>
              <a:spcBef>
                <a:spcPts val="1400"/>
              </a:spcBef>
            </a:pPr>
            <a:r>
              <a:rPr sz="1000" dirty="0">
                <a:latin typeface="Calibri"/>
                <a:cs typeface="Calibri"/>
              </a:rPr>
              <a:t>Ultraviolet</a:t>
            </a:r>
            <a:r>
              <a:rPr sz="1000" spc="-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light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marL="1155065">
              <a:lnSpc>
                <a:spcPct val="100000"/>
              </a:lnSpc>
              <a:tabLst>
                <a:tab pos="4398645" algn="l"/>
              </a:tabLst>
            </a:pPr>
            <a:r>
              <a:rPr sz="1000" dirty="0">
                <a:latin typeface="Calibri"/>
                <a:cs typeface="Calibri"/>
              </a:rPr>
              <a:t>cathode	</a:t>
            </a:r>
            <a:r>
              <a:rPr sz="1000" spc="-5" dirty="0">
                <a:latin typeface="Calibri"/>
                <a:cs typeface="Calibri"/>
              </a:rPr>
              <a:t>Anode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R="7325995" algn="ctr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_</a:t>
            </a:r>
            <a:endParaRPr sz="1000">
              <a:latin typeface="Calibri"/>
              <a:cs typeface="Calibri"/>
            </a:endParaRPr>
          </a:p>
          <a:p>
            <a:pPr marR="1804670" algn="ctr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Calibri"/>
                <a:cs typeface="Calibri"/>
              </a:rPr>
              <a:t>+</a:t>
            </a:r>
            <a:endParaRPr sz="1000">
              <a:latin typeface="Calibri"/>
              <a:cs typeface="Calibri"/>
            </a:endParaRPr>
          </a:p>
          <a:p>
            <a:pPr marL="3575685">
              <a:lnSpc>
                <a:spcPct val="100000"/>
              </a:lnSpc>
              <a:spcBef>
                <a:spcPts val="220"/>
              </a:spcBef>
            </a:pPr>
            <a:r>
              <a:rPr sz="1000" spc="10" dirty="0">
                <a:latin typeface="Calibri"/>
                <a:cs typeface="Calibri"/>
              </a:rPr>
              <a:t>I</a:t>
            </a:r>
            <a:r>
              <a:rPr sz="975" spc="15" baseline="-25641" dirty="0">
                <a:latin typeface="Calibri"/>
                <a:cs typeface="Calibri"/>
              </a:rPr>
              <a:t>0</a:t>
            </a:r>
            <a:endParaRPr sz="975" baseline="-25641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21123" y="3628644"/>
            <a:ext cx="158750" cy="844550"/>
          </a:xfrm>
          <a:custGeom>
            <a:avLst/>
            <a:gdLst/>
            <a:ahLst/>
            <a:cxnLst/>
            <a:rect l="l" t="t" r="r" b="b"/>
            <a:pathLst>
              <a:path w="158750" h="844550">
                <a:moveTo>
                  <a:pt x="0" y="0"/>
                </a:moveTo>
                <a:lnTo>
                  <a:pt x="30866" y="6221"/>
                </a:lnTo>
                <a:lnTo>
                  <a:pt x="56054" y="23193"/>
                </a:lnTo>
                <a:lnTo>
                  <a:pt x="73026" y="48381"/>
                </a:lnTo>
                <a:lnTo>
                  <a:pt x="79248" y="79247"/>
                </a:lnTo>
                <a:lnTo>
                  <a:pt x="79248" y="342899"/>
                </a:lnTo>
                <a:lnTo>
                  <a:pt x="85469" y="373766"/>
                </a:lnTo>
                <a:lnTo>
                  <a:pt x="102441" y="398954"/>
                </a:lnTo>
                <a:lnTo>
                  <a:pt x="127629" y="415926"/>
                </a:lnTo>
                <a:lnTo>
                  <a:pt x="158496" y="422147"/>
                </a:lnTo>
                <a:lnTo>
                  <a:pt x="127629" y="428369"/>
                </a:lnTo>
                <a:lnTo>
                  <a:pt x="102441" y="445341"/>
                </a:lnTo>
                <a:lnTo>
                  <a:pt x="85469" y="470529"/>
                </a:lnTo>
                <a:lnTo>
                  <a:pt x="79248" y="501395"/>
                </a:lnTo>
                <a:lnTo>
                  <a:pt x="79248" y="765047"/>
                </a:lnTo>
                <a:lnTo>
                  <a:pt x="73026" y="795914"/>
                </a:lnTo>
                <a:lnTo>
                  <a:pt x="56054" y="821102"/>
                </a:lnTo>
                <a:lnTo>
                  <a:pt x="30866" y="838074"/>
                </a:lnTo>
                <a:lnTo>
                  <a:pt x="0" y="84429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012819" y="4443222"/>
            <a:ext cx="9271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393947" y="4735321"/>
            <a:ext cx="1740535" cy="106680"/>
          </a:xfrm>
          <a:custGeom>
            <a:avLst/>
            <a:gdLst/>
            <a:ahLst/>
            <a:cxnLst/>
            <a:rect l="l" t="t" r="r" b="b"/>
            <a:pathLst>
              <a:path w="1740535" h="106679">
                <a:moveTo>
                  <a:pt x="88646" y="0"/>
                </a:moveTo>
                <a:lnTo>
                  <a:pt x="6375" y="47853"/>
                </a:lnTo>
                <a:lnTo>
                  <a:pt x="6350" y="55244"/>
                </a:lnTo>
                <a:lnTo>
                  <a:pt x="88518" y="103377"/>
                </a:lnTo>
                <a:lnTo>
                  <a:pt x="92455" y="102361"/>
                </a:lnTo>
                <a:lnTo>
                  <a:pt x="94234" y="99313"/>
                </a:lnTo>
                <a:lnTo>
                  <a:pt x="95885" y="96392"/>
                </a:lnTo>
                <a:lnTo>
                  <a:pt x="94868" y="92455"/>
                </a:lnTo>
                <a:lnTo>
                  <a:pt x="91948" y="90677"/>
                </a:lnTo>
                <a:lnTo>
                  <a:pt x="36036" y="57969"/>
                </a:lnTo>
                <a:lnTo>
                  <a:pt x="34416" y="57911"/>
                </a:lnTo>
                <a:lnTo>
                  <a:pt x="16128" y="57911"/>
                </a:lnTo>
                <a:lnTo>
                  <a:pt x="17017" y="57022"/>
                </a:lnTo>
                <a:lnTo>
                  <a:pt x="15748" y="57022"/>
                </a:lnTo>
                <a:lnTo>
                  <a:pt x="15748" y="46100"/>
                </a:lnTo>
                <a:lnTo>
                  <a:pt x="16979" y="46100"/>
                </a:lnTo>
                <a:lnTo>
                  <a:pt x="16128" y="45211"/>
                </a:lnTo>
                <a:lnTo>
                  <a:pt x="36087" y="45211"/>
                </a:lnTo>
                <a:lnTo>
                  <a:pt x="92075" y="12700"/>
                </a:lnTo>
                <a:lnTo>
                  <a:pt x="95123" y="11048"/>
                </a:lnTo>
                <a:lnTo>
                  <a:pt x="96138" y="7111"/>
                </a:lnTo>
                <a:lnTo>
                  <a:pt x="92582" y="1015"/>
                </a:lnTo>
                <a:lnTo>
                  <a:pt x="88646" y="0"/>
                </a:lnTo>
                <a:close/>
              </a:path>
              <a:path w="1740535" h="106679">
                <a:moveTo>
                  <a:pt x="35994" y="45265"/>
                </a:moveTo>
                <a:lnTo>
                  <a:pt x="32406" y="47349"/>
                </a:lnTo>
                <a:lnTo>
                  <a:pt x="31750" y="48005"/>
                </a:lnTo>
                <a:lnTo>
                  <a:pt x="31750" y="55244"/>
                </a:lnTo>
                <a:lnTo>
                  <a:pt x="32273" y="55768"/>
                </a:lnTo>
                <a:lnTo>
                  <a:pt x="36036" y="57969"/>
                </a:lnTo>
                <a:lnTo>
                  <a:pt x="37973" y="58038"/>
                </a:lnTo>
                <a:lnTo>
                  <a:pt x="41528" y="58038"/>
                </a:lnTo>
                <a:lnTo>
                  <a:pt x="44201" y="55244"/>
                </a:lnTo>
                <a:lnTo>
                  <a:pt x="44323" y="48132"/>
                </a:lnTo>
                <a:lnTo>
                  <a:pt x="41528" y="45338"/>
                </a:lnTo>
                <a:lnTo>
                  <a:pt x="37973" y="45338"/>
                </a:lnTo>
                <a:lnTo>
                  <a:pt x="35994" y="45265"/>
                </a:lnTo>
                <a:close/>
              </a:path>
              <a:path w="1740535" h="106679">
                <a:moveTo>
                  <a:pt x="66928" y="45338"/>
                </a:moveTo>
                <a:lnTo>
                  <a:pt x="59943" y="45338"/>
                </a:lnTo>
                <a:lnTo>
                  <a:pt x="57155" y="48005"/>
                </a:lnTo>
                <a:lnTo>
                  <a:pt x="57144" y="55244"/>
                </a:lnTo>
                <a:lnTo>
                  <a:pt x="59816" y="58038"/>
                </a:lnTo>
                <a:lnTo>
                  <a:pt x="66928" y="58038"/>
                </a:lnTo>
                <a:lnTo>
                  <a:pt x="69639" y="55328"/>
                </a:lnTo>
                <a:lnTo>
                  <a:pt x="69723" y="48132"/>
                </a:lnTo>
                <a:lnTo>
                  <a:pt x="66928" y="45338"/>
                </a:lnTo>
                <a:close/>
              </a:path>
              <a:path w="1740535" h="106679">
                <a:moveTo>
                  <a:pt x="92328" y="45338"/>
                </a:moveTo>
                <a:lnTo>
                  <a:pt x="85343" y="45338"/>
                </a:lnTo>
                <a:lnTo>
                  <a:pt x="82550" y="48132"/>
                </a:lnTo>
                <a:lnTo>
                  <a:pt x="82510" y="55328"/>
                </a:lnTo>
                <a:lnTo>
                  <a:pt x="85343" y="58038"/>
                </a:lnTo>
                <a:lnTo>
                  <a:pt x="92328" y="58038"/>
                </a:lnTo>
                <a:lnTo>
                  <a:pt x="95039" y="55328"/>
                </a:lnTo>
                <a:lnTo>
                  <a:pt x="95001" y="48132"/>
                </a:lnTo>
                <a:lnTo>
                  <a:pt x="92328" y="45338"/>
                </a:lnTo>
                <a:close/>
              </a:path>
              <a:path w="1740535" h="106679">
                <a:moveTo>
                  <a:pt x="32273" y="55768"/>
                </a:moveTo>
                <a:lnTo>
                  <a:pt x="34416" y="57911"/>
                </a:lnTo>
                <a:lnTo>
                  <a:pt x="36036" y="57969"/>
                </a:lnTo>
                <a:lnTo>
                  <a:pt x="32273" y="55768"/>
                </a:lnTo>
                <a:close/>
              </a:path>
              <a:path w="1740535" h="106679">
                <a:moveTo>
                  <a:pt x="6433" y="55328"/>
                </a:moveTo>
                <a:lnTo>
                  <a:pt x="9016" y="57911"/>
                </a:lnTo>
                <a:lnTo>
                  <a:pt x="10846" y="57911"/>
                </a:lnTo>
                <a:lnTo>
                  <a:pt x="6433" y="55328"/>
                </a:lnTo>
                <a:close/>
              </a:path>
              <a:path w="1740535" h="106679">
                <a:moveTo>
                  <a:pt x="25117" y="51582"/>
                </a:moveTo>
                <a:lnTo>
                  <a:pt x="18809" y="55244"/>
                </a:lnTo>
                <a:lnTo>
                  <a:pt x="16128" y="57911"/>
                </a:lnTo>
                <a:lnTo>
                  <a:pt x="34416" y="57911"/>
                </a:lnTo>
                <a:lnTo>
                  <a:pt x="32273" y="55768"/>
                </a:lnTo>
                <a:lnTo>
                  <a:pt x="25117" y="51582"/>
                </a:lnTo>
                <a:close/>
              </a:path>
              <a:path w="1740535" h="106679">
                <a:moveTo>
                  <a:pt x="15748" y="46100"/>
                </a:moveTo>
                <a:lnTo>
                  <a:pt x="15748" y="57022"/>
                </a:lnTo>
                <a:lnTo>
                  <a:pt x="18796" y="55244"/>
                </a:lnTo>
                <a:lnTo>
                  <a:pt x="18801" y="48005"/>
                </a:lnTo>
                <a:lnTo>
                  <a:pt x="18543" y="47736"/>
                </a:lnTo>
                <a:lnTo>
                  <a:pt x="15748" y="46100"/>
                </a:lnTo>
                <a:close/>
              </a:path>
              <a:path w="1740535" h="106679">
                <a:moveTo>
                  <a:pt x="18776" y="55264"/>
                </a:moveTo>
                <a:lnTo>
                  <a:pt x="15748" y="57022"/>
                </a:lnTo>
                <a:lnTo>
                  <a:pt x="17017" y="57022"/>
                </a:lnTo>
                <a:lnTo>
                  <a:pt x="18776" y="55264"/>
                </a:lnTo>
                <a:close/>
              </a:path>
              <a:path w="1740535" h="106679">
                <a:moveTo>
                  <a:pt x="6375" y="47853"/>
                </a:moveTo>
                <a:lnTo>
                  <a:pt x="0" y="51561"/>
                </a:lnTo>
                <a:lnTo>
                  <a:pt x="6433" y="55328"/>
                </a:lnTo>
                <a:lnTo>
                  <a:pt x="6223" y="48005"/>
                </a:lnTo>
                <a:lnTo>
                  <a:pt x="6375" y="47853"/>
                </a:lnTo>
                <a:close/>
              </a:path>
              <a:path w="1740535" h="106679">
                <a:moveTo>
                  <a:pt x="18543" y="47736"/>
                </a:moveTo>
                <a:lnTo>
                  <a:pt x="18801" y="48005"/>
                </a:lnTo>
                <a:lnTo>
                  <a:pt x="18796" y="55244"/>
                </a:lnTo>
                <a:lnTo>
                  <a:pt x="25117" y="51582"/>
                </a:lnTo>
                <a:lnTo>
                  <a:pt x="18543" y="47736"/>
                </a:lnTo>
                <a:close/>
              </a:path>
              <a:path w="1740535" h="106679">
                <a:moveTo>
                  <a:pt x="34543" y="45211"/>
                </a:moveTo>
                <a:lnTo>
                  <a:pt x="16128" y="45211"/>
                </a:lnTo>
                <a:lnTo>
                  <a:pt x="18543" y="47736"/>
                </a:lnTo>
                <a:lnTo>
                  <a:pt x="25117" y="51582"/>
                </a:lnTo>
                <a:lnTo>
                  <a:pt x="32406" y="47349"/>
                </a:lnTo>
                <a:lnTo>
                  <a:pt x="34543" y="45211"/>
                </a:lnTo>
                <a:close/>
              </a:path>
              <a:path w="1740535" h="106679">
                <a:moveTo>
                  <a:pt x="10916" y="45211"/>
                </a:moveTo>
                <a:lnTo>
                  <a:pt x="9016" y="45211"/>
                </a:lnTo>
                <a:lnTo>
                  <a:pt x="6375" y="47853"/>
                </a:lnTo>
                <a:lnTo>
                  <a:pt x="10916" y="45211"/>
                </a:lnTo>
                <a:close/>
              </a:path>
              <a:path w="1740535" h="106679">
                <a:moveTo>
                  <a:pt x="16979" y="46100"/>
                </a:moveTo>
                <a:lnTo>
                  <a:pt x="15748" y="46100"/>
                </a:lnTo>
                <a:lnTo>
                  <a:pt x="18543" y="47736"/>
                </a:lnTo>
                <a:lnTo>
                  <a:pt x="16979" y="46100"/>
                </a:lnTo>
                <a:close/>
              </a:path>
              <a:path w="1740535" h="106679">
                <a:moveTo>
                  <a:pt x="34543" y="45211"/>
                </a:moveTo>
                <a:lnTo>
                  <a:pt x="32406" y="47349"/>
                </a:lnTo>
                <a:lnTo>
                  <a:pt x="35994" y="45265"/>
                </a:lnTo>
                <a:lnTo>
                  <a:pt x="34543" y="45211"/>
                </a:lnTo>
                <a:close/>
              </a:path>
              <a:path w="1740535" h="106679">
                <a:moveTo>
                  <a:pt x="36087" y="45211"/>
                </a:moveTo>
                <a:lnTo>
                  <a:pt x="34543" y="45211"/>
                </a:lnTo>
                <a:lnTo>
                  <a:pt x="35994" y="45265"/>
                </a:lnTo>
                <a:close/>
              </a:path>
              <a:path w="1740535" h="106679">
                <a:moveTo>
                  <a:pt x="117728" y="45465"/>
                </a:moveTo>
                <a:lnTo>
                  <a:pt x="110743" y="45465"/>
                </a:lnTo>
                <a:lnTo>
                  <a:pt x="107823" y="48259"/>
                </a:lnTo>
                <a:lnTo>
                  <a:pt x="107823" y="55244"/>
                </a:lnTo>
                <a:lnTo>
                  <a:pt x="110743" y="58165"/>
                </a:lnTo>
                <a:lnTo>
                  <a:pt x="117728" y="58165"/>
                </a:lnTo>
                <a:lnTo>
                  <a:pt x="120523" y="55244"/>
                </a:lnTo>
                <a:lnTo>
                  <a:pt x="120650" y="48259"/>
                </a:lnTo>
                <a:lnTo>
                  <a:pt x="117728" y="45465"/>
                </a:lnTo>
                <a:close/>
              </a:path>
              <a:path w="1740535" h="106679">
                <a:moveTo>
                  <a:pt x="143128" y="45465"/>
                </a:moveTo>
                <a:lnTo>
                  <a:pt x="136143" y="45465"/>
                </a:lnTo>
                <a:lnTo>
                  <a:pt x="133350" y="48259"/>
                </a:lnTo>
                <a:lnTo>
                  <a:pt x="133350" y="55371"/>
                </a:lnTo>
                <a:lnTo>
                  <a:pt x="136143" y="58165"/>
                </a:lnTo>
                <a:lnTo>
                  <a:pt x="143128" y="58165"/>
                </a:lnTo>
                <a:lnTo>
                  <a:pt x="146050" y="55371"/>
                </a:lnTo>
                <a:lnTo>
                  <a:pt x="146050" y="48259"/>
                </a:lnTo>
                <a:lnTo>
                  <a:pt x="143128" y="45465"/>
                </a:lnTo>
                <a:close/>
              </a:path>
              <a:path w="1740535" h="106679">
                <a:moveTo>
                  <a:pt x="168528" y="45465"/>
                </a:moveTo>
                <a:lnTo>
                  <a:pt x="161543" y="45465"/>
                </a:lnTo>
                <a:lnTo>
                  <a:pt x="158750" y="48386"/>
                </a:lnTo>
                <a:lnTo>
                  <a:pt x="158750" y="55371"/>
                </a:lnTo>
                <a:lnTo>
                  <a:pt x="161543" y="58165"/>
                </a:lnTo>
                <a:lnTo>
                  <a:pt x="168528" y="58165"/>
                </a:lnTo>
                <a:lnTo>
                  <a:pt x="171450" y="55371"/>
                </a:lnTo>
                <a:lnTo>
                  <a:pt x="171450" y="48386"/>
                </a:lnTo>
                <a:lnTo>
                  <a:pt x="168528" y="45465"/>
                </a:lnTo>
                <a:close/>
              </a:path>
              <a:path w="1740535" h="106679">
                <a:moveTo>
                  <a:pt x="193928" y="45592"/>
                </a:moveTo>
                <a:lnTo>
                  <a:pt x="186943" y="45592"/>
                </a:lnTo>
                <a:lnTo>
                  <a:pt x="184150" y="48386"/>
                </a:lnTo>
                <a:lnTo>
                  <a:pt x="184150" y="55371"/>
                </a:lnTo>
                <a:lnTo>
                  <a:pt x="186943" y="58292"/>
                </a:lnTo>
                <a:lnTo>
                  <a:pt x="193928" y="58292"/>
                </a:lnTo>
                <a:lnTo>
                  <a:pt x="196850" y="55371"/>
                </a:lnTo>
                <a:lnTo>
                  <a:pt x="196850" y="48386"/>
                </a:lnTo>
                <a:lnTo>
                  <a:pt x="193928" y="45592"/>
                </a:lnTo>
                <a:close/>
              </a:path>
              <a:path w="1740535" h="106679">
                <a:moveTo>
                  <a:pt x="219455" y="45592"/>
                </a:moveTo>
                <a:lnTo>
                  <a:pt x="212343" y="45592"/>
                </a:lnTo>
                <a:lnTo>
                  <a:pt x="209550" y="48386"/>
                </a:lnTo>
                <a:lnTo>
                  <a:pt x="209671" y="55498"/>
                </a:lnTo>
                <a:lnTo>
                  <a:pt x="212343" y="58292"/>
                </a:lnTo>
                <a:lnTo>
                  <a:pt x="219328" y="58292"/>
                </a:lnTo>
                <a:lnTo>
                  <a:pt x="222250" y="55498"/>
                </a:lnTo>
                <a:lnTo>
                  <a:pt x="222250" y="48386"/>
                </a:lnTo>
                <a:lnTo>
                  <a:pt x="219455" y="45592"/>
                </a:lnTo>
                <a:close/>
              </a:path>
              <a:path w="1740535" h="106679">
                <a:moveTo>
                  <a:pt x="244855" y="45592"/>
                </a:moveTo>
                <a:lnTo>
                  <a:pt x="237743" y="45592"/>
                </a:lnTo>
                <a:lnTo>
                  <a:pt x="234950" y="48513"/>
                </a:lnTo>
                <a:lnTo>
                  <a:pt x="234950" y="55498"/>
                </a:lnTo>
                <a:lnTo>
                  <a:pt x="237743" y="58292"/>
                </a:lnTo>
                <a:lnTo>
                  <a:pt x="244728" y="58292"/>
                </a:lnTo>
                <a:lnTo>
                  <a:pt x="247650" y="55498"/>
                </a:lnTo>
                <a:lnTo>
                  <a:pt x="247650" y="48513"/>
                </a:lnTo>
                <a:lnTo>
                  <a:pt x="244855" y="45592"/>
                </a:lnTo>
                <a:close/>
              </a:path>
              <a:path w="1740535" h="106679">
                <a:moveTo>
                  <a:pt x="270255" y="45719"/>
                </a:moveTo>
                <a:lnTo>
                  <a:pt x="263143" y="45719"/>
                </a:lnTo>
                <a:lnTo>
                  <a:pt x="260350" y="48513"/>
                </a:lnTo>
                <a:lnTo>
                  <a:pt x="260350" y="55498"/>
                </a:lnTo>
                <a:lnTo>
                  <a:pt x="263143" y="58419"/>
                </a:lnTo>
                <a:lnTo>
                  <a:pt x="270255" y="58419"/>
                </a:lnTo>
                <a:lnTo>
                  <a:pt x="273050" y="55498"/>
                </a:lnTo>
                <a:lnTo>
                  <a:pt x="273050" y="48513"/>
                </a:lnTo>
                <a:lnTo>
                  <a:pt x="270255" y="45719"/>
                </a:lnTo>
                <a:close/>
              </a:path>
              <a:path w="1740535" h="106679">
                <a:moveTo>
                  <a:pt x="295655" y="45719"/>
                </a:moveTo>
                <a:lnTo>
                  <a:pt x="288671" y="45719"/>
                </a:lnTo>
                <a:lnTo>
                  <a:pt x="285750" y="48513"/>
                </a:lnTo>
                <a:lnTo>
                  <a:pt x="285750" y="55625"/>
                </a:lnTo>
                <a:lnTo>
                  <a:pt x="288543" y="58419"/>
                </a:lnTo>
                <a:lnTo>
                  <a:pt x="295655" y="58419"/>
                </a:lnTo>
                <a:lnTo>
                  <a:pt x="298450" y="55625"/>
                </a:lnTo>
                <a:lnTo>
                  <a:pt x="298450" y="48513"/>
                </a:lnTo>
                <a:lnTo>
                  <a:pt x="295655" y="45719"/>
                </a:lnTo>
                <a:close/>
              </a:path>
              <a:path w="1740535" h="106679">
                <a:moveTo>
                  <a:pt x="321055" y="45719"/>
                </a:moveTo>
                <a:lnTo>
                  <a:pt x="314071" y="45719"/>
                </a:lnTo>
                <a:lnTo>
                  <a:pt x="311150" y="48640"/>
                </a:lnTo>
                <a:lnTo>
                  <a:pt x="311150" y="55625"/>
                </a:lnTo>
                <a:lnTo>
                  <a:pt x="313943" y="58419"/>
                </a:lnTo>
                <a:lnTo>
                  <a:pt x="321055" y="58419"/>
                </a:lnTo>
                <a:lnTo>
                  <a:pt x="323850" y="55625"/>
                </a:lnTo>
                <a:lnTo>
                  <a:pt x="323850" y="48640"/>
                </a:lnTo>
                <a:lnTo>
                  <a:pt x="321055" y="45719"/>
                </a:lnTo>
                <a:close/>
              </a:path>
              <a:path w="1740535" h="106679">
                <a:moveTo>
                  <a:pt x="346455" y="45846"/>
                </a:moveTo>
                <a:lnTo>
                  <a:pt x="339471" y="45846"/>
                </a:lnTo>
                <a:lnTo>
                  <a:pt x="336550" y="48640"/>
                </a:lnTo>
                <a:lnTo>
                  <a:pt x="336550" y="55625"/>
                </a:lnTo>
                <a:lnTo>
                  <a:pt x="339471" y="58546"/>
                </a:lnTo>
                <a:lnTo>
                  <a:pt x="346455" y="58546"/>
                </a:lnTo>
                <a:lnTo>
                  <a:pt x="349250" y="55625"/>
                </a:lnTo>
                <a:lnTo>
                  <a:pt x="349250" y="48640"/>
                </a:lnTo>
                <a:lnTo>
                  <a:pt x="346455" y="45846"/>
                </a:lnTo>
                <a:close/>
              </a:path>
              <a:path w="1740535" h="106679">
                <a:moveTo>
                  <a:pt x="371855" y="45846"/>
                </a:moveTo>
                <a:lnTo>
                  <a:pt x="364871" y="45846"/>
                </a:lnTo>
                <a:lnTo>
                  <a:pt x="361950" y="48640"/>
                </a:lnTo>
                <a:lnTo>
                  <a:pt x="361950" y="55752"/>
                </a:lnTo>
                <a:lnTo>
                  <a:pt x="364871" y="58546"/>
                </a:lnTo>
                <a:lnTo>
                  <a:pt x="371855" y="58546"/>
                </a:lnTo>
                <a:lnTo>
                  <a:pt x="374650" y="55752"/>
                </a:lnTo>
                <a:lnTo>
                  <a:pt x="374650" y="48640"/>
                </a:lnTo>
                <a:lnTo>
                  <a:pt x="371855" y="45846"/>
                </a:lnTo>
                <a:close/>
              </a:path>
              <a:path w="1740535" h="106679">
                <a:moveTo>
                  <a:pt x="397255" y="45846"/>
                </a:moveTo>
                <a:lnTo>
                  <a:pt x="390271" y="45846"/>
                </a:lnTo>
                <a:lnTo>
                  <a:pt x="387476" y="48767"/>
                </a:lnTo>
                <a:lnTo>
                  <a:pt x="387350" y="55752"/>
                </a:lnTo>
                <a:lnTo>
                  <a:pt x="390271" y="58546"/>
                </a:lnTo>
                <a:lnTo>
                  <a:pt x="397255" y="58546"/>
                </a:lnTo>
                <a:lnTo>
                  <a:pt x="400176" y="55752"/>
                </a:lnTo>
                <a:lnTo>
                  <a:pt x="400176" y="48767"/>
                </a:lnTo>
                <a:lnTo>
                  <a:pt x="397255" y="45846"/>
                </a:lnTo>
                <a:close/>
              </a:path>
              <a:path w="1740535" h="106679">
                <a:moveTo>
                  <a:pt x="422655" y="45973"/>
                </a:moveTo>
                <a:lnTo>
                  <a:pt x="415671" y="45973"/>
                </a:lnTo>
                <a:lnTo>
                  <a:pt x="412876" y="48767"/>
                </a:lnTo>
                <a:lnTo>
                  <a:pt x="412876" y="55752"/>
                </a:lnTo>
                <a:lnTo>
                  <a:pt x="415671" y="58673"/>
                </a:lnTo>
                <a:lnTo>
                  <a:pt x="422655" y="58673"/>
                </a:lnTo>
                <a:lnTo>
                  <a:pt x="425576" y="55752"/>
                </a:lnTo>
                <a:lnTo>
                  <a:pt x="425576" y="48767"/>
                </a:lnTo>
                <a:lnTo>
                  <a:pt x="422655" y="45973"/>
                </a:lnTo>
                <a:close/>
              </a:path>
              <a:path w="1740535" h="106679">
                <a:moveTo>
                  <a:pt x="448055" y="45973"/>
                </a:moveTo>
                <a:lnTo>
                  <a:pt x="441071" y="45973"/>
                </a:lnTo>
                <a:lnTo>
                  <a:pt x="438276" y="48767"/>
                </a:lnTo>
                <a:lnTo>
                  <a:pt x="438276" y="55879"/>
                </a:lnTo>
                <a:lnTo>
                  <a:pt x="441071" y="58673"/>
                </a:lnTo>
                <a:lnTo>
                  <a:pt x="448055" y="58673"/>
                </a:lnTo>
                <a:lnTo>
                  <a:pt x="450976" y="55879"/>
                </a:lnTo>
                <a:lnTo>
                  <a:pt x="450850" y="48767"/>
                </a:lnTo>
                <a:lnTo>
                  <a:pt x="448055" y="45973"/>
                </a:lnTo>
                <a:close/>
              </a:path>
              <a:path w="1740535" h="106679">
                <a:moveTo>
                  <a:pt x="470026" y="45973"/>
                </a:moveTo>
                <a:lnTo>
                  <a:pt x="466471" y="45973"/>
                </a:lnTo>
                <a:lnTo>
                  <a:pt x="463676" y="48894"/>
                </a:lnTo>
                <a:lnTo>
                  <a:pt x="463676" y="55879"/>
                </a:lnTo>
                <a:lnTo>
                  <a:pt x="466471" y="58673"/>
                </a:lnTo>
                <a:lnTo>
                  <a:pt x="470026" y="58673"/>
                </a:lnTo>
                <a:lnTo>
                  <a:pt x="473455" y="58800"/>
                </a:lnTo>
                <a:lnTo>
                  <a:pt x="476376" y="55879"/>
                </a:lnTo>
                <a:lnTo>
                  <a:pt x="476376" y="48894"/>
                </a:lnTo>
                <a:lnTo>
                  <a:pt x="473582" y="46100"/>
                </a:lnTo>
                <a:lnTo>
                  <a:pt x="470026" y="45973"/>
                </a:lnTo>
                <a:close/>
              </a:path>
              <a:path w="1740535" h="106679">
                <a:moveTo>
                  <a:pt x="498982" y="46100"/>
                </a:moveTo>
                <a:lnTo>
                  <a:pt x="491871" y="46100"/>
                </a:lnTo>
                <a:lnTo>
                  <a:pt x="489076" y="48894"/>
                </a:lnTo>
                <a:lnTo>
                  <a:pt x="489198" y="56006"/>
                </a:lnTo>
                <a:lnTo>
                  <a:pt x="491871" y="58800"/>
                </a:lnTo>
                <a:lnTo>
                  <a:pt x="498855" y="58800"/>
                </a:lnTo>
                <a:lnTo>
                  <a:pt x="501776" y="56006"/>
                </a:lnTo>
                <a:lnTo>
                  <a:pt x="501776" y="48894"/>
                </a:lnTo>
                <a:lnTo>
                  <a:pt x="498982" y="46100"/>
                </a:lnTo>
                <a:close/>
              </a:path>
              <a:path w="1740535" h="106679">
                <a:moveTo>
                  <a:pt x="524382" y="46100"/>
                </a:moveTo>
                <a:lnTo>
                  <a:pt x="517271" y="46100"/>
                </a:lnTo>
                <a:lnTo>
                  <a:pt x="514476" y="48894"/>
                </a:lnTo>
                <a:lnTo>
                  <a:pt x="514476" y="56006"/>
                </a:lnTo>
                <a:lnTo>
                  <a:pt x="517271" y="58800"/>
                </a:lnTo>
                <a:lnTo>
                  <a:pt x="524382" y="58800"/>
                </a:lnTo>
                <a:lnTo>
                  <a:pt x="527176" y="56006"/>
                </a:lnTo>
                <a:lnTo>
                  <a:pt x="527055" y="48894"/>
                </a:lnTo>
                <a:lnTo>
                  <a:pt x="524382" y="46100"/>
                </a:lnTo>
                <a:close/>
              </a:path>
              <a:path w="1740535" h="106679">
                <a:moveTo>
                  <a:pt x="542798" y="46100"/>
                </a:moveTo>
                <a:lnTo>
                  <a:pt x="539876" y="49021"/>
                </a:lnTo>
                <a:lnTo>
                  <a:pt x="539876" y="56006"/>
                </a:lnTo>
                <a:lnTo>
                  <a:pt x="542671" y="58800"/>
                </a:lnTo>
                <a:lnTo>
                  <a:pt x="546226" y="58927"/>
                </a:lnTo>
                <a:lnTo>
                  <a:pt x="549782" y="58927"/>
                </a:lnTo>
                <a:lnTo>
                  <a:pt x="552576" y="56006"/>
                </a:lnTo>
                <a:lnTo>
                  <a:pt x="552576" y="49021"/>
                </a:lnTo>
                <a:lnTo>
                  <a:pt x="549782" y="46227"/>
                </a:lnTo>
                <a:lnTo>
                  <a:pt x="546226" y="46227"/>
                </a:lnTo>
                <a:lnTo>
                  <a:pt x="542798" y="46100"/>
                </a:lnTo>
                <a:close/>
              </a:path>
              <a:path w="1740535" h="106679">
                <a:moveTo>
                  <a:pt x="575182" y="46227"/>
                </a:moveTo>
                <a:lnTo>
                  <a:pt x="568198" y="46227"/>
                </a:lnTo>
                <a:lnTo>
                  <a:pt x="565276" y="49021"/>
                </a:lnTo>
                <a:lnTo>
                  <a:pt x="565398" y="56133"/>
                </a:lnTo>
                <a:lnTo>
                  <a:pt x="568071" y="58927"/>
                </a:lnTo>
                <a:lnTo>
                  <a:pt x="575182" y="58927"/>
                </a:lnTo>
                <a:lnTo>
                  <a:pt x="577976" y="56133"/>
                </a:lnTo>
                <a:lnTo>
                  <a:pt x="577976" y="49021"/>
                </a:lnTo>
                <a:lnTo>
                  <a:pt x="575182" y="46227"/>
                </a:lnTo>
                <a:close/>
              </a:path>
              <a:path w="1740535" h="106679">
                <a:moveTo>
                  <a:pt x="600582" y="46227"/>
                </a:moveTo>
                <a:lnTo>
                  <a:pt x="593598" y="46227"/>
                </a:lnTo>
                <a:lnTo>
                  <a:pt x="590676" y="49148"/>
                </a:lnTo>
                <a:lnTo>
                  <a:pt x="590676" y="56133"/>
                </a:lnTo>
                <a:lnTo>
                  <a:pt x="593598" y="58927"/>
                </a:lnTo>
                <a:lnTo>
                  <a:pt x="600582" y="58927"/>
                </a:lnTo>
                <a:lnTo>
                  <a:pt x="603376" y="56133"/>
                </a:lnTo>
                <a:lnTo>
                  <a:pt x="603376" y="49148"/>
                </a:lnTo>
                <a:lnTo>
                  <a:pt x="600582" y="46227"/>
                </a:lnTo>
                <a:close/>
              </a:path>
              <a:path w="1740535" h="106679">
                <a:moveTo>
                  <a:pt x="625982" y="46354"/>
                </a:moveTo>
                <a:lnTo>
                  <a:pt x="618998" y="46354"/>
                </a:lnTo>
                <a:lnTo>
                  <a:pt x="616076" y="49148"/>
                </a:lnTo>
                <a:lnTo>
                  <a:pt x="616076" y="56133"/>
                </a:lnTo>
                <a:lnTo>
                  <a:pt x="618998" y="59054"/>
                </a:lnTo>
                <a:lnTo>
                  <a:pt x="625982" y="59054"/>
                </a:lnTo>
                <a:lnTo>
                  <a:pt x="628776" y="56133"/>
                </a:lnTo>
                <a:lnTo>
                  <a:pt x="628776" y="49148"/>
                </a:lnTo>
                <a:lnTo>
                  <a:pt x="625982" y="46354"/>
                </a:lnTo>
                <a:close/>
              </a:path>
              <a:path w="1740535" h="106679">
                <a:moveTo>
                  <a:pt x="651382" y="46354"/>
                </a:moveTo>
                <a:lnTo>
                  <a:pt x="644398" y="46354"/>
                </a:lnTo>
                <a:lnTo>
                  <a:pt x="641476" y="49148"/>
                </a:lnTo>
                <a:lnTo>
                  <a:pt x="641603" y="56260"/>
                </a:lnTo>
                <a:lnTo>
                  <a:pt x="644398" y="59054"/>
                </a:lnTo>
                <a:lnTo>
                  <a:pt x="651382" y="59054"/>
                </a:lnTo>
                <a:lnTo>
                  <a:pt x="654303" y="56260"/>
                </a:lnTo>
                <a:lnTo>
                  <a:pt x="654303" y="49148"/>
                </a:lnTo>
                <a:lnTo>
                  <a:pt x="651382" y="46354"/>
                </a:lnTo>
                <a:close/>
              </a:path>
              <a:path w="1740535" h="106679">
                <a:moveTo>
                  <a:pt x="676782" y="46354"/>
                </a:moveTo>
                <a:lnTo>
                  <a:pt x="669798" y="46354"/>
                </a:lnTo>
                <a:lnTo>
                  <a:pt x="667003" y="49275"/>
                </a:lnTo>
                <a:lnTo>
                  <a:pt x="666876" y="56260"/>
                </a:lnTo>
                <a:lnTo>
                  <a:pt x="669798" y="59054"/>
                </a:lnTo>
                <a:lnTo>
                  <a:pt x="676782" y="59054"/>
                </a:lnTo>
                <a:lnTo>
                  <a:pt x="679703" y="56260"/>
                </a:lnTo>
                <a:lnTo>
                  <a:pt x="679703" y="49275"/>
                </a:lnTo>
                <a:lnTo>
                  <a:pt x="676782" y="46354"/>
                </a:lnTo>
                <a:close/>
              </a:path>
              <a:path w="1740535" h="106679">
                <a:moveTo>
                  <a:pt x="702182" y="46481"/>
                </a:moveTo>
                <a:lnTo>
                  <a:pt x="695198" y="46481"/>
                </a:lnTo>
                <a:lnTo>
                  <a:pt x="692403" y="49275"/>
                </a:lnTo>
                <a:lnTo>
                  <a:pt x="692403" y="56260"/>
                </a:lnTo>
                <a:lnTo>
                  <a:pt x="695198" y="59181"/>
                </a:lnTo>
                <a:lnTo>
                  <a:pt x="702182" y="59181"/>
                </a:lnTo>
                <a:lnTo>
                  <a:pt x="705103" y="56260"/>
                </a:lnTo>
                <a:lnTo>
                  <a:pt x="705103" y="49275"/>
                </a:lnTo>
                <a:lnTo>
                  <a:pt x="702182" y="46481"/>
                </a:lnTo>
                <a:close/>
              </a:path>
              <a:path w="1740535" h="106679">
                <a:moveTo>
                  <a:pt x="727710" y="46481"/>
                </a:moveTo>
                <a:lnTo>
                  <a:pt x="720598" y="46481"/>
                </a:lnTo>
                <a:lnTo>
                  <a:pt x="717803" y="49275"/>
                </a:lnTo>
                <a:lnTo>
                  <a:pt x="717925" y="56387"/>
                </a:lnTo>
                <a:lnTo>
                  <a:pt x="720598" y="59181"/>
                </a:lnTo>
                <a:lnTo>
                  <a:pt x="727582" y="59181"/>
                </a:lnTo>
                <a:lnTo>
                  <a:pt x="730503" y="56387"/>
                </a:lnTo>
                <a:lnTo>
                  <a:pt x="730503" y="49275"/>
                </a:lnTo>
                <a:lnTo>
                  <a:pt x="727710" y="46481"/>
                </a:lnTo>
                <a:close/>
              </a:path>
              <a:path w="1740535" h="106679">
                <a:moveTo>
                  <a:pt x="753110" y="46481"/>
                </a:moveTo>
                <a:lnTo>
                  <a:pt x="745998" y="46481"/>
                </a:lnTo>
                <a:lnTo>
                  <a:pt x="743203" y="49402"/>
                </a:lnTo>
                <a:lnTo>
                  <a:pt x="743203" y="56387"/>
                </a:lnTo>
                <a:lnTo>
                  <a:pt x="745998" y="59181"/>
                </a:lnTo>
                <a:lnTo>
                  <a:pt x="752982" y="59181"/>
                </a:lnTo>
                <a:lnTo>
                  <a:pt x="755903" y="56387"/>
                </a:lnTo>
                <a:lnTo>
                  <a:pt x="755903" y="49402"/>
                </a:lnTo>
                <a:lnTo>
                  <a:pt x="753110" y="46481"/>
                </a:lnTo>
                <a:close/>
              </a:path>
              <a:path w="1740535" h="106679">
                <a:moveTo>
                  <a:pt x="778510" y="46608"/>
                </a:moveTo>
                <a:lnTo>
                  <a:pt x="771398" y="46608"/>
                </a:lnTo>
                <a:lnTo>
                  <a:pt x="768603" y="49402"/>
                </a:lnTo>
                <a:lnTo>
                  <a:pt x="768603" y="56387"/>
                </a:lnTo>
                <a:lnTo>
                  <a:pt x="771398" y="59308"/>
                </a:lnTo>
                <a:lnTo>
                  <a:pt x="778510" y="59308"/>
                </a:lnTo>
                <a:lnTo>
                  <a:pt x="781303" y="56387"/>
                </a:lnTo>
                <a:lnTo>
                  <a:pt x="781303" y="49402"/>
                </a:lnTo>
                <a:lnTo>
                  <a:pt x="778510" y="46608"/>
                </a:lnTo>
                <a:close/>
              </a:path>
              <a:path w="1740535" h="106679">
                <a:moveTo>
                  <a:pt x="803910" y="46608"/>
                </a:moveTo>
                <a:lnTo>
                  <a:pt x="796925" y="46608"/>
                </a:lnTo>
                <a:lnTo>
                  <a:pt x="794003" y="49402"/>
                </a:lnTo>
                <a:lnTo>
                  <a:pt x="794003" y="56514"/>
                </a:lnTo>
                <a:lnTo>
                  <a:pt x="796798" y="59308"/>
                </a:lnTo>
                <a:lnTo>
                  <a:pt x="803910" y="59308"/>
                </a:lnTo>
                <a:lnTo>
                  <a:pt x="806703" y="56514"/>
                </a:lnTo>
                <a:lnTo>
                  <a:pt x="806703" y="49402"/>
                </a:lnTo>
                <a:lnTo>
                  <a:pt x="803910" y="46608"/>
                </a:lnTo>
                <a:close/>
              </a:path>
              <a:path w="1740535" h="106679">
                <a:moveTo>
                  <a:pt x="829310" y="46608"/>
                </a:moveTo>
                <a:lnTo>
                  <a:pt x="822325" y="46608"/>
                </a:lnTo>
                <a:lnTo>
                  <a:pt x="819403" y="49529"/>
                </a:lnTo>
                <a:lnTo>
                  <a:pt x="819403" y="56514"/>
                </a:lnTo>
                <a:lnTo>
                  <a:pt x="822198" y="59308"/>
                </a:lnTo>
                <a:lnTo>
                  <a:pt x="829310" y="59308"/>
                </a:lnTo>
                <a:lnTo>
                  <a:pt x="832103" y="56514"/>
                </a:lnTo>
                <a:lnTo>
                  <a:pt x="832103" y="49529"/>
                </a:lnTo>
                <a:lnTo>
                  <a:pt x="829310" y="46608"/>
                </a:lnTo>
                <a:close/>
              </a:path>
              <a:path w="1740535" h="106679">
                <a:moveTo>
                  <a:pt x="854710" y="46735"/>
                </a:moveTo>
                <a:lnTo>
                  <a:pt x="847725" y="46735"/>
                </a:lnTo>
                <a:lnTo>
                  <a:pt x="844803" y="49529"/>
                </a:lnTo>
                <a:lnTo>
                  <a:pt x="844803" y="56514"/>
                </a:lnTo>
                <a:lnTo>
                  <a:pt x="847725" y="59435"/>
                </a:lnTo>
                <a:lnTo>
                  <a:pt x="854710" y="59435"/>
                </a:lnTo>
                <a:lnTo>
                  <a:pt x="857503" y="56514"/>
                </a:lnTo>
                <a:lnTo>
                  <a:pt x="857503" y="49529"/>
                </a:lnTo>
                <a:lnTo>
                  <a:pt x="854710" y="46735"/>
                </a:lnTo>
                <a:close/>
              </a:path>
              <a:path w="1740535" h="106679">
                <a:moveTo>
                  <a:pt x="880110" y="46735"/>
                </a:moveTo>
                <a:lnTo>
                  <a:pt x="873125" y="46735"/>
                </a:lnTo>
                <a:lnTo>
                  <a:pt x="870203" y="49529"/>
                </a:lnTo>
                <a:lnTo>
                  <a:pt x="870203" y="56641"/>
                </a:lnTo>
                <a:lnTo>
                  <a:pt x="873125" y="59435"/>
                </a:lnTo>
                <a:lnTo>
                  <a:pt x="880110" y="59435"/>
                </a:lnTo>
                <a:lnTo>
                  <a:pt x="882903" y="56641"/>
                </a:lnTo>
                <a:lnTo>
                  <a:pt x="882782" y="49529"/>
                </a:lnTo>
                <a:lnTo>
                  <a:pt x="880110" y="46735"/>
                </a:lnTo>
                <a:close/>
              </a:path>
              <a:path w="1740535" h="106679">
                <a:moveTo>
                  <a:pt x="905510" y="46735"/>
                </a:moveTo>
                <a:lnTo>
                  <a:pt x="898525" y="46735"/>
                </a:lnTo>
                <a:lnTo>
                  <a:pt x="895603" y="49656"/>
                </a:lnTo>
                <a:lnTo>
                  <a:pt x="895603" y="56641"/>
                </a:lnTo>
                <a:lnTo>
                  <a:pt x="898525" y="59435"/>
                </a:lnTo>
                <a:lnTo>
                  <a:pt x="905510" y="59435"/>
                </a:lnTo>
                <a:lnTo>
                  <a:pt x="908303" y="56641"/>
                </a:lnTo>
                <a:lnTo>
                  <a:pt x="908430" y="49656"/>
                </a:lnTo>
                <a:lnTo>
                  <a:pt x="905510" y="46735"/>
                </a:lnTo>
                <a:close/>
              </a:path>
              <a:path w="1740535" h="106679">
                <a:moveTo>
                  <a:pt x="930910" y="46862"/>
                </a:moveTo>
                <a:lnTo>
                  <a:pt x="923925" y="46862"/>
                </a:lnTo>
                <a:lnTo>
                  <a:pt x="921130" y="49656"/>
                </a:lnTo>
                <a:lnTo>
                  <a:pt x="921003" y="56641"/>
                </a:lnTo>
                <a:lnTo>
                  <a:pt x="923925" y="59562"/>
                </a:lnTo>
                <a:lnTo>
                  <a:pt x="930910" y="59562"/>
                </a:lnTo>
                <a:lnTo>
                  <a:pt x="933830" y="56641"/>
                </a:lnTo>
                <a:lnTo>
                  <a:pt x="933830" y="49656"/>
                </a:lnTo>
                <a:lnTo>
                  <a:pt x="930910" y="46862"/>
                </a:lnTo>
                <a:close/>
              </a:path>
              <a:path w="1740535" h="106679">
                <a:moveTo>
                  <a:pt x="956310" y="46862"/>
                </a:moveTo>
                <a:lnTo>
                  <a:pt x="949325" y="46862"/>
                </a:lnTo>
                <a:lnTo>
                  <a:pt x="946530" y="49656"/>
                </a:lnTo>
                <a:lnTo>
                  <a:pt x="946530" y="56768"/>
                </a:lnTo>
                <a:lnTo>
                  <a:pt x="949325" y="59562"/>
                </a:lnTo>
                <a:lnTo>
                  <a:pt x="956310" y="59562"/>
                </a:lnTo>
                <a:lnTo>
                  <a:pt x="959230" y="56768"/>
                </a:lnTo>
                <a:lnTo>
                  <a:pt x="959103" y="49656"/>
                </a:lnTo>
                <a:lnTo>
                  <a:pt x="956310" y="46862"/>
                </a:lnTo>
                <a:close/>
              </a:path>
              <a:path w="1740535" h="106679">
                <a:moveTo>
                  <a:pt x="978280" y="46862"/>
                </a:moveTo>
                <a:lnTo>
                  <a:pt x="974725" y="46862"/>
                </a:lnTo>
                <a:lnTo>
                  <a:pt x="971930" y="49783"/>
                </a:lnTo>
                <a:lnTo>
                  <a:pt x="971930" y="56768"/>
                </a:lnTo>
                <a:lnTo>
                  <a:pt x="974725" y="59562"/>
                </a:lnTo>
                <a:lnTo>
                  <a:pt x="978280" y="59562"/>
                </a:lnTo>
                <a:lnTo>
                  <a:pt x="981710" y="59689"/>
                </a:lnTo>
                <a:lnTo>
                  <a:pt x="984630" y="56768"/>
                </a:lnTo>
                <a:lnTo>
                  <a:pt x="984630" y="49783"/>
                </a:lnTo>
                <a:lnTo>
                  <a:pt x="981837" y="46989"/>
                </a:lnTo>
                <a:lnTo>
                  <a:pt x="978280" y="46862"/>
                </a:lnTo>
                <a:close/>
              </a:path>
              <a:path w="1740535" h="106679">
                <a:moveTo>
                  <a:pt x="1007237" y="46989"/>
                </a:moveTo>
                <a:lnTo>
                  <a:pt x="1000125" y="46989"/>
                </a:lnTo>
                <a:lnTo>
                  <a:pt x="997330" y="49783"/>
                </a:lnTo>
                <a:lnTo>
                  <a:pt x="997452" y="56895"/>
                </a:lnTo>
                <a:lnTo>
                  <a:pt x="1000125" y="59689"/>
                </a:lnTo>
                <a:lnTo>
                  <a:pt x="1007110" y="59689"/>
                </a:lnTo>
                <a:lnTo>
                  <a:pt x="1010030" y="56895"/>
                </a:lnTo>
                <a:lnTo>
                  <a:pt x="1010030" y="49783"/>
                </a:lnTo>
                <a:lnTo>
                  <a:pt x="1007237" y="46989"/>
                </a:lnTo>
                <a:close/>
              </a:path>
              <a:path w="1740535" h="106679">
                <a:moveTo>
                  <a:pt x="1032637" y="46989"/>
                </a:moveTo>
                <a:lnTo>
                  <a:pt x="1025525" y="46989"/>
                </a:lnTo>
                <a:lnTo>
                  <a:pt x="1022730" y="49783"/>
                </a:lnTo>
                <a:lnTo>
                  <a:pt x="1022730" y="56895"/>
                </a:lnTo>
                <a:lnTo>
                  <a:pt x="1025525" y="59689"/>
                </a:lnTo>
                <a:lnTo>
                  <a:pt x="1032637" y="59689"/>
                </a:lnTo>
                <a:lnTo>
                  <a:pt x="1035430" y="56895"/>
                </a:lnTo>
                <a:lnTo>
                  <a:pt x="1035309" y="49783"/>
                </a:lnTo>
                <a:lnTo>
                  <a:pt x="1032637" y="46989"/>
                </a:lnTo>
                <a:close/>
              </a:path>
              <a:path w="1740535" h="106679">
                <a:moveTo>
                  <a:pt x="1051052" y="46989"/>
                </a:moveTo>
                <a:lnTo>
                  <a:pt x="1048130" y="49910"/>
                </a:lnTo>
                <a:lnTo>
                  <a:pt x="1048130" y="56895"/>
                </a:lnTo>
                <a:lnTo>
                  <a:pt x="1050925" y="59689"/>
                </a:lnTo>
                <a:lnTo>
                  <a:pt x="1054480" y="59816"/>
                </a:lnTo>
                <a:lnTo>
                  <a:pt x="1058037" y="59816"/>
                </a:lnTo>
                <a:lnTo>
                  <a:pt x="1060830" y="56895"/>
                </a:lnTo>
                <a:lnTo>
                  <a:pt x="1060830" y="49910"/>
                </a:lnTo>
                <a:lnTo>
                  <a:pt x="1058037" y="47116"/>
                </a:lnTo>
                <a:lnTo>
                  <a:pt x="1054480" y="47116"/>
                </a:lnTo>
                <a:lnTo>
                  <a:pt x="1051052" y="46989"/>
                </a:lnTo>
                <a:close/>
              </a:path>
              <a:path w="1740535" h="106679">
                <a:moveTo>
                  <a:pt x="1083437" y="47116"/>
                </a:moveTo>
                <a:lnTo>
                  <a:pt x="1076452" y="47116"/>
                </a:lnTo>
                <a:lnTo>
                  <a:pt x="1073530" y="49910"/>
                </a:lnTo>
                <a:lnTo>
                  <a:pt x="1073652" y="57022"/>
                </a:lnTo>
                <a:lnTo>
                  <a:pt x="1076325" y="59816"/>
                </a:lnTo>
                <a:lnTo>
                  <a:pt x="1083437" y="59816"/>
                </a:lnTo>
                <a:lnTo>
                  <a:pt x="1086230" y="57022"/>
                </a:lnTo>
                <a:lnTo>
                  <a:pt x="1086230" y="49910"/>
                </a:lnTo>
                <a:lnTo>
                  <a:pt x="1083437" y="47116"/>
                </a:lnTo>
                <a:close/>
              </a:path>
              <a:path w="1740535" h="106679">
                <a:moveTo>
                  <a:pt x="1108837" y="47116"/>
                </a:moveTo>
                <a:lnTo>
                  <a:pt x="1101852" y="47116"/>
                </a:lnTo>
                <a:lnTo>
                  <a:pt x="1098930" y="50037"/>
                </a:lnTo>
                <a:lnTo>
                  <a:pt x="1098930" y="57022"/>
                </a:lnTo>
                <a:lnTo>
                  <a:pt x="1101852" y="59816"/>
                </a:lnTo>
                <a:lnTo>
                  <a:pt x="1108837" y="59816"/>
                </a:lnTo>
                <a:lnTo>
                  <a:pt x="1111630" y="57022"/>
                </a:lnTo>
                <a:lnTo>
                  <a:pt x="1111630" y="50037"/>
                </a:lnTo>
                <a:lnTo>
                  <a:pt x="1108837" y="47116"/>
                </a:lnTo>
                <a:close/>
              </a:path>
              <a:path w="1740535" h="106679">
                <a:moveTo>
                  <a:pt x="1134237" y="47243"/>
                </a:moveTo>
                <a:lnTo>
                  <a:pt x="1127252" y="47243"/>
                </a:lnTo>
                <a:lnTo>
                  <a:pt x="1124330" y="50037"/>
                </a:lnTo>
                <a:lnTo>
                  <a:pt x="1124330" y="57022"/>
                </a:lnTo>
                <a:lnTo>
                  <a:pt x="1127252" y="59943"/>
                </a:lnTo>
                <a:lnTo>
                  <a:pt x="1134237" y="59943"/>
                </a:lnTo>
                <a:lnTo>
                  <a:pt x="1137030" y="57022"/>
                </a:lnTo>
                <a:lnTo>
                  <a:pt x="1137030" y="50037"/>
                </a:lnTo>
                <a:lnTo>
                  <a:pt x="1134237" y="47243"/>
                </a:lnTo>
                <a:close/>
              </a:path>
              <a:path w="1740535" h="106679">
                <a:moveTo>
                  <a:pt x="1159637" y="47243"/>
                </a:moveTo>
                <a:lnTo>
                  <a:pt x="1152652" y="47243"/>
                </a:lnTo>
                <a:lnTo>
                  <a:pt x="1149730" y="50037"/>
                </a:lnTo>
                <a:lnTo>
                  <a:pt x="1149730" y="57022"/>
                </a:lnTo>
                <a:lnTo>
                  <a:pt x="1152652" y="59943"/>
                </a:lnTo>
                <a:lnTo>
                  <a:pt x="1159637" y="59943"/>
                </a:lnTo>
                <a:lnTo>
                  <a:pt x="1162430" y="57150"/>
                </a:lnTo>
                <a:lnTo>
                  <a:pt x="1162557" y="50037"/>
                </a:lnTo>
                <a:lnTo>
                  <a:pt x="1159637" y="47243"/>
                </a:lnTo>
                <a:close/>
              </a:path>
              <a:path w="1740535" h="106679">
                <a:moveTo>
                  <a:pt x="1185037" y="47243"/>
                </a:moveTo>
                <a:lnTo>
                  <a:pt x="1178052" y="47243"/>
                </a:lnTo>
                <a:lnTo>
                  <a:pt x="1175257" y="50164"/>
                </a:lnTo>
                <a:lnTo>
                  <a:pt x="1175130" y="57150"/>
                </a:lnTo>
                <a:lnTo>
                  <a:pt x="1178052" y="59943"/>
                </a:lnTo>
                <a:lnTo>
                  <a:pt x="1185037" y="59943"/>
                </a:lnTo>
                <a:lnTo>
                  <a:pt x="1187957" y="57150"/>
                </a:lnTo>
                <a:lnTo>
                  <a:pt x="1187957" y="50164"/>
                </a:lnTo>
                <a:lnTo>
                  <a:pt x="1185037" y="47243"/>
                </a:lnTo>
                <a:close/>
              </a:path>
              <a:path w="1740535" h="106679">
                <a:moveTo>
                  <a:pt x="1210437" y="47370"/>
                </a:moveTo>
                <a:lnTo>
                  <a:pt x="1203452" y="47370"/>
                </a:lnTo>
                <a:lnTo>
                  <a:pt x="1200657" y="50164"/>
                </a:lnTo>
                <a:lnTo>
                  <a:pt x="1200657" y="57150"/>
                </a:lnTo>
                <a:lnTo>
                  <a:pt x="1203452" y="60070"/>
                </a:lnTo>
                <a:lnTo>
                  <a:pt x="1210437" y="60070"/>
                </a:lnTo>
                <a:lnTo>
                  <a:pt x="1213357" y="57150"/>
                </a:lnTo>
                <a:lnTo>
                  <a:pt x="1213357" y="50164"/>
                </a:lnTo>
                <a:lnTo>
                  <a:pt x="1210437" y="47370"/>
                </a:lnTo>
                <a:close/>
              </a:path>
              <a:path w="1740535" h="106679">
                <a:moveTo>
                  <a:pt x="1235964" y="47370"/>
                </a:moveTo>
                <a:lnTo>
                  <a:pt x="1228852" y="47370"/>
                </a:lnTo>
                <a:lnTo>
                  <a:pt x="1226057" y="50164"/>
                </a:lnTo>
                <a:lnTo>
                  <a:pt x="1226057" y="57276"/>
                </a:lnTo>
                <a:lnTo>
                  <a:pt x="1228852" y="60070"/>
                </a:lnTo>
                <a:lnTo>
                  <a:pt x="1235837" y="60070"/>
                </a:lnTo>
                <a:lnTo>
                  <a:pt x="1238757" y="57276"/>
                </a:lnTo>
                <a:lnTo>
                  <a:pt x="1238757" y="50164"/>
                </a:lnTo>
                <a:lnTo>
                  <a:pt x="1235964" y="47370"/>
                </a:lnTo>
                <a:close/>
              </a:path>
              <a:path w="1740535" h="106679">
                <a:moveTo>
                  <a:pt x="1261364" y="47370"/>
                </a:moveTo>
                <a:lnTo>
                  <a:pt x="1254252" y="47370"/>
                </a:lnTo>
                <a:lnTo>
                  <a:pt x="1251457" y="50291"/>
                </a:lnTo>
                <a:lnTo>
                  <a:pt x="1251457" y="57276"/>
                </a:lnTo>
                <a:lnTo>
                  <a:pt x="1254252" y="60070"/>
                </a:lnTo>
                <a:lnTo>
                  <a:pt x="1261237" y="60070"/>
                </a:lnTo>
                <a:lnTo>
                  <a:pt x="1264157" y="57276"/>
                </a:lnTo>
                <a:lnTo>
                  <a:pt x="1264157" y="50291"/>
                </a:lnTo>
                <a:lnTo>
                  <a:pt x="1261364" y="47370"/>
                </a:lnTo>
                <a:close/>
              </a:path>
              <a:path w="1740535" h="106679">
                <a:moveTo>
                  <a:pt x="1286764" y="47497"/>
                </a:moveTo>
                <a:lnTo>
                  <a:pt x="1279652" y="47497"/>
                </a:lnTo>
                <a:lnTo>
                  <a:pt x="1276857" y="50291"/>
                </a:lnTo>
                <a:lnTo>
                  <a:pt x="1276857" y="57276"/>
                </a:lnTo>
                <a:lnTo>
                  <a:pt x="1279652" y="60197"/>
                </a:lnTo>
                <a:lnTo>
                  <a:pt x="1286764" y="60197"/>
                </a:lnTo>
                <a:lnTo>
                  <a:pt x="1289557" y="57276"/>
                </a:lnTo>
                <a:lnTo>
                  <a:pt x="1289557" y="50291"/>
                </a:lnTo>
                <a:lnTo>
                  <a:pt x="1286764" y="47497"/>
                </a:lnTo>
                <a:close/>
              </a:path>
              <a:path w="1740535" h="106679">
                <a:moveTo>
                  <a:pt x="1312164" y="47497"/>
                </a:moveTo>
                <a:lnTo>
                  <a:pt x="1305178" y="47497"/>
                </a:lnTo>
                <a:lnTo>
                  <a:pt x="1302257" y="50291"/>
                </a:lnTo>
                <a:lnTo>
                  <a:pt x="1302257" y="57403"/>
                </a:lnTo>
                <a:lnTo>
                  <a:pt x="1305052" y="60197"/>
                </a:lnTo>
                <a:lnTo>
                  <a:pt x="1312164" y="60197"/>
                </a:lnTo>
                <a:lnTo>
                  <a:pt x="1314957" y="57403"/>
                </a:lnTo>
                <a:lnTo>
                  <a:pt x="1314836" y="50291"/>
                </a:lnTo>
                <a:lnTo>
                  <a:pt x="1312164" y="47497"/>
                </a:lnTo>
                <a:close/>
              </a:path>
              <a:path w="1740535" h="106679">
                <a:moveTo>
                  <a:pt x="1337564" y="47497"/>
                </a:moveTo>
                <a:lnTo>
                  <a:pt x="1330578" y="47497"/>
                </a:lnTo>
                <a:lnTo>
                  <a:pt x="1327657" y="50418"/>
                </a:lnTo>
                <a:lnTo>
                  <a:pt x="1327657" y="57403"/>
                </a:lnTo>
                <a:lnTo>
                  <a:pt x="1330452" y="60197"/>
                </a:lnTo>
                <a:lnTo>
                  <a:pt x="1337564" y="60197"/>
                </a:lnTo>
                <a:lnTo>
                  <a:pt x="1340357" y="57403"/>
                </a:lnTo>
                <a:lnTo>
                  <a:pt x="1340357" y="50418"/>
                </a:lnTo>
                <a:lnTo>
                  <a:pt x="1337564" y="47497"/>
                </a:lnTo>
                <a:close/>
              </a:path>
              <a:path w="1740535" h="106679">
                <a:moveTo>
                  <a:pt x="1362964" y="47625"/>
                </a:moveTo>
                <a:lnTo>
                  <a:pt x="1355978" y="47625"/>
                </a:lnTo>
                <a:lnTo>
                  <a:pt x="1353057" y="50418"/>
                </a:lnTo>
                <a:lnTo>
                  <a:pt x="1353057" y="57403"/>
                </a:lnTo>
                <a:lnTo>
                  <a:pt x="1355978" y="60325"/>
                </a:lnTo>
                <a:lnTo>
                  <a:pt x="1362964" y="60325"/>
                </a:lnTo>
                <a:lnTo>
                  <a:pt x="1365757" y="57403"/>
                </a:lnTo>
                <a:lnTo>
                  <a:pt x="1365757" y="50418"/>
                </a:lnTo>
                <a:lnTo>
                  <a:pt x="1362964" y="47625"/>
                </a:lnTo>
                <a:close/>
              </a:path>
              <a:path w="1740535" h="106679">
                <a:moveTo>
                  <a:pt x="1388364" y="47625"/>
                </a:moveTo>
                <a:lnTo>
                  <a:pt x="1381378" y="47625"/>
                </a:lnTo>
                <a:lnTo>
                  <a:pt x="1378457" y="50418"/>
                </a:lnTo>
                <a:lnTo>
                  <a:pt x="1378457" y="57530"/>
                </a:lnTo>
                <a:lnTo>
                  <a:pt x="1381378" y="60325"/>
                </a:lnTo>
                <a:lnTo>
                  <a:pt x="1388364" y="60325"/>
                </a:lnTo>
                <a:lnTo>
                  <a:pt x="1391157" y="57530"/>
                </a:lnTo>
                <a:lnTo>
                  <a:pt x="1391036" y="50418"/>
                </a:lnTo>
                <a:lnTo>
                  <a:pt x="1388364" y="47625"/>
                </a:lnTo>
                <a:close/>
              </a:path>
              <a:path w="1740535" h="106679">
                <a:moveTo>
                  <a:pt x="1413764" y="47625"/>
                </a:moveTo>
                <a:lnTo>
                  <a:pt x="1406778" y="47625"/>
                </a:lnTo>
                <a:lnTo>
                  <a:pt x="1403857" y="50545"/>
                </a:lnTo>
                <a:lnTo>
                  <a:pt x="1403857" y="57530"/>
                </a:lnTo>
                <a:lnTo>
                  <a:pt x="1406778" y="60325"/>
                </a:lnTo>
                <a:lnTo>
                  <a:pt x="1413764" y="60325"/>
                </a:lnTo>
                <a:lnTo>
                  <a:pt x="1416557" y="57530"/>
                </a:lnTo>
                <a:lnTo>
                  <a:pt x="1416685" y="54101"/>
                </a:lnTo>
                <a:lnTo>
                  <a:pt x="1416685" y="50545"/>
                </a:lnTo>
                <a:lnTo>
                  <a:pt x="1413764" y="47625"/>
                </a:lnTo>
                <a:close/>
              </a:path>
              <a:path w="1740535" h="106679">
                <a:moveTo>
                  <a:pt x="1439164" y="47751"/>
                </a:moveTo>
                <a:lnTo>
                  <a:pt x="1432178" y="47751"/>
                </a:lnTo>
                <a:lnTo>
                  <a:pt x="1429385" y="50545"/>
                </a:lnTo>
                <a:lnTo>
                  <a:pt x="1429385" y="54101"/>
                </a:lnTo>
                <a:lnTo>
                  <a:pt x="1429257" y="57530"/>
                </a:lnTo>
                <a:lnTo>
                  <a:pt x="1432178" y="60451"/>
                </a:lnTo>
                <a:lnTo>
                  <a:pt x="1439164" y="60451"/>
                </a:lnTo>
                <a:lnTo>
                  <a:pt x="1442085" y="57530"/>
                </a:lnTo>
                <a:lnTo>
                  <a:pt x="1442085" y="50545"/>
                </a:lnTo>
                <a:lnTo>
                  <a:pt x="1439164" y="47751"/>
                </a:lnTo>
                <a:close/>
              </a:path>
              <a:path w="1740535" h="106679">
                <a:moveTo>
                  <a:pt x="1464564" y="47751"/>
                </a:moveTo>
                <a:lnTo>
                  <a:pt x="1457578" y="47751"/>
                </a:lnTo>
                <a:lnTo>
                  <a:pt x="1454785" y="50545"/>
                </a:lnTo>
                <a:lnTo>
                  <a:pt x="1454785" y="57657"/>
                </a:lnTo>
                <a:lnTo>
                  <a:pt x="1457578" y="60451"/>
                </a:lnTo>
                <a:lnTo>
                  <a:pt x="1464564" y="60451"/>
                </a:lnTo>
                <a:lnTo>
                  <a:pt x="1467485" y="57657"/>
                </a:lnTo>
                <a:lnTo>
                  <a:pt x="1467358" y="50545"/>
                </a:lnTo>
                <a:lnTo>
                  <a:pt x="1464564" y="47751"/>
                </a:lnTo>
                <a:close/>
              </a:path>
              <a:path w="1740535" h="106679">
                <a:moveTo>
                  <a:pt x="1486535" y="47751"/>
                </a:moveTo>
                <a:lnTo>
                  <a:pt x="1482978" y="47751"/>
                </a:lnTo>
                <a:lnTo>
                  <a:pt x="1480185" y="50672"/>
                </a:lnTo>
                <a:lnTo>
                  <a:pt x="1480185" y="57657"/>
                </a:lnTo>
                <a:lnTo>
                  <a:pt x="1482978" y="60451"/>
                </a:lnTo>
                <a:lnTo>
                  <a:pt x="1486535" y="60451"/>
                </a:lnTo>
                <a:lnTo>
                  <a:pt x="1489964" y="60578"/>
                </a:lnTo>
                <a:lnTo>
                  <a:pt x="1492885" y="57657"/>
                </a:lnTo>
                <a:lnTo>
                  <a:pt x="1492885" y="50672"/>
                </a:lnTo>
                <a:lnTo>
                  <a:pt x="1490090" y="47878"/>
                </a:lnTo>
                <a:lnTo>
                  <a:pt x="1486535" y="47751"/>
                </a:lnTo>
                <a:close/>
              </a:path>
              <a:path w="1740535" h="106679">
                <a:moveTo>
                  <a:pt x="1515490" y="47878"/>
                </a:moveTo>
                <a:lnTo>
                  <a:pt x="1508378" y="47878"/>
                </a:lnTo>
                <a:lnTo>
                  <a:pt x="1505585" y="50672"/>
                </a:lnTo>
                <a:lnTo>
                  <a:pt x="1505706" y="57784"/>
                </a:lnTo>
                <a:lnTo>
                  <a:pt x="1508378" y="60578"/>
                </a:lnTo>
                <a:lnTo>
                  <a:pt x="1515364" y="60578"/>
                </a:lnTo>
                <a:lnTo>
                  <a:pt x="1518285" y="57784"/>
                </a:lnTo>
                <a:lnTo>
                  <a:pt x="1518285" y="50672"/>
                </a:lnTo>
                <a:lnTo>
                  <a:pt x="1515490" y="47878"/>
                </a:lnTo>
                <a:close/>
              </a:path>
              <a:path w="1740535" h="106679">
                <a:moveTo>
                  <a:pt x="1540890" y="47878"/>
                </a:moveTo>
                <a:lnTo>
                  <a:pt x="1533778" y="47878"/>
                </a:lnTo>
                <a:lnTo>
                  <a:pt x="1530985" y="50672"/>
                </a:lnTo>
                <a:lnTo>
                  <a:pt x="1530985" y="57784"/>
                </a:lnTo>
                <a:lnTo>
                  <a:pt x="1533778" y="60578"/>
                </a:lnTo>
                <a:lnTo>
                  <a:pt x="1540890" y="60578"/>
                </a:lnTo>
                <a:lnTo>
                  <a:pt x="1543685" y="57784"/>
                </a:lnTo>
                <a:lnTo>
                  <a:pt x="1543563" y="50672"/>
                </a:lnTo>
                <a:lnTo>
                  <a:pt x="1540890" y="47878"/>
                </a:lnTo>
                <a:close/>
              </a:path>
              <a:path w="1740535" h="106679">
                <a:moveTo>
                  <a:pt x="1559305" y="47878"/>
                </a:moveTo>
                <a:lnTo>
                  <a:pt x="1556385" y="50800"/>
                </a:lnTo>
                <a:lnTo>
                  <a:pt x="1556385" y="57784"/>
                </a:lnTo>
                <a:lnTo>
                  <a:pt x="1559178" y="60578"/>
                </a:lnTo>
                <a:lnTo>
                  <a:pt x="1562735" y="60705"/>
                </a:lnTo>
                <a:lnTo>
                  <a:pt x="1566290" y="60705"/>
                </a:lnTo>
                <a:lnTo>
                  <a:pt x="1569085" y="57784"/>
                </a:lnTo>
                <a:lnTo>
                  <a:pt x="1569085" y="50800"/>
                </a:lnTo>
                <a:lnTo>
                  <a:pt x="1566290" y="48005"/>
                </a:lnTo>
                <a:lnTo>
                  <a:pt x="1562735" y="48005"/>
                </a:lnTo>
                <a:lnTo>
                  <a:pt x="1559305" y="47878"/>
                </a:lnTo>
                <a:close/>
              </a:path>
              <a:path w="1740535" h="106679">
                <a:moveTo>
                  <a:pt x="1591690" y="48005"/>
                </a:moveTo>
                <a:lnTo>
                  <a:pt x="1584705" y="48005"/>
                </a:lnTo>
                <a:lnTo>
                  <a:pt x="1581785" y="50800"/>
                </a:lnTo>
                <a:lnTo>
                  <a:pt x="1581906" y="57911"/>
                </a:lnTo>
                <a:lnTo>
                  <a:pt x="1584578" y="60705"/>
                </a:lnTo>
                <a:lnTo>
                  <a:pt x="1591690" y="60705"/>
                </a:lnTo>
                <a:lnTo>
                  <a:pt x="1594485" y="57911"/>
                </a:lnTo>
                <a:lnTo>
                  <a:pt x="1594485" y="50800"/>
                </a:lnTo>
                <a:lnTo>
                  <a:pt x="1591690" y="48005"/>
                </a:lnTo>
                <a:close/>
              </a:path>
              <a:path w="1740535" h="106679">
                <a:moveTo>
                  <a:pt x="1617090" y="48005"/>
                </a:moveTo>
                <a:lnTo>
                  <a:pt x="1610105" y="48005"/>
                </a:lnTo>
                <a:lnTo>
                  <a:pt x="1607185" y="50926"/>
                </a:lnTo>
                <a:lnTo>
                  <a:pt x="1607185" y="57911"/>
                </a:lnTo>
                <a:lnTo>
                  <a:pt x="1610105" y="60705"/>
                </a:lnTo>
                <a:lnTo>
                  <a:pt x="1617090" y="60705"/>
                </a:lnTo>
                <a:lnTo>
                  <a:pt x="1619885" y="57911"/>
                </a:lnTo>
                <a:lnTo>
                  <a:pt x="1619885" y="50926"/>
                </a:lnTo>
                <a:lnTo>
                  <a:pt x="1617090" y="48005"/>
                </a:lnTo>
                <a:close/>
              </a:path>
              <a:path w="1740535" h="106679">
                <a:moveTo>
                  <a:pt x="1709068" y="58202"/>
                </a:moveTo>
                <a:lnTo>
                  <a:pt x="1648332" y="93471"/>
                </a:lnTo>
                <a:lnTo>
                  <a:pt x="1645285" y="95122"/>
                </a:lnTo>
                <a:lnTo>
                  <a:pt x="1644268" y="99059"/>
                </a:lnTo>
                <a:lnTo>
                  <a:pt x="1647825" y="105155"/>
                </a:lnTo>
                <a:lnTo>
                  <a:pt x="1651762" y="106171"/>
                </a:lnTo>
                <a:lnTo>
                  <a:pt x="1654682" y="104393"/>
                </a:lnTo>
                <a:lnTo>
                  <a:pt x="1729473" y="60959"/>
                </a:lnTo>
                <a:lnTo>
                  <a:pt x="1711705" y="60959"/>
                </a:lnTo>
                <a:lnTo>
                  <a:pt x="1709068" y="58202"/>
                </a:lnTo>
                <a:close/>
              </a:path>
              <a:path w="1740535" h="106679">
                <a:moveTo>
                  <a:pt x="1715290" y="54589"/>
                </a:moveTo>
                <a:lnTo>
                  <a:pt x="1709068" y="58202"/>
                </a:lnTo>
                <a:lnTo>
                  <a:pt x="1711705" y="60959"/>
                </a:lnTo>
                <a:lnTo>
                  <a:pt x="1718690" y="60959"/>
                </a:lnTo>
                <a:lnTo>
                  <a:pt x="1721454" y="58196"/>
                </a:lnTo>
                <a:lnTo>
                  <a:pt x="1715290" y="54589"/>
                </a:lnTo>
                <a:close/>
              </a:path>
              <a:path w="1740535" h="106679">
                <a:moveTo>
                  <a:pt x="1721454" y="58196"/>
                </a:moveTo>
                <a:lnTo>
                  <a:pt x="1718690" y="60959"/>
                </a:lnTo>
                <a:lnTo>
                  <a:pt x="1729473" y="60959"/>
                </a:lnTo>
                <a:lnTo>
                  <a:pt x="1731004" y="60070"/>
                </a:lnTo>
                <a:lnTo>
                  <a:pt x="1724660" y="60070"/>
                </a:lnTo>
                <a:lnTo>
                  <a:pt x="1721454" y="58196"/>
                </a:lnTo>
                <a:close/>
              </a:path>
              <a:path w="1740535" h="106679">
                <a:moveTo>
                  <a:pt x="1642490" y="48132"/>
                </a:moveTo>
                <a:lnTo>
                  <a:pt x="1635505" y="48132"/>
                </a:lnTo>
                <a:lnTo>
                  <a:pt x="1632585" y="50926"/>
                </a:lnTo>
                <a:lnTo>
                  <a:pt x="1632712" y="58038"/>
                </a:lnTo>
                <a:lnTo>
                  <a:pt x="1635505" y="60832"/>
                </a:lnTo>
                <a:lnTo>
                  <a:pt x="1642490" y="60832"/>
                </a:lnTo>
                <a:lnTo>
                  <a:pt x="1645163" y="58038"/>
                </a:lnTo>
                <a:lnTo>
                  <a:pt x="1645285" y="50926"/>
                </a:lnTo>
                <a:lnTo>
                  <a:pt x="1642490" y="48132"/>
                </a:lnTo>
                <a:close/>
              </a:path>
              <a:path w="1740535" h="106679">
                <a:moveTo>
                  <a:pt x="1667890" y="48132"/>
                </a:moveTo>
                <a:lnTo>
                  <a:pt x="1660905" y="48132"/>
                </a:lnTo>
                <a:lnTo>
                  <a:pt x="1657985" y="50926"/>
                </a:lnTo>
                <a:lnTo>
                  <a:pt x="1658112" y="58038"/>
                </a:lnTo>
                <a:lnTo>
                  <a:pt x="1660905" y="60832"/>
                </a:lnTo>
                <a:lnTo>
                  <a:pt x="1667890" y="60832"/>
                </a:lnTo>
                <a:lnTo>
                  <a:pt x="1670685" y="58038"/>
                </a:lnTo>
                <a:lnTo>
                  <a:pt x="1670812" y="50926"/>
                </a:lnTo>
                <a:lnTo>
                  <a:pt x="1667890" y="48132"/>
                </a:lnTo>
                <a:close/>
              </a:path>
              <a:path w="1740535" h="106679">
                <a:moveTo>
                  <a:pt x="1693290" y="48132"/>
                </a:moveTo>
                <a:lnTo>
                  <a:pt x="1686305" y="48132"/>
                </a:lnTo>
                <a:lnTo>
                  <a:pt x="1683633" y="50926"/>
                </a:lnTo>
                <a:lnTo>
                  <a:pt x="1683512" y="58038"/>
                </a:lnTo>
                <a:lnTo>
                  <a:pt x="1686305" y="60832"/>
                </a:lnTo>
                <a:lnTo>
                  <a:pt x="1693290" y="60832"/>
                </a:lnTo>
                <a:lnTo>
                  <a:pt x="1696212" y="58038"/>
                </a:lnTo>
                <a:lnTo>
                  <a:pt x="1696085" y="50926"/>
                </a:lnTo>
                <a:lnTo>
                  <a:pt x="1693290" y="48132"/>
                </a:lnTo>
                <a:close/>
              </a:path>
              <a:path w="1740535" h="106679">
                <a:moveTo>
                  <a:pt x="1724660" y="49148"/>
                </a:moveTo>
                <a:lnTo>
                  <a:pt x="1721598" y="50926"/>
                </a:lnTo>
                <a:lnTo>
                  <a:pt x="1721612" y="58038"/>
                </a:lnTo>
                <a:lnTo>
                  <a:pt x="1721454" y="58196"/>
                </a:lnTo>
                <a:lnTo>
                  <a:pt x="1724660" y="60070"/>
                </a:lnTo>
                <a:lnTo>
                  <a:pt x="1724660" y="49148"/>
                </a:lnTo>
                <a:close/>
              </a:path>
              <a:path w="1740535" h="106679">
                <a:moveTo>
                  <a:pt x="1731079" y="49148"/>
                </a:moveTo>
                <a:lnTo>
                  <a:pt x="1724660" y="49148"/>
                </a:lnTo>
                <a:lnTo>
                  <a:pt x="1724660" y="60070"/>
                </a:lnTo>
                <a:lnTo>
                  <a:pt x="1731004" y="60070"/>
                </a:lnTo>
                <a:lnTo>
                  <a:pt x="1740407" y="54609"/>
                </a:lnTo>
                <a:lnTo>
                  <a:pt x="1731079" y="49148"/>
                </a:lnTo>
                <a:close/>
              </a:path>
              <a:path w="1740535" h="106679">
                <a:moveTo>
                  <a:pt x="1709035" y="50930"/>
                </a:moveTo>
                <a:lnTo>
                  <a:pt x="1708912" y="58038"/>
                </a:lnTo>
                <a:lnTo>
                  <a:pt x="1709068" y="58202"/>
                </a:lnTo>
                <a:lnTo>
                  <a:pt x="1715290" y="54589"/>
                </a:lnTo>
                <a:lnTo>
                  <a:pt x="1709035" y="50930"/>
                </a:lnTo>
                <a:close/>
              </a:path>
              <a:path w="1740535" h="106679">
                <a:moveTo>
                  <a:pt x="1721524" y="50969"/>
                </a:moveTo>
                <a:lnTo>
                  <a:pt x="1715290" y="54589"/>
                </a:lnTo>
                <a:lnTo>
                  <a:pt x="1721454" y="58196"/>
                </a:lnTo>
                <a:lnTo>
                  <a:pt x="1721612" y="58038"/>
                </a:lnTo>
                <a:lnTo>
                  <a:pt x="1721524" y="50969"/>
                </a:lnTo>
                <a:close/>
              </a:path>
              <a:path w="1740535" h="106679">
                <a:moveTo>
                  <a:pt x="1718690" y="48259"/>
                </a:moveTo>
                <a:lnTo>
                  <a:pt x="1711705" y="48259"/>
                </a:lnTo>
                <a:lnTo>
                  <a:pt x="1709038" y="50926"/>
                </a:lnTo>
                <a:lnTo>
                  <a:pt x="1715290" y="54589"/>
                </a:lnTo>
                <a:lnTo>
                  <a:pt x="1721524" y="50969"/>
                </a:lnTo>
                <a:lnTo>
                  <a:pt x="1718690" y="48259"/>
                </a:lnTo>
                <a:close/>
              </a:path>
              <a:path w="1740535" h="106679">
                <a:moveTo>
                  <a:pt x="1729561" y="48259"/>
                </a:moveTo>
                <a:lnTo>
                  <a:pt x="1718690" y="48259"/>
                </a:lnTo>
                <a:lnTo>
                  <a:pt x="1721524" y="50969"/>
                </a:lnTo>
                <a:lnTo>
                  <a:pt x="1724660" y="49148"/>
                </a:lnTo>
                <a:lnTo>
                  <a:pt x="1731079" y="49148"/>
                </a:lnTo>
                <a:lnTo>
                  <a:pt x="1729561" y="48259"/>
                </a:lnTo>
                <a:close/>
              </a:path>
              <a:path w="1740535" h="106679">
                <a:moveTo>
                  <a:pt x="1651889" y="2793"/>
                </a:moveTo>
                <a:lnTo>
                  <a:pt x="1647952" y="3809"/>
                </a:lnTo>
                <a:lnTo>
                  <a:pt x="1646174" y="6730"/>
                </a:lnTo>
                <a:lnTo>
                  <a:pt x="1644523" y="9778"/>
                </a:lnTo>
                <a:lnTo>
                  <a:pt x="1645539" y="13715"/>
                </a:lnTo>
                <a:lnTo>
                  <a:pt x="1648460" y="15493"/>
                </a:lnTo>
                <a:lnTo>
                  <a:pt x="1709038" y="50926"/>
                </a:lnTo>
                <a:lnTo>
                  <a:pt x="1711705" y="48259"/>
                </a:lnTo>
                <a:lnTo>
                  <a:pt x="1729561" y="48259"/>
                </a:lnTo>
                <a:lnTo>
                  <a:pt x="1651889" y="27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99276" y="5382767"/>
            <a:ext cx="155448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913045" y="2872239"/>
            <a:ext cx="2574174" cy="325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782" y="120218"/>
            <a:ext cx="32397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Photo</a:t>
            </a:r>
            <a:r>
              <a:rPr spc="-50" dirty="0"/>
              <a:t> </a:t>
            </a:r>
            <a:r>
              <a:rPr spc="-5" dirty="0"/>
              <a:t>Ionisation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68" y="763650"/>
            <a:ext cx="11117580" cy="94551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41300" marR="5080" indent="-228600">
              <a:lnSpc>
                <a:spcPts val="1920"/>
              </a:lnSpc>
              <a:spcBef>
                <a:spcPts val="5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This </a:t>
            </a:r>
            <a:r>
              <a:rPr sz="2000" spc="-5" dirty="0">
                <a:latin typeface="Times New Roman"/>
                <a:cs typeface="Times New Roman"/>
              </a:rPr>
              <a:t>involves interaction </a:t>
            </a:r>
            <a:r>
              <a:rPr sz="2000" dirty="0">
                <a:latin typeface="Times New Roman"/>
                <a:cs typeface="Times New Roman"/>
              </a:rPr>
              <a:t>of radiation </a:t>
            </a:r>
            <a:r>
              <a:rPr sz="2000" spc="-15" dirty="0">
                <a:latin typeface="Times New Roman"/>
                <a:cs typeface="Times New Roman"/>
              </a:rPr>
              <a:t>with </a:t>
            </a:r>
            <a:r>
              <a:rPr sz="2000" spc="-25" dirty="0">
                <a:latin typeface="Times New Roman"/>
                <a:cs typeface="Times New Roman"/>
              </a:rPr>
              <a:t>matter. </a:t>
            </a:r>
            <a:r>
              <a:rPr sz="2000" spc="-5" dirty="0">
                <a:latin typeface="Times New Roman"/>
                <a:cs typeface="Times New Roman"/>
              </a:rPr>
              <a:t>Photo Ionisation process </a:t>
            </a:r>
            <a:r>
              <a:rPr sz="2000" spc="-10" dirty="0">
                <a:latin typeface="Times New Roman"/>
                <a:cs typeface="Times New Roman"/>
              </a:rPr>
              <a:t>takes </a:t>
            </a:r>
            <a:r>
              <a:rPr sz="2000" spc="-5" dirty="0">
                <a:latin typeface="Times New Roman"/>
                <a:cs typeface="Times New Roman"/>
              </a:rPr>
              <a:t>place </a:t>
            </a:r>
            <a:r>
              <a:rPr sz="2000" spc="-10" dirty="0">
                <a:latin typeface="Times New Roman"/>
                <a:cs typeface="Times New Roman"/>
              </a:rPr>
              <a:t>when the </a:t>
            </a:r>
            <a:r>
              <a:rPr sz="2000" spc="-5" dirty="0">
                <a:latin typeface="Times New Roman"/>
                <a:cs typeface="Times New Roman"/>
              </a:rPr>
              <a:t>amount </a:t>
            </a:r>
            <a:r>
              <a:rPr sz="2000" spc="5" dirty="0">
                <a:latin typeface="Times New Roman"/>
                <a:cs typeface="Times New Roman"/>
              </a:rPr>
              <a:t>of  </a:t>
            </a:r>
            <a:r>
              <a:rPr sz="2000" spc="-5" dirty="0">
                <a:latin typeface="Times New Roman"/>
                <a:cs typeface="Times New Roman"/>
              </a:rPr>
              <a:t>radiation </a:t>
            </a:r>
            <a:r>
              <a:rPr sz="2000" spc="-15" dirty="0">
                <a:latin typeface="Times New Roman"/>
                <a:cs typeface="Times New Roman"/>
              </a:rPr>
              <a:t>energy </a:t>
            </a:r>
            <a:r>
              <a:rPr sz="2000" spc="-5" dirty="0">
                <a:latin typeface="Times New Roman"/>
                <a:cs typeface="Times New Roman"/>
              </a:rPr>
              <a:t>absorbed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5" dirty="0">
                <a:latin typeface="Times New Roman"/>
                <a:cs typeface="Times New Roman"/>
              </a:rPr>
              <a:t>atom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10" dirty="0">
                <a:latin typeface="Times New Roman"/>
                <a:cs typeface="Times New Roman"/>
              </a:rPr>
              <a:t>molecule is </a:t>
            </a:r>
            <a:r>
              <a:rPr sz="2000" spc="-15" dirty="0">
                <a:latin typeface="Times New Roman"/>
                <a:cs typeface="Times New Roman"/>
              </a:rPr>
              <a:t>more </a:t>
            </a:r>
            <a:r>
              <a:rPr sz="2000" spc="-10" dirty="0">
                <a:latin typeface="Times New Roman"/>
                <a:cs typeface="Times New Roman"/>
              </a:rPr>
              <a:t>than </a:t>
            </a:r>
            <a:r>
              <a:rPr sz="2000" spc="-5" dirty="0">
                <a:latin typeface="Times New Roman"/>
                <a:cs typeface="Times New Roman"/>
              </a:rPr>
              <a:t>Ionisation potential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that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molecule.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There are </a:t>
            </a:r>
            <a:r>
              <a:rPr sz="2000" spc="-5" dirty="0">
                <a:latin typeface="Times New Roman"/>
                <a:cs typeface="Times New Roman"/>
              </a:rPr>
              <a:t>several processes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20" dirty="0">
                <a:latin typeface="Times New Roman"/>
                <a:cs typeface="Times New Roman"/>
              </a:rPr>
              <a:t>which </a:t>
            </a:r>
            <a:r>
              <a:rPr sz="2000" spc="-5" dirty="0">
                <a:latin typeface="Times New Roman"/>
                <a:cs typeface="Times New Roman"/>
              </a:rPr>
              <a:t>radiation 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absorbed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10" dirty="0">
                <a:latin typeface="Times New Roman"/>
                <a:cs typeface="Times New Roman"/>
              </a:rPr>
              <a:t>atoms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10" dirty="0">
                <a:latin typeface="Times New Roman"/>
                <a:cs typeface="Times New Roman"/>
              </a:rPr>
              <a:t>molecules. </a:t>
            </a:r>
            <a:r>
              <a:rPr sz="2000" spc="-5" dirty="0">
                <a:latin typeface="Times New Roman"/>
                <a:cs typeface="Times New Roman"/>
              </a:rPr>
              <a:t>They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1868" y="1685848"/>
            <a:ext cx="11120120" cy="16236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33400" indent="-521334">
              <a:lnSpc>
                <a:spcPct val="100000"/>
              </a:lnSpc>
              <a:spcBef>
                <a:spcPts val="605"/>
              </a:spcBef>
              <a:buAutoNum type="alphaLcParenR"/>
              <a:tabLst>
                <a:tab pos="533400" algn="l"/>
                <a:tab pos="534035" algn="l"/>
              </a:tabLst>
            </a:pPr>
            <a:r>
              <a:rPr sz="2000" spc="-5" dirty="0">
                <a:latin typeface="Times New Roman"/>
                <a:cs typeface="Times New Roman"/>
              </a:rPr>
              <a:t>Excitation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atom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higher </a:t>
            </a:r>
            <a:r>
              <a:rPr sz="2000" spc="-15" dirty="0">
                <a:latin typeface="Times New Roman"/>
                <a:cs typeface="Times New Roman"/>
              </a:rPr>
              <a:t>energy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state.</a:t>
            </a:r>
            <a:endParaRPr sz="200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1920"/>
              </a:lnSpc>
              <a:spcBef>
                <a:spcPts val="975"/>
              </a:spcBef>
              <a:buFont typeface="Times New Roman"/>
              <a:buAutoNum type="alphaLcParenR"/>
              <a:tabLst>
                <a:tab pos="533400" algn="l"/>
                <a:tab pos="534035" algn="l"/>
              </a:tabLst>
            </a:pPr>
            <a:r>
              <a:rPr dirty="0"/>
              <a:t>	</a:t>
            </a:r>
            <a:r>
              <a:rPr sz="2000" spc="-5" dirty="0">
                <a:latin typeface="Times New Roman"/>
                <a:cs typeface="Times New Roman"/>
              </a:rPr>
              <a:t>Continuous </a:t>
            </a:r>
            <a:r>
              <a:rPr sz="2000" dirty="0">
                <a:latin typeface="Times New Roman"/>
                <a:cs typeface="Times New Roman"/>
              </a:rPr>
              <a:t>absorption by direct </a:t>
            </a:r>
            <a:r>
              <a:rPr sz="2000" spc="-5" dirty="0">
                <a:latin typeface="Times New Roman"/>
                <a:cs typeface="Times New Roman"/>
              </a:rPr>
              <a:t>excitation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5" dirty="0">
                <a:latin typeface="Times New Roman"/>
                <a:cs typeface="Times New Roman"/>
              </a:rPr>
              <a:t>atom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dissociation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diatomic </a:t>
            </a:r>
            <a:r>
              <a:rPr sz="2000" spc="-5" dirty="0">
                <a:latin typeface="Times New Roman"/>
                <a:cs typeface="Times New Roman"/>
              </a:rPr>
              <a:t>molecule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direct  ionization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241300" marR="8255" indent="-228600">
              <a:lnSpc>
                <a:spcPts val="1920"/>
              </a:lnSpc>
              <a:spcBef>
                <a:spcPts val="1010"/>
              </a:spcBef>
              <a:buFont typeface="Arial"/>
              <a:buChar char="•"/>
              <a:tabLst>
                <a:tab pos="292735" algn="l"/>
                <a:tab pos="293370" algn="l"/>
              </a:tabLst>
            </a:pPr>
            <a:r>
              <a:rPr dirty="0"/>
              <a:t>	</a:t>
            </a:r>
            <a:r>
              <a:rPr sz="2000" spc="-20" dirty="0">
                <a:latin typeface="Times New Roman"/>
                <a:cs typeface="Times New Roman"/>
              </a:rPr>
              <a:t>An </a:t>
            </a:r>
            <a:r>
              <a:rPr sz="2000" spc="-5" dirty="0">
                <a:latin typeface="Times New Roman"/>
                <a:cs typeface="Times New Roman"/>
              </a:rPr>
              <a:t>excited atom emits radiation </a:t>
            </a:r>
            <a:r>
              <a:rPr sz="2000" spc="-10" dirty="0">
                <a:latin typeface="Times New Roman"/>
                <a:cs typeface="Times New Roman"/>
              </a:rPr>
              <a:t>when </a:t>
            </a:r>
            <a:r>
              <a:rPr sz="2000" spc="-5" dirty="0">
                <a:latin typeface="Times New Roman"/>
                <a:cs typeface="Times New Roman"/>
              </a:rPr>
              <a:t>electron </a:t>
            </a:r>
            <a:r>
              <a:rPr sz="2000" spc="-10" dirty="0">
                <a:latin typeface="Times New Roman"/>
                <a:cs typeface="Times New Roman"/>
              </a:rPr>
              <a:t>returns to lower </a:t>
            </a:r>
            <a:r>
              <a:rPr sz="2000" spc="-5" dirty="0">
                <a:latin typeface="Times New Roman"/>
                <a:cs typeface="Times New Roman"/>
              </a:rPr>
              <a:t>state, </a:t>
            </a:r>
            <a:r>
              <a:rPr sz="2000" spc="-10" dirty="0">
                <a:latin typeface="Times New Roman"/>
                <a:cs typeface="Times New Roman"/>
              </a:rPr>
              <a:t>when </a:t>
            </a:r>
            <a:r>
              <a:rPr sz="2000" spc="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atom absorbs </a:t>
            </a:r>
            <a:r>
              <a:rPr sz="2000" spc="-5" dirty="0">
                <a:latin typeface="Times New Roman"/>
                <a:cs typeface="Times New Roman"/>
              </a:rPr>
              <a:t>radiation </a:t>
            </a:r>
            <a:r>
              <a:rPr sz="2000" spc="-10" dirty="0">
                <a:latin typeface="Times New Roman"/>
                <a:cs typeface="Times New Roman"/>
              </a:rPr>
              <a:t>the  </a:t>
            </a:r>
            <a:r>
              <a:rPr sz="2000" spc="-5" dirty="0">
                <a:latin typeface="Times New Roman"/>
                <a:cs typeface="Times New Roman"/>
              </a:rPr>
              <a:t>reverse process take place </a:t>
            </a:r>
            <a:r>
              <a:rPr sz="2000" spc="-10" dirty="0">
                <a:latin typeface="Times New Roman"/>
                <a:cs typeface="Times New Roman"/>
              </a:rPr>
              <a:t>this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expressed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7877" y="3103497"/>
            <a:ext cx="1009650" cy="947419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330"/>
              </a:spcBef>
            </a:pPr>
            <a:r>
              <a:rPr sz="3000" spc="-15" baseline="-19444" dirty="0">
                <a:latin typeface="Cambria Math"/>
                <a:cs typeface="Cambria Math"/>
              </a:rPr>
              <a:t>𝐴</a:t>
            </a:r>
            <a:r>
              <a:rPr sz="1450" spc="-10" dirty="0">
                <a:latin typeface="Cambria Math"/>
                <a:cs typeface="Cambria Math"/>
              </a:rPr>
              <a:t>∗</a:t>
            </a:r>
            <a:endParaRPr sz="14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225"/>
              </a:spcBef>
            </a:pPr>
            <a:r>
              <a:rPr sz="2000" spc="-5" dirty="0">
                <a:latin typeface="Times New Roman"/>
                <a:cs typeface="Times New Roman"/>
              </a:rPr>
              <a:t>≤ </a:t>
            </a:r>
            <a:r>
              <a:rPr sz="2000" spc="-10" dirty="0">
                <a:latin typeface="Times New Roman"/>
                <a:cs typeface="Times New Roman"/>
              </a:rPr>
              <a:t>C.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h/Vi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1868" y="3286488"/>
            <a:ext cx="10219055" cy="113665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491105">
              <a:lnSpc>
                <a:spcPct val="100000"/>
              </a:lnSpc>
              <a:spcBef>
                <a:spcPts val="610"/>
              </a:spcBef>
            </a:pPr>
            <a:r>
              <a:rPr sz="2000" spc="-15" dirty="0">
                <a:latin typeface="Times New Roman"/>
                <a:cs typeface="Times New Roman"/>
              </a:rPr>
              <a:t>hV </a:t>
            </a:r>
            <a:r>
              <a:rPr sz="2000" spc="-5" dirty="0">
                <a:latin typeface="Times New Roman"/>
                <a:cs typeface="Times New Roman"/>
              </a:rPr>
              <a:t>+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304800" indent="-2927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04800" algn="l"/>
                <a:tab pos="305435" algn="l"/>
                <a:tab pos="3865879" algn="l"/>
              </a:tabLst>
            </a:pPr>
            <a:r>
              <a:rPr sz="2000" spc="-5" dirty="0">
                <a:latin typeface="Times New Roman"/>
                <a:cs typeface="Times New Roman"/>
              </a:rPr>
              <a:t>Ionisation occurs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when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…………	</a:t>
            </a:r>
            <a:r>
              <a:rPr sz="2000" i="1" spc="-5" dirty="0">
                <a:latin typeface="Calibri"/>
                <a:cs typeface="Calibri"/>
              </a:rPr>
              <a:t>λ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99085" algn="l"/>
                <a:tab pos="299720" algn="l"/>
                <a:tab pos="3496945" algn="l"/>
                <a:tab pos="6557645" algn="l"/>
              </a:tabLst>
            </a:pPr>
            <a:r>
              <a:rPr sz="2000" spc="-5" dirty="0">
                <a:latin typeface="Times New Roman"/>
                <a:cs typeface="Times New Roman"/>
              </a:rPr>
              <a:t>Where </a:t>
            </a:r>
            <a:r>
              <a:rPr sz="2000" spc="-20" dirty="0">
                <a:latin typeface="Times New Roman"/>
                <a:cs typeface="Times New Roman"/>
              </a:rPr>
              <a:t>h------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planks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constant,	</a:t>
            </a:r>
            <a:r>
              <a:rPr sz="2000" spc="-20" dirty="0">
                <a:latin typeface="Times New Roman"/>
                <a:cs typeface="Times New Roman"/>
              </a:rPr>
              <a:t>c----- </a:t>
            </a:r>
            <a:r>
              <a:rPr sz="2000" spc="-30" dirty="0">
                <a:latin typeface="Times New Roman"/>
                <a:cs typeface="Times New Roman"/>
              </a:rPr>
              <a:t>Velocity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light,	</a:t>
            </a:r>
            <a:r>
              <a:rPr sz="2000" spc="-65" dirty="0">
                <a:latin typeface="Times New Roman"/>
                <a:cs typeface="Times New Roman"/>
              </a:rPr>
              <a:t>Vi </a:t>
            </a:r>
            <a:r>
              <a:rPr sz="2000" spc="-25" dirty="0">
                <a:latin typeface="Times New Roman"/>
                <a:cs typeface="Times New Roman"/>
              </a:rPr>
              <a:t>-------- </a:t>
            </a:r>
            <a:r>
              <a:rPr sz="2000" spc="-5" dirty="0">
                <a:latin typeface="Times New Roman"/>
                <a:cs typeface="Times New Roman"/>
              </a:rPr>
              <a:t>ionization </a:t>
            </a:r>
            <a:r>
              <a:rPr sz="2000" spc="-15" dirty="0">
                <a:latin typeface="Times New Roman"/>
                <a:cs typeface="Times New Roman"/>
              </a:rPr>
              <a:t>energy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atom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468" y="4393543"/>
            <a:ext cx="9959975" cy="11423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000" i="1" spc="-15" dirty="0">
                <a:latin typeface="Calibri"/>
                <a:cs typeface="Calibri"/>
              </a:rPr>
              <a:t>λ</a:t>
            </a:r>
            <a:r>
              <a:rPr sz="2000" spc="-15" dirty="0">
                <a:latin typeface="Cambria Math"/>
                <a:cs typeface="Cambria Math"/>
              </a:rPr>
              <a:t>≤ </a:t>
            </a:r>
            <a:r>
              <a:rPr sz="2000" spc="-10" dirty="0">
                <a:latin typeface="Cambria Math"/>
                <a:cs typeface="Cambria Math"/>
              </a:rPr>
              <a:t>(1.27/𝑉</a:t>
            </a:r>
            <a:r>
              <a:rPr sz="2175" spc="-15" baseline="-15325" dirty="0">
                <a:latin typeface="Cambria Math"/>
                <a:cs typeface="Cambria Math"/>
              </a:rPr>
              <a:t>𝑖</a:t>
            </a:r>
            <a:r>
              <a:rPr sz="2000" spc="-1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*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mbria Math"/>
                <a:cs typeface="Cambria Math"/>
              </a:rPr>
              <a:t>10</a:t>
            </a:r>
            <a:r>
              <a:rPr sz="2175" spc="7" baseline="26819" dirty="0">
                <a:latin typeface="Cambria Math"/>
                <a:cs typeface="Cambria Math"/>
              </a:rPr>
              <a:t>−6</a:t>
            </a:r>
            <a:endParaRPr sz="2175" baseline="26819">
              <a:latin typeface="Cambria Math"/>
              <a:cs typeface="Cambria Math"/>
            </a:endParaRPr>
          </a:p>
          <a:p>
            <a:pPr marL="266700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66065" algn="l"/>
                <a:tab pos="266700" algn="l"/>
                <a:tab pos="5988685" algn="l"/>
              </a:tabLst>
            </a:pPr>
            <a:r>
              <a:rPr sz="2000" spc="-5" dirty="0">
                <a:latin typeface="Times New Roman"/>
                <a:cs typeface="Times New Roman"/>
              </a:rPr>
              <a:t>Greater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ionization </a:t>
            </a:r>
            <a:r>
              <a:rPr sz="2000" spc="-15" dirty="0">
                <a:latin typeface="Times New Roman"/>
                <a:cs typeface="Times New Roman"/>
              </a:rPr>
              <a:t>energy </a:t>
            </a:r>
            <a:r>
              <a:rPr sz="2000" spc="-10" dirty="0">
                <a:latin typeface="Times New Roman"/>
                <a:cs typeface="Times New Roman"/>
              </a:rPr>
              <a:t>lesser </a:t>
            </a:r>
            <a:r>
              <a:rPr sz="2000" spc="-20" dirty="0">
                <a:latin typeface="Times New Roman"/>
                <a:cs typeface="Times New Roman"/>
              </a:rPr>
              <a:t>will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wavelength	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radiation </a:t>
            </a:r>
            <a:r>
              <a:rPr sz="2000" spc="-10" dirty="0">
                <a:latin typeface="Times New Roman"/>
                <a:cs typeface="Times New Roman"/>
              </a:rPr>
              <a:t>that causes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ionization.</a:t>
            </a:r>
            <a:endParaRPr sz="2000">
              <a:latin typeface="Times New Roman"/>
              <a:cs typeface="Times New Roman"/>
            </a:endParaRPr>
          </a:p>
          <a:p>
            <a:pPr marL="266700" indent="-2286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000" spc="-5" dirty="0">
                <a:latin typeface="Times New Roman"/>
                <a:cs typeface="Times New Roman"/>
              </a:rPr>
              <a:t>Radiation </a:t>
            </a:r>
            <a:r>
              <a:rPr sz="2000" spc="-20" dirty="0">
                <a:latin typeface="Times New Roman"/>
                <a:cs typeface="Times New Roman"/>
              </a:rPr>
              <a:t>with </a:t>
            </a:r>
            <a:r>
              <a:rPr sz="2000" spc="-10" dirty="0">
                <a:latin typeface="Times New Roman"/>
                <a:cs typeface="Times New Roman"/>
              </a:rPr>
              <a:t>wavelength </a:t>
            </a:r>
            <a:r>
              <a:rPr sz="2000" dirty="0">
                <a:latin typeface="Times New Roman"/>
                <a:cs typeface="Times New Roman"/>
              </a:rPr>
              <a:t>of 1250 </a:t>
            </a:r>
            <a:r>
              <a:rPr sz="2000" spc="-5" dirty="0">
                <a:latin typeface="Times New Roman"/>
                <a:cs typeface="Times New Roman"/>
              </a:rPr>
              <a:t>A is </a:t>
            </a:r>
            <a:r>
              <a:rPr sz="2000" spc="-15" dirty="0">
                <a:latin typeface="Times New Roman"/>
                <a:cs typeface="Times New Roman"/>
              </a:rPr>
              <a:t>sufficient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cause </a:t>
            </a:r>
            <a:r>
              <a:rPr sz="2000" spc="-5" dirty="0">
                <a:latin typeface="Times New Roman"/>
                <a:cs typeface="Times New Roman"/>
              </a:rPr>
              <a:t>photo ionization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almost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gases.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56888" y="3592067"/>
            <a:ext cx="786130" cy="76200"/>
          </a:xfrm>
          <a:custGeom>
            <a:avLst/>
            <a:gdLst/>
            <a:ahLst/>
            <a:cxnLst/>
            <a:rect l="l" t="t" r="r" b="b"/>
            <a:pathLst>
              <a:path w="786129" h="76200">
                <a:moveTo>
                  <a:pt x="709549" y="0"/>
                </a:moveTo>
                <a:lnTo>
                  <a:pt x="709549" y="76200"/>
                </a:lnTo>
                <a:lnTo>
                  <a:pt x="773049" y="44450"/>
                </a:lnTo>
                <a:lnTo>
                  <a:pt x="722249" y="44450"/>
                </a:lnTo>
                <a:lnTo>
                  <a:pt x="722249" y="31750"/>
                </a:lnTo>
                <a:lnTo>
                  <a:pt x="773049" y="31750"/>
                </a:lnTo>
                <a:lnTo>
                  <a:pt x="709549" y="0"/>
                </a:lnTo>
                <a:close/>
              </a:path>
              <a:path w="786129" h="76200">
                <a:moveTo>
                  <a:pt x="70954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709549" y="44450"/>
                </a:lnTo>
                <a:lnTo>
                  <a:pt x="709549" y="31750"/>
                </a:lnTo>
                <a:close/>
              </a:path>
              <a:path w="786129" h="76200">
                <a:moveTo>
                  <a:pt x="773049" y="31750"/>
                </a:moveTo>
                <a:lnTo>
                  <a:pt x="722249" y="31750"/>
                </a:lnTo>
                <a:lnTo>
                  <a:pt x="722249" y="44450"/>
                </a:lnTo>
                <a:lnTo>
                  <a:pt x="773049" y="44450"/>
                </a:lnTo>
                <a:lnTo>
                  <a:pt x="785749" y="38100"/>
                </a:lnTo>
                <a:lnTo>
                  <a:pt x="773049" y="3175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72128" y="3418332"/>
            <a:ext cx="771525" cy="76200"/>
          </a:xfrm>
          <a:custGeom>
            <a:avLst/>
            <a:gdLst/>
            <a:ahLst/>
            <a:cxnLst/>
            <a:rect l="l" t="t" r="r" b="b"/>
            <a:pathLst>
              <a:path w="7715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77152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771525" h="76200">
                <a:moveTo>
                  <a:pt x="771525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771525" y="44450"/>
                </a:lnTo>
                <a:lnTo>
                  <a:pt x="771525" y="3175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848" y="173558"/>
            <a:ext cx="5736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Secondary </a:t>
            </a:r>
            <a:r>
              <a:rPr dirty="0"/>
              <a:t>Ionisation</a:t>
            </a:r>
            <a:r>
              <a:rPr spc="-4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993724"/>
            <a:ext cx="1036002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process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liberation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free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electrons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cathode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surface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by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impact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positive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ion,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latin typeface="Times New Roman"/>
                <a:cs typeface="Times New Roman"/>
              </a:rPr>
              <a:t>metastable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photons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5" dirty="0">
                <a:latin typeface="Times New Roman"/>
                <a:cs typeface="Times New Roman"/>
              </a:rPr>
              <a:t>cathode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surface.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947507"/>
            <a:ext cx="10358755" cy="253809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2435860" algn="just">
              <a:lnSpc>
                <a:spcPct val="100000"/>
              </a:lnSpc>
              <a:spcBef>
                <a:spcPts val="1019"/>
              </a:spcBef>
            </a:pP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Electron 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Emission </a:t>
            </a:r>
            <a:r>
              <a:rPr sz="2400" b="1" dirty="0">
                <a:solidFill>
                  <a:srgbClr val="C55A11"/>
                </a:solidFill>
                <a:latin typeface="Times New Roman"/>
                <a:cs typeface="Times New Roman"/>
              </a:rPr>
              <a:t>due to 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Positive Ion</a:t>
            </a:r>
            <a:r>
              <a:rPr sz="2400" b="1" spc="3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Impact</a:t>
            </a:r>
            <a:endParaRPr sz="240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228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Positive ions are </a:t>
            </a:r>
            <a:r>
              <a:rPr sz="2000" spc="-15" dirty="0">
                <a:solidFill>
                  <a:srgbClr val="0D0D0D"/>
                </a:solidFill>
                <a:latin typeface="Times New Roman"/>
                <a:cs typeface="Times New Roman"/>
              </a:rPr>
              <a:t>formed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due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to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primary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ionization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and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being positively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charged,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they</a:t>
            </a:r>
            <a:r>
              <a:rPr sz="2000" spc="2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travel</a:t>
            </a:r>
            <a:endParaRPr sz="2000">
              <a:latin typeface="Times New Roman"/>
              <a:cs typeface="Times New Roman"/>
            </a:endParaRPr>
          </a:p>
          <a:p>
            <a:pPr marL="241300" algn="just">
              <a:lnSpc>
                <a:spcPts val="2280"/>
              </a:lnSpc>
            </a:pP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towards</a:t>
            </a:r>
            <a:r>
              <a:rPr sz="2000" spc="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cathode.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When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positive ion approaches a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metallic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cathode, it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causes emission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of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electrons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from</a:t>
            </a:r>
            <a:r>
              <a:rPr sz="2000" spc="229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cathode.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160"/>
              </a:lnSpc>
              <a:spcBef>
                <a:spcPts val="1040"/>
              </a:spcBef>
              <a:buClr>
                <a:srgbClr val="0D0D0D"/>
              </a:buClr>
              <a:buFont typeface="Arial"/>
              <a:buChar char="•"/>
              <a:tabLst>
                <a:tab pos="305435" algn="l"/>
              </a:tabLst>
            </a:pPr>
            <a:r>
              <a:rPr dirty="0"/>
              <a:t>	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In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this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process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the positive </a:t>
            </a:r>
            <a:r>
              <a:rPr sz="2000" spc="-15" dirty="0">
                <a:solidFill>
                  <a:srgbClr val="0D0D0D"/>
                </a:solidFill>
                <a:latin typeface="Times New Roman"/>
                <a:cs typeface="Times New Roman"/>
              </a:rPr>
              <a:t>ion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gives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away its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kinetic </a:t>
            </a:r>
            <a:r>
              <a:rPr sz="2000" spc="-30" dirty="0">
                <a:solidFill>
                  <a:srgbClr val="0D0D0D"/>
                </a:solidFill>
                <a:latin typeface="Times New Roman"/>
                <a:cs typeface="Times New Roman"/>
              </a:rPr>
              <a:t>energy.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If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the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ionization </a:t>
            </a:r>
            <a:r>
              <a:rPr sz="2000" spc="-15" dirty="0">
                <a:solidFill>
                  <a:srgbClr val="0D0D0D"/>
                </a:solidFill>
                <a:latin typeface="Times New Roman"/>
                <a:cs typeface="Times New Roman"/>
              </a:rPr>
              <a:t>energy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is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greater 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than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twice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work function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of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metal, then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one electron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will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be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ejected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and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a second electron </a:t>
            </a:r>
            <a:r>
              <a:rPr sz="2000" spc="-20" dirty="0">
                <a:solidFill>
                  <a:srgbClr val="0D0D0D"/>
                </a:solidFill>
                <a:latin typeface="Times New Roman"/>
                <a:cs typeface="Times New Roman"/>
              </a:rPr>
              <a:t>will 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neutralize the</a:t>
            </a:r>
            <a:r>
              <a:rPr sz="2000" spc="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4201748"/>
            <a:ext cx="10361930" cy="136017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The probability of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this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process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is </a:t>
            </a:r>
            <a:r>
              <a:rPr sz="2000" spc="-15" dirty="0">
                <a:solidFill>
                  <a:srgbClr val="0D0D0D"/>
                </a:solidFill>
                <a:latin typeface="Times New Roman"/>
                <a:cs typeface="Times New Roman"/>
              </a:rPr>
              <a:t>measured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r>
              <a:rPr sz="2000" spc="1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6075" i="1" spc="-1080" baseline="-4801" dirty="0">
                <a:latin typeface="Symbol"/>
                <a:cs typeface="Symbol"/>
              </a:rPr>
              <a:t></a:t>
            </a:r>
            <a:r>
              <a:rPr sz="5775" i="1" spc="-1080" baseline="-5050" dirty="0">
                <a:latin typeface="Times New Roman"/>
                <a:cs typeface="Times New Roman"/>
              </a:rPr>
              <a:t>i</a:t>
            </a:r>
            <a:endParaRPr sz="5775" baseline="-5050">
              <a:latin typeface="Times New Roman"/>
              <a:cs typeface="Times New Roman"/>
            </a:endParaRPr>
          </a:p>
          <a:p>
            <a:pPr marL="241300" indent="-228600">
              <a:lnSpc>
                <a:spcPts val="228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Which</a:t>
            </a:r>
            <a:r>
              <a:rPr sz="2000" spc="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2000" spc="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called</a:t>
            </a:r>
            <a:r>
              <a:rPr sz="2000" spc="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0D0D0D"/>
                </a:solidFill>
                <a:latin typeface="Times New Roman"/>
                <a:cs typeface="Times New Roman"/>
              </a:rPr>
              <a:t>Townsend’s</a:t>
            </a:r>
            <a:r>
              <a:rPr sz="2000" spc="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secondary</a:t>
            </a:r>
            <a:r>
              <a:rPr sz="2000" spc="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Ionisation</a:t>
            </a:r>
            <a:r>
              <a:rPr sz="2000" spc="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co-efficient</a:t>
            </a:r>
            <a:r>
              <a:rPr sz="2000" spc="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due</a:t>
            </a:r>
            <a:r>
              <a:rPr sz="2000" spc="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sz="2000" spc="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positive</a:t>
            </a:r>
            <a:r>
              <a:rPr sz="2000" spc="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ions</a:t>
            </a:r>
            <a:r>
              <a:rPr sz="2000" spc="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000" spc="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2000" spc="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defined</a:t>
            </a:r>
            <a:r>
              <a:rPr sz="2000" spc="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net </a:t>
            </a:r>
            <a:r>
              <a:rPr sz="2000" spc="-15" dirty="0">
                <a:solidFill>
                  <a:srgbClr val="0D0D0D"/>
                </a:solidFill>
                <a:latin typeface="Times New Roman"/>
                <a:cs typeface="Times New Roman"/>
              </a:rPr>
              <a:t>yield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of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electrons per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incident 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positive</a:t>
            </a:r>
            <a:r>
              <a:rPr sz="2000" spc="1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39" y="430479"/>
            <a:ext cx="58610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C55A11"/>
                </a:solidFill>
              </a:rPr>
              <a:t>Electron Emission </a:t>
            </a:r>
            <a:r>
              <a:rPr sz="3200" spc="-5" dirty="0">
                <a:solidFill>
                  <a:srgbClr val="C55A11"/>
                </a:solidFill>
              </a:rPr>
              <a:t>due to</a:t>
            </a:r>
            <a:r>
              <a:rPr sz="3200" spc="20" dirty="0">
                <a:solidFill>
                  <a:srgbClr val="C55A11"/>
                </a:solidFill>
              </a:rPr>
              <a:t> </a:t>
            </a:r>
            <a:r>
              <a:rPr sz="3200" spc="-5" dirty="0">
                <a:solidFill>
                  <a:srgbClr val="C55A11"/>
                </a:solidFill>
              </a:rPr>
              <a:t>Photons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7244" y="1093673"/>
            <a:ext cx="10358120" cy="341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If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electron is to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dislodged </a:t>
            </a:r>
            <a:r>
              <a:rPr sz="2000" spc="-10" dirty="0">
                <a:latin typeface="Times New Roman"/>
                <a:cs typeface="Times New Roman"/>
              </a:rPr>
              <a:t>from </a:t>
            </a:r>
            <a:r>
              <a:rPr sz="2000" dirty="0">
                <a:latin typeface="Times New Roman"/>
                <a:cs typeface="Times New Roman"/>
              </a:rPr>
              <a:t>outer </a:t>
            </a:r>
            <a:r>
              <a:rPr sz="2000" spc="-10" dirty="0">
                <a:latin typeface="Times New Roman"/>
                <a:cs typeface="Times New Roman"/>
              </a:rPr>
              <a:t>shell, </a:t>
            </a:r>
            <a:r>
              <a:rPr sz="2000" spc="-5" dirty="0">
                <a:latin typeface="Times New Roman"/>
                <a:cs typeface="Times New Roman"/>
              </a:rPr>
              <a:t>it should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0" dirty="0">
                <a:latin typeface="Times New Roman"/>
                <a:cs typeface="Times New Roman"/>
              </a:rPr>
              <a:t>given </a:t>
            </a:r>
            <a:r>
              <a:rPr sz="2000" spc="-5" dirty="0">
                <a:latin typeface="Times New Roman"/>
                <a:cs typeface="Times New Roman"/>
              </a:rPr>
              <a:t>enough energy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 that it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latin typeface="Times New Roman"/>
                <a:cs typeface="Times New Roman"/>
              </a:rPr>
              <a:t>overcomes surface </a:t>
            </a:r>
            <a:r>
              <a:rPr sz="2000" spc="-5" dirty="0">
                <a:latin typeface="Times New Roman"/>
                <a:cs typeface="Times New Roman"/>
              </a:rPr>
              <a:t>potential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barrier.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external </a:t>
            </a:r>
            <a:r>
              <a:rPr sz="2000" spc="-15" dirty="0">
                <a:latin typeface="Times New Roman"/>
                <a:cs typeface="Times New Roman"/>
              </a:rPr>
              <a:t>energy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supplied </a:t>
            </a:r>
            <a:r>
              <a:rPr sz="2000" spc="-10" dirty="0">
                <a:latin typeface="Times New Roman"/>
                <a:cs typeface="Times New Roman"/>
              </a:rPr>
              <a:t>in the </a:t>
            </a:r>
            <a:r>
              <a:rPr sz="2000" spc="-5" dirty="0">
                <a:latin typeface="Times New Roman"/>
                <a:cs typeface="Times New Roman"/>
              </a:rPr>
              <a:t>form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photon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UV light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suitable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frequency.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electron </a:t>
            </a:r>
            <a:r>
              <a:rPr sz="2000" spc="-10" dirty="0">
                <a:latin typeface="Times New Roman"/>
                <a:cs typeface="Times New Roman"/>
              </a:rPr>
              <a:t>emission from </a:t>
            </a:r>
            <a:r>
              <a:rPr sz="2000" spc="-15" dirty="0">
                <a:latin typeface="Times New Roman"/>
                <a:cs typeface="Times New Roman"/>
              </a:rPr>
              <a:t>metal </a:t>
            </a:r>
            <a:r>
              <a:rPr sz="2000" spc="-10" dirty="0">
                <a:latin typeface="Times New Roman"/>
                <a:cs typeface="Times New Roman"/>
              </a:rPr>
              <a:t>surface takes </a:t>
            </a:r>
            <a:r>
              <a:rPr sz="2000" spc="-5" dirty="0">
                <a:latin typeface="Times New Roman"/>
                <a:cs typeface="Times New Roman"/>
              </a:rPr>
              <a:t>place at a critical condition </a:t>
            </a:r>
            <a:r>
              <a:rPr sz="2000" spc="-10" dirty="0">
                <a:latin typeface="Times New Roman"/>
                <a:cs typeface="Times New Roman"/>
              </a:rPr>
              <a:t>given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by,</a:t>
            </a:r>
            <a:endParaRPr sz="2000">
              <a:latin typeface="Times New Roman"/>
              <a:cs typeface="Times New Roman"/>
            </a:endParaRPr>
          </a:p>
          <a:p>
            <a:pPr marL="3124835">
              <a:lnSpc>
                <a:spcPct val="100000"/>
              </a:lnSpc>
              <a:spcBef>
                <a:spcPts val="770"/>
              </a:spcBef>
              <a:tabLst>
                <a:tab pos="3570604" algn="l"/>
              </a:tabLst>
            </a:pPr>
            <a:r>
              <a:rPr sz="2000" spc="-10" dirty="0">
                <a:latin typeface="Times New Roman"/>
                <a:cs typeface="Times New Roman"/>
              </a:rPr>
              <a:t>h.v	</a:t>
            </a:r>
            <a:r>
              <a:rPr sz="2000" spc="-5" dirty="0">
                <a:latin typeface="Times New Roman"/>
                <a:cs typeface="Times New Roman"/>
              </a:rPr>
              <a:t>≥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ф</a:t>
            </a:r>
            <a:endParaRPr sz="200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  <a:spcBef>
                <a:spcPts val="745"/>
              </a:spcBef>
            </a:pPr>
            <a:r>
              <a:rPr sz="2000" spc="-5" dirty="0">
                <a:latin typeface="Times New Roman"/>
                <a:cs typeface="Times New Roman"/>
              </a:rPr>
              <a:t>Where ф is </a:t>
            </a:r>
            <a:r>
              <a:rPr sz="2000" spc="-15" dirty="0">
                <a:latin typeface="Times New Roman"/>
                <a:cs typeface="Times New Roman"/>
              </a:rPr>
              <a:t>work </a:t>
            </a:r>
            <a:r>
              <a:rPr sz="2000" spc="-10" dirty="0">
                <a:latin typeface="Times New Roman"/>
                <a:cs typeface="Times New Roman"/>
              </a:rPr>
              <a:t>function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metallic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electrode.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frequency is given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relationship,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70703" y="4841621"/>
            <a:ext cx="128270" cy="0"/>
          </a:xfrm>
          <a:custGeom>
            <a:avLst/>
            <a:gdLst/>
            <a:ahLst/>
            <a:cxnLst/>
            <a:rect l="l" t="t" r="r" b="b"/>
            <a:pathLst>
              <a:path w="128270">
                <a:moveTo>
                  <a:pt x="0" y="0"/>
                </a:moveTo>
                <a:lnTo>
                  <a:pt x="12801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43729" y="4649851"/>
            <a:ext cx="59372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Times New Roman"/>
                <a:cs typeface="Times New Roman"/>
              </a:rPr>
              <a:t>V=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175" spc="7" baseline="45977" dirty="0">
                <a:latin typeface="Cambria Math"/>
                <a:cs typeface="Cambria Math"/>
              </a:rPr>
              <a:t>ф</a:t>
            </a:r>
            <a:endParaRPr sz="2175" baseline="4597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4862321" y="4844922"/>
            <a:ext cx="14097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05" dirty="0">
                <a:latin typeface="Cambria Math"/>
                <a:cs typeface="Cambria Math"/>
              </a:rPr>
              <a:t>ℎ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244" y="5110352"/>
            <a:ext cx="3808729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Times New Roman"/>
                <a:cs typeface="Times New Roman"/>
              </a:rPr>
              <a:t>Which is </a:t>
            </a:r>
            <a:r>
              <a:rPr sz="2000" spc="-5" dirty="0">
                <a:latin typeface="Times New Roman"/>
                <a:cs typeface="Times New Roman"/>
              </a:rPr>
              <a:t>called Threshold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frequency.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6858" y="401777"/>
            <a:ext cx="94538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C55A11"/>
                </a:solidFill>
              </a:rPr>
              <a:t>Electron Emission </a:t>
            </a:r>
            <a:r>
              <a:rPr sz="3200" spc="-5" dirty="0">
                <a:solidFill>
                  <a:srgbClr val="C55A11"/>
                </a:solidFill>
              </a:rPr>
              <a:t>due to Metastable &amp; </a:t>
            </a:r>
            <a:r>
              <a:rPr sz="3200" spc="-10" dirty="0">
                <a:solidFill>
                  <a:srgbClr val="C55A11"/>
                </a:solidFill>
              </a:rPr>
              <a:t>Neutral</a:t>
            </a:r>
            <a:r>
              <a:rPr sz="3200" spc="-45" dirty="0">
                <a:solidFill>
                  <a:srgbClr val="C55A11"/>
                </a:solidFill>
              </a:rPr>
              <a:t> </a:t>
            </a:r>
            <a:r>
              <a:rPr sz="3200" spc="-15" dirty="0">
                <a:solidFill>
                  <a:srgbClr val="C55A11"/>
                </a:solidFill>
              </a:rPr>
              <a:t>Atoms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13842" y="1037081"/>
            <a:ext cx="11388725" cy="35617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2100" indent="-228600">
              <a:lnSpc>
                <a:spcPts val="2290"/>
              </a:lnSpc>
              <a:spcBef>
                <a:spcPts val="90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2000" spc="-10" dirty="0">
                <a:latin typeface="Times New Roman"/>
                <a:cs typeface="Times New Roman"/>
              </a:rPr>
              <a:t>A metastable </a:t>
            </a:r>
            <a:r>
              <a:rPr sz="2000" dirty="0">
                <a:latin typeface="Times New Roman"/>
                <a:cs typeface="Times New Roman"/>
              </a:rPr>
              <a:t>atom or </a:t>
            </a:r>
            <a:r>
              <a:rPr sz="2000" spc="-10" dirty="0">
                <a:latin typeface="Times New Roman"/>
                <a:cs typeface="Times New Roman"/>
              </a:rPr>
              <a:t>molecule is </a:t>
            </a:r>
            <a:r>
              <a:rPr sz="2000" spc="-5" dirty="0">
                <a:latin typeface="Times New Roman"/>
                <a:cs typeface="Times New Roman"/>
              </a:rPr>
              <a:t>an excited particle.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lifetime </a:t>
            </a:r>
            <a:r>
              <a:rPr sz="2000" dirty="0">
                <a:latin typeface="Times New Roman"/>
                <a:cs typeface="Times New Roman"/>
              </a:rPr>
              <a:t>of such </a:t>
            </a:r>
            <a:r>
              <a:rPr sz="2000" spc="-10" dirty="0">
                <a:latin typeface="Times New Roman"/>
                <a:cs typeface="Times New Roman"/>
              </a:rPr>
              <a:t>metastable </a:t>
            </a:r>
            <a:r>
              <a:rPr sz="2000" dirty="0">
                <a:latin typeface="Times New Roman"/>
                <a:cs typeface="Times New Roman"/>
              </a:rPr>
              <a:t>atom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2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large</a:t>
            </a:r>
            <a:endParaRPr sz="2000">
              <a:latin typeface="Times New Roman"/>
              <a:cs typeface="Times New Roman"/>
            </a:endParaRPr>
          </a:p>
          <a:p>
            <a:pPr marL="292100">
              <a:lnSpc>
                <a:spcPts val="2290"/>
              </a:lnSpc>
            </a:pPr>
            <a:r>
              <a:rPr sz="2000" spc="10" dirty="0">
                <a:latin typeface="Times New Roman"/>
                <a:cs typeface="Times New Roman"/>
              </a:rPr>
              <a:t>(</a:t>
            </a:r>
            <a:r>
              <a:rPr sz="2000" spc="10" dirty="0">
                <a:latin typeface="Cambria Math"/>
                <a:cs typeface="Cambria Math"/>
              </a:rPr>
              <a:t>10</a:t>
            </a:r>
            <a:r>
              <a:rPr sz="2175" spc="15" baseline="26819" dirty="0">
                <a:latin typeface="Cambria Math"/>
                <a:cs typeface="Cambria Math"/>
              </a:rPr>
              <a:t>−3</a:t>
            </a:r>
            <a:r>
              <a:rPr sz="2000" spc="10" dirty="0">
                <a:latin typeface="Cambria Math"/>
                <a:cs typeface="Cambria Math"/>
              </a:rPr>
              <a:t>s) </a:t>
            </a:r>
            <a:r>
              <a:rPr sz="2000" spc="-10" dirty="0">
                <a:latin typeface="Times New Roman"/>
                <a:cs typeface="Times New Roman"/>
              </a:rPr>
              <a:t>compared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spc="-15" dirty="0">
                <a:latin typeface="Times New Roman"/>
                <a:cs typeface="Times New Roman"/>
              </a:rPr>
              <a:t>lifetime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an ordinary particle (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10</a:t>
            </a:r>
            <a:r>
              <a:rPr sz="2175" spc="15" baseline="26819" dirty="0">
                <a:latin typeface="Cambria Math"/>
                <a:cs typeface="Cambria Math"/>
              </a:rPr>
              <a:t>−8</a:t>
            </a:r>
            <a:r>
              <a:rPr sz="2000" spc="10" dirty="0">
                <a:latin typeface="Times New Roman"/>
                <a:cs typeface="Times New Roman"/>
              </a:rPr>
              <a:t>s).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electrons 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5" dirty="0">
                <a:latin typeface="Times New Roman"/>
                <a:cs typeface="Times New Roman"/>
              </a:rPr>
              <a:t>made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eject </a:t>
            </a:r>
            <a:r>
              <a:rPr sz="2000" spc="-10" dirty="0">
                <a:latin typeface="Times New Roman"/>
                <a:cs typeface="Times New Roman"/>
              </a:rPr>
              <a:t>from </a:t>
            </a:r>
            <a:r>
              <a:rPr sz="2000" spc="-15" dirty="0">
                <a:latin typeface="Times New Roman"/>
                <a:cs typeface="Times New Roman"/>
              </a:rPr>
              <a:t>metal </a:t>
            </a:r>
            <a:r>
              <a:rPr sz="2000" spc="-10" dirty="0">
                <a:latin typeface="Times New Roman"/>
                <a:cs typeface="Times New Roman"/>
              </a:rPr>
              <a:t>surface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15" dirty="0">
                <a:latin typeface="Times New Roman"/>
                <a:cs typeface="Times New Roman"/>
              </a:rPr>
              <a:t>means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an </a:t>
            </a:r>
            <a:r>
              <a:rPr sz="2000" spc="-10" dirty="0">
                <a:latin typeface="Times New Roman"/>
                <a:cs typeface="Times New Roman"/>
              </a:rPr>
              <a:t>impact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an </a:t>
            </a:r>
            <a:r>
              <a:rPr sz="2000" spc="-10" dirty="0">
                <a:latin typeface="Times New Roman"/>
                <a:cs typeface="Times New Roman"/>
              </a:rPr>
              <a:t>metastable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atom.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92100" marR="53340" indent="-228600" algn="just">
              <a:lnSpc>
                <a:spcPct val="90000"/>
              </a:lnSpc>
              <a:spcBef>
                <a:spcPts val="1625"/>
              </a:spcBef>
              <a:buFont typeface="Arial"/>
              <a:buChar char="•"/>
              <a:tabLst>
                <a:tab pos="2921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total </a:t>
            </a:r>
            <a:r>
              <a:rPr sz="2000" spc="-15" dirty="0">
                <a:latin typeface="Times New Roman"/>
                <a:cs typeface="Times New Roman"/>
              </a:rPr>
              <a:t>energy </a:t>
            </a:r>
            <a:r>
              <a:rPr sz="2000" spc="-5" dirty="0">
                <a:latin typeface="Times New Roman"/>
                <a:cs typeface="Times New Roman"/>
              </a:rPr>
              <a:t>should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5" dirty="0">
                <a:latin typeface="Times New Roman"/>
                <a:cs typeface="Times New Roman"/>
              </a:rPr>
              <a:t>sufficient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overcome </a:t>
            </a:r>
            <a:r>
              <a:rPr sz="2000" spc="-10" dirty="0">
                <a:latin typeface="Times New Roman"/>
                <a:cs typeface="Times New Roman"/>
              </a:rPr>
              <a:t>work </a:t>
            </a:r>
            <a:r>
              <a:rPr sz="2000" spc="-5" dirty="0">
                <a:latin typeface="Times New Roman"/>
                <a:cs typeface="Times New Roman"/>
              </a:rPr>
              <a:t>function. </a:t>
            </a:r>
            <a:r>
              <a:rPr sz="2000" dirty="0">
                <a:latin typeface="Times New Roman"/>
                <a:cs typeface="Times New Roman"/>
              </a:rPr>
              <a:t>This process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only </a:t>
            </a:r>
            <a:r>
              <a:rPr sz="2000" spc="-5" dirty="0">
                <a:latin typeface="Times New Roman"/>
                <a:cs typeface="Times New Roman"/>
              </a:rPr>
              <a:t>observed </a:t>
            </a:r>
            <a:r>
              <a:rPr sz="2000" spc="-10" dirty="0">
                <a:latin typeface="Times New Roman"/>
                <a:cs typeface="Times New Roman"/>
              </a:rPr>
              <a:t>in  </a:t>
            </a:r>
            <a:r>
              <a:rPr sz="2000" spc="-5" dirty="0">
                <a:latin typeface="Times New Roman"/>
                <a:cs typeface="Times New Roman"/>
              </a:rPr>
              <a:t>metastable </a:t>
            </a:r>
            <a:r>
              <a:rPr sz="2000" spc="-10" dirty="0">
                <a:latin typeface="Times New Roman"/>
                <a:cs typeface="Times New Roman"/>
              </a:rPr>
              <a:t>atoms but life </a:t>
            </a:r>
            <a:r>
              <a:rPr sz="2000" spc="-5" dirty="0">
                <a:latin typeface="Times New Roman"/>
                <a:cs typeface="Times New Roman"/>
              </a:rPr>
              <a:t>time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other excited states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very short </a:t>
            </a:r>
            <a:r>
              <a:rPr sz="2000" spc="-10" dirty="0">
                <a:latin typeface="Times New Roman"/>
                <a:cs typeface="Times New Roman"/>
              </a:rPr>
              <a:t>so these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spc="-10" dirty="0">
                <a:latin typeface="Times New Roman"/>
                <a:cs typeface="Times New Roman"/>
              </a:rPr>
              <a:t>not reach </a:t>
            </a:r>
            <a:r>
              <a:rPr sz="2000" spc="-5" dirty="0">
                <a:latin typeface="Times New Roman"/>
                <a:cs typeface="Times New Roman"/>
              </a:rPr>
              <a:t>cathode </a:t>
            </a:r>
            <a:r>
              <a:rPr sz="2000" spc="-10" dirty="0">
                <a:latin typeface="Times New Roman"/>
                <a:cs typeface="Times New Roman"/>
              </a:rPr>
              <a:t>surface  and </a:t>
            </a:r>
            <a:r>
              <a:rPr sz="2000" spc="-15" dirty="0">
                <a:latin typeface="Times New Roman"/>
                <a:cs typeface="Times New Roman"/>
              </a:rPr>
              <a:t>thus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spc="-10" dirty="0">
                <a:latin typeface="Times New Roman"/>
                <a:cs typeface="Times New Roman"/>
              </a:rPr>
              <a:t>not cause </a:t>
            </a:r>
            <a:r>
              <a:rPr sz="2000" spc="-5" dirty="0">
                <a:latin typeface="Times New Roman"/>
                <a:cs typeface="Times New Roman"/>
              </a:rPr>
              <a:t>electron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emission.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1385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emission take </a:t>
            </a:r>
            <a:r>
              <a:rPr sz="2000" spc="-5" dirty="0">
                <a:latin typeface="Times New Roman"/>
                <a:cs typeface="Times New Roman"/>
              </a:rPr>
              <a:t>place </a:t>
            </a:r>
            <a:r>
              <a:rPr sz="2000" spc="-10" dirty="0">
                <a:latin typeface="Times New Roman"/>
                <a:cs typeface="Times New Roman"/>
              </a:rPr>
              <a:t>in such </a:t>
            </a:r>
            <a:r>
              <a:rPr sz="2000" spc="-5" dirty="0">
                <a:latin typeface="Times New Roman"/>
                <a:cs typeface="Times New Roman"/>
              </a:rPr>
              <a:t>cases only if </a:t>
            </a:r>
            <a:r>
              <a:rPr sz="2000" spc="-10" dirty="0">
                <a:latin typeface="Times New Roman"/>
                <a:cs typeface="Times New Roman"/>
              </a:rPr>
              <a:t>these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5" dirty="0">
                <a:latin typeface="Times New Roman"/>
                <a:cs typeface="Times New Roman"/>
              </a:rPr>
              <a:t>very </a:t>
            </a:r>
            <a:r>
              <a:rPr sz="2000" spc="-10" dirty="0">
                <a:latin typeface="Times New Roman"/>
                <a:cs typeface="Times New Roman"/>
              </a:rPr>
              <a:t>near to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cathode.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8991" y="439623"/>
            <a:ext cx="49498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F4B083"/>
                </a:solidFill>
              </a:rPr>
              <a:t>Electron attachment process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53744" y="1093673"/>
            <a:ext cx="10460990" cy="4916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0" indent="-228600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2000" spc="-10" dirty="0">
                <a:latin typeface="Times New Roman"/>
                <a:cs typeface="Times New Roman"/>
              </a:rPr>
              <a:t>Attachment </a:t>
            </a:r>
            <a:r>
              <a:rPr sz="2000" spc="-5" dirty="0">
                <a:latin typeface="Times New Roman"/>
                <a:cs typeface="Times New Roman"/>
              </a:rPr>
              <a:t>collision </a:t>
            </a:r>
            <a:r>
              <a:rPr sz="2000" spc="5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a process in </a:t>
            </a:r>
            <a:r>
              <a:rPr sz="2000" spc="-10" dirty="0">
                <a:latin typeface="Times New Roman"/>
                <a:cs typeface="Times New Roman"/>
              </a:rPr>
              <a:t>which </a:t>
            </a:r>
            <a:r>
              <a:rPr sz="2000" spc="-5" dirty="0">
                <a:latin typeface="Times New Roman"/>
                <a:cs typeface="Times New Roman"/>
              </a:rPr>
              <a:t>electrons </a:t>
            </a:r>
            <a:r>
              <a:rPr sz="2000" spc="-10" dirty="0">
                <a:latin typeface="Times New Roman"/>
                <a:cs typeface="Times New Roman"/>
              </a:rPr>
              <a:t>may </a:t>
            </a:r>
            <a:r>
              <a:rPr sz="2000" spc="-5" dirty="0">
                <a:latin typeface="Times New Roman"/>
                <a:cs typeface="Times New Roman"/>
              </a:rPr>
              <a:t>become attached to atoms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molecules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304800">
              <a:lnSpc>
                <a:spcPts val="2280"/>
              </a:lnSpc>
            </a:pPr>
            <a:r>
              <a:rPr sz="2000" spc="-10" dirty="0">
                <a:latin typeface="Times New Roman"/>
                <a:cs typeface="Times New Roman"/>
              </a:rPr>
              <a:t>form negative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ions.</a:t>
            </a:r>
            <a:endParaRPr sz="2000">
              <a:latin typeface="Times New Roman"/>
              <a:cs typeface="Times New Roman"/>
            </a:endParaRPr>
          </a:p>
          <a:p>
            <a:pPr marL="304800" indent="-2286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This process depends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15" dirty="0">
                <a:latin typeface="Times New Roman"/>
                <a:cs typeface="Times New Roman"/>
              </a:rPr>
              <a:t>energy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electron </a:t>
            </a:r>
            <a:r>
              <a:rPr sz="2000" spc="-10" dirty="0">
                <a:latin typeface="Times New Roman"/>
                <a:cs typeface="Times New Roman"/>
              </a:rPr>
              <a:t>and nature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gas.</a:t>
            </a:r>
            <a:endParaRPr sz="2000">
              <a:latin typeface="Times New Roman"/>
              <a:cs typeface="Times New Roman"/>
            </a:endParaRPr>
          </a:p>
          <a:p>
            <a:pPr marL="3048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2000" dirty="0">
                <a:latin typeface="Times New Roman"/>
                <a:cs typeface="Times New Roman"/>
              </a:rPr>
              <a:t>This </a:t>
            </a:r>
            <a:r>
              <a:rPr sz="2000" spc="-5" dirty="0">
                <a:latin typeface="Times New Roman"/>
                <a:cs typeface="Times New Roman"/>
              </a:rPr>
              <a:t>process 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represented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 marL="353060" indent="-27749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353060" algn="l"/>
                <a:tab pos="353695" algn="l"/>
                <a:tab pos="3398520" algn="l"/>
              </a:tabLst>
            </a:pPr>
            <a:r>
              <a:rPr sz="2000" spc="-10" dirty="0">
                <a:latin typeface="Times New Roman"/>
                <a:cs typeface="Times New Roman"/>
              </a:rPr>
              <a:t>Atom </a:t>
            </a:r>
            <a:r>
              <a:rPr sz="2000" spc="-5" dirty="0">
                <a:latin typeface="Times New Roman"/>
                <a:cs typeface="Times New Roman"/>
              </a:rPr>
              <a:t>+ </a:t>
            </a:r>
            <a:r>
              <a:rPr sz="2000" spc="45" dirty="0">
                <a:latin typeface="Cambria Math"/>
                <a:cs typeface="Cambria Math"/>
              </a:rPr>
              <a:t>𝑒</a:t>
            </a:r>
            <a:r>
              <a:rPr sz="2175" spc="67" baseline="26819" dirty="0">
                <a:latin typeface="Cambria Math"/>
                <a:cs typeface="Cambria Math"/>
              </a:rPr>
              <a:t>−</a:t>
            </a:r>
            <a:r>
              <a:rPr sz="2175" spc="427" baseline="26819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+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	</a:t>
            </a:r>
            <a:r>
              <a:rPr sz="2000" spc="-5" dirty="0">
                <a:latin typeface="Times New Roman"/>
                <a:cs typeface="Times New Roman"/>
              </a:rPr>
              <a:t>(negative </a:t>
            </a:r>
            <a:r>
              <a:rPr sz="2000" spc="-10" dirty="0">
                <a:latin typeface="Times New Roman"/>
                <a:cs typeface="Times New Roman"/>
              </a:rPr>
              <a:t>atomic ion) </a:t>
            </a:r>
            <a:r>
              <a:rPr sz="2000" spc="-5" dirty="0">
                <a:latin typeface="Times New Roman"/>
                <a:cs typeface="Times New Roman"/>
              </a:rPr>
              <a:t>+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[Ea+K]</a:t>
            </a:r>
            <a:endParaRPr sz="2000">
              <a:latin typeface="Times New Roman"/>
              <a:cs typeface="Times New Roman"/>
            </a:endParaRPr>
          </a:p>
          <a:p>
            <a:pPr marL="304800" indent="-2286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5" dirty="0">
                <a:latin typeface="Times New Roman"/>
                <a:cs typeface="Times New Roman"/>
              </a:rPr>
              <a:t>energy </a:t>
            </a:r>
            <a:r>
              <a:rPr sz="2000" spc="-5" dirty="0">
                <a:latin typeface="Times New Roman"/>
                <a:cs typeface="Times New Roman"/>
              </a:rPr>
              <a:t>liberated is </a:t>
            </a:r>
            <a:r>
              <a:rPr sz="2000" spc="-10" dirty="0">
                <a:latin typeface="Times New Roman"/>
                <a:cs typeface="Times New Roman"/>
              </a:rPr>
              <a:t>kinetic </a:t>
            </a:r>
            <a:r>
              <a:rPr sz="2000" spc="-15" dirty="0">
                <a:latin typeface="Times New Roman"/>
                <a:cs typeface="Times New Roman"/>
              </a:rPr>
              <a:t>energy </a:t>
            </a:r>
            <a:r>
              <a:rPr sz="2000" spc="-5" dirty="0">
                <a:latin typeface="Times New Roman"/>
                <a:cs typeface="Times New Roman"/>
              </a:rPr>
              <a:t>(K) plus electron </a:t>
            </a:r>
            <a:r>
              <a:rPr sz="2000" spc="-20" dirty="0">
                <a:latin typeface="Times New Roman"/>
                <a:cs typeface="Times New Roman"/>
              </a:rPr>
              <a:t>affinity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(Ea).</a:t>
            </a:r>
            <a:endParaRPr sz="2000">
              <a:latin typeface="Times New Roman"/>
              <a:cs typeface="Times New Roman"/>
            </a:endParaRPr>
          </a:p>
          <a:p>
            <a:pPr marL="304800" indent="-228600">
              <a:lnSpc>
                <a:spcPts val="2280"/>
              </a:lnSpc>
              <a:spcBef>
                <a:spcPts val="770"/>
              </a:spcBef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outermost </a:t>
            </a:r>
            <a:r>
              <a:rPr sz="2000" dirty="0">
                <a:latin typeface="Times New Roman"/>
                <a:cs typeface="Times New Roman"/>
              </a:rPr>
              <a:t>orbit of </a:t>
            </a:r>
            <a:r>
              <a:rPr sz="2000" spc="-10" dirty="0">
                <a:latin typeface="Times New Roman"/>
                <a:cs typeface="Times New Roman"/>
              </a:rPr>
              <a:t>attaching gases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insulating gases has </a:t>
            </a:r>
            <a:r>
              <a:rPr sz="2000" spc="-10" dirty="0">
                <a:latin typeface="Times New Roman"/>
                <a:cs typeface="Times New Roman"/>
              </a:rPr>
              <a:t>vacancies. </a:t>
            </a:r>
            <a:r>
              <a:rPr sz="2000" dirty="0">
                <a:latin typeface="Times New Roman"/>
                <a:cs typeface="Times New Roman"/>
              </a:rPr>
              <a:t>Thus </a:t>
            </a:r>
            <a:r>
              <a:rPr sz="2000" spc="-10" dirty="0">
                <a:latin typeface="Times New Roman"/>
                <a:cs typeface="Times New Roman"/>
              </a:rPr>
              <a:t>these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supposed</a:t>
            </a:r>
            <a:endParaRPr sz="2000">
              <a:latin typeface="Times New Roman"/>
              <a:cs typeface="Times New Roman"/>
            </a:endParaRPr>
          </a:p>
          <a:p>
            <a:pPr marL="3048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to process </a:t>
            </a:r>
            <a:r>
              <a:rPr sz="2000" spc="-20" dirty="0">
                <a:latin typeface="Times New Roman"/>
                <a:cs typeface="Times New Roman"/>
              </a:rPr>
              <a:t>affinity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electrons.</a:t>
            </a:r>
            <a:endParaRPr sz="2000">
              <a:latin typeface="Times New Roman"/>
              <a:cs typeface="Times New Roman"/>
            </a:endParaRPr>
          </a:p>
          <a:p>
            <a:pPr marL="304800" indent="-228600" algn="just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3048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free </a:t>
            </a:r>
            <a:r>
              <a:rPr sz="2000" spc="-5" dirty="0">
                <a:latin typeface="Times New Roman"/>
                <a:cs typeface="Times New Roman"/>
              </a:rPr>
              <a:t>electrons present </a:t>
            </a:r>
            <a:r>
              <a:rPr sz="2000" spc="-10" dirty="0">
                <a:latin typeface="Times New Roman"/>
                <a:cs typeface="Times New Roman"/>
              </a:rPr>
              <a:t>in </a:t>
            </a:r>
            <a:r>
              <a:rPr sz="2000" spc="-5" dirty="0">
                <a:latin typeface="Times New Roman"/>
                <a:cs typeface="Times New Roman"/>
              </a:rPr>
              <a:t>ionized </a:t>
            </a:r>
            <a:r>
              <a:rPr sz="2000" spc="-10" dirty="0">
                <a:latin typeface="Times New Roman"/>
                <a:cs typeface="Times New Roman"/>
              </a:rPr>
              <a:t>gas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5" dirty="0">
                <a:latin typeface="Times New Roman"/>
                <a:cs typeface="Times New Roman"/>
              </a:rPr>
              <a:t>absorbed </a:t>
            </a:r>
            <a:r>
              <a:rPr sz="2000" spc="-10" dirty="0">
                <a:latin typeface="Times New Roman"/>
                <a:cs typeface="Times New Roman"/>
              </a:rPr>
              <a:t>due to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vacancies.</a:t>
            </a:r>
            <a:endParaRPr sz="2000">
              <a:latin typeface="Times New Roman"/>
              <a:cs typeface="Times New Roman"/>
            </a:endParaRPr>
          </a:p>
          <a:p>
            <a:pPr marL="304800" marR="43180" indent="-228600" algn="just">
              <a:lnSpc>
                <a:spcPts val="2160"/>
              </a:lnSpc>
              <a:spcBef>
                <a:spcPts val="1045"/>
              </a:spcBef>
              <a:buFont typeface="Arial"/>
              <a:buChar char="•"/>
              <a:tabLst>
                <a:tab pos="304800" algn="l"/>
              </a:tabLst>
            </a:pPr>
            <a:r>
              <a:rPr sz="2000" dirty="0">
                <a:latin typeface="Times New Roman"/>
                <a:cs typeface="Times New Roman"/>
              </a:rPr>
              <a:t>This </a:t>
            </a:r>
            <a:r>
              <a:rPr sz="2000" spc="-5" dirty="0">
                <a:latin typeface="Times New Roman"/>
                <a:cs typeface="Times New Roman"/>
              </a:rPr>
              <a:t>process </a:t>
            </a:r>
            <a:r>
              <a:rPr sz="2000" spc="-10" dirty="0">
                <a:latin typeface="Times New Roman"/>
                <a:cs typeface="Times New Roman"/>
              </a:rPr>
              <a:t>take </a:t>
            </a:r>
            <a:r>
              <a:rPr sz="2000" spc="-5" dirty="0">
                <a:latin typeface="Times New Roman"/>
                <a:cs typeface="Times New Roman"/>
              </a:rPr>
              <a:t>place </a:t>
            </a:r>
            <a:r>
              <a:rPr sz="2000" spc="-10" dirty="0">
                <a:latin typeface="Times New Roman"/>
                <a:cs typeface="Times New Roman"/>
              </a:rPr>
              <a:t>in </a:t>
            </a:r>
            <a:r>
              <a:rPr sz="2000" spc="-15" dirty="0">
                <a:latin typeface="Times New Roman"/>
                <a:cs typeface="Times New Roman"/>
              </a:rPr>
              <a:t>circuit </a:t>
            </a:r>
            <a:r>
              <a:rPr sz="2000" spc="-5" dirty="0">
                <a:latin typeface="Times New Roman"/>
                <a:cs typeface="Times New Roman"/>
              </a:rPr>
              <a:t>breakers. </a:t>
            </a:r>
            <a:r>
              <a:rPr sz="2000" spc="-10" dirty="0">
                <a:latin typeface="Times New Roman"/>
                <a:cs typeface="Times New Roman"/>
              </a:rPr>
              <a:t>Due to separation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circuit breaker </a:t>
            </a:r>
            <a:r>
              <a:rPr sz="2000" spc="-10" dirty="0">
                <a:latin typeface="Times New Roman"/>
                <a:cs typeface="Times New Roman"/>
              </a:rPr>
              <a:t>contacts, </a:t>
            </a:r>
            <a:r>
              <a:rPr sz="2000" spc="-2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space  between contacts </a:t>
            </a:r>
            <a:r>
              <a:rPr sz="2000" spc="-10" dirty="0">
                <a:latin typeface="Times New Roman"/>
                <a:cs typeface="Times New Roman"/>
              </a:rPr>
              <a:t>gets </a:t>
            </a:r>
            <a:r>
              <a:rPr sz="2000" spc="-5" dirty="0">
                <a:latin typeface="Times New Roman"/>
                <a:cs typeface="Times New Roman"/>
              </a:rPr>
              <a:t>ionized </a:t>
            </a:r>
            <a:r>
              <a:rPr sz="2000" spc="-10" dirty="0">
                <a:latin typeface="Times New Roman"/>
                <a:cs typeface="Times New Roman"/>
              </a:rPr>
              <a:t>and </a:t>
            </a:r>
            <a:r>
              <a:rPr sz="2000" spc="-5" dirty="0">
                <a:latin typeface="Times New Roman"/>
                <a:cs typeface="Times New Roman"/>
              </a:rPr>
              <a:t>dielectric </a:t>
            </a:r>
            <a:r>
              <a:rPr sz="2000" spc="-10" dirty="0">
                <a:latin typeface="Times New Roman"/>
                <a:cs typeface="Times New Roman"/>
              </a:rPr>
              <a:t>strength </a:t>
            </a:r>
            <a:r>
              <a:rPr sz="2000" spc="-5" dirty="0">
                <a:latin typeface="Times New Roman"/>
                <a:cs typeface="Times New Roman"/>
              </a:rPr>
              <a:t>between </a:t>
            </a:r>
            <a:r>
              <a:rPr sz="2000" spc="-10" dirty="0">
                <a:latin typeface="Times New Roman"/>
                <a:cs typeface="Times New Roman"/>
              </a:rPr>
              <a:t>these </a:t>
            </a:r>
            <a:r>
              <a:rPr sz="2000" spc="-5" dirty="0">
                <a:latin typeface="Times New Roman"/>
                <a:cs typeface="Times New Roman"/>
              </a:rPr>
              <a:t>contacts rapidly built </a:t>
            </a:r>
            <a:r>
              <a:rPr sz="2000" spc="-15" dirty="0">
                <a:latin typeface="Times New Roman"/>
                <a:cs typeface="Times New Roman"/>
              </a:rPr>
              <a:t>up </a:t>
            </a:r>
            <a:r>
              <a:rPr sz="2000" spc="-10" dirty="0">
                <a:latin typeface="Times New Roman"/>
                <a:cs typeface="Times New Roman"/>
              </a:rPr>
              <a:t>using  </a:t>
            </a:r>
            <a:r>
              <a:rPr sz="2000" spc="-5" dirty="0">
                <a:latin typeface="Times New Roman"/>
                <a:cs typeface="Times New Roman"/>
              </a:rPr>
              <a:t>suitable </a:t>
            </a:r>
            <a:r>
              <a:rPr sz="2000" spc="-15" dirty="0">
                <a:latin typeface="Times New Roman"/>
                <a:cs typeface="Times New Roman"/>
              </a:rPr>
              <a:t>medium </a:t>
            </a:r>
            <a:r>
              <a:rPr sz="2000" spc="-10" dirty="0">
                <a:latin typeface="Times New Roman"/>
                <a:cs typeface="Times New Roman"/>
              </a:rPr>
              <a:t>like insulating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gas.</a:t>
            </a:r>
            <a:endParaRPr sz="2000">
              <a:latin typeface="Times New Roman"/>
              <a:cs typeface="Times New Roman"/>
            </a:endParaRPr>
          </a:p>
          <a:p>
            <a:pPr marL="304800" indent="-228600" algn="just">
              <a:lnSpc>
                <a:spcPts val="2280"/>
              </a:lnSpc>
              <a:spcBef>
                <a:spcPts val="740"/>
              </a:spcBef>
              <a:buFont typeface="Arial"/>
              <a:buChar char="•"/>
              <a:tabLst>
                <a:tab pos="30480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done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arc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restrike.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Thus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interruption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process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involves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electron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attachment</a:t>
            </a:r>
            <a:endParaRPr sz="2000">
              <a:latin typeface="Times New Roman"/>
              <a:cs typeface="Times New Roman"/>
            </a:endParaRPr>
          </a:p>
          <a:p>
            <a:pPr marL="304800" algn="just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process. This process is </a:t>
            </a:r>
            <a:r>
              <a:rPr sz="2000" spc="-10" dirty="0">
                <a:latin typeface="Times New Roman"/>
                <a:cs typeface="Times New Roman"/>
              </a:rPr>
              <a:t>due importance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switchgears.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29001" y="2776347"/>
            <a:ext cx="1200785" cy="76200"/>
          </a:xfrm>
          <a:custGeom>
            <a:avLst/>
            <a:gdLst/>
            <a:ahLst/>
            <a:cxnLst/>
            <a:rect l="l" t="t" r="r" b="b"/>
            <a:pathLst>
              <a:path w="1200785" h="76200">
                <a:moveTo>
                  <a:pt x="1124585" y="0"/>
                </a:moveTo>
                <a:lnTo>
                  <a:pt x="1124160" y="31851"/>
                </a:lnTo>
                <a:lnTo>
                  <a:pt x="1136903" y="32003"/>
                </a:lnTo>
                <a:lnTo>
                  <a:pt x="1136650" y="44703"/>
                </a:lnTo>
                <a:lnTo>
                  <a:pt x="1123988" y="44703"/>
                </a:lnTo>
                <a:lnTo>
                  <a:pt x="1123569" y="76200"/>
                </a:lnTo>
                <a:lnTo>
                  <a:pt x="1188495" y="44703"/>
                </a:lnTo>
                <a:lnTo>
                  <a:pt x="1136650" y="44703"/>
                </a:lnTo>
                <a:lnTo>
                  <a:pt x="1123990" y="44552"/>
                </a:lnTo>
                <a:lnTo>
                  <a:pt x="1188807" y="44552"/>
                </a:lnTo>
                <a:lnTo>
                  <a:pt x="1200277" y="38988"/>
                </a:lnTo>
                <a:lnTo>
                  <a:pt x="1124585" y="0"/>
                </a:lnTo>
                <a:close/>
              </a:path>
              <a:path w="1200785" h="76200">
                <a:moveTo>
                  <a:pt x="1124160" y="31851"/>
                </a:moveTo>
                <a:lnTo>
                  <a:pt x="1123990" y="44552"/>
                </a:lnTo>
                <a:lnTo>
                  <a:pt x="1136650" y="44703"/>
                </a:lnTo>
                <a:lnTo>
                  <a:pt x="1136903" y="32003"/>
                </a:lnTo>
                <a:lnTo>
                  <a:pt x="1124160" y="31851"/>
                </a:lnTo>
                <a:close/>
              </a:path>
              <a:path w="1200785" h="76200">
                <a:moveTo>
                  <a:pt x="254" y="18414"/>
                </a:moveTo>
                <a:lnTo>
                  <a:pt x="0" y="31114"/>
                </a:lnTo>
                <a:lnTo>
                  <a:pt x="1123990" y="44552"/>
                </a:lnTo>
                <a:lnTo>
                  <a:pt x="1124160" y="31851"/>
                </a:lnTo>
                <a:lnTo>
                  <a:pt x="254" y="1841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8661" y="2455621"/>
            <a:ext cx="92373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22850" algn="l"/>
              </a:tabLst>
            </a:pPr>
            <a:r>
              <a:rPr sz="4400" spc="-65" dirty="0"/>
              <a:t>Townsend’s</a:t>
            </a:r>
            <a:r>
              <a:rPr sz="4400" spc="65" dirty="0"/>
              <a:t> </a:t>
            </a:r>
            <a:r>
              <a:rPr sz="4400" spc="-20" dirty="0"/>
              <a:t>Current	Growth</a:t>
            </a:r>
            <a:r>
              <a:rPr sz="4400" spc="-40" dirty="0"/>
              <a:t> </a:t>
            </a:r>
            <a:r>
              <a:rPr sz="4400" dirty="0"/>
              <a:t>Equation</a:t>
            </a:r>
            <a:endParaRPr sz="4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1318" y="2224466"/>
            <a:ext cx="10631805" cy="127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36065">
              <a:lnSpc>
                <a:spcPct val="113399"/>
              </a:lnSpc>
              <a:spcBef>
                <a:spcPts val="100"/>
              </a:spcBef>
            </a:pPr>
            <a:r>
              <a:rPr spc="-50" dirty="0"/>
              <a:t>Townsend’s </a:t>
            </a:r>
            <a:r>
              <a:rPr spc="-10" dirty="0"/>
              <a:t>Current </a:t>
            </a:r>
            <a:r>
              <a:rPr spc="-5" dirty="0"/>
              <a:t>Growth Equation  (Considering </a:t>
            </a:r>
            <a:r>
              <a:rPr dirty="0"/>
              <a:t>Primary </a:t>
            </a:r>
            <a:r>
              <a:rPr spc="-5" dirty="0"/>
              <a:t>and Secondary Ionisation</a:t>
            </a:r>
            <a:r>
              <a:rPr spc="60" dirty="0"/>
              <a:t> </a:t>
            </a:r>
            <a:r>
              <a:rPr spc="-5" dirty="0"/>
              <a:t>Both)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6826" y="166192"/>
            <a:ext cx="811847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0" dirty="0"/>
              <a:t>Townsend’s </a:t>
            </a:r>
            <a:r>
              <a:rPr sz="4000" spc="-5" dirty="0"/>
              <a:t>Criterion </a:t>
            </a:r>
            <a:r>
              <a:rPr sz="4000" spc="5" dirty="0"/>
              <a:t>for</a:t>
            </a:r>
            <a:r>
              <a:rPr sz="4000" spc="-130" dirty="0"/>
              <a:t> </a:t>
            </a:r>
            <a:r>
              <a:rPr sz="4000" spc="-5" dirty="0"/>
              <a:t>Breakdown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01168" y="1841753"/>
            <a:ext cx="11659870" cy="40506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04800" marR="81280" indent="-228600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 equation </a:t>
            </a:r>
            <a:r>
              <a:rPr sz="1800" spc="-10" dirty="0">
                <a:latin typeface="Times New Roman"/>
                <a:cs typeface="Times New Roman"/>
              </a:rPr>
              <a:t>gives </a:t>
            </a:r>
            <a:r>
              <a:rPr sz="1800" dirty="0">
                <a:latin typeface="Times New Roman"/>
                <a:cs typeface="Times New Roman"/>
              </a:rPr>
              <a:t>total </a:t>
            </a:r>
            <a:r>
              <a:rPr sz="1800" spc="-5" dirty="0">
                <a:latin typeface="Times New Roman"/>
                <a:cs typeface="Times New Roman"/>
              </a:rPr>
              <a:t>average </a:t>
            </a:r>
            <a:r>
              <a:rPr sz="1800" dirty="0">
                <a:latin typeface="Times New Roman"/>
                <a:cs typeface="Times New Roman"/>
              </a:rPr>
              <a:t>current in a </a:t>
            </a:r>
            <a:r>
              <a:rPr sz="1800" spc="-10" dirty="0">
                <a:latin typeface="Times New Roman"/>
                <a:cs typeface="Times New Roman"/>
              </a:rPr>
              <a:t>gap </a:t>
            </a:r>
            <a:r>
              <a:rPr sz="1800" spc="-5" dirty="0">
                <a:latin typeface="Times New Roman"/>
                <a:cs typeface="Times New Roman"/>
              </a:rPr>
              <a:t>before occurrence breakdown. </a:t>
            </a:r>
            <a:r>
              <a:rPr sz="1800" spc="-20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distance </a:t>
            </a:r>
            <a:r>
              <a:rPr sz="1800" spc="-5" dirty="0">
                <a:latin typeface="Times New Roman"/>
                <a:cs typeface="Times New Roman"/>
              </a:rPr>
              <a:t>between electrodes </a:t>
            </a:r>
            <a:r>
              <a:rPr sz="1800" dirty="0">
                <a:latin typeface="Times New Roman"/>
                <a:cs typeface="Times New Roman"/>
              </a:rPr>
              <a:t>d </a:t>
            </a:r>
            <a:r>
              <a:rPr sz="1800" spc="-5" dirty="0">
                <a:latin typeface="Times New Roman"/>
                <a:cs typeface="Times New Roman"/>
              </a:rPr>
              <a:t>is  increased,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denominator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equation tends to </a:t>
            </a:r>
            <a:r>
              <a:rPr sz="1800" spc="-5" dirty="0">
                <a:latin typeface="Times New Roman"/>
                <a:cs typeface="Times New Roman"/>
              </a:rPr>
              <a:t>zero,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some </a:t>
            </a:r>
            <a:r>
              <a:rPr sz="1800" spc="-5" dirty="0">
                <a:latin typeface="Times New Roman"/>
                <a:cs typeface="Times New Roman"/>
              </a:rPr>
              <a:t>critical</a:t>
            </a:r>
            <a:r>
              <a:rPr sz="1800" dirty="0">
                <a:latin typeface="Times New Roman"/>
                <a:cs typeface="Times New Roman"/>
              </a:rPr>
              <a:t> distance.</a:t>
            </a:r>
            <a:endParaRPr sz="1800">
              <a:latin typeface="Times New Roman"/>
              <a:cs typeface="Times New Roman"/>
            </a:endParaRPr>
          </a:p>
          <a:p>
            <a:pPr marR="2927985" algn="ctr">
              <a:lnSpc>
                <a:spcPct val="100000"/>
              </a:lnSpc>
              <a:spcBef>
                <a:spcPts val="725"/>
              </a:spcBef>
            </a:pPr>
            <a:r>
              <a:rPr sz="1800" spc="5" dirty="0">
                <a:latin typeface="Times New Roman"/>
                <a:cs typeface="Times New Roman"/>
              </a:rPr>
              <a:t>d=</a:t>
            </a:r>
            <a:r>
              <a:rPr sz="1800" spc="5" dirty="0">
                <a:latin typeface="Cambria Math"/>
                <a:cs typeface="Cambria Math"/>
              </a:rPr>
              <a:t>𝑑</a:t>
            </a:r>
            <a:r>
              <a:rPr sz="1950" spc="7" baseline="-14957" dirty="0">
                <a:latin typeface="Cambria Math"/>
                <a:cs typeface="Cambria Math"/>
              </a:rPr>
              <a:t>𝑠</a:t>
            </a:r>
            <a:endParaRPr sz="1950" baseline="-14957">
              <a:latin typeface="Cambria Math"/>
              <a:cs typeface="Cambria Math"/>
            </a:endParaRPr>
          </a:p>
          <a:p>
            <a:pPr marL="3816985">
              <a:lnSpc>
                <a:spcPct val="100000"/>
              </a:lnSpc>
              <a:spcBef>
                <a:spcPts val="1585"/>
              </a:spcBef>
            </a:pPr>
            <a:r>
              <a:rPr sz="1800" spc="5" dirty="0">
                <a:latin typeface="Times New Roman"/>
                <a:cs typeface="Times New Roman"/>
              </a:rPr>
              <a:t>1- </a:t>
            </a:r>
            <a:r>
              <a:rPr sz="1800" dirty="0">
                <a:latin typeface="Times New Roman"/>
                <a:cs typeface="Times New Roman"/>
              </a:rPr>
              <a:t>γ (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Cambria Math"/>
                <a:cs typeface="Cambria Math"/>
              </a:rPr>
              <a:t>𝑒</a:t>
            </a:r>
            <a:r>
              <a:rPr sz="1950" spc="75" baseline="27777" dirty="0">
                <a:latin typeface="Cambria Math"/>
                <a:cs typeface="Cambria Math"/>
              </a:rPr>
              <a:t>α𝑑</a:t>
            </a:r>
            <a:r>
              <a:rPr sz="1800" spc="50" dirty="0">
                <a:latin typeface="Times New Roman"/>
                <a:cs typeface="Times New Roman"/>
              </a:rPr>
              <a:t>-1)=0</a:t>
            </a:r>
            <a:endParaRPr sz="1800">
              <a:latin typeface="Times New Roman"/>
              <a:cs typeface="Times New Roman"/>
            </a:endParaRPr>
          </a:p>
          <a:p>
            <a:pPr marL="362585" indent="-287020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362585" algn="l"/>
                <a:tab pos="363220" algn="l"/>
              </a:tabLst>
            </a:pP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values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d </a:t>
            </a:r>
            <a:r>
              <a:rPr sz="1800" dirty="0">
                <a:latin typeface="Cambria Math"/>
                <a:cs typeface="Cambria Math"/>
              </a:rPr>
              <a:t>&lt; </a:t>
            </a:r>
            <a:r>
              <a:rPr sz="1800" spc="10" dirty="0">
                <a:latin typeface="Cambria Math"/>
                <a:cs typeface="Cambria Math"/>
              </a:rPr>
              <a:t>𝑑</a:t>
            </a:r>
            <a:r>
              <a:rPr sz="1950" spc="15" baseline="-14957" dirty="0">
                <a:latin typeface="Cambria Math"/>
                <a:cs typeface="Cambria Math"/>
              </a:rPr>
              <a:t>𝑠 </a:t>
            </a:r>
            <a:r>
              <a:rPr sz="1800" dirty="0">
                <a:latin typeface="Times New Roman"/>
                <a:cs typeface="Times New Roman"/>
              </a:rPr>
              <a:t>, I </a:t>
            </a:r>
            <a:r>
              <a:rPr sz="1800" spc="-5" dirty="0">
                <a:latin typeface="Times New Roman"/>
                <a:cs typeface="Times New Roman"/>
              </a:rPr>
              <a:t>is approximately </a:t>
            </a:r>
            <a:r>
              <a:rPr sz="1800" dirty="0">
                <a:latin typeface="Times New Roman"/>
                <a:cs typeface="Times New Roman"/>
              </a:rPr>
              <a:t>equal to Io and if </a:t>
            </a:r>
            <a:r>
              <a:rPr sz="1800" spc="-5" dirty="0">
                <a:latin typeface="Times New Roman"/>
                <a:cs typeface="Times New Roman"/>
              </a:rPr>
              <a:t>external </a:t>
            </a:r>
            <a:r>
              <a:rPr sz="1800" dirty="0">
                <a:latin typeface="Times New Roman"/>
                <a:cs typeface="Times New Roman"/>
              </a:rPr>
              <a:t>source </a:t>
            </a:r>
            <a:r>
              <a:rPr sz="1800" spc="-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supply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Io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removed, </a:t>
            </a:r>
            <a:r>
              <a:rPr sz="1800" dirty="0">
                <a:latin typeface="Times New Roman"/>
                <a:cs typeface="Times New Roman"/>
              </a:rPr>
              <a:t>I </a:t>
            </a:r>
            <a:r>
              <a:rPr sz="1800" spc="-10" dirty="0">
                <a:latin typeface="Times New Roman"/>
                <a:cs typeface="Times New Roman"/>
              </a:rPr>
              <a:t>becomes</a:t>
            </a:r>
            <a:r>
              <a:rPr sz="1800" spc="-20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zero.</a:t>
            </a:r>
            <a:endParaRPr sz="1800">
              <a:latin typeface="Times New Roman"/>
              <a:cs typeface="Times New Roman"/>
            </a:endParaRPr>
          </a:p>
          <a:p>
            <a:pPr marL="304800" marR="82550" indent="-228600">
              <a:lnSpc>
                <a:spcPts val="1989"/>
              </a:lnSpc>
              <a:spcBef>
                <a:spcPts val="980"/>
              </a:spcBef>
              <a:buFont typeface="Arial"/>
              <a:buChar char="•"/>
              <a:tabLst>
                <a:tab pos="304165" algn="l"/>
                <a:tab pos="304800" algn="l"/>
                <a:tab pos="1959610" algn="l"/>
                <a:tab pos="5514975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d=</a:t>
            </a:r>
            <a:r>
              <a:rPr sz="1800" spc="25" dirty="0">
                <a:latin typeface="Cambria Math"/>
                <a:cs typeface="Cambria Math"/>
              </a:rPr>
              <a:t>𝑑</a:t>
            </a:r>
            <a:r>
              <a:rPr sz="1950" spc="37" baseline="-14957" dirty="0">
                <a:latin typeface="Cambria Math"/>
                <a:cs typeface="Cambria Math"/>
              </a:rPr>
              <a:t>𝑠</a:t>
            </a:r>
            <a:r>
              <a:rPr sz="1800" spc="25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	∞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current </a:t>
            </a:r>
            <a:r>
              <a:rPr sz="1800" spc="-10" dirty="0">
                <a:latin typeface="Times New Roman"/>
                <a:cs typeface="Times New Roman"/>
              </a:rPr>
              <a:t>limited </a:t>
            </a:r>
            <a:r>
              <a:rPr sz="1800" spc="-5" dirty="0">
                <a:latin typeface="Times New Roman"/>
                <a:cs typeface="Times New Roman"/>
              </a:rPr>
              <a:t>only </a:t>
            </a:r>
            <a:r>
              <a:rPr sz="1800" spc="15" dirty="0">
                <a:latin typeface="Times New Roman"/>
                <a:cs typeface="Times New Roman"/>
              </a:rPr>
              <a:t>by </a:t>
            </a:r>
            <a:r>
              <a:rPr sz="1800" spc="-5" dirty="0">
                <a:latin typeface="Times New Roman"/>
                <a:cs typeface="Times New Roman"/>
              </a:rPr>
              <a:t>resistance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power </a:t>
            </a:r>
            <a:r>
              <a:rPr sz="1800" dirty="0">
                <a:latin typeface="Times New Roman"/>
                <a:cs typeface="Times New Roman"/>
              </a:rPr>
              <a:t>supply and </a:t>
            </a:r>
            <a:r>
              <a:rPr sz="1800" spc="-5" dirty="0">
                <a:latin typeface="Times New Roman"/>
                <a:cs typeface="Times New Roman"/>
              </a:rPr>
              <a:t>external </a:t>
            </a:r>
            <a:r>
              <a:rPr sz="1800" dirty="0">
                <a:latin typeface="Times New Roman"/>
                <a:cs typeface="Times New Roman"/>
              </a:rPr>
              <a:t>circuit. </a:t>
            </a:r>
            <a:r>
              <a:rPr sz="1800" spc="-5" dirty="0">
                <a:latin typeface="Times New Roman"/>
                <a:cs typeface="Times New Roman"/>
              </a:rPr>
              <a:t>This condition is called  </a:t>
            </a:r>
            <a:r>
              <a:rPr sz="1800" spc="-30" dirty="0">
                <a:latin typeface="Times New Roman"/>
                <a:cs typeface="Times New Roman"/>
              </a:rPr>
              <a:t>Townsend’s </a:t>
            </a:r>
            <a:r>
              <a:rPr sz="1800" spc="-5" dirty="0">
                <a:latin typeface="Times New Roman"/>
                <a:cs typeface="Times New Roman"/>
              </a:rPr>
              <a:t>breakdown criterion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can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written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	</a:t>
            </a:r>
            <a:r>
              <a:rPr sz="1800" dirty="0">
                <a:latin typeface="Times New Roman"/>
                <a:cs typeface="Times New Roman"/>
              </a:rPr>
              <a:t>γ ( </a:t>
            </a:r>
            <a:r>
              <a:rPr sz="1800" spc="80" dirty="0">
                <a:latin typeface="Cambria Math"/>
                <a:cs typeface="Cambria Math"/>
              </a:rPr>
              <a:t>𝑒</a:t>
            </a:r>
            <a:r>
              <a:rPr sz="1950" spc="120" baseline="27777" dirty="0">
                <a:latin typeface="Cambria Math"/>
                <a:cs typeface="Cambria Math"/>
              </a:rPr>
              <a:t>α𝑑</a:t>
            </a:r>
            <a:r>
              <a:rPr sz="1800" spc="80" dirty="0">
                <a:latin typeface="Times New Roman"/>
                <a:cs typeface="Times New Roman"/>
              </a:rPr>
              <a:t>-1 </a:t>
            </a:r>
            <a:r>
              <a:rPr sz="1800" dirty="0">
                <a:latin typeface="Times New Roman"/>
                <a:cs typeface="Times New Roman"/>
              </a:rPr>
              <a:t>)=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1.</a:t>
            </a:r>
            <a:endParaRPr sz="1800">
              <a:latin typeface="Times New Roman"/>
              <a:cs typeface="Times New Roman"/>
            </a:endParaRPr>
          </a:p>
          <a:p>
            <a:pPr marL="304800" indent="-228600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1800" spc="-25" dirty="0">
                <a:latin typeface="Times New Roman"/>
                <a:cs typeface="Times New Roman"/>
              </a:rPr>
              <a:t>Normally, </a:t>
            </a:r>
            <a:r>
              <a:rPr sz="1800" spc="95" dirty="0">
                <a:latin typeface="Cambria Math"/>
                <a:cs typeface="Cambria Math"/>
              </a:rPr>
              <a:t>𝑒</a:t>
            </a:r>
            <a:r>
              <a:rPr sz="1950" spc="142" baseline="27777" dirty="0">
                <a:latin typeface="Cambria Math"/>
                <a:cs typeface="Cambria Math"/>
              </a:rPr>
              <a:t>α𝑑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very large </a:t>
            </a:r>
            <a:r>
              <a:rPr sz="1800" dirty="0">
                <a:latin typeface="Times New Roman"/>
                <a:cs typeface="Times New Roman"/>
              </a:rPr>
              <a:t>and hence </a:t>
            </a:r>
            <a:r>
              <a:rPr sz="1800" spc="-5" dirty="0">
                <a:latin typeface="Times New Roman"/>
                <a:cs typeface="Times New Roman"/>
              </a:rPr>
              <a:t>above </a:t>
            </a:r>
            <a:r>
              <a:rPr sz="1800" dirty="0">
                <a:latin typeface="Times New Roman"/>
                <a:cs typeface="Times New Roman"/>
              </a:rPr>
              <a:t>equation </a:t>
            </a:r>
            <a:r>
              <a:rPr sz="1800" spc="-5" dirty="0">
                <a:latin typeface="Times New Roman"/>
                <a:cs typeface="Times New Roman"/>
              </a:rPr>
              <a:t>reduces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55" dirty="0">
                <a:latin typeface="Times New Roman"/>
                <a:cs typeface="Times New Roman"/>
              </a:rPr>
              <a:t>γ.</a:t>
            </a:r>
            <a:r>
              <a:rPr sz="1800" spc="55" dirty="0">
                <a:latin typeface="Cambria Math"/>
                <a:cs typeface="Cambria Math"/>
              </a:rPr>
              <a:t>𝑒</a:t>
            </a:r>
            <a:r>
              <a:rPr sz="1950" spc="82" baseline="27777" dirty="0">
                <a:latin typeface="Cambria Math"/>
                <a:cs typeface="Cambria Math"/>
              </a:rPr>
              <a:t>α𝑑</a:t>
            </a:r>
            <a:r>
              <a:rPr sz="1950" spc="30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=1.</a:t>
            </a:r>
            <a:endParaRPr sz="1800">
              <a:latin typeface="Times New Roman"/>
              <a:cs typeface="Times New Roman"/>
            </a:endParaRPr>
          </a:p>
          <a:p>
            <a:pPr marL="304800" marR="81280" indent="-228600">
              <a:lnSpc>
                <a:spcPts val="1950"/>
              </a:lnSpc>
              <a:spcBef>
                <a:spcPts val="1030"/>
              </a:spcBef>
              <a:buFont typeface="Arial"/>
              <a:buChar char="•"/>
              <a:tabLst>
                <a:tab pos="362585" algn="l"/>
                <a:tab pos="363220" algn="l"/>
              </a:tabLst>
            </a:pPr>
            <a:r>
              <a:rPr dirty="0"/>
              <a:t>	</a:t>
            </a:r>
            <a:r>
              <a:rPr sz="1800" dirty="0">
                <a:latin typeface="Times New Roman"/>
                <a:cs typeface="Times New Roman"/>
              </a:rPr>
              <a:t>For a </a:t>
            </a:r>
            <a:r>
              <a:rPr sz="1800" spc="-10" dirty="0">
                <a:latin typeface="Times New Roman"/>
                <a:cs typeface="Times New Roman"/>
              </a:rPr>
              <a:t>given gap </a:t>
            </a:r>
            <a:r>
              <a:rPr sz="1800" spc="-5" dirty="0">
                <a:latin typeface="Times New Roman"/>
                <a:cs typeface="Times New Roman"/>
              </a:rPr>
              <a:t>spacing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given </a:t>
            </a:r>
            <a:r>
              <a:rPr sz="1800" spc="-5" dirty="0">
                <a:latin typeface="Times New Roman"/>
                <a:cs typeface="Times New Roman"/>
              </a:rPr>
              <a:t>value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voltage V which gives values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Cambria Math"/>
                <a:cs typeface="Cambria Math"/>
              </a:rPr>
              <a:t>𝛼 &amp; 𝛾 </a:t>
            </a:r>
            <a:r>
              <a:rPr sz="1800" spc="-5" dirty="0">
                <a:latin typeface="Times New Roman"/>
                <a:cs typeface="Times New Roman"/>
              </a:rPr>
              <a:t>satisfying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breakdown criterion is  called </a:t>
            </a:r>
            <a:r>
              <a:rPr sz="1800" dirty="0">
                <a:latin typeface="Times New Roman"/>
                <a:cs typeface="Times New Roman"/>
              </a:rPr>
              <a:t>“ Spark </a:t>
            </a:r>
            <a:r>
              <a:rPr sz="1800" spc="-5" dirty="0">
                <a:latin typeface="Times New Roman"/>
                <a:cs typeface="Times New Roman"/>
              </a:rPr>
              <a:t>Breakdown </a:t>
            </a:r>
            <a:r>
              <a:rPr sz="1800" spc="-20" dirty="0">
                <a:latin typeface="Times New Roman"/>
                <a:cs typeface="Times New Roman"/>
              </a:rPr>
              <a:t>Voltage(Vs)” </a:t>
            </a:r>
            <a:r>
              <a:rPr sz="1800" dirty="0">
                <a:latin typeface="Times New Roman"/>
                <a:cs typeface="Times New Roman"/>
              </a:rPr>
              <a:t>and corresponding distance </a:t>
            </a:r>
            <a:r>
              <a:rPr sz="1800" spc="-5" dirty="0">
                <a:latin typeface="Times New Roman"/>
                <a:cs typeface="Times New Roman"/>
              </a:rPr>
              <a:t>is called </a:t>
            </a:r>
            <a:r>
              <a:rPr sz="1800" dirty="0">
                <a:latin typeface="Times New Roman"/>
                <a:cs typeface="Times New Roman"/>
              </a:rPr>
              <a:t>“ Sparking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Distance(ds)”.</a:t>
            </a:r>
            <a:endParaRPr sz="1800">
              <a:latin typeface="Times New Roman"/>
              <a:cs typeface="Times New Roman"/>
            </a:endParaRPr>
          </a:p>
          <a:p>
            <a:pPr marL="304800" indent="-228600">
              <a:lnSpc>
                <a:spcPts val="2050"/>
              </a:lnSpc>
              <a:spcBef>
                <a:spcPts val="735"/>
              </a:spcBef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Thus,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Townsend’s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mechanism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explains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phenomenon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breakdown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only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pressure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i.e.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corresponding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p*d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(gap</a:t>
            </a:r>
            <a:endParaRPr sz="1800">
              <a:latin typeface="Times New Roman"/>
              <a:cs typeface="Times New Roman"/>
            </a:endParaRPr>
          </a:p>
          <a:p>
            <a:pPr marL="304800">
              <a:lnSpc>
                <a:spcPts val="2050"/>
              </a:lnSpc>
            </a:pPr>
            <a:r>
              <a:rPr sz="1800" spc="-5" dirty="0">
                <a:latin typeface="Times New Roman"/>
                <a:cs typeface="Times New Roman"/>
              </a:rPr>
              <a:t>pressure </a:t>
            </a:r>
            <a:r>
              <a:rPr sz="1800" dirty="0">
                <a:latin typeface="Times New Roman"/>
                <a:cs typeface="Times New Roman"/>
              </a:rPr>
              <a:t>* </a:t>
            </a:r>
            <a:r>
              <a:rPr sz="1800" spc="-10" dirty="0">
                <a:latin typeface="Times New Roman"/>
                <a:cs typeface="Times New Roman"/>
              </a:rPr>
              <a:t>gap </a:t>
            </a:r>
            <a:r>
              <a:rPr sz="1800" spc="-5" dirty="0">
                <a:latin typeface="Times New Roman"/>
                <a:cs typeface="Times New Roman"/>
              </a:rPr>
              <a:t>distance) values </a:t>
            </a:r>
            <a:r>
              <a:rPr sz="1800" spc="5" dirty="0">
                <a:latin typeface="Times New Roman"/>
                <a:cs typeface="Times New Roman"/>
              </a:rPr>
              <a:t>of 1000 </a:t>
            </a:r>
            <a:r>
              <a:rPr sz="1800" spc="-35" dirty="0">
                <a:latin typeface="Times New Roman"/>
                <a:cs typeface="Times New Roman"/>
              </a:rPr>
              <a:t>Torr.cm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below.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6640" y="1192744"/>
            <a:ext cx="1417955" cy="0"/>
          </a:xfrm>
          <a:custGeom>
            <a:avLst/>
            <a:gdLst/>
            <a:ahLst/>
            <a:cxnLst/>
            <a:rect l="l" t="t" r="r" b="b"/>
            <a:pathLst>
              <a:path w="1417955">
                <a:moveTo>
                  <a:pt x="0" y="0"/>
                </a:moveTo>
                <a:lnTo>
                  <a:pt x="1417346" y="0"/>
                </a:lnTo>
              </a:path>
            </a:pathLst>
          </a:custGeom>
          <a:ln w="12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7593" y="952490"/>
            <a:ext cx="37401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i="1" spc="-30" dirty="0">
                <a:latin typeface="Times New Roman"/>
                <a:cs typeface="Times New Roman"/>
              </a:rPr>
              <a:t>I</a:t>
            </a:r>
            <a:r>
              <a:rPr sz="2350" i="1" spc="70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9378" y="962660"/>
            <a:ext cx="320675" cy="456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90"/>
              </a:spcBef>
            </a:pPr>
            <a:r>
              <a:rPr sz="1400" spc="-4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  <a:p>
            <a:pPr marL="201295">
              <a:lnSpc>
                <a:spcPts val="1730"/>
              </a:lnSpc>
            </a:pPr>
            <a:r>
              <a:rPr sz="1450" i="1" spc="-85" dirty="0">
                <a:latin typeface="Symbol"/>
                <a:cs typeface="Symbol"/>
              </a:rPr>
              <a:t>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1930" y="624907"/>
            <a:ext cx="59690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525" i="1" spc="-44" baseline="-24822" dirty="0">
                <a:latin typeface="Times New Roman"/>
                <a:cs typeface="Times New Roman"/>
              </a:rPr>
              <a:t>I</a:t>
            </a:r>
            <a:r>
              <a:rPr sz="3525" i="1" spc="284" baseline="-24822" dirty="0">
                <a:latin typeface="Times New Roman"/>
                <a:cs typeface="Times New Roman"/>
              </a:rPr>
              <a:t> </a:t>
            </a:r>
            <a:r>
              <a:rPr sz="3525" i="1" spc="-89" baseline="-24822" dirty="0">
                <a:latin typeface="Times New Roman"/>
                <a:cs typeface="Times New Roman"/>
              </a:rPr>
              <a:t>e</a:t>
            </a:r>
            <a:r>
              <a:rPr sz="1450" i="1" spc="-60" dirty="0">
                <a:latin typeface="Symbol"/>
                <a:cs typeface="Symbol"/>
              </a:rPr>
              <a:t></a:t>
            </a:r>
            <a:r>
              <a:rPr sz="1400" i="1" spc="-60" dirty="0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6580" y="1174824"/>
            <a:ext cx="149352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30" dirty="0">
                <a:latin typeface="Times New Roman"/>
                <a:cs typeface="Times New Roman"/>
              </a:rPr>
              <a:t>1</a:t>
            </a:r>
            <a:r>
              <a:rPr sz="2350" spc="30" dirty="0">
                <a:latin typeface="Symbol"/>
                <a:cs typeface="Symbol"/>
              </a:rPr>
              <a:t></a:t>
            </a:r>
            <a:r>
              <a:rPr sz="2350" spc="30" dirty="0">
                <a:latin typeface="Times New Roman"/>
                <a:cs typeface="Times New Roman"/>
              </a:rPr>
              <a:t> </a:t>
            </a:r>
            <a:r>
              <a:rPr sz="2500" i="1" spc="-100" dirty="0">
                <a:latin typeface="Symbol"/>
                <a:cs typeface="Symbol"/>
              </a:rPr>
              <a:t></a:t>
            </a:r>
            <a:r>
              <a:rPr sz="2500" i="1" spc="-100" dirty="0">
                <a:latin typeface="Times New Roman"/>
                <a:cs typeface="Times New Roman"/>
              </a:rPr>
              <a:t> </a:t>
            </a:r>
            <a:r>
              <a:rPr sz="2350" spc="-30" dirty="0">
                <a:latin typeface="Times New Roman"/>
                <a:cs typeface="Times New Roman"/>
              </a:rPr>
              <a:t>(</a:t>
            </a:r>
            <a:r>
              <a:rPr sz="2350" i="1" spc="-30" dirty="0">
                <a:latin typeface="Times New Roman"/>
                <a:cs typeface="Times New Roman"/>
              </a:rPr>
              <a:t>e </a:t>
            </a:r>
            <a:r>
              <a:rPr sz="2100" i="1" spc="-60" baseline="41666" dirty="0">
                <a:latin typeface="Times New Roman"/>
                <a:cs typeface="Times New Roman"/>
              </a:rPr>
              <a:t>d</a:t>
            </a:r>
            <a:r>
              <a:rPr sz="2100" i="1" spc="112" baseline="41666" dirty="0">
                <a:latin typeface="Times New Roman"/>
                <a:cs typeface="Times New Roman"/>
              </a:rPr>
              <a:t> </a:t>
            </a:r>
            <a:r>
              <a:rPr sz="2350" spc="-70" dirty="0">
                <a:latin typeface="Symbol"/>
                <a:cs typeface="Symbol"/>
              </a:rPr>
              <a:t></a:t>
            </a:r>
            <a:r>
              <a:rPr sz="2350" spc="-70" dirty="0">
                <a:latin typeface="Times New Roman"/>
                <a:cs typeface="Times New Roman"/>
              </a:rPr>
              <a:t>1)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44497" y="3856482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08102" y="0"/>
                </a:moveTo>
                <a:lnTo>
                  <a:pt x="306936" y="31782"/>
                </a:lnTo>
                <a:lnTo>
                  <a:pt x="319659" y="32258"/>
                </a:lnTo>
                <a:lnTo>
                  <a:pt x="319151" y="44958"/>
                </a:lnTo>
                <a:lnTo>
                  <a:pt x="306453" y="44958"/>
                </a:lnTo>
                <a:lnTo>
                  <a:pt x="305308" y="76200"/>
                </a:lnTo>
                <a:lnTo>
                  <a:pt x="373860" y="44958"/>
                </a:lnTo>
                <a:lnTo>
                  <a:pt x="319151" y="44958"/>
                </a:lnTo>
                <a:lnTo>
                  <a:pt x="306470" y="44483"/>
                </a:lnTo>
                <a:lnTo>
                  <a:pt x="374901" y="44483"/>
                </a:lnTo>
                <a:lnTo>
                  <a:pt x="382778" y="40894"/>
                </a:lnTo>
                <a:lnTo>
                  <a:pt x="308102" y="0"/>
                </a:lnTo>
                <a:close/>
              </a:path>
              <a:path w="382905" h="76200">
                <a:moveTo>
                  <a:pt x="306936" y="31782"/>
                </a:moveTo>
                <a:lnTo>
                  <a:pt x="306470" y="44483"/>
                </a:lnTo>
                <a:lnTo>
                  <a:pt x="319151" y="44958"/>
                </a:lnTo>
                <a:lnTo>
                  <a:pt x="319659" y="32258"/>
                </a:lnTo>
                <a:lnTo>
                  <a:pt x="306936" y="31782"/>
                </a:lnTo>
                <a:close/>
              </a:path>
              <a:path w="382905" h="76200">
                <a:moveTo>
                  <a:pt x="508" y="20320"/>
                </a:moveTo>
                <a:lnTo>
                  <a:pt x="0" y="33020"/>
                </a:lnTo>
                <a:lnTo>
                  <a:pt x="306470" y="44483"/>
                </a:lnTo>
                <a:lnTo>
                  <a:pt x="306936" y="31782"/>
                </a:lnTo>
                <a:lnTo>
                  <a:pt x="508" y="203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186" y="282397"/>
            <a:ext cx="106807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Limitations/ Drawbacks of </a:t>
            </a:r>
            <a:r>
              <a:rPr sz="3200" spc="-45" dirty="0"/>
              <a:t>Townsend’s </a:t>
            </a:r>
            <a:r>
              <a:rPr sz="3200" spc="-5" dirty="0"/>
              <a:t>theory </a:t>
            </a:r>
            <a:r>
              <a:rPr sz="3200" dirty="0"/>
              <a:t>of</a:t>
            </a:r>
            <a:r>
              <a:rPr sz="3200" spc="5" dirty="0"/>
              <a:t> </a:t>
            </a:r>
            <a:r>
              <a:rPr sz="3200" spc="-10" dirty="0"/>
              <a:t>Breakdown)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12242" y="1337310"/>
            <a:ext cx="11666220" cy="24879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79400" marR="99695" indent="-228600">
              <a:lnSpc>
                <a:spcPts val="2160"/>
              </a:lnSpc>
              <a:spcBef>
                <a:spcPts val="365"/>
              </a:spcBef>
              <a:buFont typeface="Arial"/>
              <a:buChar char="•"/>
              <a:tabLst>
                <a:tab pos="278765" algn="l"/>
                <a:tab pos="279400" algn="l"/>
              </a:tabLst>
            </a:pPr>
            <a:r>
              <a:rPr sz="2000" spc="-40" dirty="0">
                <a:latin typeface="Times New Roman"/>
                <a:cs typeface="Times New Roman"/>
              </a:rPr>
              <a:t>Townsend’s </a:t>
            </a:r>
            <a:r>
              <a:rPr sz="2000" spc="-5" dirty="0">
                <a:latin typeface="Times New Roman"/>
                <a:cs typeface="Times New Roman"/>
              </a:rPr>
              <a:t>stated </a:t>
            </a:r>
            <a:r>
              <a:rPr sz="2000" spc="-10" dirty="0">
                <a:latin typeface="Times New Roman"/>
                <a:cs typeface="Times New Roman"/>
              </a:rPr>
              <a:t>that breakdown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due </a:t>
            </a:r>
            <a:r>
              <a:rPr sz="2000" spc="-5" dirty="0">
                <a:latin typeface="Times New Roman"/>
                <a:cs typeface="Times New Roman"/>
              </a:rPr>
              <a:t>to current </a:t>
            </a:r>
            <a:r>
              <a:rPr sz="2000" spc="-15" dirty="0">
                <a:latin typeface="Times New Roman"/>
                <a:cs typeface="Times New Roman"/>
              </a:rPr>
              <a:t>growth </a:t>
            </a:r>
            <a:r>
              <a:rPr sz="2000" spc="-10" dirty="0">
                <a:latin typeface="Times New Roman"/>
                <a:cs typeface="Times New Roman"/>
              </a:rPr>
              <a:t>and </a:t>
            </a:r>
            <a:r>
              <a:rPr sz="2000" spc="-5" dirty="0">
                <a:latin typeface="Times New Roman"/>
                <a:cs typeface="Times New Roman"/>
              </a:rPr>
              <a:t>current </a:t>
            </a:r>
            <a:r>
              <a:rPr sz="2000" spc="-15" dirty="0">
                <a:latin typeface="Times New Roman"/>
                <a:cs typeface="Times New Roman"/>
              </a:rPr>
              <a:t>growth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due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primary and </a:t>
            </a:r>
            <a:r>
              <a:rPr sz="2000" spc="-5" dirty="0">
                <a:latin typeface="Times New Roman"/>
                <a:cs typeface="Times New Roman"/>
              </a:rPr>
              <a:t>secondary  Ionisation. </a:t>
            </a:r>
            <a:r>
              <a:rPr sz="2000" spc="-10" dirty="0">
                <a:latin typeface="Times New Roman"/>
                <a:cs typeface="Times New Roman"/>
              </a:rPr>
              <a:t>But </a:t>
            </a:r>
            <a:r>
              <a:rPr sz="2000" spc="-5" dirty="0">
                <a:latin typeface="Times New Roman"/>
                <a:cs typeface="Times New Roman"/>
              </a:rPr>
              <a:t>in practice </a:t>
            </a:r>
            <a:r>
              <a:rPr sz="2000" spc="-10" dirty="0">
                <a:latin typeface="Times New Roman"/>
                <a:cs typeface="Times New Roman"/>
              </a:rPr>
              <a:t>breakdown </a:t>
            </a:r>
            <a:r>
              <a:rPr sz="2000" spc="-5" dirty="0">
                <a:latin typeface="Times New Roman"/>
                <a:cs typeface="Times New Roman"/>
              </a:rPr>
              <a:t>is also dependent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10" dirty="0">
                <a:latin typeface="Times New Roman"/>
                <a:cs typeface="Times New Roman"/>
              </a:rPr>
              <a:t>gas </a:t>
            </a:r>
            <a:r>
              <a:rPr sz="2000" spc="-5" dirty="0">
                <a:latin typeface="Times New Roman"/>
                <a:cs typeface="Times New Roman"/>
              </a:rPr>
              <a:t>pressure </a:t>
            </a:r>
            <a:r>
              <a:rPr sz="2000" dirty="0">
                <a:latin typeface="Times New Roman"/>
                <a:cs typeface="Times New Roman"/>
              </a:rPr>
              <a:t>(p) </a:t>
            </a:r>
            <a:r>
              <a:rPr sz="2000" spc="-10" dirty="0">
                <a:latin typeface="Times New Roman"/>
                <a:cs typeface="Times New Roman"/>
              </a:rPr>
              <a:t>and gap </a:t>
            </a:r>
            <a:r>
              <a:rPr sz="2000" spc="-5" dirty="0">
                <a:latin typeface="Times New Roman"/>
                <a:cs typeface="Times New Roman"/>
              </a:rPr>
              <a:t>distance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(d).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35"/>
              </a:spcBef>
            </a:pPr>
            <a:r>
              <a:rPr sz="2000" spc="-5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337185" indent="-287020">
              <a:lnSpc>
                <a:spcPts val="2280"/>
              </a:lnSpc>
              <a:spcBef>
                <a:spcPts val="795"/>
              </a:spcBef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2000" spc="-5" dirty="0">
                <a:latin typeface="Times New Roman"/>
                <a:cs typeface="Times New Roman"/>
              </a:rPr>
              <a:t>This </a:t>
            </a:r>
            <a:r>
              <a:rPr sz="2000" spc="-15" dirty="0">
                <a:latin typeface="Times New Roman"/>
                <a:cs typeface="Times New Roman"/>
              </a:rPr>
              <a:t>mechanism </a:t>
            </a:r>
            <a:r>
              <a:rPr sz="2000" dirty="0">
                <a:latin typeface="Times New Roman"/>
                <a:cs typeface="Times New Roman"/>
              </a:rPr>
              <a:t>predicts </a:t>
            </a:r>
            <a:r>
              <a:rPr sz="2000" spc="-15" dirty="0">
                <a:latin typeface="Times New Roman"/>
                <a:cs typeface="Times New Roman"/>
              </a:rPr>
              <a:t>time </a:t>
            </a:r>
            <a:r>
              <a:rPr sz="2000" spc="-5" dirty="0">
                <a:latin typeface="Times New Roman"/>
                <a:cs typeface="Times New Roman"/>
              </a:rPr>
              <a:t>lag is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order of </a:t>
            </a:r>
            <a:r>
              <a:rPr sz="2000" spc="5" dirty="0">
                <a:latin typeface="Cambria Math"/>
                <a:cs typeface="Cambria Math"/>
              </a:rPr>
              <a:t>10</a:t>
            </a:r>
            <a:r>
              <a:rPr sz="2175" spc="7" baseline="26819" dirty="0">
                <a:latin typeface="Cambria Math"/>
                <a:cs typeface="Cambria Math"/>
              </a:rPr>
              <a:t>−5 </a:t>
            </a:r>
            <a:r>
              <a:rPr sz="2000" spc="-5" dirty="0">
                <a:latin typeface="Times New Roman"/>
                <a:cs typeface="Times New Roman"/>
              </a:rPr>
              <a:t>second. While actual </a:t>
            </a:r>
            <a:r>
              <a:rPr sz="2000" spc="-10" dirty="0">
                <a:latin typeface="Times New Roman"/>
                <a:cs typeface="Times New Roman"/>
              </a:rPr>
              <a:t>breakdown </a:t>
            </a:r>
            <a:r>
              <a:rPr sz="2000" spc="-5" dirty="0">
                <a:latin typeface="Times New Roman"/>
                <a:cs typeface="Times New Roman"/>
              </a:rPr>
              <a:t>occurs in very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short</a:t>
            </a:r>
            <a:endParaRPr sz="2000">
              <a:latin typeface="Times New Roman"/>
              <a:cs typeface="Times New Roman"/>
            </a:endParaRPr>
          </a:p>
          <a:p>
            <a:pPr marL="279400">
              <a:lnSpc>
                <a:spcPts val="2280"/>
              </a:lnSpc>
            </a:pPr>
            <a:r>
              <a:rPr sz="2000" spc="-15" dirty="0">
                <a:latin typeface="Times New Roman"/>
                <a:cs typeface="Times New Roman"/>
              </a:rPr>
              <a:t>time </a:t>
            </a:r>
            <a:r>
              <a:rPr sz="2000" spc="-5" dirty="0">
                <a:latin typeface="Times New Roman"/>
                <a:cs typeface="Times New Roman"/>
              </a:rPr>
              <a:t>i.e. </a:t>
            </a:r>
            <a:r>
              <a:rPr sz="2000" spc="5" dirty="0">
                <a:latin typeface="Cambria Math"/>
                <a:cs typeface="Cambria Math"/>
              </a:rPr>
              <a:t>10</a:t>
            </a:r>
            <a:r>
              <a:rPr sz="2175" spc="7" baseline="26819" dirty="0">
                <a:latin typeface="Cambria Math"/>
                <a:cs typeface="Cambria Math"/>
              </a:rPr>
              <a:t>−8</a:t>
            </a:r>
            <a:r>
              <a:rPr sz="2175" spc="465" baseline="26819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second.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2794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78765" algn="l"/>
                <a:tab pos="279400" algn="l"/>
              </a:tabLst>
            </a:pPr>
            <a:r>
              <a:rPr sz="2000" spc="-40" dirty="0">
                <a:latin typeface="Times New Roman"/>
                <a:cs typeface="Times New Roman"/>
              </a:rPr>
              <a:t>Townsend’s </a:t>
            </a:r>
            <a:r>
              <a:rPr sz="2000" spc="-5" dirty="0">
                <a:latin typeface="Times New Roman"/>
                <a:cs typeface="Times New Roman"/>
              </a:rPr>
              <a:t>predicted </a:t>
            </a:r>
            <a:r>
              <a:rPr sz="2000" spc="-20" dirty="0">
                <a:latin typeface="Times New Roman"/>
                <a:cs typeface="Times New Roman"/>
              </a:rPr>
              <a:t>diffused </a:t>
            </a:r>
            <a:r>
              <a:rPr sz="2000" spc="-10" dirty="0">
                <a:latin typeface="Times New Roman"/>
                <a:cs typeface="Times New Roman"/>
              </a:rPr>
              <a:t>and regular form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5" dirty="0">
                <a:latin typeface="Times New Roman"/>
                <a:cs typeface="Times New Roman"/>
              </a:rPr>
              <a:t>discharge </a:t>
            </a:r>
            <a:r>
              <a:rPr sz="2000" spc="-20" dirty="0">
                <a:latin typeface="Times New Roman"/>
                <a:cs typeface="Times New Roman"/>
              </a:rPr>
              <a:t>while </a:t>
            </a:r>
            <a:r>
              <a:rPr sz="2000" spc="-5" dirty="0">
                <a:latin typeface="Times New Roman"/>
                <a:cs typeface="Times New Roman"/>
              </a:rPr>
              <a:t>actual </a:t>
            </a:r>
            <a:r>
              <a:rPr sz="2000" spc="-15" dirty="0">
                <a:latin typeface="Times New Roman"/>
                <a:cs typeface="Times New Roman"/>
              </a:rPr>
              <a:t>discharge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irregular and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filamentary.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342" y="5102809"/>
            <a:ext cx="11567795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95"/>
              </a:spcBef>
              <a:tabLst>
                <a:tab pos="4298315" algn="l"/>
              </a:tabLst>
            </a:pPr>
            <a:r>
              <a:rPr sz="2000" spc="-20" dirty="0">
                <a:latin typeface="Times New Roman"/>
                <a:cs typeface="Times New Roman"/>
              </a:rPr>
              <a:t>As </a:t>
            </a:r>
            <a:r>
              <a:rPr sz="2000" spc="-40" dirty="0">
                <a:latin typeface="Times New Roman"/>
                <a:cs typeface="Times New Roman"/>
              </a:rPr>
              <a:t>Townsend’s  </a:t>
            </a:r>
            <a:r>
              <a:rPr sz="2000" spc="-10" dirty="0">
                <a:latin typeface="Times New Roman"/>
                <a:cs typeface="Times New Roman"/>
              </a:rPr>
              <a:t>failed </a:t>
            </a:r>
            <a:r>
              <a:rPr sz="2000" spc="-5" dirty="0">
                <a:latin typeface="Times New Roman"/>
                <a:cs typeface="Times New Roman"/>
              </a:rPr>
              <a:t>to explain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-10" dirty="0">
                <a:latin typeface="Times New Roman"/>
                <a:cs typeface="Times New Roman"/>
              </a:rPr>
              <a:t> these	</a:t>
            </a:r>
            <a:r>
              <a:rPr sz="2000" spc="-5" dirty="0">
                <a:latin typeface="Times New Roman"/>
                <a:cs typeface="Times New Roman"/>
              </a:rPr>
              <a:t>observed </a:t>
            </a:r>
            <a:r>
              <a:rPr sz="2000" spc="-10" dirty="0">
                <a:latin typeface="Times New Roman"/>
                <a:cs typeface="Times New Roman"/>
              </a:rPr>
              <a:t>phenomenon, around </a:t>
            </a:r>
            <a:r>
              <a:rPr sz="2000" dirty="0">
                <a:latin typeface="Times New Roman"/>
                <a:cs typeface="Times New Roman"/>
              </a:rPr>
              <a:t>1940 </a:t>
            </a:r>
            <a:r>
              <a:rPr sz="2000" spc="-15" dirty="0">
                <a:latin typeface="Times New Roman"/>
                <a:cs typeface="Times New Roman"/>
              </a:rPr>
              <a:t>Raether, </a:t>
            </a:r>
            <a:r>
              <a:rPr sz="2000" spc="-5" dirty="0">
                <a:latin typeface="Times New Roman"/>
                <a:cs typeface="Times New Roman"/>
              </a:rPr>
              <a:t>Meek </a:t>
            </a:r>
            <a:r>
              <a:rPr sz="2000" spc="-10" dirty="0">
                <a:latin typeface="Times New Roman"/>
                <a:cs typeface="Times New Roman"/>
              </a:rPr>
              <a:t>and Loeb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proposed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a theory called as </a:t>
            </a:r>
            <a:r>
              <a:rPr sz="2000" b="1" spc="-10" dirty="0">
                <a:latin typeface="Times New Roman"/>
                <a:cs typeface="Times New Roman"/>
              </a:rPr>
              <a:t>STREAMER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spc="-45" dirty="0">
                <a:latin typeface="Times New Roman"/>
                <a:cs typeface="Times New Roman"/>
              </a:rPr>
              <a:t>THEORY.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938" y="131521"/>
            <a:ext cx="78524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13835" algn="l"/>
              </a:tabLst>
            </a:pPr>
            <a:r>
              <a:rPr dirty="0"/>
              <a:t>Factors</a:t>
            </a:r>
            <a:r>
              <a:rPr spc="-10" dirty="0"/>
              <a:t> </a:t>
            </a:r>
            <a:r>
              <a:rPr dirty="0"/>
              <a:t>influencing	</a:t>
            </a:r>
            <a:r>
              <a:rPr spc="-10" dirty="0"/>
              <a:t>breakdown </a:t>
            </a:r>
            <a:r>
              <a:rPr dirty="0"/>
              <a:t>in</a:t>
            </a:r>
            <a:r>
              <a:rPr spc="-90" dirty="0"/>
              <a:t> </a:t>
            </a:r>
            <a:r>
              <a:rPr dirty="0"/>
              <a:t>gases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7709" y="796982"/>
            <a:ext cx="4977765" cy="52641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8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spc="-5" dirty="0">
                <a:latin typeface="Times New Roman"/>
                <a:cs typeface="Times New Roman"/>
              </a:rPr>
              <a:t>Distance </a:t>
            </a:r>
            <a:r>
              <a:rPr sz="1800" spc="-10" dirty="0">
                <a:latin typeface="Times New Roman"/>
                <a:cs typeface="Times New Roman"/>
              </a:rPr>
              <a:t>between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Electrodes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Shape of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Electrode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Size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Electrode.</a:t>
            </a:r>
            <a:endParaRPr sz="1800">
              <a:latin typeface="Times New Roman"/>
              <a:cs typeface="Times New Roman"/>
            </a:endParaRPr>
          </a:p>
          <a:p>
            <a:pPr marL="414655" indent="-40259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14655" algn="l"/>
                <a:tab pos="415290" algn="l"/>
              </a:tabLst>
            </a:pPr>
            <a:r>
              <a:rPr sz="1800" spc="-5" dirty="0">
                <a:latin typeface="Times New Roman"/>
                <a:cs typeface="Times New Roman"/>
              </a:rPr>
              <a:t>Material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Electrode ( Cu, </a:t>
            </a:r>
            <a:r>
              <a:rPr sz="1800" spc="-5" dirty="0">
                <a:latin typeface="Times New Roman"/>
                <a:cs typeface="Times New Roman"/>
              </a:rPr>
              <a:t>Brass,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Steel)</a:t>
            </a:r>
            <a:endParaRPr sz="1800">
              <a:latin typeface="Times New Roman"/>
              <a:cs typeface="Times New Roman"/>
            </a:endParaRPr>
          </a:p>
          <a:p>
            <a:pPr marL="414655" indent="-40259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414655" algn="l"/>
                <a:tab pos="415290" algn="l"/>
              </a:tabLst>
            </a:pPr>
            <a:r>
              <a:rPr sz="1800" spc="-5" dirty="0">
                <a:latin typeface="Times New Roman"/>
                <a:cs typeface="Times New Roman"/>
              </a:rPr>
              <a:t>Material </a:t>
            </a:r>
            <a:r>
              <a:rPr sz="1800" spc="-10" dirty="0">
                <a:latin typeface="Times New Roman"/>
                <a:cs typeface="Times New Roman"/>
              </a:rPr>
              <a:t>between </a:t>
            </a:r>
            <a:r>
              <a:rPr sz="1800" spc="-5" dirty="0">
                <a:latin typeface="Times New Roman"/>
                <a:cs typeface="Times New Roman"/>
              </a:rPr>
              <a:t>Electrodes </a:t>
            </a:r>
            <a:r>
              <a:rPr sz="1800" dirty="0">
                <a:latin typeface="Times New Roman"/>
                <a:cs typeface="Times New Roman"/>
              </a:rPr>
              <a:t>( </a:t>
            </a:r>
            <a:r>
              <a:rPr sz="1800" spc="5" dirty="0">
                <a:latin typeface="Times New Roman"/>
                <a:cs typeface="Times New Roman"/>
              </a:rPr>
              <a:t>Solid, </a:t>
            </a:r>
            <a:r>
              <a:rPr sz="1800" dirty="0">
                <a:latin typeface="Times New Roman"/>
                <a:cs typeface="Times New Roman"/>
              </a:rPr>
              <a:t>Liquid,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Gas)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spc="-20" dirty="0">
                <a:latin typeface="Times New Roman"/>
                <a:cs typeface="Times New Roman"/>
              </a:rPr>
              <a:t>Temperature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Pressure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spc="-5" dirty="0">
                <a:latin typeface="Times New Roman"/>
                <a:cs typeface="Times New Roman"/>
              </a:rPr>
              <a:t>Applied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Voltage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Polarity of </a:t>
            </a:r>
            <a:r>
              <a:rPr sz="1800" spc="-10" dirty="0">
                <a:latin typeface="Times New Roman"/>
                <a:cs typeface="Times New Roman"/>
              </a:rPr>
              <a:t>small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electrode</a:t>
            </a:r>
            <a:endParaRPr sz="1800">
              <a:latin typeface="Times New Roman"/>
              <a:cs typeface="Times New Roman"/>
            </a:endParaRPr>
          </a:p>
          <a:p>
            <a:pPr marL="414655" indent="-40259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15290" algn="l"/>
              </a:tabLst>
            </a:pPr>
            <a:r>
              <a:rPr sz="1800" spc="-5" dirty="0">
                <a:latin typeface="Times New Roman"/>
                <a:cs typeface="Times New Roman"/>
              </a:rPr>
              <a:t>Humidity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Dust</a:t>
            </a:r>
            <a:endParaRPr sz="1800">
              <a:latin typeface="Times New Roman"/>
              <a:cs typeface="Times New Roman"/>
            </a:endParaRPr>
          </a:p>
          <a:p>
            <a:pPr marL="414655" indent="-40259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415290" algn="l"/>
              </a:tabLst>
            </a:pPr>
            <a:r>
              <a:rPr sz="1800" dirty="0">
                <a:latin typeface="Times New Roman"/>
                <a:cs typeface="Times New Roman"/>
              </a:rPr>
              <a:t>Irradiation</a:t>
            </a:r>
            <a:endParaRPr sz="1800">
              <a:latin typeface="Times New Roman"/>
              <a:cs typeface="Times New Roman"/>
            </a:endParaRPr>
          </a:p>
          <a:p>
            <a:pPr marL="414655" indent="-40259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15290" algn="l"/>
              </a:tabLst>
            </a:pPr>
            <a:r>
              <a:rPr sz="1800" spc="-5" dirty="0">
                <a:latin typeface="Times New Roman"/>
                <a:cs typeface="Times New Roman"/>
              </a:rPr>
              <a:t>Nearby </a:t>
            </a:r>
            <a:r>
              <a:rPr sz="1800" dirty="0">
                <a:latin typeface="Times New Roman"/>
                <a:cs typeface="Times New Roman"/>
              </a:rPr>
              <a:t>Earthed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Objects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357505" algn="l"/>
              </a:tabLst>
            </a:pPr>
            <a:r>
              <a:rPr sz="1800" spc="-5" dirty="0">
                <a:latin typeface="Times New Roman"/>
                <a:cs typeface="Times New Roman"/>
              </a:rPr>
              <a:t>Miscellaneous.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5016" y="797053"/>
            <a:ext cx="29718" cy="51450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26535" y="947927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81400" y="1004316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20440" y="1728216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75303" y="1784604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26535" y="1347216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1400" y="1403603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20440" y="2090927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75303" y="2147316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99103" y="2468879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53967" y="2525267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20440" y="2810255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75303" y="2866644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20440" y="3221735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75303" y="3278123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20440" y="3563111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5303" y="3619500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20440" y="3995928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5303" y="4052315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199"/>
                </a:lnTo>
                <a:lnTo>
                  <a:pt x="692150" y="44449"/>
                </a:lnTo>
                <a:lnTo>
                  <a:pt x="641350" y="44449"/>
                </a:lnTo>
                <a:lnTo>
                  <a:pt x="641350" y="31749"/>
                </a:lnTo>
                <a:lnTo>
                  <a:pt x="692150" y="31749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628650" y="44449"/>
                </a:lnTo>
                <a:lnTo>
                  <a:pt x="628650" y="31749"/>
                </a:lnTo>
                <a:close/>
              </a:path>
              <a:path w="704850" h="76200">
                <a:moveTo>
                  <a:pt x="692150" y="31749"/>
                </a:moveTo>
                <a:lnTo>
                  <a:pt x="641350" y="31749"/>
                </a:lnTo>
                <a:lnTo>
                  <a:pt x="641350" y="44449"/>
                </a:lnTo>
                <a:lnTo>
                  <a:pt x="692150" y="44449"/>
                </a:lnTo>
                <a:lnTo>
                  <a:pt x="704850" y="38099"/>
                </a:lnTo>
                <a:lnTo>
                  <a:pt x="692150" y="31749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20440" y="4300728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75303" y="4357115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199"/>
                </a:lnTo>
                <a:lnTo>
                  <a:pt x="692150" y="44449"/>
                </a:lnTo>
                <a:lnTo>
                  <a:pt x="641350" y="44449"/>
                </a:lnTo>
                <a:lnTo>
                  <a:pt x="641350" y="31749"/>
                </a:lnTo>
                <a:lnTo>
                  <a:pt x="692150" y="31749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628650" y="44449"/>
                </a:lnTo>
                <a:lnTo>
                  <a:pt x="628650" y="31749"/>
                </a:lnTo>
                <a:close/>
              </a:path>
              <a:path w="704850" h="76200">
                <a:moveTo>
                  <a:pt x="692150" y="31749"/>
                </a:moveTo>
                <a:lnTo>
                  <a:pt x="641350" y="31749"/>
                </a:lnTo>
                <a:lnTo>
                  <a:pt x="641350" y="44449"/>
                </a:lnTo>
                <a:lnTo>
                  <a:pt x="692150" y="44449"/>
                </a:lnTo>
                <a:lnTo>
                  <a:pt x="704850" y="38099"/>
                </a:lnTo>
                <a:lnTo>
                  <a:pt x="692150" y="31749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11296" y="4687823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66159" y="4744211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20440" y="5068823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75303" y="5125211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20440" y="5449823"/>
            <a:ext cx="890015" cy="265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75303" y="5506211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20440" y="5843015"/>
            <a:ext cx="890015" cy="265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75303" y="5899403"/>
            <a:ext cx="704850" cy="76200"/>
          </a:xfrm>
          <a:custGeom>
            <a:avLst/>
            <a:gdLst/>
            <a:ahLst/>
            <a:cxnLst/>
            <a:rect l="l" t="t" r="r" b="b"/>
            <a:pathLst>
              <a:path w="704850" h="76200">
                <a:moveTo>
                  <a:pt x="628650" y="0"/>
                </a:moveTo>
                <a:lnTo>
                  <a:pt x="628650" y="76200"/>
                </a:lnTo>
                <a:lnTo>
                  <a:pt x="692150" y="44450"/>
                </a:lnTo>
                <a:lnTo>
                  <a:pt x="641350" y="44450"/>
                </a:lnTo>
                <a:lnTo>
                  <a:pt x="641350" y="31750"/>
                </a:lnTo>
                <a:lnTo>
                  <a:pt x="692150" y="31750"/>
                </a:lnTo>
                <a:lnTo>
                  <a:pt x="628650" y="0"/>
                </a:lnTo>
                <a:close/>
              </a:path>
              <a:path w="704850" h="76200">
                <a:moveTo>
                  <a:pt x="6286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8650" y="44450"/>
                </a:lnTo>
                <a:lnTo>
                  <a:pt x="628650" y="31750"/>
                </a:lnTo>
                <a:close/>
              </a:path>
              <a:path w="704850" h="76200">
                <a:moveTo>
                  <a:pt x="692150" y="31750"/>
                </a:moveTo>
                <a:lnTo>
                  <a:pt x="641350" y="31750"/>
                </a:lnTo>
                <a:lnTo>
                  <a:pt x="641350" y="44450"/>
                </a:lnTo>
                <a:lnTo>
                  <a:pt x="692150" y="44450"/>
                </a:lnTo>
                <a:lnTo>
                  <a:pt x="704850" y="38100"/>
                </a:lnTo>
                <a:lnTo>
                  <a:pt x="692150" y="317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7279" y="0"/>
            <a:ext cx="49187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Time </a:t>
            </a:r>
            <a:r>
              <a:rPr dirty="0"/>
              <a:t>lags for</a:t>
            </a:r>
            <a:r>
              <a:rPr spc="-100" dirty="0"/>
              <a:t> </a:t>
            </a:r>
            <a:r>
              <a:rPr spc="-10" dirty="0"/>
              <a:t>breakdown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39" y="617601"/>
            <a:ext cx="6315710" cy="54413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54000" marR="17780" indent="-228600" algn="just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54000" algn="l"/>
              </a:tabLst>
            </a:pPr>
            <a:r>
              <a:rPr sz="1800" spc="-20" dirty="0">
                <a:latin typeface="Times New Roman"/>
                <a:cs typeface="Times New Roman"/>
              </a:rPr>
              <a:t>Time </a:t>
            </a:r>
            <a:r>
              <a:rPr sz="1800" spc="-10" dirty="0">
                <a:latin typeface="Times New Roman"/>
                <a:cs typeface="Times New Roman"/>
              </a:rPr>
              <a:t>difference </a:t>
            </a:r>
            <a:r>
              <a:rPr sz="1800" spc="-5" dirty="0">
                <a:latin typeface="Times New Roman"/>
                <a:cs typeface="Times New Roman"/>
              </a:rPr>
              <a:t>between application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voltage sufficient </a:t>
            </a:r>
            <a:r>
              <a:rPr sz="1800" dirty="0">
                <a:latin typeface="Times New Roman"/>
                <a:cs typeface="Times New Roman"/>
              </a:rPr>
              <a:t>to  </a:t>
            </a:r>
            <a:r>
              <a:rPr sz="1800" spc="-5" dirty="0">
                <a:latin typeface="Times New Roman"/>
                <a:cs typeface="Times New Roman"/>
              </a:rPr>
              <a:t>cause breakdown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occurrence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dielectric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breakdown.</a:t>
            </a:r>
            <a:endParaRPr sz="1800">
              <a:latin typeface="Times New Roman"/>
              <a:cs typeface="Times New Roman"/>
            </a:endParaRPr>
          </a:p>
          <a:p>
            <a:pPr marL="254000" marR="17780" indent="-228600" algn="just">
              <a:lnSpc>
                <a:spcPct val="90000"/>
              </a:lnSpc>
              <a:spcBef>
                <a:spcPts val="990"/>
              </a:spcBef>
              <a:buFont typeface="Arial"/>
              <a:buChar char="•"/>
              <a:tabLst>
                <a:tab pos="2540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25" dirty="0">
                <a:latin typeface="Times New Roman"/>
                <a:cs typeface="Times New Roman"/>
              </a:rPr>
              <a:t>Townsend’s </a:t>
            </a:r>
            <a:r>
              <a:rPr sz="1800" spc="-5" dirty="0">
                <a:latin typeface="Times New Roman"/>
                <a:cs typeface="Times New Roman"/>
              </a:rPr>
              <a:t>criterion is satisfied only </a:t>
            </a:r>
            <a:r>
              <a:rPr sz="1800" spc="10" dirty="0">
                <a:latin typeface="Times New Roman"/>
                <a:cs typeface="Times New Roman"/>
              </a:rPr>
              <a:t>if </a:t>
            </a:r>
            <a:r>
              <a:rPr sz="1800" spc="-5" dirty="0">
                <a:latin typeface="Times New Roman"/>
                <a:cs typeface="Times New Roman"/>
              </a:rPr>
              <a:t>at least </a:t>
            </a:r>
            <a:r>
              <a:rPr sz="1800" spc="5" dirty="0">
                <a:latin typeface="Times New Roman"/>
                <a:cs typeface="Times New Roman"/>
              </a:rPr>
              <a:t>one </a:t>
            </a:r>
            <a:r>
              <a:rPr sz="1800" spc="-5" dirty="0">
                <a:latin typeface="Times New Roman"/>
                <a:cs typeface="Times New Roman"/>
              </a:rPr>
              <a:t>electron  is </a:t>
            </a:r>
            <a:r>
              <a:rPr sz="1800" dirty="0">
                <a:latin typeface="Times New Roman"/>
                <a:cs typeface="Times New Roman"/>
              </a:rPr>
              <a:t>present in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gap between </a:t>
            </a:r>
            <a:r>
              <a:rPr sz="1800" spc="-5" dirty="0">
                <a:latin typeface="Times New Roman"/>
                <a:cs typeface="Times New Roman"/>
              </a:rPr>
              <a:t>electrodes.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case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applied </a:t>
            </a:r>
            <a:r>
              <a:rPr sz="1800" spc="10" dirty="0">
                <a:latin typeface="Times New Roman"/>
                <a:cs typeface="Times New Roman"/>
              </a:rPr>
              <a:t>dc  </a:t>
            </a:r>
            <a:r>
              <a:rPr sz="1800" spc="5" dirty="0">
                <a:latin typeface="Times New Roman"/>
                <a:cs typeface="Times New Roman"/>
              </a:rPr>
              <a:t>or </a:t>
            </a:r>
            <a:r>
              <a:rPr sz="1800" spc="-5" dirty="0">
                <a:latin typeface="Times New Roman"/>
                <a:cs typeface="Times New Roman"/>
              </a:rPr>
              <a:t>slowly varying </a:t>
            </a:r>
            <a:r>
              <a:rPr sz="1800" dirty="0">
                <a:latin typeface="Times New Roman"/>
                <a:cs typeface="Times New Roman"/>
              </a:rPr>
              <a:t>(50 </a:t>
            </a:r>
            <a:r>
              <a:rPr sz="1800" spc="-5" dirty="0">
                <a:latin typeface="Times New Roman"/>
                <a:cs typeface="Times New Roman"/>
              </a:rPr>
              <a:t>Hz ac </a:t>
            </a:r>
            <a:r>
              <a:rPr sz="1800" dirty="0">
                <a:latin typeface="Times New Roman"/>
                <a:cs typeface="Times New Roman"/>
              </a:rPr>
              <a:t>) </a:t>
            </a:r>
            <a:r>
              <a:rPr sz="1800" spc="-5" dirty="0">
                <a:latin typeface="Times New Roman"/>
                <a:cs typeface="Times New Roman"/>
              </a:rPr>
              <a:t>voltages, </a:t>
            </a:r>
            <a:r>
              <a:rPr sz="1800" dirty="0">
                <a:latin typeface="Times New Roman"/>
                <a:cs typeface="Times New Roman"/>
              </a:rPr>
              <a:t>there is </a:t>
            </a:r>
            <a:r>
              <a:rPr sz="1800" spc="-10" dirty="0">
                <a:latin typeface="Times New Roman"/>
                <a:cs typeface="Times New Roman"/>
              </a:rPr>
              <a:t>no difficulty </a:t>
            </a:r>
            <a:r>
              <a:rPr sz="1800" dirty="0">
                <a:latin typeface="Times New Roman"/>
                <a:cs typeface="Times New Roman"/>
              </a:rPr>
              <a:t>in  </a:t>
            </a:r>
            <a:r>
              <a:rPr sz="1800" spc="-10" dirty="0">
                <a:latin typeface="Times New Roman"/>
                <a:cs typeface="Times New Roman"/>
              </a:rPr>
              <a:t>satisfying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condition.</a:t>
            </a:r>
            <a:endParaRPr sz="1800">
              <a:latin typeface="Times New Roman"/>
              <a:cs typeface="Times New Roman"/>
            </a:endParaRPr>
          </a:p>
          <a:p>
            <a:pPr marL="254000" marR="18415" indent="-228600" algn="just">
              <a:lnSpc>
                <a:spcPts val="1939"/>
              </a:lnSpc>
              <a:spcBef>
                <a:spcPts val="1040"/>
              </a:spcBef>
              <a:buFont typeface="Arial"/>
              <a:buChar char="•"/>
              <a:tabLst>
                <a:tab pos="254000" algn="l"/>
              </a:tabLst>
            </a:pPr>
            <a:r>
              <a:rPr sz="1800" spc="-10" dirty="0">
                <a:latin typeface="Times New Roman"/>
                <a:cs typeface="Times New Roman"/>
              </a:rPr>
              <a:t>However with </a:t>
            </a:r>
            <a:r>
              <a:rPr sz="1800" dirty="0">
                <a:latin typeface="Times New Roman"/>
                <a:cs typeface="Times New Roman"/>
              </a:rPr>
              <a:t>rapidly </a:t>
            </a:r>
            <a:r>
              <a:rPr sz="1800" spc="-5" dirty="0">
                <a:latin typeface="Times New Roman"/>
                <a:cs typeface="Times New Roman"/>
              </a:rPr>
              <a:t>changing voltages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short </a:t>
            </a:r>
            <a:r>
              <a:rPr sz="1800" spc="-5" dirty="0">
                <a:latin typeface="Times New Roman"/>
                <a:cs typeface="Times New Roman"/>
              </a:rPr>
              <a:t>duration </a:t>
            </a:r>
            <a:r>
              <a:rPr sz="1800" spc="-10" dirty="0">
                <a:latin typeface="Times New Roman"/>
                <a:cs typeface="Times New Roman"/>
              </a:rPr>
              <a:t>the  </a:t>
            </a:r>
            <a:r>
              <a:rPr sz="1800" dirty="0">
                <a:latin typeface="Times New Roman"/>
                <a:cs typeface="Times New Roman"/>
              </a:rPr>
              <a:t>initiatory </a:t>
            </a:r>
            <a:r>
              <a:rPr sz="1800" spc="-5" dirty="0">
                <a:latin typeface="Times New Roman"/>
                <a:cs typeface="Times New Roman"/>
              </a:rPr>
              <a:t>electron </a:t>
            </a:r>
            <a:r>
              <a:rPr sz="1800" spc="-10" dirty="0">
                <a:latin typeface="Times New Roman"/>
                <a:cs typeface="Times New Roman"/>
              </a:rPr>
              <a:t>may </a:t>
            </a:r>
            <a:r>
              <a:rPr sz="1800" spc="5" dirty="0">
                <a:latin typeface="Times New Roman"/>
                <a:cs typeface="Times New Roman"/>
              </a:rPr>
              <a:t>not be </a:t>
            </a:r>
            <a:r>
              <a:rPr sz="1800" spc="-5" dirty="0">
                <a:latin typeface="Times New Roman"/>
                <a:cs typeface="Times New Roman"/>
              </a:rPr>
              <a:t>present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gap, </a:t>
            </a:r>
            <a:r>
              <a:rPr sz="1800" spc="-1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absence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such  electron breakdown </a:t>
            </a:r>
            <a:r>
              <a:rPr sz="1800" spc="-10" dirty="0">
                <a:latin typeface="Times New Roman"/>
                <a:cs typeface="Times New Roman"/>
              </a:rPr>
              <a:t>can </a:t>
            </a:r>
            <a:r>
              <a:rPr sz="1800" spc="5" dirty="0">
                <a:latin typeface="Times New Roman"/>
                <a:cs typeface="Times New Roman"/>
              </a:rPr>
              <a:t>not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occur.</a:t>
            </a:r>
            <a:endParaRPr sz="1800">
              <a:latin typeface="Times New Roman"/>
              <a:cs typeface="Times New Roman"/>
            </a:endParaRPr>
          </a:p>
          <a:p>
            <a:pPr marL="254000" marR="19685" indent="-228600" algn="just">
              <a:lnSpc>
                <a:spcPts val="1939"/>
              </a:lnSpc>
              <a:spcBef>
                <a:spcPts val="1000"/>
              </a:spcBef>
              <a:buFont typeface="Arial"/>
              <a:buChar char="•"/>
              <a:tabLst>
                <a:tab pos="309245" algn="l"/>
              </a:tabLst>
            </a:pPr>
            <a:r>
              <a:rPr dirty="0"/>
              <a:t>	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time </a:t>
            </a:r>
            <a:r>
              <a:rPr sz="1800" dirty="0">
                <a:latin typeface="Times New Roman"/>
                <a:cs typeface="Times New Roman"/>
              </a:rPr>
              <a:t>t </a:t>
            </a:r>
            <a:r>
              <a:rPr sz="1800" spc="-5" dirty="0">
                <a:latin typeface="Times New Roman"/>
                <a:cs typeface="Times New Roman"/>
              </a:rPr>
              <a:t>which lapses </a:t>
            </a:r>
            <a:r>
              <a:rPr sz="1800" spc="-10" dirty="0">
                <a:latin typeface="Times New Roman"/>
                <a:cs typeface="Times New Roman"/>
              </a:rPr>
              <a:t>between </a:t>
            </a:r>
            <a:r>
              <a:rPr sz="1800" spc="-5" dirty="0">
                <a:latin typeface="Times New Roman"/>
                <a:cs typeface="Times New Roman"/>
              </a:rPr>
              <a:t>application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voltage sufficient 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cause breakdown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appearance </a:t>
            </a:r>
            <a:r>
              <a:rPr sz="1800" spc="1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initiating </a:t>
            </a:r>
            <a:r>
              <a:rPr sz="1800" spc="-5" dirty="0">
                <a:latin typeface="Times New Roman"/>
                <a:cs typeface="Times New Roman"/>
              </a:rPr>
              <a:t>electron  (primary electron)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called </a:t>
            </a:r>
            <a:r>
              <a:rPr sz="18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statistical </a:t>
            </a:r>
            <a:r>
              <a:rPr sz="18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time </a:t>
            </a:r>
            <a:r>
              <a:rPr sz="18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lag</a:t>
            </a:r>
            <a:r>
              <a:rPr sz="1800" b="1" spc="14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(ts).</a:t>
            </a:r>
            <a:endParaRPr sz="1800">
              <a:latin typeface="Times New Roman"/>
              <a:cs typeface="Times New Roman"/>
            </a:endParaRPr>
          </a:p>
          <a:p>
            <a:pPr marL="254000" marR="18415" indent="-228600" algn="just">
              <a:lnSpc>
                <a:spcPct val="92000"/>
              </a:lnSpc>
              <a:spcBef>
                <a:spcPts val="944"/>
              </a:spcBef>
              <a:buFont typeface="Arial"/>
              <a:buChar char="•"/>
              <a:tabLst>
                <a:tab pos="254000" algn="l"/>
              </a:tabLst>
            </a:pP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The appearance </a:t>
            </a:r>
            <a:r>
              <a:rPr sz="1800" spc="5" dirty="0">
                <a:solidFill>
                  <a:srgbClr val="0D0D0D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electrons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usually statistically distributed. 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After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breakdown i.e.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after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the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appearance </a:t>
            </a:r>
            <a:r>
              <a:rPr sz="1800" spc="5" dirty="0">
                <a:solidFill>
                  <a:srgbClr val="0D0D0D"/>
                </a:solidFill>
                <a:latin typeface="Times New Roman"/>
                <a:cs typeface="Times New Roman"/>
              </a:rPr>
              <a:t>of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electron,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time </a:t>
            </a:r>
            <a:r>
              <a:rPr sz="1800" spc="-35" dirty="0">
                <a:solidFill>
                  <a:srgbClr val="0D0D0D"/>
                </a:solidFill>
                <a:latin typeface="Cambria Math"/>
                <a:cs typeface="Cambria Math"/>
              </a:rPr>
              <a:t>𝑡</a:t>
            </a:r>
            <a:r>
              <a:rPr sz="1950" spc="-52" baseline="-14957" dirty="0">
                <a:solidFill>
                  <a:srgbClr val="0D0D0D"/>
                </a:solidFill>
                <a:latin typeface="Cambria Math"/>
                <a:cs typeface="Cambria Math"/>
              </a:rPr>
              <a:t>𝑓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is  required </a:t>
            </a:r>
            <a:r>
              <a:rPr sz="1800" spc="-5" dirty="0">
                <a:latin typeface="Times New Roman"/>
                <a:cs typeface="Times New Roman"/>
              </a:rPr>
              <a:t>for the ionization </a:t>
            </a:r>
            <a:r>
              <a:rPr sz="1800" spc="-10" dirty="0">
                <a:latin typeface="Times New Roman"/>
                <a:cs typeface="Times New Roman"/>
              </a:rPr>
              <a:t>processes </a:t>
            </a:r>
            <a:r>
              <a:rPr sz="1800" dirty="0">
                <a:latin typeface="Times New Roman"/>
                <a:cs typeface="Times New Roman"/>
              </a:rPr>
              <a:t>to develop </a:t>
            </a:r>
            <a:r>
              <a:rPr sz="1800" spc="-5" dirty="0">
                <a:latin typeface="Times New Roman"/>
                <a:cs typeface="Times New Roman"/>
              </a:rPr>
              <a:t>fully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cause  breakdown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gap.(formation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secondary electron) This time is  </a:t>
            </a:r>
            <a:r>
              <a:rPr sz="1800" spc="-10" dirty="0">
                <a:latin typeface="Times New Roman"/>
                <a:cs typeface="Times New Roman"/>
              </a:rPr>
              <a:t>known as </a:t>
            </a:r>
            <a:r>
              <a:rPr sz="1800" spc="-10" dirty="0">
                <a:solidFill>
                  <a:srgbClr val="006FC0"/>
                </a:solidFill>
                <a:latin typeface="Times New Roman"/>
                <a:cs typeface="Times New Roman"/>
              </a:rPr>
              <a:t>formative time 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lag </a:t>
            </a:r>
            <a:r>
              <a:rPr sz="1800" spc="-20" dirty="0">
                <a:latin typeface="Times New Roman"/>
                <a:cs typeface="Times New Roman"/>
              </a:rPr>
              <a:t>(</a:t>
            </a:r>
            <a:r>
              <a:rPr sz="1800" spc="-20" dirty="0">
                <a:solidFill>
                  <a:srgbClr val="0D0D0D"/>
                </a:solidFill>
                <a:latin typeface="Cambria Math"/>
                <a:cs typeface="Cambria Math"/>
              </a:rPr>
              <a:t>𝑡</a:t>
            </a:r>
            <a:r>
              <a:rPr sz="1950" spc="-30" baseline="-14957" dirty="0">
                <a:solidFill>
                  <a:srgbClr val="0D0D0D"/>
                </a:solidFill>
                <a:latin typeface="Cambria Math"/>
                <a:cs typeface="Cambria Math"/>
              </a:rPr>
              <a:t>𝑓</a:t>
            </a:r>
            <a:r>
              <a:rPr sz="1950" spc="209" baseline="-14957" dirty="0">
                <a:solidFill>
                  <a:srgbClr val="0D0D0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254000" marR="17780" indent="-228600" algn="just">
              <a:lnSpc>
                <a:spcPts val="2070"/>
              </a:lnSpc>
              <a:spcBef>
                <a:spcPts val="1105"/>
              </a:spcBef>
              <a:buFont typeface="Arial"/>
              <a:buChar char="•"/>
              <a:tabLst>
                <a:tab pos="254000" algn="l"/>
              </a:tabLst>
            </a:pP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The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total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time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 = </a:t>
            </a:r>
            <a:r>
              <a:rPr sz="1800" spc="-30" dirty="0">
                <a:solidFill>
                  <a:srgbClr val="0D0D0D"/>
                </a:solidFill>
                <a:latin typeface="Cambria Math"/>
                <a:cs typeface="Cambria Math"/>
              </a:rPr>
              <a:t>𝑡</a:t>
            </a:r>
            <a:r>
              <a:rPr sz="1950" spc="-44" baseline="-14957" dirty="0">
                <a:solidFill>
                  <a:srgbClr val="0D0D0D"/>
                </a:solidFill>
                <a:latin typeface="Cambria Math"/>
                <a:cs typeface="Cambria Math"/>
              </a:rPr>
              <a:t>𝑓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+ </a:t>
            </a:r>
            <a:r>
              <a:rPr sz="1800" spc="40" dirty="0">
                <a:solidFill>
                  <a:srgbClr val="0D0D0D"/>
                </a:solidFill>
                <a:latin typeface="Cambria Math"/>
                <a:cs typeface="Cambria Math"/>
              </a:rPr>
              <a:t>𝑡</a:t>
            </a:r>
            <a:r>
              <a:rPr sz="1950" spc="60" baseline="-14957" dirty="0">
                <a:solidFill>
                  <a:srgbClr val="0D0D0D"/>
                </a:solidFill>
                <a:latin typeface="Cambria Math"/>
                <a:cs typeface="Cambria Math"/>
              </a:rPr>
              <a:t>𝑠</a:t>
            </a:r>
            <a:r>
              <a:rPr sz="1800" spc="40" dirty="0">
                <a:solidFill>
                  <a:srgbClr val="0D0D0D"/>
                </a:solidFill>
                <a:latin typeface="Cambria Math"/>
                <a:cs typeface="Cambria Math"/>
              </a:rPr>
              <a:t>.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Is called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total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time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lag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as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shown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in  below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figure.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3847" y="890016"/>
            <a:ext cx="5788151" cy="5465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844" y="196722"/>
            <a:ext cx="9900285" cy="1299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ts val="2050"/>
              </a:lnSpc>
              <a:spcBef>
                <a:spcPts val="100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1800" dirty="0">
                <a:latin typeface="Times New Roman"/>
                <a:cs typeface="Times New Roman"/>
              </a:rPr>
              <a:t>For the </a:t>
            </a:r>
            <a:r>
              <a:rPr sz="1800" spc="-5" dirty="0">
                <a:latin typeface="Times New Roman"/>
                <a:cs typeface="Times New Roman"/>
              </a:rPr>
              <a:t>breakdown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15" dirty="0">
                <a:latin typeface="Times New Roman"/>
                <a:cs typeface="Times New Roman"/>
              </a:rPr>
              <a:t>occur, </a:t>
            </a:r>
            <a:r>
              <a:rPr sz="1800" dirty="0">
                <a:latin typeface="Times New Roman"/>
                <a:cs typeface="Times New Roman"/>
              </a:rPr>
              <a:t>the applied </a:t>
            </a:r>
            <a:r>
              <a:rPr sz="1800" spc="-5" dirty="0">
                <a:latin typeface="Times New Roman"/>
                <a:cs typeface="Times New Roman"/>
              </a:rPr>
              <a:t>voltage V </a:t>
            </a:r>
            <a:r>
              <a:rPr sz="1800" dirty="0">
                <a:latin typeface="Times New Roman"/>
                <a:cs typeface="Times New Roman"/>
              </a:rPr>
              <a:t>should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5" dirty="0">
                <a:latin typeface="Times New Roman"/>
                <a:cs typeface="Times New Roman"/>
              </a:rPr>
              <a:t>greater </a:t>
            </a:r>
            <a:r>
              <a:rPr sz="1800" dirty="0">
                <a:latin typeface="Times New Roman"/>
                <a:cs typeface="Times New Roman"/>
              </a:rPr>
              <a:t>than </a:t>
            </a:r>
            <a:r>
              <a:rPr sz="1800" spc="-5" dirty="0">
                <a:latin typeface="Times New Roman"/>
                <a:cs typeface="Times New Roman"/>
              </a:rPr>
              <a:t>static breakdown voltage </a:t>
            </a:r>
            <a:r>
              <a:rPr sz="1800" spc="5" dirty="0">
                <a:latin typeface="Times New Roman"/>
                <a:cs typeface="Times New Roman"/>
              </a:rPr>
              <a:t>Vb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</a:t>
            </a:r>
            <a:endParaRPr sz="1800">
              <a:latin typeface="Times New Roman"/>
              <a:cs typeface="Times New Roman"/>
            </a:endParaRPr>
          </a:p>
          <a:p>
            <a:pPr marL="266700">
              <a:lnSpc>
                <a:spcPts val="2050"/>
              </a:lnSpc>
            </a:pPr>
            <a:r>
              <a:rPr sz="1800" spc="-5" dirty="0">
                <a:latin typeface="Times New Roman"/>
                <a:cs typeface="Times New Roman"/>
              </a:rPr>
              <a:t>shown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figure.</a:t>
            </a:r>
            <a:endParaRPr sz="1800">
              <a:latin typeface="Times New Roman"/>
              <a:cs typeface="Times New Roman"/>
            </a:endParaRPr>
          </a:p>
          <a:p>
            <a:pPr marL="2667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difference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voltage </a:t>
            </a:r>
            <a:r>
              <a:rPr sz="1800" dirty="0">
                <a:latin typeface="Cambria Math"/>
                <a:cs typeface="Cambria Math"/>
              </a:rPr>
              <a:t>∆𝑉 = 𝑉 − 𝑉𝑏 </a:t>
            </a:r>
            <a:r>
              <a:rPr sz="1800" spc="-5" dirty="0">
                <a:latin typeface="Times New Roman"/>
                <a:cs typeface="Times New Roman"/>
              </a:rPr>
              <a:t>is called over voltage </a:t>
            </a:r>
            <a:r>
              <a:rPr sz="1800" dirty="0">
                <a:latin typeface="Times New Roman"/>
                <a:cs typeface="Times New Roman"/>
              </a:rPr>
              <a:t>and the </a:t>
            </a:r>
            <a:r>
              <a:rPr sz="1800" spc="-5" dirty="0">
                <a:latin typeface="Times New Roman"/>
                <a:cs typeface="Times New Roman"/>
              </a:rPr>
              <a:t>ratio </a:t>
            </a:r>
            <a:r>
              <a:rPr sz="1800" spc="5" dirty="0">
                <a:latin typeface="Times New Roman"/>
                <a:cs typeface="Times New Roman"/>
              </a:rPr>
              <a:t>V/Vs </a:t>
            </a:r>
            <a:r>
              <a:rPr sz="1800" spc="-5" dirty="0">
                <a:latin typeface="Times New Roman"/>
                <a:cs typeface="Times New Roman"/>
              </a:rPr>
              <a:t>is called impulse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ratio.</a:t>
            </a:r>
            <a:endParaRPr sz="1800">
              <a:latin typeface="Times New Roman"/>
              <a:cs typeface="Times New Roman"/>
            </a:endParaRPr>
          </a:p>
          <a:p>
            <a:pPr marL="2667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1800" spc="-1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variation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35" dirty="0">
                <a:solidFill>
                  <a:srgbClr val="0D0D0D"/>
                </a:solidFill>
                <a:latin typeface="Cambria Math"/>
                <a:cs typeface="Cambria Math"/>
              </a:rPr>
              <a:t>𝑡</a:t>
            </a:r>
            <a:r>
              <a:rPr sz="1950" spc="-52" baseline="-14957" dirty="0">
                <a:solidFill>
                  <a:srgbClr val="0D0D0D"/>
                </a:solidFill>
                <a:latin typeface="Cambria Math"/>
                <a:cs typeface="Cambria Math"/>
              </a:rPr>
              <a:t>𝑓 </a:t>
            </a:r>
            <a:r>
              <a:rPr sz="1800" spc="-10" dirty="0">
                <a:latin typeface="Times New Roman"/>
                <a:cs typeface="Times New Roman"/>
              </a:rPr>
              <a:t>with </a:t>
            </a:r>
            <a:r>
              <a:rPr sz="1800" spc="-5" dirty="0">
                <a:latin typeface="Times New Roman"/>
                <a:cs typeface="Times New Roman"/>
              </a:rPr>
              <a:t>over voltage </a:t>
            </a:r>
            <a:r>
              <a:rPr sz="1800" dirty="0">
                <a:latin typeface="Cambria Math"/>
                <a:cs typeface="Cambria Math"/>
              </a:rPr>
              <a:t>∆𝑉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shown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figure.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15767" y="1813560"/>
            <a:ext cx="751332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" y="687400"/>
            <a:ext cx="52387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Factor </a:t>
            </a:r>
            <a:r>
              <a:rPr sz="2400" dirty="0"/>
              <a:t>affecting on </a:t>
            </a:r>
            <a:r>
              <a:rPr sz="2400" spc="-5" dirty="0"/>
              <a:t>Statistical </a:t>
            </a:r>
            <a:r>
              <a:rPr sz="2400" spc="-10" dirty="0"/>
              <a:t>time </a:t>
            </a:r>
            <a:r>
              <a:rPr sz="2400" dirty="0"/>
              <a:t>( </a:t>
            </a:r>
            <a:r>
              <a:rPr sz="2400" b="0" dirty="0">
                <a:latin typeface="Cambria Math"/>
                <a:cs typeface="Cambria Math"/>
              </a:rPr>
              <a:t>𝒕</a:t>
            </a:r>
            <a:r>
              <a:rPr sz="2625" b="0" baseline="-15873" dirty="0">
                <a:latin typeface="Cambria Math"/>
                <a:cs typeface="Cambria Math"/>
              </a:rPr>
              <a:t>𝒔</a:t>
            </a:r>
            <a:r>
              <a:rPr sz="2625" b="0" spc="419" baseline="-15873" dirty="0">
                <a:latin typeface="Cambria Math"/>
                <a:cs typeface="Cambria Math"/>
              </a:rPr>
              <a:t> </a:t>
            </a:r>
            <a:r>
              <a:rPr sz="2400" dirty="0"/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640" y="1611884"/>
            <a:ext cx="5025390" cy="25349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6870" marR="34925" indent="-344805">
              <a:lnSpc>
                <a:spcPts val="1939"/>
              </a:lnSpc>
              <a:spcBef>
                <a:spcPts val="34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spc="-35" dirty="0">
                <a:latin typeface="Times New Roman"/>
                <a:cs typeface="Times New Roman"/>
              </a:rPr>
              <a:t>Time </a:t>
            </a:r>
            <a:r>
              <a:rPr sz="1800" dirty="0">
                <a:latin typeface="Times New Roman"/>
                <a:cs typeface="Times New Roman"/>
              </a:rPr>
              <a:t>required </a:t>
            </a:r>
            <a:r>
              <a:rPr sz="1800" spc="-5" dirty="0">
                <a:latin typeface="Times New Roman"/>
                <a:cs typeface="Times New Roman"/>
              </a:rPr>
              <a:t>for an </a:t>
            </a:r>
            <a:r>
              <a:rPr sz="1800" dirty="0">
                <a:latin typeface="Times New Roman"/>
                <a:cs typeface="Times New Roman"/>
              </a:rPr>
              <a:t>initiating </a:t>
            </a:r>
            <a:r>
              <a:rPr sz="1800" spc="-5" dirty="0">
                <a:latin typeface="Times New Roman"/>
                <a:cs typeface="Times New Roman"/>
              </a:rPr>
              <a:t>electron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arrive </a:t>
            </a:r>
            <a:r>
              <a:rPr sz="1800" dirty="0">
                <a:latin typeface="Times New Roman"/>
                <a:cs typeface="Times New Roman"/>
              </a:rPr>
              <a:t>in  </a:t>
            </a:r>
            <a:r>
              <a:rPr sz="1800" spc="-5" dirty="0">
                <a:latin typeface="Times New Roman"/>
                <a:cs typeface="Times New Roman"/>
              </a:rPr>
              <a:t>gap.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356870" indent="-344805">
              <a:lnSpc>
                <a:spcPts val="2055"/>
              </a:lnSpc>
              <a:spcBef>
                <a:spcPts val="1400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spc="-35" dirty="0">
                <a:latin typeface="Times New Roman"/>
                <a:cs typeface="Times New Roman"/>
              </a:rPr>
              <a:t>Time </a:t>
            </a:r>
            <a:r>
              <a:rPr sz="1800" spc="-5" dirty="0">
                <a:latin typeface="Times New Roman"/>
                <a:cs typeface="Times New Roman"/>
              </a:rPr>
              <a:t>required exciting an </a:t>
            </a:r>
            <a:r>
              <a:rPr sz="1800" dirty="0">
                <a:latin typeface="Times New Roman"/>
                <a:cs typeface="Times New Roman"/>
              </a:rPr>
              <a:t>initiating </a:t>
            </a:r>
            <a:r>
              <a:rPr sz="1800" spc="-5" dirty="0">
                <a:latin typeface="Times New Roman"/>
                <a:cs typeface="Times New Roman"/>
              </a:rPr>
              <a:t>electron </a:t>
            </a:r>
            <a:r>
              <a:rPr sz="1800" dirty="0">
                <a:latin typeface="Times New Roman"/>
                <a:cs typeface="Times New Roman"/>
              </a:rPr>
              <a:t>due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marL="356870">
              <a:lnSpc>
                <a:spcPts val="2055"/>
              </a:lnSpc>
            </a:pPr>
            <a:r>
              <a:rPr sz="1800" dirty="0">
                <a:latin typeface="Times New Roman"/>
                <a:cs typeface="Times New Roman"/>
              </a:rPr>
              <a:t>irradiation, </a:t>
            </a:r>
            <a:r>
              <a:rPr sz="1800" spc="-10" dirty="0">
                <a:latin typeface="Times New Roman"/>
                <a:cs typeface="Times New Roman"/>
              </a:rPr>
              <a:t>cosmic </a:t>
            </a:r>
            <a:r>
              <a:rPr sz="1800" spc="-15" dirty="0">
                <a:latin typeface="Times New Roman"/>
                <a:cs typeface="Times New Roman"/>
              </a:rPr>
              <a:t>rays </a:t>
            </a:r>
            <a:r>
              <a:rPr sz="1800" spc="5" dirty="0">
                <a:latin typeface="Times New Roman"/>
                <a:cs typeface="Times New Roman"/>
              </a:rPr>
              <a:t>or </a:t>
            </a:r>
            <a:r>
              <a:rPr sz="1800" dirty="0">
                <a:latin typeface="Times New Roman"/>
                <a:cs typeface="Times New Roman"/>
              </a:rPr>
              <a:t>sun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rays.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56870" marR="92710" indent="-344805">
              <a:lnSpc>
                <a:spcPts val="1939"/>
              </a:lnSpc>
              <a:spcBef>
                <a:spcPts val="1670"/>
              </a:spcBef>
              <a:buAutoNum type="arabicPeriod" startAt="3"/>
              <a:tabLst>
                <a:tab pos="356870" algn="l"/>
                <a:tab pos="357505" algn="l"/>
              </a:tabLst>
            </a:pPr>
            <a:r>
              <a:rPr sz="1800" spc="-35" dirty="0">
                <a:latin typeface="Times New Roman"/>
                <a:cs typeface="Times New Roman"/>
              </a:rPr>
              <a:t>Time </a:t>
            </a:r>
            <a:r>
              <a:rPr sz="1800" dirty="0">
                <a:latin typeface="Times New Roman"/>
                <a:cs typeface="Times New Roman"/>
              </a:rPr>
              <a:t>required </a:t>
            </a:r>
            <a:r>
              <a:rPr sz="1800" spc="-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dust </a:t>
            </a:r>
            <a:r>
              <a:rPr sz="1800" spc="-5" dirty="0">
                <a:latin typeface="Times New Roman"/>
                <a:cs typeface="Times New Roman"/>
              </a:rPr>
              <a:t>particle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force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10" dirty="0">
                <a:latin typeface="Times New Roman"/>
                <a:cs typeface="Times New Roman"/>
              </a:rPr>
              <a:t>gap </a:t>
            </a:r>
            <a:r>
              <a:rPr sz="1800" dirty="0">
                <a:latin typeface="Times New Roman"/>
                <a:cs typeface="Times New Roman"/>
              </a:rPr>
              <a:t>and  </a:t>
            </a:r>
            <a:r>
              <a:rPr sz="1800" spc="-10" dirty="0">
                <a:latin typeface="Times New Roman"/>
                <a:cs typeface="Times New Roman"/>
              </a:rPr>
              <a:t>get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charged.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7064" y="690448"/>
            <a:ext cx="5852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648585" algn="l"/>
              </a:tabLst>
            </a:pPr>
            <a:r>
              <a:rPr sz="240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Factor</a:t>
            </a:r>
            <a:r>
              <a:rPr sz="2400" b="1" spc="-1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5496"/>
                </a:solidFill>
                <a:latin typeface="Times New Roman"/>
                <a:cs typeface="Times New Roman"/>
              </a:rPr>
              <a:t>affecting</a:t>
            </a:r>
            <a:r>
              <a:rPr sz="2400" b="1" spc="-25" dirty="0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5496"/>
                </a:solidFill>
                <a:latin typeface="Times New Roman"/>
                <a:cs typeface="Times New Roman"/>
              </a:rPr>
              <a:t>on	</a:t>
            </a:r>
            <a:r>
              <a:rPr sz="2400" b="1" spc="-20" dirty="0">
                <a:solidFill>
                  <a:srgbClr val="2E5496"/>
                </a:solidFill>
                <a:latin typeface="Times New Roman"/>
                <a:cs typeface="Times New Roman"/>
              </a:rPr>
              <a:t>Time </a:t>
            </a:r>
            <a:r>
              <a:rPr sz="2400" b="1" dirty="0">
                <a:solidFill>
                  <a:srgbClr val="2E5496"/>
                </a:solidFill>
                <a:latin typeface="Times New Roman"/>
                <a:cs typeface="Times New Roman"/>
              </a:rPr>
              <a:t>of </a:t>
            </a:r>
            <a:r>
              <a:rPr sz="2400" b="1" spc="-10" dirty="0">
                <a:solidFill>
                  <a:srgbClr val="2E5496"/>
                </a:solidFill>
                <a:latin typeface="Times New Roman"/>
                <a:cs typeface="Times New Roman"/>
              </a:rPr>
              <a:t>Formation </a:t>
            </a:r>
            <a:r>
              <a:rPr sz="2400" b="1" dirty="0">
                <a:solidFill>
                  <a:srgbClr val="2E5496"/>
                </a:solidFill>
                <a:latin typeface="Times New Roman"/>
                <a:cs typeface="Times New Roman"/>
              </a:rPr>
              <a:t>( </a:t>
            </a:r>
            <a:r>
              <a:rPr sz="2400" dirty="0">
                <a:solidFill>
                  <a:srgbClr val="2E5496"/>
                </a:solidFill>
                <a:latin typeface="Cambria Math"/>
                <a:cs typeface="Cambria Math"/>
              </a:rPr>
              <a:t>𝒕</a:t>
            </a:r>
            <a:r>
              <a:rPr sz="2625" baseline="-15873" dirty="0">
                <a:solidFill>
                  <a:srgbClr val="2E5496"/>
                </a:solidFill>
                <a:latin typeface="Cambria Math"/>
                <a:cs typeface="Cambria Math"/>
              </a:rPr>
              <a:t>𝒇</a:t>
            </a:r>
            <a:r>
              <a:rPr sz="2625" spc="540" baseline="-15873" dirty="0">
                <a:solidFill>
                  <a:srgbClr val="2E5496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2E5496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1642364"/>
            <a:ext cx="5847080" cy="204406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6870" marR="5080" indent="-344805">
              <a:lnSpc>
                <a:spcPts val="1939"/>
              </a:lnSpc>
              <a:spcBef>
                <a:spcPts val="34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spc="-35" dirty="0">
                <a:latin typeface="Times New Roman"/>
                <a:cs typeface="Times New Roman"/>
              </a:rPr>
              <a:t>Time </a:t>
            </a:r>
            <a:r>
              <a:rPr sz="1800" dirty="0">
                <a:latin typeface="Times New Roman"/>
                <a:cs typeface="Times New Roman"/>
              </a:rPr>
              <a:t>required </a:t>
            </a:r>
            <a:r>
              <a:rPr sz="1800" spc="-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collision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an </a:t>
            </a:r>
            <a:r>
              <a:rPr sz="1800" dirty="0">
                <a:latin typeface="Times New Roman"/>
                <a:cs typeface="Times New Roman"/>
              </a:rPr>
              <a:t>initiating </a:t>
            </a:r>
            <a:r>
              <a:rPr sz="1800" spc="-5" dirty="0">
                <a:latin typeface="Times New Roman"/>
                <a:cs typeface="Times New Roman"/>
              </a:rPr>
              <a:t>electron </a:t>
            </a:r>
            <a:r>
              <a:rPr sz="1800" spc="-10" dirty="0">
                <a:latin typeface="Times New Roman"/>
                <a:cs typeface="Times New Roman"/>
              </a:rPr>
              <a:t>with gas  </a:t>
            </a:r>
            <a:r>
              <a:rPr sz="1800" spc="-5" dirty="0">
                <a:latin typeface="Times New Roman"/>
                <a:cs typeface="Times New Roman"/>
              </a:rPr>
              <a:t>electrode.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300"/>
              </a:spcBef>
              <a:buSzPct val="105555"/>
              <a:buFont typeface="Cambria Math"/>
              <a:buAutoNum type="arabicPeriod"/>
              <a:tabLst>
                <a:tab pos="356870" algn="l"/>
                <a:tab pos="357505" algn="l"/>
              </a:tabLst>
            </a:pPr>
            <a:r>
              <a:rPr sz="1800" dirty="0">
                <a:latin typeface="Cambria Math"/>
                <a:cs typeface="Cambria Math"/>
              </a:rPr>
              <a:t>𝛼 </a:t>
            </a:r>
            <a:r>
              <a:rPr sz="1800" spc="-5" dirty="0">
                <a:latin typeface="Times New Roman"/>
                <a:cs typeface="Times New Roman"/>
              </a:rPr>
              <a:t>which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30" dirty="0">
                <a:latin typeface="Times New Roman"/>
                <a:cs typeface="Times New Roman"/>
              </a:rPr>
              <a:t>Townsend’s </a:t>
            </a:r>
            <a:r>
              <a:rPr sz="1800" spc="-5" dirty="0">
                <a:latin typeface="Times New Roman"/>
                <a:cs typeface="Times New Roman"/>
              </a:rPr>
              <a:t>primary </a:t>
            </a:r>
            <a:r>
              <a:rPr sz="1800" dirty="0">
                <a:latin typeface="Times New Roman"/>
                <a:cs typeface="Times New Roman"/>
              </a:rPr>
              <a:t>ionization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coefficient.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AutoNum type="arabicPeriod"/>
            </a:pPr>
            <a:endParaRPr sz="3200">
              <a:latin typeface="Times New Roman"/>
              <a:cs typeface="Times New Roman"/>
            </a:endParaRPr>
          </a:p>
          <a:p>
            <a:pPr marL="414655" indent="-402590">
              <a:lnSpc>
                <a:spcPct val="100000"/>
              </a:lnSpc>
              <a:buFont typeface="Times New Roman"/>
              <a:buAutoNum type="arabicPeriod"/>
              <a:tabLst>
                <a:tab pos="414655" algn="l"/>
                <a:tab pos="415290" algn="l"/>
              </a:tabLst>
            </a:pPr>
            <a:r>
              <a:rPr sz="1800" dirty="0">
                <a:latin typeface="Cambria Math"/>
                <a:cs typeface="Cambria Math"/>
              </a:rPr>
              <a:t>𝛾 </a:t>
            </a:r>
            <a:r>
              <a:rPr sz="1800" spc="-5" dirty="0">
                <a:latin typeface="Times New Roman"/>
                <a:cs typeface="Times New Roman"/>
              </a:rPr>
              <a:t>which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30" dirty="0">
                <a:latin typeface="Times New Roman"/>
                <a:cs typeface="Times New Roman"/>
              </a:rPr>
              <a:t>Townsend’s </a:t>
            </a:r>
            <a:r>
              <a:rPr sz="1800" spc="-5" dirty="0">
                <a:latin typeface="Times New Roman"/>
                <a:cs typeface="Times New Roman"/>
              </a:rPr>
              <a:t>secondary </a:t>
            </a:r>
            <a:r>
              <a:rPr sz="1800" dirty="0">
                <a:latin typeface="Times New Roman"/>
                <a:cs typeface="Times New Roman"/>
              </a:rPr>
              <a:t>ionization</a:t>
            </a:r>
            <a:r>
              <a:rPr sz="1800" spc="-3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coefficient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3170" y="0"/>
            <a:ext cx="71856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Breakdown </a:t>
            </a:r>
            <a:r>
              <a:rPr dirty="0"/>
              <a:t>in </a:t>
            </a:r>
            <a:r>
              <a:rPr spc="-5" dirty="0"/>
              <a:t>Electronegative</a:t>
            </a:r>
            <a:r>
              <a:rPr spc="-120" dirty="0"/>
              <a:t> </a:t>
            </a:r>
            <a:r>
              <a:rPr dirty="0"/>
              <a:t>Gases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493" y="546328"/>
            <a:ext cx="11170285" cy="52031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21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1700" spc="-5" dirty="0">
                <a:latin typeface="Times New Roman"/>
                <a:cs typeface="Times New Roman"/>
              </a:rPr>
              <a:t>Attachment </a:t>
            </a:r>
            <a:r>
              <a:rPr sz="1700" dirty="0">
                <a:latin typeface="Times New Roman"/>
                <a:cs typeface="Times New Roman"/>
              </a:rPr>
              <a:t>collision is a process in </a:t>
            </a:r>
            <a:r>
              <a:rPr sz="1700" spc="-5" dirty="0">
                <a:latin typeface="Times New Roman"/>
                <a:cs typeface="Times New Roman"/>
              </a:rPr>
              <a:t>which electrons may become </a:t>
            </a:r>
            <a:r>
              <a:rPr sz="1700" dirty="0">
                <a:latin typeface="Times New Roman"/>
                <a:cs typeface="Times New Roman"/>
              </a:rPr>
              <a:t>attached to </a:t>
            </a:r>
            <a:r>
              <a:rPr sz="1700" spc="-5" dirty="0">
                <a:latin typeface="Times New Roman"/>
                <a:cs typeface="Times New Roman"/>
              </a:rPr>
              <a:t>atoms </a:t>
            </a:r>
            <a:r>
              <a:rPr sz="1700" spc="-10" dirty="0">
                <a:latin typeface="Times New Roman"/>
                <a:cs typeface="Times New Roman"/>
              </a:rPr>
              <a:t>or molecules </a:t>
            </a:r>
            <a:r>
              <a:rPr sz="1700" dirty="0">
                <a:latin typeface="Times New Roman"/>
                <a:cs typeface="Times New Roman"/>
              </a:rPr>
              <a:t>to form </a:t>
            </a:r>
            <a:r>
              <a:rPr sz="1700" spc="-10" dirty="0">
                <a:latin typeface="Times New Roman"/>
                <a:cs typeface="Times New Roman"/>
              </a:rPr>
              <a:t>negative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ions.</a:t>
            </a:r>
            <a:endParaRPr sz="1700">
              <a:latin typeface="Times New Roman"/>
              <a:cs typeface="Times New Roman"/>
            </a:endParaRPr>
          </a:p>
          <a:p>
            <a:pPr marL="292100" marR="30480" indent="-228600">
              <a:lnSpc>
                <a:spcPts val="1630"/>
              </a:lnSpc>
              <a:spcBef>
                <a:spcPts val="994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1700" spc="-5" dirty="0">
                <a:latin typeface="Times New Roman"/>
                <a:cs typeface="Times New Roman"/>
              </a:rPr>
              <a:t>Since </a:t>
            </a:r>
            <a:r>
              <a:rPr sz="1700" spc="-10" dirty="0">
                <a:latin typeface="Times New Roman"/>
                <a:cs typeface="Times New Roman"/>
              </a:rPr>
              <a:t>negative </a:t>
            </a:r>
            <a:r>
              <a:rPr sz="1700" spc="-5" dirty="0">
                <a:latin typeface="Times New Roman"/>
                <a:cs typeface="Times New Roman"/>
              </a:rPr>
              <a:t>ions </a:t>
            </a:r>
            <a:r>
              <a:rPr sz="1700" spc="5" dirty="0">
                <a:latin typeface="Times New Roman"/>
                <a:cs typeface="Times New Roman"/>
              </a:rPr>
              <a:t>like </a:t>
            </a:r>
            <a:r>
              <a:rPr sz="1700" spc="-5" dirty="0">
                <a:latin typeface="Times New Roman"/>
                <a:cs typeface="Times New Roman"/>
              </a:rPr>
              <a:t>positive ions </a:t>
            </a:r>
            <a:r>
              <a:rPr sz="1700" spc="5" dirty="0">
                <a:latin typeface="Times New Roman"/>
                <a:cs typeface="Times New Roman"/>
              </a:rPr>
              <a:t>are </a:t>
            </a:r>
            <a:r>
              <a:rPr sz="1700" spc="-5" dirty="0">
                <a:latin typeface="Times New Roman"/>
                <a:cs typeface="Times New Roman"/>
              </a:rPr>
              <a:t>too massive </a:t>
            </a:r>
            <a:r>
              <a:rPr sz="1700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produce </a:t>
            </a:r>
            <a:r>
              <a:rPr sz="1700" dirty="0">
                <a:latin typeface="Times New Roman"/>
                <a:cs typeface="Times New Roman"/>
              </a:rPr>
              <a:t>ionization </a:t>
            </a:r>
            <a:r>
              <a:rPr sz="1700" spc="-10" dirty="0">
                <a:latin typeface="Times New Roman"/>
                <a:cs typeface="Times New Roman"/>
              </a:rPr>
              <a:t>due </a:t>
            </a:r>
            <a:r>
              <a:rPr sz="1700" dirty="0">
                <a:latin typeface="Times New Roman"/>
                <a:cs typeface="Times New Roman"/>
              </a:rPr>
              <a:t>to collisions, </a:t>
            </a:r>
            <a:r>
              <a:rPr sz="1700" spc="-5" dirty="0">
                <a:latin typeface="Times New Roman"/>
                <a:cs typeface="Times New Roman"/>
              </a:rPr>
              <a:t>attachment presents </a:t>
            </a:r>
            <a:r>
              <a:rPr sz="1700" spc="5" dirty="0">
                <a:latin typeface="Times New Roman"/>
                <a:cs typeface="Times New Roman"/>
              </a:rPr>
              <a:t>an effective  </a:t>
            </a:r>
            <a:r>
              <a:rPr sz="1700" dirty="0">
                <a:latin typeface="Times New Roman"/>
                <a:cs typeface="Times New Roman"/>
              </a:rPr>
              <a:t>way </a:t>
            </a:r>
            <a:r>
              <a:rPr sz="1700" spc="-5" dirty="0">
                <a:latin typeface="Times New Roman"/>
                <a:cs typeface="Times New Roman"/>
              </a:rPr>
              <a:t>of </a:t>
            </a:r>
            <a:r>
              <a:rPr sz="1700" spc="-15" dirty="0">
                <a:latin typeface="Times New Roman"/>
                <a:cs typeface="Times New Roman"/>
              </a:rPr>
              <a:t>removing </a:t>
            </a:r>
            <a:r>
              <a:rPr sz="1700" spc="-5" dirty="0">
                <a:latin typeface="Times New Roman"/>
                <a:cs typeface="Times New Roman"/>
              </a:rPr>
              <a:t>electrons which otherwise would </a:t>
            </a:r>
            <a:r>
              <a:rPr sz="1700" spc="-10" dirty="0">
                <a:latin typeface="Times New Roman"/>
                <a:cs typeface="Times New Roman"/>
              </a:rPr>
              <a:t>have </a:t>
            </a:r>
            <a:r>
              <a:rPr sz="1700" spc="-5" dirty="0">
                <a:latin typeface="Times New Roman"/>
                <a:cs typeface="Times New Roman"/>
              </a:rPr>
              <a:t>led </a:t>
            </a:r>
            <a:r>
              <a:rPr sz="1700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current growth and breakdown </a:t>
            </a:r>
            <a:r>
              <a:rPr sz="1700" dirty="0">
                <a:latin typeface="Times New Roman"/>
                <a:cs typeface="Times New Roman"/>
              </a:rPr>
              <a:t>at low-voltage. </a:t>
            </a:r>
            <a:r>
              <a:rPr sz="1700" spc="-1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gases </a:t>
            </a:r>
            <a:r>
              <a:rPr sz="1700" dirty="0">
                <a:latin typeface="Times New Roman"/>
                <a:cs typeface="Times New Roman"/>
              </a:rPr>
              <a:t>in  </a:t>
            </a:r>
            <a:r>
              <a:rPr sz="1700" spc="-5" dirty="0">
                <a:latin typeface="Times New Roman"/>
                <a:cs typeface="Times New Roman"/>
              </a:rPr>
              <a:t>which attachment plays </a:t>
            </a:r>
            <a:r>
              <a:rPr sz="1700" spc="5" dirty="0">
                <a:latin typeface="Times New Roman"/>
                <a:cs typeface="Times New Roman"/>
              </a:rPr>
              <a:t>an </a:t>
            </a:r>
            <a:r>
              <a:rPr sz="1700" spc="-5" dirty="0">
                <a:latin typeface="Times New Roman"/>
                <a:cs typeface="Times New Roman"/>
              </a:rPr>
              <a:t>active </a:t>
            </a:r>
            <a:r>
              <a:rPr sz="1700" dirty="0">
                <a:latin typeface="Times New Roman"/>
                <a:cs typeface="Times New Roman"/>
              </a:rPr>
              <a:t>role </a:t>
            </a:r>
            <a:r>
              <a:rPr sz="1700" spc="5" dirty="0">
                <a:latin typeface="Times New Roman"/>
                <a:cs typeface="Times New Roman"/>
              </a:rPr>
              <a:t>are </a:t>
            </a:r>
            <a:r>
              <a:rPr sz="1700" dirty="0">
                <a:latin typeface="Times New Roman"/>
                <a:cs typeface="Times New Roman"/>
              </a:rPr>
              <a:t>called </a:t>
            </a:r>
            <a:r>
              <a:rPr sz="1700" spc="-5" dirty="0">
                <a:latin typeface="Times New Roman"/>
                <a:cs typeface="Times New Roman"/>
              </a:rPr>
              <a:t>electronegative</a:t>
            </a:r>
            <a:r>
              <a:rPr sz="1700" spc="-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gases.</a:t>
            </a:r>
            <a:endParaRPr sz="17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1700" spc="-5" dirty="0">
                <a:latin typeface="Times New Roman"/>
                <a:cs typeface="Times New Roman"/>
              </a:rPr>
              <a:t>Gases which </a:t>
            </a:r>
            <a:r>
              <a:rPr sz="1700" spc="5" dirty="0">
                <a:latin typeface="Times New Roman"/>
                <a:cs typeface="Times New Roman"/>
              </a:rPr>
              <a:t>are lacking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10" dirty="0">
                <a:latin typeface="Times New Roman"/>
                <a:cs typeface="Times New Roman"/>
              </a:rPr>
              <a:t>one or </a:t>
            </a:r>
            <a:r>
              <a:rPr sz="1700" dirty="0">
                <a:latin typeface="Times New Roman"/>
                <a:cs typeface="Times New Roman"/>
              </a:rPr>
              <a:t>two </a:t>
            </a:r>
            <a:r>
              <a:rPr sz="1700" spc="-5" dirty="0">
                <a:latin typeface="Times New Roman"/>
                <a:cs typeface="Times New Roman"/>
              </a:rPr>
              <a:t>electrons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their </a:t>
            </a:r>
            <a:r>
              <a:rPr sz="1700" spc="-10" dirty="0">
                <a:latin typeface="Times New Roman"/>
                <a:cs typeface="Times New Roman"/>
              </a:rPr>
              <a:t>outer </a:t>
            </a:r>
            <a:r>
              <a:rPr sz="1700" spc="-5" dirty="0">
                <a:latin typeface="Times New Roman"/>
                <a:cs typeface="Times New Roman"/>
              </a:rPr>
              <a:t>shell </a:t>
            </a:r>
            <a:r>
              <a:rPr sz="1700" spc="5" dirty="0">
                <a:latin typeface="Times New Roman"/>
                <a:cs typeface="Times New Roman"/>
              </a:rPr>
              <a:t>are </a:t>
            </a:r>
            <a:r>
              <a:rPr sz="1700" spc="-5" dirty="0">
                <a:latin typeface="Times New Roman"/>
                <a:cs typeface="Times New Roman"/>
              </a:rPr>
              <a:t>known </a:t>
            </a:r>
            <a:r>
              <a:rPr sz="1700" spc="5" dirty="0">
                <a:latin typeface="Times New Roman"/>
                <a:cs typeface="Times New Roman"/>
              </a:rPr>
              <a:t>as </a:t>
            </a:r>
            <a:r>
              <a:rPr sz="1700" spc="-5" dirty="0">
                <a:latin typeface="Times New Roman"/>
                <a:cs typeface="Times New Roman"/>
              </a:rPr>
              <a:t>Electronegative</a:t>
            </a:r>
            <a:r>
              <a:rPr sz="1700" spc="-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gases.</a:t>
            </a:r>
            <a:endParaRPr sz="17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1700" spc="-10" dirty="0">
                <a:latin typeface="Times New Roman"/>
                <a:cs typeface="Times New Roman"/>
              </a:rPr>
              <a:t>The most </a:t>
            </a:r>
            <a:r>
              <a:rPr sz="1700" spc="-15" dirty="0">
                <a:latin typeface="Times New Roman"/>
                <a:cs typeface="Times New Roman"/>
              </a:rPr>
              <a:t>common </a:t>
            </a:r>
            <a:r>
              <a:rPr sz="1700" spc="-5" dirty="0">
                <a:latin typeface="Times New Roman"/>
                <a:cs typeface="Times New Roman"/>
              </a:rPr>
              <a:t>attachment </a:t>
            </a:r>
            <a:r>
              <a:rPr sz="1700" dirty="0">
                <a:latin typeface="Times New Roman"/>
                <a:cs typeface="Times New Roman"/>
              </a:rPr>
              <a:t>processes </a:t>
            </a:r>
            <a:r>
              <a:rPr sz="1700" spc="-10" dirty="0">
                <a:latin typeface="Times New Roman"/>
                <a:cs typeface="Times New Roman"/>
              </a:rPr>
              <a:t>encountered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gases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are:</a:t>
            </a:r>
            <a:endParaRPr sz="1700">
              <a:latin typeface="Times New Roman"/>
              <a:cs typeface="Times New Roman"/>
            </a:endParaRPr>
          </a:p>
          <a:p>
            <a:pPr marL="456565" indent="-393700">
              <a:lnSpc>
                <a:spcPts val="1835"/>
              </a:lnSpc>
              <a:spcBef>
                <a:spcPts val="600"/>
              </a:spcBef>
              <a:buAutoNum type="alphaLcParenR"/>
              <a:tabLst>
                <a:tab pos="456565" algn="l"/>
                <a:tab pos="457200" algn="l"/>
              </a:tabLst>
            </a:pPr>
            <a:r>
              <a:rPr sz="1700" spc="-1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direct attachment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which </a:t>
            </a:r>
            <a:r>
              <a:rPr sz="1700" spc="5" dirty="0">
                <a:latin typeface="Times New Roman"/>
                <a:cs typeface="Times New Roman"/>
              </a:rPr>
              <a:t>an </a:t>
            </a:r>
            <a:r>
              <a:rPr sz="1700" spc="-5" dirty="0">
                <a:latin typeface="Times New Roman"/>
                <a:cs typeface="Times New Roman"/>
              </a:rPr>
              <a:t>electron </a:t>
            </a:r>
            <a:r>
              <a:rPr sz="1700" dirty="0">
                <a:latin typeface="Times New Roman"/>
                <a:cs typeface="Times New Roman"/>
              </a:rPr>
              <a:t>directly attaches to form </a:t>
            </a:r>
            <a:r>
              <a:rPr sz="1700" spc="-10" dirty="0">
                <a:latin typeface="Times New Roman"/>
                <a:cs typeface="Times New Roman"/>
              </a:rPr>
              <a:t>negative </a:t>
            </a:r>
            <a:r>
              <a:rPr sz="1700" spc="-5" dirty="0">
                <a:latin typeface="Times New Roman"/>
                <a:cs typeface="Times New Roman"/>
              </a:rPr>
              <a:t>ion. </a:t>
            </a:r>
            <a:r>
              <a:rPr sz="1700" dirty="0">
                <a:latin typeface="Times New Roman"/>
                <a:cs typeface="Times New Roman"/>
              </a:rPr>
              <a:t>i.e. captured </a:t>
            </a:r>
            <a:r>
              <a:rPr sz="1700" spc="-5" dirty="0">
                <a:latin typeface="Times New Roman"/>
                <a:cs typeface="Times New Roman"/>
              </a:rPr>
              <a:t>electron </a:t>
            </a:r>
            <a:r>
              <a:rPr sz="1700" spc="5" dirty="0">
                <a:latin typeface="Times New Roman"/>
                <a:cs typeface="Times New Roman"/>
              </a:rPr>
              <a:t>can be </a:t>
            </a:r>
            <a:r>
              <a:rPr sz="1700" spc="-5" dirty="0">
                <a:latin typeface="Times New Roman"/>
                <a:cs typeface="Times New Roman"/>
              </a:rPr>
              <a:t>released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by</a:t>
            </a:r>
            <a:endParaRPr sz="1700">
              <a:latin typeface="Times New Roman"/>
              <a:cs typeface="Times New Roman"/>
            </a:endParaRPr>
          </a:p>
          <a:p>
            <a:pPr marL="407670">
              <a:lnSpc>
                <a:spcPts val="1835"/>
              </a:lnSpc>
            </a:pPr>
            <a:r>
              <a:rPr sz="1700" dirty="0">
                <a:latin typeface="Times New Roman"/>
                <a:cs typeface="Times New Roman"/>
              </a:rPr>
              <a:t>absorption </a:t>
            </a:r>
            <a:r>
              <a:rPr sz="1700" spc="-5" dirty="0">
                <a:latin typeface="Times New Roman"/>
                <a:cs typeface="Times New Roman"/>
              </a:rPr>
              <a:t>of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photon.</a:t>
            </a:r>
            <a:endParaRPr sz="1700">
              <a:latin typeface="Times New Roman"/>
              <a:cs typeface="Times New Roman"/>
            </a:endParaRPr>
          </a:p>
          <a:p>
            <a:pPr marL="429259">
              <a:lnSpc>
                <a:spcPct val="100000"/>
              </a:lnSpc>
              <a:spcBef>
                <a:spcPts val="600"/>
              </a:spcBef>
              <a:tabLst>
                <a:tab pos="1809750" algn="l"/>
              </a:tabLst>
            </a:pPr>
            <a:r>
              <a:rPr sz="1700" spc="-5" dirty="0">
                <a:latin typeface="Times New Roman"/>
                <a:cs typeface="Times New Roman"/>
              </a:rPr>
              <a:t>AB </a:t>
            </a:r>
            <a:r>
              <a:rPr sz="1700" dirty="0">
                <a:latin typeface="Times New Roman"/>
                <a:cs typeface="Times New Roman"/>
              </a:rPr>
              <a:t>+ e	</a:t>
            </a:r>
            <a:r>
              <a:rPr sz="1700" spc="10" dirty="0">
                <a:latin typeface="Cambria Math"/>
                <a:cs typeface="Cambria Math"/>
              </a:rPr>
              <a:t>𝐴𝐵</a:t>
            </a:r>
            <a:r>
              <a:rPr sz="1875" spc="15" baseline="26666" dirty="0">
                <a:latin typeface="Cambria Math"/>
                <a:cs typeface="Cambria Math"/>
              </a:rPr>
              <a:t>− </a:t>
            </a:r>
            <a:r>
              <a:rPr sz="1700" dirty="0">
                <a:latin typeface="Times New Roman"/>
                <a:cs typeface="Times New Roman"/>
              </a:rPr>
              <a:t>+</a:t>
            </a:r>
            <a:r>
              <a:rPr sz="1700" spc="-15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hv</a:t>
            </a:r>
            <a:endParaRPr sz="1700">
              <a:latin typeface="Times New Roman"/>
              <a:cs typeface="Times New Roman"/>
            </a:endParaRPr>
          </a:p>
          <a:p>
            <a:pPr marL="349250" indent="-286385">
              <a:lnSpc>
                <a:spcPct val="100000"/>
              </a:lnSpc>
              <a:spcBef>
                <a:spcPts val="575"/>
              </a:spcBef>
              <a:buAutoNum type="alphaLcParenR" startAt="2"/>
              <a:tabLst>
                <a:tab pos="349885" algn="l"/>
              </a:tabLst>
            </a:pPr>
            <a:r>
              <a:rPr sz="1700" spc="-1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dissociative attachment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which gas </a:t>
            </a:r>
            <a:r>
              <a:rPr sz="1700" spc="-10" dirty="0">
                <a:latin typeface="Times New Roman"/>
                <a:cs typeface="Times New Roman"/>
              </a:rPr>
              <a:t>molecules </a:t>
            </a:r>
            <a:r>
              <a:rPr sz="1700" dirty="0">
                <a:latin typeface="Times New Roman"/>
                <a:cs typeface="Times New Roman"/>
              </a:rPr>
              <a:t>split </a:t>
            </a:r>
            <a:r>
              <a:rPr sz="1700" spc="-5" dirty="0">
                <a:latin typeface="Times New Roman"/>
                <a:cs typeface="Times New Roman"/>
              </a:rPr>
              <a:t>into their constituent </a:t>
            </a:r>
            <a:r>
              <a:rPr sz="1700" spc="-10" dirty="0">
                <a:latin typeface="Times New Roman"/>
                <a:cs typeface="Times New Roman"/>
              </a:rPr>
              <a:t>atoms </a:t>
            </a:r>
            <a:r>
              <a:rPr sz="1700" spc="-5" dirty="0">
                <a:latin typeface="Times New Roman"/>
                <a:cs typeface="Times New Roman"/>
              </a:rPr>
              <a:t>and </a:t>
            </a:r>
            <a:r>
              <a:rPr sz="1700" spc="-10" dirty="0">
                <a:latin typeface="Times New Roman"/>
                <a:cs typeface="Times New Roman"/>
              </a:rPr>
              <a:t>electronegative atoms forms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  <a:p>
            <a:pPr marL="386080">
              <a:lnSpc>
                <a:spcPct val="100000"/>
              </a:lnSpc>
              <a:spcBef>
                <a:spcPts val="605"/>
              </a:spcBef>
            </a:pPr>
            <a:r>
              <a:rPr sz="1700" spc="-10" dirty="0">
                <a:latin typeface="Times New Roman"/>
                <a:cs typeface="Times New Roman"/>
              </a:rPr>
              <a:t>negative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ion.</a:t>
            </a:r>
            <a:endParaRPr sz="1700">
              <a:latin typeface="Times New Roman"/>
              <a:cs typeface="Times New Roman"/>
            </a:endParaRPr>
          </a:p>
          <a:p>
            <a:pPr marL="374015">
              <a:lnSpc>
                <a:spcPct val="100000"/>
              </a:lnSpc>
              <a:spcBef>
                <a:spcPts val="600"/>
              </a:spcBef>
              <a:tabLst>
                <a:tab pos="1794510" algn="l"/>
              </a:tabLst>
            </a:pPr>
            <a:r>
              <a:rPr sz="1700" spc="-5" dirty="0">
                <a:latin typeface="Times New Roman"/>
                <a:cs typeface="Times New Roman"/>
              </a:rPr>
              <a:t>AB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+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	A + </a:t>
            </a:r>
            <a:r>
              <a:rPr sz="1700" spc="15" dirty="0">
                <a:latin typeface="Cambria Math"/>
                <a:cs typeface="Cambria Math"/>
              </a:rPr>
              <a:t>𝐵</a:t>
            </a:r>
            <a:r>
              <a:rPr sz="1875" spc="22" baseline="26666" dirty="0">
                <a:latin typeface="Cambria Math"/>
                <a:cs typeface="Cambria Math"/>
              </a:rPr>
              <a:t>− </a:t>
            </a:r>
            <a:r>
              <a:rPr sz="1700" dirty="0">
                <a:latin typeface="Times New Roman"/>
                <a:cs typeface="Times New Roman"/>
              </a:rPr>
              <a:t>+</a:t>
            </a:r>
            <a:r>
              <a:rPr sz="1700" spc="-2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75"/>
              </a:spcBef>
            </a:pPr>
            <a:r>
              <a:rPr sz="1700" dirty="0">
                <a:latin typeface="Times New Roman"/>
                <a:cs typeface="Times New Roman"/>
              </a:rPr>
              <a:t>A simple gas </a:t>
            </a:r>
            <a:r>
              <a:rPr sz="1700" spc="-10" dirty="0">
                <a:latin typeface="Times New Roman"/>
                <a:cs typeface="Times New Roman"/>
              </a:rPr>
              <a:t>of </a:t>
            </a:r>
            <a:r>
              <a:rPr sz="1700" dirty="0">
                <a:latin typeface="Times New Roman"/>
                <a:cs typeface="Times New Roman"/>
              </a:rPr>
              <a:t>this </a:t>
            </a:r>
            <a:r>
              <a:rPr sz="1700" spc="-5" dirty="0">
                <a:latin typeface="Times New Roman"/>
                <a:cs typeface="Times New Roman"/>
              </a:rPr>
              <a:t>type </a:t>
            </a:r>
            <a:r>
              <a:rPr sz="1700" dirty="0">
                <a:latin typeface="Times New Roman"/>
                <a:cs typeface="Times New Roman"/>
              </a:rPr>
              <a:t>is </a:t>
            </a:r>
            <a:r>
              <a:rPr sz="1700" spc="-15" dirty="0">
                <a:latin typeface="Times New Roman"/>
                <a:cs typeface="Times New Roman"/>
              </a:rPr>
              <a:t>oxygen. </a:t>
            </a:r>
            <a:r>
              <a:rPr sz="1700" spc="-10" dirty="0">
                <a:latin typeface="Times New Roman"/>
                <a:cs typeface="Times New Roman"/>
              </a:rPr>
              <a:t>Other </a:t>
            </a:r>
            <a:r>
              <a:rPr sz="1700" spc="-5" dirty="0">
                <a:latin typeface="Times New Roman"/>
                <a:cs typeface="Times New Roman"/>
              </a:rPr>
              <a:t>gases </a:t>
            </a:r>
            <a:r>
              <a:rPr sz="1700" spc="5" dirty="0">
                <a:latin typeface="Times New Roman"/>
                <a:cs typeface="Times New Roman"/>
              </a:rPr>
              <a:t>are </a:t>
            </a:r>
            <a:r>
              <a:rPr sz="1700" spc="-5" dirty="0">
                <a:latin typeface="Times New Roman"/>
                <a:cs typeface="Times New Roman"/>
              </a:rPr>
              <a:t>sulphur hexafluoride, </a:t>
            </a:r>
            <a:r>
              <a:rPr sz="1700" spc="-10" dirty="0">
                <a:latin typeface="Times New Roman"/>
                <a:cs typeface="Times New Roman"/>
              </a:rPr>
              <a:t>Freon, </a:t>
            </a:r>
            <a:r>
              <a:rPr sz="1700" spc="5" dirty="0">
                <a:latin typeface="Times New Roman"/>
                <a:cs typeface="Times New Roman"/>
              </a:rPr>
              <a:t>carbon </a:t>
            </a:r>
            <a:r>
              <a:rPr sz="1700" spc="-10" dirty="0">
                <a:latin typeface="Times New Roman"/>
                <a:cs typeface="Times New Roman"/>
              </a:rPr>
              <a:t>dioxide,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fluorocarbons.</a:t>
            </a:r>
            <a:endParaRPr sz="17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these gases </a:t>
            </a:r>
            <a:r>
              <a:rPr sz="1700" dirty="0">
                <a:latin typeface="Times New Roman"/>
                <a:cs typeface="Times New Roman"/>
              </a:rPr>
              <a:t>A is </a:t>
            </a:r>
            <a:r>
              <a:rPr sz="1700" spc="-5" dirty="0">
                <a:latin typeface="Times New Roman"/>
                <a:cs typeface="Times New Roman"/>
              </a:rPr>
              <a:t>sulphur or </a:t>
            </a:r>
            <a:r>
              <a:rPr sz="1700" dirty="0">
                <a:latin typeface="Times New Roman"/>
                <a:cs typeface="Times New Roman"/>
              </a:rPr>
              <a:t>carbon atom </a:t>
            </a:r>
            <a:r>
              <a:rPr sz="1700" spc="-5" dirty="0">
                <a:latin typeface="Times New Roman"/>
                <a:cs typeface="Times New Roman"/>
              </a:rPr>
              <a:t>and </a:t>
            </a:r>
            <a:r>
              <a:rPr sz="1700" dirty="0">
                <a:latin typeface="Times New Roman"/>
                <a:cs typeface="Times New Roman"/>
              </a:rPr>
              <a:t>B is </a:t>
            </a:r>
            <a:r>
              <a:rPr sz="1700" spc="-15" dirty="0">
                <a:latin typeface="Times New Roman"/>
                <a:cs typeface="Times New Roman"/>
              </a:rPr>
              <a:t>oxygen </a:t>
            </a:r>
            <a:r>
              <a:rPr sz="1700" dirty="0">
                <a:latin typeface="Times New Roman"/>
                <a:cs typeface="Times New Roman"/>
              </a:rPr>
              <a:t>atom </a:t>
            </a:r>
            <a:r>
              <a:rPr sz="1700" spc="-5" dirty="0">
                <a:latin typeface="Times New Roman"/>
                <a:cs typeface="Times New Roman"/>
              </a:rPr>
              <a:t>or </a:t>
            </a:r>
            <a:r>
              <a:rPr sz="1700" spc="-10" dirty="0">
                <a:latin typeface="Times New Roman"/>
                <a:cs typeface="Times New Roman"/>
              </a:rPr>
              <a:t>one 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the halogen </a:t>
            </a:r>
            <a:r>
              <a:rPr sz="1700" spc="-10" dirty="0">
                <a:latin typeface="Times New Roman"/>
                <a:cs typeface="Times New Roman"/>
              </a:rPr>
              <a:t>atoms </a:t>
            </a:r>
            <a:r>
              <a:rPr sz="1700" spc="-5" dirty="0">
                <a:latin typeface="Times New Roman"/>
                <a:cs typeface="Times New Roman"/>
              </a:rPr>
              <a:t>or</a:t>
            </a:r>
            <a:r>
              <a:rPr sz="1700" spc="-1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molecules.</a:t>
            </a:r>
            <a:endParaRPr sz="17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Times New Roman"/>
                <a:cs typeface="Times New Roman"/>
              </a:rPr>
              <a:t>With </a:t>
            </a:r>
            <a:r>
              <a:rPr sz="1700" dirty="0">
                <a:latin typeface="Times New Roman"/>
                <a:cs typeface="Times New Roman"/>
              </a:rPr>
              <a:t>such </a:t>
            </a:r>
            <a:r>
              <a:rPr sz="1700" spc="-5" dirty="0">
                <a:latin typeface="Times New Roman"/>
                <a:cs typeface="Times New Roman"/>
              </a:rPr>
              <a:t>gases, </a:t>
            </a:r>
            <a:r>
              <a:rPr sz="1700" spc="-30" dirty="0">
                <a:latin typeface="Times New Roman"/>
                <a:cs typeface="Times New Roman"/>
              </a:rPr>
              <a:t>Townsend’s </a:t>
            </a:r>
            <a:r>
              <a:rPr sz="1700" spc="-5" dirty="0">
                <a:latin typeface="Times New Roman"/>
                <a:cs typeface="Times New Roman"/>
              </a:rPr>
              <a:t>current growth equation </a:t>
            </a:r>
            <a:r>
              <a:rPr sz="1700" dirty="0">
                <a:latin typeface="Times New Roman"/>
                <a:cs typeface="Times New Roman"/>
              </a:rPr>
              <a:t>is </a:t>
            </a:r>
            <a:r>
              <a:rPr sz="1700" spc="-10" dirty="0">
                <a:latin typeface="Times New Roman"/>
                <a:cs typeface="Times New Roman"/>
              </a:rPr>
              <a:t>modified </a:t>
            </a:r>
            <a:r>
              <a:rPr sz="1700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include </a:t>
            </a:r>
            <a:r>
              <a:rPr sz="1700" dirty="0">
                <a:latin typeface="Times New Roman"/>
                <a:cs typeface="Times New Roman"/>
              </a:rPr>
              <a:t>ionization and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attachment.</a:t>
            </a:r>
            <a:endParaRPr sz="1700">
              <a:latin typeface="Times New Roman"/>
              <a:cs typeface="Times New Roman"/>
            </a:endParaRPr>
          </a:p>
          <a:p>
            <a:pPr marL="63500">
              <a:lnSpc>
                <a:spcPts val="1835"/>
              </a:lnSpc>
              <a:spcBef>
                <a:spcPts val="575"/>
              </a:spcBef>
            </a:pPr>
            <a:r>
              <a:rPr sz="1700" spc="-5" dirty="0">
                <a:latin typeface="Times New Roman"/>
                <a:cs typeface="Times New Roman"/>
              </a:rPr>
              <a:t>An attachment coefficient (n) </a:t>
            </a:r>
            <a:r>
              <a:rPr sz="1700" dirty="0">
                <a:latin typeface="Times New Roman"/>
                <a:cs typeface="Times New Roman"/>
              </a:rPr>
              <a:t>is </a:t>
            </a:r>
            <a:r>
              <a:rPr sz="1700" spc="-10" dirty="0">
                <a:latin typeface="Times New Roman"/>
                <a:cs typeface="Times New Roman"/>
              </a:rPr>
              <a:t>defined, </a:t>
            </a:r>
            <a:r>
              <a:rPr sz="1700" spc="-5" dirty="0">
                <a:latin typeface="Times New Roman"/>
                <a:cs typeface="Times New Roman"/>
              </a:rPr>
              <a:t>similar </a:t>
            </a:r>
            <a:r>
              <a:rPr sz="1700" dirty="0">
                <a:latin typeface="Times New Roman"/>
                <a:cs typeface="Times New Roman"/>
              </a:rPr>
              <a:t>to </a:t>
            </a:r>
            <a:r>
              <a:rPr sz="1700" spc="30" dirty="0">
                <a:latin typeface="Cambria Math"/>
                <a:cs typeface="Cambria Math"/>
              </a:rPr>
              <a:t>𝛼, </a:t>
            </a:r>
            <a:r>
              <a:rPr sz="1700" spc="5" dirty="0">
                <a:latin typeface="Times New Roman"/>
                <a:cs typeface="Times New Roman"/>
              </a:rPr>
              <a:t>as </a:t>
            </a:r>
            <a:r>
              <a:rPr sz="1700" spc="-10" dirty="0">
                <a:latin typeface="Times New Roman"/>
                <a:cs typeface="Times New Roman"/>
              </a:rPr>
              <a:t>number </a:t>
            </a:r>
            <a:r>
              <a:rPr sz="1700" spc="-5" dirty="0">
                <a:latin typeface="Times New Roman"/>
                <a:cs typeface="Times New Roman"/>
              </a:rPr>
              <a:t>of </a:t>
            </a:r>
            <a:r>
              <a:rPr sz="1700" dirty="0">
                <a:latin typeface="Times New Roman"/>
                <a:cs typeface="Times New Roman"/>
              </a:rPr>
              <a:t>attaching </a:t>
            </a:r>
            <a:r>
              <a:rPr sz="1700" spc="-5" dirty="0">
                <a:latin typeface="Times New Roman"/>
                <a:cs typeface="Times New Roman"/>
              </a:rPr>
              <a:t>collisions </a:t>
            </a:r>
            <a:r>
              <a:rPr sz="1700" spc="-10" dirty="0">
                <a:latin typeface="Times New Roman"/>
                <a:cs typeface="Times New Roman"/>
              </a:rPr>
              <a:t>made </a:t>
            </a:r>
            <a:r>
              <a:rPr sz="1700" spc="5" dirty="0">
                <a:latin typeface="Times New Roman"/>
                <a:cs typeface="Times New Roman"/>
              </a:rPr>
              <a:t>by </a:t>
            </a:r>
            <a:r>
              <a:rPr sz="1700" spc="-10" dirty="0">
                <a:latin typeface="Times New Roman"/>
                <a:cs typeface="Times New Roman"/>
              </a:rPr>
              <a:t>one </a:t>
            </a:r>
            <a:r>
              <a:rPr sz="1700" spc="-5" dirty="0">
                <a:latin typeface="Times New Roman"/>
                <a:cs typeface="Times New Roman"/>
              </a:rPr>
              <a:t>electron drifting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one</a:t>
            </a:r>
            <a:endParaRPr sz="1700">
              <a:latin typeface="Times New Roman"/>
              <a:cs typeface="Times New Roman"/>
            </a:endParaRPr>
          </a:p>
          <a:p>
            <a:pPr marL="63500">
              <a:lnSpc>
                <a:spcPts val="1835"/>
              </a:lnSpc>
            </a:pPr>
            <a:r>
              <a:rPr sz="1700" spc="-5" dirty="0">
                <a:latin typeface="Times New Roman"/>
                <a:cs typeface="Times New Roman"/>
              </a:rPr>
              <a:t>centimeter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direction </a:t>
            </a:r>
            <a:r>
              <a:rPr sz="1700" spc="-1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field.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0096" y="3034283"/>
            <a:ext cx="586105" cy="76200"/>
          </a:xfrm>
          <a:custGeom>
            <a:avLst/>
            <a:gdLst/>
            <a:ahLst/>
            <a:cxnLst/>
            <a:rect l="l" t="t" r="r" b="b"/>
            <a:pathLst>
              <a:path w="586105" h="76200">
                <a:moveTo>
                  <a:pt x="509523" y="0"/>
                </a:moveTo>
                <a:lnTo>
                  <a:pt x="509523" y="76200"/>
                </a:lnTo>
                <a:lnTo>
                  <a:pt x="573023" y="44450"/>
                </a:lnTo>
                <a:lnTo>
                  <a:pt x="522223" y="44450"/>
                </a:lnTo>
                <a:lnTo>
                  <a:pt x="522223" y="31750"/>
                </a:lnTo>
                <a:lnTo>
                  <a:pt x="573023" y="31750"/>
                </a:lnTo>
                <a:lnTo>
                  <a:pt x="509523" y="0"/>
                </a:lnTo>
                <a:close/>
              </a:path>
              <a:path w="586105" h="76200">
                <a:moveTo>
                  <a:pt x="50952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09523" y="44450"/>
                </a:lnTo>
                <a:lnTo>
                  <a:pt x="509523" y="31750"/>
                </a:lnTo>
                <a:close/>
              </a:path>
              <a:path w="586105" h="76200">
                <a:moveTo>
                  <a:pt x="573023" y="31750"/>
                </a:moveTo>
                <a:lnTo>
                  <a:pt x="522223" y="31750"/>
                </a:lnTo>
                <a:lnTo>
                  <a:pt x="522223" y="44450"/>
                </a:lnTo>
                <a:lnTo>
                  <a:pt x="573023" y="44450"/>
                </a:lnTo>
                <a:lnTo>
                  <a:pt x="585723" y="38100"/>
                </a:lnTo>
                <a:lnTo>
                  <a:pt x="573023" y="3175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30096" y="4058411"/>
            <a:ext cx="586105" cy="76200"/>
          </a:xfrm>
          <a:custGeom>
            <a:avLst/>
            <a:gdLst/>
            <a:ahLst/>
            <a:cxnLst/>
            <a:rect l="l" t="t" r="r" b="b"/>
            <a:pathLst>
              <a:path w="586105" h="76200">
                <a:moveTo>
                  <a:pt x="509523" y="0"/>
                </a:moveTo>
                <a:lnTo>
                  <a:pt x="509523" y="76200"/>
                </a:lnTo>
                <a:lnTo>
                  <a:pt x="573023" y="44450"/>
                </a:lnTo>
                <a:lnTo>
                  <a:pt x="522223" y="44450"/>
                </a:lnTo>
                <a:lnTo>
                  <a:pt x="522223" y="31750"/>
                </a:lnTo>
                <a:lnTo>
                  <a:pt x="573023" y="31750"/>
                </a:lnTo>
                <a:lnTo>
                  <a:pt x="509523" y="0"/>
                </a:lnTo>
                <a:close/>
              </a:path>
              <a:path w="586105" h="76200">
                <a:moveTo>
                  <a:pt x="50952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09523" y="44450"/>
                </a:lnTo>
                <a:lnTo>
                  <a:pt x="509523" y="31750"/>
                </a:lnTo>
                <a:close/>
              </a:path>
              <a:path w="586105" h="76200">
                <a:moveTo>
                  <a:pt x="573023" y="31750"/>
                </a:moveTo>
                <a:lnTo>
                  <a:pt x="522223" y="31750"/>
                </a:lnTo>
                <a:lnTo>
                  <a:pt x="522223" y="44450"/>
                </a:lnTo>
                <a:lnTo>
                  <a:pt x="573023" y="44450"/>
                </a:lnTo>
                <a:lnTo>
                  <a:pt x="585723" y="38100"/>
                </a:lnTo>
                <a:lnTo>
                  <a:pt x="573023" y="3175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9402" y="710056"/>
            <a:ext cx="461009" cy="155575"/>
          </a:xfrm>
          <a:custGeom>
            <a:avLst/>
            <a:gdLst/>
            <a:ahLst/>
            <a:cxnLst/>
            <a:rect l="l" t="t" r="r" b="b"/>
            <a:pathLst>
              <a:path w="461010" h="155575">
                <a:moveTo>
                  <a:pt x="411099" y="0"/>
                </a:moveTo>
                <a:lnTo>
                  <a:pt x="408940" y="6222"/>
                </a:lnTo>
                <a:lnTo>
                  <a:pt x="417939" y="10126"/>
                </a:lnTo>
                <a:lnTo>
                  <a:pt x="425688" y="15541"/>
                </a:lnTo>
                <a:lnTo>
                  <a:pt x="444246" y="51514"/>
                </a:lnTo>
                <a:lnTo>
                  <a:pt x="446532" y="76834"/>
                </a:lnTo>
                <a:lnTo>
                  <a:pt x="445958" y="90503"/>
                </a:lnTo>
                <a:lnTo>
                  <a:pt x="432071" y="132576"/>
                </a:lnTo>
                <a:lnTo>
                  <a:pt x="409194" y="148970"/>
                </a:lnTo>
                <a:lnTo>
                  <a:pt x="411099" y="155193"/>
                </a:lnTo>
                <a:lnTo>
                  <a:pt x="447929" y="128142"/>
                </a:lnTo>
                <a:lnTo>
                  <a:pt x="459841" y="91888"/>
                </a:lnTo>
                <a:lnTo>
                  <a:pt x="460629" y="77596"/>
                </a:lnTo>
                <a:lnTo>
                  <a:pt x="459839" y="63378"/>
                </a:lnTo>
                <a:lnTo>
                  <a:pt x="447802" y="27177"/>
                </a:lnTo>
                <a:lnTo>
                  <a:pt x="422388" y="4050"/>
                </a:lnTo>
                <a:lnTo>
                  <a:pt x="411099" y="0"/>
                </a:lnTo>
                <a:close/>
              </a:path>
              <a:path w="461010" h="155575">
                <a:moveTo>
                  <a:pt x="49403" y="0"/>
                </a:moveTo>
                <a:lnTo>
                  <a:pt x="12700" y="27177"/>
                </a:lnTo>
                <a:lnTo>
                  <a:pt x="787" y="63378"/>
                </a:lnTo>
                <a:lnTo>
                  <a:pt x="0" y="77596"/>
                </a:lnTo>
                <a:lnTo>
                  <a:pt x="787" y="91888"/>
                </a:lnTo>
                <a:lnTo>
                  <a:pt x="12700" y="128142"/>
                </a:lnTo>
                <a:lnTo>
                  <a:pt x="49403" y="155193"/>
                </a:lnTo>
                <a:lnTo>
                  <a:pt x="51435" y="148970"/>
                </a:lnTo>
                <a:lnTo>
                  <a:pt x="42602" y="145045"/>
                </a:lnTo>
                <a:lnTo>
                  <a:pt x="34972" y="139572"/>
                </a:lnTo>
                <a:lnTo>
                  <a:pt x="16398" y="102933"/>
                </a:lnTo>
                <a:lnTo>
                  <a:pt x="14097" y="76834"/>
                </a:lnTo>
                <a:lnTo>
                  <a:pt x="14670" y="63597"/>
                </a:lnTo>
                <a:lnTo>
                  <a:pt x="28561" y="22457"/>
                </a:lnTo>
                <a:lnTo>
                  <a:pt x="51689" y="6222"/>
                </a:lnTo>
                <a:lnTo>
                  <a:pt x="494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265" y="675894"/>
            <a:ext cx="4645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I=</a:t>
            </a:r>
            <a:r>
              <a:rPr sz="1800" b="0" spc="-10" dirty="0">
                <a:solidFill>
                  <a:srgbClr val="000000"/>
                </a:solidFill>
                <a:latin typeface="Cambria Math"/>
                <a:cs typeface="Cambria Math"/>
              </a:rPr>
              <a:t>𝐼</a:t>
            </a:r>
            <a:r>
              <a:rPr sz="1950" b="0" spc="-15" baseline="-14957" dirty="0">
                <a:solidFill>
                  <a:srgbClr val="000000"/>
                </a:solidFill>
                <a:latin typeface="Cambria Math"/>
                <a:cs typeface="Cambria Math"/>
              </a:rPr>
              <a:t>𝑜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[ { </a:t>
            </a:r>
            <a:r>
              <a:rPr sz="1800" b="0" spc="15" dirty="0">
                <a:solidFill>
                  <a:srgbClr val="000000"/>
                </a:solidFill>
                <a:latin typeface="Cambria Math"/>
                <a:cs typeface="Cambria Math"/>
              </a:rPr>
              <a:t>𝛼/(𝛼 </a:t>
            </a:r>
            <a:r>
              <a:rPr sz="1800" b="0" dirty="0">
                <a:solidFill>
                  <a:srgbClr val="000000"/>
                </a:solidFill>
                <a:latin typeface="Cambria Math"/>
                <a:cs typeface="Cambria Math"/>
              </a:rPr>
              <a:t>− </a:t>
            </a:r>
            <a:r>
              <a:rPr sz="1800" b="0" spc="10" dirty="0">
                <a:solidFill>
                  <a:srgbClr val="000000"/>
                </a:solidFill>
                <a:latin typeface="Cambria Math"/>
                <a:cs typeface="Cambria Math"/>
              </a:rPr>
              <a:t>𝑛)} </a:t>
            </a:r>
            <a:r>
              <a:rPr sz="1800" b="0" dirty="0">
                <a:solidFill>
                  <a:srgbClr val="000000"/>
                </a:solidFill>
                <a:latin typeface="Cambria Math"/>
                <a:cs typeface="Cambria Math"/>
              </a:rPr>
              <a:t>𝑒 </a:t>
            </a:r>
            <a:r>
              <a:rPr sz="1950" b="0" spc="104" baseline="27777" dirty="0">
                <a:solidFill>
                  <a:srgbClr val="000000"/>
                </a:solidFill>
                <a:latin typeface="Cambria Math"/>
                <a:cs typeface="Cambria Math"/>
              </a:rPr>
              <a:t>𝛼−𝑛 </a:t>
            </a:r>
            <a:r>
              <a:rPr sz="1950" b="0" spc="150" baseline="27777" dirty="0">
                <a:solidFill>
                  <a:srgbClr val="000000"/>
                </a:solidFill>
                <a:latin typeface="Cambria Math"/>
                <a:cs typeface="Cambria Math"/>
              </a:rPr>
              <a:t>𝑑</a:t>
            </a:r>
            <a:r>
              <a:rPr sz="1800" b="0" spc="100" dirty="0">
                <a:solidFill>
                  <a:srgbClr val="000000"/>
                </a:solidFill>
                <a:latin typeface="Cambria Math"/>
                <a:cs typeface="Cambria Math"/>
              </a:rPr>
              <a:t>] </a:t>
            </a:r>
            <a:r>
              <a:rPr sz="1800" b="0" dirty="0">
                <a:solidFill>
                  <a:srgbClr val="000000"/>
                </a:solidFill>
                <a:latin typeface="Cambria Math"/>
                <a:cs typeface="Cambria Math"/>
              </a:rPr>
              <a:t>− [ </a:t>
            </a:r>
            <a:r>
              <a:rPr sz="1800" b="0" spc="20" dirty="0">
                <a:solidFill>
                  <a:srgbClr val="000000"/>
                </a:solidFill>
                <a:latin typeface="Cambria Math"/>
                <a:cs typeface="Cambria Math"/>
              </a:rPr>
              <a:t>𝑛/ </a:t>
            </a:r>
            <a:r>
              <a:rPr sz="1800" b="0" spc="-5" dirty="0">
                <a:solidFill>
                  <a:srgbClr val="000000"/>
                </a:solidFill>
                <a:latin typeface="Cambria Math"/>
                <a:cs typeface="Cambria Math"/>
              </a:rPr>
              <a:t>(𝛼 </a:t>
            </a:r>
            <a:r>
              <a:rPr sz="1800" b="0" dirty="0">
                <a:solidFill>
                  <a:srgbClr val="000000"/>
                </a:solidFill>
                <a:latin typeface="Cambria Math"/>
                <a:cs typeface="Cambria Math"/>
              </a:rPr>
              <a:t>− </a:t>
            </a:r>
            <a:r>
              <a:rPr sz="1800" b="0" spc="20" dirty="0">
                <a:solidFill>
                  <a:srgbClr val="000000"/>
                </a:solidFill>
                <a:latin typeface="Cambria Math"/>
                <a:cs typeface="Cambria Math"/>
              </a:rPr>
              <a:t>𝑛)</a:t>
            </a:r>
            <a:r>
              <a:rPr sz="1800" b="0" spc="370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mbria Math"/>
                <a:cs typeface="Cambria Math"/>
              </a:rPr>
              <a:t>]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7770" y="1078484"/>
            <a:ext cx="560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Times New Roman"/>
                <a:cs typeface="Times New Roman"/>
              </a:rPr>
              <a:t>1-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𝛾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9183" y="1253489"/>
            <a:ext cx="347980" cy="0"/>
          </a:xfrm>
          <a:custGeom>
            <a:avLst/>
            <a:gdLst/>
            <a:ahLst/>
            <a:cxnLst/>
            <a:rect l="l" t="t" r="r" b="b"/>
            <a:pathLst>
              <a:path w="347980">
                <a:moveTo>
                  <a:pt x="0" y="0"/>
                </a:moveTo>
                <a:lnTo>
                  <a:pt x="347472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02689" y="1004773"/>
            <a:ext cx="13779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65" dirty="0">
                <a:latin typeface="Cambria Math"/>
                <a:cs typeface="Cambria Math"/>
              </a:rPr>
              <a:t>𝛼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6864" y="1255268"/>
            <a:ext cx="3721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95" dirty="0">
                <a:latin typeface="Cambria Math"/>
                <a:cs typeface="Cambria Math"/>
              </a:rPr>
              <a:t>𝛼</a:t>
            </a:r>
            <a:r>
              <a:rPr sz="1300" spc="-20" dirty="0">
                <a:latin typeface="Cambria Math"/>
                <a:cs typeface="Cambria Math"/>
              </a:rPr>
              <a:t>−</a:t>
            </a:r>
            <a:r>
              <a:rPr sz="1300" spc="190" dirty="0"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76195" y="1116330"/>
            <a:ext cx="890269" cy="274955"/>
          </a:xfrm>
          <a:custGeom>
            <a:avLst/>
            <a:gdLst/>
            <a:ahLst/>
            <a:cxnLst/>
            <a:rect l="l" t="t" r="r" b="b"/>
            <a:pathLst>
              <a:path w="890269" h="274955">
                <a:moveTo>
                  <a:pt x="821944" y="0"/>
                </a:moveTo>
                <a:lnTo>
                  <a:pt x="819023" y="0"/>
                </a:lnTo>
                <a:lnTo>
                  <a:pt x="819023" y="8509"/>
                </a:lnTo>
                <a:lnTo>
                  <a:pt x="820674" y="8509"/>
                </a:lnTo>
                <a:lnTo>
                  <a:pt x="828339" y="9179"/>
                </a:lnTo>
                <a:lnTo>
                  <a:pt x="854646" y="45255"/>
                </a:lnTo>
                <a:lnTo>
                  <a:pt x="855218" y="58039"/>
                </a:lnTo>
                <a:lnTo>
                  <a:pt x="855218" y="64770"/>
                </a:lnTo>
                <a:lnTo>
                  <a:pt x="854456" y="73152"/>
                </a:lnTo>
                <a:lnTo>
                  <a:pt x="852932" y="83058"/>
                </a:lnTo>
                <a:lnTo>
                  <a:pt x="851535" y="92964"/>
                </a:lnTo>
                <a:lnTo>
                  <a:pt x="850826" y="99695"/>
                </a:lnTo>
                <a:lnTo>
                  <a:pt x="850773" y="112649"/>
                </a:lnTo>
                <a:lnTo>
                  <a:pt x="852551" y="119380"/>
                </a:lnTo>
                <a:lnTo>
                  <a:pt x="856361" y="124587"/>
                </a:lnTo>
                <a:lnTo>
                  <a:pt x="860044" y="129921"/>
                </a:lnTo>
                <a:lnTo>
                  <a:pt x="864489" y="133731"/>
                </a:lnTo>
                <a:lnTo>
                  <a:pt x="869569" y="136271"/>
                </a:lnTo>
                <a:lnTo>
                  <a:pt x="869569" y="138303"/>
                </a:lnTo>
                <a:lnTo>
                  <a:pt x="864489" y="140716"/>
                </a:lnTo>
                <a:lnTo>
                  <a:pt x="860044" y="144525"/>
                </a:lnTo>
                <a:lnTo>
                  <a:pt x="856361" y="149733"/>
                </a:lnTo>
                <a:lnTo>
                  <a:pt x="852551" y="154940"/>
                </a:lnTo>
                <a:lnTo>
                  <a:pt x="850773" y="161671"/>
                </a:lnTo>
                <a:lnTo>
                  <a:pt x="850827" y="174498"/>
                </a:lnTo>
                <a:lnTo>
                  <a:pt x="851535" y="181102"/>
                </a:lnTo>
                <a:lnTo>
                  <a:pt x="852932" y="190881"/>
                </a:lnTo>
                <a:lnTo>
                  <a:pt x="854456" y="200787"/>
                </a:lnTo>
                <a:lnTo>
                  <a:pt x="855218" y="209042"/>
                </a:lnTo>
                <a:lnTo>
                  <a:pt x="855218" y="215646"/>
                </a:lnTo>
                <a:lnTo>
                  <a:pt x="854646" y="229002"/>
                </a:lnTo>
                <a:lnTo>
                  <a:pt x="835136" y="263636"/>
                </a:lnTo>
                <a:lnTo>
                  <a:pt x="820674" y="266319"/>
                </a:lnTo>
                <a:lnTo>
                  <a:pt x="819023" y="266319"/>
                </a:lnTo>
                <a:lnTo>
                  <a:pt x="819023" y="274828"/>
                </a:lnTo>
                <a:lnTo>
                  <a:pt x="821944" y="274828"/>
                </a:lnTo>
                <a:lnTo>
                  <a:pt x="834255" y="273661"/>
                </a:lnTo>
                <a:lnTo>
                  <a:pt x="866854" y="251067"/>
                </a:lnTo>
                <a:lnTo>
                  <a:pt x="874141" y="211455"/>
                </a:lnTo>
                <a:lnTo>
                  <a:pt x="873994" y="205283"/>
                </a:lnTo>
                <a:lnTo>
                  <a:pt x="873537" y="198755"/>
                </a:lnTo>
                <a:lnTo>
                  <a:pt x="872747" y="191845"/>
                </a:lnTo>
                <a:lnTo>
                  <a:pt x="871601" y="184531"/>
                </a:lnTo>
                <a:lnTo>
                  <a:pt x="869823" y="174498"/>
                </a:lnTo>
                <a:lnTo>
                  <a:pt x="868934" y="167767"/>
                </a:lnTo>
                <a:lnTo>
                  <a:pt x="868934" y="157861"/>
                </a:lnTo>
                <a:lnTo>
                  <a:pt x="870712" y="152527"/>
                </a:lnTo>
                <a:lnTo>
                  <a:pt x="877824" y="144399"/>
                </a:lnTo>
                <a:lnTo>
                  <a:pt x="883158" y="142112"/>
                </a:lnTo>
                <a:lnTo>
                  <a:pt x="890270" y="141859"/>
                </a:lnTo>
                <a:lnTo>
                  <a:pt x="890270" y="132715"/>
                </a:lnTo>
                <a:lnTo>
                  <a:pt x="868934" y="116586"/>
                </a:lnTo>
                <a:lnTo>
                  <a:pt x="868934" y="106553"/>
                </a:lnTo>
                <a:lnTo>
                  <a:pt x="869823" y="99695"/>
                </a:lnTo>
                <a:lnTo>
                  <a:pt x="871601" y="89662"/>
                </a:lnTo>
                <a:lnTo>
                  <a:pt x="872747" y="82254"/>
                </a:lnTo>
                <a:lnTo>
                  <a:pt x="873537" y="75263"/>
                </a:lnTo>
                <a:lnTo>
                  <a:pt x="873994" y="68677"/>
                </a:lnTo>
                <a:lnTo>
                  <a:pt x="874141" y="62484"/>
                </a:lnTo>
                <a:lnTo>
                  <a:pt x="873331" y="47460"/>
                </a:lnTo>
                <a:lnTo>
                  <a:pt x="853876" y="8840"/>
                </a:lnTo>
                <a:lnTo>
                  <a:pt x="834255" y="1168"/>
                </a:lnTo>
                <a:lnTo>
                  <a:pt x="821944" y="0"/>
                </a:lnTo>
                <a:close/>
              </a:path>
              <a:path w="890269" h="274955">
                <a:moveTo>
                  <a:pt x="71247" y="0"/>
                </a:moveTo>
                <a:lnTo>
                  <a:pt x="68326" y="0"/>
                </a:lnTo>
                <a:lnTo>
                  <a:pt x="56014" y="1168"/>
                </a:lnTo>
                <a:lnTo>
                  <a:pt x="23415" y="23889"/>
                </a:lnTo>
                <a:lnTo>
                  <a:pt x="16129" y="62484"/>
                </a:lnTo>
                <a:lnTo>
                  <a:pt x="16275" y="68677"/>
                </a:lnTo>
                <a:lnTo>
                  <a:pt x="16732" y="75263"/>
                </a:lnTo>
                <a:lnTo>
                  <a:pt x="17522" y="82254"/>
                </a:lnTo>
                <a:lnTo>
                  <a:pt x="18668" y="89662"/>
                </a:lnTo>
                <a:lnTo>
                  <a:pt x="20447" y="99695"/>
                </a:lnTo>
                <a:lnTo>
                  <a:pt x="21336" y="106553"/>
                </a:lnTo>
                <a:lnTo>
                  <a:pt x="21336" y="116586"/>
                </a:lnTo>
                <a:lnTo>
                  <a:pt x="19558" y="121920"/>
                </a:lnTo>
                <a:lnTo>
                  <a:pt x="16002" y="126111"/>
                </a:lnTo>
                <a:lnTo>
                  <a:pt x="12446" y="130175"/>
                </a:lnTo>
                <a:lnTo>
                  <a:pt x="7112" y="132461"/>
                </a:lnTo>
                <a:lnTo>
                  <a:pt x="0" y="132715"/>
                </a:lnTo>
                <a:lnTo>
                  <a:pt x="0" y="141859"/>
                </a:lnTo>
                <a:lnTo>
                  <a:pt x="7112" y="142112"/>
                </a:lnTo>
                <a:lnTo>
                  <a:pt x="12446" y="144399"/>
                </a:lnTo>
                <a:lnTo>
                  <a:pt x="19558" y="152527"/>
                </a:lnTo>
                <a:lnTo>
                  <a:pt x="21336" y="157861"/>
                </a:lnTo>
                <a:lnTo>
                  <a:pt x="21336" y="167767"/>
                </a:lnTo>
                <a:lnTo>
                  <a:pt x="20447" y="174498"/>
                </a:lnTo>
                <a:lnTo>
                  <a:pt x="18668" y="184531"/>
                </a:lnTo>
                <a:lnTo>
                  <a:pt x="17522" y="191845"/>
                </a:lnTo>
                <a:lnTo>
                  <a:pt x="16732" y="198755"/>
                </a:lnTo>
                <a:lnTo>
                  <a:pt x="16275" y="205283"/>
                </a:lnTo>
                <a:lnTo>
                  <a:pt x="16129" y="211455"/>
                </a:lnTo>
                <a:lnTo>
                  <a:pt x="16938" y="226976"/>
                </a:lnTo>
                <a:lnTo>
                  <a:pt x="36393" y="266041"/>
                </a:lnTo>
                <a:lnTo>
                  <a:pt x="68326" y="274828"/>
                </a:lnTo>
                <a:lnTo>
                  <a:pt x="71247" y="274828"/>
                </a:lnTo>
                <a:lnTo>
                  <a:pt x="71247" y="266319"/>
                </a:lnTo>
                <a:lnTo>
                  <a:pt x="69596" y="266319"/>
                </a:lnTo>
                <a:lnTo>
                  <a:pt x="61930" y="265650"/>
                </a:lnTo>
                <a:lnTo>
                  <a:pt x="35623" y="229002"/>
                </a:lnTo>
                <a:lnTo>
                  <a:pt x="35052" y="215646"/>
                </a:lnTo>
                <a:lnTo>
                  <a:pt x="35052" y="209042"/>
                </a:lnTo>
                <a:lnTo>
                  <a:pt x="35814" y="200787"/>
                </a:lnTo>
                <a:lnTo>
                  <a:pt x="37337" y="190881"/>
                </a:lnTo>
                <a:lnTo>
                  <a:pt x="38735" y="181102"/>
                </a:lnTo>
                <a:lnTo>
                  <a:pt x="39442" y="174498"/>
                </a:lnTo>
                <a:lnTo>
                  <a:pt x="39497" y="161671"/>
                </a:lnTo>
                <a:lnTo>
                  <a:pt x="37592" y="154940"/>
                </a:lnTo>
                <a:lnTo>
                  <a:pt x="30226" y="144525"/>
                </a:lnTo>
                <a:lnTo>
                  <a:pt x="25781" y="140716"/>
                </a:lnTo>
                <a:lnTo>
                  <a:pt x="20701" y="138303"/>
                </a:lnTo>
                <a:lnTo>
                  <a:pt x="20701" y="136271"/>
                </a:lnTo>
                <a:lnTo>
                  <a:pt x="25781" y="133731"/>
                </a:lnTo>
                <a:lnTo>
                  <a:pt x="30226" y="129921"/>
                </a:lnTo>
                <a:lnTo>
                  <a:pt x="33909" y="124587"/>
                </a:lnTo>
                <a:lnTo>
                  <a:pt x="37592" y="119380"/>
                </a:lnTo>
                <a:lnTo>
                  <a:pt x="39497" y="112649"/>
                </a:lnTo>
                <a:lnTo>
                  <a:pt x="39443" y="99695"/>
                </a:lnTo>
                <a:lnTo>
                  <a:pt x="38735" y="92964"/>
                </a:lnTo>
                <a:lnTo>
                  <a:pt x="37214" y="82254"/>
                </a:lnTo>
                <a:lnTo>
                  <a:pt x="35814" y="73152"/>
                </a:lnTo>
                <a:lnTo>
                  <a:pt x="35052" y="64770"/>
                </a:lnTo>
                <a:lnTo>
                  <a:pt x="35052" y="58039"/>
                </a:lnTo>
                <a:lnTo>
                  <a:pt x="35623" y="45255"/>
                </a:lnTo>
                <a:lnTo>
                  <a:pt x="55133" y="11207"/>
                </a:lnTo>
                <a:lnTo>
                  <a:pt x="69596" y="8509"/>
                </a:lnTo>
                <a:lnTo>
                  <a:pt x="71247" y="8509"/>
                </a:lnTo>
                <a:lnTo>
                  <a:pt x="71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93747" y="1112392"/>
            <a:ext cx="457834" cy="155575"/>
          </a:xfrm>
          <a:custGeom>
            <a:avLst/>
            <a:gdLst/>
            <a:ahLst/>
            <a:cxnLst/>
            <a:rect l="l" t="t" r="r" b="b"/>
            <a:pathLst>
              <a:path w="457835" h="155575">
                <a:moveTo>
                  <a:pt x="408050" y="0"/>
                </a:moveTo>
                <a:lnTo>
                  <a:pt x="405891" y="6223"/>
                </a:lnTo>
                <a:lnTo>
                  <a:pt x="414891" y="10126"/>
                </a:lnTo>
                <a:lnTo>
                  <a:pt x="422640" y="15541"/>
                </a:lnTo>
                <a:lnTo>
                  <a:pt x="441198" y="51514"/>
                </a:lnTo>
                <a:lnTo>
                  <a:pt x="443483" y="76835"/>
                </a:lnTo>
                <a:lnTo>
                  <a:pt x="442910" y="90503"/>
                </a:lnTo>
                <a:lnTo>
                  <a:pt x="429023" y="132576"/>
                </a:lnTo>
                <a:lnTo>
                  <a:pt x="406145" y="148971"/>
                </a:lnTo>
                <a:lnTo>
                  <a:pt x="408050" y="155194"/>
                </a:lnTo>
                <a:lnTo>
                  <a:pt x="444880" y="128143"/>
                </a:lnTo>
                <a:lnTo>
                  <a:pt x="456793" y="91888"/>
                </a:lnTo>
                <a:lnTo>
                  <a:pt x="457580" y="77597"/>
                </a:lnTo>
                <a:lnTo>
                  <a:pt x="456791" y="63378"/>
                </a:lnTo>
                <a:lnTo>
                  <a:pt x="444753" y="27178"/>
                </a:lnTo>
                <a:lnTo>
                  <a:pt x="419340" y="4050"/>
                </a:lnTo>
                <a:lnTo>
                  <a:pt x="408050" y="0"/>
                </a:lnTo>
                <a:close/>
              </a:path>
              <a:path w="457835" h="155575">
                <a:moveTo>
                  <a:pt x="49402" y="0"/>
                </a:moveTo>
                <a:lnTo>
                  <a:pt x="12700" y="27178"/>
                </a:lnTo>
                <a:lnTo>
                  <a:pt x="787" y="63378"/>
                </a:lnTo>
                <a:lnTo>
                  <a:pt x="0" y="77597"/>
                </a:lnTo>
                <a:lnTo>
                  <a:pt x="787" y="91888"/>
                </a:lnTo>
                <a:lnTo>
                  <a:pt x="12700" y="128143"/>
                </a:lnTo>
                <a:lnTo>
                  <a:pt x="49402" y="155194"/>
                </a:lnTo>
                <a:lnTo>
                  <a:pt x="51434" y="148971"/>
                </a:lnTo>
                <a:lnTo>
                  <a:pt x="42602" y="145045"/>
                </a:lnTo>
                <a:lnTo>
                  <a:pt x="34972" y="139573"/>
                </a:lnTo>
                <a:lnTo>
                  <a:pt x="16398" y="102933"/>
                </a:lnTo>
                <a:lnTo>
                  <a:pt x="14096" y="76835"/>
                </a:lnTo>
                <a:lnTo>
                  <a:pt x="14670" y="63597"/>
                </a:lnTo>
                <a:lnTo>
                  <a:pt x="28561" y="22457"/>
                </a:lnTo>
                <a:lnTo>
                  <a:pt x="51688" y="6223"/>
                </a:lnTo>
                <a:lnTo>
                  <a:pt x="49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48942" y="995934"/>
            <a:ext cx="963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20061" dirty="0">
                <a:latin typeface="Cambria Math"/>
                <a:cs typeface="Cambria Math"/>
              </a:rPr>
              <a:t>[ 𝑒 </a:t>
            </a:r>
            <a:r>
              <a:rPr sz="1300" spc="75" dirty="0">
                <a:latin typeface="Cambria Math"/>
                <a:cs typeface="Cambria Math"/>
              </a:rPr>
              <a:t>𝛼−𝑛</a:t>
            </a:r>
            <a:r>
              <a:rPr sz="1300" spc="-70" dirty="0">
                <a:latin typeface="Cambria Math"/>
                <a:cs typeface="Cambria Math"/>
              </a:rPr>
              <a:t> </a:t>
            </a:r>
            <a:r>
              <a:rPr sz="1300" spc="90" dirty="0">
                <a:latin typeface="Cambria Math"/>
                <a:cs typeface="Cambria Math"/>
              </a:rPr>
              <a:t>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13710" y="1078484"/>
            <a:ext cx="544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1]}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665" y="1880361"/>
            <a:ext cx="7597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735" indent="-28067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2735" algn="l"/>
                <a:tab pos="29337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30" dirty="0">
                <a:latin typeface="Times New Roman"/>
                <a:cs typeface="Times New Roman"/>
              </a:rPr>
              <a:t>Townsend’s </a:t>
            </a:r>
            <a:r>
              <a:rPr sz="1800" spc="-5" dirty="0">
                <a:latin typeface="Times New Roman"/>
                <a:cs typeface="Times New Roman"/>
              </a:rPr>
              <a:t>breakdown criterion </a:t>
            </a:r>
            <a:r>
              <a:rPr sz="1800" spc="5" dirty="0">
                <a:latin typeface="Times New Roman"/>
                <a:cs typeface="Times New Roman"/>
              </a:rPr>
              <a:t>or </a:t>
            </a:r>
            <a:r>
              <a:rPr sz="1800" spc="-5" dirty="0">
                <a:latin typeface="Times New Roman"/>
                <a:cs typeface="Times New Roman"/>
              </a:rPr>
              <a:t>attaching </a:t>
            </a:r>
            <a:r>
              <a:rPr sz="1800" spc="-10" dirty="0">
                <a:latin typeface="Times New Roman"/>
                <a:cs typeface="Times New Roman"/>
              </a:rPr>
              <a:t>gases can </a:t>
            </a:r>
            <a:r>
              <a:rPr sz="1800" spc="-5" dirty="0">
                <a:latin typeface="Times New Roman"/>
                <a:cs typeface="Times New Roman"/>
              </a:rPr>
              <a:t>also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dirty="0">
                <a:latin typeface="Times New Roman"/>
                <a:cs typeface="Times New Roman"/>
              </a:rPr>
              <a:t>deduced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6370" y="2657983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𝛾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13255" y="2832354"/>
            <a:ext cx="347980" cy="0"/>
          </a:xfrm>
          <a:custGeom>
            <a:avLst/>
            <a:gdLst/>
            <a:ahLst/>
            <a:cxnLst/>
            <a:rect l="l" t="t" r="r" b="b"/>
            <a:pathLst>
              <a:path w="347980">
                <a:moveTo>
                  <a:pt x="0" y="0"/>
                </a:moveTo>
                <a:lnTo>
                  <a:pt x="347471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16761" y="2584831"/>
            <a:ext cx="13716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65" dirty="0">
                <a:latin typeface="Cambria Math"/>
                <a:cs typeface="Cambria Math"/>
              </a:rPr>
              <a:t>𝛼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0936" y="2834767"/>
            <a:ext cx="3721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95" dirty="0">
                <a:latin typeface="Cambria Math"/>
                <a:cs typeface="Cambria Math"/>
              </a:rPr>
              <a:t>𝛼</a:t>
            </a:r>
            <a:r>
              <a:rPr sz="1300" spc="-20" dirty="0">
                <a:latin typeface="Cambria Math"/>
                <a:cs typeface="Cambria Math"/>
              </a:rPr>
              <a:t>−</a:t>
            </a:r>
            <a:r>
              <a:rPr sz="1300" spc="190" dirty="0"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37714" y="2691257"/>
            <a:ext cx="461009" cy="155575"/>
          </a:xfrm>
          <a:custGeom>
            <a:avLst/>
            <a:gdLst/>
            <a:ahLst/>
            <a:cxnLst/>
            <a:rect l="l" t="t" r="r" b="b"/>
            <a:pathLst>
              <a:path w="461010" h="155575">
                <a:moveTo>
                  <a:pt x="411099" y="0"/>
                </a:moveTo>
                <a:lnTo>
                  <a:pt x="408940" y="6222"/>
                </a:lnTo>
                <a:lnTo>
                  <a:pt x="417939" y="10126"/>
                </a:lnTo>
                <a:lnTo>
                  <a:pt x="425688" y="15541"/>
                </a:lnTo>
                <a:lnTo>
                  <a:pt x="444246" y="51514"/>
                </a:lnTo>
                <a:lnTo>
                  <a:pt x="446532" y="76834"/>
                </a:lnTo>
                <a:lnTo>
                  <a:pt x="445958" y="90503"/>
                </a:lnTo>
                <a:lnTo>
                  <a:pt x="432071" y="132576"/>
                </a:lnTo>
                <a:lnTo>
                  <a:pt x="409194" y="148970"/>
                </a:lnTo>
                <a:lnTo>
                  <a:pt x="411099" y="155193"/>
                </a:lnTo>
                <a:lnTo>
                  <a:pt x="447929" y="128142"/>
                </a:lnTo>
                <a:lnTo>
                  <a:pt x="459841" y="91888"/>
                </a:lnTo>
                <a:lnTo>
                  <a:pt x="460629" y="77596"/>
                </a:lnTo>
                <a:lnTo>
                  <a:pt x="459839" y="63378"/>
                </a:lnTo>
                <a:lnTo>
                  <a:pt x="447802" y="27177"/>
                </a:lnTo>
                <a:lnTo>
                  <a:pt x="422388" y="4050"/>
                </a:lnTo>
                <a:lnTo>
                  <a:pt x="411099" y="0"/>
                </a:lnTo>
                <a:close/>
              </a:path>
              <a:path w="461010" h="155575">
                <a:moveTo>
                  <a:pt x="49403" y="0"/>
                </a:moveTo>
                <a:lnTo>
                  <a:pt x="12700" y="27177"/>
                </a:lnTo>
                <a:lnTo>
                  <a:pt x="787" y="63378"/>
                </a:lnTo>
                <a:lnTo>
                  <a:pt x="0" y="77596"/>
                </a:lnTo>
                <a:lnTo>
                  <a:pt x="787" y="91888"/>
                </a:lnTo>
                <a:lnTo>
                  <a:pt x="12700" y="128142"/>
                </a:lnTo>
                <a:lnTo>
                  <a:pt x="49403" y="155193"/>
                </a:lnTo>
                <a:lnTo>
                  <a:pt x="51435" y="148970"/>
                </a:lnTo>
                <a:lnTo>
                  <a:pt x="42602" y="145045"/>
                </a:lnTo>
                <a:lnTo>
                  <a:pt x="34972" y="139572"/>
                </a:lnTo>
                <a:lnTo>
                  <a:pt x="16398" y="102933"/>
                </a:lnTo>
                <a:lnTo>
                  <a:pt x="14097" y="76834"/>
                </a:lnTo>
                <a:lnTo>
                  <a:pt x="14670" y="63597"/>
                </a:lnTo>
                <a:lnTo>
                  <a:pt x="28561" y="22457"/>
                </a:lnTo>
                <a:lnTo>
                  <a:pt x="51689" y="6222"/>
                </a:lnTo>
                <a:lnTo>
                  <a:pt x="494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80920" y="2657983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Times New Roman"/>
                <a:cs typeface="Times New Roman"/>
              </a:rPr>
              <a:t>[</a:t>
            </a:r>
            <a:r>
              <a:rPr sz="1800" spc="10" dirty="0">
                <a:latin typeface="Cambria Math"/>
                <a:cs typeface="Cambria Math"/>
              </a:rPr>
              <a:t>𝑒 </a:t>
            </a:r>
            <a:r>
              <a:rPr sz="1950" spc="104" baseline="27777" dirty="0">
                <a:latin typeface="Cambria Math"/>
                <a:cs typeface="Cambria Math"/>
              </a:rPr>
              <a:t>𝛼−𝑛 </a:t>
            </a:r>
            <a:r>
              <a:rPr sz="1950" spc="135" baseline="27777" dirty="0">
                <a:latin typeface="Cambria Math"/>
                <a:cs typeface="Cambria Math"/>
              </a:rPr>
              <a:t>𝑑</a:t>
            </a:r>
            <a:r>
              <a:rPr sz="1800" spc="90" dirty="0">
                <a:latin typeface="Times New Roman"/>
                <a:cs typeface="Times New Roman"/>
              </a:rPr>
              <a:t>- </a:t>
            </a:r>
            <a:r>
              <a:rPr sz="1800" spc="5" dirty="0">
                <a:latin typeface="Times New Roman"/>
                <a:cs typeface="Times New Roman"/>
              </a:rPr>
              <a:t>1]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1665" y="2984373"/>
            <a:ext cx="8807450" cy="7753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2735" indent="-28067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292735" algn="l"/>
                <a:tab pos="293370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 shows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-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Cambria Math"/>
                <a:cs typeface="Cambria Math"/>
              </a:rPr>
              <a:t>𝛼 &gt; 𝑛 , </a:t>
            </a:r>
            <a:r>
              <a:rPr sz="1800" spc="-5" dirty="0">
                <a:latin typeface="Times New Roman"/>
                <a:cs typeface="Times New Roman"/>
              </a:rPr>
              <a:t>breakdown is </a:t>
            </a:r>
            <a:r>
              <a:rPr sz="1800" spc="-15" dirty="0">
                <a:latin typeface="Times New Roman"/>
                <a:cs typeface="Times New Roman"/>
              </a:rPr>
              <a:t>always </a:t>
            </a:r>
            <a:r>
              <a:rPr sz="1800" dirty="0">
                <a:latin typeface="Times New Roman"/>
                <a:cs typeface="Times New Roman"/>
              </a:rPr>
              <a:t>possible </a:t>
            </a:r>
            <a:r>
              <a:rPr sz="1800" spc="-5" dirty="0">
                <a:latin typeface="Times New Roman"/>
                <a:cs typeface="Times New Roman"/>
              </a:rPr>
              <a:t>irrespective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values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20" dirty="0">
                <a:latin typeface="Cambria Math"/>
                <a:cs typeface="Cambria Math"/>
              </a:rPr>
              <a:t>𝛼, </a:t>
            </a:r>
            <a:r>
              <a:rPr sz="1800" dirty="0">
                <a:latin typeface="Cambria Math"/>
                <a:cs typeface="Cambria Math"/>
              </a:rPr>
              <a:t>𝑛 &amp;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15" dirty="0">
                <a:latin typeface="Cambria Math"/>
                <a:cs typeface="Cambria Math"/>
              </a:rPr>
              <a:t>𝛾.</a:t>
            </a:r>
            <a:endParaRPr sz="1800">
              <a:latin typeface="Cambria Math"/>
              <a:cs typeface="Cambria Math"/>
            </a:endParaRPr>
          </a:p>
          <a:p>
            <a:pPr marL="299085" indent="-28702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9085" algn="l"/>
                <a:tab pos="299720" algn="l"/>
                <a:tab pos="621665" algn="l"/>
              </a:tabLst>
            </a:pPr>
            <a:r>
              <a:rPr sz="1800" dirty="0">
                <a:latin typeface="Times New Roman"/>
                <a:cs typeface="Times New Roman"/>
              </a:rPr>
              <a:t>If	</a:t>
            </a:r>
            <a:r>
              <a:rPr sz="1800" spc="5" dirty="0">
                <a:latin typeface="Times New Roman"/>
                <a:cs typeface="Times New Roman"/>
              </a:rPr>
              <a:t>n&gt; </a:t>
            </a:r>
            <a:r>
              <a:rPr sz="1800" dirty="0">
                <a:latin typeface="Cambria Math"/>
                <a:cs typeface="Cambria Math"/>
              </a:rPr>
              <a:t>𝛼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8177" y="3862578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𝛾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5431" y="4036314"/>
            <a:ext cx="347980" cy="0"/>
          </a:xfrm>
          <a:custGeom>
            <a:avLst/>
            <a:gdLst/>
            <a:ahLst/>
            <a:cxnLst/>
            <a:rect l="l" t="t" r="r" b="b"/>
            <a:pathLst>
              <a:path w="347980">
                <a:moveTo>
                  <a:pt x="0" y="0"/>
                </a:moveTo>
                <a:lnTo>
                  <a:pt x="347472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78458" y="3862578"/>
            <a:ext cx="1346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  <a:tab pos="957580" algn="l"/>
              </a:tabLst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spc="5" dirty="0">
                <a:latin typeface="Times New Roman"/>
                <a:cs typeface="Times New Roman"/>
              </a:rPr>
              <a:t>or	</a:t>
            </a:r>
            <a:r>
              <a:rPr sz="1800" dirty="0">
                <a:latin typeface="Cambria Math"/>
                <a:cs typeface="Cambria Math"/>
              </a:rPr>
              <a:t>𝛼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77592" y="4036314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20039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88898" y="3789426"/>
            <a:ext cx="191516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92605" algn="l"/>
              </a:tabLst>
            </a:pPr>
            <a:r>
              <a:rPr sz="1300" spc="165" dirty="0">
                <a:latin typeface="Cambria Math"/>
                <a:cs typeface="Cambria Math"/>
              </a:rPr>
              <a:t>𝛼	</a:t>
            </a:r>
            <a:r>
              <a:rPr sz="1300" spc="190" dirty="0"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3074" y="4039361"/>
            <a:ext cx="21374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804670" algn="l"/>
              </a:tabLst>
            </a:pPr>
            <a:r>
              <a:rPr sz="1300" spc="195" dirty="0">
                <a:latin typeface="Cambria Math"/>
                <a:cs typeface="Cambria Math"/>
              </a:rPr>
              <a:t>𝛼</a:t>
            </a:r>
            <a:r>
              <a:rPr sz="1300" spc="-20" dirty="0">
                <a:latin typeface="Cambria Math"/>
                <a:cs typeface="Cambria Math"/>
              </a:rPr>
              <a:t>−</a:t>
            </a:r>
            <a:r>
              <a:rPr sz="1300" spc="190" dirty="0">
                <a:latin typeface="Cambria Math"/>
                <a:cs typeface="Cambria Math"/>
              </a:rPr>
              <a:t>𝑛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40" dirty="0">
                <a:latin typeface="Cambria Math"/>
                <a:cs typeface="Cambria Math"/>
              </a:rPr>
              <a:t>1</a:t>
            </a:r>
            <a:r>
              <a:rPr sz="1300" spc="-20" dirty="0">
                <a:latin typeface="Cambria Math"/>
                <a:cs typeface="Cambria Math"/>
              </a:rPr>
              <a:t>−</a:t>
            </a:r>
            <a:r>
              <a:rPr sz="1300" spc="185" dirty="0">
                <a:latin typeface="Cambria Math"/>
                <a:cs typeface="Cambria Math"/>
              </a:rPr>
              <a:t>𝛾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1665" y="4319473"/>
            <a:ext cx="24568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n--- </a:t>
            </a:r>
            <a:r>
              <a:rPr sz="1800" spc="-5" dirty="0">
                <a:latin typeface="Times New Roman"/>
                <a:cs typeface="Times New Roman"/>
              </a:rPr>
              <a:t>attachment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coefficient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72311" y="1014983"/>
            <a:ext cx="4100829" cy="14604"/>
          </a:xfrm>
          <a:custGeom>
            <a:avLst/>
            <a:gdLst/>
            <a:ahLst/>
            <a:cxnLst/>
            <a:rect l="l" t="t" r="r" b="b"/>
            <a:pathLst>
              <a:path w="4100829" h="14605">
                <a:moveTo>
                  <a:pt x="0" y="14224"/>
                </a:moveTo>
                <a:lnTo>
                  <a:pt x="4100576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7278" y="0"/>
            <a:ext cx="2916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Paschen’s</a:t>
            </a:r>
            <a:r>
              <a:rPr spc="-65" dirty="0"/>
              <a:t> </a:t>
            </a:r>
            <a:r>
              <a:rPr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57688"/>
            <a:ext cx="10835640" cy="214693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79400" indent="-229235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279400" algn="l"/>
                <a:tab pos="280035" algn="l"/>
              </a:tabLst>
            </a:pPr>
            <a:r>
              <a:rPr sz="1800" dirty="0">
                <a:latin typeface="Times New Roman"/>
                <a:cs typeface="Times New Roman"/>
              </a:rPr>
              <a:t>Studied </a:t>
            </a:r>
            <a:r>
              <a:rPr sz="1800" spc="-5" dirty="0">
                <a:latin typeface="Times New Roman"/>
                <a:cs typeface="Times New Roman"/>
              </a:rPr>
              <a:t>various breakdown voltage for </a:t>
            </a:r>
            <a:r>
              <a:rPr sz="1800" spc="-10" dirty="0">
                <a:latin typeface="Times New Roman"/>
                <a:cs typeface="Times New Roman"/>
              </a:rPr>
              <a:t>different gases, as </a:t>
            </a:r>
            <a:r>
              <a:rPr sz="1800" spc="-5" dirty="0">
                <a:latin typeface="Times New Roman"/>
                <a:cs typeface="Times New Roman"/>
              </a:rPr>
              <a:t>pressure </a:t>
            </a:r>
            <a:r>
              <a:rPr sz="1800" dirty="0">
                <a:latin typeface="Times New Roman"/>
                <a:cs typeface="Times New Roman"/>
              </a:rPr>
              <a:t>and distance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varied.</a:t>
            </a:r>
            <a:endParaRPr sz="1800">
              <a:latin typeface="Times New Roman"/>
              <a:cs typeface="Times New Roman"/>
            </a:endParaRPr>
          </a:p>
          <a:p>
            <a:pPr marL="279400" indent="-22923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79400" algn="l"/>
                <a:tab pos="280035" algn="l"/>
              </a:tabLst>
            </a:pPr>
            <a:r>
              <a:rPr sz="1800" spc="-10" dirty="0">
                <a:latin typeface="Times New Roman"/>
                <a:cs typeface="Times New Roman"/>
              </a:rPr>
              <a:t>Breakdown </a:t>
            </a:r>
            <a:r>
              <a:rPr sz="1800" spc="-5" dirty="0">
                <a:latin typeface="Times New Roman"/>
                <a:cs typeface="Times New Roman"/>
              </a:rPr>
              <a:t>voltage </a:t>
            </a:r>
            <a:r>
              <a:rPr sz="1800" dirty="0">
                <a:latin typeface="Times New Roman"/>
                <a:cs typeface="Times New Roman"/>
              </a:rPr>
              <a:t>is a </a:t>
            </a:r>
            <a:r>
              <a:rPr sz="1800" spc="-5" dirty="0">
                <a:latin typeface="Times New Roman"/>
                <a:cs typeface="Times New Roman"/>
              </a:rPr>
              <a:t>function </a:t>
            </a:r>
            <a:r>
              <a:rPr sz="1800" dirty="0">
                <a:latin typeface="Times New Roman"/>
                <a:cs typeface="Times New Roman"/>
              </a:rPr>
              <a:t>of product of </a:t>
            </a:r>
            <a:r>
              <a:rPr sz="1800" spc="-5" dirty="0">
                <a:latin typeface="Times New Roman"/>
                <a:cs typeface="Times New Roman"/>
              </a:rPr>
              <a:t>pressure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distance</a:t>
            </a:r>
            <a:endParaRPr sz="1800">
              <a:latin typeface="Times New Roman"/>
              <a:cs typeface="Times New Roman"/>
            </a:endParaRPr>
          </a:p>
          <a:p>
            <a:pPr marL="2794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79400" algn="l"/>
                <a:tab pos="280035" algn="l"/>
              </a:tabLst>
            </a:pPr>
            <a:r>
              <a:rPr sz="1800" spc="5" dirty="0">
                <a:latin typeface="Times New Roman"/>
                <a:cs typeface="Times New Roman"/>
              </a:rPr>
              <a:t>V=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(pd)</a:t>
            </a:r>
            <a:endParaRPr sz="1800">
              <a:latin typeface="Times New Roman"/>
              <a:cs typeface="Times New Roman"/>
            </a:endParaRPr>
          </a:p>
          <a:p>
            <a:pPr marL="279400" indent="-22923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79400" algn="l"/>
                <a:tab pos="280035" algn="l"/>
                <a:tab pos="2837180" algn="l"/>
              </a:tabLst>
            </a:pPr>
            <a:r>
              <a:rPr sz="1800" spc="-1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Townsend’s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criterion	</a:t>
            </a:r>
            <a:r>
              <a:rPr sz="1800" dirty="0">
                <a:latin typeface="Times New Roman"/>
                <a:cs typeface="Times New Roman"/>
              </a:rPr>
              <a:t>γ ( </a:t>
            </a:r>
            <a:r>
              <a:rPr sz="1800" spc="55" dirty="0">
                <a:latin typeface="Cambria Math"/>
                <a:cs typeface="Cambria Math"/>
              </a:rPr>
              <a:t>𝑒</a:t>
            </a:r>
            <a:r>
              <a:rPr sz="1950" spc="82" baseline="27777" dirty="0">
                <a:latin typeface="Cambria Math"/>
                <a:cs typeface="Cambria Math"/>
              </a:rPr>
              <a:t>α𝑑</a:t>
            </a:r>
            <a:r>
              <a:rPr sz="1800" spc="55" dirty="0">
                <a:latin typeface="Times New Roman"/>
                <a:cs typeface="Times New Roman"/>
              </a:rPr>
              <a:t>-1)=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ts val="2050"/>
              </a:lnSpc>
              <a:spcBef>
                <a:spcPts val="770"/>
              </a:spcBef>
              <a:tabLst>
                <a:tab pos="9050655" algn="l"/>
              </a:tabLst>
            </a:pPr>
            <a:r>
              <a:rPr sz="1800" dirty="0">
                <a:latin typeface="Times New Roman"/>
                <a:cs typeface="Times New Roman"/>
              </a:rPr>
              <a:t>enables the </a:t>
            </a:r>
            <a:r>
              <a:rPr sz="1800" spc="-5" dirty="0">
                <a:latin typeface="Times New Roman"/>
                <a:cs typeface="Times New Roman"/>
              </a:rPr>
              <a:t>evaluation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breakdown voltage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gap </a:t>
            </a:r>
            <a:r>
              <a:rPr sz="1800" spc="5" dirty="0">
                <a:latin typeface="Times New Roman"/>
                <a:cs typeface="Times New Roman"/>
              </a:rPr>
              <a:t>by </a:t>
            </a:r>
            <a:r>
              <a:rPr sz="1800" dirty="0">
                <a:latin typeface="Times New Roman"/>
                <a:cs typeface="Times New Roman"/>
              </a:rPr>
              <a:t>the use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appropriate </a:t>
            </a:r>
            <a:r>
              <a:rPr sz="1800" spc="-5" dirty="0">
                <a:latin typeface="Times New Roman"/>
                <a:cs typeface="Times New Roman"/>
              </a:rPr>
              <a:t>values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Cambria Math"/>
                <a:cs typeface="Cambria Math"/>
              </a:rPr>
              <a:t>𝛼/𝑝 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	γ corresponding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ts val="2050"/>
              </a:lnSpc>
            </a:pPr>
            <a:r>
              <a:rPr sz="1800" spc="-5" dirty="0">
                <a:latin typeface="Times New Roman"/>
                <a:cs typeface="Times New Roman"/>
              </a:rPr>
              <a:t>values </a:t>
            </a:r>
            <a:r>
              <a:rPr sz="1800" dirty="0">
                <a:latin typeface="Times New Roman"/>
                <a:cs typeface="Times New Roman"/>
              </a:rPr>
              <a:t>E/p </a:t>
            </a:r>
            <a:r>
              <a:rPr sz="1800" spc="-10" dirty="0">
                <a:latin typeface="Times New Roman"/>
                <a:cs typeface="Times New Roman"/>
              </a:rPr>
              <a:t>when </a:t>
            </a:r>
            <a:r>
              <a:rPr sz="1800" spc="-5" dirty="0">
                <a:latin typeface="Times New Roman"/>
                <a:cs typeface="Times New Roman"/>
              </a:rPr>
              <a:t>current </a:t>
            </a:r>
            <a:r>
              <a:rPr sz="1800" dirty="0">
                <a:latin typeface="Times New Roman"/>
                <a:cs typeface="Times New Roman"/>
              </a:rPr>
              <a:t>is too low to </a:t>
            </a:r>
            <a:r>
              <a:rPr sz="1800" spc="-10" dirty="0">
                <a:latin typeface="Times New Roman"/>
                <a:cs typeface="Times New Roman"/>
              </a:rPr>
              <a:t>damage </a:t>
            </a:r>
            <a:r>
              <a:rPr sz="1800" dirty="0">
                <a:latin typeface="Times New Roman"/>
                <a:cs typeface="Times New Roman"/>
              </a:rPr>
              <a:t>cathode </a:t>
            </a:r>
            <a:r>
              <a:rPr sz="1800" spc="-5" dirty="0">
                <a:latin typeface="Times New Roman"/>
                <a:cs typeface="Times New Roman"/>
              </a:rPr>
              <a:t>and also space </a:t>
            </a:r>
            <a:r>
              <a:rPr sz="1800" spc="-10" dirty="0">
                <a:latin typeface="Times New Roman"/>
                <a:cs typeface="Times New Roman"/>
              </a:rPr>
              <a:t>charge </a:t>
            </a:r>
            <a:r>
              <a:rPr sz="1800" dirty="0">
                <a:latin typeface="Times New Roman"/>
                <a:cs typeface="Times New Roman"/>
              </a:rPr>
              <a:t>distortions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minimum.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4163" y="4205477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03148" y="3981069"/>
            <a:ext cx="377190" cy="582930"/>
          </a:xfrm>
          <a:custGeom>
            <a:avLst/>
            <a:gdLst/>
            <a:ahLst/>
            <a:cxnLst/>
            <a:rect l="l" t="t" r="r" b="b"/>
            <a:pathLst>
              <a:path w="377189" h="582929">
                <a:moveTo>
                  <a:pt x="277236" y="0"/>
                </a:moveTo>
                <a:lnTo>
                  <a:pt x="272029" y="8381"/>
                </a:lnTo>
                <a:lnTo>
                  <a:pt x="290626" y="30666"/>
                </a:lnTo>
                <a:lnTo>
                  <a:pt x="306986" y="57308"/>
                </a:lnTo>
                <a:lnTo>
                  <a:pt x="332989" y="123570"/>
                </a:lnTo>
                <a:lnTo>
                  <a:pt x="342417" y="162194"/>
                </a:lnTo>
                <a:lnTo>
                  <a:pt x="349166" y="203009"/>
                </a:lnTo>
                <a:lnTo>
                  <a:pt x="353224" y="246014"/>
                </a:lnTo>
                <a:lnTo>
                  <a:pt x="354579" y="291210"/>
                </a:lnTo>
                <a:lnTo>
                  <a:pt x="353226" y="335500"/>
                </a:lnTo>
                <a:lnTo>
                  <a:pt x="349181" y="378063"/>
                </a:lnTo>
                <a:lnTo>
                  <a:pt x="342470" y="418887"/>
                </a:lnTo>
                <a:lnTo>
                  <a:pt x="333116" y="457961"/>
                </a:lnTo>
                <a:lnTo>
                  <a:pt x="307097" y="525303"/>
                </a:lnTo>
                <a:lnTo>
                  <a:pt x="272029" y="574547"/>
                </a:lnTo>
                <a:lnTo>
                  <a:pt x="277236" y="582802"/>
                </a:lnTo>
                <a:lnTo>
                  <a:pt x="318400" y="533749"/>
                </a:lnTo>
                <a:lnTo>
                  <a:pt x="350134" y="464692"/>
                </a:lnTo>
                <a:lnTo>
                  <a:pt x="361895" y="424189"/>
                </a:lnTo>
                <a:lnTo>
                  <a:pt x="370311" y="381746"/>
                </a:lnTo>
                <a:lnTo>
                  <a:pt x="375369" y="337373"/>
                </a:lnTo>
                <a:lnTo>
                  <a:pt x="377058" y="291083"/>
                </a:lnTo>
                <a:lnTo>
                  <a:pt x="375369" y="244199"/>
                </a:lnTo>
                <a:lnTo>
                  <a:pt x="370311" y="199564"/>
                </a:lnTo>
                <a:lnTo>
                  <a:pt x="361895" y="157192"/>
                </a:lnTo>
                <a:lnTo>
                  <a:pt x="350134" y="117093"/>
                </a:lnTo>
                <a:lnTo>
                  <a:pt x="335440" y="80617"/>
                </a:lnTo>
                <a:lnTo>
                  <a:pt x="299003" y="22046"/>
                </a:lnTo>
                <a:lnTo>
                  <a:pt x="277236" y="0"/>
                </a:lnTo>
                <a:close/>
              </a:path>
              <a:path w="377189" h="582929">
                <a:moveTo>
                  <a:pt x="99690" y="0"/>
                </a:moveTo>
                <a:lnTo>
                  <a:pt x="58590" y="48926"/>
                </a:lnTo>
                <a:lnTo>
                  <a:pt x="26919" y="117093"/>
                </a:lnTo>
                <a:lnTo>
                  <a:pt x="15104" y="157192"/>
                </a:lnTo>
                <a:lnTo>
                  <a:pt x="6694" y="199564"/>
                </a:lnTo>
                <a:lnTo>
                  <a:pt x="1666" y="244199"/>
                </a:lnTo>
                <a:lnTo>
                  <a:pt x="0" y="291210"/>
                </a:lnTo>
                <a:lnTo>
                  <a:pt x="1666" y="337373"/>
                </a:lnTo>
                <a:lnTo>
                  <a:pt x="6694" y="381746"/>
                </a:lnTo>
                <a:lnTo>
                  <a:pt x="15104" y="424189"/>
                </a:lnTo>
                <a:lnTo>
                  <a:pt x="26919" y="464692"/>
                </a:lnTo>
                <a:lnTo>
                  <a:pt x="41558" y="501721"/>
                </a:lnTo>
                <a:lnTo>
                  <a:pt x="77979" y="560776"/>
                </a:lnTo>
                <a:lnTo>
                  <a:pt x="99690" y="582802"/>
                </a:lnTo>
                <a:lnTo>
                  <a:pt x="105024" y="574547"/>
                </a:lnTo>
                <a:lnTo>
                  <a:pt x="86335" y="552188"/>
                </a:lnTo>
                <a:lnTo>
                  <a:pt x="69908" y="525303"/>
                </a:lnTo>
                <a:lnTo>
                  <a:pt x="43937" y="457961"/>
                </a:lnTo>
                <a:lnTo>
                  <a:pt x="34529" y="418887"/>
                </a:lnTo>
                <a:lnTo>
                  <a:pt x="27824" y="378063"/>
                </a:lnTo>
                <a:lnTo>
                  <a:pt x="23809" y="335500"/>
                </a:lnTo>
                <a:lnTo>
                  <a:pt x="22478" y="291083"/>
                </a:lnTo>
                <a:lnTo>
                  <a:pt x="23827" y="246014"/>
                </a:lnTo>
                <a:lnTo>
                  <a:pt x="27871" y="203009"/>
                </a:lnTo>
                <a:lnTo>
                  <a:pt x="34583" y="162194"/>
                </a:lnTo>
                <a:lnTo>
                  <a:pt x="43937" y="123570"/>
                </a:lnTo>
                <a:lnTo>
                  <a:pt x="69956" y="57308"/>
                </a:lnTo>
                <a:lnTo>
                  <a:pt x="105024" y="8381"/>
                </a:lnTo>
                <a:lnTo>
                  <a:pt x="996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15411" y="4272279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1640" y="3080130"/>
            <a:ext cx="11245850" cy="114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320" marR="5080" indent="-274320" algn="r">
              <a:lnSpc>
                <a:spcPts val="2050"/>
              </a:lnSpc>
              <a:spcBef>
                <a:spcPts val="100"/>
              </a:spcBef>
              <a:buFont typeface="Arial"/>
              <a:buChar char="•"/>
              <a:tabLst>
                <a:tab pos="274320" algn="l"/>
                <a:tab pos="274955" algn="l"/>
              </a:tabLst>
            </a:pPr>
            <a:r>
              <a:rPr sz="1800" spc="-20" dirty="0">
                <a:latin typeface="Times New Roman"/>
                <a:cs typeface="Times New Roman"/>
              </a:rPr>
              <a:t>An </a:t>
            </a:r>
            <a:r>
              <a:rPr sz="1800" spc="-5" dirty="0">
                <a:latin typeface="Times New Roman"/>
                <a:cs typeface="Times New Roman"/>
              </a:rPr>
              <a:t>expression for breakdown voltage for </a:t>
            </a:r>
            <a:r>
              <a:rPr sz="1800" dirty="0">
                <a:latin typeface="Times New Roman"/>
                <a:cs typeface="Times New Roman"/>
              </a:rPr>
              <a:t>uniform </a:t>
            </a:r>
            <a:r>
              <a:rPr sz="1800" spc="-5" dirty="0">
                <a:latin typeface="Times New Roman"/>
                <a:cs typeface="Times New Roman"/>
              </a:rPr>
              <a:t>field gaps </a:t>
            </a:r>
            <a:r>
              <a:rPr sz="1800" spc="-10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a function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gap </a:t>
            </a:r>
            <a:r>
              <a:rPr sz="1800" spc="-5" dirty="0">
                <a:latin typeface="Times New Roman"/>
                <a:cs typeface="Times New Roman"/>
              </a:rPr>
              <a:t>length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gas </a:t>
            </a:r>
            <a:r>
              <a:rPr sz="1800" spc="-5" dirty="0">
                <a:latin typeface="Times New Roman"/>
                <a:cs typeface="Times New Roman"/>
              </a:rPr>
              <a:t>pressure </a:t>
            </a:r>
            <a:r>
              <a:rPr sz="1800" spc="-10" dirty="0">
                <a:latin typeface="Times New Roman"/>
                <a:cs typeface="Times New Roman"/>
              </a:rPr>
              <a:t>can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derived</a:t>
            </a:r>
            <a:endParaRPr sz="1800">
              <a:latin typeface="Times New Roman"/>
              <a:cs typeface="Times New Roman"/>
            </a:endParaRPr>
          </a:p>
          <a:p>
            <a:pPr marR="7620" algn="r">
              <a:lnSpc>
                <a:spcPts val="2050"/>
              </a:lnSpc>
            </a:pPr>
            <a:r>
              <a:rPr sz="1800" spc="-5" dirty="0">
                <a:latin typeface="Times New Roman"/>
                <a:cs typeface="Times New Roman"/>
              </a:rPr>
              <a:t>from </a:t>
            </a:r>
            <a:r>
              <a:rPr sz="1800" dirty="0">
                <a:latin typeface="Times New Roman"/>
                <a:cs typeface="Times New Roman"/>
              </a:rPr>
              <a:t>threshold equation by </a:t>
            </a:r>
            <a:r>
              <a:rPr sz="1800" spc="-5" dirty="0">
                <a:latin typeface="Times New Roman"/>
                <a:cs typeface="Times New Roman"/>
              </a:rPr>
              <a:t>expressing </a:t>
            </a:r>
            <a:r>
              <a:rPr sz="1800" dirty="0">
                <a:latin typeface="Times New Roman"/>
                <a:cs typeface="Times New Roman"/>
              </a:rPr>
              <a:t>ionization </a:t>
            </a:r>
            <a:r>
              <a:rPr sz="1800" spc="-10" dirty="0">
                <a:latin typeface="Times New Roman"/>
                <a:cs typeface="Times New Roman"/>
              </a:rPr>
              <a:t>coefficient </a:t>
            </a:r>
            <a:r>
              <a:rPr sz="1800" spc="15" dirty="0">
                <a:latin typeface="Cambria Math"/>
                <a:cs typeface="Cambria Math"/>
              </a:rPr>
              <a:t>𝛼/𝑝 </a:t>
            </a:r>
            <a:r>
              <a:rPr sz="1800" spc="-5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a function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field strength </a:t>
            </a:r>
            <a:r>
              <a:rPr sz="1800" dirty="0">
                <a:latin typeface="Times New Roman"/>
                <a:cs typeface="Times New Roman"/>
              </a:rPr>
              <a:t>E and </a:t>
            </a:r>
            <a:r>
              <a:rPr sz="1800" spc="-10" dirty="0">
                <a:latin typeface="Times New Roman"/>
                <a:cs typeface="Times New Roman"/>
              </a:rPr>
              <a:t>gas </a:t>
            </a:r>
            <a:r>
              <a:rPr sz="1800" dirty="0">
                <a:latin typeface="Times New Roman"/>
                <a:cs typeface="Times New Roman"/>
              </a:rPr>
              <a:t>pressure p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i.e.</a:t>
            </a:r>
            <a:endParaRPr sz="1800">
              <a:latin typeface="Times New Roman"/>
              <a:cs typeface="Times New Roman"/>
            </a:endParaRPr>
          </a:p>
          <a:p>
            <a:pPr marL="70485">
              <a:lnSpc>
                <a:spcPts val="1955"/>
              </a:lnSpc>
              <a:spcBef>
                <a:spcPts val="790"/>
              </a:spcBef>
            </a:pPr>
            <a:r>
              <a:rPr sz="1800" spc="15" dirty="0">
                <a:latin typeface="Cambria Math"/>
                <a:cs typeface="Cambria Math"/>
              </a:rPr>
              <a:t>𝛼/𝑝 </a:t>
            </a:r>
            <a:r>
              <a:rPr sz="1800" dirty="0">
                <a:latin typeface="Times New Roman"/>
                <a:cs typeface="Times New Roman"/>
              </a:rPr>
              <a:t>= f ( E/p)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----------------------------------------------------------------------(1)</a:t>
            </a:r>
            <a:endParaRPr sz="1800">
              <a:latin typeface="Times New Roman"/>
              <a:cs typeface="Times New Roman"/>
            </a:endParaRPr>
          </a:p>
          <a:p>
            <a:pPr marL="2494280">
              <a:lnSpc>
                <a:spcPts val="1955"/>
              </a:lnSpc>
            </a:pPr>
            <a:r>
              <a:rPr sz="1800" dirty="0">
                <a:latin typeface="Cambria Math"/>
                <a:cs typeface="Cambria Math"/>
              </a:rPr>
              <a:t>𝐸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2491" y="425119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𝑝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2098" y="4098112"/>
            <a:ext cx="8138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1800" dirty="0">
                <a:latin typeface="Cambria Math"/>
                <a:cs typeface="Cambria Math"/>
              </a:rPr>
              <a:t>𝛾</a:t>
            </a:r>
            <a:r>
              <a:rPr sz="1800" spc="1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𝑓	−−−−−−−−−−−−−−−−−−−−−−−−−−−−−−−−−−−−−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5" dirty="0">
                <a:latin typeface="Cambria Math"/>
                <a:cs typeface="Cambria Math"/>
              </a:rPr>
              <a:t>−(2)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640" y="4527933"/>
            <a:ext cx="5382260" cy="7766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800" dirty="0">
                <a:latin typeface="Times New Roman"/>
                <a:cs typeface="Times New Roman"/>
              </a:rPr>
              <a:t>E=V/d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----------------------------------------------------------(3)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latin typeface="Times New Roman"/>
                <a:cs typeface="Times New Roman"/>
              </a:rPr>
              <a:t>Substituting this </a:t>
            </a:r>
            <a:r>
              <a:rPr sz="1800" spc="-20" dirty="0">
                <a:latin typeface="Times New Roman"/>
                <a:cs typeface="Times New Roman"/>
              </a:rPr>
              <a:t>we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have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16992" y="5413502"/>
            <a:ext cx="233679" cy="276860"/>
          </a:xfrm>
          <a:custGeom>
            <a:avLst/>
            <a:gdLst/>
            <a:ahLst/>
            <a:cxnLst/>
            <a:rect l="l" t="t" r="r" b="b"/>
            <a:pathLst>
              <a:path w="233680" h="276860">
                <a:moveTo>
                  <a:pt x="173476" y="0"/>
                </a:moveTo>
                <a:lnTo>
                  <a:pt x="170936" y="6604"/>
                </a:lnTo>
                <a:lnTo>
                  <a:pt x="181221" y="14987"/>
                </a:lnTo>
                <a:lnTo>
                  <a:pt x="190351" y="25860"/>
                </a:lnTo>
                <a:lnTo>
                  <a:pt x="210600" y="73241"/>
                </a:lnTo>
                <a:lnTo>
                  <a:pt x="216886" y="114821"/>
                </a:lnTo>
                <a:lnTo>
                  <a:pt x="217672" y="138303"/>
                </a:lnTo>
                <a:lnTo>
                  <a:pt x="216888" y="161476"/>
                </a:lnTo>
                <a:lnTo>
                  <a:pt x="210653" y="202843"/>
                </a:lnTo>
                <a:lnTo>
                  <a:pt x="190462" y="250624"/>
                </a:lnTo>
                <a:lnTo>
                  <a:pt x="170936" y="269989"/>
                </a:lnTo>
                <a:lnTo>
                  <a:pt x="173476" y="276529"/>
                </a:lnTo>
                <a:lnTo>
                  <a:pt x="208302" y="242546"/>
                </a:lnTo>
                <a:lnTo>
                  <a:pt x="224131" y="205791"/>
                </a:lnTo>
                <a:lnTo>
                  <a:pt x="232271" y="162255"/>
                </a:lnTo>
                <a:lnTo>
                  <a:pt x="233293" y="138176"/>
                </a:lnTo>
                <a:lnTo>
                  <a:pt x="232271" y="114008"/>
                </a:lnTo>
                <a:lnTo>
                  <a:pt x="224131" y="70435"/>
                </a:lnTo>
                <a:lnTo>
                  <a:pt x="208302" y="33932"/>
                </a:lnTo>
                <a:lnTo>
                  <a:pt x="186498" y="8405"/>
                </a:lnTo>
                <a:lnTo>
                  <a:pt x="173476" y="0"/>
                </a:lnTo>
                <a:close/>
              </a:path>
              <a:path w="233680" h="276860">
                <a:moveTo>
                  <a:pt x="59684" y="0"/>
                </a:moveTo>
                <a:lnTo>
                  <a:pt x="25037" y="33932"/>
                </a:lnTo>
                <a:lnTo>
                  <a:pt x="9156" y="70435"/>
                </a:lnTo>
                <a:lnTo>
                  <a:pt x="1016" y="114008"/>
                </a:lnTo>
                <a:lnTo>
                  <a:pt x="0" y="138303"/>
                </a:lnTo>
                <a:lnTo>
                  <a:pt x="1016" y="162255"/>
                </a:lnTo>
                <a:lnTo>
                  <a:pt x="9156" y="205791"/>
                </a:lnTo>
                <a:lnTo>
                  <a:pt x="25037" y="242546"/>
                </a:lnTo>
                <a:lnTo>
                  <a:pt x="59684" y="276529"/>
                </a:lnTo>
                <a:lnTo>
                  <a:pt x="62478" y="269989"/>
                </a:lnTo>
                <a:lnTo>
                  <a:pt x="52046" y="261585"/>
                </a:lnTo>
                <a:lnTo>
                  <a:pt x="42841" y="250624"/>
                </a:lnTo>
                <a:lnTo>
                  <a:pt x="22654" y="202843"/>
                </a:lnTo>
                <a:lnTo>
                  <a:pt x="16506" y="161476"/>
                </a:lnTo>
                <a:lnTo>
                  <a:pt x="15746" y="138176"/>
                </a:lnTo>
                <a:lnTo>
                  <a:pt x="16508" y="114821"/>
                </a:lnTo>
                <a:lnTo>
                  <a:pt x="22707" y="73241"/>
                </a:lnTo>
                <a:lnTo>
                  <a:pt x="42952" y="25860"/>
                </a:lnTo>
                <a:lnTo>
                  <a:pt x="62478" y="6604"/>
                </a:lnTo>
                <a:lnTo>
                  <a:pt x="596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84932" y="5551042"/>
            <a:ext cx="97790" cy="0"/>
          </a:xfrm>
          <a:custGeom>
            <a:avLst/>
            <a:gdLst/>
            <a:ahLst/>
            <a:cxnLst/>
            <a:rect l="l" t="t" r="r" b="b"/>
            <a:pathLst>
              <a:path w="97789">
                <a:moveTo>
                  <a:pt x="0" y="0"/>
                </a:moveTo>
                <a:lnTo>
                  <a:pt x="9753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872867" y="5537403"/>
            <a:ext cx="11938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75" dirty="0">
                <a:latin typeface="Cambria Math"/>
                <a:cs typeface="Cambria Math"/>
              </a:rPr>
              <a:t>𝑝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2664586" y="5421579"/>
            <a:ext cx="65468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300" spc="75" dirty="0">
                <a:latin typeface="Cambria Math"/>
                <a:cs typeface="Cambria Math"/>
              </a:rPr>
              <a:t>𝑓 </a:t>
            </a:r>
            <a:r>
              <a:rPr sz="1575" spc="150" baseline="39682" dirty="0">
                <a:latin typeface="Cambria Math"/>
                <a:cs typeface="Cambria Math"/>
              </a:rPr>
              <a:t>𝐸</a:t>
            </a:r>
            <a:r>
              <a:rPr sz="1575" spc="419" baseline="39682" dirty="0">
                <a:latin typeface="Cambria Math"/>
                <a:cs typeface="Cambria Math"/>
              </a:rPr>
              <a:t> </a:t>
            </a:r>
            <a:r>
              <a:rPr sz="1300" spc="95" dirty="0">
                <a:latin typeface="Cambria Math"/>
                <a:cs typeface="Cambria Math"/>
              </a:rPr>
              <a:t>𝑝𝑑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58923" y="5501436"/>
            <a:ext cx="1635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9940" algn="l"/>
              </a:tabLst>
            </a:pPr>
            <a:r>
              <a:rPr sz="1800" dirty="0">
                <a:latin typeface="Cambria Math"/>
                <a:cs typeface="Cambria Math"/>
              </a:rPr>
              <a:t>𝑒	</a:t>
            </a:r>
            <a:r>
              <a:rPr sz="1800" dirty="0">
                <a:latin typeface="Times New Roman"/>
                <a:cs typeface="Times New Roman"/>
              </a:rPr>
              <a:t>= 1/v +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465" y="6857"/>
            <a:ext cx="3138805" cy="77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36800"/>
              </a:lnSpc>
              <a:spcBef>
                <a:spcPts val="100"/>
              </a:spcBef>
            </a:pPr>
            <a:r>
              <a:rPr sz="1800" b="0" spc="-30" dirty="0">
                <a:solidFill>
                  <a:srgbClr val="000000"/>
                </a:solidFill>
                <a:latin typeface="Times New Roman"/>
                <a:cs typeface="Times New Roman"/>
              </a:rPr>
              <a:t>Taking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log </a:t>
            </a:r>
            <a:r>
              <a:rPr sz="1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on both </a:t>
            </a:r>
            <a:r>
              <a:rPr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sides, </a:t>
            </a:r>
            <a:r>
              <a:rPr sz="18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we </a:t>
            </a:r>
            <a:r>
              <a:rPr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have 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f (E/p) </a:t>
            </a:r>
            <a:r>
              <a:rPr sz="1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pd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= ln </a:t>
            </a:r>
            <a:r>
              <a:rPr sz="1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[1/v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+1] =</a:t>
            </a:r>
            <a:r>
              <a:rPr sz="1800" b="0" spc="-1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4983" y="1081913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>
                <a:moveTo>
                  <a:pt x="0" y="0"/>
                </a:moveTo>
                <a:lnTo>
                  <a:pt x="23469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0065" y="906221"/>
            <a:ext cx="2301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uniform field </a:t>
            </a:r>
            <a:r>
              <a:rPr sz="1800" dirty="0">
                <a:latin typeface="Times New Roman"/>
                <a:cs typeface="Times New Roman"/>
              </a:rPr>
              <a:t>E=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950" spc="127" baseline="44871" dirty="0">
                <a:latin typeface="Cambria Math"/>
                <a:cs typeface="Cambria Math"/>
              </a:rPr>
              <a:t>𝑉</a:t>
            </a:r>
            <a:r>
              <a:rPr sz="1575" spc="127" baseline="39682" dirty="0">
                <a:latin typeface="Cambria Math"/>
                <a:cs typeface="Cambria Math"/>
              </a:rPr>
              <a:t>𝑏</a:t>
            </a:r>
            <a:endParaRPr sz="1575" baseline="39682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4005" y="1083691"/>
            <a:ext cx="1327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55" dirty="0">
                <a:latin typeface="Cambria Math"/>
                <a:cs typeface="Cambria Math"/>
              </a:rPr>
              <a:t>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6351" y="1557400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>
                <a:moveTo>
                  <a:pt x="0" y="0"/>
                </a:moveTo>
                <a:lnTo>
                  <a:pt x="23469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2833" y="1559179"/>
            <a:ext cx="2406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85" dirty="0">
                <a:latin typeface="Cambria Math"/>
                <a:cs typeface="Cambria Math"/>
              </a:rPr>
              <a:t>𝑝</a:t>
            </a:r>
            <a:r>
              <a:rPr sz="1300" spc="155" dirty="0">
                <a:latin typeface="Cambria Math"/>
                <a:cs typeface="Cambria Math"/>
              </a:rPr>
              <a:t>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7977" y="1382395"/>
            <a:ext cx="1296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 </a:t>
            </a:r>
            <a:r>
              <a:rPr sz="1800" spc="55" dirty="0">
                <a:latin typeface="Times New Roman"/>
                <a:cs typeface="Times New Roman"/>
              </a:rPr>
              <a:t>(</a:t>
            </a:r>
            <a:r>
              <a:rPr sz="1950" spc="82" baseline="44871" dirty="0">
                <a:latin typeface="Cambria Math"/>
                <a:cs typeface="Cambria Math"/>
              </a:rPr>
              <a:t>𝑉</a:t>
            </a:r>
            <a:r>
              <a:rPr sz="1575" spc="82" baseline="39682" dirty="0">
                <a:latin typeface="Cambria Math"/>
                <a:cs typeface="Cambria Math"/>
              </a:rPr>
              <a:t>𝑏</a:t>
            </a:r>
            <a:r>
              <a:rPr sz="1575" spc="509" baseline="39682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). </a:t>
            </a:r>
            <a:r>
              <a:rPr sz="1800" spc="5" dirty="0">
                <a:latin typeface="Times New Roman"/>
                <a:cs typeface="Times New Roman"/>
              </a:rPr>
              <a:t>pd</a:t>
            </a:r>
            <a:r>
              <a:rPr sz="1800" spc="-2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=k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6351" y="2063369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>
                <a:moveTo>
                  <a:pt x="0" y="0"/>
                </a:moveTo>
                <a:lnTo>
                  <a:pt x="23469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7977" y="1888616"/>
            <a:ext cx="142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 </a:t>
            </a:r>
            <a:r>
              <a:rPr sz="1800" spc="55" dirty="0">
                <a:latin typeface="Times New Roman"/>
                <a:cs typeface="Times New Roman"/>
              </a:rPr>
              <a:t>(</a:t>
            </a:r>
            <a:r>
              <a:rPr sz="1950" spc="82" baseline="44871" dirty="0">
                <a:latin typeface="Cambria Math"/>
                <a:cs typeface="Cambria Math"/>
              </a:rPr>
              <a:t>𝑉</a:t>
            </a:r>
            <a:r>
              <a:rPr sz="1575" spc="82" baseline="39682" dirty="0">
                <a:latin typeface="Cambria Math"/>
                <a:cs typeface="Cambria Math"/>
              </a:rPr>
              <a:t>𝑏</a:t>
            </a:r>
            <a:r>
              <a:rPr sz="1575" spc="509" baseline="39682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) = k /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pd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580"/>
              </a:spcBef>
            </a:pPr>
            <a:r>
              <a:rPr spc="95" dirty="0"/>
              <a:t>𝑝𝑑</a:t>
            </a:r>
          </a:p>
          <a:p>
            <a:pPr marL="25400" algn="just">
              <a:lnSpc>
                <a:spcPct val="100000"/>
              </a:lnSpc>
              <a:spcBef>
                <a:spcPts val="630"/>
              </a:spcBef>
            </a:pPr>
            <a:r>
              <a:rPr sz="1800" spc="-80" dirty="0"/>
              <a:t>𝑉</a:t>
            </a:r>
            <a:r>
              <a:rPr sz="1950" spc="-120" baseline="-14957" dirty="0"/>
              <a:t>𝑏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5" dirty="0">
                <a:latin typeface="Times New Roman"/>
                <a:cs typeface="Times New Roman"/>
              </a:rPr>
              <a:t>F </a:t>
            </a:r>
            <a:r>
              <a:rPr sz="1800" spc="5" dirty="0">
                <a:latin typeface="Times New Roman"/>
                <a:cs typeface="Times New Roman"/>
              </a:rPr>
              <a:t>(p.d)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-----------(4)</a:t>
            </a:r>
            <a:endParaRPr sz="1800">
              <a:latin typeface="Times New Roman"/>
              <a:cs typeface="Times New Roman"/>
            </a:endParaRPr>
          </a:p>
          <a:p>
            <a:pPr marL="25400" marR="17780" algn="just">
              <a:lnSpc>
                <a:spcPct val="90000"/>
              </a:lnSpc>
              <a:spcBef>
                <a:spcPts val="985"/>
              </a:spcBef>
            </a:pPr>
            <a:r>
              <a:rPr sz="1800" spc="-5" dirty="0">
                <a:latin typeface="Times New Roman"/>
                <a:cs typeface="Times New Roman"/>
              </a:rPr>
              <a:t>This shows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-5" dirty="0">
                <a:latin typeface="Times New Roman"/>
                <a:cs typeface="Times New Roman"/>
              </a:rPr>
              <a:t>breakdown voltage </a:t>
            </a:r>
            <a:r>
              <a:rPr sz="1800" spc="1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uniform </a:t>
            </a:r>
            <a:r>
              <a:rPr sz="1800" spc="-5" dirty="0">
                <a:latin typeface="Times New Roman"/>
                <a:cs typeface="Times New Roman"/>
              </a:rPr>
              <a:t>field  </a:t>
            </a:r>
            <a:r>
              <a:rPr sz="1800" spc="-10" dirty="0">
                <a:latin typeface="Times New Roman"/>
                <a:cs typeface="Times New Roman"/>
              </a:rPr>
              <a:t>gap </a:t>
            </a:r>
            <a:r>
              <a:rPr sz="1800" dirty="0">
                <a:latin typeface="Times New Roman"/>
                <a:cs typeface="Times New Roman"/>
              </a:rPr>
              <a:t>is a unique </a:t>
            </a:r>
            <a:r>
              <a:rPr sz="1800" spc="-5" dirty="0">
                <a:latin typeface="Times New Roman"/>
                <a:cs typeface="Times New Roman"/>
              </a:rPr>
              <a:t>function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product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gas </a:t>
            </a:r>
            <a:r>
              <a:rPr sz="1800" spc="-5" dirty="0">
                <a:latin typeface="Times New Roman"/>
                <a:cs typeface="Times New Roman"/>
              </a:rPr>
              <a:t>pressure 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gap length for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particular </a:t>
            </a:r>
            <a:r>
              <a:rPr sz="1800" spc="-10" dirty="0">
                <a:latin typeface="Times New Roman"/>
                <a:cs typeface="Times New Roman"/>
              </a:rPr>
              <a:t>gas </a:t>
            </a:r>
            <a:r>
              <a:rPr sz="1800" dirty="0">
                <a:latin typeface="Times New Roman"/>
                <a:cs typeface="Times New Roman"/>
              </a:rPr>
              <a:t>and electrode  </a:t>
            </a:r>
            <a:r>
              <a:rPr sz="1800" spc="-10" dirty="0">
                <a:latin typeface="Times New Roman"/>
                <a:cs typeface="Times New Roman"/>
              </a:rPr>
              <a:t>material. </a:t>
            </a:r>
            <a:r>
              <a:rPr sz="1800" spc="-5" dirty="0">
                <a:latin typeface="Times New Roman"/>
                <a:cs typeface="Times New Roman"/>
              </a:rPr>
              <a:t>This </a:t>
            </a:r>
            <a:r>
              <a:rPr sz="1800" dirty="0">
                <a:latin typeface="Times New Roman"/>
                <a:cs typeface="Times New Roman"/>
              </a:rPr>
              <a:t>relation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known as </a:t>
            </a:r>
            <a:r>
              <a:rPr sz="1800" spc="-15" dirty="0">
                <a:latin typeface="Times New Roman"/>
                <a:cs typeface="Times New Roman"/>
              </a:rPr>
              <a:t>Paschen’s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law.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165" y="3834129"/>
            <a:ext cx="80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25440" y="679704"/>
            <a:ext cx="6534911" cy="4968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Electric</a:t>
            </a:r>
            <a:r>
              <a:rPr spc="-60" dirty="0"/>
              <a:t> </a:t>
            </a:r>
            <a:r>
              <a:rPr spc="-5" dirty="0"/>
              <a:t>Discharge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965" y="781812"/>
            <a:ext cx="11327765" cy="4071620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passage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current through </a:t>
            </a:r>
            <a:r>
              <a:rPr sz="1800" spc="-5" dirty="0">
                <a:latin typeface="Times New Roman"/>
                <a:cs typeface="Times New Roman"/>
              </a:rPr>
              <a:t>dielectric </a:t>
            </a:r>
            <a:r>
              <a:rPr sz="1800" spc="-10" dirty="0">
                <a:latin typeface="Times New Roman"/>
                <a:cs typeface="Times New Roman"/>
              </a:rPr>
              <a:t>gas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usually </a:t>
            </a:r>
            <a:r>
              <a:rPr sz="1800" spc="-10" dirty="0">
                <a:latin typeface="Times New Roman"/>
                <a:cs typeface="Times New Roman"/>
              </a:rPr>
              <a:t>termed as </a:t>
            </a:r>
            <a:r>
              <a:rPr sz="1800" spc="-5" dirty="0">
                <a:latin typeface="Times New Roman"/>
                <a:cs typeface="Times New Roman"/>
              </a:rPr>
              <a:t>electric </a:t>
            </a:r>
            <a:r>
              <a:rPr sz="1800" spc="-10" dirty="0">
                <a:latin typeface="Times New Roman"/>
                <a:cs typeface="Times New Roman"/>
              </a:rPr>
              <a:t>discharges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gases.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939"/>
              </a:lnSpc>
              <a:spcBef>
                <a:spcPts val="10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 phenomenon is </a:t>
            </a:r>
            <a:r>
              <a:rPr sz="1800" spc="-10" dirty="0">
                <a:latin typeface="Times New Roman"/>
                <a:cs typeface="Times New Roman"/>
              </a:rPr>
              <a:t>observed when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gas </a:t>
            </a:r>
            <a:r>
              <a:rPr sz="1800" dirty="0">
                <a:latin typeface="Times New Roman"/>
                <a:cs typeface="Times New Roman"/>
              </a:rPr>
              <a:t>usually a </a:t>
            </a:r>
            <a:r>
              <a:rPr sz="1800" spc="-5" dirty="0">
                <a:latin typeface="Times New Roman"/>
                <a:cs typeface="Times New Roman"/>
              </a:rPr>
              <a:t>non-conductor carries </a:t>
            </a:r>
            <a:r>
              <a:rPr sz="1800" spc="-10" dirty="0">
                <a:latin typeface="Times New Roman"/>
                <a:cs typeface="Times New Roman"/>
              </a:rPr>
              <a:t>charge </a:t>
            </a:r>
            <a:r>
              <a:rPr sz="1800" spc="-5" dirty="0">
                <a:latin typeface="Times New Roman"/>
                <a:cs typeface="Times New Roman"/>
              </a:rPr>
              <a:t>carrier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addition </a:t>
            </a:r>
            <a:r>
              <a:rPr sz="1800" spc="-15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general </a:t>
            </a:r>
            <a:r>
              <a:rPr sz="1800" spc="-10" dirty="0">
                <a:latin typeface="Times New Roman"/>
                <a:cs typeface="Times New Roman"/>
              </a:rPr>
              <a:t>gas atoms  </a:t>
            </a:r>
            <a:r>
              <a:rPr sz="1800" spc="5" dirty="0">
                <a:latin typeface="Times New Roman"/>
                <a:cs typeface="Times New Roman"/>
              </a:rPr>
              <a:t>on </a:t>
            </a:r>
            <a:r>
              <a:rPr sz="1800" spc="-5" dirty="0">
                <a:latin typeface="Times New Roman"/>
                <a:cs typeface="Times New Roman"/>
              </a:rPr>
              <a:t>molecules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becomes </a:t>
            </a:r>
            <a:r>
              <a:rPr sz="1800" spc="-5" dirty="0">
                <a:latin typeface="Times New Roman"/>
                <a:cs typeface="Times New Roman"/>
              </a:rPr>
              <a:t>electrically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conducting.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50">
              <a:latin typeface="Times New Roman"/>
              <a:cs typeface="Times New Roman"/>
            </a:endParaRPr>
          </a:p>
          <a:p>
            <a:pPr marL="116839" algn="ctr">
              <a:lnSpc>
                <a:spcPct val="100000"/>
              </a:lnSpc>
              <a:spcBef>
                <a:spcPts val="5"/>
              </a:spcBef>
            </a:pP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Types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of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Electric discharges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in a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gas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414655" algn="l"/>
              </a:tabLst>
            </a:pPr>
            <a:r>
              <a:rPr sz="18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1.	</a:t>
            </a:r>
            <a:r>
              <a:rPr sz="1800" b="1" spc="-10" dirty="0">
                <a:latin typeface="Times New Roman"/>
                <a:cs typeface="Times New Roman"/>
              </a:rPr>
              <a:t>Non </a:t>
            </a:r>
            <a:r>
              <a:rPr sz="1800" b="1" spc="-5" dirty="0">
                <a:latin typeface="Times New Roman"/>
                <a:cs typeface="Times New Roman"/>
              </a:rPr>
              <a:t>self </a:t>
            </a:r>
            <a:r>
              <a:rPr sz="1800" b="1" spc="-10" dirty="0">
                <a:latin typeface="Times New Roman"/>
                <a:cs typeface="Times New Roman"/>
              </a:rPr>
              <a:t>sustaining</a:t>
            </a:r>
            <a:r>
              <a:rPr sz="1800" b="1" spc="8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discharge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0"/>
              </a:spcBef>
              <a:buFont typeface="Wingdings"/>
              <a:buChar char="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Glow </a:t>
            </a:r>
            <a:r>
              <a:rPr sz="1800" spc="-10" dirty="0">
                <a:latin typeface="Times New Roman"/>
                <a:cs typeface="Times New Roman"/>
              </a:rPr>
              <a:t>Discharge </a:t>
            </a:r>
            <a:r>
              <a:rPr sz="1800" dirty="0">
                <a:latin typeface="Times New Roman"/>
                <a:cs typeface="Times New Roman"/>
              </a:rPr>
              <a:t>or </a:t>
            </a:r>
            <a:r>
              <a:rPr sz="1800" spc="-10" dirty="0">
                <a:latin typeface="Times New Roman"/>
                <a:cs typeface="Times New Roman"/>
              </a:rPr>
              <a:t>Decay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Discharge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Spark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Discharge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spc="-15" dirty="0">
                <a:latin typeface="Times New Roman"/>
                <a:cs typeface="Times New Roman"/>
              </a:rPr>
              <a:t>Arc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Discharge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spc="5" dirty="0">
                <a:latin typeface="Times New Roman"/>
                <a:cs typeface="Times New Roman"/>
              </a:rPr>
              <a:t>Corona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Discharge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5600" algn="l"/>
              </a:tabLst>
            </a:pPr>
            <a:r>
              <a:rPr sz="1800" b="1" spc="5" dirty="0">
                <a:latin typeface="Times New Roman"/>
                <a:cs typeface="Times New Roman"/>
              </a:rPr>
              <a:t>2.	</a:t>
            </a:r>
            <a:r>
              <a:rPr sz="1800" b="1" spc="-5" dirty="0">
                <a:latin typeface="Times New Roman"/>
                <a:cs typeface="Times New Roman"/>
              </a:rPr>
              <a:t>Self </a:t>
            </a:r>
            <a:r>
              <a:rPr sz="1800" b="1" spc="-10" dirty="0">
                <a:latin typeface="Times New Roman"/>
                <a:cs typeface="Times New Roman"/>
              </a:rPr>
              <a:t>Sustaining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Discharge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7782" y="116204"/>
            <a:ext cx="39357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6FC0"/>
                </a:solidFill>
              </a:rPr>
              <a:t>Non-Self </a:t>
            </a:r>
            <a:r>
              <a:rPr sz="2400" dirty="0">
                <a:solidFill>
                  <a:srgbClr val="006FC0"/>
                </a:solidFill>
              </a:rPr>
              <a:t>sustaining</a:t>
            </a:r>
            <a:r>
              <a:rPr sz="2400" spc="-50" dirty="0">
                <a:solidFill>
                  <a:srgbClr val="006FC0"/>
                </a:solidFill>
              </a:rPr>
              <a:t> </a:t>
            </a:r>
            <a:r>
              <a:rPr sz="2400" spc="-5" dirty="0">
                <a:solidFill>
                  <a:srgbClr val="006FC0"/>
                </a:solidFill>
              </a:rPr>
              <a:t>Discharge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93014" y="582548"/>
            <a:ext cx="11551920" cy="47180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9525" indent="-229235">
              <a:lnSpc>
                <a:spcPts val="195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  <a:tab pos="241935" algn="l"/>
                <a:tab pos="4338955" algn="l"/>
              </a:tabLst>
            </a:pPr>
            <a:r>
              <a:rPr sz="1800" spc="-20" dirty="0">
                <a:latin typeface="Times New Roman"/>
                <a:cs typeface="Times New Roman"/>
              </a:rPr>
              <a:t>At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voltage, </a:t>
            </a:r>
            <a:r>
              <a:rPr sz="1800" spc="-10" dirty="0">
                <a:latin typeface="Times New Roman"/>
                <a:cs typeface="Times New Roman"/>
              </a:rPr>
              <a:t>lower </a:t>
            </a:r>
            <a:r>
              <a:rPr sz="1800" dirty="0">
                <a:latin typeface="Times New Roman"/>
                <a:cs typeface="Times New Roman"/>
              </a:rPr>
              <a:t>than </a:t>
            </a:r>
            <a:r>
              <a:rPr sz="1800" spc="23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BDV, 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current	in </a:t>
            </a:r>
            <a:r>
              <a:rPr sz="1800" spc="-10" dirty="0">
                <a:latin typeface="Times New Roman"/>
                <a:cs typeface="Times New Roman"/>
              </a:rPr>
              <a:t>gas </a:t>
            </a:r>
            <a:r>
              <a:rPr sz="1800" spc="-5" dirty="0">
                <a:latin typeface="Times New Roman"/>
                <a:cs typeface="Times New Roman"/>
              </a:rPr>
              <a:t>is due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presence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an external </a:t>
            </a:r>
            <a:r>
              <a:rPr sz="1800" dirty="0">
                <a:latin typeface="Times New Roman"/>
                <a:cs typeface="Times New Roman"/>
              </a:rPr>
              <a:t>ionizer </a:t>
            </a:r>
            <a:r>
              <a:rPr sz="1800" spc="-5" dirty="0">
                <a:latin typeface="Times New Roman"/>
                <a:cs typeface="Times New Roman"/>
              </a:rPr>
              <a:t>which </a:t>
            </a:r>
            <a:r>
              <a:rPr sz="1800" dirty="0">
                <a:latin typeface="Times New Roman"/>
                <a:cs typeface="Times New Roman"/>
              </a:rPr>
              <a:t>continuously </a:t>
            </a:r>
            <a:r>
              <a:rPr sz="1800" spc="-5" dirty="0">
                <a:latin typeface="Times New Roman"/>
                <a:cs typeface="Times New Roman"/>
              </a:rPr>
              <a:t>produces  electrons </a:t>
            </a:r>
            <a:r>
              <a:rPr sz="1800" dirty="0">
                <a:latin typeface="Times New Roman"/>
                <a:cs typeface="Times New Roman"/>
              </a:rPr>
              <a:t>and ions in inter </a:t>
            </a:r>
            <a:r>
              <a:rPr sz="1800" spc="-5" dirty="0">
                <a:latin typeface="Times New Roman"/>
                <a:cs typeface="Times New Roman"/>
              </a:rPr>
              <a:t>electrode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space.</a:t>
            </a: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ts val="205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external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ionizer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taken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away,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current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immediately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ceases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flow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space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ionization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under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action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ts val="2050"/>
              </a:lnSpc>
            </a:pPr>
            <a:r>
              <a:rPr sz="1800" spc="-5" dirty="0">
                <a:latin typeface="Times New Roman"/>
                <a:cs typeface="Times New Roman"/>
              </a:rPr>
              <a:t>applied electric field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ceases.</a:t>
            </a: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 process is </a:t>
            </a:r>
            <a:r>
              <a:rPr sz="1800" dirty="0">
                <a:latin typeface="Times New Roman"/>
                <a:cs typeface="Times New Roman"/>
              </a:rPr>
              <a:t>non-self sustaining </a:t>
            </a:r>
            <a:r>
              <a:rPr sz="1800" spc="5" dirty="0">
                <a:latin typeface="Times New Roman"/>
                <a:cs typeface="Times New Roman"/>
              </a:rPr>
              <a:t>one </a:t>
            </a:r>
            <a:r>
              <a:rPr sz="1800" dirty="0">
                <a:latin typeface="Times New Roman"/>
                <a:cs typeface="Times New Roman"/>
              </a:rPr>
              <a:t>i.e. it </a:t>
            </a:r>
            <a:r>
              <a:rPr sz="1800" spc="-10" dirty="0">
                <a:latin typeface="Times New Roman"/>
                <a:cs typeface="Times New Roman"/>
              </a:rPr>
              <a:t>can </a:t>
            </a:r>
            <a:r>
              <a:rPr sz="1800" spc="5" dirty="0">
                <a:latin typeface="Times New Roman"/>
                <a:cs typeface="Times New Roman"/>
              </a:rPr>
              <a:t>not </a:t>
            </a:r>
            <a:r>
              <a:rPr sz="1800" spc="-5" dirty="0">
                <a:latin typeface="Times New Roman"/>
                <a:cs typeface="Times New Roman"/>
              </a:rPr>
              <a:t>maintain itself </a:t>
            </a:r>
            <a:r>
              <a:rPr sz="1800" spc="5" dirty="0">
                <a:latin typeface="Times New Roman"/>
                <a:cs typeface="Times New Roman"/>
              </a:rPr>
              <a:t>only </a:t>
            </a:r>
            <a:r>
              <a:rPr sz="1800" spc="-5" dirty="0">
                <a:latin typeface="Times New Roman"/>
                <a:cs typeface="Times New Roman"/>
              </a:rPr>
              <a:t>at expense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internal </a:t>
            </a:r>
            <a:r>
              <a:rPr sz="1800" spc="-5" dirty="0">
                <a:latin typeface="Times New Roman"/>
                <a:cs typeface="Times New Roman"/>
              </a:rPr>
              <a:t>resource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gaseous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space.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1939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1800" spc="-20" dirty="0">
                <a:latin typeface="Times New Roman"/>
                <a:cs typeface="Times New Roman"/>
              </a:rPr>
              <a:t>At </a:t>
            </a:r>
            <a:r>
              <a:rPr sz="1800" dirty="0">
                <a:latin typeface="Times New Roman"/>
                <a:cs typeface="Times New Roman"/>
              </a:rPr>
              <a:t>voltage equal to </a:t>
            </a:r>
            <a:r>
              <a:rPr sz="1800" spc="-5" dirty="0">
                <a:latin typeface="Times New Roman"/>
                <a:cs typeface="Times New Roman"/>
              </a:rPr>
              <a:t>breakdown voltage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process becomes </a:t>
            </a:r>
            <a:r>
              <a:rPr sz="1800" dirty="0">
                <a:latin typeface="Times New Roman"/>
                <a:cs typeface="Times New Roman"/>
              </a:rPr>
              <a:t>self </a:t>
            </a:r>
            <a:r>
              <a:rPr sz="1800" spc="5" dirty="0">
                <a:latin typeface="Times New Roman"/>
                <a:cs typeface="Times New Roman"/>
              </a:rPr>
              <a:t>sustaining </a:t>
            </a:r>
            <a:r>
              <a:rPr sz="1800" spc="-10" dirty="0">
                <a:latin typeface="Times New Roman"/>
                <a:cs typeface="Times New Roman"/>
              </a:rPr>
              <a:t>i.e. </a:t>
            </a:r>
            <a:r>
              <a:rPr sz="1800" dirty="0">
                <a:latin typeface="Times New Roman"/>
                <a:cs typeface="Times New Roman"/>
              </a:rPr>
              <a:t>it does not, any </a:t>
            </a:r>
            <a:r>
              <a:rPr sz="1800" spc="-10" dirty="0">
                <a:latin typeface="Times New Roman"/>
                <a:cs typeface="Times New Roman"/>
              </a:rPr>
              <a:t>more </a:t>
            </a:r>
            <a:r>
              <a:rPr sz="1800" dirty="0">
                <a:latin typeface="Times New Roman"/>
                <a:cs typeface="Times New Roman"/>
              </a:rPr>
              <a:t>depend upon </a:t>
            </a:r>
            <a:r>
              <a:rPr sz="1800" spc="-5" dirty="0">
                <a:latin typeface="Times New Roman"/>
                <a:cs typeface="Times New Roman"/>
              </a:rPr>
              <a:t>help </a:t>
            </a:r>
            <a:r>
              <a:rPr sz="1800" spc="10" dirty="0">
                <a:latin typeface="Times New Roman"/>
                <a:cs typeface="Times New Roman"/>
              </a:rPr>
              <a:t>of  </a:t>
            </a:r>
            <a:r>
              <a:rPr sz="1800" spc="-5" dirty="0">
                <a:latin typeface="Times New Roman"/>
                <a:cs typeface="Times New Roman"/>
              </a:rPr>
              <a:t>external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ionizer.</a:t>
            </a:r>
            <a:endParaRPr sz="1800">
              <a:latin typeface="Times New Roman"/>
              <a:cs typeface="Times New Roman"/>
            </a:endParaRPr>
          </a:p>
          <a:p>
            <a:pPr marL="241300" marR="8890" indent="-229235">
              <a:lnSpc>
                <a:spcPts val="1939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1800" dirty="0">
                <a:latin typeface="Times New Roman"/>
                <a:cs typeface="Times New Roman"/>
              </a:rPr>
              <a:t>Depending </a:t>
            </a:r>
            <a:r>
              <a:rPr sz="1800" spc="-5" dirty="0">
                <a:latin typeface="Times New Roman"/>
                <a:cs typeface="Times New Roman"/>
              </a:rPr>
              <a:t>upon electric field configuration power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source and </a:t>
            </a:r>
            <a:r>
              <a:rPr sz="1800" spc="-10" dirty="0">
                <a:latin typeface="Times New Roman"/>
                <a:cs typeface="Times New Roman"/>
              </a:rPr>
              <a:t>gas </a:t>
            </a:r>
            <a:r>
              <a:rPr sz="1800" spc="-5" dirty="0">
                <a:latin typeface="Times New Roman"/>
                <a:cs typeface="Times New Roman"/>
              </a:rPr>
              <a:t>pressure, </a:t>
            </a:r>
            <a:r>
              <a:rPr sz="1800" dirty="0">
                <a:latin typeface="Times New Roman"/>
                <a:cs typeface="Times New Roman"/>
              </a:rPr>
              <a:t>it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possible to </a:t>
            </a:r>
            <a:r>
              <a:rPr sz="1800" spc="-10" dirty="0">
                <a:latin typeface="Times New Roman"/>
                <a:cs typeface="Times New Roman"/>
              </a:rPr>
              <a:t>get </a:t>
            </a:r>
            <a:r>
              <a:rPr sz="1800" spc="-5" dirty="0">
                <a:latin typeface="Times New Roman"/>
                <a:cs typeface="Times New Roman"/>
              </a:rPr>
              <a:t>several types </a:t>
            </a:r>
            <a:r>
              <a:rPr sz="1800" dirty="0">
                <a:latin typeface="Times New Roman"/>
                <a:cs typeface="Times New Roman"/>
              </a:rPr>
              <a:t>o </a:t>
            </a:r>
            <a:r>
              <a:rPr sz="1800" spc="-5" dirty="0">
                <a:latin typeface="Times New Roman"/>
                <a:cs typeface="Times New Roman"/>
              </a:rPr>
              <a:t>electric  discharge.</a:t>
            </a:r>
            <a:endParaRPr sz="1800">
              <a:latin typeface="Times New Roman"/>
              <a:cs typeface="Times New Roman"/>
            </a:endParaRPr>
          </a:p>
          <a:p>
            <a:pPr marL="3917950">
              <a:lnSpc>
                <a:spcPct val="100000"/>
              </a:lnSpc>
              <a:spcBef>
                <a:spcPts val="305"/>
              </a:spcBef>
            </a:pPr>
            <a:r>
              <a:rPr sz="18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Glow Discharge or Decay</a:t>
            </a:r>
            <a:r>
              <a:rPr sz="1800" b="1" spc="8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55A11"/>
                </a:solidFill>
                <a:latin typeface="Times New Roman"/>
                <a:cs typeface="Times New Roman"/>
              </a:rPr>
              <a:t>Discharge</a:t>
            </a: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This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type </a:t>
            </a:r>
            <a:r>
              <a:rPr sz="1800" spc="5" dirty="0">
                <a:solidFill>
                  <a:srgbClr val="171717"/>
                </a:solidFill>
                <a:latin typeface="Times New Roman"/>
                <a:cs typeface="Times New Roman"/>
              </a:rPr>
              <a:t>of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discharge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is produced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at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low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gas</a:t>
            </a:r>
            <a:r>
              <a:rPr sz="1800" spc="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pressure.</a:t>
            </a: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ts val="2050"/>
              </a:lnSpc>
              <a:spcBef>
                <a:spcPts val="79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The</a:t>
            </a:r>
            <a:r>
              <a:rPr sz="1800" spc="4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gas</a:t>
            </a:r>
            <a:r>
              <a:rPr sz="1800" spc="5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can</a:t>
            </a:r>
            <a:r>
              <a:rPr sz="1800" spc="7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171717"/>
                </a:solidFill>
                <a:latin typeface="Times New Roman"/>
                <a:cs typeface="Times New Roman"/>
              </a:rPr>
              <a:t>not</a:t>
            </a:r>
            <a:r>
              <a:rPr sz="1800" spc="6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acquire</a:t>
            </a:r>
            <a:r>
              <a:rPr sz="1800" spc="5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a</a:t>
            </a:r>
            <a:r>
              <a:rPr sz="1800" spc="4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high</a:t>
            </a:r>
            <a:r>
              <a:rPr sz="1800" spc="7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conductivity</a:t>
            </a:r>
            <a:r>
              <a:rPr sz="1800" spc="3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even</a:t>
            </a:r>
            <a:r>
              <a:rPr sz="1800" spc="7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at</a:t>
            </a:r>
            <a:r>
              <a:rPr sz="1800" spc="6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high</a:t>
            </a:r>
            <a:r>
              <a:rPr sz="1800" spc="6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ionization</a:t>
            </a:r>
            <a:r>
              <a:rPr sz="1800" spc="5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because</a:t>
            </a:r>
            <a:r>
              <a:rPr sz="1800" spc="5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171717"/>
                </a:solidFill>
                <a:latin typeface="Times New Roman"/>
                <a:cs typeface="Times New Roman"/>
              </a:rPr>
              <a:t>of</a:t>
            </a:r>
            <a:r>
              <a:rPr sz="1800" spc="3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insufficient</a:t>
            </a:r>
            <a:r>
              <a:rPr sz="1800" spc="6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number</a:t>
            </a:r>
            <a:r>
              <a:rPr sz="1800" spc="6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171717"/>
                </a:solidFill>
                <a:latin typeface="Times New Roman"/>
                <a:cs typeface="Times New Roman"/>
              </a:rPr>
              <a:t>of</a:t>
            </a:r>
            <a:r>
              <a:rPr sz="1800" spc="3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gas</a:t>
            </a:r>
            <a:r>
              <a:rPr sz="1800" spc="8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molecules</a:t>
            </a:r>
            <a:r>
              <a:rPr sz="1800" spc="5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per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ts val="2050"/>
              </a:lnSpc>
            </a:pP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unit</a:t>
            </a:r>
            <a:r>
              <a:rPr sz="1800" spc="-4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volume.</a:t>
            </a: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ts val="205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This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type </a:t>
            </a:r>
            <a:r>
              <a:rPr sz="1800" spc="5" dirty="0">
                <a:solidFill>
                  <a:srgbClr val="171717"/>
                </a:solidFill>
                <a:latin typeface="Times New Roman"/>
                <a:cs typeface="Times New Roman"/>
              </a:rPr>
              <a:t>of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discharge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usually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occupies all the space </a:t>
            </a:r>
            <a:r>
              <a:rPr sz="1800" dirty="0">
                <a:solidFill>
                  <a:srgbClr val="171717"/>
                </a:solidFill>
                <a:latin typeface="Times New Roman"/>
                <a:cs typeface="Times New Roman"/>
              </a:rPr>
              <a:t>,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between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electrodes ad current passing through </a:t>
            </a: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gas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is not</a:t>
            </a:r>
            <a:r>
              <a:rPr sz="1800" spc="27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71717"/>
                </a:solidFill>
                <a:latin typeface="Times New Roman"/>
                <a:cs typeface="Times New Roman"/>
              </a:rPr>
              <a:t>very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ts val="2050"/>
              </a:lnSpc>
            </a:pPr>
            <a:r>
              <a:rPr sz="1800" spc="-10" dirty="0">
                <a:solidFill>
                  <a:srgbClr val="171717"/>
                </a:solidFill>
                <a:latin typeface="Times New Roman"/>
                <a:cs typeface="Times New Roman"/>
              </a:rPr>
              <a:t>large.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9327" y="373507"/>
            <a:ext cx="2199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55A11"/>
                </a:solidFill>
              </a:rPr>
              <a:t>Spark</a:t>
            </a:r>
            <a:r>
              <a:rPr sz="2400" spc="-60" dirty="0">
                <a:solidFill>
                  <a:srgbClr val="C55A11"/>
                </a:solidFill>
              </a:rPr>
              <a:t> </a:t>
            </a:r>
            <a:r>
              <a:rPr sz="2400" spc="-5" dirty="0">
                <a:solidFill>
                  <a:srgbClr val="C55A11"/>
                </a:solidFill>
              </a:rPr>
              <a:t>Discharge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535171" y="839546"/>
            <a:ext cx="8358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high voltage gradient </a:t>
            </a:r>
            <a:r>
              <a:rPr sz="1800" spc="-10" dirty="0">
                <a:latin typeface="Times New Roman"/>
                <a:cs typeface="Times New Roman"/>
              </a:rPr>
              <a:t>and passage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low </a:t>
            </a:r>
            <a:r>
              <a:rPr sz="1800" spc="-5" dirty="0">
                <a:latin typeface="Times New Roman"/>
                <a:cs typeface="Times New Roman"/>
              </a:rPr>
              <a:t>current </a:t>
            </a:r>
            <a:r>
              <a:rPr sz="1800" spc="5" dirty="0">
                <a:latin typeface="Times New Roman"/>
                <a:cs typeface="Times New Roman"/>
              </a:rPr>
              <a:t>or </a:t>
            </a:r>
            <a:r>
              <a:rPr sz="1800" spc="-5" dirty="0">
                <a:latin typeface="Times New Roman"/>
                <a:cs typeface="Times New Roman"/>
              </a:rPr>
              <a:t>externally </a:t>
            </a:r>
            <a:r>
              <a:rPr sz="1800" dirty="0">
                <a:latin typeface="Times New Roman"/>
                <a:cs typeface="Times New Roman"/>
              </a:rPr>
              <a:t>short </a:t>
            </a:r>
            <a:r>
              <a:rPr sz="1800" spc="-5" dirty="0">
                <a:latin typeface="Times New Roman"/>
                <a:cs typeface="Times New Roman"/>
              </a:rPr>
              <a:t>duration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time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642" y="839546"/>
            <a:ext cx="3019425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05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 </a:t>
            </a:r>
            <a:r>
              <a:rPr sz="1800" spc="-10" dirty="0">
                <a:latin typeface="Times New Roman"/>
                <a:cs typeface="Times New Roman"/>
              </a:rPr>
              <a:t>type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characterized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by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ts val="2055"/>
              </a:lnSpc>
            </a:pPr>
            <a:r>
              <a:rPr sz="1800" spc="-5" dirty="0">
                <a:latin typeface="Times New Roman"/>
                <a:cs typeface="Times New Roman"/>
              </a:rPr>
              <a:t>(micro-second)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642" y="1461591"/>
            <a:ext cx="11532870" cy="251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Times New Roman"/>
                <a:cs typeface="Times New Roman"/>
              </a:rPr>
              <a:t>Example: </a:t>
            </a:r>
            <a:r>
              <a:rPr sz="1800" spc="-5" dirty="0">
                <a:latin typeface="Times New Roman"/>
                <a:cs typeface="Times New Roman"/>
              </a:rPr>
              <a:t>Lightning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5" dirty="0">
                <a:latin typeface="Times New Roman"/>
                <a:cs typeface="Times New Roman"/>
              </a:rPr>
              <a:t>one of </a:t>
            </a:r>
            <a:r>
              <a:rPr sz="1800" spc="-10" dirty="0">
                <a:latin typeface="Times New Roman"/>
                <a:cs typeface="Times New Roman"/>
              </a:rPr>
              <a:t>forms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Spark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discharge.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har char="•"/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90"/>
              </a:spcBef>
            </a:pP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ARC</a:t>
            </a:r>
            <a:r>
              <a:rPr sz="2400" b="1" spc="1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55A11"/>
                </a:solidFill>
                <a:latin typeface="Times New Roman"/>
                <a:cs typeface="Times New Roman"/>
              </a:rPr>
              <a:t>Discharge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 </a:t>
            </a:r>
            <a:r>
              <a:rPr sz="1800" spc="-10" dirty="0">
                <a:latin typeface="Times New Roman"/>
                <a:cs typeface="Times New Roman"/>
              </a:rPr>
              <a:t>type </a:t>
            </a:r>
            <a:r>
              <a:rPr sz="1800" spc="-5" dirty="0">
                <a:latin typeface="Times New Roman"/>
                <a:cs typeface="Times New Roman"/>
              </a:rPr>
              <a:t>is characterized </a:t>
            </a:r>
            <a:r>
              <a:rPr sz="1800" spc="5" dirty="0">
                <a:latin typeface="Times New Roman"/>
                <a:cs typeface="Times New Roman"/>
              </a:rPr>
              <a:t>by </a:t>
            </a:r>
            <a:r>
              <a:rPr sz="1800" spc="-10" dirty="0">
                <a:latin typeface="Times New Roman"/>
                <a:cs typeface="Times New Roman"/>
              </a:rPr>
              <a:t>passage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high current </a:t>
            </a:r>
            <a:r>
              <a:rPr sz="1800" spc="-5" dirty="0">
                <a:latin typeface="Times New Roman"/>
                <a:cs typeface="Times New Roman"/>
              </a:rPr>
              <a:t>at relatively </a:t>
            </a:r>
            <a:r>
              <a:rPr sz="1800" dirty="0">
                <a:latin typeface="Times New Roman"/>
                <a:cs typeface="Times New Roman"/>
              </a:rPr>
              <a:t>low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voltage.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ts val="2055"/>
              </a:lnSpc>
              <a:spcBef>
                <a:spcPts val="7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This</a:t>
            </a:r>
            <a:r>
              <a:rPr sz="1800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type</a:t>
            </a:r>
            <a:r>
              <a:rPr sz="1800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1800" spc="1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discharge</a:t>
            </a:r>
            <a:r>
              <a:rPr sz="1800" spc="1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1800" spc="1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very</a:t>
            </a:r>
            <a:r>
              <a:rPr sz="1800" spc="1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luminous</a:t>
            </a:r>
            <a:r>
              <a:rPr sz="1800" spc="1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1800" spc="1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noisy.</a:t>
            </a:r>
            <a:r>
              <a:rPr sz="1800" spc="1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When</a:t>
            </a:r>
            <a:r>
              <a:rPr sz="1800" spc="19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voltage</a:t>
            </a:r>
            <a:r>
              <a:rPr sz="1800" spc="1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1800" spc="1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less</a:t>
            </a:r>
            <a:r>
              <a:rPr sz="1800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than</a:t>
            </a:r>
            <a:r>
              <a:rPr sz="1800" spc="19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20v</a:t>
            </a:r>
            <a:r>
              <a:rPr sz="1800" spc="1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1800" spc="1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current</a:t>
            </a:r>
            <a:r>
              <a:rPr sz="1800" spc="1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density</a:t>
            </a:r>
            <a:r>
              <a:rPr sz="1800" spc="1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1800" spc="1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in</a:t>
            </a:r>
            <a:r>
              <a:rPr sz="1800" spc="19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1800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range</a:t>
            </a:r>
            <a:r>
              <a:rPr sz="1800" spc="1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ts val="2055"/>
              </a:lnSpc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10^3 to 10^7 </a:t>
            </a:r>
            <a:r>
              <a:rPr sz="1800" spc="-15" dirty="0">
                <a:solidFill>
                  <a:srgbClr val="0D0D0D"/>
                </a:solidFill>
                <a:latin typeface="Times New Roman"/>
                <a:cs typeface="Times New Roman"/>
              </a:rPr>
              <a:t>A/cm2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heavy arc is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produced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between</a:t>
            </a:r>
            <a:r>
              <a:rPr sz="18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electrodes.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Used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in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welding and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other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electro-thermal</a:t>
            </a:r>
            <a:r>
              <a:rPr sz="1800" spc="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Times New Roman"/>
                <a:cs typeface="Times New Roman"/>
              </a:rPr>
              <a:t>processes.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1038" y="133553"/>
            <a:ext cx="3559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Corona</a:t>
            </a:r>
            <a:r>
              <a:rPr spc="-80" dirty="0"/>
              <a:t> </a:t>
            </a:r>
            <a:r>
              <a:rPr dirty="0"/>
              <a:t>Discharge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839546"/>
            <a:ext cx="5866130" cy="5158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 algn="just">
              <a:lnSpc>
                <a:spcPts val="205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Def: </a:t>
            </a:r>
            <a:r>
              <a:rPr sz="1800" spc="-5" dirty="0">
                <a:latin typeface="Times New Roman"/>
                <a:cs typeface="Times New Roman"/>
              </a:rPr>
              <a:t>If </a:t>
            </a:r>
            <a:r>
              <a:rPr sz="1800" dirty="0">
                <a:latin typeface="Times New Roman"/>
                <a:cs typeface="Times New Roman"/>
              </a:rPr>
              <a:t>the potential </a:t>
            </a:r>
            <a:r>
              <a:rPr sz="1800" spc="-10" dirty="0">
                <a:latin typeface="Times New Roman"/>
                <a:cs typeface="Times New Roman"/>
              </a:rPr>
              <a:t>difference </a:t>
            </a:r>
            <a:r>
              <a:rPr sz="1800" spc="-5" dirty="0">
                <a:latin typeface="Times New Roman"/>
                <a:cs typeface="Times New Roman"/>
              </a:rPr>
              <a:t>between </a:t>
            </a:r>
            <a:r>
              <a:rPr sz="1800" spc="-10" dirty="0">
                <a:latin typeface="Times New Roman"/>
                <a:cs typeface="Times New Roman"/>
              </a:rPr>
              <a:t>two </a:t>
            </a:r>
            <a:r>
              <a:rPr sz="1800" spc="-5" dirty="0">
                <a:latin typeface="Times New Roman"/>
                <a:cs typeface="Times New Roman"/>
              </a:rPr>
              <a:t>electrodes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  <a:p>
            <a:pPr marL="241300" algn="just">
              <a:lnSpc>
                <a:spcPts val="2055"/>
              </a:lnSpc>
            </a:pPr>
            <a:r>
              <a:rPr sz="1800" spc="-5" dirty="0">
                <a:latin typeface="Times New Roman"/>
                <a:cs typeface="Times New Roman"/>
              </a:rPr>
              <a:t>greater </a:t>
            </a:r>
            <a:r>
              <a:rPr sz="1800" dirty="0">
                <a:latin typeface="Times New Roman"/>
                <a:cs typeface="Times New Roman"/>
              </a:rPr>
              <a:t>than threshold </a:t>
            </a:r>
            <a:r>
              <a:rPr sz="1800" spc="-5" dirty="0">
                <a:latin typeface="Times New Roman"/>
                <a:cs typeface="Times New Roman"/>
              </a:rPr>
              <a:t>value </a:t>
            </a:r>
            <a:r>
              <a:rPr sz="1800" dirty="0">
                <a:latin typeface="Times New Roman"/>
                <a:cs typeface="Times New Roman"/>
              </a:rPr>
              <a:t>then corona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occurs.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1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Corona is </a:t>
            </a:r>
            <a:r>
              <a:rPr sz="1800" spc="-5" dirty="0">
                <a:latin typeface="Times New Roman"/>
                <a:cs typeface="Times New Roman"/>
              </a:rPr>
              <a:t>defined as self-sustained electric </a:t>
            </a:r>
            <a:r>
              <a:rPr sz="1800" spc="-10" dirty="0">
                <a:latin typeface="Times New Roman"/>
                <a:cs typeface="Times New Roman"/>
              </a:rPr>
              <a:t>discharge </a:t>
            </a:r>
            <a:r>
              <a:rPr sz="1800" dirty="0">
                <a:latin typeface="Times New Roman"/>
                <a:cs typeface="Times New Roman"/>
              </a:rPr>
              <a:t>in  </a:t>
            </a:r>
            <a:r>
              <a:rPr sz="1800" spc="-5" dirty="0">
                <a:latin typeface="Times New Roman"/>
                <a:cs typeface="Times New Roman"/>
              </a:rPr>
              <a:t>which field intensified ionization is localized only </a:t>
            </a:r>
            <a:r>
              <a:rPr sz="1800" dirty="0">
                <a:latin typeface="Times New Roman"/>
                <a:cs typeface="Times New Roman"/>
              </a:rPr>
              <a:t>over  </a:t>
            </a:r>
            <a:r>
              <a:rPr sz="1800" spc="5" dirty="0">
                <a:latin typeface="Times New Roman"/>
                <a:cs typeface="Times New Roman"/>
              </a:rPr>
              <a:t>portion of </a:t>
            </a:r>
            <a:r>
              <a:rPr sz="1800" spc="-5" dirty="0">
                <a:latin typeface="Times New Roman"/>
                <a:cs typeface="Times New Roman"/>
              </a:rPr>
              <a:t>distance( </a:t>
            </a:r>
            <a:r>
              <a:rPr sz="1800" dirty="0">
                <a:latin typeface="Times New Roman"/>
                <a:cs typeface="Times New Roman"/>
              </a:rPr>
              <a:t>non-uniform </a:t>
            </a:r>
            <a:r>
              <a:rPr sz="1800" spc="-5" dirty="0">
                <a:latin typeface="Times New Roman"/>
                <a:cs typeface="Times New Roman"/>
              </a:rPr>
              <a:t>field) </a:t>
            </a:r>
            <a:r>
              <a:rPr sz="1800" spc="-10" dirty="0">
                <a:latin typeface="Times New Roman"/>
                <a:cs typeface="Times New Roman"/>
              </a:rPr>
              <a:t>between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electrodes.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Corona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Results: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spc="5" dirty="0">
                <a:latin typeface="Times New Roman"/>
                <a:cs typeface="Times New Roman"/>
              </a:rPr>
              <a:t>Production of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Ozone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spc="-5" dirty="0">
                <a:latin typeface="Times New Roman"/>
                <a:cs typeface="Times New Roman"/>
              </a:rPr>
              <a:t>Hissing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Noise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spc="-15" dirty="0">
                <a:latin typeface="Times New Roman"/>
                <a:cs typeface="Times New Roman"/>
              </a:rPr>
              <a:t>Violet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glow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800" b="1" spc="-10" dirty="0">
                <a:latin typeface="Times New Roman"/>
                <a:cs typeface="Times New Roman"/>
              </a:rPr>
              <a:t>How </a:t>
            </a:r>
            <a:r>
              <a:rPr sz="1800" b="1" dirty="0">
                <a:latin typeface="Times New Roman"/>
                <a:cs typeface="Times New Roman"/>
              </a:rPr>
              <a:t>to </a:t>
            </a:r>
            <a:r>
              <a:rPr sz="1800" b="1" spc="-20" dirty="0">
                <a:latin typeface="Times New Roman"/>
                <a:cs typeface="Times New Roman"/>
              </a:rPr>
              <a:t>reduce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Corona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5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Increase </a:t>
            </a:r>
            <a:r>
              <a:rPr sz="1800" dirty="0">
                <a:latin typeface="Times New Roman"/>
                <a:cs typeface="Times New Roman"/>
              </a:rPr>
              <a:t>conductor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size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0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Bundled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conductor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Wingdings"/>
              <a:buChar char=""/>
              <a:tabLst>
                <a:tab pos="241300" algn="l"/>
              </a:tabLst>
            </a:pPr>
            <a:r>
              <a:rPr sz="1800" spc="-5" dirty="0">
                <a:latin typeface="Times New Roman"/>
                <a:cs typeface="Times New Roman"/>
              </a:rPr>
              <a:t>Use </a:t>
            </a:r>
            <a:r>
              <a:rPr sz="1800" dirty="0">
                <a:latin typeface="Times New Roman"/>
                <a:cs typeface="Times New Roman"/>
              </a:rPr>
              <a:t>hollow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conductor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5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Use </a:t>
            </a:r>
            <a:r>
              <a:rPr sz="1800" dirty="0">
                <a:latin typeface="Times New Roman"/>
                <a:cs typeface="Times New Roman"/>
              </a:rPr>
              <a:t>corona </a:t>
            </a:r>
            <a:r>
              <a:rPr sz="1800" spc="-5" dirty="0">
                <a:latin typeface="Times New Roman"/>
                <a:cs typeface="Times New Roman"/>
              </a:rPr>
              <a:t>guard rings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5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Increase </a:t>
            </a:r>
            <a:r>
              <a:rPr sz="1800" dirty="0">
                <a:latin typeface="Times New Roman"/>
                <a:cs typeface="Times New Roman"/>
              </a:rPr>
              <a:t>conductor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spacing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464" y="738634"/>
            <a:ext cx="4677410" cy="45180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800" b="1" spc="-10" dirty="0">
                <a:latin typeface="Times New Roman"/>
                <a:cs typeface="Times New Roman"/>
              </a:rPr>
              <a:t>Advantages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Wingdings"/>
              <a:buChar char=""/>
              <a:tabLst>
                <a:tab pos="241300" algn="l"/>
              </a:tabLst>
            </a:pPr>
            <a:r>
              <a:rPr sz="1800" spc="-5" dirty="0">
                <a:latin typeface="Times New Roman"/>
                <a:cs typeface="Times New Roman"/>
              </a:rPr>
              <a:t>Reduces Electrostatic stress </a:t>
            </a:r>
            <a:r>
              <a:rPr sz="1800" spc="-10" dirty="0">
                <a:latin typeface="Times New Roman"/>
                <a:cs typeface="Times New Roman"/>
              </a:rPr>
              <a:t>between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conductors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b="1" spc="-10" dirty="0">
                <a:latin typeface="Times New Roman"/>
                <a:cs typeface="Times New Roman"/>
              </a:rPr>
              <a:t>Disadvantges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Wingdings"/>
              <a:buChar char=""/>
              <a:tabLst>
                <a:tab pos="241300" algn="l"/>
              </a:tabLst>
            </a:pPr>
            <a:r>
              <a:rPr sz="1800" spc="-5" dirty="0">
                <a:latin typeface="Times New Roman"/>
                <a:cs typeface="Times New Roman"/>
              </a:rPr>
              <a:t>Power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loss</a:t>
            </a:r>
            <a:endParaRPr sz="18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spcBef>
                <a:spcPts val="795"/>
              </a:spcBef>
              <a:buFont typeface="Wingdings"/>
              <a:buChar char=""/>
              <a:tabLst>
                <a:tab pos="293370" algn="l"/>
              </a:tabLst>
            </a:pPr>
            <a:r>
              <a:rPr sz="1800" spc="-15" dirty="0">
                <a:latin typeface="Times New Roman"/>
                <a:cs typeface="Times New Roman"/>
              </a:rPr>
              <a:t>Transmission </a:t>
            </a:r>
            <a:r>
              <a:rPr sz="1800" spc="-10" dirty="0">
                <a:latin typeface="Times New Roman"/>
                <a:cs typeface="Times New Roman"/>
              </a:rPr>
              <a:t>efficiency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reduces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5"/>
              </a:spcBef>
              <a:buFont typeface="Wingdings"/>
              <a:buChar char="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Electromagnetic Interference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problem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70"/>
              </a:spcBef>
              <a:buFont typeface="Wingdings"/>
              <a:buChar char=""/>
              <a:tabLst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Corrosion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0"/>
              </a:spcBef>
              <a:buFont typeface="Wingdings"/>
              <a:buChar char=""/>
              <a:tabLst>
                <a:tab pos="299720" algn="l"/>
              </a:tabLst>
            </a:pPr>
            <a:r>
              <a:rPr sz="1800" spc="-15" dirty="0">
                <a:latin typeface="Times New Roman"/>
                <a:cs typeface="Times New Roman"/>
              </a:rPr>
              <a:t>Damage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insulation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b="1" spc="-10" dirty="0">
                <a:latin typeface="Times New Roman"/>
                <a:cs typeface="Times New Roman"/>
              </a:rPr>
              <a:t>Applications of</a:t>
            </a:r>
            <a:r>
              <a:rPr sz="1800" b="1" spc="8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Times New Roman"/>
                <a:cs typeface="Times New Roman"/>
              </a:rPr>
              <a:t>CORONA’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Wingdings"/>
              <a:buChar char="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ESP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0"/>
              </a:spcBef>
              <a:buFont typeface="Wingdings"/>
              <a:buChar char=""/>
              <a:tabLst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High speed </a:t>
            </a:r>
            <a:r>
              <a:rPr sz="1800" dirty="0">
                <a:latin typeface="Times New Roman"/>
                <a:cs typeface="Times New Roman"/>
              </a:rPr>
              <a:t>printing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devices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95"/>
              </a:spcBef>
              <a:buFont typeface="Wingdings"/>
              <a:buChar char=""/>
              <a:tabLst>
                <a:tab pos="299720" algn="l"/>
              </a:tabLst>
            </a:pPr>
            <a:r>
              <a:rPr sz="1800" spc="5" dirty="0">
                <a:latin typeface="Times New Roman"/>
                <a:cs typeface="Times New Roman"/>
              </a:rPr>
              <a:t>Paint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sprayers.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5137" y="307975"/>
          <a:ext cx="11358245" cy="60596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1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6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Point</a:t>
                      </a: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Of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Comparison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Uniform Field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11969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Non-Uniform field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8313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Definition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18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When Electric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Field Intensity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same everywhere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a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gap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also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both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surfaces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then it is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known as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uniform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field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4826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When Electric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Field Intensity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different  everywhere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a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gap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also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both 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surfaces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then it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known as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non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uniform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field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3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Example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Sphere- Sphere,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Rod-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Rod, Plate-Plate,</a:t>
                      </a:r>
                      <a:r>
                        <a:rPr sz="18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etc.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5" dirty="0">
                          <a:latin typeface="Times New Roman"/>
                          <a:cs typeface="Times New Roman"/>
                        </a:rPr>
                        <a:t>Point-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Electrodes,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Sphere-Rod,</a:t>
                      </a:r>
                      <a:r>
                        <a:rPr sz="1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Flat-Sphere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etc.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9812"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Breakdown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3995">
                        <a:lnSpc>
                          <a:spcPct val="100000"/>
                        </a:lnSpc>
                      </a:pP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Phenomenon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676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When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uniform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ionization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occurs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everywhere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gap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due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 uniform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intensity and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breakdown is  observed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spark.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2120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 non-uniform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ionization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occurs near  electrode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surface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having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intensity 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and breakdown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occurs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partial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discharge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corona.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Corona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There is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corona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discharge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Corona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discharge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occurs.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Theory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Townsend’s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theory is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applied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studying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Streamers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theory is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used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explaining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breakdown.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281305" marR="273685" indent="9715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Nature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of  </a:t>
                      </a:r>
                      <a:r>
                        <a:rPr sz="1800" b="1" spc="2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4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Breakdown is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easy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understand.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Difficult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understand.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6587" y="713358"/>
          <a:ext cx="10929620" cy="4953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2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1966">
                <a:tc>
                  <a:txBody>
                    <a:bodyPr/>
                    <a:lstStyle/>
                    <a:p>
                      <a:pPr marL="647065" marR="227329" indent="-412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Development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of  Theory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Breakdown process is developed</a:t>
                      </a:r>
                      <a:r>
                        <a:rPr sz="1800" spc="1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satisfactorily.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Theory is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Still under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development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416">
                <a:tc>
                  <a:txBody>
                    <a:bodyPr/>
                    <a:lstStyle/>
                    <a:p>
                      <a:pPr marL="637540" marR="426720" indent="-1987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2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4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n  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Voltage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BDV is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BDV is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05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Effect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polarity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Breakdown is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affected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due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 polarity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Breakdown is 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affected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due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polarity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Current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increase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applied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voltage,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current through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gap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increases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steadily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Increase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applied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voltage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increase current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steadily.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0442">
                <a:tc>
                  <a:txBody>
                    <a:bodyPr/>
                    <a:lstStyle/>
                    <a:p>
                      <a:pPr marL="546100" marR="426720" indent="-10731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2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4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n 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Criterion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γ ( </a:t>
                      </a:r>
                      <a:r>
                        <a:rPr sz="1800" spc="60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950" spc="89" baseline="27777" dirty="0">
                          <a:latin typeface="Cambria Math"/>
                          <a:cs typeface="Cambria Math"/>
                        </a:rPr>
                        <a:t>α𝑑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-1)=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655"/>
                        </a:lnSpc>
                        <a:spcBef>
                          <a:spcPts val="905"/>
                        </a:spcBef>
                      </a:pPr>
                      <a:r>
                        <a:rPr sz="2700" spc="44" baseline="3086" dirty="0">
                          <a:latin typeface="Cambria Math"/>
                          <a:cs typeface="Cambria Math"/>
                        </a:rPr>
                        <a:t>𝛾. </a:t>
                      </a:r>
                      <a:r>
                        <a:rPr sz="2700" spc="-7" baseline="3086" dirty="0">
                          <a:latin typeface="Cambria Math"/>
                          <a:cs typeface="Cambria Math"/>
                        </a:rPr>
                        <a:t>[exp</a:t>
                      </a:r>
                      <a:r>
                        <a:rPr sz="18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50" spc="60" baseline="51282" dirty="0">
                          <a:latin typeface="Cambria Math"/>
                          <a:cs typeface="Cambria Math"/>
                        </a:rPr>
                        <a:t>𝑑</a:t>
                      </a:r>
                      <a:r>
                        <a:rPr sz="2700" spc="60" baseline="3086" dirty="0">
                          <a:latin typeface="Cambria Math"/>
                          <a:cs typeface="Cambria Math"/>
                        </a:rPr>
                        <a:t>(𝛼. </a:t>
                      </a:r>
                      <a:r>
                        <a:rPr sz="2700" spc="30" baseline="3086" dirty="0">
                          <a:latin typeface="Cambria Math"/>
                          <a:cs typeface="Cambria Math"/>
                        </a:rPr>
                        <a:t>𝑑𝑥) </a:t>
                      </a:r>
                      <a:r>
                        <a:rPr sz="2700" baseline="3086" dirty="0">
                          <a:latin typeface="Cambria Math"/>
                          <a:cs typeface="Cambria Math"/>
                        </a:rPr>
                        <a:t>− 1</a:t>
                      </a:r>
                      <a:r>
                        <a:rPr sz="2700" spc="-165" baseline="308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700" baseline="3086" dirty="0">
                          <a:latin typeface="Times New Roman"/>
                          <a:cs typeface="Times New Roman"/>
                        </a:rPr>
                        <a:t>]=0</a:t>
                      </a:r>
                      <a:endParaRPr sz="2700" baseline="3086">
                        <a:latin typeface="Times New Roman"/>
                        <a:cs typeface="Times New Roman"/>
                      </a:endParaRPr>
                    </a:p>
                    <a:p>
                      <a:pPr marL="861694">
                        <a:lnSpc>
                          <a:spcPts val="1055"/>
                        </a:lnSpc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0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64286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6144" y="6479438"/>
            <a:ext cx="6508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6/01/202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12754" y="6479438"/>
            <a:ext cx="1524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00125" y="6295897"/>
            <a:ext cx="5177155" cy="407670"/>
          </a:xfrm>
          <a:custGeom>
            <a:avLst/>
            <a:gdLst/>
            <a:ahLst/>
            <a:cxnLst/>
            <a:rect l="l" t="t" r="r" b="b"/>
            <a:pathLst>
              <a:path w="5177155" h="407670">
                <a:moveTo>
                  <a:pt x="0" y="407517"/>
                </a:moveTo>
                <a:lnTo>
                  <a:pt x="5176901" y="407517"/>
                </a:lnTo>
                <a:lnTo>
                  <a:pt x="5176901" y="0"/>
                </a:lnTo>
                <a:lnTo>
                  <a:pt x="0" y="0"/>
                </a:lnTo>
                <a:lnTo>
                  <a:pt x="0" y="4075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76898" y="6295897"/>
            <a:ext cx="5177155" cy="407670"/>
          </a:xfrm>
          <a:custGeom>
            <a:avLst/>
            <a:gdLst/>
            <a:ahLst/>
            <a:cxnLst/>
            <a:rect l="l" t="t" r="r" b="b"/>
            <a:pathLst>
              <a:path w="5177155" h="407670">
                <a:moveTo>
                  <a:pt x="0" y="407517"/>
                </a:moveTo>
                <a:lnTo>
                  <a:pt x="5176901" y="407517"/>
                </a:lnTo>
                <a:lnTo>
                  <a:pt x="5176901" y="0"/>
                </a:lnTo>
                <a:lnTo>
                  <a:pt x="0" y="0"/>
                </a:lnTo>
                <a:lnTo>
                  <a:pt x="0" y="4075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3775" y="236600"/>
          <a:ext cx="10353040" cy="6460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7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Positive</a:t>
                      </a:r>
                      <a:r>
                        <a:rPr sz="18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Corona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Negative</a:t>
                      </a:r>
                      <a:r>
                        <a:rPr sz="18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Corona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Positive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corona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discharge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uniform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sheath all over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conductor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surface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negative electrode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corona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discharge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 spotty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filamentary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all over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 conductor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surface.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appears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smaller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negative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corona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appears greater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than positive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corona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increase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voltage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current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increase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steadily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Current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increases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form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trichel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charges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increase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voltage.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total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number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electrons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density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total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number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electrons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density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more.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BDV: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BDV: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Corona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discharge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occurs at higher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voltage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Corona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discharge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occurs at lower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voltage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4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Energy level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Energy level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 relatively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low.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54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generates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much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ozone than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negative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corona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generates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much more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ozone than positive corona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secondary electron generated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ionization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caused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by photons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emitted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plasma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dominant process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secondary electron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photo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electric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effect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surface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itself.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0105">
                <a:tc>
                  <a:txBody>
                    <a:bodyPr/>
                    <a:lstStyle/>
                    <a:p>
                      <a:pPr marL="91440" marR="690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 electrons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resulting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ionization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attached  towards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curved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809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 general 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movement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negative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corona 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 outward from curved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electrode.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75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color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 corona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bluish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white.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color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 corona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reddish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75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They are simple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construction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They are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quite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construction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87354" y="6466738"/>
            <a:ext cx="203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87354" y="6466738"/>
            <a:ext cx="203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87354" y="6466738"/>
            <a:ext cx="203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33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067032" cy="6772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16/01/202</a:t>
            </a:r>
            <a:r>
              <a:rPr dirty="0"/>
              <a:t>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87354" y="6466738"/>
            <a:ext cx="203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3641</Words>
  <Application>Microsoft Office PowerPoint</Application>
  <PresentationFormat>Widescreen</PresentationFormat>
  <Paragraphs>472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HIGH VOLTAGE ENGINEERING</vt:lpstr>
      <vt:lpstr>Course Content: Unit 01: Breakdown in Gases:</vt:lpstr>
      <vt:lpstr>Unit 1 :Breakdown in Gases</vt:lpstr>
      <vt:lpstr>Ionisation</vt:lpstr>
      <vt:lpstr>What is Ionisation?</vt:lpstr>
      <vt:lpstr>PowerPoint Presentation</vt:lpstr>
      <vt:lpstr>Photo Ionisation</vt:lpstr>
      <vt:lpstr>Secondary Ionisation Process</vt:lpstr>
      <vt:lpstr>Electron Emission due to Photons</vt:lpstr>
      <vt:lpstr>Electron Emission due to Metastable &amp; Neutral Atoms</vt:lpstr>
      <vt:lpstr>Electron attachment process</vt:lpstr>
      <vt:lpstr>Townsend’s Current Growth Equation</vt:lpstr>
      <vt:lpstr>Townsend’s Current Growth Equation  (Considering Primary and Secondary Ionisation Both)</vt:lpstr>
      <vt:lpstr>Townsend’s Criterion for Breakdown</vt:lpstr>
      <vt:lpstr>Limitations/ Drawbacks of Townsend’s theory of Breakdown)</vt:lpstr>
      <vt:lpstr>Factors influencing breakdown in gases</vt:lpstr>
      <vt:lpstr>Time lags for breakdown</vt:lpstr>
      <vt:lpstr>PowerPoint Presentation</vt:lpstr>
      <vt:lpstr>Factor affecting on Statistical time ( 𝒕𝒔 )</vt:lpstr>
      <vt:lpstr>Breakdown in Electronegative Gases</vt:lpstr>
      <vt:lpstr>I=𝐼𝑜 [ { 𝛼/(𝛼 − 𝑛)} 𝑒 𝛼−𝑛 𝑑] − [ 𝑛/ (𝛼 − 𝑛) ]</vt:lpstr>
      <vt:lpstr>Paschen’s Law</vt:lpstr>
      <vt:lpstr>Taking log on both sides, we have  f (E/p) pd = ln [1/v +1] = k</vt:lpstr>
      <vt:lpstr>Electric Discharge</vt:lpstr>
      <vt:lpstr>Non-Self sustaining Discharge</vt:lpstr>
      <vt:lpstr>Spark Discharge</vt:lpstr>
      <vt:lpstr>Corona Discharge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VOLTAGE ENGINEERING</dc:title>
  <dc:creator>Shree</dc:creator>
  <cp:lastModifiedBy>Hlodze Prince</cp:lastModifiedBy>
  <cp:revision>1</cp:revision>
  <dcterms:created xsi:type="dcterms:W3CDTF">2020-03-16T13:46:40Z</dcterms:created>
  <dcterms:modified xsi:type="dcterms:W3CDTF">2026-01-14T15:41:01Z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2020-03-16T00:00:00Z</vt:filetime>
  </property>
</Properties>
</file>